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8813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1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258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法学论文 AI 辅助评审逻辑与流程复盘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331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F5D8C"/>
                </a:solidFill>
                <a:latin typeface="PingFang SC"/>
              </a:rPr>
              <a:t>面向专家意见征询与机制共建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07792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PingFang SC"/>
              </a:rPr>
              <a:t>这不是某个版本的发布说明，而是一套正在收敛中的法学评审机制复盘。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456432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PingFang SC"/>
              </a:rPr>
              <a:t>目标是请专家帮助校准规则、指出边界、支持后续试点推进。</a:t>
            </a:r>
          </a:p>
        </p:txBody>
      </p:sp>
      <p:sp>
        <p:nvSpPr>
          <p:cNvPr id="9" name="Oval 8"/>
          <p:cNvSpPr/>
          <p:nvPr/>
        </p:nvSpPr>
        <p:spPr>
          <a:xfrm>
            <a:off x="8915400" y="1965960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2514600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3429000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5400" y="3977639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3429000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2514600"/>
            <a:ext cx="292608" cy="292608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061704" y="2112264"/>
            <a:ext cx="777240" cy="54864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38944" y="2660904"/>
            <a:ext cx="0" cy="91440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061704" y="3575304"/>
            <a:ext cx="777240" cy="54864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8284464" y="3575304"/>
            <a:ext cx="777240" cy="54864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284464" y="2660904"/>
            <a:ext cx="0" cy="91440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284464" y="2112264"/>
            <a:ext cx="777240" cy="54864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75320" y="1097280"/>
            <a:ext cx="2057400" cy="420624"/>
          </a:xfrm>
          <a:prstGeom prst="roundRect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11795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3420C"/>
                </a:solidFill>
                <a:latin typeface="PingFang SC"/>
              </a:rPr>
              <a:t>专家征询版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709160"/>
            <a:ext cx="162763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764024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评审标准显化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709160"/>
            <a:ext cx="178308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7208" y="4764024"/>
            <a:ext cx="1600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判断链条可复核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90288" y="4709160"/>
            <a:ext cx="199339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4764024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邀请专家参与校准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用途：专家研讨 / 机制评审 / 共建沟通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传统评审的难点不只在效率，更在标准难显化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专家判断高度依赖隐性经验，难以直接迁移给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6235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8C"/>
                </a:solidFill>
                <a:latin typeface="PingFang SC"/>
              </a:rPr>
              <a:t>三个真正的结构性难点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212848"/>
            <a:ext cx="5074920" cy="78638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359152"/>
            <a:ext cx="141732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1401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关键难点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32257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ingFang SC"/>
              </a:rPr>
              <a:t>标准隐含于共同体经验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596896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很多判断依赖共同体默认知识，不总能直接写成规则。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182112"/>
            <a:ext cx="5074920" cy="786384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328416"/>
            <a:ext cx="141732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38328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关键难点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3291840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PingFang SC"/>
              </a:rPr>
              <a:t>解释过程难复用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566160"/>
            <a:ext cx="2907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同样的判断理由难以沉淀为可复核、可迁移的稳定过程。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151376"/>
            <a:ext cx="5074920" cy="932688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4297680"/>
            <a:ext cx="141732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35254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关键难点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4261104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AI 只能模仿语言，不能自动模仿判断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608576"/>
            <a:ext cx="2907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PingFang SC"/>
              </a:rPr>
              <a:t>如果不先外化标准，模型容易生成像评审的话，却未必真的按评审逻辑判断。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1874519"/>
            <a:ext cx="1554480" cy="658368"/>
          </a:xfrm>
          <a:prstGeom prst="ellipse">
            <a:avLst/>
          </a:prstGeom>
          <a:solidFill>
            <a:srgbClr val="F6F9FC"/>
          </a:solidFill>
          <a:ln w="2540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9831" y="205740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5D8C"/>
                </a:solidFill>
                <a:latin typeface="PingFang SC"/>
              </a:rPr>
              <a:t>标准显化</a:t>
            </a:r>
          </a:p>
        </p:txBody>
      </p:sp>
      <p:sp>
        <p:nvSpPr>
          <p:cNvPr id="25" name="Oval 24"/>
          <p:cNvSpPr/>
          <p:nvPr/>
        </p:nvSpPr>
        <p:spPr>
          <a:xfrm>
            <a:off x="10012680" y="2880360"/>
            <a:ext cx="1554480" cy="658368"/>
          </a:xfrm>
          <a:prstGeom prst="ellipse">
            <a:avLst/>
          </a:prstGeom>
          <a:solidFill>
            <a:srgbClr val="F6F9FC"/>
          </a:solidFill>
          <a:ln w="2540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77272" y="306324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BAA5C"/>
                </a:solidFill>
                <a:latin typeface="PingFang SC"/>
              </a:rPr>
              <a:t>评审效率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4160520"/>
            <a:ext cx="1554480" cy="658368"/>
          </a:xfrm>
          <a:prstGeom prst="ellipse">
            <a:avLst/>
          </a:prstGeom>
          <a:solidFill>
            <a:srgbClr val="F6F9FC"/>
          </a:solidFill>
          <a:ln w="2540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34340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8A6C7"/>
                </a:solidFill>
                <a:latin typeface="PingFang SC"/>
              </a:rPr>
              <a:t>解释可复用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12480" y="2532888"/>
            <a:ext cx="1600200" cy="667512"/>
          </a:xfrm>
          <a:prstGeom prst="line">
            <a:avLst/>
          </a:prstGeom>
          <a:ln w="19050">
            <a:solidFill>
              <a:srgbClr val="CBA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12480" y="3547872"/>
            <a:ext cx="1600200" cy="941832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0" y="2532888"/>
            <a:ext cx="0" cy="1627632"/>
          </a:xfrm>
          <a:prstGeom prst="line">
            <a:avLst/>
          </a:prstGeom>
          <a:ln w="1905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判断困难的核心不是工作量，而是专家标准长期以隐性知识形式存在。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当前主链路把论文评审拆成可复核的七个环节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从论文输入到报告输出，每一步都对应明确的判断任务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D8C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文档预处理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1408" y="2971800"/>
            <a:ext cx="1828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0428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D8C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前置检查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67328" y="2971800"/>
            <a:ext cx="1828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5020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D8C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六维评分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13248" y="2971800"/>
            <a:ext cx="1828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9612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D8C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可靠性判断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9168" y="2971800"/>
            <a:ext cx="1828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4204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5D8C"/>
                </a:solidFill>
                <a:latin typeface="PingFang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1775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报告生成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05088" y="2971800"/>
            <a:ext cx="18288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8796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9769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专家复核接口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51008" y="2971800"/>
            <a:ext cx="182880" cy="0"/>
          </a:xfrm>
          <a:prstGeom prst="line">
            <a:avLst/>
          </a:prstGeom>
          <a:ln w="25400">
            <a:solidFill>
              <a:srgbClr val="CBA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533888" y="2331720"/>
            <a:ext cx="1463040" cy="1261872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43616" y="24871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C7"/>
                </a:solidFill>
                <a:latin typeface="PingFang S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43616" y="2770632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版本留存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572000"/>
            <a:ext cx="141732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62686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规则驱动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600" y="4572000"/>
            <a:ext cx="1417320" cy="384048"/>
          </a:xfrm>
          <a:prstGeom prst="roundRect">
            <a:avLst/>
          </a:prstGeom>
          <a:solidFill>
            <a:srgbClr val="E8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24328" y="4626864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C7"/>
                </a:solidFill>
                <a:latin typeface="PingFang SC"/>
              </a:rPr>
              <a:t>模型输出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69080" y="4572000"/>
            <a:ext cx="1600200" cy="384048"/>
          </a:xfrm>
          <a:prstGeom prst="roundRect">
            <a:avLst/>
          </a:prstGeom>
          <a:solidFill>
            <a:srgbClr val="F9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78808" y="462686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D5E23"/>
                </a:solidFill>
                <a:latin typeface="PingFang SC"/>
              </a:rPr>
              <a:t>人工介入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434840"/>
            <a:ext cx="201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4344" y="4425696"/>
            <a:ext cx="4151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主链路依据当前配置、需求文档与代码实现整理。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928616"/>
            <a:ext cx="2011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24344" y="4919472"/>
            <a:ext cx="4151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目标不是自动定结论，而是拆解判断节点。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主链路依据：当前 YAML 配置、需求文档 v0.4、评审主流程代码。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AI 常常听懂了词面，却没有准确对齐评审意图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同样的评审要求，不同模型并不会自动进入同一个法学语境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560320" cy="246888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5D8C"/>
                </a:solidFill>
                <a:latin typeface="PingFang SC"/>
              </a:rPr>
              <a:t>专家评审意图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606040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59" y="2596896"/>
            <a:ext cx="1728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创新性如何定义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118104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59" y="3108960"/>
            <a:ext cx="1728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洞察度何为充分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630168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59" y="3621024"/>
            <a:ext cx="17282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可接受性边界在哪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691640"/>
            <a:ext cx="3611880" cy="2743200"/>
          </a:xfrm>
          <a:prstGeom prst="roundRect">
            <a:avLst/>
          </a:prstGeom>
          <a:solidFill>
            <a:srgbClr val="FBFD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9019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5D8C"/>
                </a:solidFill>
                <a:latin typeface="PingFang SC"/>
              </a:rPr>
              <a:t>YAML 规则层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359152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4140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41848" y="2359152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51576" y="24140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顺序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2359152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41401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880360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93522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证据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41848" y="2880360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93522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1696" y="2880360"/>
            <a:ext cx="987552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293522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复核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783080"/>
            <a:ext cx="2560320" cy="8686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1892807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模型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21671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输出解释并不天然一致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880360"/>
            <a:ext cx="2560320" cy="8686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299008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模型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32644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输出解释并不天然一致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3977639"/>
            <a:ext cx="2560320" cy="8686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408736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模型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43616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输出解释并不天然一致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83280" y="3063240"/>
            <a:ext cx="777240" cy="0"/>
          </a:xfrm>
          <a:prstGeom prst="line">
            <a:avLst/>
          </a:prstGeom>
          <a:ln w="2540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2148840"/>
            <a:ext cx="777240" cy="0"/>
          </a:xfrm>
          <a:prstGeom prst="line">
            <a:avLst/>
          </a:prstGeom>
          <a:ln w="2540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72400" y="3291840"/>
            <a:ext cx="777240" cy="0"/>
          </a:xfrm>
          <a:prstGeom prst="line">
            <a:avLst/>
          </a:prstGeom>
          <a:ln w="2540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72400" y="4389120"/>
            <a:ext cx="777240" cy="0"/>
          </a:xfrm>
          <a:prstGeom prst="line">
            <a:avLst/>
          </a:prstGeom>
          <a:ln w="2540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规则必须从“隐含理解”转成“显式控制”，否则输出会随模型和时间漂移。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YAML 不是“参数表”，而是评审机制真正的规则层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它把专家经验从隐含判断变成可加载、可执行、可修改的规则集合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017520" cy="35661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F5D8C"/>
                </a:solidFill>
                <a:latin typeface="PingFang SC"/>
              </a:rPr>
              <a:t>它不是只写六维和权重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42032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32888"/>
            <a:ext cx="223113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还会写 precheck。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27248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18104"/>
            <a:ext cx="223113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还会写评分锚定与封顶规则。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12464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223113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还会写输出格式与复核标记。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554480"/>
            <a:ext cx="4023360" cy="406908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PingFang SC"/>
              </a:rPr>
              <a:t>YAML 规则层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60604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66090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precheck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260604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266090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decision_order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24612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0098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scoring_criteria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324612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330098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ceiling_rules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88620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94106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output_contract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3886200"/>
            <a:ext cx="123444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3941064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review_flags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72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PingFang SC"/>
              </a:rPr>
              <a:t>从专家视角看，它就是把评审经验写成一套可审阅、可修改、可追踪的规则接口。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783080"/>
            <a:ext cx="3154680" cy="35661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D5E23"/>
                </a:solidFill>
                <a:latin typeface="PingFang SC"/>
              </a:rPr>
              <a:t>接下来三页分别解释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2560320"/>
            <a:ext cx="201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551176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它先定义“评什么”。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3200400"/>
            <a:ext cx="201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3191256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再定义“怎么判”。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840480"/>
            <a:ext cx="201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831336"/>
            <a:ext cx="22311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最后定义“怎么输出与复核”。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这页的作用：先把 YAML 从“技术细节”提升为“机制中心”。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YAML 先定义“评什么”，并规定判断顺序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先把评价对象和程序写清，模型才不会直接跳到结论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37360"/>
            <a:ext cx="3794760" cy="45262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75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8C"/>
                </a:solidFill>
                <a:latin typeface="PingFang SC"/>
              </a:rPr>
              <a:t>这一层写入的对象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578608"/>
            <a:ext cx="1170432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334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precheck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65176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决定是否进入六维评分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36976"/>
            <a:ext cx="1170432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291840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310128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定义六维结构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895344"/>
            <a:ext cx="1170432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950208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968496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定义总分计算关系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553712"/>
            <a:ext cx="1170432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608576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decision_order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62686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规定先看什么后看什么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737360"/>
            <a:ext cx="6263640" cy="45262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9751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C7"/>
                </a:solidFill>
                <a:latin typeface="PingFang SC"/>
              </a:rPr>
              <a:t>运行时的对应作用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478024"/>
            <a:ext cx="5111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先跑 precheck，判断论文是 pass、conditional_pass，还是 reject。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3072384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3063240"/>
            <a:ext cx="5111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再按 dimensions 逐维评分，而不是让模型一次性凭整体印象给总分。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657600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3648456"/>
            <a:ext cx="5111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最后按 weight 计算综合得分，并保留每个维度独立判断。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4242816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4233672"/>
            <a:ext cx="51114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decision_order 强制模型按固定程序判断，避免跳步和偷看结论。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这一层控制的是：评价对象和评价程序。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YAML 再定义“怎么判”，也就是锚定区间与封顶边界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真正影响分数稳定性的，不只是 prompt，而是 scoring_criteria 和 ceiling_rules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4709160" cy="438912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8C"/>
                </a:solidFill>
                <a:latin typeface="PingFang SC"/>
              </a:rPr>
              <a:t>评分锚定是怎么工作的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651760"/>
            <a:ext cx="1097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excellent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724912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高位区间，要求关键条件基本成立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273552"/>
            <a:ext cx="1097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3284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C7"/>
                </a:solidFill>
                <a:latin typeface="PingFang SC"/>
              </a:rP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346704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条件成立但强度有限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895344"/>
            <a:ext cx="1097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9502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BAA5C"/>
                </a:solidFill>
                <a:latin typeface="PingFang SC"/>
              </a:rPr>
              <a:t>marginal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968496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勉强成立，问题明显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517136"/>
            <a:ext cx="1097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B564A"/>
                </a:solidFill>
                <a:latin typeface="PingFang SC"/>
              </a:rPr>
              <a:t>unacceptable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59028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基础条件不成立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1783080"/>
            <a:ext cx="4846320" cy="438912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D5E23"/>
                </a:solidFill>
                <a:latin typeface="PingFang SC"/>
              </a:rPr>
              <a:t>封顶和边界为什么重要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578608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569464"/>
            <a:ext cx="38313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ceiling_rules 决定：哪些基础条件不成立时，分数必须封顶。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182112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172968"/>
            <a:ext cx="38313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它防止模型在“问题并未成立”或“研究地图明显残缺”时仍然给出高分。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785616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776472"/>
            <a:ext cx="38313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boundary_notes 会提醒：本维度评什么、不评什么，减少维度串位。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389120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4379976"/>
            <a:ext cx="38313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这一步控制的是：分档依据和封顶边界。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这页解释的是：为什么真正左右分数稳定性的，往往是规则而不是语言润色。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YAML 最后定义“怎么输出”以及“何时提示复核”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结果不仅要能生成，还要能被比较、核验和人工接手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3429000" cy="44348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C7"/>
                </a:solidFill>
                <a:latin typeface="PingFang SC"/>
              </a:rPr>
              <a:t>结果生成前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96896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87752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prompt_template 决定模型按什么路径进入该维度。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255264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8A6C7"/>
                </a:solidFill>
                <a:latin typeface="PingFang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246120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它会把本维度的定义、判断步骤、字数限制、输出格式要求一起带进去。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3246120" cy="44348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8C"/>
                </a:solidFill>
                <a:latin typeface="PingFang SC"/>
              </a:rPr>
              <a:t>结果生成时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96896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2587752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output_contract 约束必须返回哪些字段。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55264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3246120"/>
            <a:ext cx="2231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缺字段、乱字段、分数不服从规则，都应该视为失败输出。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83080"/>
            <a:ext cx="3657600" cy="443484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D5E23"/>
                </a:solidFill>
                <a:latin typeface="PingFang SC"/>
              </a:rPr>
              <a:t>结果生成后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596896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587752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review_flags 把证据不足、边界模糊、需要外部核验等情况显式标出。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255264"/>
            <a:ext cx="201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BAA5C"/>
                </a:solidFill>
                <a:latin typeface="PingFang S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246120"/>
            <a:ext cx="25968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这样专家不是接手一团文本，而是接手一个已标注风险点的结构化结果。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这一层控制的是：结果是否可读、可比、可复核，以及何时应提醒人工接手。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六维框架把法学论文的判断链条外化出来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从起点到落脚，六个维度共同构成结构化评价路径</a:t>
            </a:r>
          </a:p>
        </p:txBody>
      </p:sp>
      <p:sp>
        <p:nvSpPr>
          <p:cNvPr id="6" name="Hexagon 5"/>
          <p:cNvSpPr/>
          <p:nvPr/>
        </p:nvSpPr>
        <p:spPr>
          <a:xfrm>
            <a:off x="3657600" y="1783080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0752" y="1947672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5D8C"/>
                </a:solidFill>
                <a:latin typeface="PingFang SC"/>
              </a:rPr>
              <a:t>问题创新性
30%</a:t>
            </a:r>
          </a:p>
        </p:txBody>
      </p:sp>
      <p:sp>
        <p:nvSpPr>
          <p:cNvPr id="8" name="Hexagon 7"/>
          <p:cNvSpPr/>
          <p:nvPr/>
        </p:nvSpPr>
        <p:spPr>
          <a:xfrm>
            <a:off x="5120640" y="2468880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2633472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C7"/>
                </a:solidFill>
                <a:latin typeface="PingFang SC"/>
              </a:rPr>
              <a:t>现状洞察度
15%</a:t>
            </a:r>
          </a:p>
        </p:txBody>
      </p:sp>
      <p:sp>
        <p:nvSpPr>
          <p:cNvPr id="10" name="Hexagon 9"/>
          <p:cNvSpPr/>
          <p:nvPr/>
        </p:nvSpPr>
        <p:spPr>
          <a:xfrm>
            <a:off x="5120640" y="3749039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3913631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A6C7"/>
                </a:solidFill>
                <a:latin typeface="PingFang SC"/>
              </a:rPr>
              <a:t>分析框架建构力
15%</a:t>
            </a:r>
          </a:p>
        </p:txBody>
      </p:sp>
      <p:sp>
        <p:nvSpPr>
          <p:cNvPr id="12" name="Hexagon 11"/>
          <p:cNvSpPr/>
          <p:nvPr/>
        </p:nvSpPr>
        <p:spPr>
          <a:xfrm>
            <a:off x="3657600" y="4434840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4599431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5D8C"/>
                </a:solidFill>
                <a:latin typeface="PingFang SC"/>
              </a:rPr>
              <a:t>逻辑严密性
25%</a:t>
            </a:r>
          </a:p>
        </p:txBody>
      </p:sp>
      <p:sp>
        <p:nvSpPr>
          <p:cNvPr id="14" name="Hexagon 13"/>
          <p:cNvSpPr/>
          <p:nvPr/>
        </p:nvSpPr>
        <p:spPr>
          <a:xfrm>
            <a:off x="2194560" y="3749039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7712" y="3913631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BAA5C"/>
                </a:solidFill>
                <a:latin typeface="PingFang SC"/>
              </a:rPr>
              <a:t>结论可接受性
10%</a:t>
            </a:r>
          </a:p>
        </p:txBody>
      </p:sp>
      <p:sp>
        <p:nvSpPr>
          <p:cNvPr id="16" name="Hexagon 15"/>
          <p:cNvSpPr/>
          <p:nvPr/>
        </p:nvSpPr>
        <p:spPr>
          <a:xfrm>
            <a:off x="2194560" y="2468880"/>
            <a:ext cx="1325880" cy="841248"/>
          </a:xfrm>
          <a:prstGeom prst="hexagon">
            <a:avLst/>
          </a:prstGeom>
          <a:solidFill>
            <a:srgbClr val="FAFCFF"/>
          </a:solidFill>
          <a:ln w="2540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2633472"/>
            <a:ext cx="1170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BAA5C"/>
                </a:solidFill>
                <a:latin typeface="PingFang SC"/>
              </a:rPr>
              <a:t>前瞻延展性
5%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315968" y="2194560"/>
            <a:ext cx="0" cy="1463040"/>
          </a:xfrm>
          <a:prstGeom prst="line">
            <a:avLst/>
          </a:prstGeom>
          <a:ln w="1905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315968" y="2880360"/>
            <a:ext cx="1463039" cy="77724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15968" y="3657600"/>
            <a:ext cx="1463039" cy="502920"/>
          </a:xfrm>
          <a:prstGeom prst="line">
            <a:avLst/>
          </a:prstGeom>
          <a:ln w="1905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15968" y="3657600"/>
            <a:ext cx="0" cy="1188720"/>
          </a:xfrm>
          <a:prstGeom prst="line">
            <a:avLst/>
          </a:prstGeom>
          <a:ln w="19050">
            <a:solidFill>
              <a:srgbClr val="2F5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852928" y="3657600"/>
            <a:ext cx="1463040" cy="502920"/>
          </a:xfrm>
          <a:prstGeom prst="line">
            <a:avLst/>
          </a:prstGeom>
          <a:ln w="19050">
            <a:solidFill>
              <a:srgbClr val="CBA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852928" y="2880360"/>
            <a:ext cx="1463040" cy="777240"/>
          </a:xfrm>
          <a:prstGeom prst="line">
            <a:avLst/>
          </a:prstGeom>
          <a:ln w="19050">
            <a:solidFill>
              <a:srgbClr val="CBA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12463" y="3429000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PingFang SC"/>
              </a:rPr>
              <a:t>六维评价
框架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1755648"/>
            <a:ext cx="4315968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19933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判断链条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2377440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468880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起点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4597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问题创新性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62672" y="2761488"/>
            <a:ext cx="0" cy="91440"/>
          </a:xfrm>
          <a:prstGeom prst="line">
            <a:avLst/>
          </a:prstGeom>
          <a:ln w="1397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42048" y="2907792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2999232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99008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现状洞察度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62672" y="3291840"/>
            <a:ext cx="0" cy="91440"/>
          </a:xfrm>
          <a:prstGeom prst="line">
            <a:avLst/>
          </a:prstGeom>
          <a:ln w="1397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242048" y="3438144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3529584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工具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2044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分析框架建构力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822192"/>
            <a:ext cx="0" cy="91440"/>
          </a:xfrm>
          <a:prstGeom prst="line">
            <a:avLst/>
          </a:prstGeom>
          <a:ln w="1397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42048" y="3968496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4059935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骨架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050791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逻辑严密性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662672" y="4352544"/>
            <a:ext cx="0" cy="91439"/>
          </a:xfrm>
          <a:prstGeom prst="line">
            <a:avLst/>
          </a:prstGeom>
          <a:ln w="1397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42048" y="4498848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4590288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落脚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811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结论可接受性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662672" y="4882896"/>
            <a:ext cx="0" cy="91440"/>
          </a:xfrm>
          <a:prstGeom prst="line">
            <a:avLst/>
          </a:prstGeom>
          <a:ln w="1397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242048" y="5029200"/>
            <a:ext cx="841248" cy="384048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3488" y="5120640"/>
            <a:ext cx="65836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开放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11149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PingFang SC"/>
              </a:rPr>
              <a:t>前瞻延展性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2048" y="5413248"/>
            <a:ext cx="3657600" cy="512064"/>
          </a:xfrm>
          <a:prstGeom prst="roundRect">
            <a:avLst/>
          </a:prstGeom>
          <a:solidFill>
            <a:srgbClr val="F6FAFD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5559552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PingFang SC"/>
              </a:rPr>
              <a:t>权重来自当前法学配置，六维共同构成完整评价路径。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这套机制不是一次成型，而是沿着四条方向持续收敛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关键不是追版本，而是让评审尺度越来越可解释、可校准、可复核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663440" cy="15087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F5D8C"/>
                </a:solidFill>
                <a:latin typeface="PingFang SC"/>
              </a:rPr>
              <a:t>概念清单化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把模糊概念改成检查清单，减少凭感觉打分。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4663440" cy="15087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8A6C7"/>
                </a:solidFill>
                <a:latin typeface="PingFang SC"/>
              </a:rPr>
              <a:t>关键维度操作化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591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研究地图、分析框架、结论可接受性、前瞻延展性逐步细化。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94760"/>
            <a:ext cx="4663440" cy="15087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BAA5C"/>
                </a:solidFill>
                <a:latin typeface="PingFang SC"/>
              </a:rPr>
              <a:t>封顶规则收窄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251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持续收窄 ceiling rules 触发条件，避免轻易封顶。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4663440" cy="15087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487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59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878A2"/>
                </a:solidFill>
                <a:latin typeface="PingFang SC"/>
              </a:rPr>
              <a:t>输出结构收短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251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让输出更短、更结构化，更利于专家快速核验。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0" y="2907792"/>
            <a:ext cx="1298448" cy="749808"/>
          </a:xfrm>
          <a:prstGeom prst="ellipse">
            <a:avLst/>
          </a:prstGeom>
          <a:solidFill>
            <a:srgbClr val="F0F6FA"/>
          </a:solidFill>
          <a:ln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3127248"/>
            <a:ext cx="1005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5D8C"/>
                </a:solidFill>
                <a:latin typeface="PingFang SC"/>
              </a:rPr>
              <a:t>持续收敛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4892040" y="2560320"/>
            <a:ext cx="548640" cy="685800"/>
          </a:xfrm>
          <a:prstGeom prst="line">
            <a:avLst/>
          </a:prstGeom>
          <a:ln w="1651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739128" y="2560320"/>
            <a:ext cx="530352" cy="685800"/>
          </a:xfrm>
          <a:prstGeom prst="line">
            <a:avLst/>
          </a:prstGeom>
          <a:ln w="1651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892040" y="3246120"/>
            <a:ext cx="548640" cy="1280160"/>
          </a:xfrm>
          <a:prstGeom prst="line">
            <a:avLst/>
          </a:prstGeom>
          <a:ln w="1651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39128" y="3246120"/>
            <a:ext cx="530352" cy="1280160"/>
          </a:xfrm>
          <a:prstGeom prst="line">
            <a:avLst/>
          </a:prstGeom>
          <a:ln w="1651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单维评分必须先抽证据，再分档给分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固定顺序把印象打分改成证据驱动判断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164592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35844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8587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定位评价对象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60320" y="2743200"/>
            <a:ext cx="365760" cy="1188720"/>
          </a:xfrm>
          <a:prstGeom prst="line">
            <a:avLst/>
          </a:prstGeom>
          <a:ln w="1778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286000"/>
            <a:ext cx="164592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3957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6700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抽取关键证据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743200"/>
            <a:ext cx="411480" cy="1234439"/>
          </a:xfrm>
          <a:prstGeom prst="line">
            <a:avLst/>
          </a:prstGeom>
          <a:ln w="1778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3520440"/>
            <a:ext cx="164592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36301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39044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判断上限规则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629400" y="2788920"/>
            <a:ext cx="457200" cy="1188719"/>
          </a:xfrm>
          <a:prstGeom prst="line">
            <a:avLst/>
          </a:prstGeom>
          <a:ln w="1778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86600" y="2331720"/>
            <a:ext cx="164592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244144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7157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确定分档给分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2520" y="2788920"/>
            <a:ext cx="411480" cy="1234440"/>
          </a:xfrm>
          <a:prstGeom prst="line">
            <a:avLst/>
          </a:prstGeom>
          <a:ln w="1778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0" y="3566160"/>
            <a:ext cx="1645920" cy="91440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2016" y="3675887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BAA5C"/>
                </a:solidFill>
                <a:latin typeface="PingFang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9502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输出摘要与理由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074920"/>
            <a:ext cx="10424160" cy="658368"/>
          </a:xfrm>
          <a:prstGeom prst="roundRect">
            <a:avLst/>
          </a:prstGeom>
          <a:solidFill>
            <a:srgbClr val="F6FAFD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8523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PingFang SC"/>
              </a:rPr>
              <a:t>原则：禁止先凭整体印象给分，必须先定位对象、抽证据、判规则，再进入分档与分数。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统一输出契约让 AI 的判断可解释、可比较、可复核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关键不是只给分，而是留下可供专家审核的判断结构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53212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751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输出字段示意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2542032"/>
            <a:ext cx="150876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596896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score /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542032"/>
            <a:ext cx="2240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59689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summary / core_judgment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346703"/>
            <a:ext cx="150876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401567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score_rationale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346703"/>
            <a:ext cx="2240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3401567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evidence_quotes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151376"/>
            <a:ext cx="150876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2062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strengths / weaknesses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0360" y="4151376"/>
            <a:ext cx="2240280" cy="384048"/>
          </a:xfrm>
          <a:prstGeom prst="round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420624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review_flags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920240"/>
            <a:ext cx="4389120" cy="356616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1579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为什么要严格统一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1152" y="2743200"/>
            <a:ext cx="91440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79806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可解释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28163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专家能看到 AI 为什么这么判。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31152" y="3529584"/>
            <a:ext cx="91440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5844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可比较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602736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不同模型可以横向比较。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31152" y="4315968"/>
            <a:ext cx="91440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3708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可复核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4389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ingFang SC"/>
              </a:rPr>
              <a:t>事后可回看证据与规则。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可靠性判断决定哪里可以采纳，哪里必须请人介入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重点不是谁分高，而是分歧有多大、结论可采纳到什么程度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8920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8483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模型得分示意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9748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模型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2724912"/>
            <a:ext cx="4165600" cy="201168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7919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264408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模型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1952" y="3291840"/>
            <a:ext cx="4013200" cy="201168"/>
          </a:xfrm>
          <a:prstGeom prst="rect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831336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PingFang SC"/>
              </a:rPr>
              <a:t>模型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3858768"/>
            <a:ext cx="3454400" cy="201168"/>
          </a:xfrm>
          <a:prstGeom prst="rect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1304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PingFang SC"/>
              </a:rPr>
              <a:t>68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526280"/>
            <a:ext cx="1234440" cy="640080"/>
          </a:xfrm>
          <a:prstGeom prst="roundRect">
            <a:avLst/>
          </a:prstGeom>
          <a:solidFill>
            <a:srgbClr val="F6FAFD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5D8C"/>
                </a:solidFill>
                <a:latin typeface="PingFang SC"/>
              </a:rPr>
              <a:t>均值 76.3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526280"/>
            <a:ext cx="1234440" cy="640080"/>
          </a:xfrm>
          <a:prstGeom prst="roundRect">
            <a:avLst/>
          </a:prstGeom>
          <a:solidFill>
            <a:srgbClr val="F6FAFD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D5E23"/>
                </a:solidFill>
                <a:latin typeface="PingFang SC"/>
              </a:rPr>
              <a:t>std 7.4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526280"/>
            <a:ext cx="1325880" cy="640080"/>
          </a:xfrm>
          <a:prstGeom prst="roundRect">
            <a:avLst/>
          </a:prstGeom>
          <a:solidFill>
            <a:srgbClr val="F9F3E5"/>
          </a:solidFill>
          <a:ln w="15240">
            <a:solidFill>
              <a:srgbClr val="CBA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8808" y="46817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D5E23"/>
                </a:solidFill>
                <a:latin typeface="PingFang SC"/>
              </a:rPr>
              <a:t>进入复核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828800"/>
            <a:ext cx="47548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判断意义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542032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532888"/>
            <a:ext cx="3877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高置信度不等于无需专家，低置信度更明确提示必须复核。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108960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099816"/>
            <a:ext cx="3877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这一层把“模型输出”转成“可采纳程度判断”。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675888"/>
            <a:ext cx="201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666744"/>
            <a:ext cx="38770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当前阈值讨论本身也需要专家共同校准。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当前边界仍然清楚存在，这正是专家意见最有价值的地方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机制可以运作，但可信边界仍要靠共同体继续校准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94760"/>
            <a:ext cx="4572000" cy="137160"/>
          </a:xfrm>
          <a:prstGeom prst="rect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1920240"/>
            <a:ext cx="3291840" cy="1874519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2F5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606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D8C"/>
                </a:solidFill>
                <a:latin typeface="PingFang SC"/>
              </a:rPr>
              <a:t>已结构化部分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99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PingFang SC"/>
              </a:rPr>
              <a:t>维度定义 / 决策顺序 / 输出契约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931920"/>
            <a:ext cx="4114800" cy="1417320"/>
          </a:xfrm>
          <a:prstGeom prst="roundRect">
            <a:avLst/>
          </a:prstGeom>
          <a:solidFill>
            <a:srgbClr val="EDF5F9"/>
          </a:solidFill>
          <a:ln w="15240">
            <a:solidFill>
              <a:srgbClr val="58A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A6C7"/>
                </a:solidFill>
                <a:latin typeface="PingFang SC"/>
              </a:rPr>
              <a:t>仍需专家判断部分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7365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PingFang SC"/>
              </a:rPr>
              <a:t>维度边界 / 流派识别 / 证据充分性 / 封顶规则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457200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ingFang SC"/>
              </a:rPr>
              <a:t>专家最值得发力的地方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551176"/>
            <a:ext cx="36941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哪些维度边界仍然模糊，需要更精确地切开。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45536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136392"/>
            <a:ext cx="36941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哪些规则触发过宽、过窄，导致 AI 失真或过度保守。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30752"/>
            <a:ext cx="2011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5D8C"/>
                </a:solidFill>
                <a:latin typeface="PingFang S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721608"/>
            <a:ext cx="369417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PingFang SC"/>
              </a:rPr>
              <a:t>哪些概念仍然过于抽象，尚未真正进入法学共同体语境。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ingFang SC"/>
              </a:rPr>
              <a:t>下一步分两段推进：1 个月校准，半年形成稳定机制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PingFang SC"/>
              </a:rPr>
              <a:t>目标不是更快自动化，而是把可用机制推进到可信机制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937760" cy="36118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6654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D5E23"/>
                </a:solidFill>
                <a:latin typeface="PingFang SC"/>
              </a:rPr>
              <a:t>未来 1 个月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743200"/>
            <a:ext cx="3886200" cy="0"/>
          </a:xfrm>
          <a:prstGeom prst="line">
            <a:avLst/>
          </a:prstGeom>
          <a:ln w="38100">
            <a:solidFill>
              <a:srgbClr val="CBA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417320" y="2587752"/>
            <a:ext cx="256032" cy="256032"/>
          </a:xfrm>
          <a:prstGeom prst="ellipse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9077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收集反馈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2587752"/>
            <a:ext cx="256032" cy="256032"/>
          </a:xfrm>
          <a:prstGeom prst="ellipse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29077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校准规则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587752"/>
            <a:ext cx="256032" cy="256032"/>
          </a:xfrm>
          <a:prstGeom prst="ellipse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29077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补样本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587752"/>
            <a:ext cx="256032" cy="256032"/>
          </a:xfrm>
          <a:prstGeom prst="ellipse">
            <a:avLst/>
          </a:prstGeom>
          <a:solidFill>
            <a:srgbClr val="CBA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90779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打磨复核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749039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PingFang SC"/>
              </a:rPr>
              <a:t>核心目标：先把规则争议点暴露出来，让专家意见真正进入机制。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4983480" cy="3611880"/>
          </a:xfrm>
          <a:prstGeom prst="roundRect">
            <a:avLst/>
          </a:prstGeom>
          <a:solidFill>
            <a:srgbClr val="FAFC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66543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F5D8C"/>
                </a:solidFill>
                <a:latin typeface="PingFang SC"/>
              </a:rPr>
              <a:t>未来半年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743200"/>
            <a:ext cx="3977640" cy="0"/>
          </a:xfrm>
          <a:prstGeom prst="line">
            <a:avLst/>
          </a:prstGeom>
          <a:ln w="38100">
            <a:solidFill>
              <a:srgbClr val="58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903720" y="2587752"/>
            <a:ext cx="256032" cy="256032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9077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稳定规则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2587752"/>
            <a:ext cx="256032" cy="256032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1" y="29077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标准样本库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0" y="2587752"/>
            <a:ext cx="256032" cy="256032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29077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人机协同</a:t>
            </a:r>
          </a:p>
        </p:txBody>
      </p:sp>
      <p:sp>
        <p:nvSpPr>
          <p:cNvPr id="27" name="Oval 26"/>
          <p:cNvSpPr/>
          <p:nvPr/>
        </p:nvSpPr>
        <p:spPr>
          <a:xfrm>
            <a:off x="10149840" y="2587752"/>
            <a:ext cx="256032" cy="256032"/>
          </a:xfrm>
          <a:prstGeom prst="ellipse">
            <a:avLst/>
          </a:prstGeom>
          <a:solidFill>
            <a:srgbClr val="58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907792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PingFang SC"/>
              </a:rPr>
              <a:t>制度接入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74903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PingFang SC"/>
              </a:rPr>
              <a:t>核心目标：形成更稳定的规则体系、样本体系和复核流程，再讨论跨学科扩展。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F5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5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34440"/>
            <a:ext cx="10012680" cy="4526280"/>
          </a:xfrm>
          <a:prstGeom prst="roundRect">
            <a:avLst/>
          </a:prstGeom>
          <a:solidFill>
            <a:srgbClr val="F8FBFE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PingFang SC"/>
              </a:rPr>
              <a:t>希望专家帮助我们把机制从可用推进到可信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971800"/>
            <a:ext cx="2377440" cy="384048"/>
          </a:xfrm>
          <a:prstGeom prst="roundRect">
            <a:avLst/>
          </a:prstGeom>
          <a:solidFill>
            <a:srgbClr val="E9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21408" y="302666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D8C"/>
                </a:solidFill>
                <a:latin typeface="PingFang SC"/>
              </a:rPr>
              <a:t>校准六维逻辑与边界规则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971800"/>
            <a:ext cx="2331720" cy="384048"/>
          </a:xfrm>
          <a:prstGeom prst="roundRect">
            <a:avLst/>
          </a:prstGeom>
          <a:solidFill>
            <a:srgbClr val="E8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8" y="3026664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8A6C7"/>
                </a:solidFill>
                <a:latin typeface="PingFang SC"/>
              </a:rPr>
              <a:t>参与样本试评与阶段性评估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971800"/>
            <a:ext cx="2103120" cy="384048"/>
          </a:xfrm>
          <a:prstGeom prst="roundRect">
            <a:avLst/>
          </a:prstGeom>
          <a:solidFill>
            <a:srgbClr val="F9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302666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D5E23"/>
                </a:solidFill>
                <a:latin typeface="PingFang SC"/>
              </a:rPr>
              <a:t>支持共建与试点推进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77639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PingFang SC"/>
              </a:rPr>
              <a:t>如果这套方向成立，我们希望下一步不是“证明 AI 能替代评审”，而是与专家一起把评审标准做得更清楚、更可信。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ingFang SC"/>
              </a:rPr>
              <a:t>期待专家对机制逻辑、规则边界、样本校准与试点路径提出意见。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