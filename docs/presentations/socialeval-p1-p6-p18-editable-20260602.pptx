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各位委员、各位老师，大家好。我汇报的题目是"中国法学自主知识体系创新——人工智能辅助评价系统"，这是 SocialEval 项目的阶段性成果汇报。我们尝试用人工智能为人文社科的学术评价探索一条可规模化、可解释的辅助路径，并以法学论文评审作为切入点。下面我从问题、方案、验证、成果和展望五个部分展开。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方法论部分。整个评审的骨架由四个递进的阶段构成。第一阶段是预检，做项目口径的门槛判断，把论文分流为进入评分、边界复核或明显不适格三类。通过门槛后进入第二阶段六维评分，这是零到一百分的学术质量评分，构成最终的加权基础分。第三阶段是自主知识体系信号校验，提取零到八的自主信号，它只用于候选分层，不计入基础分，这一点很关键。最后第四阶段是评价层复核，依据标准差和置信度分级，把未收敛的维度交给专家终审。整个设计的核心是门槛递进、各司其职，人工智能始终是辅助初筛，而不是替代专家的终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这一页是我们方法论最核心的成果。在四个模型独立评分之后，我们引入了 Round 2 交叉评审机制，让宽松组和严格组互相看到对方的评价再重新打分。效果非常显著：整体标准差从 Round 1 的十四点八七下降到 Round 2 的七点二四，降幅达到百分之五十一点三，这是建立在一千九百二十篇、一万一千五百多个评分单元之上的统计。从六个维度来看，逻辑连贯性的收敛率最高，达到百分之九十三，因为它客观性强，模型容易达成共识；而研究创新性的收敛率最低，只有百分之四十五，这恰恰反映了高阶学术判断上真实存在的分歧，这部分我们不强行抹平，而是保留给专家终审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ab2a60cc2d6f50e.png"/>
  <Relationship Id="rId3" Type="http://schemas.openxmlformats.org/officeDocument/2006/relationships/image" Target="../media/image_9a46fdb2bfcf08ba.png"/>
  <Relationship Id="rId4" Type="http://schemas.openxmlformats.org/officeDocument/2006/relationships/image" Target="../media/image_393ead454c02a0a1.png"/>
  <Relationship Id="rId5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d755cbac8782150.png"/>
  <Relationship Id="rId3" Type="http://schemas.openxmlformats.org/officeDocument/2006/relationships/image" Target="../media/image_393ead454c02a0a1.pn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d755cbac8782150.png"/>
  <Relationship Id="rId3" Type="http://schemas.openxmlformats.org/officeDocument/2006/relationships/image" Target="../media/image_393ead454c02a0a1.png"/>
  <Relationship Id="rId4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7" y="2943225"/>
            <a:ext cx="12159045" cy="391477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685800" y="419100"/>
            <a:ext cx="10820400" cy="400050"/>
            <a:chOff x="685800" y="419100"/>
            <a:chExt cx="10820400" cy="4000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438150"/>
              <a:ext cx="2831142" cy="323850"/>
            </a:xfrm>
            <a:prstGeom prst="rect">
              <a:avLst/>
            </a:prstGeom>
          </p:spPr>
        </p:pic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00" y="419100"/>
              <a:ext cx="1981200" cy="40005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644653" y="1530377"/>
            <a:ext cx="6822014" cy="1422349"/>
            <a:chOff x="1644653" y="1530377"/>
            <a:chExt cx="6822014" cy="1422349"/>
          </a:xfrm>
        </p:grpSpPr>
        <p:sp>
          <p:nvSpPr>
            <p:cNvPr id="7" name="TextBox 7"/>
            <p:cNvSpPr txBox="1"/>
            <p:nvPr/>
          </p:nvSpPr>
          <p:spPr>
            <a:xfrm>
              <a:off x="1644653" y="1530377"/>
              <a:ext cx="6822014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中国法学自主知识体系创新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44653" y="2139977"/>
              <a:ext cx="5701944" cy="812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人工智能</a:t>
              </a:r>
              <a:r>
                <a:rPr lang="zh-CN" sz="40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辅助评价系统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942083" y="4208807"/>
            <a:ext cx="2813880" cy="801319"/>
            <a:chOff x="3942083" y="4208807"/>
            <a:chExt cx="2813880" cy="801319"/>
          </a:xfrm>
        </p:grpSpPr>
        <p:sp>
          <p:nvSpPr>
            <p:cNvPr id="10" name="TextBox 10"/>
            <p:cNvSpPr txBox="1"/>
            <p:nvPr/>
          </p:nvSpPr>
          <p:spPr>
            <a:xfrm>
              <a:off x="3942083" y="4208807"/>
              <a:ext cx="2813880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上海交通大学人工智能研究院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42083" y="4446932"/>
              <a:ext cx="680614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金耀辉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42083" y="4685057"/>
              <a:ext cx="1053935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2026年6月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8161E"/>
              </a:gs>
              <a:gs pos="100000">
                <a:srgbClr val="1F4D78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85800" y="288317"/>
            <a:ext cx="10820400" cy="568909"/>
            <a:chOff x="685800" y="288317"/>
            <a:chExt cx="10820400" cy="568909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381000"/>
              <a:ext cx="381000" cy="381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1219200" y="381000"/>
              <a:ext cx="57150" cy="400050"/>
            </a:xfrm>
            <a:prstGeom prst="roundRect">
              <a:avLst>
                <a:gd name="adj" fmla="val 33333"/>
              </a:avLst>
            </a:prstGeom>
            <a:solidFill>
              <a:srgbClr val="C8161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74143" y="288317"/>
              <a:ext cx="2815212" cy="568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四阶段评审流程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05280" y="438150"/>
              <a:ext cx="1700920" cy="3429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3028950" y="1733550"/>
            <a:ext cx="9525" cy="3848100"/>
            <a:chOff x="3028950" y="1733550"/>
            <a:chExt cx="9525" cy="3848100"/>
          </a:xfrm>
        </p:grpSpPr>
        <p:sp>
          <p:nvSpPr>
            <p:cNvPr id="8" name="Line 8"/>
            <p:cNvSpPr/>
            <p:nvPr/>
          </p:nvSpPr>
          <p:spPr>
            <a:xfrm>
              <a:off x="3028950" y="17335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19050">
              <a:solidFill>
                <a:srgbClr val="D9DEE5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2984500" y="2379662"/>
            <a:ext cx="88900" cy="2632076"/>
            <a:chOff x="2984500" y="2379662"/>
            <a:chExt cx="88900" cy="2632076"/>
          </a:xfrm>
        </p:grpSpPr>
        <p:grpSp>
          <p:nvGrpSpPr>
            <p:cNvPr id="13" name="Group 13"/>
            <p:cNvGrpSpPr/>
            <p:nvPr/>
          </p:nvGrpSpPr>
          <p:grpSpPr>
            <a:xfrm>
              <a:off x="2984500" y="2379662"/>
              <a:ext cx="88900" cy="155576"/>
              <a:chOff x="2984500" y="2379662"/>
              <a:chExt cx="88900" cy="15557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028950" y="2379662"/>
                <a:ext cx="95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5575">
                    <a:moveTo>
                      <a:pt x="0" y="0"/>
                    </a:moveTo>
                    <a:lnTo>
                      <a:pt x="0" y="155575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028950" y="24907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984500" y="24907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2984500" y="3617912"/>
              <a:ext cx="88900" cy="155576"/>
              <a:chOff x="2984500" y="3617912"/>
              <a:chExt cx="88900" cy="15557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028950" y="3617912"/>
                <a:ext cx="95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5575">
                    <a:moveTo>
                      <a:pt x="0" y="0"/>
                    </a:moveTo>
                    <a:lnTo>
                      <a:pt x="0" y="155575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028950" y="37290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984500" y="37290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2984500" y="4856162"/>
              <a:ext cx="88900" cy="155576"/>
              <a:chOff x="2984500" y="4856162"/>
              <a:chExt cx="88900" cy="15557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028950" y="4856162"/>
                <a:ext cx="95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5575">
                    <a:moveTo>
                      <a:pt x="0" y="0"/>
                    </a:moveTo>
                    <a:lnTo>
                      <a:pt x="0" y="155575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028950" y="49672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984500" y="49672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9AA3AE"/>
                </a:solidFill>
              </a:ln>
            </p:spPr>
          </p:sp>
        </p:grpSp>
      </p:grpSp>
      <p:grpSp>
        <p:nvGrpSpPr>
          <p:cNvPr id="33" name="Group 33"/>
          <p:cNvGrpSpPr/>
          <p:nvPr/>
        </p:nvGrpSpPr>
        <p:grpSpPr>
          <a:xfrm>
            <a:off x="2476500" y="1238250"/>
            <a:ext cx="7239000" cy="1066800"/>
            <a:chOff x="2476500" y="1238250"/>
            <a:chExt cx="7239000" cy="1066800"/>
          </a:xfrm>
        </p:grpSpPr>
        <p:sp>
          <p:nvSpPr>
            <p:cNvPr id="23" name="Rectangle 23"/>
            <p:cNvSpPr/>
            <p:nvPr/>
          </p:nvSpPr>
          <p:spPr>
            <a:xfrm>
              <a:off x="2476500" y="1238250"/>
              <a:ext cx="723900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D9DEE5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28900" y="1352550"/>
              <a:ext cx="838200" cy="838200"/>
            </a:xfrm>
            <a:prstGeom prst="roundRect">
              <a:avLst>
                <a:gd name="adj" fmla="val 15909"/>
              </a:avLst>
            </a:prstGeom>
            <a:solidFill>
              <a:srgbClr val="C8161E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2895600" y="1543050"/>
              <a:ext cx="242887" cy="242888"/>
              <a:chOff x="2895600" y="1543050"/>
              <a:chExt cx="242887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2895600" y="1543050"/>
                <a:ext cx="228600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2888">
                    <a:moveTo>
                      <a:pt x="102584" y="232515"/>
                    </a:moveTo>
                    <a:lnTo>
                      <a:pt x="71438" y="242888"/>
                    </a:lnTo>
                    <a:lnTo>
                      <a:pt x="71438" y="121444"/>
                    </a:lnTo>
                    <a:lnTo>
                      <a:pt x="7429" y="51035"/>
                    </a:lnTo>
                    <a:cubicBezTo>
                      <a:pt x="2650" y="45776"/>
                      <a:pt x="1" y="38925"/>
                      <a:pt x="0" y="31818"/>
                    </a:cubicBezTo>
                    <a:lnTo>
                      <a:pt x="0" y="0"/>
                    </a:lnTo>
                    <a:lnTo>
                      <a:pt x="228600" y="0"/>
                    </a:lnTo>
                    <a:lnTo>
                      <a:pt x="228600" y="31032"/>
                    </a:lnTo>
                    <a:cubicBezTo>
                      <a:pt x="228598" y="38610"/>
                      <a:pt x="225587" y="45877"/>
                      <a:pt x="220228" y="51235"/>
                    </a:cubicBezTo>
                    <a:lnTo>
                      <a:pt x="157162" y="114300"/>
                    </a:lnTo>
                    <a:lnTo>
                      <a:pt x="157162" y="15716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052762" y="17287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780728" y="19659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83330" y="1468755"/>
              <a:ext cx="274377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预检 · 项目口径判断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92217" y="1887193"/>
              <a:ext cx="382605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门槛判断：进入评分 / 边界复核 / 明显不适格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0" y="158115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C8161E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19773" y="1696693"/>
              <a:ext cx="81980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三类口径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476500" y="2590800"/>
            <a:ext cx="7239000" cy="1066800"/>
            <a:chOff x="2476500" y="2590800"/>
            <a:chExt cx="72390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2476500" y="2590800"/>
              <a:ext cx="723900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D9DEE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628900" y="2705100"/>
              <a:ext cx="838200" cy="838200"/>
            </a:xfrm>
            <a:prstGeom prst="roundRect">
              <a:avLst>
                <a:gd name="adj" fmla="val 15909"/>
              </a:avLst>
            </a:prstGeom>
            <a:solidFill>
              <a:srgbClr val="1F4D7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2909888" y="2895600"/>
              <a:ext cx="214312" cy="242888"/>
              <a:chOff x="2909888" y="2895600"/>
              <a:chExt cx="214312" cy="24288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2909888" y="289560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038475" y="30813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2967038" y="29527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2967038" y="30099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2780728" y="33185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83330" y="2821305"/>
              <a:ext cx="33318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六维评分 · 学术质量评分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92217" y="3239743"/>
              <a:ext cx="302314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六维学术质量评分，构成加权基础分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096250" y="29337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1F4D78">
                <a:alpha val="1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80561" y="3049243"/>
              <a:ext cx="898228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0 – 100 分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476500" y="3943350"/>
            <a:ext cx="7239000" cy="1066800"/>
            <a:chOff x="2476500" y="3943350"/>
            <a:chExt cx="7239000" cy="1066800"/>
          </a:xfrm>
        </p:grpSpPr>
        <p:sp>
          <p:nvSpPr>
            <p:cNvPr id="47" name="Rectangle 47"/>
            <p:cNvSpPr/>
            <p:nvPr/>
          </p:nvSpPr>
          <p:spPr>
            <a:xfrm>
              <a:off x="2476500" y="3943350"/>
              <a:ext cx="723900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D9DEE5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628900" y="4057650"/>
              <a:ext cx="838200" cy="838200"/>
            </a:xfrm>
            <a:prstGeom prst="roundRect">
              <a:avLst>
                <a:gd name="adj" fmla="val 15909"/>
              </a:avLst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2881312" y="4233862"/>
              <a:ext cx="257175" cy="257175"/>
              <a:chOff x="2881312" y="4233862"/>
              <a:chExt cx="257175" cy="25717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2881312" y="42338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052762" y="44053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857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2780728" y="46710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83330" y="4173855"/>
              <a:ext cx="29937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自主知识体系信号校验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792217" y="4592293"/>
              <a:ext cx="358331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提取自主信号用于候选分层，</a:t>
              </a:r>
              <a:r>
                <a:rPr lang="zh-CN" sz="14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不计入基础分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096250" y="426720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2E7D32">
                <a:alpha val="10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65856" y="4382743"/>
              <a:ext cx="927637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0 – 8 信号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2476500" y="5295900"/>
            <a:ext cx="7239000" cy="1066800"/>
            <a:chOff x="2476500" y="5295900"/>
            <a:chExt cx="7239000" cy="1066800"/>
          </a:xfrm>
        </p:grpSpPr>
        <p:sp>
          <p:nvSpPr>
            <p:cNvPr id="58" name="Rectangle 58"/>
            <p:cNvSpPr/>
            <p:nvPr/>
          </p:nvSpPr>
          <p:spPr>
            <a:xfrm>
              <a:off x="2476500" y="5295900"/>
              <a:ext cx="723900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D9DEE5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628900" y="5410200"/>
              <a:ext cx="838200" cy="838200"/>
            </a:xfrm>
            <a:prstGeom prst="roundRect">
              <a:avLst>
                <a:gd name="adj" fmla="val 15909"/>
              </a:avLst>
            </a:prstGeom>
            <a:solidFill>
              <a:srgbClr val="44546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2862031" y="5586412"/>
              <a:ext cx="279010" cy="257176"/>
              <a:chOff x="2862031" y="5586412"/>
              <a:chExt cx="279010" cy="25717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2862031" y="55864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3052762" y="57864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2780728" y="6023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阶段四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783330" y="5526405"/>
              <a:ext cx="33318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评价层复核 · 可靠性判断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792217" y="5944843"/>
              <a:ext cx="414348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依据标准差与置信度分级，未收敛维度交专家终审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096250" y="5619750"/>
              <a:ext cx="1466850" cy="419100"/>
            </a:xfrm>
            <a:prstGeom prst="roundRect">
              <a:avLst>
                <a:gd name="adj" fmla="val 50000"/>
              </a:avLst>
            </a:prstGeom>
            <a:solidFill>
              <a:srgbClr val="44546A">
                <a:alpha val="10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419773" y="5735293"/>
              <a:ext cx="81980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44546A"/>
                  </a:solidFill>
                  <a:latin typeface="Arial"/>
                  <a:ea typeface="Microsoft YaHei"/>
                  <a:cs typeface="Arial"/>
                </a:rPr>
                <a:t>复核判断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0" y="6516343"/>
            <a:ext cx="12192000" cy="341657"/>
            <a:chOff x="0" y="6516343"/>
            <a:chExt cx="12192000" cy="341657"/>
          </a:xfrm>
        </p:grpSpPr>
        <p:sp>
          <p:nvSpPr>
            <p:cNvPr id="69" name="Rectangle 69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gradFill>
              <a:gsLst>
                <a:gs pos="0">
                  <a:srgbClr val="C8161E"/>
                </a:gs>
                <a:gs pos="100000">
                  <a:srgbClr val="1F4D7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8017" y="6516343"/>
              <a:ext cx="345260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中国法学自主知识体系创新 · AI 辅助评价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283021" y="6516343"/>
              <a:ext cx="240962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  <p:bldP spid="33" grpId="0"/>
      <p:bldP spid="46" grpId="0"/>
      <p:bldP spid="57" grpId="0"/>
      <p:bldP spid="68" grpId="0"/>
    </p:bldLst>
  </p:timing>
</p:sld>
</file>

<file path=ppt/slides/slide3.xml><?xml version="1.0" encoding="utf-8"?>
<p:sld xmlns:a="http://schemas.openxmlformats.org/drawingml/2006/main" xmlns:ns2="http://schemas.openxmlformats.org/officeDocument/2006/relationships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85800" y="269267"/>
            <a:ext cx="10820400" cy="568909"/>
            <a:chOff x="685800" y="269267"/>
            <a:chExt cx="10820400" cy="568909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ns2:embed="rId2"/>
            <a:stretch>
              <a:fillRect/>
            </a:stretch>
          </p:blipFill>
          <p:spPr>
            <a:xfrm>
              <a:off x="685800" y="361950"/>
              <a:ext cx="381000" cy="381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1219200" y="361950"/>
              <a:ext cx="57150" cy="400050"/>
            </a:xfrm>
            <a:prstGeom prst="roundRect">
              <a:avLst>
                <a:gd name="adj" fmla="val 33333"/>
              </a:avLst>
            </a:prstGeom>
            <a:solidFill>
              <a:srgbClr val="C8161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74143" y="269267"/>
              <a:ext cx="3207226" cy="568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00" b="1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交叉评审收敛效果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ns2:embed="rId3"/>
            <a:stretch>
              <a:fillRect/>
            </a:stretch>
          </p:blipFill>
          <p:spPr>
            <a:xfrm>
              <a:off x="9805280" y="419100"/>
              <a:ext cx="1700920" cy="34290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143000" y="1096618"/>
            <a:ext cx="6918198" cy="284531"/>
            <a:chOff x="1143000" y="1096618"/>
            <a:chExt cx="6918198" cy="284531"/>
          </a:xfrm>
        </p:grpSpPr>
        <p:sp>
          <p:nvSpPr>
            <p:cNvPr id="8" name="Rectangle 8"/>
            <p:cNvSpPr/>
            <p:nvPr/>
          </p:nvSpPr>
          <p:spPr>
            <a:xfrm>
              <a:off x="1143000" y="110490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72867" y="1096618"/>
              <a:ext cx="125000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R1 平均 std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38500" y="110490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68367" y="1096618"/>
              <a:ext cx="125000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R2 平均 std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66510" y="1118235"/>
              <a:ext cx="1900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基于 11,520 个评分单元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44217" y="1610968"/>
            <a:ext cx="7256783" cy="4027856"/>
            <a:chOff x="744217" y="1610968"/>
            <a:chExt cx="7256783" cy="4027856"/>
          </a:xfrm>
        </p:grpSpPr>
        <p:sp>
          <p:nvSpPr>
            <p:cNvPr id="14" name="Line 14"/>
            <p:cNvSpPr/>
            <p:nvPr/>
          </p:nvSpPr>
          <p:spPr>
            <a:xfrm>
              <a:off x="1143000" y="51435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14288">
              <a:solidFill>
                <a:srgbClr val="D9DEE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143000" y="42862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E8ECF1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1143000" y="34290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E8ECF1"/>
              </a:solidFill>
              <a:prstDash val="dash"/>
            </a:ln>
          </p:spPr>
        </p:sp>
        <p:sp>
          <p:nvSpPr>
            <p:cNvPr id="17" name="Line 17"/>
            <p:cNvSpPr/>
            <p:nvPr/>
          </p:nvSpPr>
          <p:spPr>
            <a:xfrm>
              <a:off x="1143000" y="257175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E8ECF1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1143000" y="17145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E8ECF1"/>
              </a:solidFill>
              <a:prstDash val="dash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1367" y="5039968"/>
              <a:ext cx="13826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1367" y="4182718"/>
              <a:ext cx="138264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4217" y="3325468"/>
              <a:ext cx="52000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4217" y="2468218"/>
              <a:ext cx="52000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4217" y="1610968"/>
              <a:ext cx="240962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20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143000" y="17145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14450" y="1933575"/>
              <a:ext cx="361950" cy="32099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95117" y="1684682"/>
              <a:ext cx="600616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18.70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752600" y="3267075"/>
              <a:ext cx="361950" cy="18764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33267" y="3018182"/>
              <a:ext cx="600616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10.94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60867" y="5161307"/>
              <a:ext cx="1107267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研究创新性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42670" y="5354293"/>
              <a:ext cx="34366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30%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457450" y="2276475"/>
              <a:ext cx="361950" cy="28670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338117" y="2027582"/>
              <a:ext cx="600616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16.72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895600" y="3676650"/>
              <a:ext cx="361950" cy="146685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809866" y="3427757"/>
              <a:ext cx="533418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8.56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03867" y="5161307"/>
              <a:ext cx="1107267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现状洞察度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85670" y="5354293"/>
              <a:ext cx="34366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20%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600450" y="2019300"/>
              <a:ext cx="361950" cy="312420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481117" y="1770407"/>
              <a:ext cx="600616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18.23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038600" y="3648075"/>
              <a:ext cx="361950" cy="14954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80865" y="3399182"/>
              <a:ext cx="477420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8.71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46867" y="5161307"/>
              <a:ext cx="1107267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理论建构力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52010" y="5354293"/>
              <a:ext cx="2969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15%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743450" y="3409950"/>
              <a:ext cx="361950" cy="173355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52116" y="3161057"/>
              <a:ext cx="544618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10.10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81600" y="4429125"/>
              <a:ext cx="361950" cy="71437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123865" y="4180232"/>
              <a:ext cx="477420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4.16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89867" y="5161307"/>
              <a:ext cx="1107267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逻辑连贯性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71670" y="5354293"/>
              <a:ext cx="34366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20%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86450" y="3057525"/>
              <a:ext cx="361950" cy="208597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95116" y="2808632"/>
              <a:ext cx="544618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12.16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24600" y="4219575"/>
              <a:ext cx="361950" cy="923925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38866" y="3970682"/>
              <a:ext cx="533418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5.37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32867" y="5161307"/>
              <a:ext cx="1107267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学术共识度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38010" y="5354293"/>
              <a:ext cx="296979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10%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029450" y="2857500"/>
              <a:ext cx="361950" cy="228600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D6434A"/>
                </a:gs>
                <a:gs pos="100000">
                  <a:srgbClr val="C8161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10117" y="2608607"/>
              <a:ext cx="600616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C8161E"/>
                  </a:solidFill>
                  <a:latin typeface="Arial"/>
                  <a:ea typeface="Microsoft YaHei"/>
                  <a:cs typeface="Arial"/>
                </a:rPr>
                <a:t>13.33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467600" y="4171950"/>
              <a:ext cx="361950" cy="971550"/>
            </a:xfrm>
            <a:prstGeom prst="roundRect">
              <a:avLst>
                <a:gd name="adj" fmla="val 7895"/>
              </a:avLst>
            </a:prstGeom>
            <a:gradFill>
              <a:gsLst>
                <a:gs pos="0">
                  <a:srgbClr val="2E5E8C"/>
                </a:gs>
                <a:gs pos="100000">
                  <a:srgbClr val="1F4D7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81866" y="3923057"/>
              <a:ext cx="533418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1F4D78"/>
                  </a:solidFill>
                  <a:latin typeface="Arial"/>
                  <a:ea typeface="Microsoft YaHei"/>
                  <a:cs typeface="Arial"/>
                </a:rPr>
                <a:t>5.68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75867" y="5161307"/>
              <a:ext cx="1107267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1B1C21"/>
                  </a:solidFill>
                  <a:latin typeface="Arial"/>
                  <a:ea typeface="Microsoft YaHei"/>
                  <a:cs typeface="Arial"/>
                </a:rPr>
                <a:t>前瞻延展性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09019" y="5354293"/>
              <a:ext cx="240962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5%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458200" y="1428750"/>
            <a:ext cx="3048000" cy="1809750"/>
            <a:chOff x="8458200" y="1428750"/>
            <a:chExt cx="3048000" cy="1809750"/>
          </a:xfrm>
        </p:grpSpPr>
        <p:sp>
          <p:nvSpPr>
            <p:cNvPr id="62" name="Rectangle 62"/>
            <p:cNvSpPr/>
            <p:nvPr/>
          </p:nvSpPr>
          <p:spPr>
            <a:xfrm>
              <a:off x="8458200" y="1428750"/>
              <a:ext cx="3048000" cy="1809750"/>
            </a:xfrm>
            <a:prstGeom prst="roundRect">
              <a:avLst>
                <a:gd name="adj" fmla="val 8421"/>
              </a:avLst>
            </a:prstGeom>
            <a:solidFill>
              <a:srgbClr val="C8161E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666483" y="1637057"/>
              <a:ext cx="1533920" cy="325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整体标准差降幅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80120" y="1969770"/>
              <a:ext cx="2027396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51.3</a:t>
              </a:r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%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8686800" y="27432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663940" y="2853690"/>
              <a:ext cx="33000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R1 </a:t>
              </a:r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14.87</a:t>
              </a:r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→ R2 </a:t>
              </a:r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7.24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458200" y="3429000"/>
            <a:ext cx="3048000" cy="933450"/>
            <a:chOff x="8458200" y="3429000"/>
            <a:chExt cx="3048000" cy="933450"/>
          </a:xfrm>
        </p:grpSpPr>
        <p:sp>
          <p:nvSpPr>
            <p:cNvPr id="68" name="Rectangle 68"/>
            <p:cNvSpPr/>
            <p:nvPr/>
          </p:nvSpPr>
          <p:spPr>
            <a:xfrm>
              <a:off x="8458200" y="3429000"/>
              <a:ext cx="30480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4288">
              <a:solidFill>
                <a:srgbClr val="D9DEE5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8693944" y="3702844"/>
              <a:ext cx="271462" cy="271462"/>
              <a:chOff x="8693944" y="3702844"/>
              <a:chExt cx="271462" cy="271462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693944" y="370284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84431" y="3808412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3"/>
                    </a:moveTo>
                    <a:lnTo>
                      <a:pt x="30162" y="60325"/>
                    </a:ln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9127493" y="3631592"/>
              <a:ext cx="1610241" cy="264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逻辑连贯性R2收敛率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13520" y="3874770"/>
              <a:ext cx="165716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93.2</a:t>
              </a:r>
              <a:r>
                <a:rPr lang="zh-CN" sz="14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%</a:t>
              </a:r>
              <a:r>
                <a:rPr lang="zh-CN" sz="12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最高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458200" y="4419600"/>
            <a:ext cx="3048000" cy="1028700"/>
            <a:chOff x="8458200" y="4419600"/>
            <a:chExt cx="3048000" cy="1028700"/>
          </a:xfrm>
        </p:grpSpPr>
        <p:sp>
          <p:nvSpPr>
            <p:cNvPr id="75" name="Rectangle 75"/>
            <p:cNvSpPr/>
            <p:nvPr/>
          </p:nvSpPr>
          <p:spPr>
            <a:xfrm>
              <a:off x="8458200" y="4419600"/>
              <a:ext cx="30480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D9DEE5"/>
              </a:solidFill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8693944" y="4689475"/>
              <a:ext cx="271463" cy="250825"/>
              <a:chOff x="8693944" y="4689475"/>
              <a:chExt cx="271463" cy="2508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693944" y="4810125"/>
                <a:ext cx="90488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8" y="6752"/>
                      <a:pt x="90488" y="15081"/>
                    </a:cubicBezTo>
                    <a:lnTo>
                      <a:pt x="90488" y="105569"/>
                    </a:lnTo>
                    <a:cubicBezTo>
                      <a:pt x="90488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E07B00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874919" y="4749800"/>
                <a:ext cx="90488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8" y="6752"/>
                      <a:pt x="90488" y="15081"/>
                    </a:cubicBezTo>
                    <a:lnTo>
                      <a:pt x="90488" y="165894"/>
                    </a:lnTo>
                    <a:cubicBezTo>
                      <a:pt x="90488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4"/>
                    </a:cubicBez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E07B00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84431" y="4689475"/>
                <a:ext cx="90488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24130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8" y="6752"/>
                      <a:pt x="90488" y="15081"/>
                    </a:cubicBezTo>
                    <a:lnTo>
                      <a:pt x="90488" y="226219"/>
                    </a:lnTo>
                    <a:cubicBezTo>
                      <a:pt x="90488" y="234548"/>
                      <a:pt x="83735" y="241300"/>
                      <a:pt x="75406" y="241300"/>
                    </a:cubicBezTo>
                    <a:lnTo>
                      <a:pt x="15081" y="241300"/>
                    </a:lnTo>
                    <a:cubicBezTo>
                      <a:pt x="6752" y="241300"/>
                      <a:pt x="0" y="234548"/>
                      <a:pt x="0" y="22621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E07B00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709025" y="4930775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19050">
                <a:solidFill>
                  <a:srgbClr val="E07B00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9127493" y="4603142"/>
              <a:ext cx="1610241" cy="264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00" dirty="0">
                  <a:solidFill>
                    <a:srgbClr val="5A6472"/>
                  </a:solidFill>
                  <a:latin typeface="Arial"/>
                  <a:ea typeface="Microsoft YaHei"/>
                  <a:cs typeface="Arial"/>
                </a:rPr>
                <a:t>研究创新性R2收敛率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113520" y="4846320"/>
              <a:ext cx="98507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07B00"/>
                  </a:solidFill>
                  <a:latin typeface="Arial"/>
                  <a:ea typeface="Microsoft YaHei"/>
                  <a:cs typeface="Arial"/>
                </a:rPr>
                <a:t>44.8</a:t>
              </a:r>
              <a:r>
                <a:rPr lang="zh-CN" sz="1400" b="1" dirty="0">
                  <a:solidFill>
                    <a:srgbClr val="E07B00"/>
                  </a:solidFill>
                  <a:latin typeface="Arial"/>
                  <a:ea typeface="Microsoft YaHei"/>
                  <a:cs typeface="Arial"/>
                </a:rPr>
                <a:t>%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128760" y="520446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最低 · 真实学术分歧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0" y="6516343"/>
            <a:ext cx="12192000" cy="341657"/>
            <a:chOff x="0" y="6516343"/>
            <a:chExt cx="12192000" cy="341657"/>
          </a:xfrm>
        </p:grpSpPr>
        <p:sp>
          <p:nvSpPr>
            <p:cNvPr id="85" name="Rectangle 85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gradFill>
              <a:gsLst>
                <a:gs pos="0">
                  <a:srgbClr val="C8161E"/>
                </a:gs>
                <a:gs pos="100000">
                  <a:srgbClr val="1F4D7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68017" y="6516343"/>
              <a:ext cx="489037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数据来源：results/fullevaluation/round2 全量评审统计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97917" y="6516343"/>
              <a:ext cx="52000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9AA3AE"/>
                  </a:solidFill>
                  <a:latin typeface="Arial"/>
                  <a:ea typeface="Microsoft YaHei"/>
                  <a:cs typeface="Arial"/>
                </a:rPr>
                <a:t>18</a:t>
              </a:r>
            </a:p>
          </p:txBody>
        </p:sp>
      </p:grpSp>
    </p:spTree>
  </p:cSld>
  <p:clrMapOvr>
    <a:masterClrMapping/>
  </p:clrMapOvr>
  <p:transition ns3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1" grpId="0"/>
      <p:bldP spid="67" grpId="0"/>
      <p:bldP spid="74" grpId="0"/>
      <p:bldP spid="8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