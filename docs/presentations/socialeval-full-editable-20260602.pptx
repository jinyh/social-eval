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各位委员、各位老师，大家好。我汇报的题目是“中国法学自主知识体系创新——人工智能辅助评价系统”。这是 SocialEval 项目的阶段性成果汇报，我们以法学论文评审为切入点，探索一套可规模化、可解释、可复核的 AI 辅助学术评价路径。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传统学术评价面临一个“不可能三角”：标准统一、评审效率和规模覆盖很难同时满足。面对近十年法学三大刊约一千九百篇论文，如果完全依赖人工逐篇评审，周期和专家调度成本都会非常高。</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项目目标不是让 AI 替代专家，而是让 AI 承担初筛、证据整理、分歧暴露和候选分层。真正的首创性判断、主编判断和价值裁断仍然由专家完成。</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评价对象来自近十年法学三大刊，去重后形成一千九百二十篇可评测论文。系统已完成全量 R1+R2 结果文件，并继续完成 Top 60 重测、Top 30 选择性第三次评测、自主信号评测和知识库匹配。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样本体系分为校准回归集、冻结测试集和最终验证集，目的在于严格防止调参集和验证集混用。专家负样本用于检查系统是否能识别形式完整但学术贡献不足的论文。</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整个评审骨架由四个阶段构成：预检做项目口径判断，六维评分形成基础分，自主信号校验用于候选分层，最后根据标准差和置信度进入评价层复核。这个流程保证 AI 始终是辅助初筛，而不是终裁。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六维不是六个并列指标，而是从命题定位、工具论证到风险延展的递进结构。研究创新性和现状洞察度权重最高，体现本项目对自主知识体系创新的核心关注。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为了让 AI 有可执行的“尺子”，我们把模糊学术概念转化成检查清单。例如“枢纽性”要求影响范围、争议焦点、理论基础和制度连锁等要素；“可争辩的法学问题”也被拆成可观察标准。</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每篇论文、每个维度由四个模型独立评分。A 组模型相对宽松，B 组模型相对严格，多模型并发的目的不是简单取平均，而是主动暴露系统性偏见和真实学术分歧。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Round 1 中四个模型互不可见，Round 2 中宽松组和严格组互相看到对方意见后重新评分。每个模型必须说明接受和拒绝对方意见的理由，这使分歧本身成为可复核证据。</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Autoresearch 的作用有两个：一是与专家判断对齐，避免正样本被误伤；二是平衡模型之间的尺度差异。最终 v2.56.6 通过六轮锚定规则优化，将标准差显著压低。</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系统自动计算均值和标准差，并将置信度分为 High、Medium、Low、Critical 四级。超过阈值的维度不强行决断，而是进入专家复核队列。</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自主知识体系信号包括中国问题中心性、中国实践解释尝试、外部理论转化动作和可复核概念或命题。它不计入基础分，而是用于候选分层和专家复核证据包。</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Round 1 中的问题论文被分为五类：空状态、全部拒绝、多数拒绝、单一拒绝和边界判断。空状态已补测，全部拒绝可排除，其余拒绝和边界论文需要人工确认项目口径。</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Top 30 中只有部分论文、部分维度仍不稳定。由于六维评分在数学和流程上相互独立，我们只重测不稳定维度，用 136 次 API 调用替代全量 624 次调用，节省约 78%。</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选择性第三次评测覆盖 13 篇论文、17 个不稳定维度，8 个维度收敛到 std 小于等于 5。仍异常的维度主要集中在研究创新性和理论建构力，说明这些是高阶学术判断分歧。</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截至目前，全量评审、Top 60 重测、Top 30 选择性第三次评测、自主信号评测和知识库匹配均已完成。主评测 API 调用约九万四千七百次，覆盖一万一千五百二十个论文-维度评分单元。</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交叉评审是本项目最核心的机制创新。全量数据中，整体标准差从 Round 1 的 14.87 下降到 Round 2 的 7.24，降幅 51.3%。逻辑连贯性最容易收敛，研究创新性最低，保留给专家终审。</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Top 30 最终排名采用稳定维度两次均值、不稳定维度三次中位数的方式。中位数天然排除极端值，使最终候选名单更稳健，也减少单次模型波动的影响。</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Top 30 进一步经过自主知识信号评测和知识库匹配。结果表明，高分论文大多同时具备强自主知识信号，并能映射到明确的中国法学自主知识体系条目。</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Round 1 中，A 组模型主要给高分，B 组模型主要给低分。Round 2 后，B 组在认可对方意见时主动上调，A 组也会在严格意见影响下下调，模型角色从两极对立转向互相纠偏。</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全量 R2 分数均值约 71，中位数约 74.5，峰值集中在 75 到 80 区间。R1 到 R2 的均分几乎不变，说明交叉评审主要降低分歧，而不是系统性抬高或压低分数。</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四个模型具有明显行为画像：DeepSeek 最严格且波动较大，Qwen 最宽松，Kimi 相对稳定，GLM 居中偏宽松。这些差异正是多模型机制需要处理的对象。</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框架从 v1.0 演进到 v2.56.6，经历了多个关键版本。尤其是 v2.51 失败经验表明，短 prompt 无法可靠判断论证质量，必须回到可观察指标和锚定规则。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系统后端采用 Python 与 FastAPI，数据层使用 PostgreSQL 和 Redis，AI 调用通过统一抽象层接入 DashScope 与仲裁模型。Prompt 和输出契约以 YAML 配置为真源，保证可追溯和可迭代。</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项目没有隐藏失败版本。v2.51 Phase 0 的负面模式检测器失败，提醒我们不能依赖抽象的“空泛表述”判断，而要把标准落到可观察、可复核的指标上。</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最终流程是逐层聚焦：全量评审识别候选池，Top 60 复测暴露分歧，选择性第三次评测精准处理不稳定维度，最后用自主信号和知识谱系验证 Top 30 的代表性。</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项目形成了概念操作化、四阶段流程、交叉评审、Autoresearch 对齐和选择性第三次评测五项方法论成果，也完成了全量评审、重测、信号评测和知识库匹配等工程成果。</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当前仍有部分高阶维度未完全收敛，预检边界论文也需要人工确认。下一步重点是执行专家复核流程，完善自主信号分歧解释，并将方法扩展到人文社科其他学科。</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以上是 SocialEval 项目的阶段性汇报。欢迎各位老师从方法论、法学评价口径、专家复核流程和后续拓展方向提出意见。</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这一页展开六维加权评分公式。基础分来自六个维度的加权和，自主知识体系信号不进入基础分，而是用于候选分层和专家复核证据包。</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典型单篇报告包含论文信息、六维评分、模型分歧、自主信号和复核建议。它的目标不是给一个孤立总分，而是让专家看到分数背后的证据结构。</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维度收敛率的差异说明，客观性较强的逻辑连贯性更容易收敛，而研究创新性和理论建构力保留更多真实学术判断差异。</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 辅助评价解决规模化初筛和证据整理问题，人工评审承担最终学术裁断。二者不是替代关系，而是分工关系。</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负样本专家意见帮助我们检查系统是否能识别洞察不足、框架不足和政策宣示替代论证等问题。这是人机对齐的重要来源。</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这一页展示选择性第三次评测的关键数据。重点是 17 个不稳定维度中有多少收敛、多少进入可接受范围，以及哪些仍需专家终审。</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 Top 30 三次评测中的排名变化。上升和下降都能追溯到具体维度的第三次评测结果，便于专家复核。</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Round 1 问题论文分为五类，其中空状态已经补测完成，全部拒绝可排除，多数拒绝、单一拒绝和边界判断仍需要人工口径确认。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最后一页附录展示 Top 30 的自主知识信号和知识库匹配细节。它证明候选论文不仅分数高，而且具有明确的自主知识谱系位置。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ab2a60cc2d6f50e.png"/>
  <Relationship Id="rId3" Type="http://schemas.openxmlformats.org/officeDocument/2006/relationships/image" Target="../media/image_9a46fdb2bfcf08ba.png"/>
  <Relationship Id="rId4" Type="http://schemas.openxmlformats.org/officeDocument/2006/relationships/image" Target="../media/image_393ead454c02a0a1.png"/>
  <Relationship Id="rId5"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16477" y="2943225"/>
            <a:ext cx="12159045" cy="3914775"/>
          </a:xfrm>
          <a:prstGeom prst="rect">
            <a:avLst/>
          </a:prstGeom>
        </p:spPr>
      </p:pic>
      <p:grpSp>
        <p:nvGrpSpPr>
          <p:cNvPr id="6" name="Group 6"/>
          <p:cNvGrpSpPr/>
          <p:nvPr/>
        </p:nvGrpSpPr>
        <p:grpSpPr>
          <a:xfrm>
            <a:off x="685800" y="419100"/>
            <a:ext cx="10820400" cy="400050"/>
            <a:chOff x="685800" y="419100"/>
            <a:chExt cx="10820400" cy="400050"/>
          </a:xfrm>
        </p:grpSpPr>
        <p:pic>
          <p:nvPicPr>
            <p:cNvPr id="4" name="Image 4"/>
            <p:cNvPicPr>
              <a:picLocks noChangeAspect="1"/>
            </p:cNvPicPr>
            <p:nvPr/>
          </p:nvPicPr>
          <p:blipFill>
            <a:blip r:embed="rId3"/>
            <a:stretch>
              <a:fillRect/>
            </a:stretch>
          </p:blipFill>
          <p:spPr>
            <a:xfrm>
              <a:off x="685800" y="438150"/>
              <a:ext cx="2831142" cy="323850"/>
            </a:xfrm>
            <a:prstGeom prst="rect">
              <a:avLst/>
            </a:prstGeom>
          </p:spPr>
        </p:pic>
        <p:pic>
          <p:nvPicPr>
            <p:cNvPr id="5" name="Image 5"/>
            <p:cNvPicPr>
              <a:picLocks noChangeAspect="1"/>
            </p:cNvPicPr>
            <p:nvPr/>
          </p:nvPicPr>
          <p:blipFill>
            <a:blip r:embed="rId4"/>
            <a:stretch>
              <a:fillRect/>
            </a:stretch>
          </p:blipFill>
          <p:spPr>
            <a:xfrm>
              <a:off x="9525000" y="419100"/>
              <a:ext cx="1981200" cy="400050"/>
            </a:xfrm>
            <a:prstGeom prst="rect">
              <a:avLst/>
            </a:prstGeom>
          </p:spPr>
        </p:pic>
      </p:grpSp>
      <p:grpSp>
        <p:nvGrpSpPr>
          <p:cNvPr id="9" name="Group 9"/>
          <p:cNvGrpSpPr/>
          <p:nvPr/>
        </p:nvGrpSpPr>
        <p:grpSpPr>
          <a:xfrm>
            <a:off x="1644653" y="1530377"/>
            <a:ext cx="6822014" cy="1422349"/>
            <a:chOff x="1644653" y="1530377"/>
            <a:chExt cx="6822014" cy="1422349"/>
          </a:xfrm>
        </p:grpSpPr>
        <p:sp>
          <p:nvSpPr>
            <p:cNvPr id="7" name="TextBox 7"/>
            <p:cNvSpPr txBox="1"/>
            <p:nvPr/>
          </p:nvSpPr>
          <p:spPr>
            <a:xfrm>
              <a:off x="1644653" y="1530377"/>
              <a:ext cx="6822014" cy="812749"/>
            </a:xfrm>
            <a:prstGeom prst="rect">
              <a:avLst/>
            </a:prstGeom>
            <a:noFill/>
            <a:ln>
              <a:noFill/>
            </a:ln>
          </p:spPr>
          <p:txBody>
            <a:bodyPr wrap="none" lIns="0" tIns="0" rIns="0" bIns="0" anchor="t" anchorCtr="0">
              <a:spAutoFit/>
            </a:bodyPr>
            <a:lstStyle/>
            <a:p>
              <a:pPr algn="l"/>
              <a:r>
                <a:rPr lang="zh-CN" sz="4000" b="1" dirty="0">
                  <a:solidFill>
                    <a:srgbClr val="1B1C21"/>
                  </a:solidFill>
                  <a:latin typeface="Arial"/>
                  <a:ea typeface="Microsoft YaHei"/>
                  <a:cs typeface="Arial"/>
                </a:rPr>
                <a:t>中国法学自主知识体系创新</a:t>
              </a:r>
            </a:p>
          </p:txBody>
        </p:sp>
        <p:sp>
          <p:nvSpPr>
            <p:cNvPr id="8" name="TextBox 8"/>
            <p:cNvSpPr txBox="1"/>
            <p:nvPr/>
          </p:nvSpPr>
          <p:spPr>
            <a:xfrm>
              <a:off x="1644653" y="2139977"/>
              <a:ext cx="5701944" cy="812749"/>
            </a:xfrm>
            <a:prstGeom prst="rect">
              <a:avLst/>
            </a:prstGeom>
            <a:noFill/>
            <a:ln>
              <a:noFill/>
            </a:ln>
          </p:spPr>
          <p:txBody>
            <a:bodyPr wrap="none" lIns="0" tIns="0" rIns="0" bIns="0" anchor="t" anchorCtr="0">
              <a:spAutoFit/>
            </a:bodyPr>
            <a:lstStyle/>
            <a:p>
              <a:pPr algn="l"/>
              <a:r>
                <a:rPr lang="zh-CN" sz="4000" b="1" dirty="0">
                  <a:solidFill>
                    <a:srgbClr val="C8161E"/>
                  </a:solidFill>
                  <a:latin typeface="Arial"/>
                  <a:ea typeface="Microsoft YaHei"/>
                  <a:cs typeface="Arial"/>
                </a:rPr>
                <a:t>人工智能</a:t>
              </a:r>
              <a:r>
                <a:rPr lang="zh-CN" sz="4000" b="1" dirty="0">
                  <a:solidFill>
                    <a:srgbClr val="1B1C21"/>
                  </a:solidFill>
                  <a:latin typeface="Arial"/>
                  <a:ea typeface="Microsoft YaHei"/>
                  <a:cs typeface="Arial"/>
                </a:rPr>
                <a:t>辅助评价系统</a:t>
              </a:r>
            </a:p>
          </p:txBody>
        </p:sp>
      </p:grpSp>
      <p:grpSp>
        <p:nvGrpSpPr>
          <p:cNvPr id="13" name="Group 13"/>
          <p:cNvGrpSpPr/>
          <p:nvPr/>
        </p:nvGrpSpPr>
        <p:grpSpPr>
          <a:xfrm>
            <a:off x="3942083" y="4208807"/>
            <a:ext cx="2813880" cy="801319"/>
            <a:chOff x="3942083" y="4208807"/>
            <a:chExt cx="2813880" cy="801319"/>
          </a:xfrm>
        </p:grpSpPr>
        <p:sp>
          <p:nvSpPr>
            <p:cNvPr id="10" name="TextBox 10"/>
            <p:cNvSpPr txBox="1"/>
            <p:nvPr/>
          </p:nvSpPr>
          <p:spPr>
            <a:xfrm>
              <a:off x="3942083" y="4208807"/>
              <a:ext cx="2813880" cy="325069"/>
            </a:xfrm>
            <a:prstGeom prst="rect">
              <a:avLst/>
            </a:prstGeom>
            <a:noFill/>
            <a:ln>
              <a:noFill/>
            </a:ln>
          </p:spPr>
          <p:txBody>
            <a:bodyPr wrap="none" lIns="0" tIns="0" rIns="0" bIns="0" anchor="t" anchorCtr="0">
              <a:spAutoFit/>
            </a:bodyPr>
            <a:lstStyle/>
            <a:p>
              <a:pPr algn="l"/>
              <a:r>
                <a:rPr lang="zh-CN" sz="1600" dirty="0">
                  <a:solidFill>
                    <a:srgbClr val="5A6472"/>
                  </a:solidFill>
                  <a:latin typeface="Arial"/>
                  <a:ea typeface="Microsoft YaHei"/>
                  <a:cs typeface="Arial"/>
                </a:rPr>
                <a:t>上海交通大学人工智能研究院</a:t>
              </a:r>
            </a:p>
          </p:txBody>
        </p:sp>
        <p:sp>
          <p:nvSpPr>
            <p:cNvPr id="11" name="TextBox 11"/>
            <p:cNvSpPr txBox="1"/>
            <p:nvPr/>
          </p:nvSpPr>
          <p:spPr>
            <a:xfrm>
              <a:off x="3942083" y="4446932"/>
              <a:ext cx="680614" cy="325069"/>
            </a:xfrm>
            <a:prstGeom prst="rect">
              <a:avLst/>
            </a:prstGeom>
            <a:noFill/>
            <a:ln>
              <a:noFill/>
            </a:ln>
          </p:spPr>
          <p:txBody>
            <a:bodyPr wrap="none" lIns="0" tIns="0" rIns="0" bIns="0" anchor="t" anchorCtr="0">
              <a:spAutoFit/>
            </a:bodyPr>
            <a:lstStyle/>
            <a:p>
              <a:pPr algn="l"/>
              <a:r>
                <a:rPr lang="zh-CN" sz="1600" dirty="0">
                  <a:solidFill>
                    <a:srgbClr val="5A6472"/>
                  </a:solidFill>
                  <a:latin typeface="Arial"/>
                  <a:ea typeface="Microsoft YaHei"/>
                  <a:cs typeface="Arial"/>
                </a:rPr>
                <a:t>金耀辉</a:t>
              </a:r>
            </a:p>
          </p:txBody>
        </p:sp>
        <p:sp>
          <p:nvSpPr>
            <p:cNvPr id="12" name="TextBox 12"/>
            <p:cNvSpPr txBox="1"/>
            <p:nvPr/>
          </p:nvSpPr>
          <p:spPr>
            <a:xfrm>
              <a:off x="3942083" y="4685057"/>
              <a:ext cx="1053935" cy="325069"/>
            </a:xfrm>
            <a:prstGeom prst="rect">
              <a:avLst/>
            </a:prstGeom>
            <a:noFill/>
            <a:ln>
              <a:noFill/>
            </a:ln>
          </p:spPr>
          <p:txBody>
            <a:bodyPr wrap="none" lIns="0" tIns="0" rIns="0" bIns="0" anchor="t" anchorCtr="0">
              <a:spAutoFit/>
            </a:bodyPr>
            <a:lstStyle/>
            <a:p>
              <a:pPr algn="l"/>
              <a:r>
                <a:rPr lang="zh-CN" sz="1600" dirty="0">
                  <a:solidFill>
                    <a:srgbClr val="5A6472"/>
                  </a:solidFill>
                  <a:latin typeface="Arial"/>
                  <a:ea typeface="Microsoft YaHei"/>
                  <a:cs typeface="Arial"/>
                </a:rPr>
                <a:t>2026年6月</a:t>
              </a:r>
            </a:p>
          </p:txBody>
        </p:sp>
      </p:grpSp>
      <p:sp>
        <p:nvSpPr>
          <p:cNvPr id="14" name="Rectangle 14"/>
          <p:cNvSpPr/>
          <p:nvPr/>
        </p:nvSpPr>
        <p:spPr>
          <a:xfrm>
            <a:off x="0" y="6819900"/>
            <a:ext cx="12192000" cy="38100"/>
          </a:xfrm>
          <a:prstGeom prst="rect">
            <a:avLst/>
          </a:prstGeom>
          <a:gradFill>
            <a:gsLst>
              <a:gs pos="0">
                <a:srgbClr val="C8161E"/>
              </a:gs>
              <a:gs pos="100000">
                <a:srgbClr val="1F4D78"/>
              </a:gs>
            </a:gsLst>
            <a:lin ang="0" scaled="1"/>
          </a:gradFill>
          <a:ln>
            <a:noFill/>
          </a:ln>
        </p:spPr>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206497"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传统学术评价的“不可能三角”</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7" name="Group 17"/>
          <p:cNvGrpSpPr/>
          <p:nvPr/>
        </p:nvGrpSpPr>
        <p:grpSpPr>
          <a:xfrm>
            <a:off x="1605844" y="1465607"/>
            <a:ext cx="4046363" cy="4077919"/>
            <a:chOff x="1605844" y="1465607"/>
            <a:chExt cx="4046363" cy="4077919"/>
          </a:xfrm>
        </p:grpSpPr>
        <p:sp>
          <p:nvSpPr>
            <p:cNvPr id="8" name="Polygon 8"/>
            <p:cNvSpPr/>
            <p:nvPr/>
          </p:nvSpPr>
          <p:spPr>
            <a:xfrm>
              <a:off x="2190750" y="1905000"/>
              <a:ext cx="2857500" cy="3048000"/>
            </a:xfrm>
            <a:custGeom>
              <a:avLst/>
              <a:gdLst/>
              <a:ahLst/>
              <a:cxnLst/>
              <a:rect l="l" t="t" r="r" b="b"/>
              <a:pathLst>
                <a:path w="2857500" h="3048000">
                  <a:moveTo>
                    <a:pt x="1428750" y="0"/>
                  </a:moveTo>
                  <a:lnTo>
                    <a:pt x="0" y="3048000"/>
                  </a:lnTo>
                  <a:lnTo>
                    <a:pt x="2857500" y="3048000"/>
                  </a:lnTo>
                  <a:close/>
                </a:path>
              </a:pathLst>
            </a:custGeom>
            <a:solidFill>
              <a:srgbClr val="1F4D78">
                <a:alpha val="6000"/>
              </a:srgbClr>
            </a:solidFill>
            <a:ln w="19050">
              <a:solidFill>
                <a:srgbClr val="1F4D78"/>
              </a:solidFill>
            </a:ln>
          </p:spPr>
        </p:sp>
        <p:sp>
          <p:nvSpPr>
            <p:cNvPr id="9" name="Ellipse 9"/>
            <p:cNvSpPr/>
            <p:nvPr/>
          </p:nvSpPr>
          <p:spPr>
            <a:xfrm>
              <a:off x="3409950" y="1695450"/>
              <a:ext cx="419100" cy="419100"/>
            </a:xfrm>
            <a:prstGeom prst="ellipse">
              <a:avLst/>
            </a:prstGeom>
            <a:solidFill>
              <a:srgbClr val="C8161E"/>
            </a:solidFill>
            <a:ln>
              <a:noFill/>
            </a:ln>
          </p:spPr>
        </p:sp>
        <p:sp>
          <p:nvSpPr>
            <p:cNvPr id="10" name="Ellipse 10"/>
            <p:cNvSpPr/>
            <p:nvPr/>
          </p:nvSpPr>
          <p:spPr>
            <a:xfrm>
              <a:off x="1981200" y="4743450"/>
              <a:ext cx="419100" cy="419100"/>
            </a:xfrm>
            <a:prstGeom prst="ellipse">
              <a:avLst/>
            </a:prstGeom>
            <a:solidFill>
              <a:srgbClr val="1F4D78"/>
            </a:solidFill>
            <a:ln>
              <a:noFill/>
            </a:ln>
          </p:spPr>
        </p:sp>
        <p:sp>
          <p:nvSpPr>
            <p:cNvPr id="11" name="Ellipse 11"/>
            <p:cNvSpPr/>
            <p:nvPr/>
          </p:nvSpPr>
          <p:spPr>
            <a:xfrm>
              <a:off x="4838700" y="4743450"/>
              <a:ext cx="419100" cy="419100"/>
            </a:xfrm>
            <a:prstGeom prst="ellipse">
              <a:avLst/>
            </a:prstGeom>
            <a:solidFill>
              <a:srgbClr val="44546A"/>
            </a:solidFill>
            <a:ln>
              <a:noFill/>
            </a:ln>
          </p:spPr>
        </p:sp>
        <p:sp>
          <p:nvSpPr>
            <p:cNvPr id="12" name="TextBox 12"/>
            <p:cNvSpPr txBox="1"/>
            <p:nvPr/>
          </p:nvSpPr>
          <p:spPr>
            <a:xfrm>
              <a:off x="2966561" y="3691890"/>
              <a:ext cx="1305878" cy="365760"/>
            </a:xfrm>
            <a:prstGeom prst="rect">
              <a:avLst/>
            </a:prstGeom>
            <a:noFill/>
            <a:ln>
              <a:noFill/>
            </a:ln>
          </p:spPr>
          <p:txBody>
            <a:bodyPr wrap="none" lIns="0" tIns="0" rIns="0" bIns="0" anchor="t" anchorCtr="0">
              <a:spAutoFit/>
            </a:bodyPr>
            <a:lstStyle/>
            <a:p>
              <a:pPr algn="ctr"/>
              <a:r>
                <a:rPr lang="zh-CN" sz="1800" b="1" dirty="0">
                  <a:solidFill>
                    <a:srgbClr val="C8161E"/>
                  </a:solidFill>
                  <a:latin typeface="Arial"/>
                  <a:ea typeface="Microsoft YaHei"/>
                  <a:cs typeface="Arial"/>
                </a:rPr>
                <a:t>不可能三角</a:t>
              </a:r>
            </a:p>
          </p:txBody>
        </p:sp>
        <p:sp>
          <p:nvSpPr>
            <p:cNvPr id="13" name="TextBox 13"/>
            <p:cNvSpPr txBox="1"/>
            <p:nvPr/>
          </p:nvSpPr>
          <p:spPr>
            <a:xfrm>
              <a:off x="3041547" y="405889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三者难以兼得</a:t>
              </a:r>
            </a:p>
          </p:txBody>
        </p:sp>
        <p:sp>
          <p:nvSpPr>
            <p:cNvPr id="14" name="TextBox 14"/>
            <p:cNvSpPr txBox="1"/>
            <p:nvPr/>
          </p:nvSpPr>
          <p:spPr>
            <a:xfrm>
              <a:off x="3151197" y="1465607"/>
              <a:ext cx="93660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标准统一</a:t>
              </a:r>
            </a:p>
          </p:txBody>
        </p:sp>
        <p:sp>
          <p:nvSpPr>
            <p:cNvPr id="15" name="TextBox 15"/>
            <p:cNvSpPr txBox="1"/>
            <p:nvPr/>
          </p:nvSpPr>
          <p:spPr>
            <a:xfrm>
              <a:off x="1605844" y="5218457"/>
              <a:ext cx="712613"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高效率</a:t>
              </a:r>
            </a:p>
          </p:txBody>
        </p:sp>
        <p:sp>
          <p:nvSpPr>
            <p:cNvPr id="16" name="TextBox 16"/>
            <p:cNvSpPr txBox="1"/>
            <p:nvPr/>
          </p:nvSpPr>
          <p:spPr>
            <a:xfrm>
              <a:off x="4939594" y="5218457"/>
              <a:ext cx="712613" cy="325069"/>
            </a:xfrm>
            <a:prstGeom prst="rect">
              <a:avLst/>
            </a:prstGeom>
            <a:noFill/>
            <a:ln>
              <a:noFill/>
            </a:ln>
          </p:spPr>
          <p:txBody>
            <a:bodyPr wrap="none" lIns="0" tIns="0" rIns="0" bIns="0" anchor="t" anchorCtr="0">
              <a:spAutoFit/>
            </a:bodyPr>
            <a:lstStyle/>
            <a:p>
              <a:pPr algn="ctr"/>
              <a:r>
                <a:rPr lang="zh-CN" sz="1600" b="1" dirty="0">
                  <a:solidFill>
                    <a:srgbClr val="44546A"/>
                  </a:solidFill>
                  <a:latin typeface="Arial"/>
                  <a:ea typeface="Microsoft YaHei"/>
                  <a:cs typeface="Arial"/>
                </a:rPr>
                <a:t>规模化</a:t>
              </a:r>
            </a:p>
          </p:txBody>
        </p:sp>
      </p:grpSp>
      <p:grpSp>
        <p:nvGrpSpPr>
          <p:cNvPr id="23" name="Group 23"/>
          <p:cNvGrpSpPr/>
          <p:nvPr/>
        </p:nvGrpSpPr>
        <p:grpSpPr>
          <a:xfrm>
            <a:off x="6096000" y="1333500"/>
            <a:ext cx="5410200" cy="1314450"/>
            <a:chOff x="6096000" y="1333500"/>
            <a:chExt cx="5410200" cy="1314450"/>
          </a:xfrm>
        </p:grpSpPr>
        <p:sp>
          <p:nvSpPr>
            <p:cNvPr id="18" name="Rectangle 18"/>
            <p:cNvSpPr/>
            <p:nvPr/>
          </p:nvSpPr>
          <p:spPr>
            <a:xfrm>
              <a:off x="6096000" y="1333500"/>
              <a:ext cx="5410200" cy="1314450"/>
            </a:xfrm>
            <a:prstGeom prst="roundRect">
              <a:avLst>
                <a:gd name="adj" fmla="val 11594"/>
              </a:avLst>
            </a:prstGeom>
            <a:solidFill>
              <a:srgbClr val="FFFFFF"/>
            </a:solidFill>
            <a:ln w="14288">
              <a:solidFill>
                <a:srgbClr val="D9DEE5"/>
              </a:solidFill>
            </a:ln>
          </p:spPr>
        </p:sp>
        <p:sp>
          <p:nvSpPr>
            <p:cNvPr id="19" name="Rectangle 19"/>
            <p:cNvSpPr/>
            <p:nvPr/>
          </p:nvSpPr>
          <p:spPr>
            <a:xfrm>
              <a:off x="6096000" y="1333500"/>
              <a:ext cx="57150" cy="1314450"/>
            </a:xfrm>
            <a:prstGeom prst="roundRect">
              <a:avLst>
                <a:gd name="adj" fmla="val 50000"/>
              </a:avLst>
            </a:prstGeom>
            <a:solidFill>
              <a:srgbClr val="C8161E"/>
            </a:solidFill>
            <a:ln>
              <a:noFill/>
            </a:ln>
          </p:spPr>
        </p:sp>
        <p:sp>
          <p:nvSpPr>
            <p:cNvPr id="20" name="TextBox 20"/>
            <p:cNvSpPr txBox="1"/>
            <p:nvPr/>
          </p:nvSpPr>
          <p:spPr>
            <a:xfrm>
              <a:off x="6489697" y="15747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标准不一</a:t>
              </a:r>
            </a:p>
          </p:txBody>
        </p:sp>
        <p:sp>
          <p:nvSpPr>
            <p:cNvPr id="21" name="TextBox 21"/>
            <p:cNvSpPr txBox="1"/>
            <p:nvPr/>
          </p:nvSpPr>
          <p:spPr>
            <a:xfrm>
              <a:off x="6497317" y="2020543"/>
              <a:ext cx="3770033"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依赖专家主观经验，不同评审人尺度差异大，</a:t>
              </a:r>
            </a:p>
          </p:txBody>
        </p:sp>
        <p:sp>
          <p:nvSpPr>
            <p:cNvPr id="22" name="TextBox 22"/>
            <p:cNvSpPr txBox="1"/>
            <p:nvPr/>
          </p:nvSpPr>
          <p:spPr>
            <a:xfrm>
              <a:off x="6497317" y="22872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同一篇论文评价结论可能相差悬殊。</a:t>
              </a:r>
            </a:p>
          </p:txBody>
        </p:sp>
      </p:grpSp>
      <p:grpSp>
        <p:nvGrpSpPr>
          <p:cNvPr id="29" name="Group 29"/>
          <p:cNvGrpSpPr/>
          <p:nvPr/>
        </p:nvGrpSpPr>
        <p:grpSpPr>
          <a:xfrm>
            <a:off x="6096000" y="2819400"/>
            <a:ext cx="5410200" cy="1314450"/>
            <a:chOff x="6096000" y="2819400"/>
            <a:chExt cx="5410200" cy="1314450"/>
          </a:xfrm>
        </p:grpSpPr>
        <p:sp>
          <p:nvSpPr>
            <p:cNvPr id="24" name="Rectangle 24"/>
            <p:cNvSpPr/>
            <p:nvPr/>
          </p:nvSpPr>
          <p:spPr>
            <a:xfrm>
              <a:off x="6096000" y="2819400"/>
              <a:ext cx="5410200" cy="1314450"/>
            </a:xfrm>
            <a:prstGeom prst="roundRect">
              <a:avLst>
                <a:gd name="adj" fmla="val 11594"/>
              </a:avLst>
            </a:prstGeom>
            <a:solidFill>
              <a:srgbClr val="FFFFFF"/>
            </a:solidFill>
            <a:ln w="14288">
              <a:solidFill>
                <a:srgbClr val="D9DEE5"/>
              </a:solidFill>
            </a:ln>
          </p:spPr>
        </p:sp>
        <p:sp>
          <p:nvSpPr>
            <p:cNvPr id="25" name="Rectangle 25"/>
            <p:cNvSpPr/>
            <p:nvPr/>
          </p:nvSpPr>
          <p:spPr>
            <a:xfrm>
              <a:off x="6096000" y="2819400"/>
              <a:ext cx="57150" cy="1314450"/>
            </a:xfrm>
            <a:prstGeom prst="roundRect">
              <a:avLst>
                <a:gd name="adj" fmla="val 50000"/>
              </a:avLst>
            </a:prstGeom>
            <a:solidFill>
              <a:srgbClr val="1F4D78"/>
            </a:solidFill>
            <a:ln>
              <a:noFill/>
            </a:ln>
          </p:spPr>
        </p:sp>
        <p:sp>
          <p:nvSpPr>
            <p:cNvPr id="26" name="TextBox 26"/>
            <p:cNvSpPr txBox="1"/>
            <p:nvPr/>
          </p:nvSpPr>
          <p:spPr>
            <a:xfrm>
              <a:off x="6489697" y="30606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效率低下</a:t>
              </a:r>
            </a:p>
          </p:txBody>
        </p:sp>
        <p:sp>
          <p:nvSpPr>
            <p:cNvPr id="27" name="TextBox 27"/>
            <p:cNvSpPr txBox="1"/>
            <p:nvPr/>
          </p:nvSpPr>
          <p:spPr>
            <a:xfrm>
              <a:off x="6497317" y="3506443"/>
              <a:ext cx="339658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评审周期漫长（数周到数月），专家调度</a:t>
              </a:r>
            </a:p>
          </p:txBody>
        </p:sp>
        <p:sp>
          <p:nvSpPr>
            <p:cNvPr id="28" name="TextBox 28"/>
            <p:cNvSpPr txBox="1"/>
            <p:nvPr/>
          </p:nvSpPr>
          <p:spPr>
            <a:xfrm>
              <a:off x="6497317" y="37731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成本高，难以快速响应大批量需求。</a:t>
              </a:r>
            </a:p>
          </p:txBody>
        </p:sp>
      </p:grpSp>
      <p:grpSp>
        <p:nvGrpSpPr>
          <p:cNvPr id="35" name="Group 35"/>
          <p:cNvGrpSpPr/>
          <p:nvPr/>
        </p:nvGrpSpPr>
        <p:grpSpPr>
          <a:xfrm>
            <a:off x="6096000" y="4305300"/>
            <a:ext cx="5410200" cy="1314450"/>
            <a:chOff x="6096000" y="4305300"/>
            <a:chExt cx="5410200" cy="1314450"/>
          </a:xfrm>
        </p:grpSpPr>
        <p:sp>
          <p:nvSpPr>
            <p:cNvPr id="30" name="Rectangle 30"/>
            <p:cNvSpPr/>
            <p:nvPr/>
          </p:nvSpPr>
          <p:spPr>
            <a:xfrm>
              <a:off x="6096000" y="4305300"/>
              <a:ext cx="5410200" cy="1314450"/>
            </a:xfrm>
            <a:prstGeom prst="roundRect">
              <a:avLst>
                <a:gd name="adj" fmla="val 11594"/>
              </a:avLst>
            </a:prstGeom>
            <a:solidFill>
              <a:srgbClr val="FFFFFF"/>
            </a:solidFill>
            <a:ln w="14288">
              <a:solidFill>
                <a:srgbClr val="D9DEE5"/>
              </a:solidFill>
            </a:ln>
          </p:spPr>
        </p:sp>
        <p:sp>
          <p:nvSpPr>
            <p:cNvPr id="31" name="Rectangle 31"/>
            <p:cNvSpPr/>
            <p:nvPr/>
          </p:nvSpPr>
          <p:spPr>
            <a:xfrm>
              <a:off x="6096000" y="4305300"/>
              <a:ext cx="57150" cy="1314450"/>
            </a:xfrm>
            <a:prstGeom prst="roundRect">
              <a:avLst>
                <a:gd name="adj" fmla="val 50000"/>
              </a:avLst>
            </a:prstGeom>
            <a:solidFill>
              <a:srgbClr val="44546A"/>
            </a:solidFill>
            <a:ln>
              <a:noFill/>
            </a:ln>
          </p:spPr>
        </p:sp>
        <p:sp>
          <p:nvSpPr>
            <p:cNvPr id="32" name="TextBox 32"/>
            <p:cNvSpPr txBox="1"/>
            <p:nvPr/>
          </p:nvSpPr>
          <p:spPr>
            <a:xfrm>
              <a:off x="6489697" y="45465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规模化难</a:t>
              </a:r>
            </a:p>
          </p:txBody>
        </p:sp>
        <p:sp>
          <p:nvSpPr>
            <p:cNvPr id="33" name="TextBox 33"/>
            <p:cNvSpPr txBox="1"/>
            <p:nvPr/>
          </p:nvSpPr>
          <p:spPr>
            <a:xfrm>
              <a:off x="6497317" y="4992343"/>
              <a:ext cx="3312561"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 xml:space="preserve">面对近 10 年法学三大刊 </a:t>
              </a:r>
              <a:r>
                <a:rPr lang="zh-CN" sz="1400" b="1" dirty="0">
                  <a:solidFill>
                    <a:srgbClr val="C8161E"/>
                  </a:solidFill>
                  <a:latin typeface="Arial"/>
                  <a:ea typeface="Microsoft YaHei"/>
                  <a:cs typeface="Arial"/>
                </a:rPr>
                <a:t>~1920 篇</a:t>
              </a:r>
              <a:r>
                <a:rPr lang="zh-CN" sz="1400" dirty="0">
                  <a:solidFill>
                    <a:srgbClr val="5A6472"/>
                  </a:solidFill>
                  <a:latin typeface="Arial"/>
                  <a:ea typeface="Microsoft YaHei"/>
                  <a:cs typeface="Arial"/>
                </a:rPr>
                <a:t>论文，</a:t>
              </a:r>
            </a:p>
          </p:txBody>
        </p:sp>
        <p:sp>
          <p:nvSpPr>
            <p:cNvPr id="34" name="TextBox 34"/>
            <p:cNvSpPr txBox="1"/>
            <p:nvPr/>
          </p:nvSpPr>
          <p:spPr>
            <a:xfrm>
              <a:off x="6497317" y="52590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人工逐一评审在现实中几乎不可行。</a:t>
              </a:r>
            </a:p>
          </p:txBody>
        </p:sp>
      </p:grpSp>
      <p:grpSp>
        <p:nvGrpSpPr>
          <p:cNvPr id="39" name="Group 39"/>
          <p:cNvGrpSpPr/>
          <p:nvPr/>
        </p:nvGrpSpPr>
        <p:grpSpPr>
          <a:xfrm>
            <a:off x="0" y="6516343"/>
            <a:ext cx="12192000" cy="341657"/>
            <a:chOff x="0" y="6516343"/>
            <a:chExt cx="12192000" cy="341657"/>
          </a:xfrm>
        </p:grpSpPr>
        <p:sp>
          <p:nvSpPr>
            <p:cNvPr id="36" name="Rectangle 36"/>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7" name="TextBox 37"/>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38" name="TextBox 38"/>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Bottom)">
                                      <p:cBhvr>
                                        <p:cTn id="7" dur="400"/>
                                        <p:tgtEl>
                                          <p:spTgt spid="1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left)">
                                      <p:cBhvr>
                                        <p:cTn id="1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29"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81521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项目目标与定位</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4" name="Group 14"/>
          <p:cNvGrpSpPr/>
          <p:nvPr/>
        </p:nvGrpSpPr>
        <p:grpSpPr>
          <a:xfrm>
            <a:off x="685800" y="1104900"/>
            <a:ext cx="10820400" cy="1181100"/>
            <a:chOff x="685800" y="1104900"/>
            <a:chExt cx="10820400" cy="1181100"/>
          </a:xfrm>
        </p:grpSpPr>
        <p:sp>
          <p:nvSpPr>
            <p:cNvPr id="8" name="Rectangle 8"/>
            <p:cNvSpPr/>
            <p:nvPr/>
          </p:nvSpPr>
          <p:spPr>
            <a:xfrm>
              <a:off x="685800" y="1104900"/>
              <a:ext cx="10820400" cy="1181100"/>
            </a:xfrm>
            <a:prstGeom prst="roundRect">
              <a:avLst>
                <a:gd name="adj" fmla="val 12903"/>
              </a:avLst>
            </a:prstGeom>
            <a:solidFill>
              <a:srgbClr val="1F4D78"/>
            </a:solidFill>
            <a:ln>
              <a:noFill/>
            </a:ln>
          </p:spPr>
        </p:sp>
        <p:sp>
          <p:nvSpPr>
            <p:cNvPr id="9" name="TextBox 9"/>
            <p:cNvSpPr txBox="1"/>
            <p:nvPr/>
          </p:nvSpPr>
          <p:spPr>
            <a:xfrm>
              <a:off x="970283" y="1370357"/>
              <a:ext cx="893940"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核心目标</a:t>
              </a:r>
            </a:p>
          </p:txBody>
        </p:sp>
        <p:sp>
          <p:nvSpPr>
            <p:cNvPr id="10" name="TextBox 10"/>
            <p:cNvSpPr txBox="1"/>
            <p:nvPr/>
          </p:nvSpPr>
          <p:spPr>
            <a:xfrm>
              <a:off x="962025" y="1700212"/>
              <a:ext cx="6846249"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构建面向“自主知识体系”的 AI 辅助学术评价系统</a:t>
              </a:r>
            </a:p>
          </p:txBody>
        </p:sp>
        <p:sp>
          <p:nvSpPr>
            <p:cNvPr id="11" name="Line 11"/>
            <p:cNvSpPr/>
            <p:nvPr/>
          </p:nvSpPr>
          <p:spPr>
            <a:xfrm>
              <a:off x="7620000" y="1390650"/>
              <a:ext cx="9525" cy="609600"/>
            </a:xfrm>
            <a:custGeom>
              <a:avLst/>
              <a:gdLst/>
              <a:ahLst/>
              <a:cxnLst/>
              <a:rect l="l" t="t" r="r" b="b"/>
              <a:pathLst>
                <a:path w="9525" h="609600">
                  <a:moveTo>
                    <a:pt x="0" y="0"/>
                  </a:moveTo>
                  <a:lnTo>
                    <a:pt x="0" y="609600"/>
                  </a:lnTo>
                </a:path>
              </a:pathLst>
            </a:custGeom>
            <a:noFill/>
            <a:ln w="9525">
              <a:solidFill>
                <a:srgbClr val="FFFFFF">
                  <a:alpha val="30000"/>
                </a:srgbClr>
              </a:solidFill>
            </a:ln>
          </p:spPr>
        </p:sp>
        <p:sp>
          <p:nvSpPr>
            <p:cNvPr id="12" name="TextBox 12"/>
            <p:cNvSpPr txBox="1"/>
            <p:nvPr/>
          </p:nvSpPr>
          <p:spPr>
            <a:xfrm>
              <a:off x="7904483" y="1370357"/>
              <a:ext cx="680614"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切入点</a:t>
              </a:r>
            </a:p>
          </p:txBody>
        </p:sp>
        <p:sp>
          <p:nvSpPr>
            <p:cNvPr id="13" name="TextBox 13"/>
            <p:cNvSpPr txBox="1"/>
            <p:nvPr/>
          </p:nvSpPr>
          <p:spPr>
            <a:xfrm>
              <a:off x="7899397" y="1727173"/>
              <a:ext cx="1731226" cy="406451"/>
            </a:xfrm>
            <a:prstGeom prst="rect">
              <a:avLst/>
            </a:prstGeom>
            <a:noFill/>
            <a:ln>
              <a:noFill/>
            </a:ln>
          </p:spPr>
          <p:txBody>
            <a:bodyPr wrap="none" lIns="0" tIns="0" rIns="0" bIns="0" anchor="t" anchorCtr="0">
              <a:spAutoFit/>
            </a:bodyPr>
            <a:lstStyle/>
            <a:p>
              <a:pPr algn="l"/>
              <a:r>
                <a:rPr lang="zh-CN" sz="2000" b="1" dirty="0">
                  <a:solidFill>
                    <a:srgbClr val="FFFFFF"/>
                  </a:solidFill>
                  <a:latin typeface="Arial"/>
                  <a:ea typeface="Microsoft YaHei"/>
                  <a:cs typeface="Arial"/>
                </a:rPr>
                <a:t>法学论文评审</a:t>
              </a:r>
            </a:p>
          </p:txBody>
        </p:sp>
      </p:grpSp>
      <p:grpSp>
        <p:nvGrpSpPr>
          <p:cNvPr id="16" name="Group 16"/>
          <p:cNvGrpSpPr/>
          <p:nvPr/>
        </p:nvGrpSpPr>
        <p:grpSpPr>
          <a:xfrm>
            <a:off x="657863" y="2600987"/>
            <a:ext cx="5030130" cy="446989"/>
            <a:chOff x="657863" y="2600987"/>
            <a:chExt cx="5030130" cy="446989"/>
          </a:xfrm>
        </p:grpSpPr>
        <p:sp>
          <p:nvSpPr>
            <p:cNvPr id="15" name="TextBox 15"/>
            <p:cNvSpPr txBox="1"/>
            <p:nvPr/>
          </p:nvSpPr>
          <p:spPr>
            <a:xfrm>
              <a:off x="657863" y="2600987"/>
              <a:ext cx="5030130" cy="446989"/>
            </a:xfrm>
            <a:prstGeom prst="rect">
              <a:avLst/>
            </a:prstGeom>
            <a:noFill/>
            <a:ln>
              <a:noFill/>
            </a:ln>
          </p:spPr>
          <p:txBody>
            <a:bodyPr wrap="none" lIns="0" tIns="0" rIns="0" bIns="0" anchor="t" anchorCtr="0">
              <a:spAutoFit/>
            </a:bodyPr>
            <a:lstStyle/>
            <a:p>
              <a:pPr algn="l"/>
              <a:r>
                <a:rPr lang="zh-CN" sz="2200" b="1" dirty="0">
                  <a:solidFill>
                    <a:srgbClr val="1B1C21"/>
                  </a:solidFill>
                  <a:latin typeface="Arial"/>
                  <a:ea typeface="Microsoft YaHei"/>
                  <a:cs typeface="Arial"/>
                </a:rPr>
                <a:t>AI 定位：</a:t>
              </a:r>
              <a:r>
                <a:rPr lang="zh-CN" sz="2200" b="1" dirty="0">
                  <a:solidFill>
                    <a:srgbClr val="C8161E"/>
                  </a:solidFill>
                  <a:latin typeface="Arial"/>
                  <a:ea typeface="Microsoft YaHei"/>
                  <a:cs typeface="Arial"/>
                </a:rPr>
                <a:t>辅助初筛，不替代专家终审</a:t>
              </a:r>
            </a:p>
          </p:txBody>
        </p:sp>
      </p:grpSp>
      <p:grpSp>
        <p:nvGrpSpPr>
          <p:cNvPr id="26" name="Group 26"/>
          <p:cNvGrpSpPr/>
          <p:nvPr/>
        </p:nvGrpSpPr>
        <p:grpSpPr>
          <a:xfrm>
            <a:off x="685800" y="3124200"/>
            <a:ext cx="5257800" cy="2971800"/>
            <a:chOff x="685800" y="3124200"/>
            <a:chExt cx="5257800" cy="2971800"/>
          </a:xfrm>
        </p:grpSpPr>
        <p:sp>
          <p:nvSpPr>
            <p:cNvPr id="17" name="Rectangle 17"/>
            <p:cNvSpPr/>
            <p:nvPr/>
          </p:nvSpPr>
          <p:spPr>
            <a:xfrm>
              <a:off x="685800" y="3124200"/>
              <a:ext cx="5257800" cy="2971800"/>
            </a:xfrm>
            <a:prstGeom prst="roundRect">
              <a:avLst>
                <a:gd name="adj" fmla="val 5128"/>
              </a:avLst>
            </a:prstGeom>
            <a:solidFill>
              <a:srgbClr val="2E7D32">
                <a:alpha val="6000"/>
              </a:srgbClr>
            </a:solidFill>
            <a:ln w="14288">
              <a:solidFill>
                <a:srgbClr val="2E7D32"/>
              </a:solidFill>
            </a:ln>
          </p:spPr>
        </p:sp>
        <p:grpSp>
          <p:nvGrpSpPr>
            <p:cNvPr id="20" name="Group 20"/>
            <p:cNvGrpSpPr/>
            <p:nvPr/>
          </p:nvGrpSpPr>
          <p:grpSpPr>
            <a:xfrm>
              <a:off x="1035844" y="3436144"/>
              <a:ext cx="271462" cy="271462"/>
              <a:chOff x="1035844" y="3436144"/>
              <a:chExt cx="271462" cy="271462"/>
            </a:xfrm>
          </p:grpSpPr>
          <p:sp>
            <p:nvSpPr>
              <p:cNvPr id="18" name="Freeform 18"/>
              <p:cNvSpPr/>
              <p:nvPr/>
            </p:nvSpPr>
            <p:spPr>
              <a:xfrm>
                <a:off x="1035844" y="3436144"/>
                <a:ext cx="271462" cy="271462"/>
              </a:xfrm>
              <a:custGeom>
                <a:avLst/>
                <a:gdLst/>
                <a:ahLst/>
                <a:cxnLst/>
                <a:rect l="l" t="t" r="r" b="b"/>
                <a:pathLst>
                  <a:path w="271462" h="271462">
                    <a:moveTo>
                      <a:pt x="0" y="135731"/>
                    </a:moveTo>
                    <a:cubicBezTo>
                      <a:pt x="0" y="210694"/>
                      <a:pt x="60769" y="271462"/>
                      <a:pt x="135731" y="271462"/>
                    </a:cubicBezTo>
                    <a:cubicBezTo>
                      <a:pt x="210694" y="271462"/>
                      <a:pt x="271462" y="210694"/>
                      <a:pt x="271462" y="135731"/>
                    </a:cubicBezTo>
                    <a:cubicBezTo>
                      <a:pt x="271462" y="60769"/>
                      <a:pt x="210694" y="0"/>
                      <a:pt x="135731" y="0"/>
                    </a:cubicBezTo>
                    <a:cubicBezTo>
                      <a:pt x="60769" y="0"/>
                      <a:pt x="0" y="60769"/>
                      <a:pt x="0" y="135731"/>
                    </a:cubicBezTo>
                  </a:path>
                </a:pathLst>
              </a:custGeom>
              <a:noFill/>
              <a:ln w="19050">
                <a:solidFill>
                  <a:srgbClr val="2E7D32"/>
                </a:solidFill>
              </a:ln>
            </p:spPr>
          </p:sp>
          <p:sp>
            <p:nvSpPr>
              <p:cNvPr id="19" name="Freeform 19"/>
              <p:cNvSpPr/>
              <p:nvPr/>
            </p:nvSpPr>
            <p:spPr>
              <a:xfrm>
                <a:off x="1126331" y="3541712"/>
                <a:ext cx="90488" cy="60325"/>
              </a:xfrm>
              <a:custGeom>
                <a:avLst/>
                <a:gdLst/>
                <a:ahLst/>
                <a:cxnLst/>
                <a:rect l="l" t="t" r="r" b="b"/>
                <a:pathLst>
                  <a:path w="90488" h="60325">
                    <a:moveTo>
                      <a:pt x="0" y="30163"/>
                    </a:moveTo>
                    <a:lnTo>
                      <a:pt x="30162" y="60325"/>
                    </a:lnTo>
                    <a:lnTo>
                      <a:pt x="90488" y="0"/>
                    </a:lnTo>
                  </a:path>
                </a:pathLst>
              </a:custGeom>
              <a:noFill/>
              <a:ln w="19050">
                <a:solidFill>
                  <a:srgbClr val="2E7D32"/>
                </a:solidFill>
              </a:ln>
            </p:spPr>
          </p:sp>
        </p:grpSp>
        <p:sp>
          <p:nvSpPr>
            <p:cNvPr id="21" name="TextBox 21"/>
            <p:cNvSpPr txBox="1"/>
            <p:nvPr/>
          </p:nvSpPr>
          <p:spPr>
            <a:xfrm>
              <a:off x="1457325" y="3433762"/>
              <a:ext cx="1364563" cy="457200"/>
            </a:xfrm>
            <a:prstGeom prst="rect">
              <a:avLst/>
            </a:prstGeom>
            <a:noFill/>
            <a:ln>
              <a:noFill/>
            </a:ln>
          </p:spPr>
          <p:txBody>
            <a:bodyPr wrap="none" lIns="0" tIns="0" rIns="0" bIns="0" anchor="t" anchorCtr="0">
              <a:spAutoFit/>
            </a:bodyPr>
            <a:lstStyle/>
            <a:p>
              <a:pPr algn="l"/>
              <a:r>
                <a:rPr lang="zh-CN" sz="2250" b="1" dirty="0">
                  <a:solidFill>
                    <a:srgbClr val="2E7D32"/>
                  </a:solidFill>
                  <a:latin typeface="Arial"/>
                  <a:ea typeface="Microsoft YaHei"/>
                  <a:cs typeface="Arial"/>
                </a:rPr>
                <a:t>AI 可以做</a:t>
              </a:r>
            </a:p>
          </p:txBody>
        </p:sp>
        <p:sp>
          <p:nvSpPr>
            <p:cNvPr id="22" name="TextBox 22"/>
            <p:cNvSpPr txBox="1"/>
            <p:nvPr/>
          </p:nvSpPr>
          <p:spPr>
            <a:xfrm>
              <a:off x="1005840" y="40728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识别项目口径</a:t>
              </a:r>
            </a:p>
          </p:txBody>
        </p:sp>
        <p:sp>
          <p:nvSpPr>
            <p:cNvPr id="23" name="TextBox 23"/>
            <p:cNvSpPr txBox="1"/>
            <p:nvPr/>
          </p:nvSpPr>
          <p:spPr>
            <a:xfrm>
              <a:off x="1005840" y="45300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生成六维信号</a:t>
              </a:r>
            </a:p>
          </p:txBody>
        </p:sp>
        <p:sp>
          <p:nvSpPr>
            <p:cNvPr id="24" name="TextBox 24"/>
            <p:cNvSpPr txBox="1"/>
            <p:nvPr/>
          </p:nvSpPr>
          <p:spPr>
            <a:xfrm>
              <a:off x="1005840" y="49872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暴露模型分歧</a:t>
              </a:r>
            </a:p>
          </p:txBody>
        </p:sp>
        <p:sp>
          <p:nvSpPr>
            <p:cNvPr id="25" name="TextBox 25"/>
            <p:cNvSpPr txBox="1"/>
            <p:nvPr/>
          </p:nvSpPr>
          <p:spPr>
            <a:xfrm>
              <a:off x="1005840" y="54444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整理评价证据</a:t>
              </a:r>
            </a:p>
          </p:txBody>
        </p:sp>
      </p:grpSp>
      <p:grpSp>
        <p:nvGrpSpPr>
          <p:cNvPr id="37" name="Group 37"/>
          <p:cNvGrpSpPr/>
          <p:nvPr/>
        </p:nvGrpSpPr>
        <p:grpSpPr>
          <a:xfrm>
            <a:off x="6248400" y="3124200"/>
            <a:ext cx="5257800" cy="2971800"/>
            <a:chOff x="6248400" y="3124200"/>
            <a:chExt cx="5257800" cy="2971800"/>
          </a:xfrm>
        </p:grpSpPr>
        <p:sp>
          <p:nvSpPr>
            <p:cNvPr id="27" name="Rectangle 27"/>
            <p:cNvSpPr/>
            <p:nvPr/>
          </p:nvSpPr>
          <p:spPr>
            <a:xfrm>
              <a:off x="6248400" y="3124200"/>
              <a:ext cx="5257800" cy="2971800"/>
            </a:xfrm>
            <a:prstGeom prst="roundRect">
              <a:avLst>
                <a:gd name="adj" fmla="val 5128"/>
              </a:avLst>
            </a:prstGeom>
            <a:solidFill>
              <a:srgbClr val="C8161E">
                <a:alpha val="6000"/>
              </a:srgbClr>
            </a:solidFill>
            <a:ln w="14288">
              <a:solidFill>
                <a:srgbClr val="C8161E"/>
              </a:solidFill>
            </a:ln>
          </p:spPr>
        </p:sp>
        <p:grpSp>
          <p:nvGrpSpPr>
            <p:cNvPr id="31" name="Group 31"/>
            <p:cNvGrpSpPr/>
            <p:nvPr/>
          </p:nvGrpSpPr>
          <p:grpSpPr>
            <a:xfrm>
              <a:off x="6582079" y="3431133"/>
              <a:ext cx="304181" cy="261331"/>
              <a:chOff x="6582079" y="3431133"/>
              <a:chExt cx="304181" cy="261331"/>
            </a:xfrm>
          </p:grpSpPr>
          <p:sp>
            <p:nvSpPr>
              <p:cNvPr id="28" name="Freeform 28"/>
              <p:cNvSpPr/>
              <p:nvPr/>
            </p:nvSpPr>
            <p:spPr>
              <a:xfrm>
                <a:off x="6734175" y="3526631"/>
                <a:ext cx="9525" cy="60325"/>
              </a:xfrm>
              <a:custGeom>
                <a:avLst/>
                <a:gdLst/>
                <a:ahLst/>
                <a:cxnLst/>
                <a:rect l="l" t="t" r="r" b="b"/>
                <a:pathLst>
                  <a:path w="9525" h="60325">
                    <a:moveTo>
                      <a:pt x="0" y="0"/>
                    </a:moveTo>
                    <a:lnTo>
                      <a:pt x="0" y="60325"/>
                    </a:lnTo>
                  </a:path>
                </a:pathLst>
              </a:custGeom>
              <a:noFill/>
              <a:ln w="19050">
                <a:solidFill>
                  <a:srgbClr val="C8161E"/>
                </a:solidFill>
              </a:ln>
            </p:spPr>
          </p:sp>
          <p:sp>
            <p:nvSpPr>
              <p:cNvPr id="29" name="Freeform 29"/>
              <p:cNvSpPr/>
              <p:nvPr/>
            </p:nvSpPr>
            <p:spPr>
              <a:xfrm>
                <a:off x="6582079" y="3431133"/>
                <a:ext cx="304181" cy="261331"/>
              </a:xfrm>
              <a:custGeom>
                <a:avLst/>
                <a:gdLst/>
                <a:ahLst/>
                <a:cxnLst/>
                <a:rect l="l" t="t" r="r" b="b"/>
                <a:pathLst>
                  <a:path w="304181" h="261331">
                    <a:moveTo>
                      <a:pt x="127408" y="13923"/>
                    </a:moveTo>
                    <a:lnTo>
                      <a:pt x="5160" y="218033"/>
                    </a:lnTo>
                    <a:cubicBezTo>
                      <a:pt x="31" y="226914"/>
                      <a:pt x="0" y="237849"/>
                      <a:pt x="5077" y="246759"/>
                    </a:cubicBezTo>
                    <a:cubicBezTo>
                      <a:pt x="10155" y="255669"/>
                      <a:pt x="19578" y="261216"/>
                      <a:pt x="29832" y="261331"/>
                    </a:cubicBezTo>
                    <a:lnTo>
                      <a:pt x="274360" y="261331"/>
                    </a:lnTo>
                    <a:cubicBezTo>
                      <a:pt x="284610" y="261213"/>
                      <a:pt x="294028" y="255668"/>
                      <a:pt x="299104" y="246763"/>
                    </a:cubicBezTo>
                    <a:cubicBezTo>
                      <a:pt x="304181" y="237857"/>
                      <a:pt x="304153" y="226928"/>
                      <a:pt x="299033" y="218048"/>
                    </a:cubicBezTo>
                    <a:lnTo>
                      <a:pt x="176784" y="13908"/>
                    </a:lnTo>
                    <a:cubicBezTo>
                      <a:pt x="171553" y="5274"/>
                      <a:pt x="162191" y="0"/>
                      <a:pt x="152096" y="0"/>
                    </a:cubicBezTo>
                    <a:cubicBezTo>
                      <a:pt x="142001" y="0"/>
                      <a:pt x="132639" y="5274"/>
                      <a:pt x="127408" y="13908"/>
                    </a:cubicBezTo>
                  </a:path>
                </a:pathLst>
              </a:custGeom>
              <a:noFill/>
              <a:ln w="19050">
                <a:solidFill>
                  <a:srgbClr val="C8161E"/>
                </a:solidFill>
              </a:ln>
            </p:spPr>
          </p:sp>
          <p:sp>
            <p:nvSpPr>
              <p:cNvPr id="30" name="Freeform 30"/>
              <p:cNvSpPr/>
              <p:nvPr/>
            </p:nvSpPr>
            <p:spPr>
              <a:xfrm>
                <a:off x="6734175" y="3632200"/>
                <a:ext cx="9525" cy="9525"/>
              </a:xfrm>
              <a:custGeom>
                <a:avLst/>
                <a:gdLst/>
                <a:ahLst/>
                <a:cxnLst/>
                <a:rect l="l" t="t" r="r" b="b"/>
                <a:pathLst>
                  <a:path w="9525" h="9525">
                    <a:moveTo>
                      <a:pt x="0" y="0"/>
                    </a:moveTo>
                    <a:lnTo>
                      <a:pt x="151" y="0"/>
                    </a:lnTo>
                  </a:path>
                </a:pathLst>
              </a:custGeom>
              <a:noFill/>
              <a:ln w="19050">
                <a:solidFill>
                  <a:srgbClr val="C8161E"/>
                </a:solidFill>
              </a:ln>
            </p:spPr>
          </p:sp>
        </p:grpSp>
        <p:sp>
          <p:nvSpPr>
            <p:cNvPr id="32" name="TextBox 32"/>
            <p:cNvSpPr txBox="1"/>
            <p:nvPr/>
          </p:nvSpPr>
          <p:spPr>
            <a:xfrm>
              <a:off x="7019925" y="3433762"/>
              <a:ext cx="1364563" cy="457200"/>
            </a:xfrm>
            <a:prstGeom prst="rect">
              <a:avLst/>
            </a:prstGeom>
            <a:noFill/>
            <a:ln>
              <a:noFill/>
            </a:ln>
          </p:spPr>
          <p:txBody>
            <a:bodyPr wrap="none" lIns="0" tIns="0" rIns="0" bIns="0" anchor="t" anchorCtr="0">
              <a:spAutoFit/>
            </a:bodyPr>
            <a:lstStyle/>
            <a:p>
              <a:pPr algn="l"/>
              <a:r>
                <a:rPr lang="zh-CN" sz="2250" b="1" dirty="0">
                  <a:solidFill>
                    <a:srgbClr val="C8161E"/>
                  </a:solidFill>
                  <a:latin typeface="Arial"/>
                  <a:ea typeface="Microsoft YaHei"/>
                  <a:cs typeface="Arial"/>
                </a:rPr>
                <a:t>AI 不能做</a:t>
              </a:r>
            </a:p>
          </p:txBody>
        </p:sp>
        <p:sp>
          <p:nvSpPr>
            <p:cNvPr id="33" name="TextBox 33"/>
            <p:cNvSpPr txBox="1"/>
            <p:nvPr/>
          </p:nvSpPr>
          <p:spPr>
            <a:xfrm>
              <a:off x="6568440" y="4072890"/>
              <a:ext cx="216998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裁定真正的首创性</a:t>
              </a:r>
            </a:p>
          </p:txBody>
        </p:sp>
        <p:sp>
          <p:nvSpPr>
            <p:cNvPr id="34" name="TextBox 34"/>
            <p:cNvSpPr txBox="1"/>
            <p:nvPr/>
          </p:nvSpPr>
          <p:spPr>
            <a:xfrm>
              <a:off x="6568440" y="4530090"/>
              <a:ext cx="216998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替代主编最终判断</a:t>
              </a:r>
            </a:p>
          </p:txBody>
        </p:sp>
        <p:sp>
          <p:nvSpPr>
            <p:cNvPr id="35" name="TextBox 35"/>
            <p:cNvSpPr txBox="1"/>
            <p:nvPr/>
          </p:nvSpPr>
          <p:spPr>
            <a:xfrm>
              <a:off x="6568440" y="4987290"/>
              <a:ext cx="241001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因政治正确性给高分</a:t>
              </a:r>
            </a:p>
          </p:txBody>
        </p:sp>
        <p:sp>
          <p:nvSpPr>
            <p:cNvPr id="36" name="TextBox 36"/>
            <p:cNvSpPr txBox="1"/>
            <p:nvPr/>
          </p:nvSpPr>
          <p:spPr>
            <a:xfrm>
              <a:off x="6573517" y="5563843"/>
              <a:ext cx="228558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关键引用：v0.16 规程 §1.2</a:t>
              </a:r>
            </a:p>
          </p:txBody>
        </p:sp>
      </p:grpSp>
      <p:grpSp>
        <p:nvGrpSpPr>
          <p:cNvPr id="41" name="Group 41"/>
          <p:cNvGrpSpPr/>
          <p:nvPr/>
        </p:nvGrpSpPr>
        <p:grpSpPr>
          <a:xfrm>
            <a:off x="0" y="6516343"/>
            <a:ext cx="12192000" cy="341657"/>
            <a:chOff x="0" y="6516343"/>
            <a:chExt cx="12192000" cy="341657"/>
          </a:xfrm>
        </p:grpSpPr>
        <p:sp>
          <p:nvSpPr>
            <p:cNvPr id="38" name="Rectangle 38"/>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9" name="TextBox 39"/>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40" name="TextBox 40"/>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400"/>
                                        <p:tgtEl>
                                          <p:spTgt spid="14"/>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image">
                                      <p:cBhvr>
                                        <p:cTn id="11" dur="400"/>
                                        <p:tgtEl>
                                          <p:spTgt spid="1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6"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81521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评价对象与规模</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2" name="Group 12"/>
          <p:cNvGrpSpPr/>
          <p:nvPr/>
        </p:nvGrpSpPr>
        <p:grpSpPr>
          <a:xfrm>
            <a:off x="685800" y="1123950"/>
            <a:ext cx="3543300" cy="1866900"/>
            <a:chOff x="685800" y="1123950"/>
            <a:chExt cx="3543300" cy="1866900"/>
          </a:xfrm>
        </p:grpSpPr>
        <p:sp>
          <p:nvSpPr>
            <p:cNvPr id="8" name="Rectangle 8"/>
            <p:cNvSpPr/>
            <p:nvPr/>
          </p:nvSpPr>
          <p:spPr>
            <a:xfrm>
              <a:off x="685800" y="1123950"/>
              <a:ext cx="3543300" cy="1866900"/>
            </a:xfrm>
            <a:prstGeom prst="roundRect">
              <a:avLst>
                <a:gd name="adj" fmla="val 8163"/>
              </a:avLst>
            </a:prstGeom>
            <a:solidFill>
              <a:srgbClr val="C8161E"/>
            </a:solidFill>
            <a:ln>
              <a:noFill/>
            </a:ln>
          </p:spPr>
        </p:sp>
        <p:sp>
          <p:nvSpPr>
            <p:cNvPr id="9" name="TextBox 9"/>
            <p:cNvSpPr txBox="1"/>
            <p:nvPr/>
          </p:nvSpPr>
          <p:spPr>
            <a:xfrm>
              <a:off x="970283" y="1408457"/>
              <a:ext cx="1533920"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可评测论文总量</a:t>
              </a:r>
            </a:p>
          </p:txBody>
        </p:sp>
        <p:sp>
          <p:nvSpPr>
            <p:cNvPr id="10" name="TextBox 10"/>
            <p:cNvSpPr txBox="1"/>
            <p:nvPr/>
          </p:nvSpPr>
          <p:spPr>
            <a:xfrm>
              <a:off x="883920" y="1779270"/>
              <a:ext cx="2594467" cy="1097280"/>
            </a:xfrm>
            <a:prstGeom prst="rect">
              <a:avLst/>
            </a:prstGeom>
            <a:noFill/>
            <a:ln>
              <a:noFill/>
            </a:ln>
          </p:spPr>
          <p:txBody>
            <a:bodyPr wrap="none" lIns="0" tIns="0" rIns="0" bIns="0" anchor="t" anchorCtr="0">
              <a:spAutoFit/>
            </a:bodyPr>
            <a:lstStyle/>
            <a:p>
              <a:pPr algn="l"/>
              <a:r>
                <a:rPr lang="zh-CN" sz="5400" b="1" dirty="0">
                  <a:solidFill>
                    <a:srgbClr val="FFFFFF"/>
                  </a:solidFill>
                  <a:latin typeface="Arial"/>
                  <a:ea typeface="Microsoft YaHei"/>
                  <a:cs typeface="Arial"/>
                </a:rPr>
                <a:t>1920</a:t>
              </a:r>
              <a:r>
                <a:rPr lang="zh-CN" sz="2600" b="1" dirty="0">
                  <a:solidFill>
                    <a:srgbClr val="FFFFFF"/>
                  </a:solidFill>
                  <a:latin typeface="Arial"/>
                  <a:ea typeface="Microsoft YaHei"/>
                  <a:cs typeface="Arial"/>
                </a:rPr>
                <a:t xml:space="preserve"> 篇</a:t>
              </a:r>
            </a:p>
          </p:txBody>
        </p:sp>
        <p:sp>
          <p:nvSpPr>
            <p:cNvPr id="11" name="TextBox 11"/>
            <p:cNvSpPr txBox="1"/>
            <p:nvPr/>
          </p:nvSpPr>
          <p:spPr>
            <a:xfrm>
              <a:off x="972817" y="2649193"/>
              <a:ext cx="2565668" cy="284531"/>
            </a:xfrm>
            <a:prstGeom prst="rect">
              <a:avLst/>
            </a:prstGeom>
            <a:noFill/>
            <a:ln>
              <a:noFill/>
            </a:ln>
          </p:spPr>
          <p:txBody>
            <a:bodyPr wrap="none" lIns="0" tIns="0" rIns="0" bIns="0" anchor="t" anchorCtr="0">
              <a:spAutoFit/>
            </a:bodyPr>
            <a:lstStyle/>
            <a:p>
              <a:pPr algn="l"/>
              <a:r>
                <a:rPr lang="zh-CN" sz="1400" dirty="0">
                  <a:solidFill>
                    <a:srgbClr val="FFFFFF">
                      <a:alphaMod val="85000"/>
                    </a:srgbClr>
                  </a:solidFill>
                  <a:latin typeface="Arial"/>
                  <a:ea typeface="Microsoft YaHei"/>
                  <a:cs typeface="Arial"/>
                </a:rPr>
                <a:t>元数据 1962 条，去重后可评测</a:t>
              </a:r>
            </a:p>
          </p:txBody>
        </p:sp>
      </p:grpSp>
      <p:grpSp>
        <p:nvGrpSpPr>
          <p:cNvPr id="16" name="Group 16"/>
          <p:cNvGrpSpPr/>
          <p:nvPr/>
        </p:nvGrpSpPr>
        <p:grpSpPr>
          <a:xfrm>
            <a:off x="970283" y="3275357"/>
            <a:ext cx="2829346" cy="953767"/>
            <a:chOff x="970283" y="3275357"/>
            <a:chExt cx="2829346" cy="953767"/>
          </a:xfrm>
        </p:grpSpPr>
        <p:sp>
          <p:nvSpPr>
            <p:cNvPr id="13" name="TextBox 13"/>
            <p:cNvSpPr txBox="1"/>
            <p:nvPr/>
          </p:nvSpPr>
          <p:spPr>
            <a:xfrm>
              <a:off x="970283" y="3275357"/>
              <a:ext cx="2829346"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数据源：近 10 年法学三大刊</a:t>
              </a:r>
            </a:p>
          </p:txBody>
        </p:sp>
        <p:sp>
          <p:nvSpPr>
            <p:cNvPr id="14" name="TextBox 14"/>
            <p:cNvSpPr txBox="1"/>
            <p:nvPr/>
          </p:nvSpPr>
          <p:spPr>
            <a:xfrm>
              <a:off x="972817" y="365884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《中国法学》《法学研究》</a:t>
              </a:r>
            </a:p>
          </p:txBody>
        </p:sp>
        <p:sp>
          <p:nvSpPr>
            <p:cNvPr id="15" name="TextBox 15"/>
            <p:cNvSpPr txBox="1"/>
            <p:nvPr/>
          </p:nvSpPr>
          <p:spPr>
            <a:xfrm>
              <a:off x="972817" y="394459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《中国社会科学》法学板块</a:t>
              </a:r>
            </a:p>
          </p:txBody>
        </p:sp>
      </p:grpSp>
      <p:grpSp>
        <p:nvGrpSpPr>
          <p:cNvPr id="30" name="Group 30"/>
          <p:cNvGrpSpPr/>
          <p:nvPr/>
        </p:nvGrpSpPr>
        <p:grpSpPr>
          <a:xfrm>
            <a:off x="4622797" y="1269973"/>
            <a:ext cx="6027420" cy="1987553"/>
            <a:chOff x="4622797" y="1269973"/>
            <a:chExt cx="6027420" cy="1987553"/>
          </a:xfrm>
        </p:grpSpPr>
        <p:sp>
          <p:nvSpPr>
            <p:cNvPr id="17" name="TextBox 17"/>
            <p:cNvSpPr txBox="1"/>
            <p:nvPr/>
          </p:nvSpPr>
          <p:spPr>
            <a:xfrm>
              <a:off x="4622797" y="12699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刊物分布</a:t>
              </a:r>
            </a:p>
          </p:txBody>
        </p:sp>
        <p:sp>
          <p:nvSpPr>
            <p:cNvPr id="18" name="TextBox 18"/>
            <p:cNvSpPr txBox="1"/>
            <p:nvPr/>
          </p:nvSpPr>
          <p:spPr>
            <a:xfrm>
              <a:off x="4627883" y="1865657"/>
              <a:ext cx="132059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《中国法学》</a:t>
              </a:r>
            </a:p>
          </p:txBody>
        </p:sp>
        <p:sp>
          <p:nvSpPr>
            <p:cNvPr id="19" name="Rectangle 19"/>
            <p:cNvSpPr/>
            <p:nvPr/>
          </p:nvSpPr>
          <p:spPr>
            <a:xfrm>
              <a:off x="6286500" y="1847850"/>
              <a:ext cx="4191000" cy="247650"/>
            </a:xfrm>
            <a:prstGeom prst="roundRect">
              <a:avLst>
                <a:gd name="adj" fmla="val 15385"/>
              </a:avLst>
            </a:prstGeom>
            <a:solidFill>
              <a:srgbClr val="F4F5F7"/>
            </a:solidFill>
            <a:ln>
              <a:noFill/>
            </a:ln>
          </p:spPr>
        </p:sp>
        <p:sp>
          <p:nvSpPr>
            <p:cNvPr id="20" name="Rectangle 20"/>
            <p:cNvSpPr/>
            <p:nvPr/>
          </p:nvSpPr>
          <p:spPr>
            <a:xfrm>
              <a:off x="6286500" y="1847850"/>
              <a:ext cx="3390900" cy="247650"/>
            </a:xfrm>
            <a:prstGeom prst="roundRect">
              <a:avLst>
                <a:gd name="adj" fmla="val 15385"/>
              </a:avLst>
            </a:prstGeom>
            <a:solidFill>
              <a:srgbClr val="C8161E"/>
            </a:solidFill>
            <a:ln>
              <a:noFill/>
            </a:ln>
          </p:spPr>
        </p:sp>
        <p:sp>
          <p:nvSpPr>
            <p:cNvPr id="21" name="TextBox 21"/>
            <p:cNvSpPr txBox="1"/>
            <p:nvPr/>
          </p:nvSpPr>
          <p:spPr>
            <a:xfrm>
              <a:off x="9366422" y="1865657"/>
              <a:ext cx="1283795" cy="325069"/>
            </a:xfrm>
            <a:prstGeom prst="rect">
              <a:avLst/>
            </a:prstGeom>
            <a:noFill/>
            <a:ln>
              <a:noFill/>
            </a:ln>
          </p:spPr>
          <p:txBody>
            <a:bodyPr wrap="none" lIns="0" tIns="0" rIns="0" bIns="0" anchor="t" anchorCtr="0">
              <a:spAutoFit/>
            </a:bodyPr>
            <a:lstStyle/>
            <a:p>
              <a:pPr algn="r"/>
              <a:r>
                <a:rPr lang="zh-CN" sz="1600" b="1" dirty="0">
                  <a:solidFill>
                    <a:srgbClr val="C8161E"/>
                  </a:solidFill>
                  <a:latin typeface="Arial"/>
                  <a:ea typeface="Microsoft YaHei"/>
                  <a:cs typeface="Arial"/>
                </a:rPr>
                <a:t>954 · 49.7%</a:t>
              </a:r>
            </a:p>
          </p:txBody>
        </p:sp>
        <p:sp>
          <p:nvSpPr>
            <p:cNvPr id="22" name="TextBox 22"/>
            <p:cNvSpPr txBox="1"/>
            <p:nvPr/>
          </p:nvSpPr>
          <p:spPr>
            <a:xfrm>
              <a:off x="4627883" y="2399057"/>
              <a:ext cx="132059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《法学研究》</a:t>
              </a:r>
            </a:p>
          </p:txBody>
        </p:sp>
        <p:sp>
          <p:nvSpPr>
            <p:cNvPr id="23" name="Rectangle 23"/>
            <p:cNvSpPr/>
            <p:nvPr/>
          </p:nvSpPr>
          <p:spPr>
            <a:xfrm>
              <a:off x="6286500" y="2381250"/>
              <a:ext cx="4191000" cy="247650"/>
            </a:xfrm>
            <a:prstGeom prst="roundRect">
              <a:avLst>
                <a:gd name="adj" fmla="val 15385"/>
              </a:avLst>
            </a:prstGeom>
            <a:solidFill>
              <a:srgbClr val="F4F5F7"/>
            </a:solidFill>
            <a:ln>
              <a:noFill/>
            </a:ln>
          </p:spPr>
        </p:sp>
        <p:sp>
          <p:nvSpPr>
            <p:cNvPr id="24" name="Rectangle 24"/>
            <p:cNvSpPr/>
            <p:nvPr/>
          </p:nvSpPr>
          <p:spPr>
            <a:xfrm>
              <a:off x="6286500" y="2381250"/>
              <a:ext cx="2724150" cy="247650"/>
            </a:xfrm>
            <a:prstGeom prst="roundRect">
              <a:avLst>
                <a:gd name="adj" fmla="val 15385"/>
              </a:avLst>
            </a:prstGeom>
            <a:solidFill>
              <a:srgbClr val="1F4D78"/>
            </a:solidFill>
            <a:ln>
              <a:noFill/>
            </a:ln>
          </p:spPr>
        </p:sp>
        <p:sp>
          <p:nvSpPr>
            <p:cNvPr id="25" name="TextBox 25"/>
            <p:cNvSpPr txBox="1"/>
            <p:nvPr/>
          </p:nvSpPr>
          <p:spPr>
            <a:xfrm>
              <a:off x="9366422" y="2399057"/>
              <a:ext cx="1283795" cy="325069"/>
            </a:xfrm>
            <a:prstGeom prst="rect">
              <a:avLst/>
            </a:prstGeom>
            <a:noFill/>
            <a:ln>
              <a:noFill/>
            </a:ln>
          </p:spPr>
          <p:txBody>
            <a:bodyPr wrap="none" lIns="0" tIns="0" rIns="0" bIns="0" anchor="t" anchorCtr="0">
              <a:spAutoFit/>
            </a:bodyPr>
            <a:lstStyle/>
            <a:p>
              <a:pPr algn="r"/>
              <a:r>
                <a:rPr lang="zh-CN" sz="1600" b="1" dirty="0">
                  <a:solidFill>
                    <a:srgbClr val="1F4D78"/>
                  </a:solidFill>
                  <a:latin typeface="Arial"/>
                  <a:ea typeface="Microsoft YaHei"/>
                  <a:cs typeface="Arial"/>
                </a:rPr>
                <a:t>767 · 39.9%</a:t>
              </a:r>
            </a:p>
          </p:txBody>
        </p:sp>
        <p:sp>
          <p:nvSpPr>
            <p:cNvPr id="26" name="TextBox 26"/>
            <p:cNvSpPr txBox="1"/>
            <p:nvPr/>
          </p:nvSpPr>
          <p:spPr>
            <a:xfrm>
              <a:off x="4627883" y="2932457"/>
              <a:ext cx="1747247"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《中国社会科学》</a:t>
              </a:r>
            </a:p>
          </p:txBody>
        </p:sp>
        <p:sp>
          <p:nvSpPr>
            <p:cNvPr id="27" name="Rectangle 27"/>
            <p:cNvSpPr/>
            <p:nvPr/>
          </p:nvSpPr>
          <p:spPr>
            <a:xfrm>
              <a:off x="6286500" y="2914650"/>
              <a:ext cx="4191000" cy="247650"/>
            </a:xfrm>
            <a:prstGeom prst="roundRect">
              <a:avLst>
                <a:gd name="adj" fmla="val 15385"/>
              </a:avLst>
            </a:prstGeom>
            <a:solidFill>
              <a:srgbClr val="F4F5F7"/>
            </a:solidFill>
            <a:ln>
              <a:noFill/>
            </a:ln>
          </p:spPr>
        </p:sp>
        <p:sp>
          <p:nvSpPr>
            <p:cNvPr id="28" name="Rectangle 28"/>
            <p:cNvSpPr/>
            <p:nvPr/>
          </p:nvSpPr>
          <p:spPr>
            <a:xfrm>
              <a:off x="6286500" y="2914650"/>
              <a:ext cx="714375" cy="247650"/>
            </a:xfrm>
            <a:prstGeom prst="roundRect">
              <a:avLst>
                <a:gd name="adj" fmla="val 15385"/>
              </a:avLst>
            </a:prstGeom>
            <a:solidFill>
              <a:srgbClr val="44546A"/>
            </a:solidFill>
            <a:ln>
              <a:noFill/>
            </a:ln>
          </p:spPr>
        </p:sp>
        <p:sp>
          <p:nvSpPr>
            <p:cNvPr id="29" name="TextBox 29"/>
            <p:cNvSpPr txBox="1"/>
            <p:nvPr/>
          </p:nvSpPr>
          <p:spPr>
            <a:xfrm>
              <a:off x="9478419" y="2932457"/>
              <a:ext cx="1171798" cy="325069"/>
            </a:xfrm>
            <a:prstGeom prst="rect">
              <a:avLst/>
            </a:prstGeom>
            <a:noFill/>
            <a:ln>
              <a:noFill/>
            </a:ln>
          </p:spPr>
          <p:txBody>
            <a:bodyPr wrap="none" lIns="0" tIns="0" rIns="0" bIns="0" anchor="t" anchorCtr="0">
              <a:spAutoFit/>
            </a:bodyPr>
            <a:lstStyle/>
            <a:p>
              <a:pPr algn="r"/>
              <a:r>
                <a:rPr lang="zh-CN" sz="1600" b="1" dirty="0">
                  <a:solidFill>
                    <a:srgbClr val="44546A"/>
                  </a:solidFill>
                  <a:latin typeface="Arial"/>
                  <a:ea typeface="Microsoft YaHei"/>
                  <a:cs typeface="Arial"/>
                </a:rPr>
                <a:t>199 · 10.4%</a:t>
              </a:r>
            </a:p>
          </p:txBody>
        </p:sp>
      </p:grpSp>
      <p:grpSp>
        <p:nvGrpSpPr>
          <p:cNvPr id="34" name="Group 34"/>
          <p:cNvGrpSpPr/>
          <p:nvPr/>
        </p:nvGrpSpPr>
        <p:grpSpPr>
          <a:xfrm>
            <a:off x="685800" y="4476750"/>
            <a:ext cx="10838184" cy="419124"/>
            <a:chOff x="685800" y="4476750"/>
            <a:chExt cx="10838184" cy="419124"/>
          </a:xfrm>
        </p:grpSpPr>
        <p:sp>
          <p:nvSpPr>
            <p:cNvPr id="31" name="Rectangle 31"/>
            <p:cNvSpPr/>
            <p:nvPr/>
          </p:nvSpPr>
          <p:spPr>
            <a:xfrm>
              <a:off x="685800" y="4476750"/>
              <a:ext cx="57150" cy="285750"/>
            </a:xfrm>
            <a:prstGeom prst="roundRect">
              <a:avLst>
                <a:gd name="adj" fmla="val 50000"/>
              </a:avLst>
            </a:prstGeom>
            <a:solidFill>
              <a:srgbClr val="C8161E"/>
            </a:solidFill>
            <a:ln>
              <a:noFill/>
            </a:ln>
          </p:spPr>
        </p:sp>
        <p:sp>
          <p:nvSpPr>
            <p:cNvPr id="32" name="TextBox 32"/>
            <p:cNvSpPr txBox="1"/>
            <p:nvPr/>
          </p:nvSpPr>
          <p:spPr>
            <a:xfrm>
              <a:off x="850897" y="4489423"/>
              <a:ext cx="173122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当前评测进度</a:t>
              </a:r>
            </a:p>
          </p:txBody>
        </p:sp>
        <p:sp>
          <p:nvSpPr>
            <p:cNvPr id="33" name="TextBox 33"/>
            <p:cNvSpPr txBox="1"/>
            <p:nvPr/>
          </p:nvSpPr>
          <p:spPr>
            <a:xfrm>
              <a:off x="8790265" y="4554193"/>
              <a:ext cx="2733719"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主评测 API 调用总量 ~94,700 次</a:t>
              </a:r>
            </a:p>
          </p:txBody>
        </p:sp>
      </p:grpSp>
      <p:grpSp>
        <p:nvGrpSpPr>
          <p:cNvPr id="39" name="Group 39"/>
          <p:cNvGrpSpPr/>
          <p:nvPr/>
        </p:nvGrpSpPr>
        <p:grpSpPr>
          <a:xfrm>
            <a:off x="685800" y="4914900"/>
            <a:ext cx="2571750" cy="1524000"/>
            <a:chOff x="685800" y="4914900"/>
            <a:chExt cx="2571750" cy="1524000"/>
          </a:xfrm>
        </p:grpSpPr>
        <p:sp>
          <p:nvSpPr>
            <p:cNvPr id="35" name="Rectangle 35"/>
            <p:cNvSpPr/>
            <p:nvPr/>
          </p:nvSpPr>
          <p:spPr>
            <a:xfrm>
              <a:off x="685800" y="4914900"/>
              <a:ext cx="2571750" cy="1524000"/>
            </a:xfrm>
            <a:prstGeom prst="roundRect">
              <a:avLst>
                <a:gd name="adj" fmla="val 10000"/>
              </a:avLst>
            </a:prstGeom>
            <a:solidFill>
              <a:srgbClr val="FFFFFF"/>
            </a:solidFill>
            <a:ln w="14288">
              <a:solidFill>
                <a:srgbClr val="D9DEE5"/>
              </a:solidFill>
            </a:ln>
          </p:spPr>
        </p:sp>
        <p:sp>
          <p:nvSpPr>
            <p:cNvPr id="36" name="TextBox 36"/>
            <p:cNvSpPr txBox="1"/>
            <p:nvPr/>
          </p:nvSpPr>
          <p:spPr>
            <a:xfrm>
              <a:off x="894083" y="5123207"/>
              <a:ext cx="1194198" cy="325069"/>
            </a:xfrm>
            <a:prstGeom prst="rect">
              <a:avLst/>
            </a:prstGeom>
            <a:noFill/>
            <a:ln>
              <a:noFill/>
            </a:ln>
          </p:spPr>
          <p:txBody>
            <a:bodyPr wrap="none" lIns="0" tIns="0" rIns="0" bIns="0" anchor="t" anchorCtr="0">
              <a:spAutoFit/>
            </a:bodyPr>
            <a:lstStyle/>
            <a:p>
              <a:pPr algn="l"/>
              <a:r>
                <a:rPr lang="zh-CN" sz="1600" b="1" dirty="0">
                  <a:solidFill>
                    <a:srgbClr val="C8161E"/>
                  </a:solidFill>
                  <a:latin typeface="Arial"/>
                  <a:ea typeface="Microsoft YaHei"/>
                  <a:cs typeface="Arial"/>
                </a:rPr>
                <a:t>全量评审 E1</a:t>
              </a:r>
            </a:p>
          </p:txBody>
        </p:sp>
        <p:sp>
          <p:nvSpPr>
            <p:cNvPr id="37" name="TextBox 37"/>
            <p:cNvSpPr txBox="1"/>
            <p:nvPr/>
          </p:nvSpPr>
          <p:spPr>
            <a:xfrm>
              <a:off x="872490" y="5434965"/>
              <a:ext cx="1585508"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1920</a:t>
              </a:r>
              <a:r>
                <a:rPr lang="zh-CN" sz="1400" b="1" dirty="0">
                  <a:solidFill>
                    <a:srgbClr val="1B1C21"/>
                  </a:solidFill>
                  <a:latin typeface="Arial"/>
                  <a:ea typeface="Microsoft YaHei"/>
                  <a:cs typeface="Arial"/>
                </a:rPr>
                <a:t xml:space="preserve"> 篇</a:t>
              </a:r>
            </a:p>
          </p:txBody>
        </p:sp>
        <p:sp>
          <p:nvSpPr>
            <p:cNvPr id="38" name="TextBox 38"/>
            <p:cNvSpPr txBox="1"/>
            <p:nvPr/>
          </p:nvSpPr>
          <p:spPr>
            <a:xfrm>
              <a:off x="899160" y="6023610"/>
              <a:ext cx="1982724"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已生成 R1+R2，90 篇已补测</a:t>
              </a:r>
            </a:p>
          </p:txBody>
        </p:sp>
      </p:grpSp>
      <p:grpSp>
        <p:nvGrpSpPr>
          <p:cNvPr id="44" name="Group 44"/>
          <p:cNvGrpSpPr/>
          <p:nvPr/>
        </p:nvGrpSpPr>
        <p:grpSpPr>
          <a:xfrm>
            <a:off x="3429000" y="4914900"/>
            <a:ext cx="2571750" cy="1524000"/>
            <a:chOff x="3429000" y="4914900"/>
            <a:chExt cx="2571750" cy="1524000"/>
          </a:xfrm>
        </p:grpSpPr>
        <p:sp>
          <p:nvSpPr>
            <p:cNvPr id="40" name="Rectangle 40"/>
            <p:cNvSpPr/>
            <p:nvPr/>
          </p:nvSpPr>
          <p:spPr>
            <a:xfrm>
              <a:off x="3429000" y="4914900"/>
              <a:ext cx="2571750" cy="1524000"/>
            </a:xfrm>
            <a:prstGeom prst="roundRect">
              <a:avLst>
                <a:gd name="adj" fmla="val 10000"/>
              </a:avLst>
            </a:prstGeom>
            <a:solidFill>
              <a:srgbClr val="FFFFFF"/>
            </a:solidFill>
            <a:ln w="14288">
              <a:solidFill>
                <a:srgbClr val="D9DEE5"/>
              </a:solidFill>
            </a:ln>
          </p:spPr>
        </p:sp>
        <p:sp>
          <p:nvSpPr>
            <p:cNvPr id="41" name="TextBox 41"/>
            <p:cNvSpPr txBox="1"/>
            <p:nvPr/>
          </p:nvSpPr>
          <p:spPr>
            <a:xfrm>
              <a:off x="3637283" y="5123207"/>
              <a:ext cx="155258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Top 60 重测 E2</a:t>
              </a:r>
            </a:p>
          </p:txBody>
        </p:sp>
        <p:sp>
          <p:nvSpPr>
            <p:cNvPr id="42" name="TextBox 42"/>
            <p:cNvSpPr txBox="1"/>
            <p:nvPr/>
          </p:nvSpPr>
          <p:spPr>
            <a:xfrm>
              <a:off x="3615690" y="5434965"/>
              <a:ext cx="1192759"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50</a:t>
              </a:r>
              <a:r>
                <a:rPr lang="zh-CN" sz="1400" b="1" dirty="0">
                  <a:solidFill>
                    <a:srgbClr val="1B1C21"/>
                  </a:solidFill>
                  <a:latin typeface="Arial"/>
                  <a:ea typeface="Microsoft YaHei"/>
                  <a:cs typeface="Arial"/>
                </a:rPr>
                <a:t xml:space="preserve"> 篇</a:t>
              </a:r>
            </a:p>
          </p:txBody>
        </p:sp>
        <p:sp>
          <p:nvSpPr>
            <p:cNvPr id="43" name="TextBox 43"/>
            <p:cNvSpPr txBox="1"/>
            <p:nvPr/>
          </p:nvSpPr>
          <p:spPr>
            <a:xfrm>
              <a:off x="3642360" y="6023610"/>
              <a:ext cx="1598676"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完整 R1+R2，交叉验证</a:t>
              </a:r>
            </a:p>
          </p:txBody>
        </p:sp>
      </p:grpSp>
      <p:grpSp>
        <p:nvGrpSpPr>
          <p:cNvPr id="49" name="Group 49"/>
          <p:cNvGrpSpPr/>
          <p:nvPr/>
        </p:nvGrpSpPr>
        <p:grpSpPr>
          <a:xfrm>
            <a:off x="6172200" y="4914900"/>
            <a:ext cx="2571750" cy="1524000"/>
            <a:chOff x="6172200" y="4914900"/>
            <a:chExt cx="2571750" cy="1524000"/>
          </a:xfrm>
        </p:grpSpPr>
        <p:sp>
          <p:nvSpPr>
            <p:cNvPr id="45" name="Rectangle 45"/>
            <p:cNvSpPr/>
            <p:nvPr/>
          </p:nvSpPr>
          <p:spPr>
            <a:xfrm>
              <a:off x="6172200" y="4914900"/>
              <a:ext cx="2571750" cy="1524000"/>
            </a:xfrm>
            <a:prstGeom prst="roundRect">
              <a:avLst>
                <a:gd name="adj" fmla="val 10000"/>
              </a:avLst>
            </a:prstGeom>
            <a:solidFill>
              <a:srgbClr val="FFFFFF"/>
            </a:solidFill>
            <a:ln w="14288">
              <a:solidFill>
                <a:srgbClr val="D9DEE5"/>
              </a:solidFill>
            </a:ln>
          </p:spPr>
        </p:sp>
        <p:sp>
          <p:nvSpPr>
            <p:cNvPr id="46" name="TextBox 46"/>
            <p:cNvSpPr txBox="1"/>
            <p:nvPr/>
          </p:nvSpPr>
          <p:spPr>
            <a:xfrm>
              <a:off x="6380483" y="5123207"/>
              <a:ext cx="1507788" cy="325069"/>
            </a:xfrm>
            <a:prstGeom prst="rect">
              <a:avLst/>
            </a:prstGeom>
            <a:noFill/>
            <a:ln>
              <a:noFill/>
            </a:ln>
          </p:spPr>
          <p:txBody>
            <a:bodyPr wrap="none" lIns="0" tIns="0" rIns="0" bIns="0" anchor="t" anchorCtr="0">
              <a:spAutoFit/>
            </a:bodyPr>
            <a:lstStyle/>
            <a:p>
              <a:pPr algn="l"/>
              <a:r>
                <a:rPr lang="zh-CN" sz="1600" b="1" dirty="0">
                  <a:solidFill>
                    <a:srgbClr val="2E7D32"/>
                  </a:solidFill>
                  <a:latin typeface="Arial"/>
                  <a:ea typeface="Microsoft YaHei"/>
                  <a:cs typeface="Arial"/>
                </a:rPr>
                <a:t>第 3 次评测 E3</a:t>
              </a:r>
            </a:p>
          </p:txBody>
        </p:sp>
        <p:sp>
          <p:nvSpPr>
            <p:cNvPr id="47" name="TextBox 47"/>
            <p:cNvSpPr txBox="1"/>
            <p:nvPr/>
          </p:nvSpPr>
          <p:spPr>
            <a:xfrm>
              <a:off x="6358890" y="5434965"/>
              <a:ext cx="1077244"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13</a:t>
              </a:r>
              <a:r>
                <a:rPr lang="zh-CN" sz="1400" b="1" dirty="0">
                  <a:solidFill>
                    <a:srgbClr val="1B1C21"/>
                  </a:solidFill>
                  <a:latin typeface="Arial"/>
                  <a:ea typeface="Microsoft YaHei"/>
                  <a:cs typeface="Arial"/>
                </a:rPr>
                <a:t xml:space="preserve"> 篇</a:t>
              </a:r>
            </a:p>
          </p:txBody>
        </p:sp>
        <p:sp>
          <p:nvSpPr>
            <p:cNvPr id="48" name="TextBox 48"/>
            <p:cNvSpPr txBox="1"/>
            <p:nvPr/>
          </p:nvSpPr>
          <p:spPr>
            <a:xfrm>
              <a:off x="6385560" y="6023610"/>
              <a:ext cx="13106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17 个不稳定维度</a:t>
              </a:r>
            </a:p>
          </p:txBody>
        </p:sp>
      </p:grpSp>
      <p:grpSp>
        <p:nvGrpSpPr>
          <p:cNvPr id="54" name="Group 54"/>
          <p:cNvGrpSpPr/>
          <p:nvPr/>
        </p:nvGrpSpPr>
        <p:grpSpPr>
          <a:xfrm>
            <a:off x="8915400" y="4914900"/>
            <a:ext cx="2590800" cy="1524000"/>
            <a:chOff x="8915400" y="4914900"/>
            <a:chExt cx="2590800" cy="1524000"/>
          </a:xfrm>
        </p:grpSpPr>
        <p:sp>
          <p:nvSpPr>
            <p:cNvPr id="50" name="Rectangle 50"/>
            <p:cNvSpPr/>
            <p:nvPr/>
          </p:nvSpPr>
          <p:spPr>
            <a:xfrm>
              <a:off x="8915400" y="4914900"/>
              <a:ext cx="2590800" cy="1524000"/>
            </a:xfrm>
            <a:prstGeom prst="roundRect">
              <a:avLst>
                <a:gd name="adj" fmla="val 10000"/>
              </a:avLst>
            </a:prstGeom>
            <a:solidFill>
              <a:srgbClr val="FFFFFF"/>
            </a:solidFill>
            <a:ln w="14288">
              <a:solidFill>
                <a:srgbClr val="D9DEE5"/>
              </a:solidFill>
            </a:ln>
          </p:spPr>
        </p:sp>
        <p:sp>
          <p:nvSpPr>
            <p:cNvPr id="51" name="TextBox 51"/>
            <p:cNvSpPr txBox="1"/>
            <p:nvPr/>
          </p:nvSpPr>
          <p:spPr>
            <a:xfrm>
              <a:off x="9123683" y="5123207"/>
              <a:ext cx="1238996" cy="325069"/>
            </a:xfrm>
            <a:prstGeom prst="rect">
              <a:avLst/>
            </a:prstGeom>
            <a:noFill/>
            <a:ln>
              <a:noFill/>
            </a:ln>
          </p:spPr>
          <p:txBody>
            <a:bodyPr wrap="none" lIns="0" tIns="0" rIns="0" bIns="0" anchor="t" anchorCtr="0">
              <a:spAutoFit/>
            </a:bodyPr>
            <a:lstStyle/>
            <a:p>
              <a:pPr algn="l"/>
              <a:r>
                <a:rPr lang="zh-CN" sz="1600" b="1" dirty="0">
                  <a:solidFill>
                    <a:srgbClr val="44546A"/>
                  </a:solidFill>
                  <a:latin typeface="Arial"/>
                  <a:ea typeface="Microsoft YaHei"/>
                  <a:cs typeface="Arial"/>
                </a:rPr>
                <a:t>Top 30 验证</a:t>
              </a:r>
            </a:p>
          </p:txBody>
        </p:sp>
        <p:sp>
          <p:nvSpPr>
            <p:cNvPr id="52" name="TextBox 52"/>
            <p:cNvSpPr txBox="1"/>
            <p:nvPr/>
          </p:nvSpPr>
          <p:spPr>
            <a:xfrm>
              <a:off x="9102090" y="5434965"/>
              <a:ext cx="1192759"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30</a:t>
              </a:r>
              <a:r>
                <a:rPr lang="zh-CN" sz="1400" b="1" dirty="0">
                  <a:solidFill>
                    <a:srgbClr val="1B1C21"/>
                  </a:solidFill>
                  <a:latin typeface="Arial"/>
                  <a:ea typeface="Microsoft YaHei"/>
                  <a:cs typeface="Arial"/>
                </a:rPr>
                <a:t xml:space="preserve"> 篇</a:t>
              </a:r>
            </a:p>
          </p:txBody>
        </p:sp>
        <p:sp>
          <p:nvSpPr>
            <p:cNvPr id="53" name="TextBox 53"/>
            <p:cNvSpPr txBox="1"/>
            <p:nvPr/>
          </p:nvSpPr>
          <p:spPr>
            <a:xfrm>
              <a:off x="9128760" y="6023610"/>
              <a:ext cx="2102739"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信号 7.33–7.90，匹配 76 条</a:t>
              </a:r>
            </a:p>
          </p:txBody>
        </p:sp>
      </p:grpSp>
      <p:grpSp>
        <p:nvGrpSpPr>
          <p:cNvPr id="58" name="Group 58"/>
          <p:cNvGrpSpPr/>
          <p:nvPr/>
        </p:nvGrpSpPr>
        <p:grpSpPr>
          <a:xfrm>
            <a:off x="0" y="6516343"/>
            <a:ext cx="12192000" cy="341657"/>
            <a:chOff x="0" y="6516343"/>
            <a:chExt cx="12192000" cy="341657"/>
          </a:xfrm>
        </p:grpSpPr>
        <p:sp>
          <p:nvSpPr>
            <p:cNvPr id="55" name="Rectangle 5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6" name="TextBox 56"/>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7" name="TextBox 57"/>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amond(in)">
                                      <p:cBhvr>
                                        <p:cTn id="7" dur="400"/>
                                        <p:tgtEl>
                                          <p:spTgt spid="1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400"/>
                                        <p:tgtEl>
                                          <p:spTgt spid="34"/>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slide(fromBottom)">
                                      <p:cBhvr>
                                        <p:cTn id="23" dur="400"/>
                                        <p:tgtEl>
                                          <p:spTgt spid="39"/>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image">
                                      <p:cBhvr>
                                        <p:cTn id="27" dur="400"/>
                                        <p:tgtEl>
                                          <p:spTgt spid="44"/>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childTnLst>
                          </p:cTn>
                        </p:par>
                        <p:par>
                          <p:cTn id="32" fill="hold">
                            <p:stCondLst>
                              <p:cond delay="6300"/>
                            </p:stCondLst>
                            <p:childTnLst>
                              <p:par>
                                <p:cTn id="33" presetID="22" presetClass="entr" presetSubtype="1" fill="hold" nodeType="after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left)">
                                      <p:cBhvr>
                                        <p:cTn id="35"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30" grpId="0"/>
      <p:bldP spid="34" grpId="0"/>
      <p:bldP spid="39" grpId="0"/>
      <p:bldP spid="44" grpId="0"/>
      <p:bldP spid="49" grpId="0"/>
      <p:bldP spid="5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59924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专家团队与样本体系</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9" name="Group 9"/>
          <p:cNvGrpSpPr/>
          <p:nvPr/>
        </p:nvGrpSpPr>
        <p:grpSpPr>
          <a:xfrm>
            <a:off x="660397" y="1022323"/>
            <a:ext cx="6016297" cy="406451"/>
            <a:chOff x="660397" y="1022323"/>
            <a:chExt cx="6016297" cy="406451"/>
          </a:xfrm>
        </p:grpSpPr>
        <p:sp>
          <p:nvSpPr>
            <p:cNvPr id="8" name="TextBox 8"/>
            <p:cNvSpPr txBox="1"/>
            <p:nvPr/>
          </p:nvSpPr>
          <p:spPr>
            <a:xfrm>
              <a:off x="660397" y="1022323"/>
              <a:ext cx="6016297"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三级递进样本设计</a:t>
              </a:r>
              <a:r>
                <a:rPr lang="zh-CN" sz="1600" dirty="0">
                  <a:solidFill>
                    <a:srgbClr val="5A6472"/>
                  </a:solidFill>
                  <a:latin typeface="Arial"/>
                  <a:ea typeface="Microsoft YaHei"/>
                  <a:cs typeface="Arial"/>
                </a:rPr>
                <a:t xml:space="preserve"> 严格防止调参集与验证集混用</a:t>
              </a:r>
            </a:p>
          </p:txBody>
        </p:sp>
      </p:grpSp>
      <p:grpSp>
        <p:nvGrpSpPr>
          <p:cNvPr id="18" name="Group 18"/>
          <p:cNvGrpSpPr/>
          <p:nvPr/>
        </p:nvGrpSpPr>
        <p:grpSpPr>
          <a:xfrm>
            <a:off x="685800" y="1524000"/>
            <a:ext cx="3124200" cy="2552700"/>
            <a:chOff x="685800" y="1524000"/>
            <a:chExt cx="3124200" cy="2552700"/>
          </a:xfrm>
        </p:grpSpPr>
        <p:sp>
          <p:nvSpPr>
            <p:cNvPr id="10" name="Rectangle 10"/>
            <p:cNvSpPr/>
            <p:nvPr/>
          </p:nvSpPr>
          <p:spPr>
            <a:xfrm>
              <a:off x="685800" y="1524000"/>
              <a:ext cx="3124200" cy="2552700"/>
            </a:xfrm>
            <a:prstGeom prst="roundRect">
              <a:avLst>
                <a:gd name="adj" fmla="val 5970"/>
              </a:avLst>
            </a:prstGeom>
            <a:solidFill>
              <a:srgbClr val="FFFFFF"/>
            </a:solidFill>
            <a:ln w="14288">
              <a:solidFill>
                <a:srgbClr val="C8161E"/>
              </a:solidFill>
            </a:ln>
          </p:spPr>
        </p:sp>
        <p:sp>
          <p:nvSpPr>
            <p:cNvPr id="11" name="Rectangle 11"/>
            <p:cNvSpPr/>
            <p:nvPr/>
          </p:nvSpPr>
          <p:spPr>
            <a:xfrm>
              <a:off x="685800" y="1524000"/>
              <a:ext cx="3124200" cy="571500"/>
            </a:xfrm>
            <a:prstGeom prst="roundRect">
              <a:avLst>
                <a:gd name="adj" fmla="val 26667"/>
              </a:avLst>
            </a:prstGeom>
            <a:solidFill>
              <a:srgbClr val="C8161E"/>
            </a:solidFill>
            <a:ln>
              <a:noFill/>
            </a:ln>
          </p:spPr>
        </p:sp>
        <p:sp>
          <p:nvSpPr>
            <p:cNvPr id="12" name="Rectangle 12"/>
            <p:cNvSpPr/>
            <p:nvPr/>
          </p:nvSpPr>
          <p:spPr>
            <a:xfrm>
              <a:off x="685800" y="1809750"/>
              <a:ext cx="3124200" cy="285750"/>
            </a:xfrm>
            <a:prstGeom prst="rect">
              <a:avLst/>
            </a:prstGeom>
            <a:solidFill>
              <a:srgbClr val="C8161E"/>
            </a:solidFill>
            <a:ln>
              <a:noFill/>
            </a:ln>
          </p:spPr>
        </p:sp>
        <p:sp>
          <p:nvSpPr>
            <p:cNvPr id="13" name="TextBox 13"/>
            <p:cNvSpPr txBox="1"/>
            <p:nvPr/>
          </p:nvSpPr>
          <p:spPr>
            <a:xfrm>
              <a:off x="891540" y="1710690"/>
              <a:ext cx="1809941"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① 校准 / 回归集</a:t>
              </a:r>
            </a:p>
          </p:txBody>
        </p:sp>
        <p:sp>
          <p:nvSpPr>
            <p:cNvPr id="14" name="TextBox 14"/>
            <p:cNvSpPr txBox="1"/>
            <p:nvPr/>
          </p:nvSpPr>
          <p:spPr>
            <a:xfrm>
              <a:off x="876300" y="2266950"/>
              <a:ext cx="853297" cy="609600"/>
            </a:xfrm>
            <a:prstGeom prst="rect">
              <a:avLst/>
            </a:prstGeom>
            <a:noFill/>
            <a:ln>
              <a:noFill/>
            </a:ln>
          </p:spPr>
          <p:txBody>
            <a:bodyPr wrap="none" lIns="0" tIns="0" rIns="0" bIns="0" anchor="t" anchorCtr="0">
              <a:spAutoFit/>
            </a:bodyPr>
            <a:lstStyle/>
            <a:p>
              <a:pPr algn="l"/>
              <a:r>
                <a:rPr lang="zh-CN" sz="3000" b="1" dirty="0">
                  <a:solidFill>
                    <a:srgbClr val="C8161E"/>
                  </a:solidFill>
                  <a:latin typeface="Arial"/>
                  <a:ea typeface="Microsoft YaHei"/>
                  <a:cs typeface="Arial"/>
                </a:rPr>
                <a:t xml:space="preserve">3 </a:t>
              </a:r>
              <a:r>
                <a:rPr lang="zh-CN" sz="1600" b="1" dirty="0">
                  <a:solidFill>
                    <a:srgbClr val="5A6472"/>
                  </a:solidFill>
                  <a:latin typeface="Arial"/>
                  <a:ea typeface="Microsoft YaHei"/>
                  <a:cs typeface="Arial"/>
                </a:rPr>
                <a:t>篇</a:t>
              </a:r>
            </a:p>
          </p:txBody>
        </p:sp>
        <p:sp>
          <p:nvSpPr>
            <p:cNvPr id="15" name="TextBox 15"/>
            <p:cNvSpPr txBox="1"/>
            <p:nvPr/>
          </p:nvSpPr>
          <p:spPr>
            <a:xfrm>
              <a:off x="896617" y="287779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调参期间反复运行的快速</a:t>
              </a:r>
            </a:p>
          </p:txBody>
        </p:sp>
        <p:sp>
          <p:nvSpPr>
            <p:cNvPr id="16" name="TextBox 16"/>
            <p:cNvSpPr txBox="1"/>
            <p:nvPr/>
          </p:nvSpPr>
          <p:spPr>
            <a:xfrm>
              <a:off x="896617" y="3144493"/>
              <a:ext cx="78246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回归检查</a:t>
              </a:r>
            </a:p>
          </p:txBody>
        </p:sp>
        <p:sp>
          <p:nvSpPr>
            <p:cNvPr id="17" name="TextBox 17"/>
            <p:cNvSpPr txBox="1"/>
            <p:nvPr/>
          </p:nvSpPr>
          <p:spPr>
            <a:xfrm>
              <a:off x="899160" y="3604260"/>
              <a:ext cx="1838706"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佀化强 · 郑晓剑 · 杜宴林</a:t>
              </a:r>
            </a:p>
          </p:txBody>
        </p:sp>
      </p:grpSp>
      <p:grpSp>
        <p:nvGrpSpPr>
          <p:cNvPr id="27" name="Group 27"/>
          <p:cNvGrpSpPr/>
          <p:nvPr/>
        </p:nvGrpSpPr>
        <p:grpSpPr>
          <a:xfrm>
            <a:off x="4533900" y="1524000"/>
            <a:ext cx="3124200" cy="2552700"/>
            <a:chOff x="4533900" y="1524000"/>
            <a:chExt cx="3124200" cy="2552700"/>
          </a:xfrm>
        </p:grpSpPr>
        <p:sp>
          <p:nvSpPr>
            <p:cNvPr id="19" name="Rectangle 19"/>
            <p:cNvSpPr/>
            <p:nvPr/>
          </p:nvSpPr>
          <p:spPr>
            <a:xfrm>
              <a:off x="4533900" y="1524000"/>
              <a:ext cx="3124200" cy="2552700"/>
            </a:xfrm>
            <a:prstGeom prst="roundRect">
              <a:avLst>
                <a:gd name="adj" fmla="val 5970"/>
              </a:avLst>
            </a:prstGeom>
            <a:solidFill>
              <a:srgbClr val="FFFFFF"/>
            </a:solidFill>
            <a:ln w="14288">
              <a:solidFill>
                <a:srgbClr val="1F4D78"/>
              </a:solidFill>
            </a:ln>
          </p:spPr>
        </p:sp>
        <p:sp>
          <p:nvSpPr>
            <p:cNvPr id="20" name="Rectangle 20"/>
            <p:cNvSpPr/>
            <p:nvPr/>
          </p:nvSpPr>
          <p:spPr>
            <a:xfrm>
              <a:off x="4533900" y="1524000"/>
              <a:ext cx="3124200" cy="571500"/>
            </a:xfrm>
            <a:prstGeom prst="roundRect">
              <a:avLst>
                <a:gd name="adj" fmla="val 26667"/>
              </a:avLst>
            </a:prstGeom>
            <a:solidFill>
              <a:srgbClr val="1F4D78"/>
            </a:solidFill>
            <a:ln>
              <a:noFill/>
            </a:ln>
          </p:spPr>
        </p:sp>
        <p:sp>
          <p:nvSpPr>
            <p:cNvPr id="21" name="Rectangle 21"/>
            <p:cNvSpPr/>
            <p:nvPr/>
          </p:nvSpPr>
          <p:spPr>
            <a:xfrm>
              <a:off x="4533900" y="1809750"/>
              <a:ext cx="3124200" cy="285750"/>
            </a:xfrm>
            <a:prstGeom prst="rect">
              <a:avLst/>
            </a:prstGeom>
            <a:solidFill>
              <a:srgbClr val="1F4D78"/>
            </a:solidFill>
            <a:ln>
              <a:noFill/>
            </a:ln>
          </p:spPr>
        </p:sp>
        <p:sp>
          <p:nvSpPr>
            <p:cNvPr id="22" name="TextBox 22"/>
            <p:cNvSpPr txBox="1"/>
            <p:nvPr/>
          </p:nvSpPr>
          <p:spPr>
            <a:xfrm>
              <a:off x="4739640" y="1710690"/>
              <a:ext cx="1520104"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② 冻结测试集</a:t>
              </a:r>
            </a:p>
          </p:txBody>
        </p:sp>
        <p:sp>
          <p:nvSpPr>
            <p:cNvPr id="23" name="TextBox 23"/>
            <p:cNvSpPr txBox="1"/>
            <p:nvPr/>
          </p:nvSpPr>
          <p:spPr>
            <a:xfrm>
              <a:off x="4724400" y="2266950"/>
              <a:ext cx="853297" cy="609600"/>
            </a:xfrm>
            <a:prstGeom prst="rect">
              <a:avLst/>
            </a:prstGeom>
            <a:noFill/>
            <a:ln>
              <a:noFill/>
            </a:ln>
          </p:spPr>
          <p:txBody>
            <a:bodyPr wrap="none" lIns="0" tIns="0" rIns="0" bIns="0" anchor="t" anchorCtr="0">
              <a:spAutoFit/>
            </a:bodyPr>
            <a:lstStyle/>
            <a:p>
              <a:pPr algn="l"/>
              <a:r>
                <a:rPr lang="zh-CN" sz="3000" b="1" dirty="0">
                  <a:solidFill>
                    <a:srgbClr val="1F4D78"/>
                  </a:solidFill>
                  <a:latin typeface="Arial"/>
                  <a:ea typeface="Microsoft YaHei"/>
                  <a:cs typeface="Arial"/>
                </a:rPr>
                <a:t xml:space="preserve">4 </a:t>
              </a:r>
              <a:r>
                <a:rPr lang="zh-CN" sz="1600" b="1" dirty="0">
                  <a:solidFill>
                    <a:srgbClr val="5A6472"/>
                  </a:solidFill>
                  <a:latin typeface="Arial"/>
                  <a:ea typeface="Microsoft YaHei"/>
                  <a:cs typeface="Arial"/>
                </a:rPr>
                <a:t>篇</a:t>
              </a:r>
            </a:p>
          </p:txBody>
        </p:sp>
        <p:sp>
          <p:nvSpPr>
            <p:cNvPr id="24" name="TextBox 24"/>
            <p:cNvSpPr txBox="1"/>
            <p:nvPr/>
          </p:nvSpPr>
          <p:spPr>
            <a:xfrm>
              <a:off x="4744717" y="287779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调参后冻结测试，仅修复</a:t>
              </a:r>
            </a:p>
          </p:txBody>
        </p:sp>
        <p:sp>
          <p:nvSpPr>
            <p:cNvPr id="25" name="TextBox 25"/>
            <p:cNvSpPr txBox="1"/>
            <p:nvPr/>
          </p:nvSpPr>
          <p:spPr>
            <a:xfrm>
              <a:off x="4744717" y="3144493"/>
              <a:ext cx="96918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可归因问题</a:t>
              </a:r>
            </a:p>
          </p:txBody>
        </p:sp>
        <p:sp>
          <p:nvSpPr>
            <p:cNvPr id="26" name="TextBox 26"/>
            <p:cNvSpPr txBox="1"/>
            <p:nvPr/>
          </p:nvSpPr>
          <p:spPr>
            <a:xfrm>
              <a:off x="4747260" y="3604260"/>
              <a:ext cx="2342769"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马长山 · 尚海明 · 许可 · 周光权</a:t>
              </a:r>
            </a:p>
          </p:txBody>
        </p:sp>
      </p:grpSp>
      <p:grpSp>
        <p:nvGrpSpPr>
          <p:cNvPr id="36" name="Group 36"/>
          <p:cNvGrpSpPr/>
          <p:nvPr/>
        </p:nvGrpSpPr>
        <p:grpSpPr>
          <a:xfrm>
            <a:off x="8382000" y="1524000"/>
            <a:ext cx="3124200" cy="2552700"/>
            <a:chOff x="8382000" y="1524000"/>
            <a:chExt cx="3124200" cy="2552700"/>
          </a:xfrm>
        </p:grpSpPr>
        <p:sp>
          <p:nvSpPr>
            <p:cNvPr id="28" name="Rectangle 28"/>
            <p:cNvSpPr/>
            <p:nvPr/>
          </p:nvSpPr>
          <p:spPr>
            <a:xfrm>
              <a:off x="8382000" y="1524000"/>
              <a:ext cx="3124200" cy="2552700"/>
            </a:xfrm>
            <a:prstGeom prst="roundRect">
              <a:avLst>
                <a:gd name="adj" fmla="val 5970"/>
              </a:avLst>
            </a:prstGeom>
            <a:solidFill>
              <a:srgbClr val="FFFFFF"/>
            </a:solidFill>
            <a:ln w="14288">
              <a:solidFill>
                <a:srgbClr val="2E7D32"/>
              </a:solidFill>
            </a:ln>
          </p:spPr>
        </p:sp>
        <p:sp>
          <p:nvSpPr>
            <p:cNvPr id="29" name="Rectangle 29"/>
            <p:cNvSpPr/>
            <p:nvPr/>
          </p:nvSpPr>
          <p:spPr>
            <a:xfrm>
              <a:off x="8382000" y="1524000"/>
              <a:ext cx="3124200" cy="571500"/>
            </a:xfrm>
            <a:prstGeom prst="roundRect">
              <a:avLst>
                <a:gd name="adj" fmla="val 26667"/>
              </a:avLst>
            </a:prstGeom>
            <a:solidFill>
              <a:srgbClr val="2E7D32"/>
            </a:solidFill>
            <a:ln>
              <a:noFill/>
            </a:ln>
          </p:spPr>
        </p:sp>
        <p:sp>
          <p:nvSpPr>
            <p:cNvPr id="30" name="Rectangle 30"/>
            <p:cNvSpPr/>
            <p:nvPr/>
          </p:nvSpPr>
          <p:spPr>
            <a:xfrm>
              <a:off x="8382000" y="1809750"/>
              <a:ext cx="3124200" cy="285750"/>
            </a:xfrm>
            <a:prstGeom prst="rect">
              <a:avLst/>
            </a:prstGeom>
            <a:solidFill>
              <a:srgbClr val="2E7D32"/>
            </a:solidFill>
            <a:ln>
              <a:noFill/>
            </a:ln>
          </p:spPr>
        </p:sp>
        <p:sp>
          <p:nvSpPr>
            <p:cNvPr id="31" name="TextBox 31"/>
            <p:cNvSpPr txBox="1"/>
            <p:nvPr/>
          </p:nvSpPr>
          <p:spPr>
            <a:xfrm>
              <a:off x="8587740" y="1710690"/>
              <a:ext cx="1016041"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③ 验证集</a:t>
              </a:r>
            </a:p>
          </p:txBody>
        </p:sp>
        <p:sp>
          <p:nvSpPr>
            <p:cNvPr id="32" name="TextBox 32"/>
            <p:cNvSpPr txBox="1"/>
            <p:nvPr/>
          </p:nvSpPr>
          <p:spPr>
            <a:xfrm>
              <a:off x="8572500" y="2266950"/>
              <a:ext cx="853297" cy="609600"/>
            </a:xfrm>
            <a:prstGeom prst="rect">
              <a:avLst/>
            </a:prstGeom>
            <a:noFill/>
            <a:ln>
              <a:noFill/>
            </a:ln>
          </p:spPr>
          <p:txBody>
            <a:bodyPr wrap="none" lIns="0" tIns="0" rIns="0" bIns="0" anchor="t" anchorCtr="0">
              <a:spAutoFit/>
            </a:bodyPr>
            <a:lstStyle/>
            <a:p>
              <a:pPr algn="l"/>
              <a:r>
                <a:rPr lang="zh-CN" sz="3000" b="1" dirty="0">
                  <a:solidFill>
                    <a:srgbClr val="2E7D32"/>
                  </a:solidFill>
                  <a:latin typeface="Arial"/>
                  <a:ea typeface="Microsoft YaHei"/>
                  <a:cs typeface="Arial"/>
                </a:rPr>
                <a:t xml:space="preserve">8 </a:t>
              </a:r>
              <a:r>
                <a:rPr lang="zh-CN" sz="1600" b="1" dirty="0">
                  <a:solidFill>
                    <a:srgbClr val="5A6472"/>
                  </a:solidFill>
                  <a:latin typeface="Arial"/>
                  <a:ea typeface="Microsoft YaHei"/>
                  <a:cs typeface="Arial"/>
                </a:rPr>
                <a:t>篇</a:t>
              </a:r>
            </a:p>
          </p:txBody>
        </p:sp>
        <p:sp>
          <p:nvSpPr>
            <p:cNvPr id="33" name="TextBox 33"/>
            <p:cNvSpPr txBox="1"/>
            <p:nvPr/>
          </p:nvSpPr>
          <p:spPr>
            <a:xfrm>
              <a:off x="8592817" y="287779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规则冻结后一次性运行，</a:t>
              </a:r>
            </a:p>
          </p:txBody>
        </p:sp>
        <p:sp>
          <p:nvSpPr>
            <p:cNvPr id="34" name="TextBox 34"/>
            <p:cNvSpPr txBox="1"/>
            <p:nvPr/>
          </p:nvSpPr>
          <p:spPr>
            <a:xfrm>
              <a:off x="8592817" y="3144493"/>
              <a:ext cx="115590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验证泛化能力</a:t>
              </a:r>
            </a:p>
          </p:txBody>
        </p:sp>
        <p:sp>
          <p:nvSpPr>
            <p:cNvPr id="35" name="TextBox 35"/>
            <p:cNvSpPr txBox="1"/>
            <p:nvPr/>
          </p:nvSpPr>
          <p:spPr>
            <a:xfrm>
              <a:off x="8595360" y="3604260"/>
              <a:ext cx="2070735"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张凌寒 · 雷磊 · 蒋舸 等 8 篇</a:t>
              </a:r>
            </a:p>
          </p:txBody>
        </p:sp>
      </p:grpSp>
      <p:grpSp>
        <p:nvGrpSpPr>
          <p:cNvPr id="45" name="Group 45"/>
          <p:cNvGrpSpPr/>
          <p:nvPr/>
        </p:nvGrpSpPr>
        <p:grpSpPr>
          <a:xfrm>
            <a:off x="3994150" y="2749550"/>
            <a:ext cx="4203700" cy="101600"/>
            <a:chOff x="3994150" y="2749550"/>
            <a:chExt cx="4203700" cy="101600"/>
          </a:xfrm>
        </p:grpSpPr>
        <p:grpSp>
          <p:nvGrpSpPr>
            <p:cNvPr id="40" name="Group 40"/>
            <p:cNvGrpSpPr/>
            <p:nvPr/>
          </p:nvGrpSpPr>
          <p:grpSpPr>
            <a:xfrm>
              <a:off x="3994150" y="2749550"/>
              <a:ext cx="355600" cy="101600"/>
              <a:chOff x="3994150" y="2749550"/>
              <a:chExt cx="355600" cy="101600"/>
            </a:xfrm>
          </p:grpSpPr>
          <p:sp>
            <p:nvSpPr>
              <p:cNvPr id="37" name="Freeform 37"/>
              <p:cNvSpPr/>
              <p:nvPr/>
            </p:nvSpPr>
            <p:spPr>
              <a:xfrm>
                <a:off x="3994150" y="2800350"/>
                <a:ext cx="355600" cy="9525"/>
              </a:xfrm>
              <a:custGeom>
                <a:avLst/>
                <a:gdLst/>
                <a:ahLst/>
                <a:cxnLst/>
                <a:rect l="l" t="t" r="r" b="b"/>
                <a:pathLst>
                  <a:path w="355600" h="9525">
                    <a:moveTo>
                      <a:pt x="0" y="0"/>
                    </a:moveTo>
                    <a:lnTo>
                      <a:pt x="355600" y="0"/>
                    </a:lnTo>
                  </a:path>
                </a:pathLst>
              </a:custGeom>
              <a:noFill/>
              <a:ln w="19050">
                <a:solidFill>
                  <a:srgbClr val="9AA3AE"/>
                </a:solidFill>
              </a:ln>
            </p:spPr>
          </p:sp>
          <p:sp>
            <p:nvSpPr>
              <p:cNvPr id="38" name="Freeform 38"/>
              <p:cNvSpPr/>
              <p:nvPr/>
            </p:nvSpPr>
            <p:spPr>
              <a:xfrm>
                <a:off x="4248150" y="2800350"/>
                <a:ext cx="101600" cy="50800"/>
              </a:xfrm>
              <a:custGeom>
                <a:avLst/>
                <a:gdLst/>
                <a:ahLst/>
                <a:cxnLst/>
                <a:rect l="l" t="t" r="r" b="b"/>
                <a:pathLst>
                  <a:path w="101600" h="50800">
                    <a:moveTo>
                      <a:pt x="0" y="50800"/>
                    </a:moveTo>
                    <a:lnTo>
                      <a:pt x="101600" y="0"/>
                    </a:lnTo>
                  </a:path>
                </a:pathLst>
              </a:custGeom>
              <a:noFill/>
              <a:ln w="19050">
                <a:solidFill>
                  <a:srgbClr val="9AA3AE"/>
                </a:solidFill>
              </a:ln>
            </p:spPr>
          </p:sp>
          <p:sp>
            <p:nvSpPr>
              <p:cNvPr id="39" name="Freeform 39"/>
              <p:cNvSpPr/>
              <p:nvPr/>
            </p:nvSpPr>
            <p:spPr>
              <a:xfrm>
                <a:off x="4248150" y="2749550"/>
                <a:ext cx="101600" cy="50800"/>
              </a:xfrm>
              <a:custGeom>
                <a:avLst/>
                <a:gdLst/>
                <a:ahLst/>
                <a:cxnLst/>
                <a:rect l="l" t="t" r="r" b="b"/>
                <a:pathLst>
                  <a:path w="101600" h="50800">
                    <a:moveTo>
                      <a:pt x="0" y="0"/>
                    </a:moveTo>
                    <a:lnTo>
                      <a:pt x="101600" y="50800"/>
                    </a:lnTo>
                  </a:path>
                </a:pathLst>
              </a:custGeom>
              <a:noFill/>
              <a:ln w="19050">
                <a:solidFill>
                  <a:srgbClr val="9AA3AE"/>
                </a:solidFill>
              </a:ln>
            </p:spPr>
          </p:sp>
        </p:grpSp>
        <p:grpSp>
          <p:nvGrpSpPr>
            <p:cNvPr id="44" name="Group 44"/>
            <p:cNvGrpSpPr/>
            <p:nvPr/>
          </p:nvGrpSpPr>
          <p:grpSpPr>
            <a:xfrm>
              <a:off x="7842250" y="2749550"/>
              <a:ext cx="355600" cy="101600"/>
              <a:chOff x="7842250" y="2749550"/>
              <a:chExt cx="355600" cy="101600"/>
            </a:xfrm>
          </p:grpSpPr>
          <p:sp>
            <p:nvSpPr>
              <p:cNvPr id="41" name="Freeform 41"/>
              <p:cNvSpPr/>
              <p:nvPr/>
            </p:nvSpPr>
            <p:spPr>
              <a:xfrm>
                <a:off x="7842250" y="2800350"/>
                <a:ext cx="355600" cy="9525"/>
              </a:xfrm>
              <a:custGeom>
                <a:avLst/>
                <a:gdLst/>
                <a:ahLst/>
                <a:cxnLst/>
                <a:rect l="l" t="t" r="r" b="b"/>
                <a:pathLst>
                  <a:path w="355600" h="9525">
                    <a:moveTo>
                      <a:pt x="0" y="0"/>
                    </a:moveTo>
                    <a:lnTo>
                      <a:pt x="355600" y="0"/>
                    </a:lnTo>
                  </a:path>
                </a:pathLst>
              </a:custGeom>
              <a:noFill/>
              <a:ln w="19050">
                <a:solidFill>
                  <a:srgbClr val="9AA3AE"/>
                </a:solidFill>
              </a:ln>
            </p:spPr>
          </p:sp>
          <p:sp>
            <p:nvSpPr>
              <p:cNvPr id="42" name="Freeform 42"/>
              <p:cNvSpPr/>
              <p:nvPr/>
            </p:nvSpPr>
            <p:spPr>
              <a:xfrm>
                <a:off x="8096250" y="2800350"/>
                <a:ext cx="101600" cy="50800"/>
              </a:xfrm>
              <a:custGeom>
                <a:avLst/>
                <a:gdLst/>
                <a:ahLst/>
                <a:cxnLst/>
                <a:rect l="l" t="t" r="r" b="b"/>
                <a:pathLst>
                  <a:path w="101600" h="50800">
                    <a:moveTo>
                      <a:pt x="0" y="50800"/>
                    </a:moveTo>
                    <a:lnTo>
                      <a:pt x="101600" y="0"/>
                    </a:lnTo>
                  </a:path>
                </a:pathLst>
              </a:custGeom>
              <a:noFill/>
              <a:ln w="19050">
                <a:solidFill>
                  <a:srgbClr val="9AA3AE"/>
                </a:solidFill>
              </a:ln>
            </p:spPr>
          </p:sp>
          <p:sp>
            <p:nvSpPr>
              <p:cNvPr id="43" name="Freeform 43"/>
              <p:cNvSpPr/>
              <p:nvPr/>
            </p:nvSpPr>
            <p:spPr>
              <a:xfrm>
                <a:off x="8096250" y="2749550"/>
                <a:ext cx="101600" cy="50800"/>
              </a:xfrm>
              <a:custGeom>
                <a:avLst/>
                <a:gdLst/>
                <a:ahLst/>
                <a:cxnLst/>
                <a:rect l="l" t="t" r="r" b="b"/>
                <a:pathLst>
                  <a:path w="101600" h="50800">
                    <a:moveTo>
                      <a:pt x="0" y="0"/>
                    </a:moveTo>
                    <a:lnTo>
                      <a:pt x="101600" y="50800"/>
                    </a:lnTo>
                  </a:path>
                </a:pathLst>
              </a:custGeom>
              <a:noFill/>
              <a:ln w="19050">
                <a:solidFill>
                  <a:srgbClr val="9AA3AE"/>
                </a:solidFill>
              </a:ln>
            </p:spPr>
          </p:sp>
        </p:grpSp>
      </p:grpSp>
      <p:grpSp>
        <p:nvGrpSpPr>
          <p:cNvPr id="58" name="Group 58"/>
          <p:cNvGrpSpPr/>
          <p:nvPr/>
        </p:nvGrpSpPr>
        <p:grpSpPr>
          <a:xfrm>
            <a:off x="685800" y="4343400"/>
            <a:ext cx="10820400" cy="1752600"/>
            <a:chOff x="685800" y="4343400"/>
            <a:chExt cx="10820400" cy="1752600"/>
          </a:xfrm>
        </p:grpSpPr>
        <p:sp>
          <p:nvSpPr>
            <p:cNvPr id="46" name="Rectangle 46"/>
            <p:cNvSpPr/>
            <p:nvPr/>
          </p:nvSpPr>
          <p:spPr>
            <a:xfrm>
              <a:off x="685800" y="4343400"/>
              <a:ext cx="10820400" cy="1752600"/>
            </a:xfrm>
            <a:prstGeom prst="roundRect">
              <a:avLst>
                <a:gd name="adj" fmla="val 8696"/>
              </a:avLst>
            </a:prstGeom>
            <a:solidFill>
              <a:srgbClr val="E07B00">
                <a:alpha val="7000"/>
              </a:srgbClr>
            </a:solidFill>
            <a:ln w="14288">
              <a:solidFill>
                <a:srgbClr val="E07B00"/>
              </a:solidFill>
            </a:ln>
          </p:spPr>
        </p:sp>
        <p:grpSp>
          <p:nvGrpSpPr>
            <p:cNvPr id="50" name="Group 50"/>
            <p:cNvGrpSpPr/>
            <p:nvPr/>
          </p:nvGrpSpPr>
          <p:grpSpPr>
            <a:xfrm>
              <a:off x="978339" y="4646098"/>
              <a:ext cx="272162" cy="233823"/>
              <a:chOff x="978339" y="4646098"/>
              <a:chExt cx="272162" cy="233823"/>
            </a:xfrm>
          </p:grpSpPr>
          <p:sp>
            <p:nvSpPr>
              <p:cNvPr id="47" name="Freeform 47"/>
              <p:cNvSpPr/>
              <p:nvPr/>
            </p:nvSpPr>
            <p:spPr>
              <a:xfrm>
                <a:off x="1114425" y="4731544"/>
                <a:ext cx="9525" cy="53975"/>
              </a:xfrm>
              <a:custGeom>
                <a:avLst/>
                <a:gdLst/>
                <a:ahLst/>
                <a:cxnLst/>
                <a:rect l="l" t="t" r="r" b="b"/>
                <a:pathLst>
                  <a:path w="9525" h="53975">
                    <a:moveTo>
                      <a:pt x="0" y="0"/>
                    </a:moveTo>
                    <a:lnTo>
                      <a:pt x="0" y="53975"/>
                    </a:lnTo>
                  </a:path>
                </a:pathLst>
              </a:custGeom>
              <a:noFill/>
              <a:ln w="19050">
                <a:solidFill>
                  <a:srgbClr val="E07B00"/>
                </a:solidFill>
              </a:ln>
            </p:spPr>
          </p:sp>
          <p:sp>
            <p:nvSpPr>
              <p:cNvPr id="48" name="Freeform 48"/>
              <p:cNvSpPr/>
              <p:nvPr/>
            </p:nvSpPr>
            <p:spPr>
              <a:xfrm>
                <a:off x="978339" y="4646098"/>
                <a:ext cx="272162" cy="233823"/>
              </a:xfrm>
              <a:custGeom>
                <a:avLst/>
                <a:gdLst/>
                <a:ahLst/>
                <a:cxnLst/>
                <a:rect l="l" t="t" r="r" b="b"/>
                <a:pathLst>
                  <a:path w="272162" h="233823">
                    <a:moveTo>
                      <a:pt x="113997" y="12458"/>
                    </a:moveTo>
                    <a:lnTo>
                      <a:pt x="4616" y="195082"/>
                    </a:lnTo>
                    <a:cubicBezTo>
                      <a:pt x="28" y="203028"/>
                      <a:pt x="0" y="212812"/>
                      <a:pt x="4543" y="220784"/>
                    </a:cubicBezTo>
                    <a:cubicBezTo>
                      <a:pt x="9086" y="228756"/>
                      <a:pt x="17517" y="233720"/>
                      <a:pt x="26692" y="233823"/>
                    </a:cubicBezTo>
                    <a:lnTo>
                      <a:pt x="245480" y="233823"/>
                    </a:lnTo>
                    <a:cubicBezTo>
                      <a:pt x="254651" y="233717"/>
                      <a:pt x="263078" y="228755"/>
                      <a:pt x="267620" y="220788"/>
                    </a:cubicBezTo>
                    <a:cubicBezTo>
                      <a:pt x="272162" y="212820"/>
                      <a:pt x="272137" y="203041"/>
                      <a:pt x="267556" y="195096"/>
                    </a:cubicBezTo>
                    <a:lnTo>
                      <a:pt x="158175" y="12444"/>
                    </a:lnTo>
                    <a:cubicBezTo>
                      <a:pt x="153495" y="4719"/>
                      <a:pt x="145119" y="0"/>
                      <a:pt x="136086" y="0"/>
                    </a:cubicBezTo>
                    <a:cubicBezTo>
                      <a:pt x="127053" y="0"/>
                      <a:pt x="118677" y="4719"/>
                      <a:pt x="113997" y="12444"/>
                    </a:cubicBezTo>
                  </a:path>
                </a:pathLst>
              </a:custGeom>
              <a:noFill/>
              <a:ln w="19050">
                <a:solidFill>
                  <a:srgbClr val="E07B00"/>
                </a:solidFill>
              </a:ln>
            </p:spPr>
          </p:sp>
          <p:sp>
            <p:nvSpPr>
              <p:cNvPr id="49" name="Freeform 49"/>
              <p:cNvSpPr/>
              <p:nvPr/>
            </p:nvSpPr>
            <p:spPr>
              <a:xfrm>
                <a:off x="1114425" y="4826000"/>
                <a:ext cx="9525" cy="9525"/>
              </a:xfrm>
              <a:custGeom>
                <a:avLst/>
                <a:gdLst/>
                <a:ahLst/>
                <a:cxnLst/>
                <a:rect l="l" t="t" r="r" b="b"/>
                <a:pathLst>
                  <a:path w="9525" h="9525">
                    <a:moveTo>
                      <a:pt x="0" y="0"/>
                    </a:moveTo>
                    <a:lnTo>
                      <a:pt x="135" y="0"/>
                    </a:lnTo>
                  </a:path>
                </a:pathLst>
              </a:custGeom>
              <a:noFill/>
              <a:ln w="19050">
                <a:solidFill>
                  <a:srgbClr val="E07B00"/>
                </a:solidFill>
              </a:ln>
            </p:spPr>
          </p:sp>
        </p:grpSp>
        <p:sp>
          <p:nvSpPr>
            <p:cNvPr id="51" name="TextBox 51"/>
            <p:cNvSpPr txBox="1"/>
            <p:nvPr/>
          </p:nvSpPr>
          <p:spPr>
            <a:xfrm>
              <a:off x="1384297" y="4660873"/>
              <a:ext cx="2697468"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 xml:space="preserve">专家标注负样本 </a:t>
              </a:r>
              <a:r>
                <a:rPr lang="zh-CN" sz="2000" b="1" dirty="0">
                  <a:solidFill>
                    <a:srgbClr val="E07B00"/>
                  </a:solidFill>
                  <a:latin typeface="Arial"/>
                  <a:ea typeface="Microsoft YaHei"/>
                  <a:cs typeface="Arial"/>
                </a:rPr>
                <a:t>13 篇</a:t>
              </a:r>
            </a:p>
          </p:txBody>
        </p:sp>
        <p:sp>
          <p:nvSpPr>
            <p:cNvPr id="52" name="TextBox 52"/>
            <p:cNvSpPr txBox="1"/>
            <p:nvPr/>
          </p:nvSpPr>
          <p:spPr>
            <a:xfrm>
              <a:off x="972817" y="5144743"/>
              <a:ext cx="507709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每篇附专家逐维度书面意见，用于验证框架的负面识别能力。</a:t>
              </a:r>
            </a:p>
          </p:txBody>
        </p:sp>
        <p:sp>
          <p:nvSpPr>
            <p:cNvPr id="53" name="Rectangle 53"/>
            <p:cNvSpPr/>
            <p:nvPr/>
          </p:nvSpPr>
          <p:spPr>
            <a:xfrm>
              <a:off x="990600" y="5543550"/>
              <a:ext cx="4000500" cy="419100"/>
            </a:xfrm>
            <a:prstGeom prst="roundRect">
              <a:avLst>
                <a:gd name="adj" fmla="val 50000"/>
              </a:avLst>
            </a:prstGeom>
            <a:solidFill>
              <a:srgbClr val="2E7D32">
                <a:alpha val="12000"/>
              </a:srgbClr>
            </a:solidFill>
            <a:ln>
              <a:noFill/>
            </a:ln>
          </p:spPr>
        </p:sp>
        <p:sp>
          <p:nvSpPr>
            <p:cNvPr id="54" name="TextBox 54"/>
            <p:cNvSpPr txBox="1"/>
            <p:nvPr/>
          </p:nvSpPr>
          <p:spPr>
            <a:xfrm>
              <a:off x="1201417" y="5659093"/>
              <a:ext cx="2839217" cy="284531"/>
            </a:xfrm>
            <a:prstGeom prst="rect">
              <a:avLst/>
            </a:prstGeom>
            <a:noFill/>
            <a:ln>
              <a:noFill/>
            </a:ln>
          </p:spPr>
          <p:txBody>
            <a:bodyPr wrap="none" lIns="0" tIns="0" rIns="0" bIns="0" anchor="t" anchorCtr="0">
              <a:spAutoFit/>
            </a:bodyPr>
            <a:lstStyle/>
            <a:p>
              <a:pPr algn="l"/>
              <a:r>
                <a:rPr lang="zh-CN" sz="1400" b="1" dirty="0">
                  <a:solidFill>
                    <a:srgbClr val="2E7D32"/>
                  </a:solidFill>
                  <a:latin typeface="Arial"/>
                  <a:ea typeface="Microsoft YaHei"/>
                  <a:cs typeface="Arial"/>
                </a:rPr>
                <a:t>正样本蒋红珍 91.1 分（未误伤）</a:t>
              </a:r>
            </a:p>
          </p:txBody>
        </p:sp>
        <p:sp>
          <p:nvSpPr>
            <p:cNvPr id="55" name="Rectangle 55"/>
            <p:cNvSpPr/>
            <p:nvPr/>
          </p:nvSpPr>
          <p:spPr>
            <a:xfrm>
              <a:off x="5219700" y="5543550"/>
              <a:ext cx="4381500" cy="419100"/>
            </a:xfrm>
            <a:prstGeom prst="roundRect">
              <a:avLst>
                <a:gd name="adj" fmla="val 50000"/>
              </a:avLst>
            </a:prstGeom>
            <a:solidFill>
              <a:srgbClr val="C8161E">
                <a:alpha val="10000"/>
              </a:srgbClr>
            </a:solidFill>
            <a:ln>
              <a:noFill/>
            </a:ln>
          </p:spPr>
        </p:sp>
        <p:sp>
          <p:nvSpPr>
            <p:cNvPr id="56" name="TextBox 56"/>
            <p:cNvSpPr txBox="1"/>
            <p:nvPr/>
          </p:nvSpPr>
          <p:spPr>
            <a:xfrm>
              <a:off x="5430517" y="5659093"/>
              <a:ext cx="2966656" cy="284531"/>
            </a:xfrm>
            <a:prstGeom prst="rect">
              <a:avLst/>
            </a:prstGeom>
            <a:noFill/>
            <a:ln>
              <a:noFill/>
            </a:ln>
          </p:spPr>
          <p:txBody>
            <a:bodyPr wrap="none" lIns="0" tIns="0" rIns="0" bIns="0" anchor="t" anchorCtr="0">
              <a:spAutoFit/>
            </a:bodyPr>
            <a:lstStyle/>
            <a:p>
              <a:pPr algn="l"/>
              <a:r>
                <a:rPr lang="zh-CN" sz="1400" b="1" dirty="0">
                  <a:solidFill>
                    <a:srgbClr val="C8161E"/>
                  </a:solidFill>
                  <a:latin typeface="Arial"/>
                  <a:ea typeface="Microsoft YaHei"/>
                  <a:cs typeface="Arial"/>
                </a:rPr>
                <a:t>有效识别 4 篇，正负差距 22.0 分</a:t>
              </a:r>
            </a:p>
          </p:txBody>
        </p:sp>
        <p:sp>
          <p:nvSpPr>
            <p:cNvPr id="57" name="TextBox 57"/>
            <p:cNvSpPr txBox="1"/>
            <p:nvPr/>
          </p:nvSpPr>
          <p:spPr>
            <a:xfrm>
              <a:off x="10118217" y="5680710"/>
              <a:ext cx="1174623" cy="243840"/>
            </a:xfrm>
            <a:prstGeom prst="rect">
              <a:avLst/>
            </a:prstGeom>
            <a:noFill/>
            <a:ln>
              <a:noFill/>
            </a:ln>
          </p:spPr>
          <p:txBody>
            <a:bodyPr wrap="none" lIns="0" tIns="0" rIns="0" bIns="0" anchor="t" anchorCtr="0">
              <a:spAutoFit/>
            </a:bodyPr>
            <a:lstStyle/>
            <a:p>
              <a:pPr algn="r"/>
              <a:r>
                <a:rPr lang="zh-CN" sz="1200" dirty="0">
                  <a:solidFill>
                    <a:srgbClr val="9AA3AE"/>
                  </a:solidFill>
                  <a:latin typeface="Arial"/>
                  <a:ea typeface="Microsoft YaHei"/>
                  <a:cs typeface="Arial"/>
                </a:rPr>
                <a:t>初始 3 + 补充 10</a:t>
              </a:r>
            </a:p>
          </p:txBody>
        </p:sp>
      </p:grpSp>
      <p:grpSp>
        <p:nvGrpSpPr>
          <p:cNvPr id="62" name="Group 62"/>
          <p:cNvGrpSpPr/>
          <p:nvPr/>
        </p:nvGrpSpPr>
        <p:grpSpPr>
          <a:xfrm>
            <a:off x="0" y="6516343"/>
            <a:ext cx="12192000" cy="341657"/>
            <a:chOff x="0" y="6516343"/>
            <a:chExt cx="12192000" cy="341657"/>
          </a:xfrm>
        </p:grpSpPr>
        <p:sp>
          <p:nvSpPr>
            <p:cNvPr id="59" name="Rectangle 59"/>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60" name="TextBox 60"/>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1" name="TextBox 61"/>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image">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400"/>
                                        <p:tgtEl>
                                          <p:spTgt spid="27"/>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400"/>
                                        <p:tgtEl>
                                          <p:spTgt spid="3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slide(fromBottom)">
                                      <p:cBhvr>
                                        <p:cTn id="23" dur="400"/>
                                        <p:tgtEl>
                                          <p:spTgt spid="45"/>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image">
                                      <p:cBhvr>
                                        <p:cTn id="2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27" grpId="0"/>
      <p:bldP spid="36" grpId="0"/>
      <p:bldP spid="45"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81521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四阶段评审流程</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9" name="Group 9"/>
          <p:cNvGrpSpPr/>
          <p:nvPr/>
        </p:nvGrpSpPr>
        <p:grpSpPr>
          <a:xfrm>
            <a:off x="3028950" y="1733550"/>
            <a:ext cx="9525" cy="3848100"/>
            <a:chOff x="3028950" y="1733550"/>
            <a:chExt cx="9525" cy="3848100"/>
          </a:xfrm>
        </p:grpSpPr>
        <p:sp>
          <p:nvSpPr>
            <p:cNvPr id="8" name="Line 8"/>
            <p:cNvSpPr/>
            <p:nvPr/>
          </p:nvSpPr>
          <p:spPr>
            <a:xfrm>
              <a:off x="3028950" y="1733550"/>
              <a:ext cx="9525" cy="3848100"/>
            </a:xfrm>
            <a:custGeom>
              <a:avLst/>
              <a:gdLst/>
              <a:ahLst/>
              <a:cxnLst/>
              <a:rect l="l" t="t" r="r" b="b"/>
              <a:pathLst>
                <a:path w="9525" h="3848100">
                  <a:moveTo>
                    <a:pt x="0" y="0"/>
                  </a:moveTo>
                  <a:lnTo>
                    <a:pt x="0" y="3848100"/>
                  </a:lnTo>
                </a:path>
              </a:pathLst>
            </a:custGeom>
            <a:noFill/>
            <a:ln w="19050">
              <a:solidFill>
                <a:srgbClr val="D9DEE5"/>
              </a:solidFill>
            </a:ln>
          </p:spPr>
        </p:sp>
      </p:grpSp>
      <p:grpSp>
        <p:nvGrpSpPr>
          <p:cNvPr id="22" name="Group 22"/>
          <p:cNvGrpSpPr/>
          <p:nvPr/>
        </p:nvGrpSpPr>
        <p:grpSpPr>
          <a:xfrm>
            <a:off x="2984500" y="2379662"/>
            <a:ext cx="88900" cy="2632076"/>
            <a:chOff x="2984500" y="2379662"/>
            <a:chExt cx="88900" cy="2632076"/>
          </a:xfrm>
        </p:grpSpPr>
        <p:grpSp>
          <p:nvGrpSpPr>
            <p:cNvPr id="13" name="Group 13"/>
            <p:cNvGrpSpPr/>
            <p:nvPr/>
          </p:nvGrpSpPr>
          <p:grpSpPr>
            <a:xfrm>
              <a:off x="2984500" y="2379662"/>
              <a:ext cx="88900" cy="155576"/>
              <a:chOff x="2984500" y="2379662"/>
              <a:chExt cx="88900" cy="155576"/>
            </a:xfrm>
          </p:grpSpPr>
          <p:sp>
            <p:nvSpPr>
              <p:cNvPr id="10" name="Freeform 10"/>
              <p:cNvSpPr/>
              <p:nvPr/>
            </p:nvSpPr>
            <p:spPr>
              <a:xfrm>
                <a:off x="3028950" y="2379662"/>
                <a:ext cx="9525" cy="155575"/>
              </a:xfrm>
              <a:custGeom>
                <a:avLst/>
                <a:gdLst/>
                <a:ahLst/>
                <a:cxnLst/>
                <a:rect l="l" t="t" r="r" b="b"/>
                <a:pathLst>
                  <a:path w="9525" h="155575">
                    <a:moveTo>
                      <a:pt x="0" y="0"/>
                    </a:moveTo>
                    <a:lnTo>
                      <a:pt x="0" y="155575"/>
                    </a:lnTo>
                  </a:path>
                </a:pathLst>
              </a:custGeom>
              <a:noFill/>
              <a:ln w="19050">
                <a:solidFill>
                  <a:srgbClr val="9AA3AE"/>
                </a:solidFill>
              </a:ln>
            </p:spPr>
          </p:sp>
          <p:sp>
            <p:nvSpPr>
              <p:cNvPr id="11" name="Freeform 11"/>
              <p:cNvSpPr/>
              <p:nvPr/>
            </p:nvSpPr>
            <p:spPr>
              <a:xfrm>
                <a:off x="3028950" y="2490788"/>
                <a:ext cx="44450" cy="44450"/>
              </a:xfrm>
              <a:custGeom>
                <a:avLst/>
                <a:gdLst/>
                <a:ahLst/>
                <a:cxnLst/>
                <a:rect l="l" t="t" r="r" b="b"/>
                <a:pathLst>
                  <a:path w="44450" h="44450">
                    <a:moveTo>
                      <a:pt x="44450" y="0"/>
                    </a:moveTo>
                    <a:lnTo>
                      <a:pt x="0" y="44450"/>
                    </a:lnTo>
                  </a:path>
                </a:pathLst>
              </a:custGeom>
              <a:noFill/>
              <a:ln w="19050">
                <a:solidFill>
                  <a:srgbClr val="9AA3AE"/>
                </a:solidFill>
              </a:ln>
            </p:spPr>
          </p:sp>
          <p:sp>
            <p:nvSpPr>
              <p:cNvPr id="12" name="Freeform 12"/>
              <p:cNvSpPr/>
              <p:nvPr/>
            </p:nvSpPr>
            <p:spPr>
              <a:xfrm>
                <a:off x="2984500" y="2490788"/>
                <a:ext cx="44450" cy="44450"/>
              </a:xfrm>
              <a:custGeom>
                <a:avLst/>
                <a:gdLst/>
                <a:ahLst/>
                <a:cxnLst/>
                <a:rect l="l" t="t" r="r" b="b"/>
                <a:pathLst>
                  <a:path w="44450" h="44450">
                    <a:moveTo>
                      <a:pt x="0" y="0"/>
                    </a:moveTo>
                    <a:lnTo>
                      <a:pt x="44450" y="44450"/>
                    </a:lnTo>
                  </a:path>
                </a:pathLst>
              </a:custGeom>
              <a:noFill/>
              <a:ln w="19050">
                <a:solidFill>
                  <a:srgbClr val="9AA3AE"/>
                </a:solidFill>
              </a:ln>
            </p:spPr>
          </p:sp>
        </p:grpSp>
        <p:grpSp>
          <p:nvGrpSpPr>
            <p:cNvPr id="17" name="Group 17"/>
            <p:cNvGrpSpPr/>
            <p:nvPr/>
          </p:nvGrpSpPr>
          <p:grpSpPr>
            <a:xfrm>
              <a:off x="2984500" y="3617912"/>
              <a:ext cx="88900" cy="155576"/>
              <a:chOff x="2984500" y="3617912"/>
              <a:chExt cx="88900" cy="155576"/>
            </a:xfrm>
          </p:grpSpPr>
          <p:sp>
            <p:nvSpPr>
              <p:cNvPr id="14" name="Freeform 14"/>
              <p:cNvSpPr/>
              <p:nvPr/>
            </p:nvSpPr>
            <p:spPr>
              <a:xfrm>
                <a:off x="3028950" y="3617912"/>
                <a:ext cx="9525" cy="155575"/>
              </a:xfrm>
              <a:custGeom>
                <a:avLst/>
                <a:gdLst/>
                <a:ahLst/>
                <a:cxnLst/>
                <a:rect l="l" t="t" r="r" b="b"/>
                <a:pathLst>
                  <a:path w="9525" h="155575">
                    <a:moveTo>
                      <a:pt x="0" y="0"/>
                    </a:moveTo>
                    <a:lnTo>
                      <a:pt x="0" y="155575"/>
                    </a:lnTo>
                  </a:path>
                </a:pathLst>
              </a:custGeom>
              <a:noFill/>
              <a:ln w="19050">
                <a:solidFill>
                  <a:srgbClr val="9AA3AE"/>
                </a:solidFill>
              </a:ln>
            </p:spPr>
          </p:sp>
          <p:sp>
            <p:nvSpPr>
              <p:cNvPr id="15" name="Freeform 15"/>
              <p:cNvSpPr/>
              <p:nvPr/>
            </p:nvSpPr>
            <p:spPr>
              <a:xfrm>
                <a:off x="3028950" y="3729038"/>
                <a:ext cx="44450" cy="44450"/>
              </a:xfrm>
              <a:custGeom>
                <a:avLst/>
                <a:gdLst/>
                <a:ahLst/>
                <a:cxnLst/>
                <a:rect l="l" t="t" r="r" b="b"/>
                <a:pathLst>
                  <a:path w="44450" h="44450">
                    <a:moveTo>
                      <a:pt x="44450" y="0"/>
                    </a:moveTo>
                    <a:lnTo>
                      <a:pt x="0" y="44450"/>
                    </a:lnTo>
                  </a:path>
                </a:pathLst>
              </a:custGeom>
              <a:noFill/>
              <a:ln w="19050">
                <a:solidFill>
                  <a:srgbClr val="9AA3AE"/>
                </a:solidFill>
              </a:ln>
            </p:spPr>
          </p:sp>
          <p:sp>
            <p:nvSpPr>
              <p:cNvPr id="16" name="Freeform 16"/>
              <p:cNvSpPr/>
              <p:nvPr/>
            </p:nvSpPr>
            <p:spPr>
              <a:xfrm>
                <a:off x="2984500" y="3729038"/>
                <a:ext cx="44450" cy="44450"/>
              </a:xfrm>
              <a:custGeom>
                <a:avLst/>
                <a:gdLst/>
                <a:ahLst/>
                <a:cxnLst/>
                <a:rect l="l" t="t" r="r" b="b"/>
                <a:pathLst>
                  <a:path w="44450" h="44450">
                    <a:moveTo>
                      <a:pt x="0" y="0"/>
                    </a:moveTo>
                    <a:lnTo>
                      <a:pt x="44450" y="44450"/>
                    </a:lnTo>
                  </a:path>
                </a:pathLst>
              </a:custGeom>
              <a:noFill/>
              <a:ln w="19050">
                <a:solidFill>
                  <a:srgbClr val="9AA3AE"/>
                </a:solidFill>
              </a:ln>
            </p:spPr>
          </p:sp>
        </p:grpSp>
        <p:grpSp>
          <p:nvGrpSpPr>
            <p:cNvPr id="21" name="Group 21"/>
            <p:cNvGrpSpPr/>
            <p:nvPr/>
          </p:nvGrpSpPr>
          <p:grpSpPr>
            <a:xfrm>
              <a:off x="2984500" y="4856162"/>
              <a:ext cx="88900" cy="155576"/>
              <a:chOff x="2984500" y="4856162"/>
              <a:chExt cx="88900" cy="155576"/>
            </a:xfrm>
          </p:grpSpPr>
          <p:sp>
            <p:nvSpPr>
              <p:cNvPr id="18" name="Freeform 18"/>
              <p:cNvSpPr/>
              <p:nvPr/>
            </p:nvSpPr>
            <p:spPr>
              <a:xfrm>
                <a:off x="3028950" y="4856162"/>
                <a:ext cx="9525" cy="155575"/>
              </a:xfrm>
              <a:custGeom>
                <a:avLst/>
                <a:gdLst/>
                <a:ahLst/>
                <a:cxnLst/>
                <a:rect l="l" t="t" r="r" b="b"/>
                <a:pathLst>
                  <a:path w="9525" h="155575">
                    <a:moveTo>
                      <a:pt x="0" y="0"/>
                    </a:moveTo>
                    <a:lnTo>
                      <a:pt x="0" y="155575"/>
                    </a:lnTo>
                  </a:path>
                </a:pathLst>
              </a:custGeom>
              <a:noFill/>
              <a:ln w="19050">
                <a:solidFill>
                  <a:srgbClr val="9AA3AE"/>
                </a:solidFill>
              </a:ln>
            </p:spPr>
          </p:sp>
          <p:sp>
            <p:nvSpPr>
              <p:cNvPr id="19" name="Freeform 19"/>
              <p:cNvSpPr/>
              <p:nvPr/>
            </p:nvSpPr>
            <p:spPr>
              <a:xfrm>
                <a:off x="3028950" y="4967288"/>
                <a:ext cx="44450" cy="44450"/>
              </a:xfrm>
              <a:custGeom>
                <a:avLst/>
                <a:gdLst/>
                <a:ahLst/>
                <a:cxnLst/>
                <a:rect l="l" t="t" r="r" b="b"/>
                <a:pathLst>
                  <a:path w="44450" h="44450">
                    <a:moveTo>
                      <a:pt x="44450" y="0"/>
                    </a:moveTo>
                    <a:lnTo>
                      <a:pt x="0" y="44450"/>
                    </a:lnTo>
                  </a:path>
                </a:pathLst>
              </a:custGeom>
              <a:noFill/>
              <a:ln w="19050">
                <a:solidFill>
                  <a:srgbClr val="9AA3AE"/>
                </a:solidFill>
              </a:ln>
            </p:spPr>
          </p:sp>
          <p:sp>
            <p:nvSpPr>
              <p:cNvPr id="20" name="Freeform 20"/>
              <p:cNvSpPr/>
              <p:nvPr/>
            </p:nvSpPr>
            <p:spPr>
              <a:xfrm>
                <a:off x="2984500" y="4967288"/>
                <a:ext cx="44450" cy="44450"/>
              </a:xfrm>
              <a:custGeom>
                <a:avLst/>
                <a:gdLst/>
                <a:ahLst/>
                <a:cxnLst/>
                <a:rect l="l" t="t" r="r" b="b"/>
                <a:pathLst>
                  <a:path w="44450" h="44450">
                    <a:moveTo>
                      <a:pt x="0" y="0"/>
                    </a:moveTo>
                    <a:lnTo>
                      <a:pt x="44450" y="44450"/>
                    </a:lnTo>
                  </a:path>
                </a:pathLst>
              </a:custGeom>
              <a:noFill/>
              <a:ln w="19050">
                <a:solidFill>
                  <a:srgbClr val="9AA3AE"/>
                </a:solidFill>
              </a:ln>
            </p:spPr>
          </p:sp>
        </p:grpSp>
      </p:grpSp>
      <p:grpSp>
        <p:nvGrpSpPr>
          <p:cNvPr id="33" name="Group 33"/>
          <p:cNvGrpSpPr/>
          <p:nvPr/>
        </p:nvGrpSpPr>
        <p:grpSpPr>
          <a:xfrm>
            <a:off x="2476500" y="1238250"/>
            <a:ext cx="7239000" cy="1066800"/>
            <a:chOff x="2476500" y="1238250"/>
            <a:chExt cx="7239000" cy="1066800"/>
          </a:xfrm>
        </p:grpSpPr>
        <p:sp>
          <p:nvSpPr>
            <p:cNvPr id="23" name="Rectangle 23"/>
            <p:cNvSpPr/>
            <p:nvPr/>
          </p:nvSpPr>
          <p:spPr>
            <a:xfrm>
              <a:off x="2476500" y="1238250"/>
              <a:ext cx="7239000" cy="1066800"/>
            </a:xfrm>
            <a:prstGeom prst="roundRect">
              <a:avLst>
                <a:gd name="adj" fmla="val 14286"/>
              </a:avLst>
            </a:prstGeom>
            <a:solidFill>
              <a:srgbClr val="FFFFFF"/>
            </a:solidFill>
            <a:ln w="14288">
              <a:solidFill>
                <a:srgbClr val="D9DEE5"/>
              </a:solidFill>
            </a:ln>
          </p:spPr>
        </p:sp>
        <p:sp>
          <p:nvSpPr>
            <p:cNvPr id="24" name="Rectangle 24"/>
            <p:cNvSpPr/>
            <p:nvPr/>
          </p:nvSpPr>
          <p:spPr>
            <a:xfrm>
              <a:off x="2628900" y="1352550"/>
              <a:ext cx="838200" cy="838200"/>
            </a:xfrm>
            <a:prstGeom prst="roundRect">
              <a:avLst>
                <a:gd name="adj" fmla="val 15909"/>
              </a:avLst>
            </a:prstGeom>
            <a:solidFill>
              <a:srgbClr val="C8161E"/>
            </a:solidFill>
            <a:ln>
              <a:noFill/>
            </a:ln>
          </p:spPr>
        </p:sp>
        <p:grpSp>
          <p:nvGrpSpPr>
            <p:cNvPr id="27" name="Group 27"/>
            <p:cNvGrpSpPr/>
            <p:nvPr/>
          </p:nvGrpSpPr>
          <p:grpSpPr>
            <a:xfrm>
              <a:off x="2895600" y="1543050"/>
              <a:ext cx="242887" cy="242888"/>
              <a:chOff x="2895600" y="1543050"/>
              <a:chExt cx="242887" cy="242888"/>
            </a:xfrm>
          </p:grpSpPr>
          <p:sp>
            <p:nvSpPr>
              <p:cNvPr id="25" name="Freeform 25"/>
              <p:cNvSpPr/>
              <p:nvPr/>
            </p:nvSpPr>
            <p:spPr>
              <a:xfrm>
                <a:off x="2895600" y="1543050"/>
                <a:ext cx="228600" cy="242888"/>
              </a:xfrm>
              <a:custGeom>
                <a:avLst/>
                <a:gdLst/>
                <a:ahLst/>
                <a:cxnLst/>
                <a:rect l="l" t="t" r="r" b="b"/>
                <a:pathLst>
                  <a:path w="228600" h="242888">
                    <a:moveTo>
                      <a:pt x="102584" y="232515"/>
                    </a:moveTo>
                    <a:lnTo>
                      <a:pt x="71438" y="242888"/>
                    </a:lnTo>
                    <a:lnTo>
                      <a:pt x="71438" y="121444"/>
                    </a:lnTo>
                    <a:lnTo>
                      <a:pt x="7429" y="51035"/>
                    </a:lnTo>
                    <a:cubicBezTo>
                      <a:pt x="2650" y="45776"/>
                      <a:pt x="1" y="38925"/>
                      <a:pt x="0" y="31818"/>
                    </a:cubicBezTo>
                    <a:lnTo>
                      <a:pt x="0" y="0"/>
                    </a:lnTo>
                    <a:lnTo>
                      <a:pt x="228600" y="0"/>
                    </a:lnTo>
                    <a:lnTo>
                      <a:pt x="228600" y="31032"/>
                    </a:lnTo>
                    <a:cubicBezTo>
                      <a:pt x="228598" y="38610"/>
                      <a:pt x="225587" y="45877"/>
                      <a:pt x="220228" y="51235"/>
                    </a:cubicBezTo>
                    <a:lnTo>
                      <a:pt x="157162" y="114300"/>
                    </a:lnTo>
                    <a:lnTo>
                      <a:pt x="157162" y="157162"/>
                    </a:lnTo>
                  </a:path>
                </a:pathLst>
              </a:custGeom>
              <a:noFill/>
              <a:ln w="19050">
                <a:solidFill>
                  <a:srgbClr val="FFFFFF"/>
                </a:solidFill>
              </a:ln>
            </p:spPr>
          </p:sp>
          <p:sp>
            <p:nvSpPr>
              <p:cNvPr id="26" name="Freeform 26"/>
              <p:cNvSpPr/>
              <p:nvPr/>
            </p:nvSpPr>
            <p:spPr>
              <a:xfrm>
                <a:off x="3052762" y="17287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grpSp>
        <p:sp>
          <p:nvSpPr>
            <p:cNvPr id="28" name="TextBox 28"/>
            <p:cNvSpPr txBox="1"/>
            <p:nvPr/>
          </p:nvSpPr>
          <p:spPr>
            <a:xfrm>
              <a:off x="2780728" y="196596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阶段一</a:t>
              </a:r>
            </a:p>
          </p:txBody>
        </p:sp>
        <p:sp>
          <p:nvSpPr>
            <p:cNvPr id="29" name="TextBox 29"/>
            <p:cNvSpPr txBox="1"/>
            <p:nvPr/>
          </p:nvSpPr>
          <p:spPr>
            <a:xfrm>
              <a:off x="3783330" y="1468755"/>
              <a:ext cx="2743776" cy="426720"/>
            </a:xfrm>
            <a:prstGeom prst="rect">
              <a:avLst/>
            </a:prstGeom>
            <a:noFill/>
            <a:ln>
              <a:noFill/>
            </a:ln>
          </p:spPr>
          <p:txBody>
            <a:bodyPr wrap="none" lIns="0" tIns="0" rIns="0" bIns="0" anchor="t" anchorCtr="0">
              <a:spAutoFit/>
            </a:bodyPr>
            <a:lstStyle/>
            <a:p>
              <a:pPr algn="l"/>
              <a:r>
                <a:rPr lang="zh-CN" sz="2100" b="1" dirty="0">
                  <a:solidFill>
                    <a:srgbClr val="1B1C21"/>
                  </a:solidFill>
                  <a:latin typeface="Arial"/>
                  <a:ea typeface="Microsoft YaHei"/>
                  <a:cs typeface="Arial"/>
                </a:rPr>
                <a:t>预检 · 项目口径判断</a:t>
              </a:r>
            </a:p>
          </p:txBody>
        </p:sp>
        <p:sp>
          <p:nvSpPr>
            <p:cNvPr id="30" name="TextBox 30"/>
            <p:cNvSpPr txBox="1"/>
            <p:nvPr/>
          </p:nvSpPr>
          <p:spPr>
            <a:xfrm>
              <a:off x="3792217" y="1887193"/>
              <a:ext cx="382605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门槛判断：进入评分 / 边界复核 / 明显不适格</a:t>
              </a:r>
            </a:p>
          </p:txBody>
        </p:sp>
        <p:sp>
          <p:nvSpPr>
            <p:cNvPr id="31" name="Rectangle 31"/>
            <p:cNvSpPr/>
            <p:nvPr/>
          </p:nvSpPr>
          <p:spPr>
            <a:xfrm>
              <a:off x="8096250" y="1581150"/>
              <a:ext cx="1466850" cy="419100"/>
            </a:xfrm>
            <a:prstGeom prst="roundRect">
              <a:avLst>
                <a:gd name="adj" fmla="val 50000"/>
              </a:avLst>
            </a:prstGeom>
            <a:solidFill>
              <a:srgbClr val="C8161E">
                <a:alpha val="10000"/>
              </a:srgbClr>
            </a:solidFill>
            <a:ln>
              <a:noFill/>
            </a:ln>
          </p:spPr>
        </p:sp>
        <p:sp>
          <p:nvSpPr>
            <p:cNvPr id="32" name="TextBox 32"/>
            <p:cNvSpPr txBox="1"/>
            <p:nvPr/>
          </p:nvSpPr>
          <p:spPr>
            <a:xfrm>
              <a:off x="8419773" y="1696693"/>
              <a:ext cx="819804" cy="284531"/>
            </a:xfrm>
            <a:prstGeom prst="rect">
              <a:avLst/>
            </a:prstGeom>
            <a:noFill/>
            <a:ln>
              <a:noFill/>
            </a:ln>
          </p:spPr>
          <p:txBody>
            <a:bodyPr wrap="none" lIns="0" tIns="0" rIns="0" bIns="0" anchor="t" anchorCtr="0">
              <a:spAutoFit/>
            </a:bodyPr>
            <a:lstStyle/>
            <a:p>
              <a:pPr algn="ctr"/>
              <a:r>
                <a:rPr lang="zh-CN" sz="1400" b="1" dirty="0">
                  <a:solidFill>
                    <a:srgbClr val="C8161E"/>
                  </a:solidFill>
                  <a:latin typeface="Arial"/>
                  <a:ea typeface="Microsoft YaHei"/>
                  <a:cs typeface="Arial"/>
                </a:rPr>
                <a:t>三类口径</a:t>
              </a:r>
            </a:p>
          </p:txBody>
        </p:sp>
      </p:grpSp>
      <p:grpSp>
        <p:nvGrpSpPr>
          <p:cNvPr id="46" name="Group 46"/>
          <p:cNvGrpSpPr/>
          <p:nvPr/>
        </p:nvGrpSpPr>
        <p:grpSpPr>
          <a:xfrm>
            <a:off x="2476500" y="2590800"/>
            <a:ext cx="7239000" cy="1066800"/>
            <a:chOff x="2476500" y="2590800"/>
            <a:chExt cx="7239000" cy="1066800"/>
          </a:xfrm>
        </p:grpSpPr>
        <p:sp>
          <p:nvSpPr>
            <p:cNvPr id="34" name="Rectangle 34"/>
            <p:cNvSpPr/>
            <p:nvPr/>
          </p:nvSpPr>
          <p:spPr>
            <a:xfrm>
              <a:off x="2476500" y="2590800"/>
              <a:ext cx="7239000" cy="1066800"/>
            </a:xfrm>
            <a:prstGeom prst="roundRect">
              <a:avLst>
                <a:gd name="adj" fmla="val 14286"/>
              </a:avLst>
            </a:prstGeom>
            <a:solidFill>
              <a:srgbClr val="FFFFFF"/>
            </a:solidFill>
            <a:ln w="14288">
              <a:solidFill>
                <a:srgbClr val="D9DEE5"/>
              </a:solidFill>
            </a:ln>
          </p:spPr>
        </p:sp>
        <p:sp>
          <p:nvSpPr>
            <p:cNvPr id="35" name="Rectangle 35"/>
            <p:cNvSpPr/>
            <p:nvPr/>
          </p:nvSpPr>
          <p:spPr>
            <a:xfrm>
              <a:off x="2628900" y="2705100"/>
              <a:ext cx="838200" cy="838200"/>
            </a:xfrm>
            <a:prstGeom prst="roundRect">
              <a:avLst>
                <a:gd name="adj" fmla="val 15909"/>
              </a:avLst>
            </a:prstGeom>
            <a:solidFill>
              <a:srgbClr val="1F4D78"/>
            </a:solidFill>
            <a:ln>
              <a:noFill/>
            </a:ln>
          </p:spPr>
        </p:sp>
        <p:grpSp>
          <p:nvGrpSpPr>
            <p:cNvPr id="40" name="Group 40"/>
            <p:cNvGrpSpPr/>
            <p:nvPr/>
          </p:nvGrpSpPr>
          <p:grpSpPr>
            <a:xfrm>
              <a:off x="2909888" y="2895600"/>
              <a:ext cx="214312" cy="242888"/>
              <a:chOff x="2909888" y="2895600"/>
              <a:chExt cx="214312" cy="242888"/>
            </a:xfrm>
          </p:grpSpPr>
          <p:sp>
            <p:nvSpPr>
              <p:cNvPr id="36" name="Freeform 36"/>
              <p:cNvSpPr/>
              <p:nvPr/>
            </p:nvSpPr>
            <p:spPr>
              <a:xfrm>
                <a:off x="2909888" y="2895600"/>
                <a:ext cx="171450" cy="228600"/>
              </a:xfrm>
              <a:custGeom>
                <a:avLst/>
                <a:gdLst/>
                <a:ahLst/>
                <a:cxnLst/>
                <a:rect l="l" t="t" r="r" b="b"/>
                <a:pathLst>
                  <a:path w="171450" h="228600">
                    <a:moveTo>
                      <a:pt x="65937" y="228600"/>
                    </a:moveTo>
                    <a:lnTo>
                      <a:pt x="28575" y="228600"/>
                    </a:lnTo>
                    <a:cubicBezTo>
                      <a:pt x="12793" y="228600"/>
                      <a:pt x="0" y="215807"/>
                      <a:pt x="0" y="200025"/>
                    </a:cubicBezTo>
                    <a:lnTo>
                      <a:pt x="0" y="28575"/>
                    </a:lnTo>
                    <a:cubicBezTo>
                      <a:pt x="0" y="12793"/>
                      <a:pt x="12793" y="0"/>
                      <a:pt x="28575" y="0"/>
                    </a:cubicBezTo>
                    <a:lnTo>
                      <a:pt x="142875" y="0"/>
                    </a:lnTo>
                    <a:cubicBezTo>
                      <a:pt x="158657" y="0"/>
                      <a:pt x="171450" y="12793"/>
                      <a:pt x="171450" y="28575"/>
                    </a:cubicBezTo>
                    <a:lnTo>
                      <a:pt x="171450" y="142875"/>
                    </a:lnTo>
                  </a:path>
                </a:pathLst>
              </a:custGeom>
              <a:noFill/>
              <a:ln w="19050">
                <a:solidFill>
                  <a:srgbClr val="FFFFFF"/>
                </a:solidFill>
              </a:ln>
            </p:spPr>
          </p:sp>
          <p:sp>
            <p:nvSpPr>
              <p:cNvPr id="37" name="Freeform 37"/>
              <p:cNvSpPr/>
              <p:nvPr/>
            </p:nvSpPr>
            <p:spPr>
              <a:xfrm>
                <a:off x="3038475" y="308133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sp>
            <p:nvSpPr>
              <p:cNvPr id="38" name="Freeform 38"/>
              <p:cNvSpPr/>
              <p:nvPr/>
            </p:nvSpPr>
            <p:spPr>
              <a:xfrm>
                <a:off x="2967038" y="2952750"/>
                <a:ext cx="57150" cy="9525"/>
              </a:xfrm>
              <a:custGeom>
                <a:avLst/>
                <a:gdLst/>
                <a:ahLst/>
                <a:cxnLst/>
                <a:rect l="l" t="t" r="r" b="b"/>
                <a:pathLst>
                  <a:path w="57150" h="9525">
                    <a:moveTo>
                      <a:pt x="0" y="0"/>
                    </a:moveTo>
                    <a:lnTo>
                      <a:pt x="57150" y="0"/>
                    </a:lnTo>
                  </a:path>
                </a:pathLst>
              </a:custGeom>
              <a:noFill/>
              <a:ln w="19050">
                <a:solidFill>
                  <a:srgbClr val="FFFFFF"/>
                </a:solidFill>
              </a:ln>
            </p:spPr>
          </p:sp>
          <p:sp>
            <p:nvSpPr>
              <p:cNvPr id="39" name="Freeform 39"/>
              <p:cNvSpPr/>
              <p:nvPr/>
            </p:nvSpPr>
            <p:spPr>
              <a:xfrm>
                <a:off x="2967038" y="3009900"/>
                <a:ext cx="28575" cy="9525"/>
              </a:xfrm>
              <a:custGeom>
                <a:avLst/>
                <a:gdLst/>
                <a:ahLst/>
                <a:cxnLst/>
                <a:rect l="l" t="t" r="r" b="b"/>
                <a:pathLst>
                  <a:path w="28575" h="9525">
                    <a:moveTo>
                      <a:pt x="0" y="0"/>
                    </a:moveTo>
                    <a:lnTo>
                      <a:pt x="28575" y="0"/>
                    </a:lnTo>
                  </a:path>
                </a:pathLst>
              </a:custGeom>
              <a:noFill/>
              <a:ln w="19050">
                <a:solidFill>
                  <a:srgbClr val="FFFFFF"/>
                </a:solidFill>
              </a:ln>
            </p:spPr>
          </p:sp>
        </p:grpSp>
        <p:sp>
          <p:nvSpPr>
            <p:cNvPr id="41" name="TextBox 41"/>
            <p:cNvSpPr txBox="1"/>
            <p:nvPr/>
          </p:nvSpPr>
          <p:spPr>
            <a:xfrm>
              <a:off x="2780728" y="331851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阶段二</a:t>
              </a:r>
            </a:p>
          </p:txBody>
        </p:sp>
        <p:sp>
          <p:nvSpPr>
            <p:cNvPr id="42" name="TextBox 42"/>
            <p:cNvSpPr txBox="1"/>
            <p:nvPr/>
          </p:nvSpPr>
          <p:spPr>
            <a:xfrm>
              <a:off x="3783330" y="2821305"/>
              <a:ext cx="3331850" cy="426720"/>
            </a:xfrm>
            <a:prstGeom prst="rect">
              <a:avLst/>
            </a:prstGeom>
            <a:noFill/>
            <a:ln>
              <a:noFill/>
            </a:ln>
          </p:spPr>
          <p:txBody>
            <a:bodyPr wrap="none" lIns="0" tIns="0" rIns="0" bIns="0" anchor="t" anchorCtr="0">
              <a:spAutoFit/>
            </a:bodyPr>
            <a:lstStyle/>
            <a:p>
              <a:pPr algn="l"/>
              <a:r>
                <a:rPr lang="zh-CN" sz="2100" b="1" dirty="0">
                  <a:solidFill>
                    <a:srgbClr val="1B1C21"/>
                  </a:solidFill>
                  <a:latin typeface="Arial"/>
                  <a:ea typeface="Microsoft YaHei"/>
                  <a:cs typeface="Arial"/>
                </a:rPr>
                <a:t>六维评分 · 学术质量评分</a:t>
              </a:r>
            </a:p>
          </p:txBody>
        </p:sp>
        <p:sp>
          <p:nvSpPr>
            <p:cNvPr id="43" name="TextBox 43"/>
            <p:cNvSpPr txBox="1"/>
            <p:nvPr/>
          </p:nvSpPr>
          <p:spPr>
            <a:xfrm>
              <a:off x="3792217" y="32397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六维学术质量评分，构成加权基础分</a:t>
              </a:r>
            </a:p>
          </p:txBody>
        </p:sp>
        <p:sp>
          <p:nvSpPr>
            <p:cNvPr id="44" name="Rectangle 44"/>
            <p:cNvSpPr/>
            <p:nvPr/>
          </p:nvSpPr>
          <p:spPr>
            <a:xfrm>
              <a:off x="8096250" y="2933700"/>
              <a:ext cx="1466850" cy="419100"/>
            </a:xfrm>
            <a:prstGeom prst="roundRect">
              <a:avLst>
                <a:gd name="adj" fmla="val 50000"/>
              </a:avLst>
            </a:prstGeom>
            <a:solidFill>
              <a:srgbClr val="1F4D78">
                <a:alpha val="10000"/>
              </a:srgbClr>
            </a:solidFill>
            <a:ln>
              <a:noFill/>
            </a:ln>
          </p:spPr>
        </p:sp>
        <p:sp>
          <p:nvSpPr>
            <p:cNvPr id="45" name="TextBox 45"/>
            <p:cNvSpPr txBox="1"/>
            <p:nvPr/>
          </p:nvSpPr>
          <p:spPr>
            <a:xfrm>
              <a:off x="8380561" y="3049243"/>
              <a:ext cx="898228"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0 – 100 分</a:t>
              </a:r>
            </a:p>
          </p:txBody>
        </p:sp>
      </p:grpSp>
      <p:grpSp>
        <p:nvGrpSpPr>
          <p:cNvPr id="57" name="Group 57"/>
          <p:cNvGrpSpPr/>
          <p:nvPr/>
        </p:nvGrpSpPr>
        <p:grpSpPr>
          <a:xfrm>
            <a:off x="2476500" y="3943350"/>
            <a:ext cx="7239000" cy="1066800"/>
            <a:chOff x="2476500" y="3943350"/>
            <a:chExt cx="7239000" cy="1066800"/>
          </a:xfrm>
        </p:grpSpPr>
        <p:sp>
          <p:nvSpPr>
            <p:cNvPr id="47" name="Rectangle 47"/>
            <p:cNvSpPr/>
            <p:nvPr/>
          </p:nvSpPr>
          <p:spPr>
            <a:xfrm>
              <a:off x="2476500" y="3943350"/>
              <a:ext cx="7239000" cy="1066800"/>
            </a:xfrm>
            <a:prstGeom prst="roundRect">
              <a:avLst>
                <a:gd name="adj" fmla="val 14286"/>
              </a:avLst>
            </a:prstGeom>
            <a:solidFill>
              <a:srgbClr val="FFFFFF"/>
            </a:solidFill>
            <a:ln w="14288">
              <a:solidFill>
                <a:srgbClr val="D9DEE5"/>
              </a:solidFill>
            </a:ln>
          </p:spPr>
        </p:sp>
        <p:sp>
          <p:nvSpPr>
            <p:cNvPr id="48" name="Rectangle 48"/>
            <p:cNvSpPr/>
            <p:nvPr/>
          </p:nvSpPr>
          <p:spPr>
            <a:xfrm>
              <a:off x="2628900" y="4057650"/>
              <a:ext cx="838200" cy="838200"/>
            </a:xfrm>
            <a:prstGeom prst="roundRect">
              <a:avLst>
                <a:gd name="adj" fmla="val 15909"/>
              </a:avLst>
            </a:prstGeom>
            <a:solidFill>
              <a:srgbClr val="2E7D32"/>
            </a:solidFill>
            <a:ln>
              <a:noFill/>
            </a:ln>
          </p:spPr>
        </p:sp>
        <p:grpSp>
          <p:nvGrpSpPr>
            <p:cNvPr id="51" name="Group 51"/>
            <p:cNvGrpSpPr/>
            <p:nvPr/>
          </p:nvGrpSpPr>
          <p:grpSpPr>
            <a:xfrm>
              <a:off x="2881312" y="4233862"/>
              <a:ext cx="257175" cy="257175"/>
              <a:chOff x="2881312" y="4233862"/>
              <a:chExt cx="257175" cy="257175"/>
            </a:xfrm>
          </p:grpSpPr>
          <p:sp>
            <p:nvSpPr>
              <p:cNvPr id="49" name="Freeform 49"/>
              <p:cNvSpPr/>
              <p:nvPr/>
            </p:nvSpPr>
            <p:spPr>
              <a:xfrm>
                <a:off x="2881312" y="4233862"/>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FFFFFF"/>
                </a:solidFill>
              </a:ln>
            </p:spPr>
          </p:sp>
          <p:sp>
            <p:nvSpPr>
              <p:cNvPr id="50" name="Freeform 50"/>
              <p:cNvSpPr/>
              <p:nvPr/>
            </p:nvSpPr>
            <p:spPr>
              <a:xfrm>
                <a:off x="3052762" y="4405312"/>
                <a:ext cx="85725" cy="85725"/>
              </a:xfrm>
              <a:custGeom>
                <a:avLst/>
                <a:gdLst/>
                <a:ahLst/>
                <a:cxnLst/>
                <a:rect l="l" t="t" r="r" b="b"/>
                <a:pathLst>
                  <a:path w="85725" h="85725">
                    <a:moveTo>
                      <a:pt x="85725" y="85725"/>
                    </a:moveTo>
                    <a:lnTo>
                      <a:pt x="0" y="0"/>
                    </a:lnTo>
                  </a:path>
                </a:pathLst>
              </a:custGeom>
              <a:noFill/>
              <a:ln w="19050">
                <a:solidFill>
                  <a:srgbClr val="FFFFFF"/>
                </a:solidFill>
              </a:ln>
            </p:spPr>
          </p:sp>
        </p:grpSp>
        <p:sp>
          <p:nvSpPr>
            <p:cNvPr id="52" name="TextBox 52"/>
            <p:cNvSpPr txBox="1"/>
            <p:nvPr/>
          </p:nvSpPr>
          <p:spPr>
            <a:xfrm>
              <a:off x="2780728" y="467106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阶段三</a:t>
              </a:r>
            </a:p>
          </p:txBody>
        </p:sp>
        <p:sp>
          <p:nvSpPr>
            <p:cNvPr id="53" name="TextBox 53"/>
            <p:cNvSpPr txBox="1"/>
            <p:nvPr/>
          </p:nvSpPr>
          <p:spPr>
            <a:xfrm>
              <a:off x="3783330" y="4173855"/>
              <a:ext cx="2993708" cy="426720"/>
            </a:xfrm>
            <a:prstGeom prst="rect">
              <a:avLst/>
            </a:prstGeom>
            <a:noFill/>
            <a:ln>
              <a:noFill/>
            </a:ln>
          </p:spPr>
          <p:txBody>
            <a:bodyPr wrap="none" lIns="0" tIns="0" rIns="0" bIns="0" anchor="t" anchorCtr="0">
              <a:spAutoFit/>
            </a:bodyPr>
            <a:lstStyle/>
            <a:p>
              <a:pPr algn="l"/>
              <a:r>
                <a:rPr lang="zh-CN" sz="2100" b="1" dirty="0">
                  <a:solidFill>
                    <a:srgbClr val="1B1C21"/>
                  </a:solidFill>
                  <a:latin typeface="Arial"/>
                  <a:ea typeface="Microsoft YaHei"/>
                  <a:cs typeface="Arial"/>
                </a:rPr>
                <a:t>自主知识体系信号校验</a:t>
              </a:r>
            </a:p>
          </p:txBody>
        </p:sp>
        <p:sp>
          <p:nvSpPr>
            <p:cNvPr id="54" name="TextBox 54"/>
            <p:cNvSpPr txBox="1"/>
            <p:nvPr/>
          </p:nvSpPr>
          <p:spPr>
            <a:xfrm>
              <a:off x="3792217" y="4592293"/>
              <a:ext cx="358331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提取自主信号用于候选分层，</a:t>
              </a:r>
              <a:r>
                <a:rPr lang="zh-CN" sz="1400" b="1" dirty="0">
                  <a:solidFill>
                    <a:srgbClr val="2E7D32"/>
                  </a:solidFill>
                  <a:latin typeface="Arial"/>
                  <a:ea typeface="Microsoft YaHei"/>
                  <a:cs typeface="Arial"/>
                </a:rPr>
                <a:t>不计入基础分</a:t>
              </a:r>
            </a:p>
          </p:txBody>
        </p:sp>
        <p:sp>
          <p:nvSpPr>
            <p:cNvPr id="55" name="Rectangle 55"/>
            <p:cNvSpPr/>
            <p:nvPr/>
          </p:nvSpPr>
          <p:spPr>
            <a:xfrm>
              <a:off x="8096250" y="4267200"/>
              <a:ext cx="1466850" cy="419100"/>
            </a:xfrm>
            <a:prstGeom prst="roundRect">
              <a:avLst>
                <a:gd name="adj" fmla="val 50000"/>
              </a:avLst>
            </a:prstGeom>
            <a:solidFill>
              <a:srgbClr val="2E7D32">
                <a:alpha val="10000"/>
              </a:srgbClr>
            </a:solidFill>
            <a:ln>
              <a:noFill/>
            </a:ln>
          </p:spPr>
        </p:sp>
        <p:sp>
          <p:nvSpPr>
            <p:cNvPr id="56" name="TextBox 56"/>
            <p:cNvSpPr txBox="1"/>
            <p:nvPr/>
          </p:nvSpPr>
          <p:spPr>
            <a:xfrm>
              <a:off x="8365856" y="4382743"/>
              <a:ext cx="927637" cy="284531"/>
            </a:xfrm>
            <a:prstGeom prst="rect">
              <a:avLst/>
            </a:prstGeom>
            <a:noFill/>
            <a:ln>
              <a:noFill/>
            </a:ln>
          </p:spPr>
          <p:txBody>
            <a:bodyPr wrap="none" lIns="0" tIns="0" rIns="0" bIns="0" anchor="t" anchorCtr="0">
              <a:spAutoFit/>
            </a:bodyPr>
            <a:lstStyle/>
            <a:p>
              <a:pPr algn="ctr"/>
              <a:r>
                <a:rPr lang="zh-CN" sz="1400" b="1" dirty="0">
                  <a:solidFill>
                    <a:srgbClr val="2E7D32"/>
                  </a:solidFill>
                  <a:latin typeface="Arial"/>
                  <a:ea typeface="Microsoft YaHei"/>
                  <a:cs typeface="Arial"/>
                </a:rPr>
                <a:t>0 – 8 信号</a:t>
              </a:r>
            </a:p>
          </p:txBody>
        </p:sp>
      </p:grpSp>
      <p:grpSp>
        <p:nvGrpSpPr>
          <p:cNvPr id="68" name="Group 68"/>
          <p:cNvGrpSpPr/>
          <p:nvPr/>
        </p:nvGrpSpPr>
        <p:grpSpPr>
          <a:xfrm>
            <a:off x="2476500" y="5295900"/>
            <a:ext cx="7239000" cy="1066800"/>
            <a:chOff x="2476500" y="5295900"/>
            <a:chExt cx="7239000" cy="1066800"/>
          </a:xfrm>
        </p:grpSpPr>
        <p:sp>
          <p:nvSpPr>
            <p:cNvPr id="58" name="Rectangle 58"/>
            <p:cNvSpPr/>
            <p:nvPr/>
          </p:nvSpPr>
          <p:spPr>
            <a:xfrm>
              <a:off x="2476500" y="5295900"/>
              <a:ext cx="7239000" cy="1066800"/>
            </a:xfrm>
            <a:prstGeom prst="roundRect">
              <a:avLst>
                <a:gd name="adj" fmla="val 14286"/>
              </a:avLst>
            </a:prstGeom>
            <a:solidFill>
              <a:srgbClr val="FFFFFF"/>
            </a:solidFill>
            <a:ln w="14288">
              <a:solidFill>
                <a:srgbClr val="D9DEE5"/>
              </a:solidFill>
            </a:ln>
          </p:spPr>
        </p:sp>
        <p:sp>
          <p:nvSpPr>
            <p:cNvPr id="59" name="Rectangle 59"/>
            <p:cNvSpPr/>
            <p:nvPr/>
          </p:nvSpPr>
          <p:spPr>
            <a:xfrm>
              <a:off x="2628900" y="5410200"/>
              <a:ext cx="838200" cy="838200"/>
            </a:xfrm>
            <a:prstGeom prst="roundRect">
              <a:avLst>
                <a:gd name="adj" fmla="val 15909"/>
              </a:avLst>
            </a:prstGeom>
            <a:solidFill>
              <a:srgbClr val="44546A"/>
            </a:solidFill>
            <a:ln>
              <a:noFill/>
            </a:ln>
          </p:spPr>
        </p:sp>
        <p:grpSp>
          <p:nvGrpSpPr>
            <p:cNvPr id="62" name="Group 62"/>
            <p:cNvGrpSpPr/>
            <p:nvPr/>
          </p:nvGrpSpPr>
          <p:grpSpPr>
            <a:xfrm>
              <a:off x="2862031" y="5586412"/>
              <a:ext cx="279010" cy="257176"/>
              <a:chOff x="2862031" y="5586412"/>
              <a:chExt cx="279010" cy="257176"/>
            </a:xfrm>
          </p:grpSpPr>
          <p:sp>
            <p:nvSpPr>
              <p:cNvPr id="60" name="Freeform 60"/>
              <p:cNvSpPr/>
              <p:nvPr/>
            </p:nvSpPr>
            <p:spPr>
              <a:xfrm>
                <a:off x="2862031" y="558641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19050">
                <a:solidFill>
                  <a:srgbClr val="FFFFFF"/>
                </a:solidFill>
              </a:ln>
            </p:spPr>
          </p:sp>
          <p:sp>
            <p:nvSpPr>
              <p:cNvPr id="61" name="Freeform 61"/>
              <p:cNvSpPr/>
              <p:nvPr/>
            </p:nvSpPr>
            <p:spPr>
              <a:xfrm>
                <a:off x="3052762" y="578643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grpSp>
        <p:sp>
          <p:nvSpPr>
            <p:cNvPr id="63" name="TextBox 63"/>
            <p:cNvSpPr txBox="1"/>
            <p:nvPr/>
          </p:nvSpPr>
          <p:spPr>
            <a:xfrm>
              <a:off x="2780728" y="602361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阶段四</a:t>
              </a:r>
            </a:p>
          </p:txBody>
        </p:sp>
        <p:sp>
          <p:nvSpPr>
            <p:cNvPr id="64" name="TextBox 64"/>
            <p:cNvSpPr txBox="1"/>
            <p:nvPr/>
          </p:nvSpPr>
          <p:spPr>
            <a:xfrm>
              <a:off x="3783330" y="5526405"/>
              <a:ext cx="3331850" cy="426720"/>
            </a:xfrm>
            <a:prstGeom prst="rect">
              <a:avLst/>
            </a:prstGeom>
            <a:noFill/>
            <a:ln>
              <a:noFill/>
            </a:ln>
          </p:spPr>
          <p:txBody>
            <a:bodyPr wrap="none" lIns="0" tIns="0" rIns="0" bIns="0" anchor="t" anchorCtr="0">
              <a:spAutoFit/>
            </a:bodyPr>
            <a:lstStyle/>
            <a:p>
              <a:pPr algn="l"/>
              <a:r>
                <a:rPr lang="zh-CN" sz="2100" b="1" dirty="0">
                  <a:solidFill>
                    <a:srgbClr val="1B1C21"/>
                  </a:solidFill>
                  <a:latin typeface="Arial"/>
                  <a:ea typeface="Microsoft YaHei"/>
                  <a:cs typeface="Arial"/>
                </a:rPr>
                <a:t>评价层复核 · 可靠性判断</a:t>
              </a:r>
            </a:p>
          </p:txBody>
        </p:sp>
        <p:sp>
          <p:nvSpPr>
            <p:cNvPr id="65" name="TextBox 65"/>
            <p:cNvSpPr txBox="1"/>
            <p:nvPr/>
          </p:nvSpPr>
          <p:spPr>
            <a:xfrm>
              <a:off x="3792217" y="5944843"/>
              <a:ext cx="414348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依据标准差与置信度分级，未收敛维度交专家终审</a:t>
              </a:r>
            </a:p>
          </p:txBody>
        </p:sp>
        <p:sp>
          <p:nvSpPr>
            <p:cNvPr id="66" name="Rectangle 66"/>
            <p:cNvSpPr/>
            <p:nvPr/>
          </p:nvSpPr>
          <p:spPr>
            <a:xfrm>
              <a:off x="8096250" y="5619750"/>
              <a:ext cx="1466850" cy="419100"/>
            </a:xfrm>
            <a:prstGeom prst="roundRect">
              <a:avLst>
                <a:gd name="adj" fmla="val 50000"/>
              </a:avLst>
            </a:prstGeom>
            <a:solidFill>
              <a:srgbClr val="44546A">
                <a:alpha val="10000"/>
              </a:srgbClr>
            </a:solidFill>
            <a:ln>
              <a:noFill/>
            </a:ln>
          </p:spPr>
        </p:sp>
        <p:sp>
          <p:nvSpPr>
            <p:cNvPr id="67" name="TextBox 67"/>
            <p:cNvSpPr txBox="1"/>
            <p:nvPr/>
          </p:nvSpPr>
          <p:spPr>
            <a:xfrm>
              <a:off x="8419773" y="5735293"/>
              <a:ext cx="819804" cy="284531"/>
            </a:xfrm>
            <a:prstGeom prst="rect">
              <a:avLst/>
            </a:prstGeom>
            <a:noFill/>
            <a:ln>
              <a:noFill/>
            </a:ln>
          </p:spPr>
          <p:txBody>
            <a:bodyPr wrap="none" lIns="0" tIns="0" rIns="0" bIns="0" anchor="t" anchorCtr="0">
              <a:spAutoFit/>
            </a:bodyPr>
            <a:lstStyle/>
            <a:p>
              <a:pPr algn="ctr"/>
              <a:r>
                <a:rPr lang="zh-CN" sz="1400" b="1" dirty="0">
                  <a:solidFill>
                    <a:srgbClr val="44546A"/>
                  </a:solidFill>
                  <a:latin typeface="Arial"/>
                  <a:ea typeface="Microsoft YaHei"/>
                  <a:cs typeface="Arial"/>
                </a:rPr>
                <a:t>复核判断</a:t>
              </a:r>
            </a:p>
          </p:txBody>
        </p:sp>
      </p:grpSp>
      <p:grpSp>
        <p:nvGrpSpPr>
          <p:cNvPr id="72" name="Group 72"/>
          <p:cNvGrpSpPr/>
          <p:nvPr/>
        </p:nvGrpSpPr>
        <p:grpSpPr>
          <a:xfrm>
            <a:off x="0" y="6516343"/>
            <a:ext cx="12192000" cy="341657"/>
            <a:chOff x="0" y="6516343"/>
            <a:chExt cx="12192000" cy="341657"/>
          </a:xfrm>
        </p:grpSpPr>
        <p:sp>
          <p:nvSpPr>
            <p:cNvPr id="69" name="Rectangle 69"/>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70" name="TextBox 70"/>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71" name="TextBox 71"/>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400"/>
                                        <p:tgtEl>
                                          <p:spTgt spid="2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lide(fromBottom)">
                                      <p:cBhvr>
                                        <p:cTn id="15" dur="400"/>
                                        <p:tgtEl>
                                          <p:spTgt spid="33"/>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slide(fromBottom)">
                                      <p:cBhvr>
                                        <p:cTn id="19" dur="400"/>
                                        <p:tgtEl>
                                          <p:spTgt spid="4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slide(fromBottom)">
                                      <p:cBhvr>
                                        <p:cTn id="23" dur="400"/>
                                        <p:tgtEl>
                                          <p:spTgt spid="57"/>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slide(fromBottom)">
                                      <p:cBhvr>
                                        <p:cTn id="27"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2" grpId="0"/>
      <p:bldP spid="33" grpId="0"/>
      <p:bldP spid="46" grpId="0"/>
      <p:bldP spid="57" grpId="0"/>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六维评价框架</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9" name="Group 9"/>
          <p:cNvGrpSpPr/>
          <p:nvPr/>
        </p:nvGrpSpPr>
        <p:grpSpPr>
          <a:xfrm>
            <a:off x="660397" y="1022323"/>
            <a:ext cx="4055807" cy="406451"/>
            <a:chOff x="660397" y="1022323"/>
            <a:chExt cx="4055807" cy="406451"/>
          </a:xfrm>
        </p:grpSpPr>
        <p:sp>
          <p:nvSpPr>
            <p:cNvPr id="8" name="TextBox 8"/>
            <p:cNvSpPr txBox="1"/>
            <p:nvPr/>
          </p:nvSpPr>
          <p:spPr>
            <a:xfrm>
              <a:off x="660397" y="1022323"/>
              <a:ext cx="4055807"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三个递进层级</a:t>
              </a:r>
              <a:r>
                <a:rPr lang="zh-CN" sz="1600" dirty="0">
                  <a:solidFill>
                    <a:srgbClr val="5A6472"/>
                  </a:solidFill>
                  <a:latin typeface="Arial"/>
                  <a:ea typeface="Microsoft YaHei"/>
                  <a:cs typeface="Arial"/>
                </a:rPr>
                <a:t xml:space="preserve"> 不是六个并列指标</a:t>
              </a:r>
            </a:p>
          </p:txBody>
        </p:sp>
      </p:grpSp>
      <p:grpSp>
        <p:nvGrpSpPr>
          <p:cNvPr id="16" name="Group 16"/>
          <p:cNvGrpSpPr/>
          <p:nvPr/>
        </p:nvGrpSpPr>
        <p:grpSpPr>
          <a:xfrm>
            <a:off x="1847850" y="1504950"/>
            <a:ext cx="3924300" cy="4267200"/>
            <a:chOff x="1847850" y="1504950"/>
            <a:chExt cx="3924300" cy="4267200"/>
          </a:xfrm>
        </p:grpSpPr>
        <p:sp>
          <p:nvSpPr>
            <p:cNvPr id="10" name="Polygon 10"/>
            <p:cNvSpPr/>
            <p:nvPr/>
          </p:nvSpPr>
          <p:spPr>
            <a:xfrm>
              <a:off x="3028950" y="1504950"/>
              <a:ext cx="1562100" cy="1333500"/>
            </a:xfrm>
            <a:custGeom>
              <a:avLst/>
              <a:gdLst/>
              <a:ahLst/>
              <a:cxnLst/>
              <a:rect l="l" t="t" r="r" b="b"/>
              <a:pathLst>
                <a:path w="1562100" h="1333500">
                  <a:moveTo>
                    <a:pt x="781050" y="0"/>
                  </a:moveTo>
                  <a:lnTo>
                    <a:pt x="0" y="1333500"/>
                  </a:lnTo>
                  <a:lnTo>
                    <a:pt x="1562100" y="1333500"/>
                  </a:lnTo>
                  <a:close/>
                </a:path>
              </a:pathLst>
            </a:custGeom>
            <a:solidFill>
              <a:srgbClr val="44546A"/>
            </a:solidFill>
            <a:ln>
              <a:noFill/>
            </a:ln>
          </p:spPr>
        </p:sp>
        <p:sp>
          <p:nvSpPr>
            <p:cNvPr id="11" name="TextBox 11"/>
            <p:cNvSpPr txBox="1"/>
            <p:nvPr/>
          </p:nvSpPr>
          <p:spPr>
            <a:xfrm>
              <a:off x="3302068" y="2534893"/>
              <a:ext cx="1015864"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风险与延展</a:t>
              </a:r>
            </a:p>
          </p:txBody>
        </p:sp>
        <p:sp>
          <p:nvSpPr>
            <p:cNvPr id="12" name="Polygon 12"/>
            <p:cNvSpPr/>
            <p:nvPr/>
          </p:nvSpPr>
          <p:spPr>
            <a:xfrm>
              <a:off x="2438400" y="2952750"/>
              <a:ext cx="2743200" cy="1352550"/>
            </a:xfrm>
            <a:custGeom>
              <a:avLst/>
              <a:gdLst/>
              <a:ahLst/>
              <a:cxnLst/>
              <a:rect l="l" t="t" r="r" b="b"/>
              <a:pathLst>
                <a:path w="2743200" h="1352550">
                  <a:moveTo>
                    <a:pt x="590550" y="0"/>
                  </a:moveTo>
                  <a:lnTo>
                    <a:pt x="2152650" y="0"/>
                  </a:lnTo>
                  <a:lnTo>
                    <a:pt x="2743200" y="1352550"/>
                  </a:lnTo>
                  <a:lnTo>
                    <a:pt x="0" y="1352550"/>
                  </a:lnTo>
                  <a:close/>
                </a:path>
              </a:pathLst>
            </a:custGeom>
            <a:solidFill>
              <a:srgbClr val="1F4D78"/>
            </a:solidFill>
            <a:ln>
              <a:noFill/>
            </a:ln>
          </p:spPr>
        </p:sp>
        <p:sp>
          <p:nvSpPr>
            <p:cNvPr id="13" name="TextBox 13"/>
            <p:cNvSpPr txBox="1"/>
            <p:nvPr/>
          </p:nvSpPr>
          <p:spPr>
            <a:xfrm>
              <a:off x="3157061" y="3539490"/>
              <a:ext cx="1305878"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工具与论证</a:t>
              </a:r>
            </a:p>
          </p:txBody>
        </p:sp>
        <p:sp>
          <p:nvSpPr>
            <p:cNvPr id="14" name="Polygon 14"/>
            <p:cNvSpPr/>
            <p:nvPr/>
          </p:nvSpPr>
          <p:spPr>
            <a:xfrm>
              <a:off x="1847850" y="4419600"/>
              <a:ext cx="3924300" cy="1352550"/>
            </a:xfrm>
            <a:custGeom>
              <a:avLst/>
              <a:gdLst/>
              <a:ahLst/>
              <a:cxnLst/>
              <a:rect l="l" t="t" r="r" b="b"/>
              <a:pathLst>
                <a:path w="3924300" h="1352550">
                  <a:moveTo>
                    <a:pt x="590550" y="0"/>
                  </a:moveTo>
                  <a:lnTo>
                    <a:pt x="3333750" y="0"/>
                  </a:lnTo>
                  <a:lnTo>
                    <a:pt x="3924300" y="1352550"/>
                  </a:lnTo>
                  <a:lnTo>
                    <a:pt x="0" y="1352550"/>
                  </a:lnTo>
                  <a:close/>
                </a:path>
              </a:pathLst>
            </a:custGeom>
            <a:solidFill>
              <a:srgbClr val="C8161E"/>
            </a:solidFill>
            <a:ln>
              <a:noFill/>
            </a:ln>
          </p:spPr>
        </p:sp>
        <p:sp>
          <p:nvSpPr>
            <p:cNvPr id="15" name="TextBox 15"/>
            <p:cNvSpPr txBox="1"/>
            <p:nvPr/>
          </p:nvSpPr>
          <p:spPr>
            <a:xfrm>
              <a:off x="3157061" y="5006340"/>
              <a:ext cx="1305878"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命题与定位</a:t>
              </a:r>
            </a:p>
          </p:txBody>
        </p:sp>
      </p:grpSp>
      <p:grpSp>
        <p:nvGrpSpPr>
          <p:cNvPr id="21" name="Group 21"/>
          <p:cNvGrpSpPr/>
          <p:nvPr/>
        </p:nvGrpSpPr>
        <p:grpSpPr>
          <a:xfrm>
            <a:off x="6286500" y="1485900"/>
            <a:ext cx="5219700" cy="1352550"/>
            <a:chOff x="6286500" y="1485900"/>
            <a:chExt cx="5219700" cy="1352550"/>
          </a:xfrm>
        </p:grpSpPr>
        <p:sp>
          <p:nvSpPr>
            <p:cNvPr id="17" name="Rectangle 17"/>
            <p:cNvSpPr/>
            <p:nvPr/>
          </p:nvSpPr>
          <p:spPr>
            <a:xfrm>
              <a:off x="6286500" y="1485900"/>
              <a:ext cx="5219700" cy="1352550"/>
            </a:xfrm>
            <a:prstGeom prst="roundRect">
              <a:avLst>
                <a:gd name="adj" fmla="val 11268"/>
              </a:avLst>
            </a:prstGeom>
            <a:solidFill>
              <a:srgbClr val="C8161E">
                <a:alpha val="6000"/>
              </a:srgbClr>
            </a:solidFill>
            <a:ln w="14288">
              <a:solidFill>
                <a:srgbClr val="C8161E"/>
              </a:solidFill>
            </a:ln>
          </p:spPr>
        </p:sp>
        <p:sp>
          <p:nvSpPr>
            <p:cNvPr id="18" name="TextBox 18"/>
            <p:cNvSpPr txBox="1"/>
            <p:nvPr/>
          </p:nvSpPr>
          <p:spPr>
            <a:xfrm>
              <a:off x="6530340" y="1672590"/>
              <a:ext cx="1305878" cy="365760"/>
            </a:xfrm>
            <a:prstGeom prst="rect">
              <a:avLst/>
            </a:prstGeom>
            <a:noFill/>
            <a:ln>
              <a:noFill/>
            </a:ln>
          </p:spPr>
          <p:txBody>
            <a:bodyPr wrap="none" lIns="0" tIns="0" rIns="0" bIns="0" anchor="t" anchorCtr="0">
              <a:spAutoFit/>
            </a:bodyPr>
            <a:lstStyle/>
            <a:p>
              <a:pPr algn="l"/>
              <a:r>
                <a:rPr lang="zh-CN" sz="1800" b="1" dirty="0">
                  <a:solidFill>
                    <a:srgbClr val="C8161E"/>
                  </a:solidFill>
                  <a:latin typeface="Arial"/>
                  <a:ea typeface="Microsoft YaHei"/>
                  <a:cs typeface="Arial"/>
                </a:rPr>
                <a:t>命题与定位</a:t>
              </a:r>
            </a:p>
          </p:txBody>
        </p:sp>
        <p:sp>
          <p:nvSpPr>
            <p:cNvPr id="19" name="TextBox 19"/>
            <p:cNvSpPr txBox="1"/>
            <p:nvPr/>
          </p:nvSpPr>
          <p:spPr>
            <a:xfrm>
              <a:off x="6532883" y="2132357"/>
              <a:ext cx="152325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研究创新性</a:t>
              </a:r>
              <a:r>
                <a:rPr lang="zh-CN" sz="1600" b="1" dirty="0">
                  <a:solidFill>
                    <a:srgbClr val="C8161E"/>
                  </a:solidFill>
                  <a:latin typeface="Arial"/>
                  <a:ea typeface="Microsoft YaHei"/>
                  <a:cs typeface="Arial"/>
                </a:rPr>
                <a:t xml:space="preserve"> 30%</a:t>
              </a:r>
            </a:p>
          </p:txBody>
        </p:sp>
        <p:sp>
          <p:nvSpPr>
            <p:cNvPr id="20" name="TextBox 20"/>
            <p:cNvSpPr txBox="1"/>
            <p:nvPr/>
          </p:nvSpPr>
          <p:spPr>
            <a:xfrm>
              <a:off x="6532883" y="2475257"/>
              <a:ext cx="152325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现状洞察度</a:t>
              </a:r>
              <a:r>
                <a:rPr lang="zh-CN" sz="1600" b="1" dirty="0">
                  <a:solidFill>
                    <a:srgbClr val="C8161E"/>
                  </a:solidFill>
                  <a:latin typeface="Arial"/>
                  <a:ea typeface="Microsoft YaHei"/>
                  <a:cs typeface="Arial"/>
                </a:rPr>
                <a:t xml:space="preserve"> 20%</a:t>
              </a:r>
            </a:p>
          </p:txBody>
        </p:sp>
      </p:grpSp>
      <p:grpSp>
        <p:nvGrpSpPr>
          <p:cNvPr id="26" name="Group 26"/>
          <p:cNvGrpSpPr/>
          <p:nvPr/>
        </p:nvGrpSpPr>
        <p:grpSpPr>
          <a:xfrm>
            <a:off x="6286500" y="2952750"/>
            <a:ext cx="5219700" cy="1352550"/>
            <a:chOff x="6286500" y="2952750"/>
            <a:chExt cx="5219700" cy="1352550"/>
          </a:xfrm>
        </p:grpSpPr>
        <p:sp>
          <p:nvSpPr>
            <p:cNvPr id="22" name="Rectangle 22"/>
            <p:cNvSpPr/>
            <p:nvPr/>
          </p:nvSpPr>
          <p:spPr>
            <a:xfrm>
              <a:off x="6286500" y="2952750"/>
              <a:ext cx="5219700" cy="1352550"/>
            </a:xfrm>
            <a:prstGeom prst="roundRect">
              <a:avLst>
                <a:gd name="adj" fmla="val 11268"/>
              </a:avLst>
            </a:prstGeom>
            <a:solidFill>
              <a:srgbClr val="1F4D78">
                <a:alpha val="6000"/>
              </a:srgbClr>
            </a:solidFill>
            <a:ln w="14288">
              <a:solidFill>
                <a:srgbClr val="1F4D78"/>
              </a:solidFill>
            </a:ln>
          </p:spPr>
        </p:sp>
        <p:sp>
          <p:nvSpPr>
            <p:cNvPr id="23" name="TextBox 23"/>
            <p:cNvSpPr txBox="1"/>
            <p:nvPr/>
          </p:nvSpPr>
          <p:spPr>
            <a:xfrm>
              <a:off x="6530340" y="3139440"/>
              <a:ext cx="1305878"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工具与论证</a:t>
              </a:r>
            </a:p>
          </p:txBody>
        </p:sp>
        <p:sp>
          <p:nvSpPr>
            <p:cNvPr id="24" name="TextBox 24"/>
            <p:cNvSpPr txBox="1"/>
            <p:nvPr/>
          </p:nvSpPr>
          <p:spPr>
            <a:xfrm>
              <a:off x="6532883" y="3599207"/>
              <a:ext cx="1469922"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理论建构力</a:t>
              </a:r>
              <a:r>
                <a:rPr lang="zh-CN" sz="1600" b="1" dirty="0">
                  <a:solidFill>
                    <a:srgbClr val="1F4D78"/>
                  </a:solidFill>
                  <a:latin typeface="Arial"/>
                  <a:ea typeface="Microsoft YaHei"/>
                  <a:cs typeface="Arial"/>
                </a:rPr>
                <a:t xml:space="preserve"> 15%</a:t>
              </a:r>
            </a:p>
          </p:txBody>
        </p:sp>
        <p:sp>
          <p:nvSpPr>
            <p:cNvPr id="25" name="TextBox 25"/>
            <p:cNvSpPr txBox="1"/>
            <p:nvPr/>
          </p:nvSpPr>
          <p:spPr>
            <a:xfrm>
              <a:off x="6532883" y="3942107"/>
              <a:ext cx="152325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逻辑连贯性</a:t>
              </a:r>
              <a:r>
                <a:rPr lang="zh-CN" sz="1600" b="1" dirty="0">
                  <a:solidFill>
                    <a:srgbClr val="1F4D78"/>
                  </a:solidFill>
                  <a:latin typeface="Arial"/>
                  <a:ea typeface="Microsoft YaHei"/>
                  <a:cs typeface="Arial"/>
                </a:rPr>
                <a:t xml:space="preserve"> 20%</a:t>
              </a:r>
            </a:p>
          </p:txBody>
        </p:sp>
      </p:grpSp>
      <p:grpSp>
        <p:nvGrpSpPr>
          <p:cNvPr id="31" name="Group 31"/>
          <p:cNvGrpSpPr/>
          <p:nvPr/>
        </p:nvGrpSpPr>
        <p:grpSpPr>
          <a:xfrm>
            <a:off x="6286500" y="4419600"/>
            <a:ext cx="5219700" cy="1352550"/>
            <a:chOff x="6286500" y="4419600"/>
            <a:chExt cx="5219700" cy="1352550"/>
          </a:xfrm>
        </p:grpSpPr>
        <p:sp>
          <p:nvSpPr>
            <p:cNvPr id="27" name="Rectangle 27"/>
            <p:cNvSpPr/>
            <p:nvPr/>
          </p:nvSpPr>
          <p:spPr>
            <a:xfrm>
              <a:off x="6286500" y="4419600"/>
              <a:ext cx="5219700" cy="1352550"/>
            </a:xfrm>
            <a:prstGeom prst="roundRect">
              <a:avLst>
                <a:gd name="adj" fmla="val 11268"/>
              </a:avLst>
            </a:prstGeom>
            <a:solidFill>
              <a:srgbClr val="44546A">
                <a:alpha val="6000"/>
              </a:srgbClr>
            </a:solidFill>
            <a:ln w="14288">
              <a:solidFill>
                <a:srgbClr val="44546A"/>
              </a:solidFill>
            </a:ln>
          </p:spPr>
        </p:sp>
        <p:sp>
          <p:nvSpPr>
            <p:cNvPr id="28" name="TextBox 28"/>
            <p:cNvSpPr txBox="1"/>
            <p:nvPr/>
          </p:nvSpPr>
          <p:spPr>
            <a:xfrm>
              <a:off x="6530340" y="4606290"/>
              <a:ext cx="1305878" cy="365760"/>
            </a:xfrm>
            <a:prstGeom prst="rect">
              <a:avLst/>
            </a:prstGeom>
            <a:noFill/>
            <a:ln>
              <a:noFill/>
            </a:ln>
          </p:spPr>
          <p:txBody>
            <a:bodyPr wrap="none" lIns="0" tIns="0" rIns="0" bIns="0" anchor="t" anchorCtr="0">
              <a:spAutoFit/>
            </a:bodyPr>
            <a:lstStyle/>
            <a:p>
              <a:pPr algn="l"/>
              <a:r>
                <a:rPr lang="zh-CN" sz="1800" b="1" dirty="0">
                  <a:solidFill>
                    <a:srgbClr val="44546A"/>
                  </a:solidFill>
                  <a:latin typeface="Arial"/>
                  <a:ea typeface="Microsoft YaHei"/>
                  <a:cs typeface="Arial"/>
                </a:rPr>
                <a:t>风险与延展</a:t>
              </a:r>
            </a:p>
          </p:txBody>
        </p:sp>
        <p:sp>
          <p:nvSpPr>
            <p:cNvPr id="29" name="TextBox 29"/>
            <p:cNvSpPr txBox="1"/>
            <p:nvPr/>
          </p:nvSpPr>
          <p:spPr>
            <a:xfrm>
              <a:off x="6532883" y="5066057"/>
              <a:ext cx="1469922"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学术共识度</a:t>
              </a:r>
              <a:r>
                <a:rPr lang="zh-CN" sz="1600" b="1" dirty="0">
                  <a:solidFill>
                    <a:srgbClr val="44546A"/>
                  </a:solidFill>
                  <a:latin typeface="Arial"/>
                  <a:ea typeface="Microsoft YaHei"/>
                  <a:cs typeface="Arial"/>
                </a:rPr>
                <a:t xml:space="preserve"> 10%</a:t>
              </a:r>
            </a:p>
          </p:txBody>
        </p:sp>
        <p:sp>
          <p:nvSpPr>
            <p:cNvPr id="30" name="TextBox 30"/>
            <p:cNvSpPr txBox="1"/>
            <p:nvPr/>
          </p:nvSpPr>
          <p:spPr>
            <a:xfrm>
              <a:off x="6532883" y="5408957"/>
              <a:ext cx="140592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前瞻延展性</a:t>
              </a:r>
              <a:r>
                <a:rPr lang="zh-CN" sz="1600" b="1" dirty="0">
                  <a:solidFill>
                    <a:srgbClr val="44546A"/>
                  </a:solidFill>
                  <a:latin typeface="Arial"/>
                  <a:ea typeface="Microsoft YaHei"/>
                  <a:cs typeface="Arial"/>
                </a:rPr>
                <a:t xml:space="preserve"> 5%</a:t>
              </a:r>
            </a:p>
          </p:txBody>
        </p:sp>
      </p:grpSp>
      <p:grpSp>
        <p:nvGrpSpPr>
          <p:cNvPr id="34" name="Group 34"/>
          <p:cNvGrpSpPr/>
          <p:nvPr/>
        </p:nvGrpSpPr>
        <p:grpSpPr>
          <a:xfrm>
            <a:off x="685800" y="6019800"/>
            <a:ext cx="10820400" cy="533400"/>
            <a:chOff x="685800" y="6019800"/>
            <a:chExt cx="10820400" cy="533400"/>
          </a:xfrm>
        </p:grpSpPr>
        <p:sp>
          <p:nvSpPr>
            <p:cNvPr id="32" name="Rectangle 32"/>
            <p:cNvSpPr/>
            <p:nvPr/>
          </p:nvSpPr>
          <p:spPr>
            <a:xfrm>
              <a:off x="685800" y="6019800"/>
              <a:ext cx="10820400" cy="533400"/>
            </a:xfrm>
            <a:prstGeom prst="roundRect">
              <a:avLst>
                <a:gd name="adj" fmla="val 21429"/>
              </a:avLst>
            </a:prstGeom>
            <a:solidFill>
              <a:srgbClr val="F4F5F7"/>
            </a:solidFill>
            <a:ln>
              <a:noFill/>
            </a:ln>
          </p:spPr>
        </p:sp>
        <p:sp>
          <p:nvSpPr>
            <p:cNvPr id="33" name="TextBox 33"/>
            <p:cNvSpPr txBox="1"/>
            <p:nvPr/>
          </p:nvSpPr>
          <p:spPr>
            <a:xfrm>
              <a:off x="896617" y="6202018"/>
              <a:ext cx="733644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关键设计原则——</a:t>
              </a:r>
              <a:r>
                <a:rPr lang="zh-CN" sz="1400" b="1" dirty="0">
                  <a:solidFill>
                    <a:srgbClr val="C8161E"/>
                  </a:solidFill>
                  <a:latin typeface="Arial"/>
                  <a:ea typeface="Microsoft YaHei"/>
                  <a:cs typeface="Arial"/>
                </a:rPr>
                <a:t>不得倒置</a:t>
              </a:r>
              <a:r>
                <a:rPr lang="zh-CN" sz="1400" dirty="0">
                  <a:solidFill>
                    <a:srgbClr val="1B1C21"/>
                  </a:solidFill>
                  <a:latin typeface="Arial"/>
                  <a:ea typeface="Microsoft YaHei"/>
                  <a:cs typeface="Arial"/>
                </a:rPr>
                <a:t>：不因结论正确补救创新不足，不因涉及中国议题自动给高分。</a:t>
              </a:r>
            </a:p>
          </p:txBody>
        </p:sp>
      </p:grpSp>
      <p:grpSp>
        <p:nvGrpSpPr>
          <p:cNvPr id="38" name="Group 38"/>
          <p:cNvGrpSpPr/>
          <p:nvPr/>
        </p:nvGrpSpPr>
        <p:grpSpPr>
          <a:xfrm>
            <a:off x="0" y="6516343"/>
            <a:ext cx="12192000" cy="341657"/>
            <a:chOff x="0" y="6516343"/>
            <a:chExt cx="12192000" cy="341657"/>
          </a:xfrm>
        </p:grpSpPr>
        <p:sp>
          <p:nvSpPr>
            <p:cNvPr id="35" name="Rectangle 3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6" name="TextBox 36"/>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37" name="TextBox 37"/>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image">
                                      <p:cBhvr>
                                        <p:cTn id="11" dur="400"/>
                                        <p:tgtEl>
                                          <p:spTgt spid="1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400"/>
                                        <p:tgtEl>
                                          <p:spTgt spid="2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slide(fromBottom)">
                                      <p:cBhvr>
                                        <p:cTn id="23" dur="400"/>
                                        <p:tgtEl>
                                          <p:spTgt spid="31"/>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imag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21" grpId="0"/>
      <p:bldP spid="26" grpId="0"/>
      <p:bldP spid="31"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4642952"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概念操作化——把主观变客观</a:t>
            </a:r>
          </a:p>
        </p:txBody>
      </p:sp>
      <p:sp>
        <p:nvSpPr>
          <p:cNvPr id="7" name="Rectangle 7"/>
          <p:cNvSpPr/>
          <p:nvPr/>
        </p:nvSpPr>
        <p:spPr>
          <a:xfrm>
            <a:off x="609600" y="1714500"/>
            <a:ext cx="10972800" cy="762000"/>
          </a:xfrm>
          <a:prstGeom prst="roundRect">
            <a:avLst>
              <a:gd name="adj" fmla="val 10000"/>
            </a:avLst>
          </a:prstGeom>
          <a:solidFill>
            <a:srgbClr val="F4F5F7"/>
          </a:solidFill>
          <a:ln>
            <a:noFill/>
          </a:ln>
        </p:spPr>
      </p:sp>
      <p:sp>
        <p:nvSpPr>
          <p:cNvPr id="8" name="TextBox 8"/>
          <p:cNvSpPr txBox="1"/>
          <p:nvPr/>
        </p:nvSpPr>
        <p:spPr>
          <a:xfrm>
            <a:off x="893445" y="1822132"/>
            <a:ext cx="966026"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核心创新</a:t>
            </a:r>
          </a:p>
        </p:txBody>
      </p:sp>
      <p:sp>
        <p:nvSpPr>
          <p:cNvPr id="9" name="TextBox 9"/>
          <p:cNvSpPr txBox="1"/>
          <p:nvPr/>
        </p:nvSpPr>
        <p:spPr>
          <a:xfrm>
            <a:off x="895350" y="2143125"/>
            <a:ext cx="7349014"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将模糊的学术概念转化为可验证的检查清单，让 AI 有"尺子"可量，减少主观随意性</a:t>
            </a:r>
          </a:p>
        </p:txBody>
      </p:sp>
      <p:sp>
        <p:nvSpPr>
          <p:cNvPr id="10" name="Rectangle 10"/>
          <p:cNvSpPr/>
          <p:nvPr/>
        </p:nvSpPr>
        <p:spPr>
          <a:xfrm>
            <a:off x="609600" y="2762250"/>
            <a:ext cx="5334000" cy="3238500"/>
          </a:xfrm>
          <a:prstGeom prst="roundRect">
            <a:avLst>
              <a:gd name="adj" fmla="val 2353"/>
            </a:avLst>
          </a:prstGeom>
          <a:solidFill>
            <a:srgbClr val="FFFFFF"/>
          </a:solidFill>
          <a:ln w="9525">
            <a:solidFill>
              <a:srgbClr val="D9DEE5"/>
            </a:solidFill>
          </a:ln>
        </p:spPr>
      </p:sp>
      <p:sp>
        <p:nvSpPr>
          <p:cNvPr id="11" name="TextBox 11"/>
          <p:cNvSpPr txBox="1"/>
          <p:nvPr/>
        </p:nvSpPr>
        <p:spPr>
          <a:xfrm>
            <a:off x="891540" y="2929890"/>
            <a:ext cx="1709128"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示例 1：枢纽性</a:t>
            </a:r>
          </a:p>
        </p:txBody>
      </p:sp>
      <p:sp>
        <p:nvSpPr>
          <p:cNvPr id="12" name="TextBox 12"/>
          <p:cNvSpPr txBox="1"/>
          <p:nvPr/>
        </p:nvSpPr>
        <p:spPr>
          <a:xfrm>
            <a:off x="897255" y="3302318"/>
            <a:ext cx="2527602"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满足 4 项可检查标准中的 ≥2 项</a:t>
            </a:r>
          </a:p>
        </p:txBody>
      </p:sp>
      <p:grpSp>
        <p:nvGrpSpPr>
          <p:cNvPr id="17" name="Group 17"/>
          <p:cNvGrpSpPr/>
          <p:nvPr/>
        </p:nvGrpSpPr>
        <p:grpSpPr>
          <a:xfrm>
            <a:off x="971550" y="3705225"/>
            <a:ext cx="2381250" cy="523875"/>
            <a:chOff x="971550" y="3705225"/>
            <a:chExt cx="2381250" cy="523875"/>
          </a:xfrm>
        </p:grpSpPr>
        <p:sp>
          <p:nvSpPr>
            <p:cNvPr id="13" name="Ellipse 13"/>
            <p:cNvSpPr/>
            <p:nvPr/>
          </p:nvSpPr>
          <p:spPr>
            <a:xfrm>
              <a:off x="971550" y="3733800"/>
              <a:ext cx="152400" cy="152400"/>
            </a:xfrm>
            <a:prstGeom prst="ellipse">
              <a:avLst/>
            </a:prstGeom>
            <a:solidFill>
              <a:srgbClr val="2E7D32"/>
            </a:solidFill>
            <a:ln>
              <a:noFill/>
            </a:ln>
          </p:spPr>
        </p:sp>
        <p:sp>
          <p:nvSpPr>
            <p:cNvPr id="14" name="TextBox 14"/>
            <p:cNvSpPr txBox="1"/>
            <p:nvPr/>
          </p:nvSpPr>
          <p:spPr>
            <a:xfrm>
              <a:off x="993985" y="37347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15" name="TextBox 15"/>
            <p:cNvSpPr txBox="1"/>
            <p:nvPr/>
          </p:nvSpPr>
          <p:spPr>
            <a:xfrm>
              <a:off x="1238250" y="3705225"/>
              <a:ext cx="1038225"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影响范围广</a:t>
              </a:r>
            </a:p>
          </p:txBody>
        </p:sp>
        <p:sp>
          <p:nvSpPr>
            <p:cNvPr id="16" name="TextBox 16"/>
            <p:cNvSpPr txBox="1"/>
            <p:nvPr/>
          </p:nvSpPr>
          <p:spPr>
            <a:xfrm>
              <a:off x="1242060" y="3985260"/>
              <a:ext cx="21107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涉及多个法律部门或制度领域</a:t>
              </a:r>
            </a:p>
          </p:txBody>
        </p:sp>
      </p:grpSp>
      <p:grpSp>
        <p:nvGrpSpPr>
          <p:cNvPr id="22" name="Group 22"/>
          <p:cNvGrpSpPr/>
          <p:nvPr/>
        </p:nvGrpSpPr>
        <p:grpSpPr>
          <a:xfrm>
            <a:off x="971550" y="4371975"/>
            <a:ext cx="2381250" cy="523875"/>
            <a:chOff x="971550" y="4371975"/>
            <a:chExt cx="2381250" cy="523875"/>
          </a:xfrm>
        </p:grpSpPr>
        <p:sp>
          <p:nvSpPr>
            <p:cNvPr id="18" name="Ellipse 18"/>
            <p:cNvSpPr/>
            <p:nvPr/>
          </p:nvSpPr>
          <p:spPr>
            <a:xfrm>
              <a:off x="971550" y="4400550"/>
              <a:ext cx="152400" cy="152400"/>
            </a:xfrm>
            <a:prstGeom prst="ellipse">
              <a:avLst/>
            </a:prstGeom>
            <a:solidFill>
              <a:srgbClr val="2E7D32"/>
            </a:solidFill>
            <a:ln>
              <a:noFill/>
            </a:ln>
          </p:spPr>
        </p:sp>
        <p:sp>
          <p:nvSpPr>
            <p:cNvPr id="19" name="TextBox 19"/>
            <p:cNvSpPr txBox="1"/>
            <p:nvPr/>
          </p:nvSpPr>
          <p:spPr>
            <a:xfrm>
              <a:off x="993985" y="44015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20" name="TextBox 20"/>
            <p:cNvSpPr txBox="1"/>
            <p:nvPr/>
          </p:nvSpPr>
          <p:spPr>
            <a:xfrm>
              <a:off x="1238250" y="4371975"/>
              <a:ext cx="838200"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争议焦点</a:t>
              </a:r>
            </a:p>
          </p:txBody>
        </p:sp>
        <p:sp>
          <p:nvSpPr>
            <p:cNvPr id="21" name="TextBox 21"/>
            <p:cNvSpPr txBox="1"/>
            <p:nvPr/>
          </p:nvSpPr>
          <p:spPr>
            <a:xfrm>
              <a:off x="1242060" y="4652010"/>
              <a:ext cx="21107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学界存在持续争论或多种解释</a:t>
              </a:r>
            </a:p>
          </p:txBody>
        </p:sp>
      </p:grpSp>
      <p:grpSp>
        <p:nvGrpSpPr>
          <p:cNvPr id="27" name="Group 27"/>
          <p:cNvGrpSpPr/>
          <p:nvPr/>
        </p:nvGrpSpPr>
        <p:grpSpPr>
          <a:xfrm>
            <a:off x="971550" y="5038725"/>
            <a:ext cx="2381250" cy="523875"/>
            <a:chOff x="971550" y="5038725"/>
            <a:chExt cx="2381250" cy="523875"/>
          </a:xfrm>
        </p:grpSpPr>
        <p:sp>
          <p:nvSpPr>
            <p:cNvPr id="23" name="Ellipse 23"/>
            <p:cNvSpPr/>
            <p:nvPr/>
          </p:nvSpPr>
          <p:spPr>
            <a:xfrm>
              <a:off x="971550" y="5067300"/>
              <a:ext cx="152400" cy="152400"/>
            </a:xfrm>
            <a:prstGeom prst="ellipse">
              <a:avLst/>
            </a:prstGeom>
            <a:solidFill>
              <a:srgbClr val="2E7D32"/>
            </a:solidFill>
            <a:ln>
              <a:noFill/>
            </a:ln>
          </p:spPr>
        </p:sp>
        <p:sp>
          <p:nvSpPr>
            <p:cNvPr id="24" name="TextBox 24"/>
            <p:cNvSpPr txBox="1"/>
            <p:nvPr/>
          </p:nvSpPr>
          <p:spPr>
            <a:xfrm>
              <a:off x="993985" y="50682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25" name="TextBox 25"/>
            <p:cNvSpPr txBox="1"/>
            <p:nvPr/>
          </p:nvSpPr>
          <p:spPr>
            <a:xfrm>
              <a:off x="1238250" y="5038725"/>
              <a:ext cx="838200"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理论基础</a:t>
              </a:r>
            </a:p>
          </p:txBody>
        </p:sp>
        <p:sp>
          <p:nvSpPr>
            <p:cNvPr id="26" name="TextBox 26"/>
            <p:cNvSpPr txBox="1"/>
            <p:nvPr/>
          </p:nvSpPr>
          <p:spPr>
            <a:xfrm>
              <a:off x="1242060" y="5318760"/>
              <a:ext cx="21107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涉及法学基本原理或核心概念</a:t>
              </a:r>
            </a:p>
          </p:txBody>
        </p:sp>
      </p:grpSp>
      <p:grpSp>
        <p:nvGrpSpPr>
          <p:cNvPr id="32" name="Group 32"/>
          <p:cNvGrpSpPr/>
          <p:nvPr/>
        </p:nvGrpSpPr>
        <p:grpSpPr>
          <a:xfrm>
            <a:off x="971550" y="5610225"/>
            <a:ext cx="2381250" cy="523875"/>
            <a:chOff x="971550" y="5610225"/>
            <a:chExt cx="2381250" cy="523875"/>
          </a:xfrm>
        </p:grpSpPr>
        <p:sp>
          <p:nvSpPr>
            <p:cNvPr id="28" name="Ellipse 28"/>
            <p:cNvSpPr/>
            <p:nvPr/>
          </p:nvSpPr>
          <p:spPr>
            <a:xfrm>
              <a:off x="971550" y="5638800"/>
              <a:ext cx="152400" cy="152400"/>
            </a:xfrm>
            <a:prstGeom prst="ellipse">
              <a:avLst/>
            </a:prstGeom>
            <a:solidFill>
              <a:srgbClr val="2E7D32"/>
            </a:solidFill>
            <a:ln>
              <a:noFill/>
            </a:ln>
          </p:spPr>
        </p:sp>
        <p:sp>
          <p:nvSpPr>
            <p:cNvPr id="29" name="TextBox 29"/>
            <p:cNvSpPr txBox="1"/>
            <p:nvPr/>
          </p:nvSpPr>
          <p:spPr>
            <a:xfrm>
              <a:off x="993985" y="56397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30" name="TextBox 30"/>
            <p:cNvSpPr txBox="1"/>
            <p:nvPr/>
          </p:nvSpPr>
          <p:spPr>
            <a:xfrm>
              <a:off x="1238250" y="5610225"/>
              <a:ext cx="838200"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制度连锁</a:t>
              </a:r>
            </a:p>
          </p:txBody>
        </p:sp>
        <p:sp>
          <p:nvSpPr>
            <p:cNvPr id="31" name="TextBox 31"/>
            <p:cNvSpPr txBox="1"/>
            <p:nvPr/>
          </p:nvSpPr>
          <p:spPr>
            <a:xfrm>
              <a:off x="1242060" y="5890260"/>
              <a:ext cx="21107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解决方案会引发其他制度调整</a:t>
              </a:r>
            </a:p>
          </p:txBody>
        </p:sp>
      </p:grpSp>
      <p:sp>
        <p:nvSpPr>
          <p:cNvPr id="33" name="Rectangle 33"/>
          <p:cNvSpPr/>
          <p:nvPr/>
        </p:nvSpPr>
        <p:spPr>
          <a:xfrm>
            <a:off x="6248400" y="2762250"/>
            <a:ext cx="5334000" cy="3238500"/>
          </a:xfrm>
          <a:prstGeom prst="roundRect">
            <a:avLst>
              <a:gd name="adj" fmla="val 2353"/>
            </a:avLst>
          </a:prstGeom>
          <a:solidFill>
            <a:srgbClr val="FFFFFF"/>
          </a:solidFill>
          <a:ln w="9525">
            <a:solidFill>
              <a:srgbClr val="D9DEE5"/>
            </a:solidFill>
          </a:ln>
        </p:spPr>
      </p:sp>
      <p:sp>
        <p:nvSpPr>
          <p:cNvPr id="34" name="TextBox 34"/>
          <p:cNvSpPr txBox="1"/>
          <p:nvPr/>
        </p:nvSpPr>
        <p:spPr>
          <a:xfrm>
            <a:off x="6530340" y="2929890"/>
            <a:ext cx="3032293"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示例 2：可争辩的法学问题</a:t>
            </a:r>
          </a:p>
        </p:txBody>
      </p:sp>
      <p:sp>
        <p:nvSpPr>
          <p:cNvPr id="35" name="TextBox 35"/>
          <p:cNvSpPr txBox="1"/>
          <p:nvPr/>
        </p:nvSpPr>
        <p:spPr>
          <a:xfrm>
            <a:off x="6536055" y="3302318"/>
            <a:ext cx="1861518"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必须同时满足 4 项标准</a:t>
            </a:r>
          </a:p>
        </p:txBody>
      </p:sp>
      <p:grpSp>
        <p:nvGrpSpPr>
          <p:cNvPr id="40" name="Group 40"/>
          <p:cNvGrpSpPr/>
          <p:nvPr/>
        </p:nvGrpSpPr>
        <p:grpSpPr>
          <a:xfrm>
            <a:off x="6610350" y="3705225"/>
            <a:ext cx="2701290" cy="523875"/>
            <a:chOff x="6610350" y="3705225"/>
            <a:chExt cx="2701290" cy="523875"/>
          </a:xfrm>
        </p:grpSpPr>
        <p:sp>
          <p:nvSpPr>
            <p:cNvPr id="36" name="Ellipse 36"/>
            <p:cNvSpPr/>
            <p:nvPr/>
          </p:nvSpPr>
          <p:spPr>
            <a:xfrm>
              <a:off x="6610350" y="3733800"/>
              <a:ext cx="152400" cy="152400"/>
            </a:xfrm>
            <a:prstGeom prst="ellipse">
              <a:avLst/>
            </a:prstGeom>
            <a:solidFill>
              <a:srgbClr val="2E7D32"/>
            </a:solidFill>
            <a:ln>
              <a:noFill/>
            </a:ln>
          </p:spPr>
        </p:sp>
        <p:sp>
          <p:nvSpPr>
            <p:cNvPr id="37" name="TextBox 37"/>
            <p:cNvSpPr txBox="1"/>
            <p:nvPr/>
          </p:nvSpPr>
          <p:spPr>
            <a:xfrm>
              <a:off x="6632785" y="37347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38" name="TextBox 38"/>
            <p:cNvSpPr txBox="1"/>
            <p:nvPr/>
          </p:nvSpPr>
          <p:spPr>
            <a:xfrm>
              <a:off x="6877050" y="3705225"/>
              <a:ext cx="838200"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有问题句</a:t>
              </a:r>
            </a:p>
          </p:txBody>
        </p:sp>
        <p:sp>
          <p:nvSpPr>
            <p:cNvPr id="39" name="TextBox 39"/>
            <p:cNvSpPr txBox="1"/>
            <p:nvPr/>
          </p:nvSpPr>
          <p:spPr>
            <a:xfrm>
              <a:off x="6880860" y="3985260"/>
              <a:ext cx="243078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明确提出疑问或待解决的理论问题</a:t>
              </a:r>
            </a:p>
          </p:txBody>
        </p:sp>
      </p:grpSp>
      <p:grpSp>
        <p:nvGrpSpPr>
          <p:cNvPr id="45" name="Group 45"/>
          <p:cNvGrpSpPr/>
          <p:nvPr/>
        </p:nvGrpSpPr>
        <p:grpSpPr>
          <a:xfrm>
            <a:off x="6610350" y="4371975"/>
            <a:ext cx="2381250" cy="523875"/>
            <a:chOff x="6610350" y="4371975"/>
            <a:chExt cx="2381250" cy="523875"/>
          </a:xfrm>
        </p:grpSpPr>
        <p:sp>
          <p:nvSpPr>
            <p:cNvPr id="41" name="Ellipse 41"/>
            <p:cNvSpPr/>
            <p:nvPr/>
          </p:nvSpPr>
          <p:spPr>
            <a:xfrm>
              <a:off x="6610350" y="4400550"/>
              <a:ext cx="152400" cy="152400"/>
            </a:xfrm>
            <a:prstGeom prst="ellipse">
              <a:avLst/>
            </a:prstGeom>
            <a:solidFill>
              <a:srgbClr val="2E7D32"/>
            </a:solidFill>
            <a:ln>
              <a:noFill/>
            </a:ln>
          </p:spPr>
        </p:sp>
        <p:sp>
          <p:nvSpPr>
            <p:cNvPr id="42" name="TextBox 42"/>
            <p:cNvSpPr txBox="1"/>
            <p:nvPr/>
          </p:nvSpPr>
          <p:spPr>
            <a:xfrm>
              <a:off x="6632785" y="44015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43" name="TextBox 43"/>
            <p:cNvSpPr txBox="1"/>
            <p:nvPr/>
          </p:nvSpPr>
          <p:spPr>
            <a:xfrm>
              <a:off x="6877050" y="4371975"/>
              <a:ext cx="1238250"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涉及法律规范</a:t>
              </a:r>
            </a:p>
          </p:txBody>
        </p:sp>
        <p:sp>
          <p:nvSpPr>
            <p:cNvPr id="44" name="TextBox 44"/>
            <p:cNvSpPr txBox="1"/>
            <p:nvPr/>
          </p:nvSpPr>
          <p:spPr>
            <a:xfrm>
              <a:off x="6880860" y="4652010"/>
              <a:ext cx="21107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与法律条文、判例或法理相关</a:t>
              </a:r>
            </a:p>
          </p:txBody>
        </p:sp>
      </p:grpSp>
      <p:grpSp>
        <p:nvGrpSpPr>
          <p:cNvPr id="50" name="Group 50"/>
          <p:cNvGrpSpPr/>
          <p:nvPr/>
        </p:nvGrpSpPr>
        <p:grpSpPr>
          <a:xfrm>
            <a:off x="6610350" y="5038725"/>
            <a:ext cx="2381250" cy="523875"/>
            <a:chOff x="6610350" y="5038725"/>
            <a:chExt cx="2381250" cy="523875"/>
          </a:xfrm>
        </p:grpSpPr>
        <p:sp>
          <p:nvSpPr>
            <p:cNvPr id="46" name="Ellipse 46"/>
            <p:cNvSpPr/>
            <p:nvPr/>
          </p:nvSpPr>
          <p:spPr>
            <a:xfrm>
              <a:off x="6610350" y="5067300"/>
              <a:ext cx="152400" cy="152400"/>
            </a:xfrm>
            <a:prstGeom prst="ellipse">
              <a:avLst/>
            </a:prstGeom>
            <a:solidFill>
              <a:srgbClr val="2E7D32"/>
            </a:solidFill>
            <a:ln>
              <a:noFill/>
            </a:ln>
          </p:spPr>
        </p:sp>
        <p:sp>
          <p:nvSpPr>
            <p:cNvPr id="47" name="TextBox 47"/>
            <p:cNvSpPr txBox="1"/>
            <p:nvPr/>
          </p:nvSpPr>
          <p:spPr>
            <a:xfrm>
              <a:off x="6632785" y="50682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48" name="TextBox 48"/>
            <p:cNvSpPr txBox="1"/>
            <p:nvPr/>
          </p:nvSpPr>
          <p:spPr>
            <a:xfrm>
              <a:off x="6877050" y="5038725"/>
              <a:ext cx="1038225"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有理论分歧</a:t>
              </a:r>
            </a:p>
          </p:txBody>
        </p:sp>
        <p:sp>
          <p:nvSpPr>
            <p:cNvPr id="49" name="TextBox 49"/>
            <p:cNvSpPr txBox="1"/>
            <p:nvPr/>
          </p:nvSpPr>
          <p:spPr>
            <a:xfrm>
              <a:off x="6880860" y="5318760"/>
              <a:ext cx="21107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存在不同学术观点或解释路径</a:t>
              </a:r>
            </a:p>
          </p:txBody>
        </p:sp>
      </p:grpSp>
      <p:grpSp>
        <p:nvGrpSpPr>
          <p:cNvPr id="55" name="Group 55"/>
          <p:cNvGrpSpPr/>
          <p:nvPr/>
        </p:nvGrpSpPr>
        <p:grpSpPr>
          <a:xfrm>
            <a:off x="6610350" y="5610225"/>
            <a:ext cx="2541270" cy="523875"/>
            <a:chOff x="6610350" y="5610225"/>
            <a:chExt cx="2541270" cy="523875"/>
          </a:xfrm>
        </p:grpSpPr>
        <p:sp>
          <p:nvSpPr>
            <p:cNvPr id="51" name="Ellipse 51"/>
            <p:cNvSpPr/>
            <p:nvPr/>
          </p:nvSpPr>
          <p:spPr>
            <a:xfrm>
              <a:off x="6610350" y="5638800"/>
              <a:ext cx="152400" cy="152400"/>
            </a:xfrm>
            <a:prstGeom prst="ellipse">
              <a:avLst/>
            </a:prstGeom>
            <a:solidFill>
              <a:srgbClr val="2E7D32"/>
            </a:solidFill>
            <a:ln>
              <a:noFill/>
            </a:ln>
          </p:spPr>
        </p:sp>
        <p:sp>
          <p:nvSpPr>
            <p:cNvPr id="52" name="TextBox 52"/>
            <p:cNvSpPr txBox="1"/>
            <p:nvPr/>
          </p:nvSpPr>
          <p:spPr>
            <a:xfrm>
              <a:off x="6632785" y="56397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53" name="TextBox 53"/>
            <p:cNvSpPr txBox="1"/>
            <p:nvPr/>
          </p:nvSpPr>
          <p:spPr>
            <a:xfrm>
              <a:off x="6877050" y="5610225"/>
              <a:ext cx="1038225"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非政策倡导</a:t>
              </a:r>
            </a:p>
          </p:txBody>
        </p:sp>
        <p:sp>
          <p:nvSpPr>
            <p:cNvPr id="54" name="TextBox 54"/>
            <p:cNvSpPr txBox="1"/>
            <p:nvPr/>
          </p:nvSpPr>
          <p:spPr>
            <a:xfrm>
              <a:off x="6880860" y="5890260"/>
              <a:ext cx="227076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不是单纯的政策宣传或价值倡导</a:t>
              </a:r>
            </a:p>
          </p:txBody>
        </p:sp>
      </p:grpSp>
      <p:sp>
        <p:nvSpPr>
          <p:cNvPr id="56" name="TextBox 56"/>
          <p:cNvSpPr txBox="1"/>
          <p:nvPr/>
        </p:nvSpPr>
        <p:spPr>
          <a:xfrm>
            <a:off x="6051566" y="6570345"/>
            <a:ext cx="88868"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400"/>
                                        <p:tgtEl>
                                          <p:spTgt spid="2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slide(fromBottom)">
                                      <p:cBhvr>
                                        <p:cTn id="15" dur="400"/>
                                        <p:tgtEl>
                                          <p:spTgt spid="27"/>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image">
                                      <p:cBhvr>
                                        <p:cTn id="19" dur="400"/>
                                        <p:tgtEl>
                                          <p:spTgt spid="32"/>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400"/>
                                        <p:tgtEl>
                                          <p:spTgt spid="45"/>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slide(fromBottom)">
                                      <p:cBhvr>
                                        <p:cTn id="31" dur="400"/>
                                        <p:tgtEl>
                                          <p:spTgt spid="50"/>
                                        </p:tgtEl>
                                      </p:cBhvr>
                                    </p:animEffect>
                                  </p:childTnLst>
                                </p:cTn>
                              </p:par>
                            </p:childTnLst>
                          </p:cTn>
                        </p:par>
                        <p:par>
                          <p:cTn id="32" fill="hold">
                            <p:stCondLst>
                              <p:cond delay="6300"/>
                            </p:stCondLst>
                            <p:childTnLst>
                              <p:par>
                                <p:cTn id="33" presetID="23" presetClass="entr" presetSubtype="0" fill="hold" nodeType="after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image">
                                      <p:cBhvr>
                                        <p:cTn id="35"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2" grpId="0"/>
      <p:bldP spid="27" grpId="0"/>
      <p:bldP spid="32" grpId="0"/>
      <p:bldP spid="40" grpId="0"/>
      <p:bldP spid="45" grpId="0"/>
      <p:bldP spid="50" grpId="0"/>
      <p:bldP spid="5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3471005"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多模型并发评审设计</a:t>
            </a:r>
          </a:p>
        </p:txBody>
      </p:sp>
      <p:sp>
        <p:nvSpPr>
          <p:cNvPr id="7" name="Rectangle 7"/>
          <p:cNvSpPr/>
          <p:nvPr/>
        </p:nvSpPr>
        <p:spPr>
          <a:xfrm>
            <a:off x="609600" y="1714500"/>
            <a:ext cx="10972800" cy="666750"/>
          </a:xfrm>
          <a:prstGeom prst="roundRect">
            <a:avLst>
              <a:gd name="adj" fmla="val 11429"/>
            </a:avLst>
          </a:prstGeom>
          <a:solidFill>
            <a:srgbClr val="F4F5F7"/>
          </a:solidFill>
          <a:ln>
            <a:noFill/>
          </a:ln>
        </p:spPr>
      </p:sp>
      <p:sp>
        <p:nvSpPr>
          <p:cNvPr id="8" name="TextBox 8"/>
          <p:cNvSpPr txBox="1"/>
          <p:nvPr/>
        </p:nvSpPr>
        <p:spPr>
          <a:xfrm>
            <a:off x="3195121" y="1916430"/>
            <a:ext cx="5801758" cy="426720"/>
          </a:xfrm>
          <a:prstGeom prst="rect">
            <a:avLst/>
          </a:prstGeom>
          <a:noFill/>
          <a:ln>
            <a:noFill/>
          </a:ln>
        </p:spPr>
        <p:txBody>
          <a:bodyPr wrap="none" lIns="0" tIns="0" rIns="0" bIns="0" anchor="t" anchorCtr="0">
            <a:spAutoFit/>
          </a:bodyPr>
          <a:lstStyle/>
          <a:p>
            <a:pPr algn="ctr"/>
            <a:r>
              <a:rPr lang="zh-CN" sz="2100" b="1" dirty="0">
                <a:solidFill>
                  <a:srgbClr val="1F4D78"/>
                </a:solidFill>
                <a:latin typeface="Arial"/>
                <a:ea typeface="Microsoft YaHei"/>
                <a:cs typeface="Arial"/>
              </a:rPr>
              <a:t>每篇论文 × 6 维度 × 4 模型 = 24 次 API 调用</a:t>
            </a:r>
          </a:p>
        </p:txBody>
      </p:sp>
      <p:grpSp>
        <p:nvGrpSpPr>
          <p:cNvPr id="19" name="Group 19"/>
          <p:cNvGrpSpPr/>
          <p:nvPr/>
        </p:nvGrpSpPr>
        <p:grpSpPr>
          <a:xfrm>
            <a:off x="609600" y="2667000"/>
            <a:ext cx="5334000" cy="1714500"/>
            <a:chOff x="609600" y="2667000"/>
            <a:chExt cx="5334000" cy="1714500"/>
          </a:xfrm>
        </p:grpSpPr>
        <p:sp>
          <p:nvSpPr>
            <p:cNvPr id="9" name="Rectangle 9"/>
            <p:cNvSpPr/>
            <p:nvPr/>
          </p:nvSpPr>
          <p:spPr>
            <a:xfrm>
              <a:off x="609600" y="2667000"/>
              <a:ext cx="5334000" cy="1714500"/>
            </a:xfrm>
            <a:prstGeom prst="roundRect">
              <a:avLst>
                <a:gd name="adj" fmla="val 4444"/>
              </a:avLst>
            </a:prstGeom>
            <a:solidFill>
              <a:srgbClr val="FFFFFF"/>
            </a:solidFill>
            <a:ln w="19050">
              <a:solidFill>
                <a:srgbClr val="D9DEE5"/>
              </a:solidFill>
            </a:ln>
          </p:spPr>
        </p:sp>
        <p:sp>
          <p:nvSpPr>
            <p:cNvPr id="10" name="Rectangle 10"/>
            <p:cNvSpPr/>
            <p:nvPr/>
          </p:nvSpPr>
          <p:spPr>
            <a:xfrm>
              <a:off x="609600" y="2667000"/>
              <a:ext cx="5334000" cy="476250"/>
            </a:xfrm>
            <a:prstGeom prst="roundRect">
              <a:avLst>
                <a:gd name="adj" fmla="val 16000"/>
              </a:avLst>
            </a:prstGeom>
            <a:solidFill>
              <a:srgbClr val="1F4D78"/>
            </a:solidFill>
            <a:ln>
              <a:noFill/>
            </a:ln>
          </p:spPr>
        </p:sp>
        <p:sp>
          <p:nvSpPr>
            <p:cNvPr id="11" name="Rectangle 11"/>
            <p:cNvSpPr/>
            <p:nvPr/>
          </p:nvSpPr>
          <p:spPr>
            <a:xfrm>
              <a:off x="609600" y="3143250"/>
              <a:ext cx="5334000" cy="1238250"/>
            </a:xfrm>
            <a:prstGeom prst="roundRect">
              <a:avLst>
                <a:gd name="adj" fmla="val 6154"/>
              </a:avLst>
            </a:prstGeom>
            <a:solidFill>
              <a:srgbClr val="FFFFFF"/>
            </a:solidFill>
            <a:ln>
              <a:noFill/>
            </a:ln>
          </p:spPr>
        </p:sp>
        <p:sp>
          <p:nvSpPr>
            <p:cNvPr id="12" name="TextBox 12"/>
            <p:cNvSpPr txBox="1"/>
            <p:nvPr/>
          </p:nvSpPr>
          <p:spPr>
            <a:xfrm>
              <a:off x="2390532" y="2777490"/>
              <a:ext cx="1772136"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A 组（宽松型）</a:t>
              </a:r>
            </a:p>
          </p:txBody>
        </p:sp>
        <p:sp>
          <p:nvSpPr>
            <p:cNvPr id="13" name="Ellipse 13"/>
            <p:cNvSpPr/>
            <p:nvPr/>
          </p:nvSpPr>
          <p:spPr>
            <a:xfrm>
              <a:off x="1600200" y="3267075"/>
              <a:ext cx="609600" cy="609600"/>
            </a:xfrm>
            <a:prstGeom prst="ellipse">
              <a:avLst/>
            </a:prstGeom>
            <a:solidFill>
              <a:srgbClr val="2E5E8C"/>
            </a:solidFill>
            <a:ln>
              <a:noFill/>
            </a:ln>
          </p:spPr>
        </p:sp>
        <p:sp>
          <p:nvSpPr>
            <p:cNvPr id="14" name="TextBox 14"/>
            <p:cNvSpPr txBox="1"/>
            <p:nvPr/>
          </p:nvSpPr>
          <p:spPr>
            <a:xfrm>
              <a:off x="1734341" y="3518535"/>
              <a:ext cx="34131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GLM</a:t>
              </a:r>
            </a:p>
          </p:txBody>
        </p:sp>
        <p:sp>
          <p:nvSpPr>
            <p:cNvPr id="15" name="TextBox 15"/>
            <p:cNvSpPr txBox="1"/>
            <p:nvPr/>
          </p:nvSpPr>
          <p:spPr>
            <a:xfrm>
              <a:off x="1545812" y="3854768"/>
              <a:ext cx="718375"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GLM-5.1</a:t>
              </a:r>
            </a:p>
          </p:txBody>
        </p:sp>
        <p:sp>
          <p:nvSpPr>
            <p:cNvPr id="16" name="Ellipse 16"/>
            <p:cNvSpPr/>
            <p:nvPr/>
          </p:nvSpPr>
          <p:spPr>
            <a:xfrm>
              <a:off x="4343400" y="3267075"/>
              <a:ext cx="609600" cy="609600"/>
            </a:xfrm>
            <a:prstGeom prst="ellipse">
              <a:avLst/>
            </a:prstGeom>
            <a:solidFill>
              <a:srgbClr val="2E5E8C"/>
            </a:solidFill>
            <a:ln>
              <a:noFill/>
            </a:ln>
          </p:spPr>
        </p:sp>
        <p:sp>
          <p:nvSpPr>
            <p:cNvPr id="17" name="TextBox 17"/>
            <p:cNvSpPr txBox="1"/>
            <p:nvPr/>
          </p:nvSpPr>
          <p:spPr>
            <a:xfrm>
              <a:off x="4414533" y="3518535"/>
              <a:ext cx="46733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Qwen</a:t>
              </a:r>
            </a:p>
          </p:txBody>
        </p:sp>
        <p:sp>
          <p:nvSpPr>
            <p:cNvPr id="18" name="TextBox 18"/>
            <p:cNvSpPr txBox="1"/>
            <p:nvPr/>
          </p:nvSpPr>
          <p:spPr>
            <a:xfrm>
              <a:off x="4023479" y="3854768"/>
              <a:ext cx="1249442"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Qwen3.6-Plus</a:t>
              </a:r>
            </a:p>
          </p:txBody>
        </p:sp>
      </p:grpSp>
      <p:grpSp>
        <p:nvGrpSpPr>
          <p:cNvPr id="30" name="Group 30"/>
          <p:cNvGrpSpPr/>
          <p:nvPr/>
        </p:nvGrpSpPr>
        <p:grpSpPr>
          <a:xfrm>
            <a:off x="6248400" y="2667000"/>
            <a:ext cx="5334000" cy="1714500"/>
            <a:chOff x="6248400" y="2667000"/>
            <a:chExt cx="5334000" cy="1714500"/>
          </a:xfrm>
        </p:grpSpPr>
        <p:sp>
          <p:nvSpPr>
            <p:cNvPr id="20" name="Rectangle 20"/>
            <p:cNvSpPr/>
            <p:nvPr/>
          </p:nvSpPr>
          <p:spPr>
            <a:xfrm>
              <a:off x="6248400" y="2667000"/>
              <a:ext cx="5334000" cy="1714500"/>
            </a:xfrm>
            <a:prstGeom prst="roundRect">
              <a:avLst>
                <a:gd name="adj" fmla="val 4444"/>
              </a:avLst>
            </a:prstGeom>
            <a:solidFill>
              <a:srgbClr val="FFFFFF"/>
            </a:solidFill>
            <a:ln w="19050">
              <a:solidFill>
                <a:srgbClr val="D9DEE5"/>
              </a:solidFill>
            </a:ln>
          </p:spPr>
        </p:sp>
        <p:sp>
          <p:nvSpPr>
            <p:cNvPr id="21" name="Rectangle 21"/>
            <p:cNvSpPr/>
            <p:nvPr/>
          </p:nvSpPr>
          <p:spPr>
            <a:xfrm>
              <a:off x="6248400" y="2667000"/>
              <a:ext cx="5334000" cy="476250"/>
            </a:xfrm>
            <a:prstGeom prst="roundRect">
              <a:avLst>
                <a:gd name="adj" fmla="val 16000"/>
              </a:avLst>
            </a:prstGeom>
            <a:solidFill>
              <a:srgbClr val="44546A"/>
            </a:solidFill>
            <a:ln>
              <a:noFill/>
            </a:ln>
          </p:spPr>
        </p:sp>
        <p:sp>
          <p:nvSpPr>
            <p:cNvPr id="22" name="Rectangle 22"/>
            <p:cNvSpPr/>
            <p:nvPr/>
          </p:nvSpPr>
          <p:spPr>
            <a:xfrm>
              <a:off x="6248400" y="3143250"/>
              <a:ext cx="5334000" cy="1238250"/>
            </a:xfrm>
            <a:prstGeom prst="roundRect">
              <a:avLst>
                <a:gd name="adj" fmla="val 6154"/>
              </a:avLst>
            </a:prstGeom>
            <a:solidFill>
              <a:srgbClr val="FFFFFF"/>
            </a:solidFill>
            <a:ln>
              <a:noFill/>
            </a:ln>
          </p:spPr>
        </p:sp>
        <p:sp>
          <p:nvSpPr>
            <p:cNvPr id="23" name="TextBox 23"/>
            <p:cNvSpPr txBox="1"/>
            <p:nvPr/>
          </p:nvSpPr>
          <p:spPr>
            <a:xfrm>
              <a:off x="8029332" y="2777490"/>
              <a:ext cx="1772136"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B 组（严格型）</a:t>
              </a:r>
            </a:p>
          </p:txBody>
        </p:sp>
        <p:sp>
          <p:nvSpPr>
            <p:cNvPr id="24" name="Ellipse 24"/>
            <p:cNvSpPr/>
            <p:nvPr/>
          </p:nvSpPr>
          <p:spPr>
            <a:xfrm>
              <a:off x="7239000" y="3267075"/>
              <a:ext cx="609600" cy="609600"/>
            </a:xfrm>
            <a:prstGeom prst="ellipse">
              <a:avLst/>
            </a:prstGeom>
            <a:solidFill>
              <a:srgbClr val="5A6472"/>
            </a:solidFill>
            <a:ln>
              <a:noFill/>
            </a:ln>
          </p:spPr>
        </p:sp>
        <p:sp>
          <p:nvSpPr>
            <p:cNvPr id="25" name="TextBox 25"/>
            <p:cNvSpPr txBox="1"/>
            <p:nvPr/>
          </p:nvSpPr>
          <p:spPr>
            <a:xfrm>
              <a:off x="7207025" y="3534728"/>
              <a:ext cx="67355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DeepSeek</a:t>
              </a:r>
            </a:p>
          </p:txBody>
        </p:sp>
        <p:sp>
          <p:nvSpPr>
            <p:cNvPr id="26" name="TextBox 26"/>
            <p:cNvSpPr txBox="1"/>
            <p:nvPr/>
          </p:nvSpPr>
          <p:spPr>
            <a:xfrm>
              <a:off x="6784062" y="3854768"/>
              <a:ext cx="1519476"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DeepSeek-V4-Pro</a:t>
              </a:r>
            </a:p>
          </p:txBody>
        </p:sp>
        <p:sp>
          <p:nvSpPr>
            <p:cNvPr id="27" name="Ellipse 27"/>
            <p:cNvSpPr/>
            <p:nvPr/>
          </p:nvSpPr>
          <p:spPr>
            <a:xfrm>
              <a:off x="9982200" y="3267075"/>
              <a:ext cx="609600" cy="609600"/>
            </a:xfrm>
            <a:prstGeom prst="ellipse">
              <a:avLst/>
            </a:prstGeom>
            <a:solidFill>
              <a:srgbClr val="5A6472"/>
            </a:solidFill>
            <a:ln>
              <a:noFill/>
            </a:ln>
          </p:spPr>
        </p:sp>
        <p:sp>
          <p:nvSpPr>
            <p:cNvPr id="28" name="TextBox 28"/>
            <p:cNvSpPr txBox="1"/>
            <p:nvPr/>
          </p:nvSpPr>
          <p:spPr>
            <a:xfrm>
              <a:off x="10112140" y="3518535"/>
              <a:ext cx="349720"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Kimi</a:t>
              </a:r>
            </a:p>
          </p:txBody>
        </p:sp>
        <p:sp>
          <p:nvSpPr>
            <p:cNvPr id="29" name="TextBox 29"/>
            <p:cNvSpPr txBox="1"/>
            <p:nvPr/>
          </p:nvSpPr>
          <p:spPr>
            <a:xfrm>
              <a:off x="9851303" y="3854768"/>
              <a:ext cx="871395"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Kimi-K2.6</a:t>
              </a:r>
            </a:p>
          </p:txBody>
        </p:sp>
      </p:grpSp>
      <p:sp>
        <p:nvSpPr>
          <p:cNvPr id="31" name="Rectangle 31"/>
          <p:cNvSpPr/>
          <p:nvPr/>
        </p:nvSpPr>
        <p:spPr>
          <a:xfrm>
            <a:off x="609600" y="4667250"/>
            <a:ext cx="10972800" cy="762000"/>
          </a:xfrm>
          <a:prstGeom prst="roundRect">
            <a:avLst>
              <a:gd name="adj" fmla="val 10000"/>
            </a:avLst>
          </a:prstGeom>
          <a:solidFill>
            <a:srgbClr val="FFF8F0"/>
          </a:solidFill>
          <a:ln w="19050">
            <a:solidFill>
              <a:srgbClr val="E07B00"/>
            </a:solidFill>
          </a:ln>
        </p:spPr>
      </p:sp>
      <p:sp>
        <p:nvSpPr>
          <p:cNvPr id="32" name="TextBox 32"/>
          <p:cNvSpPr txBox="1"/>
          <p:nvPr/>
        </p:nvSpPr>
        <p:spPr>
          <a:xfrm>
            <a:off x="893445" y="4774882"/>
            <a:ext cx="2121170" cy="335280"/>
          </a:xfrm>
          <a:prstGeom prst="rect">
            <a:avLst/>
          </a:prstGeom>
          <a:noFill/>
          <a:ln>
            <a:noFill/>
          </a:ln>
        </p:spPr>
        <p:txBody>
          <a:bodyPr wrap="none" lIns="0" tIns="0" rIns="0" bIns="0" anchor="t" anchorCtr="0">
            <a:spAutoFit/>
          </a:bodyPr>
          <a:lstStyle/>
          <a:p>
            <a:pPr algn="l"/>
            <a:r>
              <a:rPr lang="zh-CN" sz="1650" b="1" dirty="0">
                <a:solidFill>
                  <a:srgbClr val="E07B00"/>
                </a:solidFill>
                <a:latin typeface="Arial"/>
                <a:ea typeface="Microsoft YaHei"/>
                <a:cs typeface="Arial"/>
              </a:rPr>
              <a:t>为什么需要多模型？</a:t>
            </a:r>
          </a:p>
        </p:txBody>
      </p:sp>
      <p:sp>
        <p:nvSpPr>
          <p:cNvPr id="33" name="TextBox 33"/>
          <p:cNvSpPr txBox="1"/>
          <p:nvPr/>
        </p:nvSpPr>
        <p:spPr>
          <a:xfrm>
            <a:off x="895350" y="5095875"/>
            <a:ext cx="6898958"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单一模型存在系统性偏见，多模型并发暴露分歧 → 交叉评审收敛 → 提高可靠性</a:t>
            </a:r>
          </a:p>
        </p:txBody>
      </p:sp>
      <p:sp>
        <p:nvSpPr>
          <p:cNvPr id="34" name="TextBox 34"/>
          <p:cNvSpPr txBox="1"/>
          <p:nvPr/>
        </p:nvSpPr>
        <p:spPr>
          <a:xfrm>
            <a:off x="588645" y="563213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并发策略</a:t>
            </a:r>
          </a:p>
        </p:txBody>
      </p:sp>
      <p:grpSp>
        <p:nvGrpSpPr>
          <p:cNvPr id="41" name="Group 41"/>
          <p:cNvGrpSpPr/>
          <p:nvPr/>
        </p:nvGrpSpPr>
        <p:grpSpPr>
          <a:xfrm>
            <a:off x="609600" y="5953125"/>
            <a:ext cx="10972800" cy="476250"/>
            <a:chOff x="609600" y="5953125"/>
            <a:chExt cx="10972800" cy="476250"/>
          </a:xfrm>
        </p:grpSpPr>
        <p:sp>
          <p:nvSpPr>
            <p:cNvPr id="35" name="Rectangle 35"/>
            <p:cNvSpPr/>
            <p:nvPr/>
          </p:nvSpPr>
          <p:spPr>
            <a:xfrm>
              <a:off x="609600" y="5953125"/>
              <a:ext cx="3429000" cy="476250"/>
            </a:xfrm>
            <a:prstGeom prst="roundRect">
              <a:avLst>
                <a:gd name="adj" fmla="val 12000"/>
              </a:avLst>
            </a:prstGeom>
            <a:solidFill>
              <a:srgbClr val="F4F5F7"/>
            </a:solidFill>
            <a:ln>
              <a:noFill/>
            </a:ln>
          </p:spPr>
        </p:sp>
        <p:sp>
          <p:nvSpPr>
            <p:cNvPr id="36" name="TextBox 36"/>
            <p:cNvSpPr txBox="1"/>
            <p:nvPr/>
          </p:nvSpPr>
          <p:spPr>
            <a:xfrm>
              <a:off x="1519952" y="6086475"/>
              <a:ext cx="1608296"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论文级：3 篇并行</a:t>
              </a:r>
            </a:p>
          </p:txBody>
        </p:sp>
        <p:sp>
          <p:nvSpPr>
            <p:cNvPr id="37" name="Rectangle 37"/>
            <p:cNvSpPr/>
            <p:nvPr/>
          </p:nvSpPr>
          <p:spPr>
            <a:xfrm>
              <a:off x="4381500" y="5953125"/>
              <a:ext cx="3429000" cy="476250"/>
            </a:xfrm>
            <a:prstGeom prst="roundRect">
              <a:avLst>
                <a:gd name="adj" fmla="val 12000"/>
              </a:avLst>
            </a:prstGeom>
            <a:solidFill>
              <a:srgbClr val="F4F5F7"/>
            </a:solidFill>
            <a:ln>
              <a:noFill/>
            </a:ln>
          </p:spPr>
        </p:sp>
        <p:sp>
          <p:nvSpPr>
            <p:cNvPr id="38" name="TextBox 38"/>
            <p:cNvSpPr txBox="1"/>
            <p:nvPr/>
          </p:nvSpPr>
          <p:spPr>
            <a:xfrm>
              <a:off x="5191839" y="6086475"/>
              <a:ext cx="1808321"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维度级：6 维度并行</a:t>
              </a:r>
            </a:p>
          </p:txBody>
        </p:sp>
        <p:sp>
          <p:nvSpPr>
            <p:cNvPr id="39" name="Rectangle 39"/>
            <p:cNvSpPr/>
            <p:nvPr/>
          </p:nvSpPr>
          <p:spPr>
            <a:xfrm>
              <a:off x="8153400" y="5953125"/>
              <a:ext cx="3429000" cy="476250"/>
            </a:xfrm>
            <a:prstGeom prst="roundRect">
              <a:avLst>
                <a:gd name="adj" fmla="val 12000"/>
              </a:avLst>
            </a:prstGeom>
            <a:solidFill>
              <a:srgbClr val="F4F5F7"/>
            </a:solidFill>
            <a:ln>
              <a:noFill/>
            </a:ln>
          </p:spPr>
        </p:sp>
        <p:sp>
          <p:nvSpPr>
            <p:cNvPr id="40" name="TextBox 40"/>
            <p:cNvSpPr txBox="1"/>
            <p:nvPr/>
          </p:nvSpPr>
          <p:spPr>
            <a:xfrm>
              <a:off x="8963739" y="6086475"/>
              <a:ext cx="1808321"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模型级：4 模型并行</a:t>
              </a:r>
            </a:p>
          </p:txBody>
        </p:sp>
      </p:grpSp>
      <p:sp>
        <p:nvSpPr>
          <p:cNvPr id="42" name="TextBox 42"/>
          <p:cNvSpPr txBox="1"/>
          <p:nvPr/>
        </p:nvSpPr>
        <p:spPr>
          <a:xfrm>
            <a:off x="6051566" y="6570345"/>
            <a:ext cx="88868"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400"/>
                                        <p:tgtEl>
                                          <p:spTgt spid="3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slide(fromBottom)">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4605147"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交叉评审机制（核心创新）</a:t>
            </a:r>
          </a:p>
        </p:txBody>
      </p:sp>
      <p:grpSp>
        <p:nvGrpSpPr>
          <p:cNvPr id="18" name="Group 18"/>
          <p:cNvGrpSpPr/>
          <p:nvPr/>
        </p:nvGrpSpPr>
        <p:grpSpPr>
          <a:xfrm>
            <a:off x="609600" y="1809750"/>
            <a:ext cx="10972800" cy="1333500"/>
            <a:chOff x="609600" y="1809750"/>
            <a:chExt cx="10972800" cy="1333500"/>
          </a:xfrm>
        </p:grpSpPr>
        <p:sp>
          <p:nvSpPr>
            <p:cNvPr id="7" name="Rectangle 7"/>
            <p:cNvSpPr/>
            <p:nvPr/>
          </p:nvSpPr>
          <p:spPr>
            <a:xfrm>
              <a:off x="609600" y="1809750"/>
              <a:ext cx="10972800" cy="1333500"/>
            </a:xfrm>
            <a:prstGeom prst="roundRect">
              <a:avLst>
                <a:gd name="adj" fmla="val 5714"/>
              </a:avLst>
            </a:prstGeom>
            <a:solidFill>
              <a:srgbClr val="F4F5F7"/>
            </a:solidFill>
            <a:ln>
              <a:noFill/>
            </a:ln>
          </p:spPr>
        </p:sp>
        <p:sp>
          <p:nvSpPr>
            <p:cNvPr id="8" name="TextBox 8"/>
            <p:cNvSpPr txBox="1"/>
            <p:nvPr/>
          </p:nvSpPr>
          <p:spPr>
            <a:xfrm>
              <a:off x="889635" y="1884998"/>
              <a:ext cx="2329365"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Round 1：独立评分</a:t>
              </a:r>
            </a:p>
          </p:txBody>
        </p:sp>
        <p:sp>
          <p:nvSpPr>
            <p:cNvPr id="9" name="TextBox 9"/>
            <p:cNvSpPr txBox="1"/>
            <p:nvPr/>
          </p:nvSpPr>
          <p:spPr>
            <a:xfrm>
              <a:off x="895350" y="2238375"/>
              <a:ext cx="2608421"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4 个模型独立评分，互不可见</a:t>
              </a:r>
            </a:p>
          </p:txBody>
        </p:sp>
        <p:sp>
          <p:nvSpPr>
            <p:cNvPr id="10" name="Ellipse 10"/>
            <p:cNvSpPr/>
            <p:nvPr/>
          </p:nvSpPr>
          <p:spPr>
            <a:xfrm>
              <a:off x="2057400" y="2533650"/>
              <a:ext cx="457200" cy="457200"/>
            </a:xfrm>
            <a:prstGeom prst="ellipse">
              <a:avLst/>
            </a:prstGeom>
            <a:solidFill>
              <a:srgbClr val="2E5E8C"/>
            </a:solidFill>
            <a:ln>
              <a:noFill/>
            </a:ln>
          </p:spPr>
        </p:sp>
        <p:sp>
          <p:nvSpPr>
            <p:cNvPr id="11" name="TextBox 11"/>
            <p:cNvSpPr txBox="1"/>
            <p:nvPr/>
          </p:nvSpPr>
          <p:spPr>
            <a:xfrm>
              <a:off x="2136673" y="2715578"/>
              <a:ext cx="29865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GLM</a:t>
              </a:r>
            </a:p>
          </p:txBody>
        </p:sp>
        <p:sp>
          <p:nvSpPr>
            <p:cNvPr id="12" name="Ellipse 12"/>
            <p:cNvSpPr/>
            <p:nvPr/>
          </p:nvSpPr>
          <p:spPr>
            <a:xfrm>
              <a:off x="4343400" y="2533650"/>
              <a:ext cx="457200" cy="457200"/>
            </a:xfrm>
            <a:prstGeom prst="ellipse">
              <a:avLst/>
            </a:prstGeom>
            <a:solidFill>
              <a:srgbClr val="2E5E8C"/>
            </a:solidFill>
            <a:ln>
              <a:noFill/>
            </a:ln>
          </p:spPr>
        </p:sp>
        <p:sp>
          <p:nvSpPr>
            <p:cNvPr id="13" name="TextBox 13"/>
            <p:cNvSpPr txBox="1"/>
            <p:nvPr/>
          </p:nvSpPr>
          <p:spPr>
            <a:xfrm>
              <a:off x="4367541" y="2715578"/>
              <a:ext cx="40891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Qwen</a:t>
              </a:r>
            </a:p>
          </p:txBody>
        </p:sp>
        <p:sp>
          <p:nvSpPr>
            <p:cNvPr id="14" name="Ellipse 14"/>
            <p:cNvSpPr/>
            <p:nvPr/>
          </p:nvSpPr>
          <p:spPr>
            <a:xfrm>
              <a:off x="6629400" y="2533650"/>
              <a:ext cx="457200" cy="457200"/>
            </a:xfrm>
            <a:prstGeom prst="ellipse">
              <a:avLst/>
            </a:prstGeom>
            <a:solidFill>
              <a:srgbClr val="5A6472"/>
            </a:solidFill>
            <a:ln>
              <a:noFill/>
            </a:ln>
          </p:spPr>
        </p:sp>
        <p:sp>
          <p:nvSpPr>
            <p:cNvPr id="15" name="TextBox 15"/>
            <p:cNvSpPr txBox="1"/>
            <p:nvPr/>
          </p:nvSpPr>
          <p:spPr>
            <a:xfrm>
              <a:off x="6569335" y="2731770"/>
              <a:ext cx="57732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DeepSeek</a:t>
              </a:r>
            </a:p>
          </p:txBody>
        </p:sp>
        <p:sp>
          <p:nvSpPr>
            <p:cNvPr id="16" name="Ellipse 16"/>
            <p:cNvSpPr/>
            <p:nvPr/>
          </p:nvSpPr>
          <p:spPr>
            <a:xfrm>
              <a:off x="8915400" y="2533650"/>
              <a:ext cx="457200" cy="457200"/>
            </a:xfrm>
            <a:prstGeom prst="ellipse">
              <a:avLst/>
            </a:prstGeom>
            <a:solidFill>
              <a:srgbClr val="5A6472"/>
            </a:solidFill>
            <a:ln>
              <a:noFill/>
            </a:ln>
          </p:spPr>
        </p:sp>
        <p:sp>
          <p:nvSpPr>
            <p:cNvPr id="17" name="TextBox 17"/>
            <p:cNvSpPr txBox="1"/>
            <p:nvPr/>
          </p:nvSpPr>
          <p:spPr>
            <a:xfrm>
              <a:off x="8990998" y="2715578"/>
              <a:ext cx="30600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Kimi</a:t>
              </a:r>
            </a:p>
          </p:txBody>
        </p:sp>
      </p:grpSp>
      <p:sp>
        <p:nvSpPr>
          <p:cNvPr id="19" name="Freeform 19"/>
          <p:cNvSpPr/>
          <p:nvPr/>
        </p:nvSpPr>
        <p:spPr>
          <a:xfrm>
            <a:off x="6096000" y="3238500"/>
            <a:ext cx="9525" cy="285750"/>
          </a:xfrm>
          <a:custGeom>
            <a:avLst/>
            <a:gdLst/>
            <a:ahLst/>
            <a:cxnLst/>
            <a:rect l="l" t="t" r="r" b="b"/>
            <a:pathLst>
              <a:path w="9525" h="285750">
                <a:moveTo>
                  <a:pt x="0" y="0"/>
                </a:moveTo>
                <a:lnTo>
                  <a:pt x="0" y="285750"/>
                </a:lnTo>
              </a:path>
            </a:pathLst>
          </a:custGeom>
          <a:noFill/>
          <a:ln w="28575">
            <a:solidFill>
              <a:srgbClr val="C8161E"/>
            </a:solidFill>
          </a:ln>
        </p:spPr>
      </p:sp>
      <p:sp>
        <p:nvSpPr>
          <p:cNvPr id="20" name="Freeform 20"/>
          <p:cNvSpPr/>
          <p:nvPr/>
        </p:nvSpPr>
        <p:spPr>
          <a:xfrm>
            <a:off x="6000750" y="3429000"/>
            <a:ext cx="190500" cy="95250"/>
          </a:xfrm>
          <a:custGeom>
            <a:avLst/>
            <a:gdLst/>
            <a:ahLst/>
            <a:cxnLst/>
            <a:rect l="l" t="t" r="r" b="b"/>
            <a:pathLst>
              <a:path w="190500" h="95250">
                <a:moveTo>
                  <a:pt x="95250" y="95250"/>
                </a:moveTo>
                <a:lnTo>
                  <a:pt x="0" y="0"/>
                </a:lnTo>
                <a:lnTo>
                  <a:pt x="95250" y="95250"/>
                </a:lnTo>
                <a:lnTo>
                  <a:pt x="190500" y="0"/>
                </a:lnTo>
              </a:path>
            </a:pathLst>
          </a:custGeom>
          <a:noFill/>
          <a:ln w="28575">
            <a:solidFill>
              <a:srgbClr val="C8161E"/>
            </a:solidFill>
          </a:ln>
        </p:spPr>
      </p:sp>
      <p:grpSp>
        <p:nvGrpSpPr>
          <p:cNvPr id="33" name="Group 33"/>
          <p:cNvGrpSpPr/>
          <p:nvPr/>
        </p:nvGrpSpPr>
        <p:grpSpPr>
          <a:xfrm>
            <a:off x="609600" y="3619500"/>
            <a:ext cx="10972800" cy="1905000"/>
            <a:chOff x="609600" y="3619500"/>
            <a:chExt cx="10972800" cy="1905000"/>
          </a:xfrm>
        </p:grpSpPr>
        <p:sp>
          <p:nvSpPr>
            <p:cNvPr id="21" name="Rectangle 21"/>
            <p:cNvSpPr/>
            <p:nvPr/>
          </p:nvSpPr>
          <p:spPr>
            <a:xfrm>
              <a:off x="609600" y="3619500"/>
              <a:ext cx="10972800" cy="1905000"/>
            </a:xfrm>
            <a:prstGeom prst="roundRect">
              <a:avLst>
                <a:gd name="adj" fmla="val 4000"/>
              </a:avLst>
            </a:prstGeom>
            <a:solidFill>
              <a:srgbClr val="FFF8F0"/>
            </a:solidFill>
            <a:ln w="19050">
              <a:solidFill>
                <a:srgbClr val="E07B00"/>
              </a:solidFill>
            </a:ln>
          </p:spPr>
        </p:sp>
        <p:sp>
          <p:nvSpPr>
            <p:cNvPr id="22" name="TextBox 22"/>
            <p:cNvSpPr txBox="1"/>
            <p:nvPr/>
          </p:nvSpPr>
          <p:spPr>
            <a:xfrm>
              <a:off x="889635" y="3694748"/>
              <a:ext cx="2397623" cy="396240"/>
            </a:xfrm>
            <a:prstGeom prst="rect">
              <a:avLst/>
            </a:prstGeom>
            <a:noFill/>
            <a:ln>
              <a:noFill/>
            </a:ln>
          </p:spPr>
          <p:txBody>
            <a:bodyPr wrap="none" lIns="0" tIns="0" rIns="0" bIns="0" anchor="t" anchorCtr="0">
              <a:spAutoFit/>
            </a:bodyPr>
            <a:lstStyle/>
            <a:p>
              <a:pPr algn="l"/>
              <a:r>
                <a:rPr lang="zh-CN" sz="1950" b="1" dirty="0">
                  <a:solidFill>
                    <a:srgbClr val="E07B00"/>
                  </a:solidFill>
                  <a:latin typeface="Arial"/>
                  <a:ea typeface="Microsoft YaHei"/>
                  <a:cs typeface="Arial"/>
                </a:rPr>
                <a:t>Round 2：交叉评审</a:t>
              </a:r>
            </a:p>
          </p:txBody>
        </p:sp>
        <p:sp>
          <p:nvSpPr>
            <p:cNvPr id="23" name="Rectangle 23"/>
            <p:cNvSpPr/>
            <p:nvPr/>
          </p:nvSpPr>
          <p:spPr>
            <a:xfrm>
              <a:off x="914400" y="4095750"/>
              <a:ext cx="4953000" cy="1238250"/>
            </a:xfrm>
            <a:prstGeom prst="roundRect">
              <a:avLst>
                <a:gd name="adj" fmla="val 4615"/>
              </a:avLst>
            </a:prstGeom>
            <a:solidFill>
              <a:srgbClr val="FFFFFF"/>
            </a:solidFill>
            <a:ln w="9525">
              <a:solidFill>
                <a:srgbClr val="D9DEE5"/>
              </a:solidFill>
            </a:ln>
          </p:spPr>
        </p:sp>
        <p:sp>
          <p:nvSpPr>
            <p:cNvPr id="24" name="TextBox 24"/>
            <p:cNvSpPr txBox="1"/>
            <p:nvPr/>
          </p:nvSpPr>
          <p:spPr>
            <a:xfrm>
              <a:off x="2321719" y="4200525"/>
              <a:ext cx="2138362" cy="304800"/>
            </a:xfrm>
            <a:prstGeom prst="rect">
              <a:avLst/>
            </a:prstGeom>
            <a:noFill/>
            <a:ln>
              <a:noFill/>
            </a:ln>
          </p:spPr>
          <p:txBody>
            <a:bodyPr wrap="none" lIns="0" tIns="0" rIns="0" bIns="0" anchor="t" anchorCtr="0">
              <a:spAutoFit/>
            </a:bodyPr>
            <a:lstStyle/>
            <a:p>
              <a:pPr algn="ctr"/>
              <a:r>
                <a:rPr lang="zh-CN" sz="1500" b="1" dirty="0">
                  <a:solidFill>
                    <a:srgbClr val="1F4D78"/>
                  </a:solidFill>
                  <a:latin typeface="Arial"/>
                  <a:ea typeface="Microsoft YaHei"/>
                  <a:cs typeface="Arial"/>
                </a:rPr>
                <a:t>A 组看 B 组的严格评价</a:t>
              </a:r>
            </a:p>
          </p:txBody>
        </p:sp>
        <p:sp>
          <p:nvSpPr>
            <p:cNvPr id="25" name="TextBox 25"/>
            <p:cNvSpPr txBox="1"/>
            <p:nvPr/>
          </p:nvSpPr>
          <p:spPr>
            <a:xfrm>
              <a:off x="1125855" y="4521518"/>
              <a:ext cx="1789509"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GLM、Qwen 重新评分</a:t>
              </a:r>
            </a:p>
          </p:txBody>
        </p:sp>
        <p:sp>
          <p:nvSpPr>
            <p:cNvPr id="26" name="TextBox 26"/>
            <p:cNvSpPr txBox="1"/>
            <p:nvPr/>
          </p:nvSpPr>
          <p:spPr>
            <a:xfrm>
              <a:off x="1127760" y="4804410"/>
              <a:ext cx="304685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accepted_points：接受对方意见的理由</a:t>
              </a:r>
            </a:p>
          </p:txBody>
        </p:sp>
        <p:sp>
          <p:nvSpPr>
            <p:cNvPr id="27" name="TextBox 27"/>
            <p:cNvSpPr txBox="1"/>
            <p:nvPr/>
          </p:nvSpPr>
          <p:spPr>
            <a:xfrm>
              <a:off x="1127760" y="5042535"/>
              <a:ext cx="3006852"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rejected_points：拒绝对方意见的理由</a:t>
              </a:r>
            </a:p>
          </p:txBody>
        </p:sp>
        <p:sp>
          <p:nvSpPr>
            <p:cNvPr id="28" name="Rectangle 28"/>
            <p:cNvSpPr/>
            <p:nvPr/>
          </p:nvSpPr>
          <p:spPr>
            <a:xfrm>
              <a:off x="6324600" y="4095750"/>
              <a:ext cx="4953000" cy="1238250"/>
            </a:xfrm>
            <a:prstGeom prst="roundRect">
              <a:avLst>
                <a:gd name="adj" fmla="val 4615"/>
              </a:avLst>
            </a:prstGeom>
            <a:solidFill>
              <a:srgbClr val="FFFFFF"/>
            </a:solidFill>
            <a:ln w="9525">
              <a:solidFill>
                <a:srgbClr val="D9DEE5"/>
              </a:solidFill>
            </a:ln>
          </p:spPr>
        </p:sp>
        <p:sp>
          <p:nvSpPr>
            <p:cNvPr id="29" name="TextBox 29"/>
            <p:cNvSpPr txBox="1"/>
            <p:nvPr/>
          </p:nvSpPr>
          <p:spPr>
            <a:xfrm>
              <a:off x="7731919" y="4200525"/>
              <a:ext cx="2138362" cy="304800"/>
            </a:xfrm>
            <a:prstGeom prst="rect">
              <a:avLst/>
            </a:prstGeom>
            <a:noFill/>
            <a:ln>
              <a:noFill/>
            </a:ln>
          </p:spPr>
          <p:txBody>
            <a:bodyPr wrap="none" lIns="0" tIns="0" rIns="0" bIns="0" anchor="t" anchorCtr="0">
              <a:spAutoFit/>
            </a:bodyPr>
            <a:lstStyle/>
            <a:p>
              <a:pPr algn="ctr"/>
              <a:r>
                <a:rPr lang="zh-CN" sz="1500" b="1" dirty="0">
                  <a:solidFill>
                    <a:srgbClr val="44546A"/>
                  </a:solidFill>
                  <a:latin typeface="Arial"/>
                  <a:ea typeface="Microsoft YaHei"/>
                  <a:cs typeface="Arial"/>
                </a:rPr>
                <a:t>B 组看 A 组的宽松评价</a:t>
              </a:r>
            </a:p>
          </p:txBody>
        </p:sp>
        <p:sp>
          <p:nvSpPr>
            <p:cNvPr id="30" name="TextBox 30"/>
            <p:cNvSpPr txBox="1"/>
            <p:nvPr/>
          </p:nvSpPr>
          <p:spPr>
            <a:xfrm>
              <a:off x="6536055" y="4521518"/>
              <a:ext cx="212255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DeepSeek、Kimi 重新评分</a:t>
              </a:r>
            </a:p>
          </p:txBody>
        </p:sp>
        <p:sp>
          <p:nvSpPr>
            <p:cNvPr id="31" name="TextBox 31"/>
            <p:cNvSpPr txBox="1"/>
            <p:nvPr/>
          </p:nvSpPr>
          <p:spPr>
            <a:xfrm>
              <a:off x="6537960" y="4804410"/>
              <a:ext cx="304685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accepted_points：接受对方意见的理由</a:t>
              </a:r>
            </a:p>
          </p:txBody>
        </p:sp>
        <p:sp>
          <p:nvSpPr>
            <p:cNvPr id="32" name="TextBox 32"/>
            <p:cNvSpPr txBox="1"/>
            <p:nvPr/>
          </p:nvSpPr>
          <p:spPr>
            <a:xfrm>
              <a:off x="6537960" y="5042535"/>
              <a:ext cx="3006852"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rejected_points：拒绝对方意见的理由</a:t>
              </a:r>
            </a:p>
          </p:txBody>
        </p:sp>
      </p:grpSp>
      <p:sp>
        <p:nvSpPr>
          <p:cNvPr id="34" name="TextBox 34"/>
          <p:cNvSpPr txBox="1"/>
          <p:nvPr/>
        </p:nvSpPr>
        <p:spPr>
          <a:xfrm>
            <a:off x="588645" y="5727382"/>
            <a:ext cx="966026"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设计哲学</a:t>
            </a:r>
          </a:p>
        </p:txBody>
      </p:sp>
      <p:grpSp>
        <p:nvGrpSpPr>
          <p:cNvPr id="41" name="Group 41"/>
          <p:cNvGrpSpPr/>
          <p:nvPr/>
        </p:nvGrpSpPr>
        <p:grpSpPr>
          <a:xfrm>
            <a:off x="704850" y="-38100"/>
            <a:ext cx="8541258" cy="6662738"/>
            <a:chOff x="704850" y="-38100"/>
            <a:chExt cx="8541258" cy="6662738"/>
          </a:xfrm>
        </p:grpSpPr>
        <p:sp>
          <p:nvSpPr>
            <p:cNvPr id="35" name="Ellipse 35"/>
            <p:cNvSpPr/>
            <p:nvPr/>
          </p:nvSpPr>
          <p:spPr>
            <a:xfrm>
              <a:off x="704850" y="6134100"/>
              <a:ext cx="76200" cy="76200"/>
            </a:xfrm>
            <a:prstGeom prst="ellipse">
              <a:avLst/>
            </a:prstGeom>
            <a:solidFill>
              <a:srgbClr val="C8161E"/>
            </a:solidFill>
            <a:ln>
              <a:noFill/>
            </a:ln>
          </p:spPr>
        </p:sp>
        <p:sp>
          <p:nvSpPr>
            <p:cNvPr id="36" name="TextBox 36"/>
            <p:cNvSpPr txBox="1"/>
            <p:nvPr/>
          </p:nvSpPr>
          <p:spPr>
            <a:xfrm>
              <a:off x="897255" y="6064568"/>
              <a:ext cx="3994785"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不是取均值抹平差异，而是迫使模型审视自身偏见</a:t>
              </a:r>
            </a:p>
          </p:txBody>
        </p:sp>
        <p:sp>
          <p:nvSpPr>
            <p:cNvPr id="37" name="Ellipse 37"/>
            <p:cNvSpPr/>
            <p:nvPr/>
          </p:nvSpPr>
          <p:spPr>
            <a:xfrm>
              <a:off x="4914900" y="6134100"/>
              <a:ext cx="76200" cy="76200"/>
            </a:xfrm>
            <a:prstGeom prst="ellipse">
              <a:avLst/>
            </a:prstGeom>
            <a:solidFill>
              <a:srgbClr val="C8161E"/>
            </a:solidFill>
            <a:ln>
              <a:noFill/>
            </a:ln>
          </p:spPr>
        </p:sp>
        <p:sp>
          <p:nvSpPr>
            <p:cNvPr id="38" name="TextBox 38"/>
            <p:cNvSpPr txBox="1"/>
            <p:nvPr/>
          </p:nvSpPr>
          <p:spPr>
            <a:xfrm>
              <a:off x="5107305" y="6064568"/>
              <a:ext cx="413880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DeepSeek 的"顽固性"是设计正确行为（锚定效应）</a:t>
              </a:r>
            </a:p>
          </p:txBody>
        </p:sp>
        <p:sp>
          <p:nvSpPr>
            <p:cNvPr id="39" name="Ellipse 39"/>
            <p:cNvSpPr/>
            <p:nvPr/>
          </p:nvSpPr>
          <p:spPr>
            <a:xfrm>
              <a:off x="704850" y="-38100"/>
              <a:ext cx="76200" cy="76200"/>
            </a:xfrm>
            <a:prstGeom prst="ellipse">
              <a:avLst/>
            </a:prstGeom>
            <a:solidFill>
              <a:srgbClr val="C8161E"/>
            </a:solidFill>
            <a:ln>
              <a:noFill/>
            </a:ln>
          </p:spPr>
        </p:sp>
        <p:sp>
          <p:nvSpPr>
            <p:cNvPr id="40" name="TextBox 40"/>
            <p:cNvSpPr txBox="1"/>
            <p:nvPr/>
          </p:nvSpPr>
          <p:spPr>
            <a:xfrm>
              <a:off x="897255" y="6350318"/>
              <a:ext cx="330169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未收敛维度 = 真实学术分歧，交专家终审</a:t>
              </a:r>
            </a:p>
          </p:txBody>
        </p:sp>
      </p:grpSp>
      <p:sp>
        <p:nvSpPr>
          <p:cNvPr id="42" name="TextBox 42"/>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left)">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3" grpId="0"/>
      <p:bldP spid="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7535013"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Autoresearch：与专家对齐 + 平衡模型差异</a:t>
            </a:r>
          </a:p>
        </p:txBody>
      </p:sp>
      <p:grpSp>
        <p:nvGrpSpPr>
          <p:cNvPr id="17" name="Group 17"/>
          <p:cNvGrpSpPr/>
          <p:nvPr/>
        </p:nvGrpSpPr>
        <p:grpSpPr>
          <a:xfrm>
            <a:off x="609600" y="1714500"/>
            <a:ext cx="10972800" cy="1333500"/>
            <a:chOff x="609600" y="1714500"/>
            <a:chExt cx="10972800" cy="1333500"/>
          </a:xfrm>
        </p:grpSpPr>
        <p:sp>
          <p:nvSpPr>
            <p:cNvPr id="7" name="Rectangle 7"/>
            <p:cNvSpPr/>
            <p:nvPr/>
          </p:nvSpPr>
          <p:spPr>
            <a:xfrm>
              <a:off x="609600" y="1714500"/>
              <a:ext cx="5334000" cy="1333500"/>
            </a:xfrm>
            <a:prstGeom prst="roundRect">
              <a:avLst>
                <a:gd name="adj" fmla="val 5714"/>
              </a:avLst>
            </a:prstGeom>
            <a:solidFill>
              <a:srgbClr val="F4F5F7"/>
            </a:solidFill>
            <a:ln>
              <a:noFill/>
            </a:ln>
          </p:spPr>
        </p:sp>
        <p:sp>
          <p:nvSpPr>
            <p:cNvPr id="8" name="TextBox 8"/>
            <p:cNvSpPr txBox="1"/>
            <p:nvPr/>
          </p:nvSpPr>
          <p:spPr>
            <a:xfrm>
              <a:off x="893445" y="1822132"/>
              <a:ext cx="249081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目的 1：与法学专家对齐</a:t>
              </a:r>
            </a:p>
          </p:txBody>
        </p:sp>
        <p:sp>
          <p:nvSpPr>
            <p:cNvPr id="9" name="TextBox 9"/>
            <p:cNvSpPr txBox="1"/>
            <p:nvPr/>
          </p:nvSpPr>
          <p:spPr>
            <a:xfrm>
              <a:off x="897255" y="2159318"/>
              <a:ext cx="294165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正样本不被误伤（蒋红珍 91.1 分）</a:t>
              </a:r>
            </a:p>
          </p:txBody>
        </p:sp>
        <p:sp>
          <p:nvSpPr>
            <p:cNvPr id="10" name="TextBox 10"/>
            <p:cNvSpPr txBox="1"/>
            <p:nvPr/>
          </p:nvSpPr>
          <p:spPr>
            <a:xfrm>
              <a:off x="897255" y="2426018"/>
              <a:ext cx="309467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负样本被有效识别（13 篇专家标注）</a:t>
              </a:r>
            </a:p>
          </p:txBody>
        </p:sp>
        <p:sp>
          <p:nvSpPr>
            <p:cNvPr id="11" name="TextBox 11"/>
            <p:cNvSpPr txBox="1"/>
            <p:nvPr/>
          </p:nvSpPr>
          <p:spPr>
            <a:xfrm>
              <a:off x="897255" y="2692718"/>
              <a:ext cx="3364706"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正负差距：22.0 分（有效识别的 4 篇）</a:t>
              </a:r>
            </a:p>
          </p:txBody>
        </p:sp>
        <p:sp>
          <p:nvSpPr>
            <p:cNvPr id="12" name="Rectangle 12"/>
            <p:cNvSpPr/>
            <p:nvPr/>
          </p:nvSpPr>
          <p:spPr>
            <a:xfrm>
              <a:off x="6248400" y="1714500"/>
              <a:ext cx="5334000" cy="1333500"/>
            </a:xfrm>
            <a:prstGeom prst="roundRect">
              <a:avLst>
                <a:gd name="adj" fmla="val 5714"/>
              </a:avLst>
            </a:prstGeom>
            <a:solidFill>
              <a:srgbClr val="F4F5F7"/>
            </a:solidFill>
            <a:ln>
              <a:noFill/>
            </a:ln>
          </p:spPr>
        </p:sp>
        <p:sp>
          <p:nvSpPr>
            <p:cNvPr id="13" name="TextBox 13"/>
            <p:cNvSpPr txBox="1"/>
            <p:nvPr/>
          </p:nvSpPr>
          <p:spPr>
            <a:xfrm>
              <a:off x="6532245" y="1822132"/>
              <a:ext cx="2548573"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目的 2：平衡模型间差异</a:t>
              </a:r>
            </a:p>
          </p:txBody>
        </p:sp>
        <p:sp>
          <p:nvSpPr>
            <p:cNvPr id="14" name="TextBox 14"/>
            <p:cNvSpPr txBox="1"/>
            <p:nvPr/>
          </p:nvSpPr>
          <p:spPr>
            <a:xfrm>
              <a:off x="6536055" y="2159318"/>
              <a:ext cx="270762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降低多模型标准差，提高可靠性</a:t>
              </a:r>
            </a:p>
          </p:txBody>
        </p:sp>
        <p:sp>
          <p:nvSpPr>
            <p:cNvPr id="15" name="TextBox 15"/>
            <p:cNvSpPr txBox="1"/>
            <p:nvPr/>
          </p:nvSpPr>
          <p:spPr>
            <a:xfrm>
              <a:off x="6536055" y="2426018"/>
              <a:ext cx="3274695"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Kimi 评分系统性偏低（5/6 维度最低）</a:t>
              </a:r>
            </a:p>
          </p:txBody>
        </p:sp>
        <p:sp>
          <p:nvSpPr>
            <p:cNvPr id="16" name="TextBox 16"/>
            <p:cNvSpPr txBox="1"/>
            <p:nvPr/>
          </p:nvSpPr>
          <p:spPr>
            <a:xfrm>
              <a:off x="6536055" y="2692718"/>
              <a:ext cx="205054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GLM 与 Qwen 高度一致</a:t>
              </a:r>
            </a:p>
          </p:txBody>
        </p:sp>
      </p:grpSp>
      <p:sp>
        <p:nvSpPr>
          <p:cNvPr id="18" name="TextBox 18"/>
          <p:cNvSpPr txBox="1"/>
          <p:nvPr/>
        </p:nvSpPr>
        <p:spPr>
          <a:xfrm>
            <a:off x="586740" y="3234690"/>
            <a:ext cx="4884725" cy="365760"/>
          </a:xfrm>
          <a:prstGeom prst="rect">
            <a:avLst/>
          </a:prstGeom>
          <a:noFill/>
          <a:ln>
            <a:noFill/>
          </a:ln>
        </p:spPr>
        <p:txBody>
          <a:bodyPr wrap="none" lIns="0" tIns="0" rIns="0" bIns="0" anchor="t" anchorCtr="0">
            <a:spAutoFit/>
          </a:bodyPr>
          <a:lstStyle/>
          <a:p>
            <a:pPr algn="l"/>
            <a:r>
              <a:rPr lang="zh-CN" sz="1800" b="1" dirty="0">
                <a:solidFill>
                  <a:srgbClr val="C8161E"/>
                </a:solidFill>
                <a:latin typeface="Arial"/>
                <a:ea typeface="Microsoft YaHei"/>
                <a:cs typeface="Arial"/>
              </a:rPr>
              <a:t>迭代历程：v2.19 → v2.56.6（21+ 次迭代）</a:t>
            </a:r>
          </a:p>
        </p:txBody>
      </p:sp>
      <p:grpSp>
        <p:nvGrpSpPr>
          <p:cNvPr id="38" name="Group 38"/>
          <p:cNvGrpSpPr/>
          <p:nvPr/>
        </p:nvGrpSpPr>
        <p:grpSpPr>
          <a:xfrm>
            <a:off x="609600" y="3714750"/>
            <a:ext cx="10972800" cy="2366962"/>
            <a:chOff x="609600" y="3714750"/>
            <a:chExt cx="10972800" cy="2366962"/>
          </a:xfrm>
        </p:grpSpPr>
        <p:sp>
          <p:nvSpPr>
            <p:cNvPr id="19" name="Rectangle 19"/>
            <p:cNvSpPr/>
            <p:nvPr/>
          </p:nvSpPr>
          <p:spPr>
            <a:xfrm>
              <a:off x="609600" y="3714750"/>
              <a:ext cx="10972800" cy="2286000"/>
            </a:xfrm>
            <a:prstGeom prst="roundRect">
              <a:avLst>
                <a:gd name="adj" fmla="val 3333"/>
              </a:avLst>
            </a:prstGeom>
            <a:solidFill>
              <a:srgbClr val="FFFFFF"/>
            </a:solidFill>
            <a:ln w="9525">
              <a:solidFill>
                <a:srgbClr val="D9DEE5"/>
              </a:solidFill>
            </a:ln>
          </p:spPr>
        </p:sp>
        <p:sp>
          <p:nvSpPr>
            <p:cNvPr id="20" name="Line 20"/>
            <p:cNvSpPr/>
            <p:nvPr/>
          </p:nvSpPr>
          <p:spPr>
            <a:xfrm>
              <a:off x="1143000" y="3905250"/>
              <a:ext cx="9525" cy="1905000"/>
            </a:xfrm>
            <a:custGeom>
              <a:avLst/>
              <a:gdLst/>
              <a:ahLst/>
              <a:cxnLst/>
              <a:rect l="l" t="t" r="r" b="b"/>
              <a:pathLst>
                <a:path w="9525" h="1905000">
                  <a:moveTo>
                    <a:pt x="0" y="0"/>
                  </a:moveTo>
                  <a:lnTo>
                    <a:pt x="0" y="1905000"/>
                  </a:lnTo>
                </a:path>
              </a:pathLst>
            </a:custGeom>
            <a:noFill/>
            <a:ln w="9525">
              <a:solidFill>
                <a:srgbClr val="94A3B8"/>
              </a:solidFill>
            </a:ln>
          </p:spPr>
        </p:sp>
        <p:sp>
          <p:nvSpPr>
            <p:cNvPr id="21" name="TextBox 21"/>
            <p:cNvSpPr txBox="1"/>
            <p:nvPr/>
          </p:nvSpPr>
          <p:spPr>
            <a:xfrm>
              <a:off x="880396" y="3839528"/>
              <a:ext cx="180689"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30</a:t>
              </a:r>
            </a:p>
          </p:txBody>
        </p:sp>
        <p:sp>
          <p:nvSpPr>
            <p:cNvPr id="22" name="TextBox 22"/>
            <p:cNvSpPr txBox="1"/>
            <p:nvPr/>
          </p:nvSpPr>
          <p:spPr>
            <a:xfrm>
              <a:off x="880396" y="4506278"/>
              <a:ext cx="180689"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a:t>
              </a:r>
            </a:p>
          </p:txBody>
        </p:sp>
        <p:sp>
          <p:nvSpPr>
            <p:cNvPr id="23" name="TextBox 23"/>
            <p:cNvSpPr txBox="1"/>
            <p:nvPr/>
          </p:nvSpPr>
          <p:spPr>
            <a:xfrm>
              <a:off x="915400" y="5173028"/>
              <a:ext cx="145685"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10</a:t>
              </a:r>
            </a:p>
          </p:txBody>
        </p:sp>
        <p:sp>
          <p:nvSpPr>
            <p:cNvPr id="24" name="TextBox 24"/>
            <p:cNvSpPr txBox="1"/>
            <p:nvPr/>
          </p:nvSpPr>
          <p:spPr>
            <a:xfrm>
              <a:off x="957405" y="5744528"/>
              <a:ext cx="103680"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0</a:t>
              </a:r>
            </a:p>
          </p:txBody>
        </p:sp>
        <p:sp>
          <p:nvSpPr>
            <p:cNvPr id="25" name="Line 25"/>
            <p:cNvSpPr/>
            <p:nvPr/>
          </p:nvSpPr>
          <p:spPr>
            <a:xfrm>
              <a:off x="1143000" y="5810250"/>
              <a:ext cx="10096500" cy="9525"/>
            </a:xfrm>
            <a:custGeom>
              <a:avLst/>
              <a:gdLst/>
              <a:ahLst/>
              <a:cxnLst/>
              <a:rect l="l" t="t" r="r" b="b"/>
              <a:pathLst>
                <a:path w="10096500" h="9525">
                  <a:moveTo>
                    <a:pt x="0" y="0"/>
                  </a:moveTo>
                  <a:lnTo>
                    <a:pt x="10096500" y="0"/>
                  </a:lnTo>
                </a:path>
              </a:pathLst>
            </a:custGeom>
            <a:noFill/>
            <a:ln w="9525">
              <a:solidFill>
                <a:srgbClr val="94A3B8"/>
              </a:solidFill>
            </a:ln>
          </p:spPr>
        </p:sp>
        <p:sp>
          <p:nvSpPr>
            <p:cNvPr id="26" name="TextBox 26"/>
            <p:cNvSpPr txBox="1"/>
            <p:nvPr/>
          </p:nvSpPr>
          <p:spPr>
            <a:xfrm>
              <a:off x="1716643" y="5868352"/>
              <a:ext cx="376714"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v2.19</a:t>
              </a:r>
            </a:p>
          </p:txBody>
        </p:sp>
        <p:sp>
          <p:nvSpPr>
            <p:cNvPr id="27" name="TextBox 27"/>
            <p:cNvSpPr txBox="1"/>
            <p:nvPr/>
          </p:nvSpPr>
          <p:spPr>
            <a:xfrm>
              <a:off x="4556641" y="5868352"/>
              <a:ext cx="411718"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v2.30</a:t>
              </a:r>
            </a:p>
          </p:txBody>
        </p:sp>
        <p:sp>
          <p:nvSpPr>
            <p:cNvPr id="28" name="TextBox 28"/>
            <p:cNvSpPr txBox="1"/>
            <p:nvPr/>
          </p:nvSpPr>
          <p:spPr>
            <a:xfrm>
              <a:off x="7414141" y="5868352"/>
              <a:ext cx="411718"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v2.40</a:t>
              </a:r>
            </a:p>
          </p:txBody>
        </p:sp>
        <p:sp>
          <p:nvSpPr>
            <p:cNvPr id="29" name="TextBox 29"/>
            <p:cNvSpPr txBox="1"/>
            <p:nvPr/>
          </p:nvSpPr>
          <p:spPr>
            <a:xfrm>
              <a:off x="10194631" y="5868352"/>
              <a:ext cx="565737"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v2.56.6</a:t>
              </a:r>
            </a:p>
          </p:txBody>
        </p:sp>
        <p:sp>
          <p:nvSpPr>
            <p:cNvPr id="30" name="Polyline 30"/>
            <p:cNvSpPr/>
            <p:nvPr/>
          </p:nvSpPr>
          <p:spPr>
            <a:xfrm>
              <a:off x="1905000" y="4000500"/>
              <a:ext cx="8572500" cy="1666875"/>
            </a:xfrm>
            <a:custGeom>
              <a:avLst/>
              <a:gdLst/>
              <a:ahLst/>
              <a:cxnLst/>
              <a:rect l="l" t="t" r="r" b="b"/>
              <a:pathLst>
                <a:path w="8572500" h="1666875">
                  <a:moveTo>
                    <a:pt x="0" y="0"/>
                  </a:moveTo>
                  <a:lnTo>
                    <a:pt x="1428750" y="285750"/>
                  </a:lnTo>
                  <a:lnTo>
                    <a:pt x="2857500" y="571500"/>
                  </a:lnTo>
                  <a:lnTo>
                    <a:pt x="4286250" y="857250"/>
                  </a:lnTo>
                  <a:lnTo>
                    <a:pt x="5715000" y="1143000"/>
                  </a:lnTo>
                  <a:lnTo>
                    <a:pt x="7143750" y="1428750"/>
                  </a:lnTo>
                  <a:lnTo>
                    <a:pt x="8572500" y="1666875"/>
                  </a:lnTo>
                </a:path>
              </a:pathLst>
            </a:custGeom>
            <a:noFill/>
            <a:ln w="28575">
              <a:solidFill>
                <a:srgbClr val="1F4D78"/>
              </a:solidFill>
            </a:ln>
          </p:spPr>
        </p:sp>
        <p:sp>
          <p:nvSpPr>
            <p:cNvPr id="31" name="Ellipse 31"/>
            <p:cNvSpPr/>
            <p:nvPr/>
          </p:nvSpPr>
          <p:spPr>
            <a:xfrm>
              <a:off x="1847850" y="3943350"/>
              <a:ext cx="114300" cy="114300"/>
            </a:xfrm>
            <a:prstGeom prst="ellipse">
              <a:avLst/>
            </a:prstGeom>
            <a:solidFill>
              <a:srgbClr val="C8161E"/>
            </a:solidFill>
            <a:ln>
              <a:noFill/>
            </a:ln>
          </p:spPr>
        </p:sp>
        <p:sp>
          <p:nvSpPr>
            <p:cNvPr id="32" name="Ellipse 32"/>
            <p:cNvSpPr/>
            <p:nvPr/>
          </p:nvSpPr>
          <p:spPr>
            <a:xfrm>
              <a:off x="4705350" y="4514850"/>
              <a:ext cx="114300" cy="114300"/>
            </a:xfrm>
            <a:prstGeom prst="ellipse">
              <a:avLst/>
            </a:prstGeom>
            <a:solidFill>
              <a:srgbClr val="1F4D78"/>
            </a:solidFill>
            <a:ln>
              <a:noFill/>
            </a:ln>
          </p:spPr>
        </p:sp>
        <p:sp>
          <p:nvSpPr>
            <p:cNvPr id="33" name="Ellipse 33"/>
            <p:cNvSpPr/>
            <p:nvPr/>
          </p:nvSpPr>
          <p:spPr>
            <a:xfrm>
              <a:off x="7562850" y="5086350"/>
              <a:ext cx="114300" cy="114300"/>
            </a:xfrm>
            <a:prstGeom prst="ellipse">
              <a:avLst/>
            </a:prstGeom>
            <a:solidFill>
              <a:srgbClr val="1F4D78"/>
            </a:solidFill>
            <a:ln>
              <a:noFill/>
            </a:ln>
          </p:spPr>
        </p:sp>
        <p:sp>
          <p:nvSpPr>
            <p:cNvPr id="34" name="Ellipse 34"/>
            <p:cNvSpPr/>
            <p:nvPr/>
          </p:nvSpPr>
          <p:spPr>
            <a:xfrm>
              <a:off x="10420350" y="5610225"/>
              <a:ext cx="114300" cy="114300"/>
            </a:xfrm>
            <a:prstGeom prst="ellipse">
              <a:avLst/>
            </a:prstGeom>
            <a:solidFill>
              <a:srgbClr val="2E7D32"/>
            </a:solidFill>
            <a:ln>
              <a:noFill/>
            </a:ln>
          </p:spPr>
        </p:sp>
        <p:sp>
          <p:nvSpPr>
            <p:cNvPr id="35" name="TextBox 35"/>
            <p:cNvSpPr txBox="1"/>
            <p:nvPr/>
          </p:nvSpPr>
          <p:spPr>
            <a:xfrm>
              <a:off x="1679734" y="3728085"/>
              <a:ext cx="450533"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28.16</a:t>
              </a:r>
            </a:p>
          </p:txBody>
        </p:sp>
        <p:sp>
          <p:nvSpPr>
            <p:cNvPr id="36" name="TextBox 36"/>
            <p:cNvSpPr txBox="1"/>
            <p:nvPr/>
          </p:nvSpPr>
          <p:spPr>
            <a:xfrm>
              <a:off x="10277437" y="5394960"/>
              <a:ext cx="400126"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6.22</a:t>
              </a:r>
            </a:p>
          </p:txBody>
        </p:sp>
        <p:sp>
          <p:nvSpPr>
            <p:cNvPr id="37" name="TextBox 37"/>
            <p:cNvSpPr txBox="1"/>
            <p:nvPr/>
          </p:nvSpPr>
          <p:spPr>
            <a:xfrm>
              <a:off x="5437108" y="4219575"/>
              <a:ext cx="1508284"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a:ea typeface="Microsoft YaHei"/>
                  <a:cs typeface="Arial"/>
                </a:rPr>
                <a:t>std 降低 77.9%</a:t>
              </a:r>
            </a:p>
          </p:txBody>
        </p:sp>
      </p:grpSp>
      <p:sp>
        <p:nvSpPr>
          <p:cNvPr id="39" name="Rectangle 39"/>
          <p:cNvSpPr/>
          <p:nvPr/>
        </p:nvSpPr>
        <p:spPr>
          <a:xfrm>
            <a:off x="609600" y="6191250"/>
            <a:ext cx="10972800" cy="381000"/>
          </a:xfrm>
          <a:prstGeom prst="roundRect">
            <a:avLst>
              <a:gd name="adj" fmla="val 15000"/>
            </a:avLst>
          </a:prstGeom>
          <a:solidFill>
            <a:srgbClr val="E8F5E9"/>
          </a:solidFill>
          <a:ln>
            <a:noFill/>
          </a:ln>
        </p:spPr>
      </p:sp>
      <p:sp>
        <p:nvSpPr>
          <p:cNvPr id="40" name="TextBox 40"/>
          <p:cNvSpPr txBox="1"/>
          <p:nvPr/>
        </p:nvSpPr>
        <p:spPr>
          <a:xfrm>
            <a:off x="897255" y="6293168"/>
            <a:ext cx="596603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有效策略：放宽"部分满足"标准 + 增加【重要】提示 + 正面/反面锚点示例</a:t>
            </a:r>
          </a:p>
        </p:txBody>
      </p:sp>
      <p:sp>
        <p:nvSpPr>
          <p:cNvPr id="41" name="TextBox 41"/>
          <p:cNvSpPr txBox="1"/>
          <p:nvPr/>
        </p:nvSpPr>
        <p:spPr>
          <a:xfrm>
            <a:off x="6048566" y="6570345"/>
            <a:ext cx="94869"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Bottom)">
                                      <p:cBhvr>
                                        <p:cTn id="7" dur="400"/>
                                        <p:tgtEl>
                                          <p:spTgt spid="1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4227100"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可靠性验证与分层置信度</a:t>
            </a:r>
          </a:p>
        </p:txBody>
      </p:sp>
      <p:sp>
        <p:nvSpPr>
          <p:cNvPr id="7" name="Rectangle 7"/>
          <p:cNvSpPr/>
          <p:nvPr/>
        </p:nvSpPr>
        <p:spPr>
          <a:xfrm>
            <a:off x="609600" y="1714500"/>
            <a:ext cx="10972800" cy="666750"/>
          </a:xfrm>
          <a:prstGeom prst="roundRect">
            <a:avLst>
              <a:gd name="adj" fmla="val 11429"/>
            </a:avLst>
          </a:prstGeom>
          <a:solidFill>
            <a:srgbClr val="F4F5F7"/>
          </a:solidFill>
          <a:ln>
            <a:noFill/>
          </a:ln>
        </p:spPr>
      </p:sp>
      <p:sp>
        <p:nvSpPr>
          <p:cNvPr id="8" name="TextBox 8"/>
          <p:cNvSpPr txBox="1"/>
          <p:nvPr/>
        </p:nvSpPr>
        <p:spPr>
          <a:xfrm>
            <a:off x="2076640" y="1948815"/>
            <a:ext cx="8038719" cy="365760"/>
          </a:xfrm>
          <a:prstGeom prst="rect">
            <a:avLst/>
          </a:prstGeom>
          <a:noFill/>
          <a:ln>
            <a:noFill/>
          </a:ln>
        </p:spPr>
        <p:txBody>
          <a:bodyPr wrap="none" lIns="0" tIns="0" rIns="0" bIns="0" anchor="t" anchorCtr="0">
            <a:spAutoFit/>
          </a:bodyPr>
          <a:lstStyle/>
          <a:p>
            <a:pPr algn="ctr"/>
            <a:r>
              <a:rPr lang="zh-CN" sz="1800" dirty="0">
                <a:solidFill>
                  <a:srgbClr val="1B1C21"/>
                </a:solidFill>
                <a:latin typeface="Arial"/>
                <a:ea typeface="Microsoft YaHei"/>
                <a:cs typeface="Arial"/>
              </a:rPr>
              <a:t>自动计算各维度均值、标准差 → 四级置信度分层 → 未收敛维度进入专家复核</a:t>
            </a:r>
          </a:p>
        </p:txBody>
      </p:sp>
      <p:grpSp>
        <p:nvGrpSpPr>
          <p:cNvPr id="45" name="Group 45"/>
          <p:cNvGrpSpPr/>
          <p:nvPr/>
        </p:nvGrpSpPr>
        <p:grpSpPr>
          <a:xfrm>
            <a:off x="609600" y="2667000"/>
            <a:ext cx="11058525" cy="2667000"/>
            <a:chOff x="609600" y="2667000"/>
            <a:chExt cx="11058525" cy="2667000"/>
          </a:xfrm>
        </p:grpSpPr>
        <p:sp>
          <p:nvSpPr>
            <p:cNvPr id="9" name="Rectangle 9"/>
            <p:cNvSpPr/>
            <p:nvPr/>
          </p:nvSpPr>
          <p:spPr>
            <a:xfrm>
              <a:off x="609600" y="2667000"/>
              <a:ext cx="2571750" cy="2667000"/>
            </a:xfrm>
            <a:prstGeom prst="roundRect">
              <a:avLst>
                <a:gd name="adj" fmla="val 2963"/>
              </a:avLst>
            </a:prstGeom>
            <a:solidFill>
              <a:srgbClr val="E8F5E9"/>
            </a:solidFill>
            <a:ln w="19050">
              <a:solidFill>
                <a:srgbClr val="2E7D32"/>
              </a:solidFill>
            </a:ln>
          </p:spPr>
        </p:sp>
        <p:sp>
          <p:nvSpPr>
            <p:cNvPr id="10" name="Rectangle 10"/>
            <p:cNvSpPr/>
            <p:nvPr/>
          </p:nvSpPr>
          <p:spPr>
            <a:xfrm>
              <a:off x="609600" y="2667000"/>
              <a:ext cx="2571750" cy="571500"/>
            </a:xfrm>
            <a:prstGeom prst="roundRect">
              <a:avLst>
                <a:gd name="adj" fmla="val 13333"/>
              </a:avLst>
            </a:prstGeom>
            <a:solidFill>
              <a:srgbClr val="2E7D32"/>
            </a:solidFill>
            <a:ln>
              <a:noFill/>
            </a:ln>
          </p:spPr>
        </p:sp>
        <p:sp>
          <p:nvSpPr>
            <p:cNvPr id="11" name="Rectangle 11"/>
            <p:cNvSpPr/>
            <p:nvPr/>
          </p:nvSpPr>
          <p:spPr>
            <a:xfrm>
              <a:off x="609600" y="3238500"/>
              <a:ext cx="2571750" cy="2095500"/>
            </a:xfrm>
            <a:prstGeom prst="roundRect">
              <a:avLst>
                <a:gd name="adj" fmla="val 3636"/>
              </a:avLst>
            </a:prstGeom>
            <a:solidFill>
              <a:srgbClr val="E8F5E9"/>
            </a:solidFill>
            <a:ln>
              <a:noFill/>
            </a:ln>
          </p:spPr>
        </p:sp>
        <p:sp>
          <p:nvSpPr>
            <p:cNvPr id="12" name="TextBox 12"/>
            <p:cNvSpPr txBox="1"/>
            <p:nvPr/>
          </p:nvSpPr>
          <p:spPr>
            <a:xfrm>
              <a:off x="1604502" y="2818448"/>
              <a:ext cx="581947"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Microsoft YaHei"/>
                  <a:cs typeface="Arial"/>
                </a:rPr>
                <a:t>High</a:t>
              </a:r>
            </a:p>
          </p:txBody>
        </p:sp>
        <p:sp>
          <p:nvSpPr>
            <p:cNvPr id="13" name="TextBox 13"/>
            <p:cNvSpPr txBox="1"/>
            <p:nvPr/>
          </p:nvSpPr>
          <p:spPr>
            <a:xfrm>
              <a:off x="1496911" y="3230880"/>
              <a:ext cx="797128"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 5</a:t>
              </a:r>
            </a:p>
          </p:txBody>
        </p:sp>
        <p:sp>
          <p:nvSpPr>
            <p:cNvPr id="14" name="TextBox 14"/>
            <p:cNvSpPr txBox="1"/>
            <p:nvPr/>
          </p:nvSpPr>
          <p:spPr>
            <a:xfrm>
              <a:off x="1476375" y="3933825"/>
              <a:ext cx="838200"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高置信度</a:t>
              </a:r>
            </a:p>
          </p:txBody>
        </p:sp>
        <p:sp>
          <p:nvSpPr>
            <p:cNvPr id="15" name="TextBox 15"/>
            <p:cNvSpPr txBox="1"/>
            <p:nvPr/>
          </p:nvSpPr>
          <p:spPr>
            <a:xfrm>
              <a:off x="1261753" y="4283392"/>
              <a:ext cx="1267444"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4 模型高度一致</a:t>
              </a:r>
            </a:p>
          </p:txBody>
        </p:sp>
        <p:sp>
          <p:nvSpPr>
            <p:cNvPr id="16" name="TextBox 16"/>
            <p:cNvSpPr txBox="1"/>
            <p:nvPr/>
          </p:nvSpPr>
          <p:spPr>
            <a:xfrm>
              <a:off x="1428274" y="4569142"/>
              <a:ext cx="934402"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可直接采纳</a:t>
              </a:r>
            </a:p>
          </p:txBody>
        </p:sp>
        <p:sp>
          <p:nvSpPr>
            <p:cNvPr id="17" name="TextBox 17"/>
            <p:cNvSpPr txBox="1"/>
            <p:nvPr/>
          </p:nvSpPr>
          <p:spPr>
            <a:xfrm>
              <a:off x="1338262" y="4854892"/>
              <a:ext cx="111442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无需人工复核</a:t>
              </a:r>
            </a:p>
          </p:txBody>
        </p:sp>
        <p:sp>
          <p:nvSpPr>
            <p:cNvPr id="18" name="Rectangle 18"/>
            <p:cNvSpPr/>
            <p:nvPr/>
          </p:nvSpPr>
          <p:spPr>
            <a:xfrm>
              <a:off x="3438525" y="2667000"/>
              <a:ext cx="2571750" cy="2667000"/>
            </a:xfrm>
            <a:prstGeom prst="roundRect">
              <a:avLst>
                <a:gd name="adj" fmla="val 2963"/>
              </a:avLst>
            </a:prstGeom>
            <a:solidFill>
              <a:srgbClr val="F0F7FF"/>
            </a:solidFill>
            <a:ln w="19050">
              <a:solidFill>
                <a:srgbClr val="1F4D78"/>
              </a:solidFill>
            </a:ln>
          </p:spPr>
        </p:sp>
        <p:sp>
          <p:nvSpPr>
            <p:cNvPr id="19" name="Rectangle 19"/>
            <p:cNvSpPr/>
            <p:nvPr/>
          </p:nvSpPr>
          <p:spPr>
            <a:xfrm>
              <a:off x="3438525" y="2667000"/>
              <a:ext cx="2571750" cy="571500"/>
            </a:xfrm>
            <a:prstGeom prst="roundRect">
              <a:avLst>
                <a:gd name="adj" fmla="val 13333"/>
              </a:avLst>
            </a:prstGeom>
            <a:solidFill>
              <a:srgbClr val="1F4D78"/>
            </a:solidFill>
            <a:ln>
              <a:noFill/>
            </a:ln>
          </p:spPr>
        </p:sp>
        <p:sp>
          <p:nvSpPr>
            <p:cNvPr id="20" name="Rectangle 20"/>
            <p:cNvSpPr/>
            <p:nvPr/>
          </p:nvSpPr>
          <p:spPr>
            <a:xfrm>
              <a:off x="3438525" y="3238500"/>
              <a:ext cx="2571750" cy="2095500"/>
            </a:xfrm>
            <a:prstGeom prst="roundRect">
              <a:avLst>
                <a:gd name="adj" fmla="val 3636"/>
              </a:avLst>
            </a:prstGeom>
            <a:solidFill>
              <a:srgbClr val="F0F7FF"/>
            </a:solidFill>
            <a:ln>
              <a:noFill/>
            </a:ln>
          </p:spPr>
        </p:sp>
        <p:sp>
          <p:nvSpPr>
            <p:cNvPr id="21" name="TextBox 21"/>
            <p:cNvSpPr txBox="1"/>
            <p:nvPr/>
          </p:nvSpPr>
          <p:spPr>
            <a:xfrm>
              <a:off x="4228651" y="2818448"/>
              <a:ext cx="991498"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Microsoft YaHei"/>
                  <a:cs typeface="Arial"/>
                </a:rPr>
                <a:t>Medium</a:t>
              </a:r>
            </a:p>
          </p:txBody>
        </p:sp>
        <p:sp>
          <p:nvSpPr>
            <p:cNvPr id="22" name="TextBox 22"/>
            <p:cNvSpPr txBox="1"/>
            <p:nvPr/>
          </p:nvSpPr>
          <p:spPr>
            <a:xfrm>
              <a:off x="4262828" y="3230880"/>
              <a:ext cx="923144" cy="731520"/>
            </a:xfrm>
            <a:prstGeom prst="rect">
              <a:avLst/>
            </a:prstGeom>
            <a:noFill/>
            <a:ln>
              <a:noFill/>
            </a:ln>
          </p:spPr>
          <p:txBody>
            <a:bodyPr wrap="none" lIns="0" tIns="0" rIns="0" bIns="0" anchor="t" anchorCtr="0">
              <a:spAutoFit/>
            </a:bodyPr>
            <a:lstStyle/>
            <a:p>
              <a:pPr algn="ctr"/>
              <a:r>
                <a:rPr lang="zh-CN" sz="3600" b="1" dirty="0">
                  <a:solidFill>
                    <a:srgbClr val="1F4D78"/>
                  </a:solidFill>
                  <a:latin typeface="Arial"/>
                  <a:ea typeface="Microsoft YaHei"/>
                  <a:cs typeface="Arial"/>
                </a:rPr>
                <a:t>5-8</a:t>
              </a:r>
            </a:p>
          </p:txBody>
        </p:sp>
        <p:sp>
          <p:nvSpPr>
            <p:cNvPr id="23" name="TextBox 23"/>
            <p:cNvSpPr txBox="1"/>
            <p:nvPr/>
          </p:nvSpPr>
          <p:spPr>
            <a:xfrm>
              <a:off x="4205288" y="3933825"/>
              <a:ext cx="103822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中等置信度</a:t>
              </a:r>
            </a:p>
          </p:txBody>
        </p:sp>
        <p:sp>
          <p:nvSpPr>
            <p:cNvPr id="24" name="TextBox 24"/>
            <p:cNvSpPr txBox="1"/>
            <p:nvPr/>
          </p:nvSpPr>
          <p:spPr>
            <a:xfrm>
              <a:off x="4167188" y="4283392"/>
              <a:ext cx="111442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模型间有分歧</a:t>
              </a:r>
            </a:p>
          </p:txBody>
        </p:sp>
        <p:sp>
          <p:nvSpPr>
            <p:cNvPr id="25" name="TextBox 25"/>
            <p:cNvSpPr txBox="1"/>
            <p:nvPr/>
          </p:nvSpPr>
          <p:spPr>
            <a:xfrm>
              <a:off x="3987165" y="4569142"/>
              <a:ext cx="1474470"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但仍在可接受范围</a:t>
              </a:r>
            </a:p>
          </p:txBody>
        </p:sp>
        <p:sp>
          <p:nvSpPr>
            <p:cNvPr id="26" name="TextBox 26"/>
            <p:cNvSpPr txBox="1"/>
            <p:nvPr/>
          </p:nvSpPr>
          <p:spPr>
            <a:xfrm>
              <a:off x="4167188" y="4854892"/>
              <a:ext cx="111442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可选择性复核</a:t>
              </a:r>
            </a:p>
          </p:txBody>
        </p:sp>
        <p:sp>
          <p:nvSpPr>
            <p:cNvPr id="27" name="Rectangle 27"/>
            <p:cNvSpPr/>
            <p:nvPr/>
          </p:nvSpPr>
          <p:spPr>
            <a:xfrm>
              <a:off x="6267450" y="2667000"/>
              <a:ext cx="2571750" cy="2667000"/>
            </a:xfrm>
            <a:prstGeom prst="roundRect">
              <a:avLst>
                <a:gd name="adj" fmla="val 2963"/>
              </a:avLst>
            </a:prstGeom>
            <a:solidFill>
              <a:srgbClr val="FFF8F0"/>
            </a:solidFill>
            <a:ln w="19050">
              <a:solidFill>
                <a:srgbClr val="E07B00"/>
              </a:solidFill>
            </a:ln>
          </p:spPr>
        </p:sp>
        <p:sp>
          <p:nvSpPr>
            <p:cNvPr id="28" name="Rectangle 28"/>
            <p:cNvSpPr/>
            <p:nvPr/>
          </p:nvSpPr>
          <p:spPr>
            <a:xfrm>
              <a:off x="6267450" y="2667000"/>
              <a:ext cx="2571750" cy="571500"/>
            </a:xfrm>
            <a:prstGeom prst="roundRect">
              <a:avLst>
                <a:gd name="adj" fmla="val 13333"/>
              </a:avLst>
            </a:prstGeom>
            <a:solidFill>
              <a:srgbClr val="E07B00"/>
            </a:solidFill>
            <a:ln>
              <a:noFill/>
            </a:ln>
          </p:spPr>
        </p:sp>
        <p:sp>
          <p:nvSpPr>
            <p:cNvPr id="29" name="Rectangle 29"/>
            <p:cNvSpPr/>
            <p:nvPr/>
          </p:nvSpPr>
          <p:spPr>
            <a:xfrm>
              <a:off x="6267450" y="3238500"/>
              <a:ext cx="2571750" cy="2095500"/>
            </a:xfrm>
            <a:prstGeom prst="roundRect">
              <a:avLst>
                <a:gd name="adj" fmla="val 3636"/>
              </a:avLst>
            </a:prstGeom>
            <a:solidFill>
              <a:srgbClr val="FFF8F0"/>
            </a:solidFill>
            <a:ln>
              <a:noFill/>
            </a:ln>
          </p:spPr>
        </p:sp>
        <p:sp>
          <p:nvSpPr>
            <p:cNvPr id="30" name="TextBox 30"/>
            <p:cNvSpPr txBox="1"/>
            <p:nvPr/>
          </p:nvSpPr>
          <p:spPr>
            <a:xfrm>
              <a:off x="7276003" y="2818448"/>
              <a:ext cx="554643"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Microsoft YaHei"/>
                  <a:cs typeface="Arial"/>
                </a:rPr>
                <a:t>Low</a:t>
              </a:r>
            </a:p>
          </p:txBody>
        </p:sp>
        <p:sp>
          <p:nvSpPr>
            <p:cNvPr id="31" name="TextBox 31"/>
            <p:cNvSpPr txBox="1"/>
            <p:nvPr/>
          </p:nvSpPr>
          <p:spPr>
            <a:xfrm>
              <a:off x="7016144" y="3230880"/>
              <a:ext cx="1074363" cy="731520"/>
            </a:xfrm>
            <a:prstGeom prst="rect">
              <a:avLst/>
            </a:prstGeom>
            <a:noFill/>
            <a:ln>
              <a:noFill/>
            </a:ln>
          </p:spPr>
          <p:txBody>
            <a:bodyPr wrap="none" lIns="0" tIns="0" rIns="0" bIns="0" anchor="t" anchorCtr="0">
              <a:spAutoFit/>
            </a:bodyPr>
            <a:lstStyle/>
            <a:p>
              <a:pPr algn="ctr"/>
              <a:r>
                <a:rPr lang="zh-CN" sz="3600" b="1" dirty="0">
                  <a:solidFill>
                    <a:srgbClr val="E07B00"/>
                  </a:solidFill>
                  <a:latin typeface="Arial"/>
                  <a:ea typeface="Microsoft YaHei"/>
                  <a:cs typeface="Arial"/>
                </a:rPr>
                <a:t>8-12</a:t>
              </a:r>
            </a:p>
          </p:txBody>
        </p:sp>
        <p:sp>
          <p:nvSpPr>
            <p:cNvPr id="32" name="TextBox 32"/>
            <p:cNvSpPr txBox="1"/>
            <p:nvPr/>
          </p:nvSpPr>
          <p:spPr>
            <a:xfrm>
              <a:off x="7134225" y="3933825"/>
              <a:ext cx="838200"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低置信度</a:t>
              </a:r>
            </a:p>
          </p:txBody>
        </p:sp>
        <p:sp>
          <p:nvSpPr>
            <p:cNvPr id="33" name="TextBox 33"/>
            <p:cNvSpPr txBox="1"/>
            <p:nvPr/>
          </p:nvSpPr>
          <p:spPr>
            <a:xfrm>
              <a:off x="6996112" y="4283392"/>
              <a:ext cx="111442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模型分歧较大</a:t>
              </a:r>
            </a:p>
          </p:txBody>
        </p:sp>
        <p:sp>
          <p:nvSpPr>
            <p:cNvPr id="34" name="TextBox 34"/>
            <p:cNvSpPr txBox="1"/>
            <p:nvPr/>
          </p:nvSpPr>
          <p:spPr>
            <a:xfrm>
              <a:off x="6996112" y="4569142"/>
              <a:ext cx="111442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建议人工复核</a:t>
              </a:r>
            </a:p>
          </p:txBody>
        </p:sp>
        <p:sp>
          <p:nvSpPr>
            <p:cNvPr id="35" name="TextBox 35"/>
            <p:cNvSpPr txBox="1"/>
            <p:nvPr/>
          </p:nvSpPr>
          <p:spPr>
            <a:xfrm>
              <a:off x="6982611" y="4854892"/>
              <a:ext cx="114142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或第 3 次评测</a:t>
              </a:r>
            </a:p>
          </p:txBody>
        </p:sp>
        <p:sp>
          <p:nvSpPr>
            <p:cNvPr id="36" name="Rectangle 36"/>
            <p:cNvSpPr/>
            <p:nvPr/>
          </p:nvSpPr>
          <p:spPr>
            <a:xfrm>
              <a:off x="9096375" y="2667000"/>
              <a:ext cx="2571750" cy="2667000"/>
            </a:xfrm>
            <a:prstGeom prst="roundRect">
              <a:avLst>
                <a:gd name="adj" fmla="val 2963"/>
              </a:avLst>
            </a:prstGeom>
            <a:solidFill>
              <a:srgbClr val="FFEBEE"/>
            </a:solidFill>
            <a:ln w="19050">
              <a:solidFill>
                <a:srgbClr val="C8161E"/>
              </a:solidFill>
            </a:ln>
          </p:spPr>
        </p:sp>
        <p:sp>
          <p:nvSpPr>
            <p:cNvPr id="37" name="Rectangle 37"/>
            <p:cNvSpPr/>
            <p:nvPr/>
          </p:nvSpPr>
          <p:spPr>
            <a:xfrm>
              <a:off x="9096375" y="2667000"/>
              <a:ext cx="2571750" cy="571500"/>
            </a:xfrm>
            <a:prstGeom prst="roundRect">
              <a:avLst>
                <a:gd name="adj" fmla="val 13333"/>
              </a:avLst>
            </a:prstGeom>
            <a:solidFill>
              <a:srgbClr val="C8161E"/>
            </a:solidFill>
            <a:ln>
              <a:noFill/>
            </a:ln>
          </p:spPr>
        </p:sp>
        <p:sp>
          <p:nvSpPr>
            <p:cNvPr id="38" name="Rectangle 38"/>
            <p:cNvSpPr/>
            <p:nvPr/>
          </p:nvSpPr>
          <p:spPr>
            <a:xfrm>
              <a:off x="9096375" y="3238500"/>
              <a:ext cx="2571750" cy="2095500"/>
            </a:xfrm>
            <a:prstGeom prst="roundRect">
              <a:avLst>
                <a:gd name="adj" fmla="val 3636"/>
              </a:avLst>
            </a:prstGeom>
            <a:solidFill>
              <a:srgbClr val="FFEBEE"/>
            </a:solidFill>
            <a:ln>
              <a:noFill/>
            </a:ln>
          </p:spPr>
        </p:sp>
        <p:sp>
          <p:nvSpPr>
            <p:cNvPr id="39" name="TextBox 39"/>
            <p:cNvSpPr txBox="1"/>
            <p:nvPr/>
          </p:nvSpPr>
          <p:spPr>
            <a:xfrm>
              <a:off x="9859198" y="2818448"/>
              <a:ext cx="1046105"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Microsoft YaHei"/>
                  <a:cs typeface="Arial"/>
                </a:rPr>
                <a:t>Critical</a:t>
              </a:r>
            </a:p>
          </p:txBody>
        </p:sp>
        <p:sp>
          <p:nvSpPr>
            <p:cNvPr id="40" name="TextBox 40"/>
            <p:cNvSpPr txBox="1"/>
            <p:nvPr/>
          </p:nvSpPr>
          <p:spPr>
            <a:xfrm>
              <a:off x="9908076" y="3230880"/>
              <a:ext cx="948347"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&gt; 12</a:t>
              </a:r>
            </a:p>
          </p:txBody>
        </p:sp>
        <p:sp>
          <p:nvSpPr>
            <p:cNvPr id="41" name="TextBox 41"/>
            <p:cNvSpPr txBox="1"/>
            <p:nvPr/>
          </p:nvSpPr>
          <p:spPr>
            <a:xfrm>
              <a:off x="9863138" y="3933825"/>
              <a:ext cx="103822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极低置信度</a:t>
              </a:r>
            </a:p>
          </p:txBody>
        </p:sp>
        <p:sp>
          <p:nvSpPr>
            <p:cNvPr id="42" name="TextBox 42"/>
            <p:cNvSpPr txBox="1"/>
            <p:nvPr/>
          </p:nvSpPr>
          <p:spPr>
            <a:xfrm>
              <a:off x="9825038" y="4283392"/>
              <a:ext cx="111442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模型严重分歧</a:t>
              </a:r>
            </a:p>
          </p:txBody>
        </p:sp>
        <p:sp>
          <p:nvSpPr>
            <p:cNvPr id="43" name="TextBox 43"/>
            <p:cNvSpPr txBox="1"/>
            <p:nvPr/>
          </p:nvSpPr>
          <p:spPr>
            <a:xfrm>
              <a:off x="9825038" y="4569142"/>
              <a:ext cx="111442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必须人工复核</a:t>
              </a:r>
            </a:p>
          </p:txBody>
        </p:sp>
        <p:sp>
          <p:nvSpPr>
            <p:cNvPr id="44" name="TextBox 44"/>
            <p:cNvSpPr txBox="1"/>
            <p:nvPr/>
          </p:nvSpPr>
          <p:spPr>
            <a:xfrm>
              <a:off x="9811536" y="4854892"/>
              <a:ext cx="114142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AI 评分不可靠</a:t>
              </a:r>
            </a:p>
          </p:txBody>
        </p:sp>
      </p:grpSp>
      <p:sp>
        <p:nvSpPr>
          <p:cNvPr id="46" name="Rectangle 46"/>
          <p:cNvSpPr/>
          <p:nvPr/>
        </p:nvSpPr>
        <p:spPr>
          <a:xfrm>
            <a:off x="609600" y="5619750"/>
            <a:ext cx="10972800" cy="762000"/>
          </a:xfrm>
          <a:prstGeom prst="roundRect">
            <a:avLst>
              <a:gd name="adj" fmla="val 10000"/>
            </a:avLst>
          </a:prstGeom>
          <a:solidFill>
            <a:srgbClr val="F4F5F7"/>
          </a:solidFill>
          <a:ln>
            <a:noFill/>
          </a:ln>
        </p:spPr>
      </p:sp>
      <p:sp>
        <p:nvSpPr>
          <p:cNvPr id="47" name="TextBox 47"/>
          <p:cNvSpPr txBox="1"/>
          <p:nvPr/>
        </p:nvSpPr>
        <p:spPr>
          <a:xfrm>
            <a:off x="893445" y="572738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核心原则</a:t>
            </a:r>
          </a:p>
        </p:txBody>
      </p:sp>
      <p:sp>
        <p:nvSpPr>
          <p:cNvPr id="48" name="TextBox 48"/>
          <p:cNvSpPr txBox="1"/>
          <p:nvPr/>
        </p:nvSpPr>
        <p:spPr>
          <a:xfrm>
            <a:off x="895350" y="6048375"/>
            <a:ext cx="5728811"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AI 评分与专家评分并列存储，不互相覆盖 → 专家终审权威高于 AI</a:t>
            </a:r>
          </a:p>
        </p:txBody>
      </p:sp>
      <p:sp>
        <p:nvSpPr>
          <p:cNvPr id="49" name="TextBox 49"/>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3849052"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自主知识体系信号校验</a:t>
            </a:r>
          </a:p>
        </p:txBody>
      </p:sp>
      <p:sp>
        <p:nvSpPr>
          <p:cNvPr id="7" name="Rectangle 7"/>
          <p:cNvSpPr/>
          <p:nvPr/>
        </p:nvSpPr>
        <p:spPr>
          <a:xfrm>
            <a:off x="609600" y="1714500"/>
            <a:ext cx="10972800" cy="571500"/>
          </a:xfrm>
          <a:prstGeom prst="roundRect">
            <a:avLst>
              <a:gd name="adj" fmla="val 13333"/>
            </a:avLst>
          </a:prstGeom>
          <a:solidFill>
            <a:srgbClr val="FFF8F0"/>
          </a:solidFill>
          <a:ln w="19050">
            <a:solidFill>
              <a:srgbClr val="E07B00"/>
            </a:solidFill>
          </a:ln>
        </p:spPr>
      </p:sp>
      <p:sp>
        <p:nvSpPr>
          <p:cNvPr id="8" name="TextBox 8"/>
          <p:cNvSpPr txBox="1"/>
          <p:nvPr/>
        </p:nvSpPr>
        <p:spPr>
          <a:xfrm>
            <a:off x="2659118" y="1917382"/>
            <a:ext cx="6873764" cy="335280"/>
          </a:xfrm>
          <a:prstGeom prst="rect">
            <a:avLst/>
          </a:prstGeom>
          <a:noFill/>
          <a:ln>
            <a:noFill/>
          </a:ln>
        </p:spPr>
        <p:txBody>
          <a:bodyPr wrap="none" lIns="0" tIns="0" rIns="0" bIns="0" anchor="t" anchorCtr="0">
            <a:spAutoFit/>
          </a:bodyPr>
          <a:lstStyle/>
          <a:p>
            <a:pPr algn="ctr"/>
            <a:r>
              <a:rPr lang="zh-CN" sz="1650" dirty="0">
                <a:solidFill>
                  <a:srgbClr val="1B1C21"/>
                </a:solidFill>
                <a:latin typeface="Arial"/>
                <a:ea typeface="Microsoft YaHei"/>
                <a:cs typeface="Arial"/>
              </a:rPr>
              <a:t>量化 0-8 分，用于候选分层，不计入基础分（基础分仍为六维 0-100）</a:t>
            </a:r>
          </a:p>
        </p:txBody>
      </p:sp>
      <p:sp>
        <p:nvSpPr>
          <p:cNvPr id="9" name="TextBox 9"/>
          <p:cNvSpPr txBox="1"/>
          <p:nvPr/>
        </p:nvSpPr>
        <p:spPr>
          <a:xfrm>
            <a:off x="584835" y="2456498"/>
            <a:ext cx="1687735"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四类核心信号</a:t>
            </a:r>
          </a:p>
        </p:txBody>
      </p:sp>
      <p:grpSp>
        <p:nvGrpSpPr>
          <p:cNvPr id="34" name="Group 34"/>
          <p:cNvGrpSpPr/>
          <p:nvPr/>
        </p:nvGrpSpPr>
        <p:grpSpPr>
          <a:xfrm>
            <a:off x="609600" y="2857500"/>
            <a:ext cx="10972800" cy="2095500"/>
            <a:chOff x="609600" y="2857500"/>
            <a:chExt cx="10972800" cy="2095500"/>
          </a:xfrm>
        </p:grpSpPr>
        <p:sp>
          <p:nvSpPr>
            <p:cNvPr id="10" name="Rectangle 10"/>
            <p:cNvSpPr/>
            <p:nvPr/>
          </p:nvSpPr>
          <p:spPr>
            <a:xfrm>
              <a:off x="609600" y="2857500"/>
              <a:ext cx="5334000" cy="952500"/>
            </a:xfrm>
            <a:prstGeom prst="roundRect">
              <a:avLst>
                <a:gd name="adj" fmla="val 8000"/>
              </a:avLst>
            </a:prstGeom>
            <a:solidFill>
              <a:srgbClr val="F4F5F7"/>
            </a:solidFill>
            <a:ln>
              <a:noFill/>
            </a:ln>
          </p:spPr>
        </p:sp>
        <p:sp>
          <p:nvSpPr>
            <p:cNvPr id="11" name="Ellipse 11"/>
            <p:cNvSpPr/>
            <p:nvPr/>
          </p:nvSpPr>
          <p:spPr>
            <a:xfrm>
              <a:off x="723900" y="3048000"/>
              <a:ext cx="381000" cy="381000"/>
            </a:xfrm>
            <a:prstGeom prst="ellipse">
              <a:avLst/>
            </a:prstGeom>
            <a:solidFill>
              <a:srgbClr val="1F4D78"/>
            </a:solidFill>
            <a:ln>
              <a:noFill/>
            </a:ln>
          </p:spPr>
        </p:sp>
        <p:sp>
          <p:nvSpPr>
            <p:cNvPr id="12" name="TextBox 12"/>
            <p:cNvSpPr txBox="1"/>
            <p:nvPr/>
          </p:nvSpPr>
          <p:spPr>
            <a:xfrm>
              <a:off x="863846" y="3152775"/>
              <a:ext cx="10110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1</a:t>
              </a:r>
            </a:p>
          </p:txBody>
        </p:sp>
        <p:sp>
          <p:nvSpPr>
            <p:cNvPr id="13" name="TextBox 13"/>
            <p:cNvSpPr txBox="1"/>
            <p:nvPr/>
          </p:nvSpPr>
          <p:spPr>
            <a:xfrm>
              <a:off x="1274445" y="2965132"/>
              <a:ext cx="1659112" cy="335280"/>
            </a:xfrm>
            <a:prstGeom prst="rect">
              <a:avLst/>
            </a:prstGeom>
            <a:noFill/>
            <a:ln>
              <a:noFill/>
            </a:ln>
          </p:spPr>
          <p:txBody>
            <a:bodyPr wrap="none" lIns="0" tIns="0" rIns="0" bIns="0" anchor="t" anchorCtr="0">
              <a:spAutoFit/>
            </a:bodyPr>
            <a:lstStyle/>
            <a:p>
              <a:pPr algn="l"/>
              <a:r>
                <a:rPr lang="zh-CN" sz="1650" b="1" dirty="0">
                  <a:solidFill>
                    <a:srgbClr val="1B1C21"/>
                  </a:solidFill>
                  <a:latin typeface="Arial"/>
                  <a:ea typeface="Microsoft YaHei"/>
                  <a:cs typeface="Arial"/>
                </a:rPr>
                <a:t>中国问题中心性</a:t>
              </a:r>
            </a:p>
          </p:txBody>
        </p:sp>
        <p:sp>
          <p:nvSpPr>
            <p:cNvPr id="14" name="TextBox 14"/>
            <p:cNvSpPr txBox="1"/>
            <p:nvPr/>
          </p:nvSpPr>
          <p:spPr>
            <a:xfrm>
              <a:off x="1278255" y="3283268"/>
              <a:ext cx="3094673"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以中国法律实践或制度为核心研究对象</a:t>
              </a:r>
            </a:p>
          </p:txBody>
        </p:sp>
        <p:sp>
          <p:nvSpPr>
            <p:cNvPr id="15" name="TextBox 15"/>
            <p:cNvSpPr txBox="1"/>
            <p:nvPr/>
          </p:nvSpPr>
          <p:spPr>
            <a:xfrm>
              <a:off x="1278255" y="3521392"/>
              <a:ext cx="1834515"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而非仅作为例证或背景</a:t>
              </a:r>
            </a:p>
          </p:txBody>
        </p:sp>
        <p:sp>
          <p:nvSpPr>
            <p:cNvPr id="16" name="Rectangle 16"/>
            <p:cNvSpPr/>
            <p:nvPr/>
          </p:nvSpPr>
          <p:spPr>
            <a:xfrm>
              <a:off x="6248400" y="2857500"/>
              <a:ext cx="5334000" cy="952500"/>
            </a:xfrm>
            <a:prstGeom prst="roundRect">
              <a:avLst>
                <a:gd name="adj" fmla="val 8000"/>
              </a:avLst>
            </a:prstGeom>
            <a:solidFill>
              <a:srgbClr val="F4F5F7"/>
            </a:solidFill>
            <a:ln>
              <a:noFill/>
            </a:ln>
          </p:spPr>
        </p:sp>
        <p:sp>
          <p:nvSpPr>
            <p:cNvPr id="17" name="Ellipse 17"/>
            <p:cNvSpPr/>
            <p:nvPr/>
          </p:nvSpPr>
          <p:spPr>
            <a:xfrm>
              <a:off x="6362700" y="3048000"/>
              <a:ext cx="381000" cy="381000"/>
            </a:xfrm>
            <a:prstGeom prst="ellipse">
              <a:avLst/>
            </a:prstGeom>
            <a:solidFill>
              <a:srgbClr val="1F4D78"/>
            </a:solidFill>
            <a:ln>
              <a:noFill/>
            </a:ln>
          </p:spPr>
        </p:sp>
        <p:sp>
          <p:nvSpPr>
            <p:cNvPr id="18" name="TextBox 18"/>
            <p:cNvSpPr txBox="1"/>
            <p:nvPr/>
          </p:nvSpPr>
          <p:spPr>
            <a:xfrm>
              <a:off x="6476393" y="315277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2</a:t>
              </a:r>
            </a:p>
          </p:txBody>
        </p:sp>
        <p:sp>
          <p:nvSpPr>
            <p:cNvPr id="19" name="TextBox 19"/>
            <p:cNvSpPr txBox="1"/>
            <p:nvPr/>
          </p:nvSpPr>
          <p:spPr>
            <a:xfrm>
              <a:off x="6913245" y="2965132"/>
              <a:ext cx="1890141" cy="335280"/>
            </a:xfrm>
            <a:prstGeom prst="rect">
              <a:avLst/>
            </a:prstGeom>
            <a:noFill/>
            <a:ln>
              <a:noFill/>
            </a:ln>
          </p:spPr>
          <p:txBody>
            <a:bodyPr wrap="none" lIns="0" tIns="0" rIns="0" bIns="0" anchor="t" anchorCtr="0">
              <a:spAutoFit/>
            </a:bodyPr>
            <a:lstStyle/>
            <a:p>
              <a:pPr algn="l"/>
              <a:r>
                <a:rPr lang="zh-CN" sz="1650" b="1" dirty="0">
                  <a:solidFill>
                    <a:srgbClr val="1B1C21"/>
                  </a:solidFill>
                  <a:latin typeface="Arial"/>
                  <a:ea typeface="Microsoft YaHei"/>
                  <a:cs typeface="Arial"/>
                </a:rPr>
                <a:t>中国实践解释尝试</a:t>
              </a:r>
            </a:p>
          </p:txBody>
        </p:sp>
        <p:sp>
          <p:nvSpPr>
            <p:cNvPr id="20" name="TextBox 20"/>
            <p:cNvSpPr txBox="1"/>
            <p:nvPr/>
          </p:nvSpPr>
          <p:spPr>
            <a:xfrm>
              <a:off x="6917055" y="3283268"/>
              <a:ext cx="2734628"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尝试用理论框架解释中国法律现象</a:t>
              </a:r>
            </a:p>
          </p:txBody>
        </p:sp>
        <p:sp>
          <p:nvSpPr>
            <p:cNvPr id="21" name="TextBox 21"/>
            <p:cNvSpPr txBox="1"/>
            <p:nvPr/>
          </p:nvSpPr>
          <p:spPr>
            <a:xfrm>
              <a:off x="6917055" y="3521392"/>
              <a:ext cx="1474470"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而非仅描述或评价</a:t>
              </a:r>
            </a:p>
          </p:txBody>
        </p:sp>
        <p:sp>
          <p:nvSpPr>
            <p:cNvPr id="22" name="Rectangle 22"/>
            <p:cNvSpPr/>
            <p:nvPr/>
          </p:nvSpPr>
          <p:spPr>
            <a:xfrm>
              <a:off x="609600" y="4000500"/>
              <a:ext cx="5334000" cy="952500"/>
            </a:xfrm>
            <a:prstGeom prst="roundRect">
              <a:avLst>
                <a:gd name="adj" fmla="val 8000"/>
              </a:avLst>
            </a:prstGeom>
            <a:solidFill>
              <a:srgbClr val="F4F5F7"/>
            </a:solidFill>
            <a:ln>
              <a:noFill/>
            </a:ln>
          </p:spPr>
        </p:sp>
        <p:sp>
          <p:nvSpPr>
            <p:cNvPr id="23" name="Ellipse 23"/>
            <p:cNvSpPr/>
            <p:nvPr/>
          </p:nvSpPr>
          <p:spPr>
            <a:xfrm>
              <a:off x="723900" y="4191000"/>
              <a:ext cx="381000" cy="381000"/>
            </a:xfrm>
            <a:prstGeom prst="ellipse">
              <a:avLst/>
            </a:prstGeom>
            <a:solidFill>
              <a:srgbClr val="1F4D78"/>
            </a:solidFill>
            <a:ln>
              <a:noFill/>
            </a:ln>
          </p:spPr>
        </p:sp>
        <p:sp>
          <p:nvSpPr>
            <p:cNvPr id="24" name="TextBox 24"/>
            <p:cNvSpPr txBox="1"/>
            <p:nvPr/>
          </p:nvSpPr>
          <p:spPr>
            <a:xfrm>
              <a:off x="837593" y="429577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3</a:t>
              </a:r>
            </a:p>
          </p:txBody>
        </p:sp>
        <p:sp>
          <p:nvSpPr>
            <p:cNvPr id="25" name="TextBox 25"/>
            <p:cNvSpPr txBox="1"/>
            <p:nvPr/>
          </p:nvSpPr>
          <p:spPr>
            <a:xfrm>
              <a:off x="1274445" y="4108132"/>
              <a:ext cx="1890141" cy="335280"/>
            </a:xfrm>
            <a:prstGeom prst="rect">
              <a:avLst/>
            </a:prstGeom>
            <a:noFill/>
            <a:ln>
              <a:noFill/>
            </a:ln>
          </p:spPr>
          <p:txBody>
            <a:bodyPr wrap="none" lIns="0" tIns="0" rIns="0" bIns="0" anchor="t" anchorCtr="0">
              <a:spAutoFit/>
            </a:bodyPr>
            <a:lstStyle/>
            <a:p>
              <a:pPr algn="l"/>
              <a:r>
                <a:rPr lang="zh-CN" sz="1650" b="1" dirty="0">
                  <a:solidFill>
                    <a:srgbClr val="1B1C21"/>
                  </a:solidFill>
                  <a:latin typeface="Arial"/>
                  <a:ea typeface="Microsoft YaHei"/>
                  <a:cs typeface="Arial"/>
                </a:rPr>
                <a:t>外部理论转化动作</a:t>
              </a:r>
            </a:p>
          </p:txBody>
        </p:sp>
        <p:sp>
          <p:nvSpPr>
            <p:cNvPr id="26" name="TextBox 26"/>
            <p:cNvSpPr txBox="1"/>
            <p:nvPr/>
          </p:nvSpPr>
          <p:spPr>
            <a:xfrm>
              <a:off x="1278255" y="4426268"/>
              <a:ext cx="2734628"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对引入的外部理论进行本土化改造</a:t>
              </a:r>
            </a:p>
          </p:txBody>
        </p:sp>
        <p:sp>
          <p:nvSpPr>
            <p:cNvPr id="27" name="TextBox 27"/>
            <p:cNvSpPr txBox="1"/>
            <p:nvPr/>
          </p:nvSpPr>
          <p:spPr>
            <a:xfrm>
              <a:off x="1278255" y="4664392"/>
              <a:ext cx="1114425"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而非直接套用</a:t>
              </a:r>
            </a:p>
          </p:txBody>
        </p:sp>
        <p:sp>
          <p:nvSpPr>
            <p:cNvPr id="28" name="Rectangle 28"/>
            <p:cNvSpPr/>
            <p:nvPr/>
          </p:nvSpPr>
          <p:spPr>
            <a:xfrm>
              <a:off x="6248400" y="4000500"/>
              <a:ext cx="5334000" cy="952500"/>
            </a:xfrm>
            <a:prstGeom prst="roundRect">
              <a:avLst>
                <a:gd name="adj" fmla="val 8000"/>
              </a:avLst>
            </a:prstGeom>
            <a:solidFill>
              <a:srgbClr val="F4F5F7"/>
            </a:solidFill>
            <a:ln>
              <a:noFill/>
            </a:ln>
          </p:spPr>
        </p:sp>
        <p:sp>
          <p:nvSpPr>
            <p:cNvPr id="29" name="Ellipse 29"/>
            <p:cNvSpPr/>
            <p:nvPr/>
          </p:nvSpPr>
          <p:spPr>
            <a:xfrm>
              <a:off x="6362700" y="4191000"/>
              <a:ext cx="381000" cy="381000"/>
            </a:xfrm>
            <a:prstGeom prst="ellipse">
              <a:avLst/>
            </a:prstGeom>
            <a:solidFill>
              <a:srgbClr val="1F4D78"/>
            </a:solidFill>
            <a:ln>
              <a:noFill/>
            </a:ln>
          </p:spPr>
        </p:sp>
        <p:sp>
          <p:nvSpPr>
            <p:cNvPr id="30" name="TextBox 30"/>
            <p:cNvSpPr txBox="1"/>
            <p:nvPr/>
          </p:nvSpPr>
          <p:spPr>
            <a:xfrm>
              <a:off x="6476393" y="429577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4</a:t>
              </a:r>
            </a:p>
          </p:txBody>
        </p:sp>
        <p:sp>
          <p:nvSpPr>
            <p:cNvPr id="31" name="TextBox 31"/>
            <p:cNvSpPr txBox="1"/>
            <p:nvPr/>
          </p:nvSpPr>
          <p:spPr>
            <a:xfrm>
              <a:off x="6913245" y="4108132"/>
              <a:ext cx="1890141" cy="335280"/>
            </a:xfrm>
            <a:prstGeom prst="rect">
              <a:avLst/>
            </a:prstGeom>
            <a:noFill/>
            <a:ln>
              <a:noFill/>
            </a:ln>
          </p:spPr>
          <p:txBody>
            <a:bodyPr wrap="none" lIns="0" tIns="0" rIns="0" bIns="0" anchor="t" anchorCtr="0">
              <a:spAutoFit/>
            </a:bodyPr>
            <a:lstStyle/>
            <a:p>
              <a:pPr algn="l"/>
              <a:r>
                <a:rPr lang="zh-CN" sz="1650" b="1" dirty="0">
                  <a:solidFill>
                    <a:srgbClr val="1B1C21"/>
                  </a:solidFill>
                  <a:latin typeface="Arial"/>
                  <a:ea typeface="Microsoft YaHei"/>
                  <a:cs typeface="Arial"/>
                </a:rPr>
                <a:t>可复核概念或命题</a:t>
              </a:r>
            </a:p>
          </p:txBody>
        </p:sp>
        <p:sp>
          <p:nvSpPr>
            <p:cNvPr id="32" name="TextBox 32"/>
            <p:cNvSpPr txBox="1"/>
            <p:nvPr/>
          </p:nvSpPr>
          <p:spPr>
            <a:xfrm>
              <a:off x="6917055" y="4426268"/>
              <a:ext cx="3094673"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提出可被学界检验的新概念或理论命题</a:t>
              </a:r>
            </a:p>
          </p:txBody>
        </p:sp>
        <p:sp>
          <p:nvSpPr>
            <p:cNvPr id="33" name="TextBox 33"/>
            <p:cNvSpPr txBox="1"/>
            <p:nvPr/>
          </p:nvSpPr>
          <p:spPr>
            <a:xfrm>
              <a:off x="6917055" y="4664392"/>
              <a:ext cx="1474470"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而非仅综述或评论</a:t>
              </a:r>
            </a:p>
          </p:txBody>
        </p:sp>
      </p:grpSp>
      <p:sp>
        <p:nvSpPr>
          <p:cNvPr id="35" name="TextBox 35"/>
          <p:cNvSpPr txBox="1"/>
          <p:nvPr/>
        </p:nvSpPr>
        <p:spPr>
          <a:xfrm>
            <a:off x="584835" y="5123498"/>
            <a:ext cx="2233803" cy="396240"/>
          </a:xfrm>
          <a:prstGeom prst="rect">
            <a:avLst/>
          </a:prstGeom>
          <a:noFill/>
          <a:ln>
            <a:noFill/>
          </a:ln>
        </p:spPr>
        <p:txBody>
          <a:bodyPr wrap="none" lIns="0" tIns="0" rIns="0" bIns="0" anchor="t" anchorCtr="0">
            <a:spAutoFit/>
          </a:bodyPr>
          <a:lstStyle/>
          <a:p>
            <a:pPr algn="l"/>
            <a:r>
              <a:rPr lang="zh-CN" sz="1950" b="1" dirty="0">
                <a:solidFill>
                  <a:srgbClr val="C8161E"/>
                </a:solidFill>
                <a:latin typeface="Arial"/>
                <a:ea typeface="Microsoft YaHei"/>
                <a:cs typeface="Arial"/>
              </a:rPr>
              <a:t>六类典型风险标记</a:t>
            </a:r>
          </a:p>
        </p:txBody>
      </p:sp>
      <p:grpSp>
        <p:nvGrpSpPr>
          <p:cNvPr id="48" name="Group 48"/>
          <p:cNvGrpSpPr/>
          <p:nvPr/>
        </p:nvGrpSpPr>
        <p:grpSpPr>
          <a:xfrm>
            <a:off x="609600" y="5524500"/>
            <a:ext cx="10972800" cy="904875"/>
            <a:chOff x="609600" y="5524500"/>
            <a:chExt cx="10972800" cy="904875"/>
          </a:xfrm>
        </p:grpSpPr>
        <p:sp>
          <p:nvSpPr>
            <p:cNvPr id="36" name="Rectangle 36"/>
            <p:cNvSpPr/>
            <p:nvPr/>
          </p:nvSpPr>
          <p:spPr>
            <a:xfrm>
              <a:off x="609600" y="5524500"/>
              <a:ext cx="3524250" cy="381000"/>
            </a:xfrm>
            <a:prstGeom prst="roundRect">
              <a:avLst>
                <a:gd name="adj" fmla="val 15000"/>
              </a:avLst>
            </a:prstGeom>
            <a:solidFill>
              <a:srgbClr val="FFEBEE"/>
            </a:solidFill>
            <a:ln>
              <a:noFill/>
            </a:ln>
          </p:spPr>
        </p:sp>
        <p:sp>
          <p:nvSpPr>
            <p:cNvPr id="37" name="TextBox 37"/>
            <p:cNvSpPr txBox="1"/>
            <p:nvPr/>
          </p:nvSpPr>
          <p:spPr>
            <a:xfrm>
              <a:off x="1994535" y="5626418"/>
              <a:ext cx="754380"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政策复述</a:t>
              </a:r>
            </a:p>
          </p:txBody>
        </p:sp>
        <p:sp>
          <p:nvSpPr>
            <p:cNvPr id="38" name="Rectangle 38"/>
            <p:cNvSpPr/>
            <p:nvPr/>
          </p:nvSpPr>
          <p:spPr>
            <a:xfrm>
              <a:off x="4333875" y="5524500"/>
              <a:ext cx="3524250" cy="381000"/>
            </a:xfrm>
            <a:prstGeom prst="roundRect">
              <a:avLst>
                <a:gd name="adj" fmla="val 15000"/>
              </a:avLst>
            </a:prstGeom>
            <a:solidFill>
              <a:srgbClr val="FFEBEE"/>
            </a:solidFill>
            <a:ln>
              <a:noFill/>
            </a:ln>
          </p:spPr>
        </p:sp>
        <p:sp>
          <p:nvSpPr>
            <p:cNvPr id="39" name="TextBox 39"/>
            <p:cNvSpPr txBox="1"/>
            <p:nvPr/>
          </p:nvSpPr>
          <p:spPr>
            <a:xfrm>
              <a:off x="5718810" y="5626418"/>
              <a:ext cx="754380"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文化宣示</a:t>
              </a:r>
            </a:p>
          </p:txBody>
        </p:sp>
        <p:sp>
          <p:nvSpPr>
            <p:cNvPr id="40" name="Rectangle 40"/>
            <p:cNvSpPr/>
            <p:nvPr/>
          </p:nvSpPr>
          <p:spPr>
            <a:xfrm>
              <a:off x="8058150" y="5524500"/>
              <a:ext cx="3524250" cy="381000"/>
            </a:xfrm>
            <a:prstGeom prst="roundRect">
              <a:avLst>
                <a:gd name="adj" fmla="val 15000"/>
              </a:avLst>
            </a:prstGeom>
            <a:solidFill>
              <a:srgbClr val="FFEBEE"/>
            </a:solidFill>
            <a:ln>
              <a:noFill/>
            </a:ln>
          </p:spPr>
        </p:sp>
        <p:sp>
          <p:nvSpPr>
            <p:cNvPr id="41" name="TextBox 41"/>
            <p:cNvSpPr txBox="1"/>
            <p:nvPr/>
          </p:nvSpPr>
          <p:spPr>
            <a:xfrm>
              <a:off x="9443085" y="5626418"/>
              <a:ext cx="754380"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直接移植</a:t>
              </a:r>
            </a:p>
          </p:txBody>
        </p:sp>
        <p:sp>
          <p:nvSpPr>
            <p:cNvPr id="42" name="Rectangle 42"/>
            <p:cNvSpPr/>
            <p:nvPr/>
          </p:nvSpPr>
          <p:spPr>
            <a:xfrm>
              <a:off x="609600" y="6048375"/>
              <a:ext cx="3524250" cy="381000"/>
            </a:xfrm>
            <a:prstGeom prst="roundRect">
              <a:avLst>
                <a:gd name="adj" fmla="val 15000"/>
              </a:avLst>
            </a:prstGeom>
            <a:solidFill>
              <a:srgbClr val="FFEBEE"/>
            </a:solidFill>
            <a:ln>
              <a:noFill/>
            </a:ln>
          </p:spPr>
        </p:sp>
        <p:sp>
          <p:nvSpPr>
            <p:cNvPr id="43" name="TextBox 43"/>
            <p:cNvSpPr txBox="1"/>
            <p:nvPr/>
          </p:nvSpPr>
          <p:spPr>
            <a:xfrm>
              <a:off x="1994535" y="6150292"/>
              <a:ext cx="754380"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制度介绍</a:t>
              </a:r>
            </a:p>
          </p:txBody>
        </p:sp>
        <p:sp>
          <p:nvSpPr>
            <p:cNvPr id="44" name="Rectangle 44"/>
            <p:cNvSpPr/>
            <p:nvPr/>
          </p:nvSpPr>
          <p:spPr>
            <a:xfrm>
              <a:off x="4333875" y="6048375"/>
              <a:ext cx="3524250" cy="381000"/>
            </a:xfrm>
            <a:prstGeom prst="roundRect">
              <a:avLst>
                <a:gd name="adj" fmla="val 15000"/>
              </a:avLst>
            </a:prstGeom>
            <a:solidFill>
              <a:srgbClr val="FFEBEE"/>
            </a:solidFill>
            <a:ln>
              <a:noFill/>
            </a:ln>
          </p:spPr>
        </p:sp>
        <p:sp>
          <p:nvSpPr>
            <p:cNvPr id="45" name="TextBox 45"/>
            <p:cNvSpPr txBox="1"/>
            <p:nvPr/>
          </p:nvSpPr>
          <p:spPr>
            <a:xfrm>
              <a:off x="5718810" y="6150292"/>
              <a:ext cx="754380"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价值倡导</a:t>
              </a:r>
            </a:p>
          </p:txBody>
        </p:sp>
        <p:sp>
          <p:nvSpPr>
            <p:cNvPr id="46" name="Rectangle 46"/>
            <p:cNvSpPr/>
            <p:nvPr/>
          </p:nvSpPr>
          <p:spPr>
            <a:xfrm>
              <a:off x="8058150" y="6048375"/>
              <a:ext cx="3524250" cy="381000"/>
            </a:xfrm>
            <a:prstGeom prst="roundRect">
              <a:avLst>
                <a:gd name="adj" fmla="val 15000"/>
              </a:avLst>
            </a:prstGeom>
            <a:solidFill>
              <a:srgbClr val="FFEBEE"/>
            </a:solidFill>
            <a:ln>
              <a:noFill/>
            </a:ln>
          </p:spPr>
        </p:sp>
        <p:sp>
          <p:nvSpPr>
            <p:cNvPr id="47" name="TextBox 47"/>
            <p:cNvSpPr txBox="1"/>
            <p:nvPr/>
          </p:nvSpPr>
          <p:spPr>
            <a:xfrm>
              <a:off x="9443085" y="6150292"/>
              <a:ext cx="754380"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纯粹比较</a:t>
              </a:r>
            </a:p>
          </p:txBody>
        </p:sp>
      </p:grpSp>
      <p:sp>
        <p:nvSpPr>
          <p:cNvPr id="49" name="TextBox 49"/>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400"/>
                                        <p:tgtEl>
                                          <p:spTgt spid="34"/>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slide(fromBottom)">
                                      <p:cBhvr>
                                        <p:cTn id="11"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7119161"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预检拒审与异常处理（Round 1 实际表现）</a:t>
            </a:r>
          </a:p>
        </p:txBody>
      </p:sp>
      <p:sp>
        <p:nvSpPr>
          <p:cNvPr id="7" name="Rectangle 7"/>
          <p:cNvSpPr/>
          <p:nvPr/>
        </p:nvSpPr>
        <p:spPr>
          <a:xfrm>
            <a:off x="609600" y="1714500"/>
            <a:ext cx="10972800" cy="666750"/>
          </a:xfrm>
          <a:prstGeom prst="roundRect">
            <a:avLst>
              <a:gd name="adj" fmla="val 11429"/>
            </a:avLst>
          </a:prstGeom>
          <a:solidFill>
            <a:srgbClr val="F4F5F7"/>
          </a:solidFill>
          <a:ln>
            <a:noFill/>
          </a:ln>
        </p:spPr>
      </p:sp>
      <p:sp>
        <p:nvSpPr>
          <p:cNvPr id="8" name="TextBox 8"/>
          <p:cNvSpPr txBox="1"/>
          <p:nvPr/>
        </p:nvSpPr>
        <p:spPr>
          <a:xfrm>
            <a:off x="3606772" y="1916430"/>
            <a:ext cx="4978456" cy="426720"/>
          </a:xfrm>
          <a:prstGeom prst="rect">
            <a:avLst/>
          </a:prstGeom>
          <a:noFill/>
          <a:ln>
            <a:noFill/>
          </a:ln>
        </p:spPr>
        <p:txBody>
          <a:bodyPr wrap="none" lIns="0" tIns="0" rIns="0" bIns="0" anchor="t" anchorCtr="0">
            <a:spAutoFit/>
          </a:bodyPr>
          <a:lstStyle/>
          <a:p>
            <a:pPr algn="ctr"/>
            <a:r>
              <a:rPr lang="zh-CN" sz="2100" b="1" dirty="0">
                <a:solidFill>
                  <a:srgbClr val="1F4D78"/>
                </a:solidFill>
                <a:latin typeface="Arial"/>
                <a:ea typeface="Microsoft YaHei"/>
                <a:cs typeface="Arial"/>
              </a:rPr>
              <a:t>154 篇问题论文（占 1920 篇的 8.0%）</a:t>
            </a:r>
          </a:p>
        </p:txBody>
      </p:sp>
      <p:grpSp>
        <p:nvGrpSpPr>
          <p:cNvPr id="46" name="Group 46"/>
          <p:cNvGrpSpPr/>
          <p:nvPr/>
        </p:nvGrpSpPr>
        <p:grpSpPr>
          <a:xfrm>
            <a:off x="609600" y="2571750"/>
            <a:ext cx="10972800" cy="3048000"/>
            <a:chOff x="609600" y="2571750"/>
            <a:chExt cx="10972800" cy="3048000"/>
          </a:xfrm>
        </p:grpSpPr>
        <p:sp>
          <p:nvSpPr>
            <p:cNvPr id="9" name="Rectangle 9"/>
            <p:cNvSpPr/>
            <p:nvPr/>
          </p:nvSpPr>
          <p:spPr>
            <a:xfrm>
              <a:off x="609600" y="2571750"/>
              <a:ext cx="10972800" cy="381000"/>
            </a:xfrm>
            <a:prstGeom prst="roundRect">
              <a:avLst>
                <a:gd name="adj" fmla="val 20000"/>
              </a:avLst>
            </a:prstGeom>
            <a:solidFill>
              <a:srgbClr val="1F4D78"/>
            </a:solidFill>
            <a:ln>
              <a:noFill/>
            </a:ln>
          </p:spPr>
        </p:sp>
        <p:sp>
          <p:nvSpPr>
            <p:cNvPr id="10" name="Rectangle 10"/>
            <p:cNvSpPr/>
            <p:nvPr/>
          </p:nvSpPr>
          <p:spPr>
            <a:xfrm>
              <a:off x="609600" y="2952750"/>
              <a:ext cx="10972800" cy="2667000"/>
            </a:xfrm>
            <a:prstGeom prst="roundRect">
              <a:avLst>
                <a:gd name="adj" fmla="val 2857"/>
              </a:avLst>
            </a:prstGeom>
            <a:solidFill>
              <a:srgbClr val="FFFFFF"/>
            </a:solidFill>
            <a:ln w="9525">
              <a:solidFill>
                <a:srgbClr val="D9DEE5"/>
              </a:solidFill>
            </a:ln>
          </p:spPr>
        </p:sp>
        <p:sp>
          <p:nvSpPr>
            <p:cNvPr id="11" name="TextBox 11"/>
            <p:cNvSpPr txBox="1"/>
            <p:nvPr/>
          </p:nvSpPr>
          <p:spPr>
            <a:xfrm>
              <a:off x="1127331" y="267366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类别</a:t>
              </a:r>
            </a:p>
          </p:txBody>
        </p:sp>
        <p:sp>
          <p:nvSpPr>
            <p:cNvPr id="12" name="TextBox 12"/>
            <p:cNvSpPr txBox="1"/>
            <p:nvPr/>
          </p:nvSpPr>
          <p:spPr>
            <a:xfrm>
              <a:off x="2841831" y="267366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数量</a:t>
              </a:r>
            </a:p>
          </p:txBody>
        </p:sp>
        <p:sp>
          <p:nvSpPr>
            <p:cNvPr id="13" name="TextBox 13"/>
            <p:cNvSpPr txBox="1"/>
            <p:nvPr/>
          </p:nvSpPr>
          <p:spPr>
            <a:xfrm>
              <a:off x="4080081" y="267366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占比</a:t>
              </a:r>
            </a:p>
          </p:txBody>
        </p:sp>
        <p:sp>
          <p:nvSpPr>
            <p:cNvPr id="14" name="TextBox 14"/>
            <p:cNvSpPr txBox="1"/>
            <p:nvPr/>
          </p:nvSpPr>
          <p:spPr>
            <a:xfrm>
              <a:off x="6937581" y="267366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说明</a:t>
              </a:r>
            </a:p>
          </p:txBody>
        </p:sp>
        <p:sp>
          <p:nvSpPr>
            <p:cNvPr id="15" name="TextBox 15"/>
            <p:cNvSpPr txBox="1"/>
            <p:nvPr/>
          </p:nvSpPr>
          <p:spPr>
            <a:xfrm>
              <a:off x="9606058" y="2673668"/>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处理策略</a:t>
              </a:r>
            </a:p>
          </p:txBody>
        </p:sp>
        <p:sp>
          <p:nvSpPr>
            <p:cNvPr id="16" name="Rectangle 16"/>
            <p:cNvSpPr/>
            <p:nvPr/>
          </p:nvSpPr>
          <p:spPr>
            <a:xfrm>
              <a:off x="609600" y="2952750"/>
              <a:ext cx="10972800" cy="533400"/>
            </a:xfrm>
            <a:prstGeom prst="rect">
              <a:avLst/>
            </a:prstGeom>
            <a:solidFill>
              <a:srgbClr val="E8F5E9"/>
            </a:solidFill>
            <a:ln>
              <a:noFill/>
            </a:ln>
          </p:spPr>
        </p:sp>
        <p:sp>
          <p:nvSpPr>
            <p:cNvPr id="17" name="TextBox 17"/>
            <p:cNvSpPr txBox="1"/>
            <p:nvPr/>
          </p:nvSpPr>
          <p:spPr>
            <a:xfrm>
              <a:off x="990017" y="3119914"/>
              <a:ext cx="686967"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1-空状态</a:t>
              </a:r>
            </a:p>
          </p:txBody>
        </p:sp>
        <p:sp>
          <p:nvSpPr>
            <p:cNvPr id="18" name="TextBox 18"/>
            <p:cNvSpPr txBox="1"/>
            <p:nvPr/>
          </p:nvSpPr>
          <p:spPr>
            <a:xfrm>
              <a:off x="2817581" y="3119914"/>
              <a:ext cx="460839"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90 篇</a:t>
              </a:r>
            </a:p>
          </p:txBody>
        </p:sp>
        <p:sp>
          <p:nvSpPr>
            <p:cNvPr id="19" name="TextBox 19"/>
            <p:cNvSpPr txBox="1"/>
            <p:nvPr/>
          </p:nvSpPr>
          <p:spPr>
            <a:xfrm>
              <a:off x="4036278" y="3119914"/>
              <a:ext cx="499943" cy="259080"/>
            </a:xfrm>
            <a:prstGeom prst="rect">
              <a:avLst/>
            </a:prstGeom>
            <a:noFill/>
            <a:ln>
              <a:noFill/>
            </a:ln>
          </p:spPr>
          <p:txBody>
            <a:bodyPr wrap="none" lIns="0" tIns="0" rIns="0" bIns="0" anchor="t" anchorCtr="0">
              <a:spAutoFit/>
            </a:bodyPr>
            <a:lstStyle/>
            <a:p>
              <a:pPr algn="ctr"/>
              <a:r>
                <a:rPr lang="zh-CN" sz="1275" dirty="0">
                  <a:solidFill>
                    <a:srgbClr val="5A6472"/>
                  </a:solidFill>
                  <a:latin typeface="Arial"/>
                  <a:ea typeface="Microsoft YaHei"/>
                  <a:cs typeface="Arial"/>
                </a:rPr>
                <a:t>58.4%</a:t>
              </a:r>
            </a:p>
          </p:txBody>
        </p:sp>
        <p:sp>
          <p:nvSpPr>
            <p:cNvPr id="20" name="TextBox 20"/>
            <p:cNvSpPr txBox="1"/>
            <p:nvPr/>
          </p:nvSpPr>
          <p:spPr>
            <a:xfrm>
              <a:off x="5964364" y="3128010"/>
              <a:ext cx="2358771"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API/内容审查（Qwen 占 70 篇）</a:t>
              </a:r>
            </a:p>
          </p:txBody>
        </p:sp>
        <p:sp>
          <p:nvSpPr>
            <p:cNvPr id="21" name="TextBox 21"/>
            <p:cNvSpPr txBox="1"/>
            <p:nvPr/>
          </p:nvSpPr>
          <p:spPr>
            <a:xfrm>
              <a:off x="9494549" y="3128010"/>
              <a:ext cx="1013403"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 已补测完成</a:t>
              </a:r>
            </a:p>
          </p:txBody>
        </p:sp>
        <p:sp>
          <p:nvSpPr>
            <p:cNvPr id="22" name="Rectangle 22"/>
            <p:cNvSpPr/>
            <p:nvPr/>
          </p:nvSpPr>
          <p:spPr>
            <a:xfrm>
              <a:off x="609600" y="3486150"/>
              <a:ext cx="10972800" cy="533400"/>
            </a:xfrm>
            <a:prstGeom prst="rect">
              <a:avLst/>
            </a:prstGeom>
            <a:solidFill>
              <a:srgbClr val="FFEBEE"/>
            </a:solidFill>
            <a:ln>
              <a:noFill/>
            </a:ln>
          </p:spPr>
        </p:sp>
        <p:sp>
          <p:nvSpPr>
            <p:cNvPr id="23" name="TextBox 23"/>
            <p:cNvSpPr txBox="1"/>
            <p:nvPr/>
          </p:nvSpPr>
          <p:spPr>
            <a:xfrm>
              <a:off x="883753" y="3653314"/>
              <a:ext cx="899493"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2-全部拒绝</a:t>
              </a:r>
            </a:p>
          </p:txBody>
        </p:sp>
        <p:sp>
          <p:nvSpPr>
            <p:cNvPr id="24" name="TextBox 24"/>
            <p:cNvSpPr txBox="1"/>
            <p:nvPr/>
          </p:nvSpPr>
          <p:spPr>
            <a:xfrm>
              <a:off x="2866674" y="3653314"/>
              <a:ext cx="362651"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5 篇</a:t>
              </a:r>
            </a:p>
          </p:txBody>
        </p:sp>
        <p:sp>
          <p:nvSpPr>
            <p:cNvPr id="25" name="TextBox 25"/>
            <p:cNvSpPr txBox="1"/>
            <p:nvPr/>
          </p:nvSpPr>
          <p:spPr>
            <a:xfrm>
              <a:off x="4083034" y="3653314"/>
              <a:ext cx="406432" cy="259080"/>
            </a:xfrm>
            <a:prstGeom prst="rect">
              <a:avLst/>
            </a:prstGeom>
            <a:noFill/>
            <a:ln>
              <a:noFill/>
            </a:ln>
          </p:spPr>
          <p:txBody>
            <a:bodyPr wrap="none" lIns="0" tIns="0" rIns="0" bIns="0" anchor="t" anchorCtr="0">
              <a:spAutoFit/>
            </a:bodyPr>
            <a:lstStyle/>
            <a:p>
              <a:pPr algn="ctr"/>
              <a:r>
                <a:rPr lang="zh-CN" sz="1275" dirty="0">
                  <a:solidFill>
                    <a:srgbClr val="5A6472"/>
                  </a:solidFill>
                  <a:latin typeface="Arial"/>
                  <a:ea typeface="Microsoft YaHei"/>
                  <a:cs typeface="Arial"/>
                </a:rPr>
                <a:t>3.2%</a:t>
              </a:r>
            </a:p>
          </p:txBody>
        </p:sp>
        <p:sp>
          <p:nvSpPr>
            <p:cNvPr id="26" name="TextBox 26"/>
            <p:cNvSpPr txBox="1"/>
            <p:nvPr/>
          </p:nvSpPr>
          <p:spPr>
            <a:xfrm>
              <a:off x="6020371" y="3661410"/>
              <a:ext cx="2246757"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4 模型一致排除（政策性论文）</a:t>
              </a:r>
            </a:p>
          </p:txBody>
        </p:sp>
        <p:sp>
          <p:nvSpPr>
            <p:cNvPr id="27" name="TextBox 27"/>
            <p:cNvSpPr txBox="1"/>
            <p:nvPr/>
          </p:nvSpPr>
          <p:spPr>
            <a:xfrm>
              <a:off x="9494549" y="3661410"/>
              <a:ext cx="1013403"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 可直接排除</a:t>
              </a:r>
            </a:p>
          </p:txBody>
        </p:sp>
        <p:sp>
          <p:nvSpPr>
            <p:cNvPr id="28" name="Rectangle 28"/>
            <p:cNvSpPr/>
            <p:nvPr/>
          </p:nvSpPr>
          <p:spPr>
            <a:xfrm>
              <a:off x="609600" y="4019550"/>
              <a:ext cx="10972800" cy="533400"/>
            </a:xfrm>
            <a:prstGeom prst="rect">
              <a:avLst/>
            </a:prstGeom>
            <a:solidFill>
              <a:srgbClr val="FFF8F0"/>
            </a:solidFill>
            <a:ln>
              <a:noFill/>
            </a:ln>
          </p:spPr>
        </p:sp>
        <p:sp>
          <p:nvSpPr>
            <p:cNvPr id="29" name="TextBox 29"/>
            <p:cNvSpPr txBox="1"/>
            <p:nvPr/>
          </p:nvSpPr>
          <p:spPr>
            <a:xfrm>
              <a:off x="883753" y="4186714"/>
              <a:ext cx="899493"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3-多数拒绝</a:t>
              </a:r>
            </a:p>
          </p:txBody>
        </p:sp>
        <p:sp>
          <p:nvSpPr>
            <p:cNvPr id="30" name="TextBox 30"/>
            <p:cNvSpPr txBox="1"/>
            <p:nvPr/>
          </p:nvSpPr>
          <p:spPr>
            <a:xfrm>
              <a:off x="2839896" y="4186714"/>
              <a:ext cx="416208"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19 篇</a:t>
              </a:r>
            </a:p>
          </p:txBody>
        </p:sp>
        <p:sp>
          <p:nvSpPr>
            <p:cNvPr id="31" name="TextBox 31"/>
            <p:cNvSpPr txBox="1"/>
            <p:nvPr/>
          </p:nvSpPr>
          <p:spPr>
            <a:xfrm>
              <a:off x="4057531" y="4186714"/>
              <a:ext cx="457438" cy="259080"/>
            </a:xfrm>
            <a:prstGeom prst="rect">
              <a:avLst/>
            </a:prstGeom>
            <a:noFill/>
            <a:ln>
              <a:noFill/>
            </a:ln>
          </p:spPr>
          <p:txBody>
            <a:bodyPr wrap="none" lIns="0" tIns="0" rIns="0" bIns="0" anchor="t" anchorCtr="0">
              <a:spAutoFit/>
            </a:bodyPr>
            <a:lstStyle/>
            <a:p>
              <a:pPr algn="ctr"/>
              <a:r>
                <a:rPr lang="zh-CN" sz="1275" dirty="0">
                  <a:solidFill>
                    <a:srgbClr val="5A6472"/>
                  </a:solidFill>
                  <a:latin typeface="Arial"/>
                  <a:ea typeface="Microsoft YaHei"/>
                  <a:cs typeface="Arial"/>
                </a:rPr>
                <a:t>12.3%</a:t>
              </a:r>
            </a:p>
          </p:txBody>
        </p:sp>
        <p:sp>
          <p:nvSpPr>
            <p:cNvPr id="32" name="TextBox 32"/>
            <p:cNvSpPr txBox="1"/>
            <p:nvPr/>
          </p:nvSpPr>
          <p:spPr>
            <a:xfrm>
              <a:off x="6332410" y="4194810"/>
              <a:ext cx="1622679"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2-3 模型拒绝，有分歧</a:t>
              </a:r>
            </a:p>
          </p:txBody>
        </p:sp>
        <p:sp>
          <p:nvSpPr>
            <p:cNvPr id="33" name="TextBox 33"/>
            <p:cNvSpPr txBox="1"/>
            <p:nvPr/>
          </p:nvSpPr>
          <p:spPr>
            <a:xfrm>
              <a:off x="9448343" y="4194810"/>
              <a:ext cx="1105814"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 需人工复核</a:t>
              </a:r>
            </a:p>
          </p:txBody>
        </p:sp>
        <p:sp>
          <p:nvSpPr>
            <p:cNvPr id="34" name="Rectangle 34"/>
            <p:cNvSpPr/>
            <p:nvPr/>
          </p:nvSpPr>
          <p:spPr>
            <a:xfrm>
              <a:off x="609600" y="4552950"/>
              <a:ext cx="10972800" cy="533400"/>
            </a:xfrm>
            <a:prstGeom prst="rect">
              <a:avLst/>
            </a:prstGeom>
            <a:solidFill>
              <a:srgbClr val="FFF8F0"/>
            </a:solidFill>
            <a:ln>
              <a:noFill/>
            </a:ln>
          </p:spPr>
        </p:sp>
        <p:sp>
          <p:nvSpPr>
            <p:cNvPr id="35" name="TextBox 35"/>
            <p:cNvSpPr txBox="1"/>
            <p:nvPr/>
          </p:nvSpPr>
          <p:spPr>
            <a:xfrm>
              <a:off x="883753" y="4720114"/>
              <a:ext cx="899493"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4-单一拒绝</a:t>
              </a:r>
            </a:p>
          </p:txBody>
        </p:sp>
        <p:sp>
          <p:nvSpPr>
            <p:cNvPr id="36" name="TextBox 36"/>
            <p:cNvSpPr txBox="1"/>
            <p:nvPr/>
          </p:nvSpPr>
          <p:spPr>
            <a:xfrm>
              <a:off x="2839896" y="4720114"/>
              <a:ext cx="416208"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15 篇</a:t>
              </a:r>
            </a:p>
          </p:txBody>
        </p:sp>
        <p:sp>
          <p:nvSpPr>
            <p:cNvPr id="37" name="TextBox 37"/>
            <p:cNvSpPr txBox="1"/>
            <p:nvPr/>
          </p:nvSpPr>
          <p:spPr>
            <a:xfrm>
              <a:off x="4083034" y="4720114"/>
              <a:ext cx="406432" cy="259080"/>
            </a:xfrm>
            <a:prstGeom prst="rect">
              <a:avLst/>
            </a:prstGeom>
            <a:noFill/>
            <a:ln>
              <a:noFill/>
            </a:ln>
          </p:spPr>
          <p:txBody>
            <a:bodyPr wrap="none" lIns="0" tIns="0" rIns="0" bIns="0" anchor="t" anchorCtr="0">
              <a:spAutoFit/>
            </a:bodyPr>
            <a:lstStyle/>
            <a:p>
              <a:pPr algn="ctr"/>
              <a:r>
                <a:rPr lang="zh-CN" sz="1275" dirty="0">
                  <a:solidFill>
                    <a:srgbClr val="5A6472"/>
                  </a:solidFill>
                  <a:latin typeface="Arial"/>
                  <a:ea typeface="Microsoft YaHei"/>
                  <a:cs typeface="Arial"/>
                </a:rPr>
                <a:t>9.7%</a:t>
              </a:r>
            </a:p>
          </p:txBody>
        </p:sp>
        <p:sp>
          <p:nvSpPr>
            <p:cNvPr id="38" name="TextBox 38"/>
            <p:cNvSpPr txBox="1"/>
            <p:nvPr/>
          </p:nvSpPr>
          <p:spPr>
            <a:xfrm>
              <a:off x="6760464" y="4728210"/>
              <a:ext cx="766572"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 模型拒绝</a:t>
              </a:r>
            </a:p>
          </p:txBody>
        </p:sp>
        <p:sp>
          <p:nvSpPr>
            <p:cNvPr id="39" name="TextBox 39"/>
            <p:cNvSpPr txBox="1"/>
            <p:nvPr/>
          </p:nvSpPr>
          <p:spPr>
            <a:xfrm>
              <a:off x="9448343" y="4728210"/>
              <a:ext cx="1105814"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 需人工复核</a:t>
              </a:r>
            </a:p>
          </p:txBody>
        </p:sp>
        <p:sp>
          <p:nvSpPr>
            <p:cNvPr id="40" name="Rectangle 40"/>
            <p:cNvSpPr/>
            <p:nvPr/>
          </p:nvSpPr>
          <p:spPr>
            <a:xfrm>
              <a:off x="609600" y="5086350"/>
              <a:ext cx="10972800" cy="533400"/>
            </a:xfrm>
            <a:prstGeom prst="rect">
              <a:avLst/>
            </a:prstGeom>
            <a:solidFill>
              <a:srgbClr val="F0F7FF"/>
            </a:solidFill>
            <a:ln>
              <a:noFill/>
            </a:ln>
          </p:spPr>
        </p:sp>
        <p:sp>
          <p:nvSpPr>
            <p:cNvPr id="41" name="TextBox 41"/>
            <p:cNvSpPr txBox="1"/>
            <p:nvPr/>
          </p:nvSpPr>
          <p:spPr>
            <a:xfrm>
              <a:off x="883753" y="5253514"/>
              <a:ext cx="899493"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5-边界判断</a:t>
              </a:r>
            </a:p>
          </p:txBody>
        </p:sp>
        <p:sp>
          <p:nvSpPr>
            <p:cNvPr id="42" name="TextBox 42"/>
            <p:cNvSpPr txBox="1"/>
            <p:nvPr/>
          </p:nvSpPr>
          <p:spPr>
            <a:xfrm>
              <a:off x="2817581" y="5253514"/>
              <a:ext cx="460839"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25 篇</a:t>
              </a:r>
            </a:p>
          </p:txBody>
        </p:sp>
        <p:sp>
          <p:nvSpPr>
            <p:cNvPr id="43" name="TextBox 43"/>
            <p:cNvSpPr txBox="1"/>
            <p:nvPr/>
          </p:nvSpPr>
          <p:spPr>
            <a:xfrm>
              <a:off x="4057531" y="5253514"/>
              <a:ext cx="457438" cy="259080"/>
            </a:xfrm>
            <a:prstGeom prst="rect">
              <a:avLst/>
            </a:prstGeom>
            <a:noFill/>
            <a:ln>
              <a:noFill/>
            </a:ln>
          </p:spPr>
          <p:txBody>
            <a:bodyPr wrap="none" lIns="0" tIns="0" rIns="0" bIns="0" anchor="t" anchorCtr="0">
              <a:spAutoFit/>
            </a:bodyPr>
            <a:lstStyle/>
            <a:p>
              <a:pPr algn="ctr"/>
              <a:r>
                <a:rPr lang="zh-CN" sz="1275" dirty="0">
                  <a:solidFill>
                    <a:srgbClr val="5A6472"/>
                  </a:solidFill>
                  <a:latin typeface="Arial"/>
                  <a:ea typeface="Microsoft YaHei"/>
                  <a:cs typeface="Arial"/>
                </a:rPr>
                <a:t>16.2%</a:t>
              </a:r>
            </a:p>
          </p:txBody>
        </p:sp>
        <p:sp>
          <p:nvSpPr>
            <p:cNvPr id="44" name="TextBox 44"/>
            <p:cNvSpPr txBox="1"/>
            <p:nvPr/>
          </p:nvSpPr>
          <p:spPr>
            <a:xfrm>
              <a:off x="6328410" y="5261610"/>
              <a:ext cx="163068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项目口径边界，无拒绝</a:t>
              </a:r>
            </a:p>
          </p:txBody>
        </p:sp>
        <p:sp>
          <p:nvSpPr>
            <p:cNvPr id="45" name="TextBox 45"/>
            <p:cNvSpPr txBox="1"/>
            <p:nvPr/>
          </p:nvSpPr>
          <p:spPr>
            <a:xfrm>
              <a:off x="9448343" y="5261610"/>
              <a:ext cx="1105814" cy="243840"/>
            </a:xfrm>
            <a:prstGeom prst="rect">
              <a:avLst/>
            </a:prstGeom>
            <a:noFill/>
            <a:ln>
              <a:noFill/>
            </a:ln>
          </p:spPr>
          <p:txBody>
            <a:bodyPr wrap="none" lIns="0" tIns="0" rIns="0" bIns="0" anchor="t" anchorCtr="0">
              <a:spAutoFit/>
            </a:bodyPr>
            <a:lstStyle/>
            <a:p>
              <a:pPr algn="ctr"/>
              <a:r>
                <a:rPr lang="zh-CN" sz="1200" b="1" dirty="0">
                  <a:solidFill>
                    <a:srgbClr val="1F4D78"/>
                  </a:solidFill>
                  <a:latin typeface="Arial"/>
                  <a:ea typeface="Microsoft YaHei"/>
                  <a:cs typeface="Arial"/>
                </a:rPr>
                <a:t>⚠️ 需人工确认</a:t>
              </a:r>
            </a:p>
          </p:txBody>
        </p:sp>
      </p:grpSp>
      <p:sp>
        <p:nvSpPr>
          <p:cNvPr id="47" name="TextBox 47"/>
          <p:cNvSpPr txBox="1"/>
          <p:nvPr/>
        </p:nvSpPr>
        <p:spPr>
          <a:xfrm>
            <a:off x="588645" y="5822632"/>
            <a:ext cx="1428083"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拒绝模型分布</a:t>
            </a:r>
          </a:p>
        </p:txBody>
      </p:sp>
      <p:sp>
        <p:nvSpPr>
          <p:cNvPr id="48" name="TextBox 48"/>
          <p:cNvSpPr txBox="1"/>
          <p:nvPr/>
        </p:nvSpPr>
        <p:spPr>
          <a:xfrm>
            <a:off x="592455" y="6140768"/>
            <a:ext cx="773925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Kimi-K2.6（33 次）&gt; GLM-5.1（23 次）&gt; DeepSeek-V4-Pro（15 次）&gt; Qwen3.6-Plus（6 次）</a:t>
            </a:r>
          </a:p>
        </p:txBody>
      </p:sp>
      <p:sp>
        <p:nvSpPr>
          <p:cNvPr id="49" name="TextBox 49"/>
          <p:cNvSpPr txBox="1"/>
          <p:nvPr/>
        </p:nvSpPr>
        <p:spPr>
          <a:xfrm>
            <a:off x="594360" y="6395085"/>
            <a:ext cx="3406902"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Kimi 最严格，Qwen 最宽松（与评分行为一致）</a:t>
            </a:r>
          </a:p>
        </p:txBody>
      </p:sp>
      <p:sp>
        <p:nvSpPr>
          <p:cNvPr id="50" name="TextBox 50"/>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5795996"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选择性第 3 次评测（方法论验证）</a:t>
            </a:r>
          </a:p>
        </p:txBody>
      </p:sp>
      <p:sp>
        <p:nvSpPr>
          <p:cNvPr id="7" name="Rectangle 7"/>
          <p:cNvSpPr/>
          <p:nvPr/>
        </p:nvSpPr>
        <p:spPr>
          <a:xfrm>
            <a:off x="609600" y="1714500"/>
            <a:ext cx="10972800" cy="666750"/>
          </a:xfrm>
          <a:prstGeom prst="roundRect">
            <a:avLst>
              <a:gd name="adj" fmla="val 11429"/>
            </a:avLst>
          </a:prstGeom>
          <a:solidFill>
            <a:srgbClr val="FFF8F0"/>
          </a:solidFill>
          <a:ln w="19050">
            <a:solidFill>
              <a:srgbClr val="E07B00"/>
            </a:solidFill>
          </a:ln>
        </p:spPr>
      </p:sp>
      <p:sp>
        <p:nvSpPr>
          <p:cNvPr id="8" name="TextBox 8"/>
          <p:cNvSpPr txBox="1"/>
          <p:nvPr/>
        </p:nvSpPr>
        <p:spPr>
          <a:xfrm>
            <a:off x="893445" y="1822132"/>
            <a:ext cx="503968" cy="335280"/>
          </a:xfrm>
          <a:prstGeom prst="rect">
            <a:avLst/>
          </a:prstGeom>
          <a:noFill/>
          <a:ln>
            <a:noFill/>
          </a:ln>
        </p:spPr>
        <p:txBody>
          <a:bodyPr wrap="none" lIns="0" tIns="0" rIns="0" bIns="0" anchor="t" anchorCtr="0">
            <a:spAutoFit/>
          </a:bodyPr>
          <a:lstStyle/>
          <a:p>
            <a:pPr algn="l"/>
            <a:r>
              <a:rPr lang="zh-CN" sz="1650" b="1" dirty="0">
                <a:solidFill>
                  <a:srgbClr val="E07B00"/>
                </a:solidFill>
                <a:latin typeface="Arial"/>
                <a:ea typeface="Microsoft YaHei"/>
                <a:cs typeface="Arial"/>
              </a:rPr>
              <a:t>问题</a:t>
            </a:r>
          </a:p>
        </p:txBody>
      </p:sp>
      <p:sp>
        <p:nvSpPr>
          <p:cNvPr id="9" name="TextBox 9"/>
          <p:cNvSpPr txBox="1"/>
          <p:nvPr/>
        </p:nvSpPr>
        <p:spPr>
          <a:xfrm>
            <a:off x="895350" y="2105025"/>
            <a:ext cx="7098983"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Top 30 仍有 13 篇论文存在维度不稳定（std &gt; 5），是否需要全量第 3 次评测？</a:t>
            </a:r>
          </a:p>
        </p:txBody>
      </p:sp>
      <p:sp>
        <p:nvSpPr>
          <p:cNvPr id="10" name="TextBox 10"/>
          <p:cNvSpPr txBox="1"/>
          <p:nvPr/>
        </p:nvSpPr>
        <p:spPr>
          <a:xfrm>
            <a:off x="584835" y="2551748"/>
            <a:ext cx="4964144"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核心发现：六维度评分在数学上完全独立</a:t>
            </a:r>
          </a:p>
        </p:txBody>
      </p:sp>
      <p:grpSp>
        <p:nvGrpSpPr>
          <p:cNvPr id="26" name="Group 26"/>
          <p:cNvGrpSpPr/>
          <p:nvPr/>
        </p:nvGrpSpPr>
        <p:grpSpPr>
          <a:xfrm>
            <a:off x="609600" y="2952750"/>
            <a:ext cx="10972800" cy="952500"/>
            <a:chOff x="609600" y="2952750"/>
            <a:chExt cx="10972800" cy="952500"/>
          </a:xfrm>
        </p:grpSpPr>
        <p:sp>
          <p:nvSpPr>
            <p:cNvPr id="11" name="Rectangle 11"/>
            <p:cNvSpPr/>
            <p:nvPr/>
          </p:nvSpPr>
          <p:spPr>
            <a:xfrm>
              <a:off x="609600" y="2952750"/>
              <a:ext cx="3524250" cy="952500"/>
            </a:xfrm>
            <a:prstGeom prst="roundRect">
              <a:avLst>
                <a:gd name="adj" fmla="val 8000"/>
              </a:avLst>
            </a:prstGeom>
            <a:solidFill>
              <a:srgbClr val="F4F5F7"/>
            </a:solidFill>
            <a:ln>
              <a:noFill/>
            </a:ln>
          </p:spPr>
        </p:sp>
        <p:sp>
          <p:nvSpPr>
            <p:cNvPr id="12" name="Ellipse 12"/>
            <p:cNvSpPr/>
            <p:nvPr/>
          </p:nvSpPr>
          <p:spPr>
            <a:xfrm>
              <a:off x="857250" y="3276600"/>
              <a:ext cx="114300" cy="114300"/>
            </a:xfrm>
            <a:prstGeom prst="ellipse">
              <a:avLst/>
            </a:prstGeom>
            <a:solidFill>
              <a:srgbClr val="1F4D78"/>
            </a:solidFill>
            <a:ln>
              <a:noFill/>
            </a:ln>
          </p:spPr>
        </p:sp>
        <p:sp>
          <p:nvSpPr>
            <p:cNvPr id="13" name="TextBox 13"/>
            <p:cNvSpPr txBox="1"/>
            <p:nvPr/>
          </p:nvSpPr>
          <p:spPr>
            <a:xfrm>
              <a:off x="1087755" y="3092768"/>
              <a:ext cx="222156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每个维度由 4 模型独立打分</a:t>
              </a:r>
            </a:p>
          </p:txBody>
        </p:sp>
        <p:sp>
          <p:nvSpPr>
            <p:cNvPr id="14" name="TextBox 14"/>
            <p:cNvSpPr txBox="1"/>
            <p:nvPr/>
          </p:nvSpPr>
          <p:spPr>
            <a:xfrm>
              <a:off x="1087755" y="3330892"/>
              <a:ext cx="233857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prompt 不引用其他维度分数</a:t>
              </a:r>
            </a:p>
          </p:txBody>
        </p:sp>
        <p:sp>
          <p:nvSpPr>
            <p:cNvPr id="15" name="TextBox 15"/>
            <p:cNvSpPr txBox="1"/>
            <p:nvPr/>
          </p:nvSpPr>
          <p:spPr>
            <a:xfrm>
              <a:off x="1089660" y="3585210"/>
              <a:ext cx="144665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维度间无交叉影响</a:t>
              </a:r>
            </a:p>
          </p:txBody>
        </p:sp>
        <p:sp>
          <p:nvSpPr>
            <p:cNvPr id="16" name="Rectangle 16"/>
            <p:cNvSpPr/>
            <p:nvPr/>
          </p:nvSpPr>
          <p:spPr>
            <a:xfrm>
              <a:off x="4333875" y="2952750"/>
              <a:ext cx="3524250" cy="952500"/>
            </a:xfrm>
            <a:prstGeom prst="roundRect">
              <a:avLst>
                <a:gd name="adj" fmla="val 8000"/>
              </a:avLst>
            </a:prstGeom>
            <a:solidFill>
              <a:srgbClr val="F4F5F7"/>
            </a:solidFill>
            <a:ln>
              <a:noFill/>
            </a:ln>
          </p:spPr>
        </p:sp>
        <p:sp>
          <p:nvSpPr>
            <p:cNvPr id="17" name="Ellipse 17"/>
            <p:cNvSpPr/>
            <p:nvPr/>
          </p:nvSpPr>
          <p:spPr>
            <a:xfrm>
              <a:off x="4581525" y="3276600"/>
              <a:ext cx="114300" cy="114300"/>
            </a:xfrm>
            <a:prstGeom prst="ellipse">
              <a:avLst/>
            </a:prstGeom>
            <a:solidFill>
              <a:srgbClr val="1F4D78"/>
            </a:solidFill>
            <a:ln>
              <a:noFill/>
            </a:ln>
          </p:spPr>
        </p:sp>
        <p:sp>
          <p:nvSpPr>
            <p:cNvPr id="18" name="TextBox 18"/>
            <p:cNvSpPr txBox="1"/>
            <p:nvPr/>
          </p:nvSpPr>
          <p:spPr>
            <a:xfrm>
              <a:off x="4812030" y="3092768"/>
              <a:ext cx="190652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R2 交叉评审只看同维度</a:t>
              </a:r>
            </a:p>
          </p:txBody>
        </p:sp>
        <p:sp>
          <p:nvSpPr>
            <p:cNvPr id="19" name="TextBox 19"/>
            <p:cNvSpPr txBox="1"/>
            <p:nvPr/>
          </p:nvSpPr>
          <p:spPr>
            <a:xfrm>
              <a:off x="4812030" y="3330892"/>
              <a:ext cx="155548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其他模型的 R1 评分</a:t>
              </a:r>
            </a:p>
          </p:txBody>
        </p:sp>
        <p:sp>
          <p:nvSpPr>
            <p:cNvPr id="20" name="TextBox 20"/>
            <p:cNvSpPr txBox="1"/>
            <p:nvPr/>
          </p:nvSpPr>
          <p:spPr>
            <a:xfrm>
              <a:off x="4813935" y="3585210"/>
              <a:ext cx="112661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不跨维度参考</a:t>
              </a:r>
            </a:p>
          </p:txBody>
        </p:sp>
        <p:sp>
          <p:nvSpPr>
            <p:cNvPr id="21" name="Rectangle 21"/>
            <p:cNvSpPr/>
            <p:nvPr/>
          </p:nvSpPr>
          <p:spPr>
            <a:xfrm>
              <a:off x="8058150" y="2952750"/>
              <a:ext cx="3524250" cy="952500"/>
            </a:xfrm>
            <a:prstGeom prst="roundRect">
              <a:avLst>
                <a:gd name="adj" fmla="val 8000"/>
              </a:avLst>
            </a:prstGeom>
            <a:solidFill>
              <a:srgbClr val="F4F5F7"/>
            </a:solidFill>
            <a:ln>
              <a:noFill/>
            </a:ln>
          </p:spPr>
        </p:sp>
        <p:sp>
          <p:nvSpPr>
            <p:cNvPr id="22" name="Ellipse 22"/>
            <p:cNvSpPr/>
            <p:nvPr/>
          </p:nvSpPr>
          <p:spPr>
            <a:xfrm>
              <a:off x="8305800" y="3276600"/>
              <a:ext cx="114300" cy="114300"/>
            </a:xfrm>
            <a:prstGeom prst="ellipse">
              <a:avLst/>
            </a:prstGeom>
            <a:solidFill>
              <a:srgbClr val="1F4D78"/>
            </a:solidFill>
            <a:ln>
              <a:noFill/>
            </a:ln>
          </p:spPr>
        </p:sp>
        <p:sp>
          <p:nvSpPr>
            <p:cNvPr id="23" name="TextBox 23"/>
            <p:cNvSpPr txBox="1"/>
            <p:nvPr/>
          </p:nvSpPr>
          <p:spPr>
            <a:xfrm>
              <a:off x="8536305" y="3092768"/>
              <a:ext cx="132145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总分 = 加权平均</a:t>
              </a:r>
            </a:p>
          </p:txBody>
        </p:sp>
        <p:sp>
          <p:nvSpPr>
            <p:cNvPr id="24" name="TextBox 24"/>
            <p:cNvSpPr txBox="1"/>
            <p:nvPr/>
          </p:nvSpPr>
          <p:spPr>
            <a:xfrm>
              <a:off x="8536305" y="3330892"/>
              <a:ext cx="129444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各维度互不影响</a:t>
              </a:r>
            </a:p>
          </p:txBody>
        </p:sp>
        <p:sp>
          <p:nvSpPr>
            <p:cNvPr id="25" name="TextBox 25"/>
            <p:cNvSpPr txBox="1"/>
            <p:nvPr/>
          </p:nvSpPr>
          <p:spPr>
            <a:xfrm>
              <a:off x="8538210" y="3585210"/>
              <a:ext cx="112661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可选择性重测</a:t>
              </a:r>
            </a:p>
          </p:txBody>
        </p:sp>
      </p:grpSp>
      <p:sp>
        <p:nvSpPr>
          <p:cNvPr id="27" name="TextBox 27"/>
          <p:cNvSpPr txBox="1"/>
          <p:nvPr/>
        </p:nvSpPr>
        <p:spPr>
          <a:xfrm>
            <a:off x="584835" y="4075748"/>
            <a:ext cx="2970995" cy="396240"/>
          </a:xfrm>
          <a:prstGeom prst="rect">
            <a:avLst/>
          </a:prstGeom>
          <a:noFill/>
          <a:ln>
            <a:noFill/>
          </a:ln>
        </p:spPr>
        <p:txBody>
          <a:bodyPr wrap="none" lIns="0" tIns="0" rIns="0" bIns="0" anchor="t" anchorCtr="0">
            <a:spAutoFit/>
          </a:bodyPr>
          <a:lstStyle/>
          <a:p>
            <a:pPr algn="l"/>
            <a:r>
              <a:rPr lang="zh-CN" sz="1950" b="1" dirty="0">
                <a:solidFill>
                  <a:srgbClr val="C8161E"/>
                </a:solidFill>
                <a:latin typeface="Arial"/>
                <a:ea typeface="Microsoft YaHei"/>
                <a:cs typeface="Arial"/>
              </a:rPr>
              <a:t>选择性重测 vs 全量重测</a:t>
            </a:r>
          </a:p>
        </p:txBody>
      </p:sp>
      <p:grpSp>
        <p:nvGrpSpPr>
          <p:cNvPr id="40" name="Group 40"/>
          <p:cNvGrpSpPr/>
          <p:nvPr/>
        </p:nvGrpSpPr>
        <p:grpSpPr>
          <a:xfrm>
            <a:off x="609600" y="4476750"/>
            <a:ext cx="10972800" cy="1714500"/>
            <a:chOff x="609600" y="4476750"/>
            <a:chExt cx="10972800" cy="1714500"/>
          </a:xfrm>
        </p:grpSpPr>
        <p:sp>
          <p:nvSpPr>
            <p:cNvPr id="28" name="Rectangle 28"/>
            <p:cNvSpPr/>
            <p:nvPr/>
          </p:nvSpPr>
          <p:spPr>
            <a:xfrm>
              <a:off x="609600" y="4476750"/>
              <a:ext cx="5334000" cy="1714500"/>
            </a:xfrm>
            <a:prstGeom prst="roundRect">
              <a:avLst>
                <a:gd name="adj" fmla="val 4444"/>
              </a:avLst>
            </a:prstGeom>
            <a:solidFill>
              <a:srgbClr val="E8F5E9"/>
            </a:solidFill>
            <a:ln w="19050">
              <a:solidFill>
                <a:srgbClr val="2E7D32"/>
              </a:solidFill>
            </a:ln>
          </p:spPr>
        </p:sp>
        <p:sp>
          <p:nvSpPr>
            <p:cNvPr id="29" name="TextBox 29"/>
            <p:cNvSpPr txBox="1"/>
            <p:nvPr/>
          </p:nvSpPr>
          <p:spPr>
            <a:xfrm>
              <a:off x="2119598" y="4568190"/>
              <a:ext cx="2314004" cy="365760"/>
            </a:xfrm>
            <a:prstGeom prst="rect">
              <a:avLst/>
            </a:prstGeom>
            <a:noFill/>
            <a:ln>
              <a:noFill/>
            </a:ln>
          </p:spPr>
          <p:txBody>
            <a:bodyPr wrap="none" lIns="0" tIns="0" rIns="0" bIns="0" anchor="t" anchorCtr="0">
              <a:spAutoFit/>
            </a:bodyPr>
            <a:lstStyle/>
            <a:p>
              <a:pPr algn="ctr"/>
              <a:r>
                <a:rPr lang="zh-CN" sz="1800" b="1" dirty="0">
                  <a:solidFill>
                    <a:srgbClr val="2E7D32"/>
                  </a:solidFill>
                  <a:latin typeface="Arial"/>
                  <a:ea typeface="Microsoft YaHei"/>
                  <a:cs typeface="Arial"/>
                </a:rPr>
                <a:t>选择性方案（推荐）</a:t>
              </a:r>
            </a:p>
          </p:txBody>
        </p:sp>
        <p:sp>
          <p:nvSpPr>
            <p:cNvPr id="30" name="TextBox 30"/>
            <p:cNvSpPr txBox="1"/>
            <p:nvPr/>
          </p:nvSpPr>
          <p:spPr>
            <a:xfrm>
              <a:off x="895350" y="4933950"/>
              <a:ext cx="3578542"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13 篇异常论文 × 6 维度 = 78 个评分单元</a:t>
              </a:r>
            </a:p>
          </p:txBody>
        </p:sp>
        <p:sp>
          <p:nvSpPr>
            <p:cNvPr id="31" name="TextBox 31"/>
            <p:cNvSpPr txBox="1"/>
            <p:nvPr/>
          </p:nvSpPr>
          <p:spPr>
            <a:xfrm>
              <a:off x="895350" y="5219700"/>
              <a:ext cx="2798445"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 xml:space="preserve">仅 </a:t>
              </a:r>
              <a:r>
                <a:rPr lang="zh-CN" sz="1500" b="1" dirty="0">
                  <a:solidFill>
                    <a:srgbClr val="C8161E"/>
                  </a:solidFill>
                  <a:latin typeface="Arial"/>
                  <a:ea typeface="Microsoft YaHei"/>
                  <a:cs typeface="Arial"/>
                </a:rPr>
                <a:t>17 个维度不稳定</a:t>
              </a:r>
              <a:r>
                <a:rPr lang="zh-CN" sz="1500" dirty="0">
                  <a:solidFill>
                    <a:srgbClr val="1B1C21"/>
                  </a:solidFill>
                  <a:latin typeface="Arial"/>
                  <a:ea typeface="Microsoft YaHei"/>
                  <a:cs typeface="Arial"/>
                </a:rPr>
                <a:t>（std &gt; 5）</a:t>
              </a:r>
            </a:p>
          </p:txBody>
        </p:sp>
        <p:sp>
          <p:nvSpPr>
            <p:cNvPr id="32" name="TextBox 32"/>
            <p:cNvSpPr txBox="1"/>
            <p:nvPr/>
          </p:nvSpPr>
          <p:spPr>
            <a:xfrm>
              <a:off x="895350" y="5505450"/>
              <a:ext cx="1818322"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61 个稳定（78.2%）</a:t>
              </a:r>
            </a:p>
          </p:txBody>
        </p:sp>
        <p:sp>
          <p:nvSpPr>
            <p:cNvPr id="33" name="TextBox 33"/>
            <p:cNvSpPr txBox="1"/>
            <p:nvPr/>
          </p:nvSpPr>
          <p:spPr>
            <a:xfrm>
              <a:off x="893445" y="5775008"/>
              <a:ext cx="2733396"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136 次 API 调用，节省 78%</a:t>
              </a:r>
            </a:p>
          </p:txBody>
        </p:sp>
        <p:sp>
          <p:nvSpPr>
            <p:cNvPr id="34" name="Rectangle 34"/>
            <p:cNvSpPr/>
            <p:nvPr/>
          </p:nvSpPr>
          <p:spPr>
            <a:xfrm>
              <a:off x="6248400" y="4476750"/>
              <a:ext cx="5334000" cy="1714500"/>
            </a:xfrm>
            <a:prstGeom prst="roundRect">
              <a:avLst>
                <a:gd name="adj" fmla="val 4444"/>
              </a:avLst>
            </a:prstGeom>
            <a:solidFill>
              <a:srgbClr val="F4F5F7"/>
            </a:solidFill>
            <a:ln w="19050">
              <a:solidFill>
                <a:srgbClr val="D9DEE5"/>
              </a:solidFill>
            </a:ln>
          </p:spPr>
        </p:sp>
        <p:sp>
          <p:nvSpPr>
            <p:cNvPr id="35" name="TextBox 35"/>
            <p:cNvSpPr txBox="1"/>
            <p:nvPr/>
          </p:nvSpPr>
          <p:spPr>
            <a:xfrm>
              <a:off x="8388477" y="4568190"/>
              <a:ext cx="1053846" cy="365760"/>
            </a:xfrm>
            <a:prstGeom prst="rect">
              <a:avLst/>
            </a:prstGeom>
            <a:noFill/>
            <a:ln>
              <a:noFill/>
            </a:ln>
          </p:spPr>
          <p:txBody>
            <a:bodyPr wrap="none" lIns="0" tIns="0" rIns="0" bIns="0" anchor="t" anchorCtr="0">
              <a:spAutoFit/>
            </a:bodyPr>
            <a:lstStyle/>
            <a:p>
              <a:pPr algn="ctr"/>
              <a:r>
                <a:rPr lang="zh-CN" sz="1800" b="1" dirty="0">
                  <a:solidFill>
                    <a:srgbClr val="5A6472"/>
                  </a:solidFill>
                  <a:latin typeface="Arial"/>
                  <a:ea typeface="Microsoft YaHei"/>
                  <a:cs typeface="Arial"/>
                </a:rPr>
                <a:t>全量重测</a:t>
              </a:r>
            </a:p>
          </p:txBody>
        </p:sp>
        <p:sp>
          <p:nvSpPr>
            <p:cNvPr id="36" name="TextBox 36"/>
            <p:cNvSpPr txBox="1"/>
            <p:nvPr/>
          </p:nvSpPr>
          <p:spPr>
            <a:xfrm>
              <a:off x="6534150" y="4933950"/>
              <a:ext cx="2068354"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13 篇 × 6 维度 × 4 模型</a:t>
              </a:r>
            </a:p>
          </p:txBody>
        </p:sp>
        <p:sp>
          <p:nvSpPr>
            <p:cNvPr id="37" name="TextBox 37"/>
            <p:cNvSpPr txBox="1"/>
            <p:nvPr/>
          </p:nvSpPr>
          <p:spPr>
            <a:xfrm>
              <a:off x="6534150" y="5219700"/>
              <a:ext cx="1548289"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 312 次 API 调用</a:t>
              </a:r>
            </a:p>
          </p:txBody>
        </p:sp>
        <p:sp>
          <p:nvSpPr>
            <p:cNvPr id="38" name="TextBox 38"/>
            <p:cNvSpPr txBox="1"/>
            <p:nvPr/>
          </p:nvSpPr>
          <p:spPr>
            <a:xfrm>
              <a:off x="6534150" y="5505450"/>
              <a:ext cx="1928336"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包含 61 个已稳定维度</a:t>
              </a:r>
            </a:p>
          </p:txBody>
        </p:sp>
        <p:sp>
          <p:nvSpPr>
            <p:cNvPr id="39" name="TextBox 39"/>
            <p:cNvSpPr txBox="1"/>
            <p:nvPr/>
          </p:nvSpPr>
          <p:spPr>
            <a:xfrm>
              <a:off x="6534150" y="5791200"/>
              <a:ext cx="1388269" cy="304800"/>
            </a:xfrm>
            <a:prstGeom prst="rect">
              <a:avLst/>
            </a:prstGeom>
            <a:noFill/>
            <a:ln>
              <a:noFill/>
            </a:ln>
          </p:spPr>
          <p:txBody>
            <a:bodyPr wrap="none" lIns="0" tIns="0" rIns="0" bIns="0" anchor="t" anchorCtr="0">
              <a:spAutoFit/>
            </a:bodyPr>
            <a:lstStyle/>
            <a:p>
              <a:pPr algn="l"/>
              <a:r>
                <a:rPr lang="zh-CN" sz="1500" dirty="0">
                  <a:solidFill>
                    <a:srgbClr val="5A6472"/>
                  </a:solidFill>
                  <a:latin typeface="Arial"/>
                  <a:ea typeface="Microsoft YaHei"/>
                  <a:cs typeface="Arial"/>
                </a:rPr>
                <a:t>边际收益 &lt; 1 分</a:t>
              </a:r>
            </a:p>
          </p:txBody>
        </p:sp>
      </p:grpSp>
      <p:sp>
        <p:nvSpPr>
          <p:cNvPr id="41" name="Rectangle 41"/>
          <p:cNvSpPr/>
          <p:nvPr/>
        </p:nvSpPr>
        <p:spPr>
          <a:xfrm>
            <a:off x="609600" y="6381750"/>
            <a:ext cx="10972800" cy="381000"/>
          </a:xfrm>
          <a:prstGeom prst="roundRect">
            <a:avLst>
              <a:gd name="adj" fmla="val 15000"/>
            </a:avLst>
          </a:prstGeom>
          <a:solidFill>
            <a:srgbClr val="F0F7FF"/>
          </a:solidFill>
          <a:ln>
            <a:noFill/>
          </a:ln>
        </p:spPr>
      </p:sp>
      <p:sp>
        <p:nvSpPr>
          <p:cNvPr id="42" name="TextBox 42"/>
          <p:cNvSpPr txBox="1"/>
          <p:nvPr/>
        </p:nvSpPr>
        <p:spPr>
          <a:xfrm>
            <a:off x="895350" y="6467475"/>
            <a:ext cx="4908709" cy="304800"/>
          </a:xfrm>
          <a:prstGeom prst="rect">
            <a:avLst/>
          </a:prstGeom>
          <a:noFill/>
          <a:ln>
            <a:noFill/>
          </a:ln>
        </p:spPr>
        <p:txBody>
          <a:bodyPr wrap="none" lIns="0" tIns="0" rIns="0" bIns="0" anchor="t" anchorCtr="0">
            <a:spAutoFit/>
          </a:bodyPr>
          <a:lstStyle/>
          <a:p>
            <a:pPr algn="l"/>
            <a:r>
              <a:rPr lang="zh-CN" sz="1500" b="1" dirty="0">
                <a:solidFill>
                  <a:srgbClr val="1F4D78"/>
                </a:solidFill>
                <a:latin typeface="Arial"/>
                <a:ea typeface="Microsoft YaHei"/>
                <a:cs typeface="Arial"/>
              </a:rPr>
              <a:t>计分方式</a:t>
            </a:r>
            <a:r>
              <a:rPr lang="zh-CN" sz="1500" dirty="0">
                <a:solidFill>
                  <a:srgbClr val="1B1C21"/>
                </a:solidFill>
                <a:latin typeface="Arial"/>
                <a:ea typeface="Microsoft YaHei"/>
                <a:cs typeface="Arial"/>
              </a:rPr>
              <a:t>：三次 R2 均分取中位数（天然排除 outlier）</a:t>
            </a:r>
          </a:p>
        </p:txBody>
      </p:sp>
      <p:sp>
        <p:nvSpPr>
          <p:cNvPr id="43" name="TextBox 43"/>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3527712"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第 3 次评测收敛效果</a:t>
            </a:r>
          </a:p>
        </p:txBody>
      </p:sp>
      <p:sp>
        <p:nvSpPr>
          <p:cNvPr id="7" name="Rectangle 7"/>
          <p:cNvSpPr/>
          <p:nvPr/>
        </p:nvSpPr>
        <p:spPr>
          <a:xfrm>
            <a:off x="609600" y="1714500"/>
            <a:ext cx="10972800" cy="666750"/>
          </a:xfrm>
          <a:prstGeom prst="roundRect">
            <a:avLst>
              <a:gd name="adj" fmla="val 11429"/>
            </a:avLst>
          </a:prstGeom>
          <a:solidFill>
            <a:srgbClr val="E8F5E9"/>
          </a:solidFill>
          <a:ln>
            <a:noFill/>
          </a:ln>
        </p:spPr>
      </p:sp>
      <p:sp>
        <p:nvSpPr>
          <p:cNvPr id="8" name="TextBox 8"/>
          <p:cNvSpPr txBox="1"/>
          <p:nvPr/>
        </p:nvSpPr>
        <p:spPr>
          <a:xfrm>
            <a:off x="1818729" y="1932622"/>
            <a:ext cx="8554543" cy="396240"/>
          </a:xfrm>
          <a:prstGeom prst="rect">
            <a:avLst/>
          </a:prstGeom>
          <a:noFill/>
          <a:ln>
            <a:noFill/>
          </a:ln>
        </p:spPr>
        <p:txBody>
          <a:bodyPr wrap="none" lIns="0" tIns="0" rIns="0" bIns="0" anchor="t" anchorCtr="0">
            <a:spAutoFit/>
          </a:bodyPr>
          <a:lstStyle/>
          <a:p>
            <a:pPr algn="ctr"/>
            <a:r>
              <a:rPr lang="zh-CN" sz="1950" b="1" dirty="0">
                <a:solidFill>
                  <a:srgbClr val="2E7D32"/>
                </a:solidFill>
                <a:latin typeface="Arial"/>
                <a:ea typeface="Microsoft YaHei"/>
                <a:cs typeface="Arial"/>
              </a:rPr>
              <a:t>13 篇 × 17 个不稳定维度，136 次 API 调用，总耗时仅 9 分钟（并发 5）</a:t>
            </a:r>
          </a:p>
        </p:txBody>
      </p:sp>
      <p:sp>
        <p:nvSpPr>
          <p:cNvPr id="9" name="TextBox 9"/>
          <p:cNvSpPr txBox="1"/>
          <p:nvPr/>
        </p:nvSpPr>
        <p:spPr>
          <a:xfrm>
            <a:off x="584835" y="2551748"/>
            <a:ext cx="6110888"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收敛率：17 个不稳定维度中 8 个收敛（std → ≤5）</a:t>
            </a:r>
          </a:p>
        </p:txBody>
      </p:sp>
      <p:grpSp>
        <p:nvGrpSpPr>
          <p:cNvPr id="58" name="Group 58"/>
          <p:cNvGrpSpPr/>
          <p:nvPr/>
        </p:nvGrpSpPr>
        <p:grpSpPr>
          <a:xfrm>
            <a:off x="609600" y="3048000"/>
            <a:ext cx="10972800" cy="2714625"/>
            <a:chOff x="609600" y="3048000"/>
            <a:chExt cx="10972800" cy="2714625"/>
          </a:xfrm>
        </p:grpSpPr>
        <p:sp>
          <p:nvSpPr>
            <p:cNvPr id="10" name="Rectangle 10"/>
            <p:cNvSpPr/>
            <p:nvPr/>
          </p:nvSpPr>
          <p:spPr>
            <a:xfrm>
              <a:off x="609600" y="3048000"/>
              <a:ext cx="10972800" cy="381000"/>
            </a:xfrm>
            <a:prstGeom prst="roundRect">
              <a:avLst>
                <a:gd name="adj" fmla="val 20000"/>
              </a:avLst>
            </a:prstGeom>
            <a:solidFill>
              <a:srgbClr val="1F4D78"/>
            </a:solidFill>
            <a:ln>
              <a:noFill/>
            </a:ln>
          </p:spPr>
        </p:sp>
        <p:sp>
          <p:nvSpPr>
            <p:cNvPr id="11" name="TextBox 11"/>
            <p:cNvSpPr txBox="1"/>
            <p:nvPr/>
          </p:nvSpPr>
          <p:spPr>
            <a:xfrm>
              <a:off x="2079831" y="314991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论文</a:t>
              </a:r>
            </a:p>
          </p:txBody>
        </p:sp>
        <p:sp>
          <p:nvSpPr>
            <p:cNvPr id="12" name="TextBox 12"/>
            <p:cNvSpPr txBox="1"/>
            <p:nvPr/>
          </p:nvSpPr>
          <p:spPr>
            <a:xfrm>
              <a:off x="4746831" y="314991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维度</a:t>
              </a:r>
            </a:p>
          </p:txBody>
        </p:sp>
        <p:sp>
          <p:nvSpPr>
            <p:cNvPr id="13" name="TextBox 13"/>
            <p:cNvSpPr txBox="1"/>
            <p:nvPr/>
          </p:nvSpPr>
          <p:spPr>
            <a:xfrm>
              <a:off x="6634405" y="3149918"/>
              <a:ext cx="82818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R3 R1 std</a:t>
              </a:r>
            </a:p>
          </p:txBody>
        </p:sp>
        <p:sp>
          <p:nvSpPr>
            <p:cNvPr id="14" name="TextBox 14"/>
            <p:cNvSpPr txBox="1"/>
            <p:nvPr/>
          </p:nvSpPr>
          <p:spPr>
            <a:xfrm>
              <a:off x="8325277" y="3149918"/>
              <a:ext cx="87544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R3 R2 std</a:t>
              </a:r>
            </a:p>
          </p:txBody>
        </p:sp>
        <p:sp>
          <p:nvSpPr>
            <p:cNvPr id="15" name="TextBox 15"/>
            <p:cNvSpPr txBox="1"/>
            <p:nvPr/>
          </p:nvSpPr>
          <p:spPr>
            <a:xfrm>
              <a:off x="10271331" y="314991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收敛</a:t>
              </a:r>
            </a:p>
          </p:txBody>
        </p:sp>
        <p:sp>
          <p:nvSpPr>
            <p:cNvPr id="16" name="Rectangle 16"/>
            <p:cNvSpPr/>
            <p:nvPr/>
          </p:nvSpPr>
          <p:spPr>
            <a:xfrm>
              <a:off x="609600" y="3429000"/>
              <a:ext cx="10972800" cy="333375"/>
            </a:xfrm>
            <a:prstGeom prst="rect">
              <a:avLst/>
            </a:prstGeom>
            <a:solidFill>
              <a:srgbClr val="E8F5E9"/>
            </a:solidFill>
            <a:ln>
              <a:noFill/>
            </a:ln>
          </p:spPr>
        </p:sp>
        <p:sp>
          <p:nvSpPr>
            <p:cNvPr id="17" name="TextBox 17"/>
            <p:cNvSpPr txBox="1"/>
            <p:nvPr/>
          </p:nvSpPr>
          <p:spPr>
            <a:xfrm>
              <a:off x="1290638" y="3518535"/>
              <a:ext cx="199072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1023 法益修复与功能违法论</a:t>
              </a:r>
            </a:p>
          </p:txBody>
        </p:sp>
        <p:sp>
          <p:nvSpPr>
            <p:cNvPr id="18" name="TextBox 18"/>
            <p:cNvSpPr txBox="1"/>
            <p:nvPr/>
          </p:nvSpPr>
          <p:spPr>
            <a:xfrm>
              <a:off x="4697730" y="3518535"/>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19" name="TextBox 19"/>
            <p:cNvSpPr txBox="1"/>
            <p:nvPr/>
          </p:nvSpPr>
          <p:spPr>
            <a:xfrm>
              <a:off x="6877240" y="3518535"/>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16.9</a:t>
              </a:r>
            </a:p>
          </p:txBody>
        </p:sp>
        <p:sp>
          <p:nvSpPr>
            <p:cNvPr id="20" name="TextBox 20"/>
            <p:cNvSpPr txBox="1"/>
            <p:nvPr/>
          </p:nvSpPr>
          <p:spPr>
            <a:xfrm>
              <a:off x="8609143" y="3518535"/>
              <a:ext cx="30771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2.4</a:t>
              </a:r>
            </a:p>
          </p:txBody>
        </p:sp>
        <p:sp>
          <p:nvSpPr>
            <p:cNvPr id="21" name="TextBox 21"/>
            <p:cNvSpPr txBox="1"/>
            <p:nvPr/>
          </p:nvSpPr>
          <p:spPr>
            <a:xfrm>
              <a:off x="10416054" y="3518535"/>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22" name="Rectangle 22"/>
            <p:cNvSpPr/>
            <p:nvPr/>
          </p:nvSpPr>
          <p:spPr>
            <a:xfrm>
              <a:off x="609600" y="3762375"/>
              <a:ext cx="10972800" cy="333375"/>
            </a:xfrm>
            <a:prstGeom prst="rect">
              <a:avLst/>
            </a:prstGeom>
            <a:solidFill>
              <a:srgbClr val="E8F5E9"/>
            </a:solidFill>
            <a:ln>
              <a:noFill/>
            </a:ln>
          </p:spPr>
        </p:sp>
        <p:sp>
          <p:nvSpPr>
            <p:cNvPr id="23" name="TextBox 23"/>
            <p:cNvSpPr txBox="1"/>
            <p:nvPr/>
          </p:nvSpPr>
          <p:spPr>
            <a:xfrm>
              <a:off x="1290638" y="3851910"/>
              <a:ext cx="199072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1553 正当防卫中的退避义务</a:t>
              </a:r>
            </a:p>
          </p:txBody>
        </p:sp>
        <p:sp>
          <p:nvSpPr>
            <p:cNvPr id="24" name="TextBox 24"/>
            <p:cNvSpPr txBox="1"/>
            <p:nvPr/>
          </p:nvSpPr>
          <p:spPr>
            <a:xfrm>
              <a:off x="4697730" y="385191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25" name="TextBox 25"/>
            <p:cNvSpPr txBox="1"/>
            <p:nvPr/>
          </p:nvSpPr>
          <p:spPr>
            <a:xfrm>
              <a:off x="6877240" y="3851910"/>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14.7</a:t>
              </a:r>
            </a:p>
          </p:txBody>
        </p:sp>
        <p:sp>
          <p:nvSpPr>
            <p:cNvPr id="26" name="TextBox 26"/>
            <p:cNvSpPr txBox="1"/>
            <p:nvPr/>
          </p:nvSpPr>
          <p:spPr>
            <a:xfrm>
              <a:off x="8630145" y="3851910"/>
              <a:ext cx="265709"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1.7</a:t>
              </a:r>
            </a:p>
          </p:txBody>
        </p:sp>
        <p:sp>
          <p:nvSpPr>
            <p:cNvPr id="27" name="TextBox 27"/>
            <p:cNvSpPr txBox="1"/>
            <p:nvPr/>
          </p:nvSpPr>
          <p:spPr>
            <a:xfrm>
              <a:off x="10416054" y="385191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28" name="Rectangle 28"/>
            <p:cNvSpPr/>
            <p:nvPr/>
          </p:nvSpPr>
          <p:spPr>
            <a:xfrm>
              <a:off x="609600" y="4095750"/>
              <a:ext cx="10972800" cy="333375"/>
            </a:xfrm>
            <a:prstGeom prst="rect">
              <a:avLst/>
            </a:prstGeom>
            <a:solidFill>
              <a:srgbClr val="E8F5E9"/>
            </a:solidFill>
            <a:ln>
              <a:noFill/>
            </a:ln>
          </p:spPr>
        </p:sp>
        <p:sp>
          <p:nvSpPr>
            <p:cNvPr id="29" name="TextBox 29"/>
            <p:cNvSpPr txBox="1"/>
            <p:nvPr/>
          </p:nvSpPr>
          <p:spPr>
            <a:xfrm>
              <a:off x="1230630" y="4185285"/>
              <a:ext cx="21107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1194 从基本权理论看法律行为</a:t>
              </a:r>
            </a:p>
          </p:txBody>
        </p:sp>
        <p:sp>
          <p:nvSpPr>
            <p:cNvPr id="30" name="TextBox 30"/>
            <p:cNvSpPr txBox="1"/>
            <p:nvPr/>
          </p:nvSpPr>
          <p:spPr>
            <a:xfrm>
              <a:off x="4697730" y="4185285"/>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建构力</a:t>
              </a:r>
            </a:p>
          </p:txBody>
        </p:sp>
        <p:sp>
          <p:nvSpPr>
            <p:cNvPr id="31" name="TextBox 31"/>
            <p:cNvSpPr txBox="1"/>
            <p:nvPr/>
          </p:nvSpPr>
          <p:spPr>
            <a:xfrm>
              <a:off x="6901244" y="4185285"/>
              <a:ext cx="294513"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6.2</a:t>
              </a:r>
            </a:p>
          </p:txBody>
        </p:sp>
        <p:sp>
          <p:nvSpPr>
            <p:cNvPr id="32" name="TextBox 32"/>
            <p:cNvSpPr txBox="1"/>
            <p:nvPr/>
          </p:nvSpPr>
          <p:spPr>
            <a:xfrm>
              <a:off x="8630145" y="4185285"/>
              <a:ext cx="265709"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1.7</a:t>
              </a:r>
            </a:p>
          </p:txBody>
        </p:sp>
        <p:sp>
          <p:nvSpPr>
            <p:cNvPr id="33" name="TextBox 33"/>
            <p:cNvSpPr txBox="1"/>
            <p:nvPr/>
          </p:nvSpPr>
          <p:spPr>
            <a:xfrm>
              <a:off x="10416054" y="4185285"/>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34" name="Rectangle 34"/>
            <p:cNvSpPr/>
            <p:nvPr/>
          </p:nvSpPr>
          <p:spPr>
            <a:xfrm>
              <a:off x="609600" y="4429125"/>
              <a:ext cx="10972800" cy="333375"/>
            </a:xfrm>
            <a:prstGeom prst="rect">
              <a:avLst/>
            </a:prstGeom>
            <a:solidFill>
              <a:srgbClr val="E8F5E9"/>
            </a:solidFill>
            <a:ln>
              <a:noFill/>
            </a:ln>
          </p:spPr>
        </p:sp>
        <p:sp>
          <p:nvSpPr>
            <p:cNvPr id="35" name="TextBox 35"/>
            <p:cNvSpPr txBox="1"/>
            <p:nvPr/>
          </p:nvSpPr>
          <p:spPr>
            <a:xfrm>
              <a:off x="1394650" y="4518660"/>
              <a:ext cx="1782699"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956 公序良俗与诚实信用</a:t>
              </a:r>
            </a:p>
          </p:txBody>
        </p:sp>
        <p:sp>
          <p:nvSpPr>
            <p:cNvPr id="36" name="TextBox 36"/>
            <p:cNvSpPr txBox="1"/>
            <p:nvPr/>
          </p:nvSpPr>
          <p:spPr>
            <a:xfrm>
              <a:off x="4697730" y="451866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延展性</a:t>
              </a:r>
            </a:p>
          </p:txBody>
        </p:sp>
        <p:sp>
          <p:nvSpPr>
            <p:cNvPr id="37" name="TextBox 37"/>
            <p:cNvSpPr txBox="1"/>
            <p:nvPr/>
          </p:nvSpPr>
          <p:spPr>
            <a:xfrm>
              <a:off x="6877240" y="4518660"/>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15.6</a:t>
              </a:r>
            </a:p>
          </p:txBody>
        </p:sp>
        <p:sp>
          <p:nvSpPr>
            <p:cNvPr id="38" name="TextBox 38"/>
            <p:cNvSpPr txBox="1"/>
            <p:nvPr/>
          </p:nvSpPr>
          <p:spPr>
            <a:xfrm>
              <a:off x="8609143" y="4518660"/>
              <a:ext cx="30771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3.6</a:t>
              </a:r>
            </a:p>
          </p:txBody>
        </p:sp>
        <p:sp>
          <p:nvSpPr>
            <p:cNvPr id="39" name="TextBox 39"/>
            <p:cNvSpPr txBox="1"/>
            <p:nvPr/>
          </p:nvSpPr>
          <p:spPr>
            <a:xfrm>
              <a:off x="10416054" y="451866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40" name="Rectangle 40"/>
            <p:cNvSpPr/>
            <p:nvPr/>
          </p:nvSpPr>
          <p:spPr>
            <a:xfrm>
              <a:off x="609600" y="4762500"/>
              <a:ext cx="10972800" cy="333375"/>
            </a:xfrm>
            <a:prstGeom prst="rect">
              <a:avLst/>
            </a:prstGeom>
            <a:solidFill>
              <a:srgbClr val="FFF8F0"/>
            </a:solidFill>
            <a:ln>
              <a:noFill/>
            </a:ln>
          </p:spPr>
        </p:sp>
        <p:sp>
          <p:nvSpPr>
            <p:cNvPr id="41" name="TextBox 41"/>
            <p:cNvSpPr txBox="1"/>
            <p:nvPr/>
          </p:nvSpPr>
          <p:spPr>
            <a:xfrm>
              <a:off x="1230630" y="4852035"/>
              <a:ext cx="21107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1501 改革型地方立法变通机制</a:t>
              </a:r>
            </a:p>
          </p:txBody>
        </p:sp>
        <p:sp>
          <p:nvSpPr>
            <p:cNvPr id="42" name="TextBox 42"/>
            <p:cNvSpPr txBox="1"/>
            <p:nvPr/>
          </p:nvSpPr>
          <p:spPr>
            <a:xfrm>
              <a:off x="4697730" y="4852035"/>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43" name="TextBox 43"/>
            <p:cNvSpPr txBox="1"/>
            <p:nvPr/>
          </p:nvSpPr>
          <p:spPr>
            <a:xfrm>
              <a:off x="6877240" y="4852035"/>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12.7</a:t>
              </a:r>
            </a:p>
          </p:txBody>
        </p:sp>
        <p:sp>
          <p:nvSpPr>
            <p:cNvPr id="44" name="TextBox 44"/>
            <p:cNvSpPr txBox="1"/>
            <p:nvPr/>
          </p:nvSpPr>
          <p:spPr>
            <a:xfrm>
              <a:off x="8609143" y="4852035"/>
              <a:ext cx="307715"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8.3</a:t>
              </a:r>
            </a:p>
          </p:txBody>
        </p:sp>
        <p:sp>
          <p:nvSpPr>
            <p:cNvPr id="45" name="TextBox 45"/>
            <p:cNvSpPr txBox="1"/>
            <p:nvPr/>
          </p:nvSpPr>
          <p:spPr>
            <a:xfrm>
              <a:off x="10416054" y="4852035"/>
              <a:ext cx="122892"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a:t>
              </a:r>
            </a:p>
          </p:txBody>
        </p:sp>
        <p:sp>
          <p:nvSpPr>
            <p:cNvPr id="46" name="Rectangle 46"/>
            <p:cNvSpPr/>
            <p:nvPr/>
          </p:nvSpPr>
          <p:spPr>
            <a:xfrm>
              <a:off x="609600" y="5095875"/>
              <a:ext cx="10972800" cy="333375"/>
            </a:xfrm>
            <a:prstGeom prst="rect">
              <a:avLst/>
            </a:prstGeom>
            <a:solidFill>
              <a:srgbClr val="FFF8F0"/>
            </a:solidFill>
            <a:ln>
              <a:noFill/>
            </a:ln>
          </p:spPr>
        </p:sp>
        <p:sp>
          <p:nvSpPr>
            <p:cNvPr id="47" name="TextBox 47"/>
            <p:cNvSpPr txBox="1"/>
            <p:nvPr/>
          </p:nvSpPr>
          <p:spPr>
            <a:xfrm>
              <a:off x="1290638" y="5185410"/>
              <a:ext cx="199072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1885 论程序法上的犯罪事实</a:t>
              </a:r>
            </a:p>
          </p:txBody>
        </p:sp>
        <p:sp>
          <p:nvSpPr>
            <p:cNvPr id="48" name="TextBox 48"/>
            <p:cNvSpPr txBox="1"/>
            <p:nvPr/>
          </p:nvSpPr>
          <p:spPr>
            <a:xfrm>
              <a:off x="4697730" y="518541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49" name="TextBox 49"/>
            <p:cNvSpPr txBox="1"/>
            <p:nvPr/>
          </p:nvSpPr>
          <p:spPr>
            <a:xfrm>
              <a:off x="6857238" y="5185410"/>
              <a:ext cx="382524"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26.6</a:t>
              </a:r>
            </a:p>
          </p:txBody>
        </p:sp>
        <p:sp>
          <p:nvSpPr>
            <p:cNvPr id="50" name="TextBox 50"/>
            <p:cNvSpPr txBox="1"/>
            <p:nvPr/>
          </p:nvSpPr>
          <p:spPr>
            <a:xfrm>
              <a:off x="8583940" y="5185410"/>
              <a:ext cx="358121"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15.6</a:t>
              </a:r>
            </a:p>
          </p:txBody>
        </p:sp>
        <p:sp>
          <p:nvSpPr>
            <p:cNvPr id="51" name="TextBox 51"/>
            <p:cNvSpPr txBox="1"/>
            <p:nvPr/>
          </p:nvSpPr>
          <p:spPr>
            <a:xfrm>
              <a:off x="10416054" y="5185410"/>
              <a:ext cx="122892"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a:t>
              </a:r>
            </a:p>
          </p:txBody>
        </p:sp>
        <p:sp>
          <p:nvSpPr>
            <p:cNvPr id="52" name="Rectangle 52"/>
            <p:cNvSpPr/>
            <p:nvPr/>
          </p:nvSpPr>
          <p:spPr>
            <a:xfrm>
              <a:off x="609600" y="5429250"/>
              <a:ext cx="10972800" cy="333375"/>
            </a:xfrm>
            <a:prstGeom prst="rect">
              <a:avLst/>
            </a:prstGeom>
            <a:solidFill>
              <a:srgbClr val="FFF8F0"/>
            </a:solidFill>
            <a:ln>
              <a:noFill/>
            </a:ln>
          </p:spPr>
        </p:sp>
        <p:sp>
          <p:nvSpPr>
            <p:cNvPr id="53" name="TextBox 53"/>
            <p:cNvSpPr txBox="1"/>
            <p:nvPr/>
          </p:nvSpPr>
          <p:spPr>
            <a:xfrm>
              <a:off x="1610678" y="5518785"/>
              <a:ext cx="135064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1852 司法人工智能</a:t>
              </a:r>
            </a:p>
          </p:txBody>
        </p:sp>
        <p:sp>
          <p:nvSpPr>
            <p:cNvPr id="54" name="TextBox 54"/>
            <p:cNvSpPr txBox="1"/>
            <p:nvPr/>
          </p:nvSpPr>
          <p:spPr>
            <a:xfrm>
              <a:off x="4413694" y="5518785"/>
              <a:ext cx="1078611"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创新性+洞察度</a:t>
              </a:r>
            </a:p>
          </p:txBody>
        </p:sp>
        <p:sp>
          <p:nvSpPr>
            <p:cNvPr id="55" name="TextBox 55"/>
            <p:cNvSpPr txBox="1"/>
            <p:nvPr/>
          </p:nvSpPr>
          <p:spPr>
            <a:xfrm>
              <a:off x="6657213" y="5518785"/>
              <a:ext cx="782574"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32.9/16.7</a:t>
              </a:r>
            </a:p>
          </p:txBody>
        </p:sp>
        <p:sp>
          <p:nvSpPr>
            <p:cNvPr id="56" name="TextBox 56"/>
            <p:cNvSpPr txBox="1"/>
            <p:nvPr/>
          </p:nvSpPr>
          <p:spPr>
            <a:xfrm>
              <a:off x="8378114" y="5518785"/>
              <a:ext cx="769772"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26.2/9.7</a:t>
              </a:r>
            </a:p>
          </p:txBody>
        </p:sp>
        <p:sp>
          <p:nvSpPr>
            <p:cNvPr id="57" name="TextBox 57"/>
            <p:cNvSpPr txBox="1"/>
            <p:nvPr/>
          </p:nvSpPr>
          <p:spPr>
            <a:xfrm>
              <a:off x="10323643" y="5518785"/>
              <a:ext cx="307715"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a:t>
              </a:r>
            </a:p>
          </p:txBody>
        </p:sp>
      </p:grpSp>
      <p:sp>
        <p:nvSpPr>
          <p:cNvPr id="59" name="Rectangle 59"/>
          <p:cNvSpPr/>
          <p:nvPr/>
        </p:nvSpPr>
        <p:spPr>
          <a:xfrm>
            <a:off x="609600" y="5953125"/>
            <a:ext cx="10972800" cy="619125"/>
          </a:xfrm>
          <a:prstGeom prst="roundRect">
            <a:avLst>
              <a:gd name="adj" fmla="val 12308"/>
            </a:avLst>
          </a:prstGeom>
          <a:solidFill>
            <a:srgbClr val="FFEBEE"/>
          </a:solidFill>
          <a:ln w="19050">
            <a:solidFill>
              <a:srgbClr val="C8161E"/>
            </a:solidFill>
          </a:ln>
        </p:spPr>
      </p:sp>
      <p:sp>
        <p:nvSpPr>
          <p:cNvPr id="60" name="TextBox 60"/>
          <p:cNvSpPr txBox="1"/>
          <p:nvPr/>
        </p:nvSpPr>
        <p:spPr>
          <a:xfrm>
            <a:off x="895350" y="6029325"/>
            <a:ext cx="3629549" cy="304800"/>
          </a:xfrm>
          <a:prstGeom prst="rect">
            <a:avLst/>
          </a:prstGeom>
          <a:noFill/>
          <a:ln>
            <a:noFill/>
          </a:ln>
        </p:spPr>
        <p:txBody>
          <a:bodyPr wrap="none" lIns="0" tIns="0" rIns="0" bIns="0" anchor="t" anchorCtr="0">
            <a:spAutoFit/>
          </a:bodyPr>
          <a:lstStyle/>
          <a:p>
            <a:pPr algn="l"/>
            <a:r>
              <a:rPr lang="zh-CN" sz="1500" b="1" dirty="0">
                <a:solidFill>
                  <a:srgbClr val="C8161E"/>
                </a:solidFill>
                <a:latin typeface="Arial"/>
                <a:ea typeface="Microsoft YaHei"/>
                <a:cs typeface="Arial"/>
              </a:rPr>
              <a:t>仍异常的 7 个维度（三次 std 仍 &gt; 5）</a:t>
            </a:r>
          </a:p>
        </p:txBody>
      </p:sp>
      <p:sp>
        <p:nvSpPr>
          <p:cNvPr id="61" name="TextBox 61"/>
          <p:cNvSpPr txBox="1"/>
          <p:nvPr/>
        </p:nvSpPr>
        <p:spPr>
          <a:xfrm>
            <a:off x="897255" y="6312218"/>
            <a:ext cx="740621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需专家复核：1824 集体商标（建构力 14.0、洞察度 10.8）、1023 法益修复（创新性 9.9）等</a:t>
            </a:r>
          </a:p>
        </p:txBody>
      </p:sp>
      <p:sp>
        <p:nvSpPr>
          <p:cNvPr id="62" name="TextBox 62"/>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3471005"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大规模评测进展概览</a:t>
            </a:r>
          </a:p>
        </p:txBody>
      </p:sp>
      <p:grpSp>
        <p:nvGrpSpPr>
          <p:cNvPr id="31" name="Group 31"/>
          <p:cNvGrpSpPr/>
          <p:nvPr/>
        </p:nvGrpSpPr>
        <p:grpSpPr>
          <a:xfrm>
            <a:off x="609600" y="1809750"/>
            <a:ext cx="10972800" cy="1905000"/>
            <a:chOff x="609600" y="1809750"/>
            <a:chExt cx="10972800" cy="1905000"/>
          </a:xfrm>
        </p:grpSpPr>
        <p:sp>
          <p:nvSpPr>
            <p:cNvPr id="7" name="Rectangle 7"/>
            <p:cNvSpPr/>
            <p:nvPr/>
          </p:nvSpPr>
          <p:spPr>
            <a:xfrm>
              <a:off x="609600" y="1809750"/>
              <a:ext cx="3524250" cy="1905000"/>
            </a:xfrm>
            <a:prstGeom prst="roundRect">
              <a:avLst>
                <a:gd name="adj" fmla="val 4000"/>
              </a:avLst>
            </a:prstGeom>
            <a:solidFill>
              <a:srgbClr val="F0F7FF"/>
            </a:solidFill>
            <a:ln w="19050">
              <a:solidFill>
                <a:srgbClr val="1F4D78"/>
              </a:solidFill>
            </a:ln>
          </p:spPr>
        </p:sp>
        <p:sp>
          <p:nvSpPr>
            <p:cNvPr id="8" name="Rectangle 8"/>
            <p:cNvSpPr/>
            <p:nvPr/>
          </p:nvSpPr>
          <p:spPr>
            <a:xfrm>
              <a:off x="609600" y="1809750"/>
              <a:ext cx="3524250" cy="571500"/>
            </a:xfrm>
            <a:prstGeom prst="roundRect">
              <a:avLst>
                <a:gd name="adj" fmla="val 13333"/>
              </a:avLst>
            </a:prstGeom>
            <a:solidFill>
              <a:srgbClr val="1F4D78"/>
            </a:solidFill>
            <a:ln>
              <a:noFill/>
            </a:ln>
          </p:spPr>
        </p:sp>
        <p:sp>
          <p:nvSpPr>
            <p:cNvPr id="9" name="Rectangle 9"/>
            <p:cNvSpPr/>
            <p:nvPr/>
          </p:nvSpPr>
          <p:spPr>
            <a:xfrm>
              <a:off x="609600" y="2381250"/>
              <a:ext cx="3524250" cy="1333500"/>
            </a:xfrm>
            <a:prstGeom prst="roundRect">
              <a:avLst>
                <a:gd name="adj" fmla="val 5714"/>
              </a:avLst>
            </a:prstGeom>
            <a:solidFill>
              <a:srgbClr val="F0F7FF"/>
            </a:solidFill>
            <a:ln>
              <a:noFill/>
            </a:ln>
          </p:spPr>
        </p:sp>
        <p:sp>
          <p:nvSpPr>
            <p:cNvPr id="10" name="TextBox 10"/>
            <p:cNvSpPr txBox="1"/>
            <p:nvPr/>
          </p:nvSpPr>
          <p:spPr>
            <a:xfrm>
              <a:off x="1643897" y="1961198"/>
              <a:ext cx="1455656"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Microsoft YaHei"/>
                  <a:cs typeface="Arial"/>
                </a:rPr>
                <a:t>E1 全量评审</a:t>
              </a:r>
            </a:p>
          </p:txBody>
        </p:sp>
        <p:sp>
          <p:nvSpPr>
            <p:cNvPr id="11" name="TextBox 11"/>
            <p:cNvSpPr txBox="1"/>
            <p:nvPr/>
          </p:nvSpPr>
          <p:spPr>
            <a:xfrm>
              <a:off x="1834544" y="2326005"/>
              <a:ext cx="1074363" cy="731520"/>
            </a:xfrm>
            <a:prstGeom prst="rect">
              <a:avLst/>
            </a:prstGeom>
            <a:noFill/>
            <a:ln>
              <a:noFill/>
            </a:ln>
          </p:spPr>
          <p:txBody>
            <a:bodyPr wrap="none" lIns="0" tIns="0" rIns="0" bIns="0" anchor="t" anchorCtr="0">
              <a:spAutoFit/>
            </a:bodyPr>
            <a:lstStyle/>
            <a:p>
              <a:pPr algn="ctr"/>
              <a:r>
                <a:rPr lang="zh-CN" sz="3600" b="1" dirty="0">
                  <a:solidFill>
                    <a:srgbClr val="1F4D78"/>
                  </a:solidFill>
                  <a:latin typeface="Arial"/>
                  <a:ea typeface="Microsoft YaHei"/>
                  <a:cs typeface="Arial"/>
                </a:rPr>
                <a:t>1920</a:t>
              </a:r>
            </a:p>
          </p:txBody>
        </p:sp>
        <p:sp>
          <p:nvSpPr>
            <p:cNvPr id="12" name="TextBox 12"/>
            <p:cNvSpPr txBox="1"/>
            <p:nvPr/>
          </p:nvSpPr>
          <p:spPr>
            <a:xfrm>
              <a:off x="2052638" y="2838450"/>
              <a:ext cx="63817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篇论文</a:t>
              </a:r>
            </a:p>
          </p:txBody>
        </p:sp>
        <p:sp>
          <p:nvSpPr>
            <p:cNvPr id="13" name="TextBox 13"/>
            <p:cNvSpPr txBox="1"/>
            <p:nvPr/>
          </p:nvSpPr>
          <p:spPr>
            <a:xfrm>
              <a:off x="1445466" y="3188018"/>
              <a:ext cx="1852517"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已生成 R1+R2 结果文件</a:t>
              </a:r>
            </a:p>
          </p:txBody>
        </p:sp>
        <p:sp>
          <p:nvSpPr>
            <p:cNvPr id="14" name="TextBox 14"/>
            <p:cNvSpPr txBox="1"/>
            <p:nvPr/>
          </p:nvSpPr>
          <p:spPr>
            <a:xfrm>
              <a:off x="1724501" y="3426142"/>
              <a:ext cx="129444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1913 篇完整评审</a:t>
              </a:r>
            </a:p>
          </p:txBody>
        </p:sp>
        <p:sp>
          <p:nvSpPr>
            <p:cNvPr id="15" name="Rectangle 15"/>
            <p:cNvSpPr/>
            <p:nvPr/>
          </p:nvSpPr>
          <p:spPr>
            <a:xfrm>
              <a:off x="4333875" y="1809750"/>
              <a:ext cx="3524250" cy="1905000"/>
            </a:xfrm>
            <a:prstGeom prst="roundRect">
              <a:avLst>
                <a:gd name="adj" fmla="val 4000"/>
              </a:avLst>
            </a:prstGeom>
            <a:solidFill>
              <a:srgbClr val="E8F5E9"/>
            </a:solidFill>
            <a:ln w="19050">
              <a:solidFill>
                <a:srgbClr val="2E7D32"/>
              </a:solidFill>
            </a:ln>
          </p:spPr>
        </p:sp>
        <p:sp>
          <p:nvSpPr>
            <p:cNvPr id="16" name="Rectangle 16"/>
            <p:cNvSpPr/>
            <p:nvPr/>
          </p:nvSpPr>
          <p:spPr>
            <a:xfrm>
              <a:off x="4333875" y="1809750"/>
              <a:ext cx="3524250" cy="571500"/>
            </a:xfrm>
            <a:prstGeom prst="roundRect">
              <a:avLst>
                <a:gd name="adj" fmla="val 13333"/>
              </a:avLst>
            </a:prstGeom>
            <a:solidFill>
              <a:srgbClr val="2E7D32"/>
            </a:solidFill>
            <a:ln>
              <a:noFill/>
            </a:ln>
          </p:spPr>
        </p:sp>
        <p:sp>
          <p:nvSpPr>
            <p:cNvPr id="17" name="Rectangle 17"/>
            <p:cNvSpPr/>
            <p:nvPr/>
          </p:nvSpPr>
          <p:spPr>
            <a:xfrm>
              <a:off x="4333875" y="2381250"/>
              <a:ext cx="3524250" cy="1333500"/>
            </a:xfrm>
            <a:prstGeom prst="roundRect">
              <a:avLst>
                <a:gd name="adj" fmla="val 5714"/>
              </a:avLst>
            </a:prstGeom>
            <a:solidFill>
              <a:srgbClr val="E8F5E9"/>
            </a:solidFill>
            <a:ln>
              <a:noFill/>
            </a:ln>
          </p:spPr>
        </p:sp>
        <p:sp>
          <p:nvSpPr>
            <p:cNvPr id="18" name="TextBox 18"/>
            <p:cNvSpPr txBox="1"/>
            <p:nvPr/>
          </p:nvSpPr>
          <p:spPr>
            <a:xfrm>
              <a:off x="5149745" y="1961198"/>
              <a:ext cx="1892510"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Microsoft YaHei"/>
                  <a:cs typeface="Arial"/>
                </a:rPr>
                <a:t>E2 Top 60 重测</a:t>
              </a:r>
            </a:p>
          </p:txBody>
        </p:sp>
        <p:sp>
          <p:nvSpPr>
            <p:cNvPr id="19" name="TextBox 19"/>
            <p:cNvSpPr txBox="1"/>
            <p:nvPr/>
          </p:nvSpPr>
          <p:spPr>
            <a:xfrm>
              <a:off x="5773045" y="2326005"/>
              <a:ext cx="645909"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50</a:t>
              </a:r>
            </a:p>
          </p:txBody>
        </p:sp>
        <p:sp>
          <p:nvSpPr>
            <p:cNvPr id="20" name="TextBox 20"/>
            <p:cNvSpPr txBox="1"/>
            <p:nvPr/>
          </p:nvSpPr>
          <p:spPr>
            <a:xfrm>
              <a:off x="5776912" y="2838450"/>
              <a:ext cx="63817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篇论文</a:t>
              </a:r>
            </a:p>
          </p:txBody>
        </p:sp>
        <p:sp>
          <p:nvSpPr>
            <p:cNvPr id="21" name="TextBox 21"/>
            <p:cNvSpPr txBox="1"/>
            <p:nvPr/>
          </p:nvSpPr>
          <p:spPr>
            <a:xfrm>
              <a:off x="5646801" y="3188018"/>
              <a:ext cx="89839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完整 R1+R2</a:t>
              </a:r>
            </a:p>
          </p:txBody>
        </p:sp>
        <p:sp>
          <p:nvSpPr>
            <p:cNvPr id="22" name="TextBox 22"/>
            <p:cNvSpPr txBox="1"/>
            <p:nvPr/>
          </p:nvSpPr>
          <p:spPr>
            <a:xfrm>
              <a:off x="5448776" y="3426142"/>
              <a:ext cx="129444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验证排名稳定性</a:t>
              </a:r>
            </a:p>
          </p:txBody>
        </p:sp>
        <p:sp>
          <p:nvSpPr>
            <p:cNvPr id="23" name="Rectangle 23"/>
            <p:cNvSpPr/>
            <p:nvPr/>
          </p:nvSpPr>
          <p:spPr>
            <a:xfrm>
              <a:off x="8058150" y="1809750"/>
              <a:ext cx="3524250" cy="1905000"/>
            </a:xfrm>
            <a:prstGeom prst="roundRect">
              <a:avLst>
                <a:gd name="adj" fmla="val 4000"/>
              </a:avLst>
            </a:prstGeom>
            <a:solidFill>
              <a:srgbClr val="FFF8F0"/>
            </a:solidFill>
            <a:ln w="19050">
              <a:solidFill>
                <a:srgbClr val="E07B00"/>
              </a:solidFill>
            </a:ln>
          </p:spPr>
        </p:sp>
        <p:sp>
          <p:nvSpPr>
            <p:cNvPr id="24" name="Rectangle 24"/>
            <p:cNvSpPr/>
            <p:nvPr/>
          </p:nvSpPr>
          <p:spPr>
            <a:xfrm>
              <a:off x="8058150" y="1809750"/>
              <a:ext cx="3524250" cy="571500"/>
            </a:xfrm>
            <a:prstGeom prst="roundRect">
              <a:avLst>
                <a:gd name="adj" fmla="val 13333"/>
              </a:avLst>
            </a:prstGeom>
            <a:solidFill>
              <a:srgbClr val="E07B00"/>
            </a:solidFill>
            <a:ln>
              <a:noFill/>
            </a:ln>
          </p:spPr>
        </p:sp>
        <p:sp>
          <p:nvSpPr>
            <p:cNvPr id="25" name="Rectangle 25"/>
            <p:cNvSpPr/>
            <p:nvPr/>
          </p:nvSpPr>
          <p:spPr>
            <a:xfrm>
              <a:off x="8058150" y="2381250"/>
              <a:ext cx="3524250" cy="1333500"/>
            </a:xfrm>
            <a:prstGeom prst="roundRect">
              <a:avLst>
                <a:gd name="adj" fmla="val 5714"/>
              </a:avLst>
            </a:prstGeom>
            <a:solidFill>
              <a:srgbClr val="FFF8F0"/>
            </a:solidFill>
            <a:ln>
              <a:noFill/>
            </a:ln>
          </p:spPr>
        </p:sp>
        <p:sp>
          <p:nvSpPr>
            <p:cNvPr id="26" name="TextBox 26"/>
            <p:cNvSpPr txBox="1"/>
            <p:nvPr/>
          </p:nvSpPr>
          <p:spPr>
            <a:xfrm>
              <a:off x="8717025" y="1961198"/>
              <a:ext cx="2206500"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Microsoft YaHei"/>
                  <a:cs typeface="Arial"/>
                </a:rPr>
                <a:t>E3 Top 30 第 3 次</a:t>
              </a:r>
            </a:p>
          </p:txBody>
        </p:sp>
        <p:sp>
          <p:nvSpPr>
            <p:cNvPr id="27" name="TextBox 27"/>
            <p:cNvSpPr txBox="1"/>
            <p:nvPr/>
          </p:nvSpPr>
          <p:spPr>
            <a:xfrm>
              <a:off x="9560328" y="2326005"/>
              <a:ext cx="519894" cy="731520"/>
            </a:xfrm>
            <a:prstGeom prst="rect">
              <a:avLst/>
            </a:prstGeom>
            <a:noFill/>
            <a:ln>
              <a:noFill/>
            </a:ln>
          </p:spPr>
          <p:txBody>
            <a:bodyPr wrap="none" lIns="0" tIns="0" rIns="0" bIns="0" anchor="t" anchorCtr="0">
              <a:spAutoFit/>
            </a:bodyPr>
            <a:lstStyle/>
            <a:p>
              <a:pPr algn="ctr"/>
              <a:r>
                <a:rPr lang="zh-CN" sz="3600" b="1" dirty="0">
                  <a:solidFill>
                    <a:srgbClr val="E07B00"/>
                  </a:solidFill>
                  <a:latin typeface="Arial"/>
                  <a:ea typeface="Microsoft YaHei"/>
                  <a:cs typeface="Arial"/>
                </a:rPr>
                <a:t>13</a:t>
              </a:r>
            </a:p>
          </p:txBody>
        </p:sp>
        <p:sp>
          <p:nvSpPr>
            <p:cNvPr id="28" name="TextBox 28"/>
            <p:cNvSpPr txBox="1"/>
            <p:nvPr/>
          </p:nvSpPr>
          <p:spPr>
            <a:xfrm>
              <a:off x="9501188" y="2838450"/>
              <a:ext cx="63817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篇论文</a:t>
              </a:r>
            </a:p>
          </p:txBody>
        </p:sp>
        <p:sp>
          <p:nvSpPr>
            <p:cNvPr id="29" name="TextBox 29"/>
            <p:cNvSpPr txBox="1"/>
            <p:nvPr/>
          </p:nvSpPr>
          <p:spPr>
            <a:xfrm>
              <a:off x="9159550" y="3188018"/>
              <a:ext cx="1321451"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17 个不稳定维度</a:t>
              </a:r>
            </a:p>
          </p:txBody>
        </p:sp>
        <p:sp>
          <p:nvSpPr>
            <p:cNvPr id="30" name="TextBox 30"/>
            <p:cNvSpPr txBox="1"/>
            <p:nvPr/>
          </p:nvSpPr>
          <p:spPr>
            <a:xfrm>
              <a:off x="9353074" y="3426142"/>
              <a:ext cx="934402"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选择性重测</a:t>
              </a:r>
            </a:p>
          </p:txBody>
        </p:sp>
      </p:grpSp>
      <p:sp>
        <p:nvSpPr>
          <p:cNvPr id="32" name="TextBox 32"/>
          <p:cNvSpPr txBox="1"/>
          <p:nvPr/>
        </p:nvSpPr>
        <p:spPr>
          <a:xfrm>
            <a:off x="584835" y="3980498"/>
            <a:ext cx="1414701" cy="396240"/>
          </a:xfrm>
          <a:prstGeom prst="rect">
            <a:avLst/>
          </a:prstGeom>
          <a:noFill/>
          <a:ln>
            <a:noFill/>
          </a:ln>
        </p:spPr>
        <p:txBody>
          <a:bodyPr wrap="none" lIns="0" tIns="0" rIns="0" bIns="0" anchor="t" anchorCtr="0">
            <a:spAutoFit/>
          </a:bodyPr>
          <a:lstStyle/>
          <a:p>
            <a:pPr algn="l"/>
            <a:r>
              <a:rPr lang="zh-CN" sz="1950" b="1" dirty="0">
                <a:solidFill>
                  <a:srgbClr val="C8161E"/>
                </a:solidFill>
                <a:latin typeface="Arial"/>
                <a:ea typeface="Microsoft YaHei"/>
                <a:cs typeface="Arial"/>
              </a:rPr>
              <a:t>评测时间线</a:t>
            </a:r>
          </a:p>
        </p:txBody>
      </p:sp>
      <p:grpSp>
        <p:nvGrpSpPr>
          <p:cNvPr id="46" name="Group 46"/>
          <p:cNvGrpSpPr/>
          <p:nvPr/>
        </p:nvGrpSpPr>
        <p:grpSpPr>
          <a:xfrm>
            <a:off x="1143000" y="4457700"/>
            <a:ext cx="9906000" cy="942975"/>
            <a:chOff x="1143000" y="4457700"/>
            <a:chExt cx="9906000" cy="942975"/>
          </a:xfrm>
        </p:grpSpPr>
        <p:sp>
          <p:nvSpPr>
            <p:cNvPr id="33" name="Line 33"/>
            <p:cNvSpPr/>
            <p:nvPr/>
          </p:nvSpPr>
          <p:spPr>
            <a:xfrm>
              <a:off x="1143000" y="4572000"/>
              <a:ext cx="9906000" cy="9525"/>
            </a:xfrm>
            <a:custGeom>
              <a:avLst/>
              <a:gdLst/>
              <a:ahLst/>
              <a:cxnLst/>
              <a:rect l="l" t="t" r="r" b="b"/>
              <a:pathLst>
                <a:path w="9906000" h="9525">
                  <a:moveTo>
                    <a:pt x="0" y="0"/>
                  </a:moveTo>
                  <a:lnTo>
                    <a:pt x="9906000" y="0"/>
                  </a:lnTo>
                </a:path>
              </a:pathLst>
            </a:custGeom>
            <a:noFill/>
            <a:ln w="38100">
              <a:solidFill>
                <a:srgbClr val="D9DEE5"/>
              </a:solidFill>
            </a:ln>
          </p:spPr>
        </p:sp>
        <p:sp>
          <p:nvSpPr>
            <p:cNvPr id="34" name="Ellipse 34"/>
            <p:cNvSpPr/>
            <p:nvPr/>
          </p:nvSpPr>
          <p:spPr>
            <a:xfrm>
              <a:off x="2552700" y="4457700"/>
              <a:ext cx="228600" cy="228600"/>
            </a:xfrm>
            <a:prstGeom prst="ellipse">
              <a:avLst/>
            </a:prstGeom>
            <a:solidFill>
              <a:srgbClr val="1F4D78"/>
            </a:solidFill>
            <a:ln>
              <a:noFill/>
            </a:ln>
          </p:spPr>
        </p:sp>
        <p:sp>
          <p:nvSpPr>
            <p:cNvPr id="35" name="TextBox 35"/>
            <p:cNvSpPr txBox="1"/>
            <p:nvPr/>
          </p:nvSpPr>
          <p:spPr>
            <a:xfrm>
              <a:off x="2569520" y="4712018"/>
              <a:ext cx="194960"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E1</a:t>
              </a:r>
            </a:p>
          </p:txBody>
        </p:sp>
        <p:sp>
          <p:nvSpPr>
            <p:cNvPr id="36" name="TextBox 36"/>
            <p:cNvSpPr txBox="1"/>
            <p:nvPr/>
          </p:nvSpPr>
          <p:spPr>
            <a:xfrm>
              <a:off x="2211705" y="4966335"/>
              <a:ext cx="91059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2026-05-22</a:t>
              </a:r>
            </a:p>
          </p:txBody>
        </p:sp>
        <p:sp>
          <p:nvSpPr>
            <p:cNvPr id="37" name="TextBox 37"/>
            <p:cNvSpPr txBox="1"/>
            <p:nvPr/>
          </p:nvSpPr>
          <p:spPr>
            <a:xfrm>
              <a:off x="2331720" y="5156835"/>
              <a:ext cx="67056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全量评审</a:t>
              </a:r>
            </a:p>
          </p:txBody>
        </p:sp>
        <p:sp>
          <p:nvSpPr>
            <p:cNvPr id="38" name="Ellipse 38"/>
            <p:cNvSpPr/>
            <p:nvPr/>
          </p:nvSpPr>
          <p:spPr>
            <a:xfrm>
              <a:off x="5981700" y="4457700"/>
              <a:ext cx="228600" cy="228600"/>
            </a:xfrm>
            <a:prstGeom prst="ellipse">
              <a:avLst/>
            </a:prstGeom>
            <a:solidFill>
              <a:srgbClr val="2E7D32"/>
            </a:solidFill>
            <a:ln>
              <a:noFill/>
            </a:ln>
          </p:spPr>
        </p:sp>
        <p:sp>
          <p:nvSpPr>
            <p:cNvPr id="39" name="TextBox 39"/>
            <p:cNvSpPr txBox="1"/>
            <p:nvPr/>
          </p:nvSpPr>
          <p:spPr>
            <a:xfrm>
              <a:off x="5974892" y="4712018"/>
              <a:ext cx="242216"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Arial"/>
                  <a:ea typeface="Microsoft YaHei"/>
                  <a:cs typeface="Arial"/>
                </a:rPr>
                <a:t>E2</a:t>
              </a:r>
            </a:p>
          </p:txBody>
        </p:sp>
        <p:sp>
          <p:nvSpPr>
            <p:cNvPr id="40" name="TextBox 40"/>
            <p:cNvSpPr txBox="1"/>
            <p:nvPr/>
          </p:nvSpPr>
          <p:spPr>
            <a:xfrm>
              <a:off x="5640705" y="4966335"/>
              <a:ext cx="91059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2026-05-25</a:t>
              </a:r>
            </a:p>
          </p:txBody>
        </p:sp>
        <p:sp>
          <p:nvSpPr>
            <p:cNvPr id="41" name="TextBox 41"/>
            <p:cNvSpPr txBox="1"/>
            <p:nvPr/>
          </p:nvSpPr>
          <p:spPr>
            <a:xfrm>
              <a:off x="5652706" y="5156835"/>
              <a:ext cx="88658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Top 60 重测</a:t>
              </a:r>
            </a:p>
          </p:txBody>
        </p:sp>
        <p:sp>
          <p:nvSpPr>
            <p:cNvPr id="42" name="Ellipse 42"/>
            <p:cNvSpPr/>
            <p:nvPr/>
          </p:nvSpPr>
          <p:spPr>
            <a:xfrm>
              <a:off x="9410700" y="4457700"/>
              <a:ext cx="228600" cy="228600"/>
            </a:xfrm>
            <a:prstGeom prst="ellipse">
              <a:avLst/>
            </a:prstGeom>
            <a:solidFill>
              <a:srgbClr val="E07B00"/>
            </a:solidFill>
            <a:ln>
              <a:noFill/>
            </a:ln>
          </p:spPr>
        </p:sp>
        <p:sp>
          <p:nvSpPr>
            <p:cNvPr id="43" name="TextBox 43"/>
            <p:cNvSpPr txBox="1"/>
            <p:nvPr/>
          </p:nvSpPr>
          <p:spPr>
            <a:xfrm>
              <a:off x="9403892" y="4712018"/>
              <a:ext cx="242216" cy="274320"/>
            </a:xfrm>
            <a:prstGeom prst="rect">
              <a:avLst/>
            </a:prstGeom>
            <a:noFill/>
            <a:ln>
              <a:noFill/>
            </a:ln>
          </p:spPr>
          <p:txBody>
            <a:bodyPr wrap="none" lIns="0" tIns="0" rIns="0" bIns="0" anchor="t" anchorCtr="0">
              <a:spAutoFit/>
            </a:bodyPr>
            <a:lstStyle/>
            <a:p>
              <a:pPr algn="ctr"/>
              <a:r>
                <a:rPr lang="zh-CN" sz="1350" b="1" dirty="0">
                  <a:solidFill>
                    <a:srgbClr val="E07B00"/>
                  </a:solidFill>
                  <a:latin typeface="Arial"/>
                  <a:ea typeface="Microsoft YaHei"/>
                  <a:cs typeface="Arial"/>
                </a:rPr>
                <a:t>E3</a:t>
              </a:r>
            </a:p>
          </p:txBody>
        </p:sp>
        <p:sp>
          <p:nvSpPr>
            <p:cNvPr id="44" name="TextBox 44"/>
            <p:cNvSpPr txBox="1"/>
            <p:nvPr/>
          </p:nvSpPr>
          <p:spPr>
            <a:xfrm>
              <a:off x="9069705" y="4966335"/>
              <a:ext cx="91059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2026-05-27</a:t>
              </a:r>
            </a:p>
          </p:txBody>
        </p:sp>
        <p:sp>
          <p:nvSpPr>
            <p:cNvPr id="45" name="TextBox 45"/>
            <p:cNvSpPr txBox="1"/>
            <p:nvPr/>
          </p:nvSpPr>
          <p:spPr>
            <a:xfrm>
              <a:off x="8989695" y="5156835"/>
              <a:ext cx="107061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Top 30 第 3 次</a:t>
              </a:r>
            </a:p>
          </p:txBody>
        </p:sp>
      </p:grpSp>
      <p:sp>
        <p:nvSpPr>
          <p:cNvPr id="47" name="Rectangle 47"/>
          <p:cNvSpPr/>
          <p:nvPr/>
        </p:nvSpPr>
        <p:spPr>
          <a:xfrm>
            <a:off x="609600" y="5619750"/>
            <a:ext cx="10972800" cy="762000"/>
          </a:xfrm>
          <a:prstGeom prst="roundRect">
            <a:avLst>
              <a:gd name="adj" fmla="val 10000"/>
            </a:avLst>
          </a:prstGeom>
          <a:solidFill>
            <a:srgbClr val="F4F5F7"/>
          </a:solidFill>
          <a:ln>
            <a:noFill/>
          </a:ln>
        </p:spPr>
      </p:sp>
      <p:sp>
        <p:nvSpPr>
          <p:cNvPr id="48" name="TextBox 48"/>
          <p:cNvSpPr txBox="1"/>
          <p:nvPr/>
        </p:nvSpPr>
        <p:spPr>
          <a:xfrm>
            <a:off x="893445" y="572738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关键指标</a:t>
            </a:r>
          </a:p>
        </p:txBody>
      </p:sp>
      <p:sp>
        <p:nvSpPr>
          <p:cNvPr id="49" name="TextBox 49"/>
          <p:cNvSpPr txBox="1"/>
          <p:nvPr/>
        </p:nvSpPr>
        <p:spPr>
          <a:xfrm>
            <a:off x="895350" y="6048375"/>
            <a:ext cx="5828824"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 xml:space="preserve">总评分单元：1913 篇 × 6 维度 × 4 模型 × 2 轮 = </a:t>
            </a:r>
            <a:r>
              <a:rPr lang="zh-CN" sz="1500" b="1" dirty="0">
                <a:solidFill>
                  <a:srgbClr val="C8161E"/>
                </a:solidFill>
                <a:latin typeface="Arial"/>
                <a:ea typeface="Microsoft YaHei"/>
                <a:cs typeface="Arial"/>
              </a:rPr>
              <a:t>92,016 次 AI 评分</a:t>
            </a:r>
          </a:p>
        </p:txBody>
      </p:sp>
      <p:sp>
        <p:nvSpPr>
          <p:cNvPr id="50" name="TextBox 50"/>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image">
                                      <p:cBhvr>
                                        <p:cTn id="7" dur="400"/>
                                        <p:tgtEl>
                                          <p:spTgt spid="3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69267"/>
            <a:ext cx="10820400" cy="568909"/>
            <a:chOff x="685800" y="269267"/>
            <a:chExt cx="10820400" cy="568909"/>
          </a:xfrm>
        </p:grpSpPr>
        <p:pic>
          <p:nvPicPr>
            <p:cNvPr id="3" name="Image 3"/>
            <p:cNvPicPr>
              <a:picLocks noChangeAspect="1"/>
            </p:cNvPicPr>
            <p:nvPr/>
          </p:nvPicPr>
          <p:blipFill>
            <a:blip r:embed="rId2"/>
            <a:stretch>
              <a:fillRect/>
            </a:stretch>
          </p:blipFill>
          <p:spPr>
            <a:xfrm>
              <a:off x="685800" y="361950"/>
              <a:ext cx="381000" cy="381000"/>
            </a:xfrm>
            <a:prstGeom prst="rect">
              <a:avLst/>
            </a:prstGeom>
          </p:spPr>
        </p:pic>
        <p:sp>
          <p:nvSpPr>
            <p:cNvPr id="4" name="Rectangle 4"/>
            <p:cNvSpPr/>
            <p:nvPr/>
          </p:nvSpPr>
          <p:spPr>
            <a:xfrm>
              <a:off x="1219200" y="361950"/>
              <a:ext cx="57150" cy="400050"/>
            </a:xfrm>
            <a:prstGeom prst="roundRect">
              <a:avLst>
                <a:gd name="adj" fmla="val 33333"/>
              </a:avLst>
            </a:prstGeom>
            <a:solidFill>
              <a:srgbClr val="C8161E"/>
            </a:solidFill>
            <a:ln>
              <a:noFill/>
            </a:ln>
          </p:spPr>
        </p:sp>
        <p:sp>
          <p:nvSpPr>
            <p:cNvPr id="5" name="TextBox 5"/>
            <p:cNvSpPr txBox="1"/>
            <p:nvPr/>
          </p:nvSpPr>
          <p:spPr>
            <a:xfrm>
              <a:off x="1374143" y="269267"/>
              <a:ext cx="3207226"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交叉评审收敛效果</a:t>
              </a:r>
            </a:p>
          </p:txBody>
        </p:sp>
        <p:pic>
          <p:nvPicPr>
            <p:cNvPr id="6" name="Image 6"/>
            <p:cNvPicPr>
              <a:picLocks noChangeAspect="1"/>
            </p:cNvPicPr>
            <p:nvPr/>
          </p:nvPicPr>
          <p:blipFill>
            <a:blip r:embed="rId3"/>
            <a:stretch>
              <a:fillRect/>
            </a:stretch>
          </p:blipFill>
          <p:spPr>
            <a:xfrm>
              <a:off x="9805280" y="419100"/>
              <a:ext cx="1700920" cy="342900"/>
            </a:xfrm>
            <a:prstGeom prst="rect">
              <a:avLst/>
            </a:prstGeom>
          </p:spPr>
        </p:pic>
      </p:grpSp>
      <p:grpSp>
        <p:nvGrpSpPr>
          <p:cNvPr id="13" name="Group 13"/>
          <p:cNvGrpSpPr/>
          <p:nvPr/>
        </p:nvGrpSpPr>
        <p:grpSpPr>
          <a:xfrm>
            <a:off x="1143000" y="1096618"/>
            <a:ext cx="6918198" cy="284531"/>
            <a:chOff x="1143000" y="1096618"/>
            <a:chExt cx="6918198" cy="284531"/>
          </a:xfrm>
        </p:grpSpPr>
        <p:sp>
          <p:nvSpPr>
            <p:cNvPr id="8" name="Rectangle 8"/>
            <p:cNvSpPr/>
            <p:nvPr/>
          </p:nvSpPr>
          <p:spPr>
            <a:xfrm>
              <a:off x="1143000" y="1104900"/>
              <a:ext cx="171450" cy="171450"/>
            </a:xfrm>
            <a:prstGeom prst="roundRect">
              <a:avLst>
                <a:gd name="adj" fmla="val 16667"/>
              </a:avLst>
            </a:prstGeom>
            <a:gradFill>
              <a:gsLst>
                <a:gs pos="0">
                  <a:srgbClr val="D6434A"/>
                </a:gs>
                <a:gs pos="100000">
                  <a:srgbClr val="C8161E"/>
                </a:gs>
              </a:gsLst>
              <a:lin ang="5400000" scaled="1"/>
            </a:gradFill>
            <a:ln>
              <a:noFill/>
            </a:ln>
          </p:spPr>
        </p:sp>
        <p:sp>
          <p:nvSpPr>
            <p:cNvPr id="9" name="TextBox 9"/>
            <p:cNvSpPr txBox="1"/>
            <p:nvPr/>
          </p:nvSpPr>
          <p:spPr>
            <a:xfrm>
              <a:off x="1372867" y="1096618"/>
              <a:ext cx="987855"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R1 平均 std</a:t>
              </a:r>
            </a:p>
          </p:txBody>
        </p:sp>
        <p:sp>
          <p:nvSpPr>
            <p:cNvPr id="10" name="Rectangle 10"/>
            <p:cNvSpPr/>
            <p:nvPr/>
          </p:nvSpPr>
          <p:spPr>
            <a:xfrm>
              <a:off x="3238500" y="1104900"/>
              <a:ext cx="171450" cy="171450"/>
            </a:xfrm>
            <a:prstGeom prst="roundRect">
              <a:avLst>
                <a:gd name="adj" fmla="val 16667"/>
              </a:avLst>
            </a:prstGeom>
            <a:gradFill>
              <a:gsLst>
                <a:gs pos="0">
                  <a:srgbClr val="2E5E8C"/>
                </a:gs>
                <a:gs pos="100000">
                  <a:srgbClr val="1F4D78"/>
                </a:gs>
              </a:gsLst>
              <a:lin ang="5400000" scaled="1"/>
            </a:gradFill>
            <a:ln>
              <a:noFill/>
            </a:ln>
          </p:spPr>
        </p:sp>
        <p:sp>
          <p:nvSpPr>
            <p:cNvPr id="11" name="TextBox 11"/>
            <p:cNvSpPr txBox="1"/>
            <p:nvPr/>
          </p:nvSpPr>
          <p:spPr>
            <a:xfrm>
              <a:off x="3468367" y="1096618"/>
              <a:ext cx="103453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R2 平均 std</a:t>
              </a:r>
            </a:p>
          </p:txBody>
        </p:sp>
        <p:sp>
          <p:nvSpPr>
            <p:cNvPr id="12" name="TextBox 12"/>
            <p:cNvSpPr txBox="1"/>
            <p:nvPr/>
          </p:nvSpPr>
          <p:spPr>
            <a:xfrm>
              <a:off x="6366510" y="1118235"/>
              <a:ext cx="1694688"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基于 11,520 个评分单元</a:t>
              </a:r>
            </a:p>
          </p:txBody>
        </p:sp>
      </p:grpSp>
      <p:grpSp>
        <p:nvGrpSpPr>
          <p:cNvPr id="61" name="Group 61"/>
          <p:cNvGrpSpPr/>
          <p:nvPr/>
        </p:nvGrpSpPr>
        <p:grpSpPr>
          <a:xfrm>
            <a:off x="744217" y="1610968"/>
            <a:ext cx="7256783" cy="4027856"/>
            <a:chOff x="744217" y="1610968"/>
            <a:chExt cx="7256783" cy="4027856"/>
          </a:xfrm>
        </p:grpSpPr>
        <p:sp>
          <p:nvSpPr>
            <p:cNvPr id="14" name="Line 14"/>
            <p:cNvSpPr/>
            <p:nvPr/>
          </p:nvSpPr>
          <p:spPr>
            <a:xfrm>
              <a:off x="1143000" y="5143500"/>
              <a:ext cx="6858000" cy="9525"/>
            </a:xfrm>
            <a:custGeom>
              <a:avLst/>
              <a:gdLst/>
              <a:ahLst/>
              <a:cxnLst/>
              <a:rect l="l" t="t" r="r" b="b"/>
              <a:pathLst>
                <a:path w="6858000" h="9525">
                  <a:moveTo>
                    <a:pt x="0" y="0"/>
                  </a:moveTo>
                  <a:lnTo>
                    <a:pt x="6858000" y="0"/>
                  </a:lnTo>
                </a:path>
              </a:pathLst>
            </a:custGeom>
            <a:noFill/>
            <a:ln w="14288">
              <a:solidFill>
                <a:srgbClr val="D9DEE5"/>
              </a:solidFill>
            </a:ln>
          </p:spPr>
        </p:sp>
        <p:sp>
          <p:nvSpPr>
            <p:cNvPr id="15" name="Line 15"/>
            <p:cNvSpPr/>
            <p:nvPr/>
          </p:nvSpPr>
          <p:spPr>
            <a:xfrm>
              <a:off x="1143000" y="428625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6" name="Line 16"/>
            <p:cNvSpPr/>
            <p:nvPr/>
          </p:nvSpPr>
          <p:spPr>
            <a:xfrm>
              <a:off x="1143000" y="342900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7" name="Line 17"/>
            <p:cNvSpPr/>
            <p:nvPr/>
          </p:nvSpPr>
          <p:spPr>
            <a:xfrm>
              <a:off x="1143000" y="257175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8" name="Line 18"/>
            <p:cNvSpPr/>
            <p:nvPr/>
          </p:nvSpPr>
          <p:spPr>
            <a:xfrm>
              <a:off x="1143000" y="171450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9" name="TextBox 19"/>
            <p:cNvSpPr txBox="1"/>
            <p:nvPr/>
          </p:nvSpPr>
          <p:spPr>
            <a:xfrm>
              <a:off x="801367" y="5039968"/>
              <a:ext cx="138264"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0</a:t>
              </a:r>
            </a:p>
          </p:txBody>
        </p:sp>
        <p:sp>
          <p:nvSpPr>
            <p:cNvPr id="20" name="TextBox 20"/>
            <p:cNvSpPr txBox="1"/>
            <p:nvPr/>
          </p:nvSpPr>
          <p:spPr>
            <a:xfrm>
              <a:off x="801367" y="4182718"/>
              <a:ext cx="138264"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5</a:t>
              </a:r>
            </a:p>
          </p:txBody>
        </p:sp>
        <p:sp>
          <p:nvSpPr>
            <p:cNvPr id="21" name="TextBox 21"/>
            <p:cNvSpPr txBox="1"/>
            <p:nvPr/>
          </p:nvSpPr>
          <p:spPr>
            <a:xfrm>
              <a:off x="744217" y="3325468"/>
              <a:ext cx="194281"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10</a:t>
              </a:r>
            </a:p>
          </p:txBody>
        </p:sp>
        <p:sp>
          <p:nvSpPr>
            <p:cNvPr id="22" name="TextBox 22"/>
            <p:cNvSpPr txBox="1"/>
            <p:nvPr/>
          </p:nvSpPr>
          <p:spPr>
            <a:xfrm>
              <a:off x="744217" y="2468218"/>
              <a:ext cx="194281"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15</a:t>
              </a:r>
            </a:p>
          </p:txBody>
        </p:sp>
        <p:sp>
          <p:nvSpPr>
            <p:cNvPr id="23" name="TextBox 23"/>
            <p:cNvSpPr txBox="1"/>
            <p:nvPr/>
          </p:nvSpPr>
          <p:spPr>
            <a:xfrm>
              <a:off x="744217" y="1610968"/>
              <a:ext cx="240962"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20</a:t>
              </a:r>
            </a:p>
          </p:txBody>
        </p:sp>
        <p:sp>
          <p:nvSpPr>
            <p:cNvPr id="24" name="Line 24"/>
            <p:cNvSpPr/>
            <p:nvPr/>
          </p:nvSpPr>
          <p:spPr>
            <a:xfrm>
              <a:off x="1143000" y="1714500"/>
              <a:ext cx="9525" cy="3429000"/>
            </a:xfrm>
            <a:custGeom>
              <a:avLst/>
              <a:gdLst/>
              <a:ahLst/>
              <a:cxnLst/>
              <a:rect l="l" t="t" r="r" b="b"/>
              <a:pathLst>
                <a:path w="9525" h="3429000">
                  <a:moveTo>
                    <a:pt x="0" y="0"/>
                  </a:moveTo>
                  <a:lnTo>
                    <a:pt x="0" y="3429000"/>
                  </a:lnTo>
                </a:path>
              </a:pathLst>
            </a:custGeom>
            <a:noFill/>
            <a:ln w="19050">
              <a:solidFill>
                <a:srgbClr val="94A3B8"/>
              </a:solidFill>
            </a:ln>
          </p:spPr>
        </p:sp>
        <p:sp>
          <p:nvSpPr>
            <p:cNvPr id="25" name="Rectangle 25"/>
            <p:cNvSpPr/>
            <p:nvPr/>
          </p:nvSpPr>
          <p:spPr>
            <a:xfrm>
              <a:off x="1314450" y="1933575"/>
              <a:ext cx="361950" cy="3209925"/>
            </a:xfrm>
            <a:prstGeom prst="roundRect">
              <a:avLst>
                <a:gd name="adj" fmla="val 7895"/>
              </a:avLst>
            </a:prstGeom>
            <a:gradFill>
              <a:gsLst>
                <a:gs pos="0">
                  <a:srgbClr val="D6434A"/>
                </a:gs>
                <a:gs pos="100000">
                  <a:srgbClr val="C8161E"/>
                </a:gs>
              </a:gsLst>
              <a:lin ang="5400000" scaled="1"/>
            </a:gradFill>
            <a:ln>
              <a:noFill/>
            </a:ln>
          </p:spPr>
        </p:sp>
        <p:sp>
          <p:nvSpPr>
            <p:cNvPr id="26" name="TextBox 26"/>
            <p:cNvSpPr txBox="1"/>
            <p:nvPr/>
          </p:nvSpPr>
          <p:spPr>
            <a:xfrm>
              <a:off x="1195117" y="1684682"/>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18.70</a:t>
              </a:r>
            </a:p>
          </p:txBody>
        </p:sp>
        <p:sp>
          <p:nvSpPr>
            <p:cNvPr id="27" name="Rectangle 27"/>
            <p:cNvSpPr/>
            <p:nvPr/>
          </p:nvSpPr>
          <p:spPr>
            <a:xfrm>
              <a:off x="1752600" y="3267075"/>
              <a:ext cx="361950" cy="1876425"/>
            </a:xfrm>
            <a:prstGeom prst="roundRect">
              <a:avLst>
                <a:gd name="adj" fmla="val 7895"/>
              </a:avLst>
            </a:prstGeom>
            <a:gradFill>
              <a:gsLst>
                <a:gs pos="0">
                  <a:srgbClr val="2E5E8C"/>
                </a:gs>
                <a:gs pos="100000">
                  <a:srgbClr val="1F4D78"/>
                </a:gs>
              </a:gsLst>
              <a:lin ang="5400000" scaled="1"/>
            </a:gradFill>
            <a:ln>
              <a:noFill/>
            </a:ln>
          </p:spPr>
        </p:sp>
        <p:sp>
          <p:nvSpPr>
            <p:cNvPr id="28" name="TextBox 28"/>
            <p:cNvSpPr txBox="1"/>
            <p:nvPr/>
          </p:nvSpPr>
          <p:spPr>
            <a:xfrm>
              <a:off x="1633267" y="3018182"/>
              <a:ext cx="600616"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10.94</a:t>
              </a:r>
            </a:p>
          </p:txBody>
        </p:sp>
        <p:sp>
          <p:nvSpPr>
            <p:cNvPr id="29" name="TextBox 29"/>
            <p:cNvSpPr txBox="1"/>
            <p:nvPr/>
          </p:nvSpPr>
          <p:spPr>
            <a:xfrm>
              <a:off x="1160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研究创新性</a:t>
              </a:r>
            </a:p>
          </p:txBody>
        </p:sp>
        <p:sp>
          <p:nvSpPr>
            <p:cNvPr id="30" name="TextBox 30"/>
            <p:cNvSpPr txBox="1"/>
            <p:nvPr/>
          </p:nvSpPr>
          <p:spPr>
            <a:xfrm>
              <a:off x="1542670" y="5354293"/>
              <a:ext cx="343660"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30%</a:t>
              </a:r>
            </a:p>
          </p:txBody>
        </p:sp>
        <p:sp>
          <p:nvSpPr>
            <p:cNvPr id="31" name="Rectangle 31"/>
            <p:cNvSpPr/>
            <p:nvPr/>
          </p:nvSpPr>
          <p:spPr>
            <a:xfrm>
              <a:off x="2457450" y="2276475"/>
              <a:ext cx="361950" cy="2867025"/>
            </a:xfrm>
            <a:prstGeom prst="roundRect">
              <a:avLst>
                <a:gd name="adj" fmla="val 7895"/>
              </a:avLst>
            </a:prstGeom>
            <a:gradFill>
              <a:gsLst>
                <a:gs pos="0">
                  <a:srgbClr val="D6434A"/>
                </a:gs>
                <a:gs pos="100000">
                  <a:srgbClr val="C8161E"/>
                </a:gs>
              </a:gsLst>
              <a:lin ang="5400000" scaled="1"/>
            </a:gradFill>
            <a:ln>
              <a:noFill/>
            </a:ln>
          </p:spPr>
        </p:sp>
        <p:sp>
          <p:nvSpPr>
            <p:cNvPr id="32" name="TextBox 32"/>
            <p:cNvSpPr txBox="1"/>
            <p:nvPr/>
          </p:nvSpPr>
          <p:spPr>
            <a:xfrm>
              <a:off x="2338117" y="2027582"/>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16.72</a:t>
              </a:r>
            </a:p>
          </p:txBody>
        </p:sp>
        <p:sp>
          <p:nvSpPr>
            <p:cNvPr id="33" name="Rectangle 33"/>
            <p:cNvSpPr/>
            <p:nvPr/>
          </p:nvSpPr>
          <p:spPr>
            <a:xfrm>
              <a:off x="2895600" y="3676650"/>
              <a:ext cx="361950" cy="1466850"/>
            </a:xfrm>
            <a:prstGeom prst="roundRect">
              <a:avLst>
                <a:gd name="adj" fmla="val 7895"/>
              </a:avLst>
            </a:prstGeom>
            <a:gradFill>
              <a:gsLst>
                <a:gs pos="0">
                  <a:srgbClr val="2E5E8C"/>
                </a:gs>
                <a:gs pos="100000">
                  <a:srgbClr val="1F4D78"/>
                </a:gs>
              </a:gsLst>
              <a:lin ang="5400000" scaled="1"/>
            </a:gradFill>
            <a:ln>
              <a:noFill/>
            </a:ln>
          </p:spPr>
        </p:sp>
        <p:sp>
          <p:nvSpPr>
            <p:cNvPr id="34" name="TextBox 34"/>
            <p:cNvSpPr txBox="1"/>
            <p:nvPr/>
          </p:nvSpPr>
          <p:spPr>
            <a:xfrm>
              <a:off x="2809866" y="3427757"/>
              <a:ext cx="533418"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8.56</a:t>
              </a:r>
            </a:p>
          </p:txBody>
        </p:sp>
        <p:sp>
          <p:nvSpPr>
            <p:cNvPr id="35" name="TextBox 35"/>
            <p:cNvSpPr txBox="1"/>
            <p:nvPr/>
          </p:nvSpPr>
          <p:spPr>
            <a:xfrm>
              <a:off x="2303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现状洞察度</a:t>
              </a:r>
            </a:p>
          </p:txBody>
        </p:sp>
        <p:sp>
          <p:nvSpPr>
            <p:cNvPr id="36" name="TextBox 36"/>
            <p:cNvSpPr txBox="1"/>
            <p:nvPr/>
          </p:nvSpPr>
          <p:spPr>
            <a:xfrm>
              <a:off x="2685670" y="5354293"/>
              <a:ext cx="343660"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20%</a:t>
              </a:r>
            </a:p>
          </p:txBody>
        </p:sp>
        <p:sp>
          <p:nvSpPr>
            <p:cNvPr id="37" name="Rectangle 37"/>
            <p:cNvSpPr/>
            <p:nvPr/>
          </p:nvSpPr>
          <p:spPr>
            <a:xfrm>
              <a:off x="3600450" y="2019300"/>
              <a:ext cx="361950" cy="3124200"/>
            </a:xfrm>
            <a:prstGeom prst="roundRect">
              <a:avLst>
                <a:gd name="adj" fmla="val 7895"/>
              </a:avLst>
            </a:prstGeom>
            <a:gradFill>
              <a:gsLst>
                <a:gs pos="0">
                  <a:srgbClr val="D6434A"/>
                </a:gs>
                <a:gs pos="100000">
                  <a:srgbClr val="C8161E"/>
                </a:gs>
              </a:gsLst>
              <a:lin ang="5400000" scaled="1"/>
            </a:gradFill>
            <a:ln>
              <a:noFill/>
            </a:ln>
          </p:spPr>
        </p:sp>
        <p:sp>
          <p:nvSpPr>
            <p:cNvPr id="38" name="TextBox 38"/>
            <p:cNvSpPr txBox="1"/>
            <p:nvPr/>
          </p:nvSpPr>
          <p:spPr>
            <a:xfrm>
              <a:off x="3481117" y="1770407"/>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18.23</a:t>
              </a:r>
            </a:p>
          </p:txBody>
        </p:sp>
        <p:sp>
          <p:nvSpPr>
            <p:cNvPr id="39" name="Rectangle 39"/>
            <p:cNvSpPr/>
            <p:nvPr/>
          </p:nvSpPr>
          <p:spPr>
            <a:xfrm>
              <a:off x="4038600" y="3648075"/>
              <a:ext cx="361950" cy="1495425"/>
            </a:xfrm>
            <a:prstGeom prst="roundRect">
              <a:avLst>
                <a:gd name="adj" fmla="val 7895"/>
              </a:avLst>
            </a:prstGeom>
            <a:gradFill>
              <a:gsLst>
                <a:gs pos="0">
                  <a:srgbClr val="2E5E8C"/>
                </a:gs>
                <a:gs pos="100000">
                  <a:srgbClr val="1F4D78"/>
                </a:gs>
              </a:gsLst>
              <a:lin ang="5400000" scaled="1"/>
            </a:gradFill>
            <a:ln>
              <a:noFill/>
            </a:ln>
          </p:spPr>
        </p:sp>
        <p:sp>
          <p:nvSpPr>
            <p:cNvPr id="40" name="TextBox 40"/>
            <p:cNvSpPr txBox="1"/>
            <p:nvPr/>
          </p:nvSpPr>
          <p:spPr>
            <a:xfrm>
              <a:off x="3980865" y="3399182"/>
              <a:ext cx="477420"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8.71</a:t>
              </a:r>
            </a:p>
          </p:txBody>
        </p:sp>
        <p:sp>
          <p:nvSpPr>
            <p:cNvPr id="41" name="TextBox 41"/>
            <p:cNvSpPr txBox="1"/>
            <p:nvPr/>
          </p:nvSpPr>
          <p:spPr>
            <a:xfrm>
              <a:off x="3446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理论建构力</a:t>
              </a:r>
            </a:p>
          </p:txBody>
        </p:sp>
        <p:sp>
          <p:nvSpPr>
            <p:cNvPr id="42" name="TextBox 42"/>
            <p:cNvSpPr txBox="1"/>
            <p:nvPr/>
          </p:nvSpPr>
          <p:spPr>
            <a:xfrm>
              <a:off x="3852010" y="5354293"/>
              <a:ext cx="296979"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15%</a:t>
              </a:r>
            </a:p>
          </p:txBody>
        </p:sp>
        <p:sp>
          <p:nvSpPr>
            <p:cNvPr id="43" name="Rectangle 43"/>
            <p:cNvSpPr/>
            <p:nvPr/>
          </p:nvSpPr>
          <p:spPr>
            <a:xfrm>
              <a:off x="4743450" y="3409950"/>
              <a:ext cx="361950" cy="1733550"/>
            </a:xfrm>
            <a:prstGeom prst="roundRect">
              <a:avLst>
                <a:gd name="adj" fmla="val 7895"/>
              </a:avLst>
            </a:prstGeom>
            <a:gradFill>
              <a:gsLst>
                <a:gs pos="0">
                  <a:srgbClr val="D6434A"/>
                </a:gs>
                <a:gs pos="100000">
                  <a:srgbClr val="C8161E"/>
                </a:gs>
              </a:gsLst>
              <a:lin ang="5400000" scaled="1"/>
            </a:gradFill>
            <a:ln>
              <a:noFill/>
            </a:ln>
          </p:spPr>
        </p:sp>
        <p:sp>
          <p:nvSpPr>
            <p:cNvPr id="44" name="TextBox 44"/>
            <p:cNvSpPr txBox="1"/>
            <p:nvPr/>
          </p:nvSpPr>
          <p:spPr>
            <a:xfrm>
              <a:off x="4652116" y="3161057"/>
              <a:ext cx="544618"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10.10</a:t>
              </a:r>
            </a:p>
          </p:txBody>
        </p:sp>
        <p:sp>
          <p:nvSpPr>
            <p:cNvPr id="45" name="Rectangle 45"/>
            <p:cNvSpPr/>
            <p:nvPr/>
          </p:nvSpPr>
          <p:spPr>
            <a:xfrm>
              <a:off x="5181600" y="4429125"/>
              <a:ext cx="361950" cy="714375"/>
            </a:xfrm>
            <a:prstGeom prst="roundRect">
              <a:avLst>
                <a:gd name="adj" fmla="val 7895"/>
              </a:avLst>
            </a:prstGeom>
            <a:gradFill>
              <a:gsLst>
                <a:gs pos="0">
                  <a:srgbClr val="2E5E8C"/>
                </a:gs>
                <a:gs pos="100000">
                  <a:srgbClr val="1F4D78"/>
                </a:gs>
              </a:gsLst>
              <a:lin ang="5400000" scaled="1"/>
            </a:gradFill>
            <a:ln>
              <a:noFill/>
            </a:ln>
          </p:spPr>
        </p:sp>
        <p:sp>
          <p:nvSpPr>
            <p:cNvPr id="46" name="TextBox 46"/>
            <p:cNvSpPr txBox="1"/>
            <p:nvPr/>
          </p:nvSpPr>
          <p:spPr>
            <a:xfrm>
              <a:off x="5123865" y="4180232"/>
              <a:ext cx="477420"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4.16</a:t>
              </a:r>
            </a:p>
          </p:txBody>
        </p:sp>
        <p:sp>
          <p:nvSpPr>
            <p:cNvPr id="47" name="TextBox 47"/>
            <p:cNvSpPr txBox="1"/>
            <p:nvPr/>
          </p:nvSpPr>
          <p:spPr>
            <a:xfrm>
              <a:off x="4589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逻辑连贯性</a:t>
              </a:r>
            </a:p>
          </p:txBody>
        </p:sp>
        <p:sp>
          <p:nvSpPr>
            <p:cNvPr id="48" name="TextBox 48"/>
            <p:cNvSpPr txBox="1"/>
            <p:nvPr/>
          </p:nvSpPr>
          <p:spPr>
            <a:xfrm>
              <a:off x="4971670" y="5354293"/>
              <a:ext cx="343660"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20%</a:t>
              </a:r>
            </a:p>
          </p:txBody>
        </p:sp>
        <p:sp>
          <p:nvSpPr>
            <p:cNvPr id="49" name="Rectangle 49"/>
            <p:cNvSpPr/>
            <p:nvPr/>
          </p:nvSpPr>
          <p:spPr>
            <a:xfrm>
              <a:off x="5886450" y="3057525"/>
              <a:ext cx="361950" cy="2085975"/>
            </a:xfrm>
            <a:prstGeom prst="roundRect">
              <a:avLst>
                <a:gd name="adj" fmla="val 7895"/>
              </a:avLst>
            </a:prstGeom>
            <a:gradFill>
              <a:gsLst>
                <a:gs pos="0">
                  <a:srgbClr val="D6434A"/>
                </a:gs>
                <a:gs pos="100000">
                  <a:srgbClr val="C8161E"/>
                </a:gs>
              </a:gsLst>
              <a:lin ang="5400000" scaled="1"/>
            </a:gradFill>
            <a:ln>
              <a:noFill/>
            </a:ln>
          </p:spPr>
        </p:sp>
        <p:sp>
          <p:nvSpPr>
            <p:cNvPr id="50" name="TextBox 50"/>
            <p:cNvSpPr txBox="1"/>
            <p:nvPr/>
          </p:nvSpPr>
          <p:spPr>
            <a:xfrm>
              <a:off x="5795116" y="2808632"/>
              <a:ext cx="544618"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12.16</a:t>
              </a:r>
            </a:p>
          </p:txBody>
        </p:sp>
        <p:sp>
          <p:nvSpPr>
            <p:cNvPr id="51" name="Rectangle 51"/>
            <p:cNvSpPr/>
            <p:nvPr/>
          </p:nvSpPr>
          <p:spPr>
            <a:xfrm>
              <a:off x="6324600" y="4219575"/>
              <a:ext cx="361950" cy="923925"/>
            </a:xfrm>
            <a:prstGeom prst="roundRect">
              <a:avLst>
                <a:gd name="adj" fmla="val 7895"/>
              </a:avLst>
            </a:prstGeom>
            <a:gradFill>
              <a:gsLst>
                <a:gs pos="0">
                  <a:srgbClr val="2E5E8C"/>
                </a:gs>
                <a:gs pos="100000">
                  <a:srgbClr val="1F4D78"/>
                </a:gs>
              </a:gsLst>
              <a:lin ang="5400000" scaled="1"/>
            </a:gradFill>
            <a:ln>
              <a:noFill/>
            </a:ln>
          </p:spPr>
        </p:sp>
        <p:sp>
          <p:nvSpPr>
            <p:cNvPr id="52" name="TextBox 52"/>
            <p:cNvSpPr txBox="1"/>
            <p:nvPr/>
          </p:nvSpPr>
          <p:spPr>
            <a:xfrm>
              <a:off x="6238866" y="3970682"/>
              <a:ext cx="533418"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5.37</a:t>
              </a:r>
            </a:p>
          </p:txBody>
        </p:sp>
        <p:sp>
          <p:nvSpPr>
            <p:cNvPr id="53" name="TextBox 53"/>
            <p:cNvSpPr txBox="1"/>
            <p:nvPr/>
          </p:nvSpPr>
          <p:spPr>
            <a:xfrm>
              <a:off x="5732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学术共识度</a:t>
              </a:r>
            </a:p>
          </p:txBody>
        </p:sp>
        <p:sp>
          <p:nvSpPr>
            <p:cNvPr id="54" name="TextBox 54"/>
            <p:cNvSpPr txBox="1"/>
            <p:nvPr/>
          </p:nvSpPr>
          <p:spPr>
            <a:xfrm>
              <a:off x="6138010" y="5354293"/>
              <a:ext cx="296979"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10%</a:t>
              </a:r>
            </a:p>
          </p:txBody>
        </p:sp>
        <p:sp>
          <p:nvSpPr>
            <p:cNvPr id="55" name="Rectangle 55"/>
            <p:cNvSpPr/>
            <p:nvPr/>
          </p:nvSpPr>
          <p:spPr>
            <a:xfrm>
              <a:off x="7029450" y="2857500"/>
              <a:ext cx="361950" cy="2286000"/>
            </a:xfrm>
            <a:prstGeom prst="roundRect">
              <a:avLst>
                <a:gd name="adj" fmla="val 7895"/>
              </a:avLst>
            </a:prstGeom>
            <a:gradFill>
              <a:gsLst>
                <a:gs pos="0">
                  <a:srgbClr val="D6434A"/>
                </a:gs>
                <a:gs pos="100000">
                  <a:srgbClr val="C8161E"/>
                </a:gs>
              </a:gsLst>
              <a:lin ang="5400000" scaled="1"/>
            </a:gradFill>
            <a:ln>
              <a:noFill/>
            </a:ln>
          </p:spPr>
        </p:sp>
        <p:sp>
          <p:nvSpPr>
            <p:cNvPr id="56" name="TextBox 56"/>
            <p:cNvSpPr txBox="1"/>
            <p:nvPr/>
          </p:nvSpPr>
          <p:spPr>
            <a:xfrm>
              <a:off x="6910117" y="2608607"/>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13.33</a:t>
              </a:r>
            </a:p>
          </p:txBody>
        </p:sp>
        <p:sp>
          <p:nvSpPr>
            <p:cNvPr id="57" name="Rectangle 57"/>
            <p:cNvSpPr/>
            <p:nvPr/>
          </p:nvSpPr>
          <p:spPr>
            <a:xfrm>
              <a:off x="7467600" y="4171950"/>
              <a:ext cx="361950" cy="971550"/>
            </a:xfrm>
            <a:prstGeom prst="roundRect">
              <a:avLst>
                <a:gd name="adj" fmla="val 7895"/>
              </a:avLst>
            </a:prstGeom>
            <a:gradFill>
              <a:gsLst>
                <a:gs pos="0">
                  <a:srgbClr val="2E5E8C"/>
                </a:gs>
                <a:gs pos="100000">
                  <a:srgbClr val="1F4D78"/>
                </a:gs>
              </a:gsLst>
              <a:lin ang="5400000" scaled="1"/>
            </a:gradFill>
            <a:ln>
              <a:noFill/>
            </a:ln>
          </p:spPr>
        </p:sp>
        <p:sp>
          <p:nvSpPr>
            <p:cNvPr id="58" name="TextBox 58"/>
            <p:cNvSpPr txBox="1"/>
            <p:nvPr/>
          </p:nvSpPr>
          <p:spPr>
            <a:xfrm>
              <a:off x="7381866" y="3923057"/>
              <a:ext cx="533418"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5.68</a:t>
              </a:r>
            </a:p>
          </p:txBody>
        </p:sp>
        <p:sp>
          <p:nvSpPr>
            <p:cNvPr id="59" name="TextBox 59"/>
            <p:cNvSpPr txBox="1"/>
            <p:nvPr/>
          </p:nvSpPr>
          <p:spPr>
            <a:xfrm>
              <a:off x="6875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前瞻延展性</a:t>
              </a:r>
            </a:p>
          </p:txBody>
        </p:sp>
        <p:sp>
          <p:nvSpPr>
            <p:cNvPr id="60" name="TextBox 60"/>
            <p:cNvSpPr txBox="1"/>
            <p:nvPr/>
          </p:nvSpPr>
          <p:spPr>
            <a:xfrm>
              <a:off x="7309019" y="5354293"/>
              <a:ext cx="240962"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5%</a:t>
              </a:r>
            </a:p>
          </p:txBody>
        </p:sp>
      </p:grpSp>
      <p:grpSp>
        <p:nvGrpSpPr>
          <p:cNvPr id="67" name="Group 67"/>
          <p:cNvGrpSpPr/>
          <p:nvPr/>
        </p:nvGrpSpPr>
        <p:grpSpPr>
          <a:xfrm>
            <a:off x="8458200" y="1428750"/>
            <a:ext cx="3048000" cy="1809750"/>
            <a:chOff x="8458200" y="1428750"/>
            <a:chExt cx="3048000" cy="1809750"/>
          </a:xfrm>
        </p:grpSpPr>
        <p:sp>
          <p:nvSpPr>
            <p:cNvPr id="62" name="Rectangle 62"/>
            <p:cNvSpPr/>
            <p:nvPr/>
          </p:nvSpPr>
          <p:spPr>
            <a:xfrm>
              <a:off x="8458200" y="1428750"/>
              <a:ext cx="3048000" cy="1809750"/>
            </a:xfrm>
            <a:prstGeom prst="roundRect">
              <a:avLst>
                <a:gd name="adj" fmla="val 8421"/>
              </a:avLst>
            </a:prstGeom>
            <a:solidFill>
              <a:srgbClr val="C8161E"/>
            </a:solidFill>
            <a:ln>
              <a:noFill/>
            </a:ln>
          </p:spPr>
        </p:sp>
        <p:sp>
          <p:nvSpPr>
            <p:cNvPr id="63" name="TextBox 63"/>
            <p:cNvSpPr txBox="1"/>
            <p:nvPr/>
          </p:nvSpPr>
          <p:spPr>
            <a:xfrm>
              <a:off x="8666483" y="1637057"/>
              <a:ext cx="1533920"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整体标准差降幅</a:t>
              </a:r>
            </a:p>
          </p:txBody>
        </p:sp>
        <p:sp>
          <p:nvSpPr>
            <p:cNvPr id="64" name="TextBox 64"/>
            <p:cNvSpPr txBox="1"/>
            <p:nvPr/>
          </p:nvSpPr>
          <p:spPr>
            <a:xfrm>
              <a:off x="8580120" y="1969770"/>
              <a:ext cx="2027396" cy="1097280"/>
            </a:xfrm>
            <a:prstGeom prst="rect">
              <a:avLst/>
            </a:prstGeom>
            <a:noFill/>
            <a:ln>
              <a:noFill/>
            </a:ln>
          </p:spPr>
          <p:txBody>
            <a:bodyPr wrap="none" lIns="0" tIns="0" rIns="0" bIns="0" anchor="t" anchorCtr="0">
              <a:spAutoFit/>
            </a:bodyPr>
            <a:lstStyle/>
            <a:p>
              <a:pPr algn="l"/>
              <a:r>
                <a:rPr lang="zh-CN" sz="5400" b="1" dirty="0">
                  <a:solidFill>
                    <a:srgbClr val="FFFFFF"/>
                  </a:solidFill>
                  <a:latin typeface="Arial"/>
                  <a:ea typeface="Microsoft YaHei"/>
                  <a:cs typeface="Arial"/>
                </a:rPr>
                <a:t>51.3</a:t>
              </a:r>
              <a:r>
                <a:rPr lang="zh-CN" sz="3600" b="1" dirty="0">
                  <a:solidFill>
                    <a:srgbClr val="FFFFFF"/>
                  </a:solidFill>
                  <a:latin typeface="Arial"/>
                  <a:ea typeface="Microsoft YaHei"/>
                  <a:cs typeface="Arial"/>
                </a:rPr>
                <a:t>%</a:t>
              </a:r>
            </a:p>
          </p:txBody>
        </p:sp>
        <p:sp>
          <p:nvSpPr>
            <p:cNvPr id="65" name="Line 65"/>
            <p:cNvSpPr/>
            <p:nvPr/>
          </p:nvSpPr>
          <p:spPr>
            <a:xfrm>
              <a:off x="8686800" y="2743200"/>
              <a:ext cx="2590800" cy="9525"/>
            </a:xfrm>
            <a:custGeom>
              <a:avLst/>
              <a:gdLst/>
              <a:ahLst/>
              <a:cxnLst/>
              <a:rect l="l" t="t" r="r" b="b"/>
              <a:pathLst>
                <a:path w="2590800" h="9525">
                  <a:moveTo>
                    <a:pt x="0" y="0"/>
                  </a:moveTo>
                  <a:lnTo>
                    <a:pt x="2590800" y="0"/>
                  </a:lnTo>
                </a:path>
              </a:pathLst>
            </a:custGeom>
            <a:noFill/>
            <a:ln w="9525">
              <a:solidFill>
                <a:srgbClr val="FFFFFF">
                  <a:alpha val="30000"/>
                </a:srgbClr>
              </a:solidFill>
            </a:ln>
          </p:spPr>
        </p:sp>
        <p:sp>
          <p:nvSpPr>
            <p:cNvPr id="66" name="TextBox 66"/>
            <p:cNvSpPr txBox="1"/>
            <p:nvPr/>
          </p:nvSpPr>
          <p:spPr>
            <a:xfrm>
              <a:off x="8663940" y="2853690"/>
              <a:ext cx="2061972" cy="365760"/>
            </a:xfrm>
            <a:prstGeom prst="rect">
              <a:avLst/>
            </a:prstGeom>
            <a:noFill/>
            <a:ln>
              <a:noFill/>
            </a:ln>
          </p:spPr>
          <p:txBody>
            <a:bodyPr wrap="none" lIns="0" tIns="0" rIns="0" bIns="0" anchor="t" anchorCtr="0">
              <a:spAutoFit/>
            </a:bodyPr>
            <a:lstStyle/>
            <a:p>
              <a:pPr algn="l"/>
              <a:r>
                <a:rPr lang="zh-CN" sz="1800" dirty="0">
                  <a:solidFill>
                    <a:srgbClr val="FFFFFF"/>
                  </a:solidFill>
                  <a:latin typeface="Arial"/>
                  <a:ea typeface="Microsoft YaHei"/>
                  <a:cs typeface="Arial"/>
                </a:rPr>
                <a:t xml:space="preserve">R1 </a:t>
              </a:r>
              <a:r>
                <a:rPr lang="zh-CN" sz="1800" b="1" dirty="0">
                  <a:solidFill>
                    <a:srgbClr val="FFFFFF"/>
                  </a:solidFill>
                  <a:latin typeface="Arial"/>
                  <a:ea typeface="Microsoft YaHei"/>
                  <a:cs typeface="Arial"/>
                </a:rPr>
                <a:t>14.87</a:t>
              </a:r>
              <a:r>
                <a:rPr lang="zh-CN" sz="1800" dirty="0">
                  <a:solidFill>
                    <a:srgbClr val="FFFFFF"/>
                  </a:solidFill>
                  <a:latin typeface="Arial"/>
                  <a:ea typeface="Microsoft YaHei"/>
                  <a:cs typeface="Arial"/>
                </a:rPr>
                <a:t xml:space="preserve"> → R2 </a:t>
              </a:r>
              <a:r>
                <a:rPr lang="zh-CN" sz="1800" b="1" dirty="0">
                  <a:solidFill>
                    <a:srgbClr val="FFFFFF"/>
                  </a:solidFill>
                  <a:latin typeface="Arial"/>
                  <a:ea typeface="Microsoft YaHei"/>
                  <a:cs typeface="Arial"/>
                </a:rPr>
                <a:t>7.24</a:t>
              </a:r>
            </a:p>
          </p:txBody>
        </p:sp>
      </p:grpSp>
      <p:grpSp>
        <p:nvGrpSpPr>
          <p:cNvPr id="74" name="Group 74"/>
          <p:cNvGrpSpPr/>
          <p:nvPr/>
        </p:nvGrpSpPr>
        <p:grpSpPr>
          <a:xfrm>
            <a:off x="8458200" y="3429000"/>
            <a:ext cx="3048000" cy="933450"/>
            <a:chOff x="8458200" y="3429000"/>
            <a:chExt cx="3048000" cy="933450"/>
          </a:xfrm>
        </p:grpSpPr>
        <p:sp>
          <p:nvSpPr>
            <p:cNvPr id="68" name="Rectangle 68"/>
            <p:cNvSpPr/>
            <p:nvPr/>
          </p:nvSpPr>
          <p:spPr>
            <a:xfrm>
              <a:off x="8458200" y="3429000"/>
              <a:ext cx="3048000" cy="876300"/>
            </a:xfrm>
            <a:prstGeom prst="roundRect">
              <a:avLst>
                <a:gd name="adj" fmla="val 13043"/>
              </a:avLst>
            </a:prstGeom>
            <a:solidFill>
              <a:srgbClr val="FFFFFF"/>
            </a:solidFill>
            <a:ln w="14288">
              <a:solidFill>
                <a:srgbClr val="D9DEE5"/>
              </a:solidFill>
            </a:ln>
          </p:spPr>
        </p:sp>
        <p:grpSp>
          <p:nvGrpSpPr>
            <p:cNvPr id="71" name="Group 71"/>
            <p:cNvGrpSpPr/>
            <p:nvPr/>
          </p:nvGrpSpPr>
          <p:grpSpPr>
            <a:xfrm>
              <a:off x="8693944" y="3702844"/>
              <a:ext cx="271462" cy="271462"/>
              <a:chOff x="8693944" y="3702844"/>
              <a:chExt cx="271462" cy="271462"/>
            </a:xfrm>
          </p:grpSpPr>
          <p:sp>
            <p:nvSpPr>
              <p:cNvPr id="69" name="Freeform 69"/>
              <p:cNvSpPr/>
              <p:nvPr/>
            </p:nvSpPr>
            <p:spPr>
              <a:xfrm>
                <a:off x="8693944" y="3702844"/>
                <a:ext cx="271462" cy="271462"/>
              </a:xfrm>
              <a:custGeom>
                <a:avLst/>
                <a:gdLst/>
                <a:ahLst/>
                <a:cxnLst/>
                <a:rect l="l" t="t" r="r" b="b"/>
                <a:pathLst>
                  <a:path w="271462" h="271462">
                    <a:moveTo>
                      <a:pt x="0" y="135731"/>
                    </a:moveTo>
                    <a:cubicBezTo>
                      <a:pt x="0" y="210694"/>
                      <a:pt x="60769" y="271462"/>
                      <a:pt x="135731" y="271462"/>
                    </a:cubicBezTo>
                    <a:cubicBezTo>
                      <a:pt x="210694" y="271462"/>
                      <a:pt x="271462" y="210694"/>
                      <a:pt x="271462" y="135731"/>
                    </a:cubicBezTo>
                    <a:cubicBezTo>
                      <a:pt x="271462" y="60769"/>
                      <a:pt x="210694" y="0"/>
                      <a:pt x="135731" y="0"/>
                    </a:cubicBezTo>
                    <a:cubicBezTo>
                      <a:pt x="60769" y="0"/>
                      <a:pt x="0" y="60769"/>
                      <a:pt x="0" y="135731"/>
                    </a:cubicBezTo>
                  </a:path>
                </a:pathLst>
              </a:custGeom>
              <a:noFill/>
              <a:ln w="19050">
                <a:solidFill>
                  <a:srgbClr val="2E7D32"/>
                </a:solidFill>
              </a:ln>
            </p:spPr>
          </p:sp>
          <p:sp>
            <p:nvSpPr>
              <p:cNvPr id="70" name="Freeform 70"/>
              <p:cNvSpPr/>
              <p:nvPr/>
            </p:nvSpPr>
            <p:spPr>
              <a:xfrm>
                <a:off x="8784431" y="3808412"/>
                <a:ext cx="90488" cy="60325"/>
              </a:xfrm>
              <a:custGeom>
                <a:avLst/>
                <a:gdLst/>
                <a:ahLst/>
                <a:cxnLst/>
                <a:rect l="l" t="t" r="r" b="b"/>
                <a:pathLst>
                  <a:path w="90488" h="60325">
                    <a:moveTo>
                      <a:pt x="0" y="30163"/>
                    </a:moveTo>
                    <a:lnTo>
                      <a:pt x="30162" y="60325"/>
                    </a:lnTo>
                    <a:lnTo>
                      <a:pt x="90488" y="0"/>
                    </a:lnTo>
                  </a:path>
                </a:pathLst>
              </a:custGeom>
              <a:noFill/>
              <a:ln w="19050">
                <a:solidFill>
                  <a:srgbClr val="2E7D32"/>
                </a:solidFill>
              </a:ln>
            </p:spPr>
          </p:sp>
        </p:grpSp>
        <p:sp>
          <p:nvSpPr>
            <p:cNvPr id="72" name="TextBox 72"/>
            <p:cNvSpPr txBox="1"/>
            <p:nvPr/>
          </p:nvSpPr>
          <p:spPr>
            <a:xfrm>
              <a:off x="9127493" y="3631592"/>
              <a:ext cx="1610241" cy="264109"/>
            </a:xfrm>
            <a:prstGeom prst="rect">
              <a:avLst/>
            </a:prstGeom>
            <a:noFill/>
            <a:ln>
              <a:noFill/>
            </a:ln>
          </p:spPr>
          <p:txBody>
            <a:bodyPr wrap="none" lIns="0" tIns="0" rIns="0" bIns="0" anchor="t" anchorCtr="0">
              <a:spAutoFit/>
            </a:bodyPr>
            <a:lstStyle/>
            <a:p>
              <a:pPr algn="l"/>
              <a:r>
                <a:rPr lang="zh-CN" sz="1300" dirty="0">
                  <a:solidFill>
                    <a:srgbClr val="5A6472"/>
                  </a:solidFill>
                  <a:latin typeface="Arial"/>
                  <a:ea typeface="Microsoft YaHei"/>
                  <a:cs typeface="Arial"/>
                </a:rPr>
                <a:t>逻辑连贯性R2收敛率</a:t>
              </a:r>
            </a:p>
          </p:txBody>
        </p:sp>
        <p:sp>
          <p:nvSpPr>
            <p:cNvPr id="73" name="TextBox 73"/>
            <p:cNvSpPr txBox="1"/>
            <p:nvPr/>
          </p:nvSpPr>
          <p:spPr>
            <a:xfrm>
              <a:off x="9113520" y="3874770"/>
              <a:ext cx="1657160" cy="487680"/>
            </a:xfrm>
            <a:prstGeom prst="rect">
              <a:avLst/>
            </a:prstGeom>
            <a:noFill/>
            <a:ln>
              <a:noFill/>
            </a:ln>
          </p:spPr>
          <p:txBody>
            <a:bodyPr wrap="none" lIns="0" tIns="0" rIns="0" bIns="0" anchor="t" anchorCtr="0">
              <a:spAutoFit/>
            </a:bodyPr>
            <a:lstStyle/>
            <a:p>
              <a:pPr algn="l"/>
              <a:r>
                <a:rPr lang="zh-CN" sz="2400" b="1" dirty="0">
                  <a:solidFill>
                    <a:srgbClr val="2E7D32"/>
                  </a:solidFill>
                  <a:latin typeface="Arial"/>
                  <a:ea typeface="Microsoft YaHei"/>
                  <a:cs typeface="Arial"/>
                </a:rPr>
                <a:t>93.2</a:t>
              </a:r>
              <a:r>
                <a:rPr lang="zh-CN" sz="1400" b="1" dirty="0">
                  <a:solidFill>
                    <a:srgbClr val="2E7D32"/>
                  </a:solidFill>
                  <a:latin typeface="Arial"/>
                  <a:ea typeface="Microsoft YaHei"/>
                  <a:cs typeface="Arial"/>
                </a:rPr>
                <a:t>%</a:t>
              </a:r>
              <a:r>
                <a:rPr lang="zh-CN" sz="1200" dirty="0">
                  <a:solidFill>
                    <a:srgbClr val="9AA3AE"/>
                  </a:solidFill>
                  <a:latin typeface="Arial"/>
                  <a:ea typeface="Microsoft YaHei"/>
                  <a:cs typeface="Arial"/>
                </a:rPr>
                <a:t>最高</a:t>
              </a:r>
            </a:p>
          </p:txBody>
        </p:sp>
      </p:grpSp>
      <p:grpSp>
        <p:nvGrpSpPr>
          <p:cNvPr id="84" name="Group 84"/>
          <p:cNvGrpSpPr/>
          <p:nvPr/>
        </p:nvGrpSpPr>
        <p:grpSpPr>
          <a:xfrm>
            <a:off x="8458200" y="4419600"/>
            <a:ext cx="3048000" cy="1028700"/>
            <a:chOff x="8458200" y="4419600"/>
            <a:chExt cx="3048000" cy="1028700"/>
          </a:xfrm>
        </p:grpSpPr>
        <p:sp>
          <p:nvSpPr>
            <p:cNvPr id="75" name="Rectangle 75"/>
            <p:cNvSpPr/>
            <p:nvPr/>
          </p:nvSpPr>
          <p:spPr>
            <a:xfrm>
              <a:off x="8458200" y="4419600"/>
              <a:ext cx="3048000" cy="1028700"/>
            </a:xfrm>
            <a:prstGeom prst="roundRect">
              <a:avLst>
                <a:gd name="adj" fmla="val 11111"/>
              </a:avLst>
            </a:prstGeom>
            <a:solidFill>
              <a:srgbClr val="FFFFFF"/>
            </a:solidFill>
            <a:ln w="14288">
              <a:solidFill>
                <a:srgbClr val="D9DEE5"/>
              </a:solidFill>
            </a:ln>
          </p:spPr>
        </p:sp>
        <p:grpSp>
          <p:nvGrpSpPr>
            <p:cNvPr id="80" name="Group 80"/>
            <p:cNvGrpSpPr/>
            <p:nvPr/>
          </p:nvGrpSpPr>
          <p:grpSpPr>
            <a:xfrm>
              <a:off x="8693944" y="4689475"/>
              <a:ext cx="271463" cy="250825"/>
              <a:chOff x="8693944" y="4689475"/>
              <a:chExt cx="271463" cy="250825"/>
            </a:xfrm>
          </p:grpSpPr>
          <p:sp>
            <p:nvSpPr>
              <p:cNvPr id="76" name="Freeform 76"/>
              <p:cNvSpPr/>
              <p:nvPr/>
            </p:nvSpPr>
            <p:spPr>
              <a:xfrm>
                <a:off x="8693944" y="4810125"/>
                <a:ext cx="90488" cy="120650"/>
              </a:xfrm>
              <a:custGeom>
                <a:avLst/>
                <a:gdLst/>
                <a:ahLst/>
                <a:cxnLst/>
                <a:rect l="l" t="t" r="r" b="b"/>
                <a:pathLst>
                  <a:path w="90488" h="120650">
                    <a:moveTo>
                      <a:pt x="0" y="15081"/>
                    </a:moveTo>
                    <a:cubicBezTo>
                      <a:pt x="0" y="6752"/>
                      <a:pt x="6752" y="0"/>
                      <a:pt x="15081" y="0"/>
                    </a:cubicBezTo>
                    <a:lnTo>
                      <a:pt x="75406" y="0"/>
                    </a:lnTo>
                    <a:cubicBezTo>
                      <a:pt x="83735" y="0"/>
                      <a:pt x="90488" y="6752"/>
                      <a:pt x="90488" y="15081"/>
                    </a:cubicBezTo>
                    <a:lnTo>
                      <a:pt x="90488" y="105569"/>
                    </a:lnTo>
                    <a:cubicBezTo>
                      <a:pt x="90488" y="113898"/>
                      <a:pt x="83735" y="120650"/>
                      <a:pt x="75406" y="120650"/>
                    </a:cubicBezTo>
                    <a:lnTo>
                      <a:pt x="15081" y="120650"/>
                    </a:lnTo>
                    <a:cubicBezTo>
                      <a:pt x="6752" y="120650"/>
                      <a:pt x="0" y="113898"/>
                      <a:pt x="0" y="105569"/>
                    </a:cubicBezTo>
                    <a:lnTo>
                      <a:pt x="0" y="15081"/>
                    </a:lnTo>
                  </a:path>
                </a:pathLst>
              </a:custGeom>
              <a:noFill/>
              <a:ln w="19050">
                <a:solidFill>
                  <a:srgbClr val="E07B00"/>
                </a:solidFill>
              </a:ln>
            </p:spPr>
          </p:sp>
          <p:sp>
            <p:nvSpPr>
              <p:cNvPr id="77" name="Freeform 77"/>
              <p:cNvSpPr/>
              <p:nvPr/>
            </p:nvSpPr>
            <p:spPr>
              <a:xfrm>
                <a:off x="8874919" y="4749800"/>
                <a:ext cx="90488" cy="180975"/>
              </a:xfrm>
              <a:custGeom>
                <a:avLst/>
                <a:gdLst/>
                <a:ahLst/>
                <a:cxnLst/>
                <a:rect l="l" t="t" r="r" b="b"/>
                <a:pathLst>
                  <a:path w="90488" h="180975">
                    <a:moveTo>
                      <a:pt x="0" y="15081"/>
                    </a:moveTo>
                    <a:cubicBezTo>
                      <a:pt x="0" y="6752"/>
                      <a:pt x="6752" y="0"/>
                      <a:pt x="15081" y="0"/>
                    </a:cubicBezTo>
                    <a:lnTo>
                      <a:pt x="75406" y="0"/>
                    </a:lnTo>
                    <a:cubicBezTo>
                      <a:pt x="83735" y="0"/>
                      <a:pt x="90488" y="6752"/>
                      <a:pt x="90488" y="15081"/>
                    </a:cubicBezTo>
                    <a:lnTo>
                      <a:pt x="90488" y="165894"/>
                    </a:lnTo>
                    <a:cubicBezTo>
                      <a:pt x="90488" y="174223"/>
                      <a:pt x="83735" y="180975"/>
                      <a:pt x="75406" y="180975"/>
                    </a:cubicBezTo>
                    <a:lnTo>
                      <a:pt x="15081" y="180975"/>
                    </a:lnTo>
                    <a:cubicBezTo>
                      <a:pt x="6752" y="180975"/>
                      <a:pt x="0" y="174223"/>
                      <a:pt x="0" y="165894"/>
                    </a:cubicBezTo>
                    <a:lnTo>
                      <a:pt x="0" y="15081"/>
                    </a:lnTo>
                  </a:path>
                </a:pathLst>
              </a:custGeom>
              <a:noFill/>
              <a:ln w="19050">
                <a:solidFill>
                  <a:srgbClr val="E07B00"/>
                </a:solidFill>
              </a:ln>
            </p:spPr>
          </p:sp>
          <p:sp>
            <p:nvSpPr>
              <p:cNvPr id="78" name="Freeform 78"/>
              <p:cNvSpPr/>
              <p:nvPr/>
            </p:nvSpPr>
            <p:spPr>
              <a:xfrm>
                <a:off x="8784431" y="4689475"/>
                <a:ext cx="90488" cy="241300"/>
              </a:xfrm>
              <a:custGeom>
                <a:avLst/>
                <a:gdLst/>
                <a:ahLst/>
                <a:cxnLst/>
                <a:rect l="l" t="t" r="r" b="b"/>
                <a:pathLst>
                  <a:path w="90488" h="241300">
                    <a:moveTo>
                      <a:pt x="0" y="15081"/>
                    </a:moveTo>
                    <a:cubicBezTo>
                      <a:pt x="0" y="6752"/>
                      <a:pt x="6752" y="0"/>
                      <a:pt x="15081" y="0"/>
                    </a:cubicBezTo>
                    <a:lnTo>
                      <a:pt x="75406" y="0"/>
                    </a:lnTo>
                    <a:cubicBezTo>
                      <a:pt x="83735" y="0"/>
                      <a:pt x="90488" y="6752"/>
                      <a:pt x="90488" y="15081"/>
                    </a:cubicBezTo>
                    <a:lnTo>
                      <a:pt x="90488" y="226219"/>
                    </a:lnTo>
                    <a:cubicBezTo>
                      <a:pt x="90488" y="234548"/>
                      <a:pt x="83735" y="241300"/>
                      <a:pt x="75406" y="241300"/>
                    </a:cubicBezTo>
                    <a:lnTo>
                      <a:pt x="15081" y="241300"/>
                    </a:lnTo>
                    <a:cubicBezTo>
                      <a:pt x="6752" y="241300"/>
                      <a:pt x="0" y="234548"/>
                      <a:pt x="0" y="226219"/>
                    </a:cubicBezTo>
                    <a:lnTo>
                      <a:pt x="0" y="15081"/>
                    </a:lnTo>
                  </a:path>
                </a:pathLst>
              </a:custGeom>
              <a:noFill/>
              <a:ln w="19050">
                <a:solidFill>
                  <a:srgbClr val="E07B00"/>
                </a:solidFill>
              </a:ln>
            </p:spPr>
          </p:sp>
          <p:sp>
            <p:nvSpPr>
              <p:cNvPr id="79" name="Freeform 79"/>
              <p:cNvSpPr/>
              <p:nvPr/>
            </p:nvSpPr>
            <p:spPr>
              <a:xfrm>
                <a:off x="8709025" y="4930775"/>
                <a:ext cx="211137" cy="9525"/>
              </a:xfrm>
              <a:custGeom>
                <a:avLst/>
                <a:gdLst/>
                <a:ahLst/>
                <a:cxnLst/>
                <a:rect l="l" t="t" r="r" b="b"/>
                <a:pathLst>
                  <a:path w="211137" h="9525">
                    <a:moveTo>
                      <a:pt x="0" y="0"/>
                    </a:moveTo>
                    <a:lnTo>
                      <a:pt x="211137" y="0"/>
                    </a:lnTo>
                  </a:path>
                </a:pathLst>
              </a:custGeom>
              <a:noFill/>
              <a:ln w="19050">
                <a:solidFill>
                  <a:srgbClr val="E07B00"/>
                </a:solidFill>
              </a:ln>
            </p:spPr>
          </p:sp>
        </p:grpSp>
        <p:sp>
          <p:nvSpPr>
            <p:cNvPr id="81" name="TextBox 81"/>
            <p:cNvSpPr txBox="1"/>
            <p:nvPr/>
          </p:nvSpPr>
          <p:spPr>
            <a:xfrm>
              <a:off x="9127493" y="4603142"/>
              <a:ext cx="1610241" cy="264109"/>
            </a:xfrm>
            <a:prstGeom prst="rect">
              <a:avLst/>
            </a:prstGeom>
            <a:noFill/>
            <a:ln>
              <a:noFill/>
            </a:ln>
          </p:spPr>
          <p:txBody>
            <a:bodyPr wrap="none" lIns="0" tIns="0" rIns="0" bIns="0" anchor="t" anchorCtr="0">
              <a:spAutoFit/>
            </a:bodyPr>
            <a:lstStyle/>
            <a:p>
              <a:pPr algn="l"/>
              <a:r>
                <a:rPr lang="zh-CN" sz="1300" dirty="0">
                  <a:solidFill>
                    <a:srgbClr val="5A6472"/>
                  </a:solidFill>
                  <a:latin typeface="Arial"/>
                  <a:ea typeface="Microsoft YaHei"/>
                  <a:cs typeface="Arial"/>
                </a:rPr>
                <a:t>研究创新性R2收敛率</a:t>
              </a:r>
            </a:p>
          </p:txBody>
        </p:sp>
        <p:sp>
          <p:nvSpPr>
            <p:cNvPr id="82" name="TextBox 82"/>
            <p:cNvSpPr txBox="1"/>
            <p:nvPr/>
          </p:nvSpPr>
          <p:spPr>
            <a:xfrm>
              <a:off x="9113520" y="4846320"/>
              <a:ext cx="985076" cy="487680"/>
            </a:xfrm>
            <a:prstGeom prst="rect">
              <a:avLst/>
            </a:prstGeom>
            <a:noFill/>
            <a:ln>
              <a:noFill/>
            </a:ln>
          </p:spPr>
          <p:txBody>
            <a:bodyPr wrap="none" lIns="0" tIns="0" rIns="0" bIns="0" anchor="t" anchorCtr="0">
              <a:spAutoFit/>
            </a:bodyPr>
            <a:lstStyle/>
            <a:p>
              <a:pPr algn="l"/>
              <a:r>
                <a:rPr lang="zh-CN" sz="2400" b="1" dirty="0">
                  <a:solidFill>
                    <a:srgbClr val="E07B00"/>
                  </a:solidFill>
                  <a:latin typeface="Arial"/>
                  <a:ea typeface="Microsoft YaHei"/>
                  <a:cs typeface="Arial"/>
                </a:rPr>
                <a:t>44.8</a:t>
              </a:r>
              <a:r>
                <a:rPr lang="zh-CN" sz="1400" b="1" dirty="0">
                  <a:solidFill>
                    <a:srgbClr val="E07B00"/>
                  </a:solidFill>
                  <a:latin typeface="Arial"/>
                  <a:ea typeface="Microsoft YaHei"/>
                  <a:cs typeface="Arial"/>
                </a:rPr>
                <a:t>%</a:t>
              </a:r>
            </a:p>
          </p:txBody>
        </p:sp>
        <p:sp>
          <p:nvSpPr>
            <p:cNvPr id="83" name="TextBox 83"/>
            <p:cNvSpPr txBox="1"/>
            <p:nvPr/>
          </p:nvSpPr>
          <p:spPr>
            <a:xfrm>
              <a:off x="9128760" y="5204460"/>
              <a:ext cx="1494663"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最低 · 真实学术分歧</a:t>
              </a:r>
            </a:p>
          </p:txBody>
        </p:sp>
      </p:grpSp>
      <p:grpSp>
        <p:nvGrpSpPr>
          <p:cNvPr id="88" name="Group 88"/>
          <p:cNvGrpSpPr/>
          <p:nvPr/>
        </p:nvGrpSpPr>
        <p:grpSpPr>
          <a:xfrm>
            <a:off x="0" y="6516343"/>
            <a:ext cx="12192000" cy="341657"/>
            <a:chOff x="0" y="6516343"/>
            <a:chExt cx="12192000" cy="341657"/>
          </a:xfrm>
        </p:grpSpPr>
        <p:sp>
          <p:nvSpPr>
            <p:cNvPr id="85" name="Rectangle 8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86" name="TextBox 86"/>
            <p:cNvSpPr txBox="1"/>
            <p:nvPr/>
          </p:nvSpPr>
          <p:spPr>
            <a:xfrm>
              <a:off x="668017" y="6516343"/>
              <a:ext cx="489037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数据来源：results/fullevaluation/round2 全量评审统计</a:t>
              </a:r>
            </a:p>
          </p:txBody>
        </p:sp>
        <p:sp>
          <p:nvSpPr>
            <p:cNvPr id="87" name="TextBox 87"/>
            <p:cNvSpPr txBox="1"/>
            <p:nvPr/>
          </p:nvSpPr>
          <p:spPr>
            <a:xfrm>
              <a:off x="11297917" y="6516343"/>
              <a:ext cx="194281"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18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wipe(left)">
                                      <p:cBhvr>
                                        <p:cTn id="11" dur="400"/>
                                        <p:tgtEl>
                                          <p:spTgt spid="61"/>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box(in)">
                                      <p:cBhvr>
                                        <p:cTn id="15" dur="400"/>
                                        <p:tgtEl>
                                          <p:spTgt spid="6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400"/>
                                        <p:tgtEl>
                                          <p:spTgt spid="74"/>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1" grpId="0"/>
      <p:bldP spid="67" grpId="0"/>
      <p:bldP spid="74" grpId="0"/>
      <p:bldP spid="8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6249653"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Top 30 最终排名（三次评测中位数）</a:t>
            </a:r>
          </a:p>
        </p:txBody>
      </p:sp>
      <p:sp>
        <p:nvSpPr>
          <p:cNvPr id="7" name="Rectangle 7"/>
          <p:cNvSpPr/>
          <p:nvPr/>
        </p:nvSpPr>
        <p:spPr>
          <a:xfrm>
            <a:off x="609600" y="1714500"/>
            <a:ext cx="10972800" cy="571500"/>
          </a:xfrm>
          <a:prstGeom prst="roundRect">
            <a:avLst>
              <a:gd name="adj" fmla="val 13333"/>
            </a:avLst>
          </a:prstGeom>
          <a:solidFill>
            <a:srgbClr val="F4F5F7"/>
          </a:solidFill>
          <a:ln>
            <a:noFill/>
          </a:ln>
        </p:spPr>
      </p:sp>
      <p:sp>
        <p:nvSpPr>
          <p:cNvPr id="8" name="TextBox 8"/>
          <p:cNvSpPr txBox="1"/>
          <p:nvPr/>
        </p:nvSpPr>
        <p:spPr>
          <a:xfrm>
            <a:off x="2536508" y="1933575"/>
            <a:ext cx="711898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计分方式：不稳定维度取三次 R2 均分的中位数，稳定维度取两次 R2 均分的均值</a:t>
            </a:r>
          </a:p>
        </p:txBody>
      </p:sp>
      <p:sp>
        <p:nvSpPr>
          <p:cNvPr id="9" name="TextBox 9"/>
          <p:cNvSpPr txBox="1"/>
          <p:nvPr/>
        </p:nvSpPr>
        <p:spPr>
          <a:xfrm>
            <a:off x="586740" y="2377440"/>
            <a:ext cx="1835144"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Top 10 最终排名</a:t>
            </a:r>
          </a:p>
        </p:txBody>
      </p:sp>
      <p:grpSp>
        <p:nvGrpSpPr>
          <p:cNvPr id="76" name="Group 76"/>
          <p:cNvGrpSpPr/>
          <p:nvPr/>
        </p:nvGrpSpPr>
        <p:grpSpPr>
          <a:xfrm>
            <a:off x="609600" y="2714625"/>
            <a:ext cx="10972800" cy="3212306"/>
            <a:chOff x="609600" y="2714625"/>
            <a:chExt cx="10972800" cy="3212306"/>
          </a:xfrm>
        </p:grpSpPr>
        <p:sp>
          <p:nvSpPr>
            <p:cNvPr id="10" name="Rectangle 10"/>
            <p:cNvSpPr/>
            <p:nvPr/>
          </p:nvSpPr>
          <p:spPr>
            <a:xfrm>
              <a:off x="609600" y="2714625"/>
              <a:ext cx="10972800" cy="333375"/>
            </a:xfrm>
            <a:prstGeom prst="roundRect">
              <a:avLst>
                <a:gd name="adj" fmla="val 22857"/>
              </a:avLst>
            </a:prstGeom>
            <a:solidFill>
              <a:srgbClr val="1F4D78"/>
            </a:solidFill>
            <a:ln>
              <a:noFill/>
            </a:ln>
          </p:spPr>
        </p:sp>
        <p:sp>
          <p:nvSpPr>
            <p:cNvPr id="11" name="TextBox 11"/>
            <p:cNvSpPr txBox="1"/>
            <p:nvPr/>
          </p:nvSpPr>
          <p:spPr>
            <a:xfrm>
              <a:off x="891054" y="280416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t>
              </a:r>
            </a:p>
          </p:txBody>
        </p:sp>
        <p:sp>
          <p:nvSpPr>
            <p:cNvPr id="12" name="TextBox 12"/>
            <p:cNvSpPr txBox="1"/>
            <p:nvPr/>
          </p:nvSpPr>
          <p:spPr>
            <a:xfrm>
              <a:off x="4388739" y="2804160"/>
              <a:ext cx="36652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论文</a:t>
              </a:r>
            </a:p>
          </p:txBody>
        </p:sp>
        <p:sp>
          <p:nvSpPr>
            <p:cNvPr id="13" name="TextBox 13"/>
            <p:cNvSpPr txBox="1"/>
            <p:nvPr/>
          </p:nvSpPr>
          <p:spPr>
            <a:xfrm>
              <a:off x="8389239" y="2804160"/>
              <a:ext cx="36652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刊物</a:t>
              </a:r>
            </a:p>
          </p:txBody>
        </p:sp>
        <p:sp>
          <p:nvSpPr>
            <p:cNvPr id="14" name="TextBox 14"/>
            <p:cNvSpPr txBox="1"/>
            <p:nvPr/>
          </p:nvSpPr>
          <p:spPr>
            <a:xfrm>
              <a:off x="9817989" y="2804160"/>
              <a:ext cx="36652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总分</a:t>
              </a:r>
            </a:p>
          </p:txBody>
        </p:sp>
        <p:sp>
          <p:nvSpPr>
            <p:cNvPr id="15" name="TextBox 15"/>
            <p:cNvSpPr txBox="1"/>
            <p:nvPr/>
          </p:nvSpPr>
          <p:spPr>
            <a:xfrm>
              <a:off x="11036598" y="280416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Δ3</a:t>
              </a:r>
            </a:p>
          </p:txBody>
        </p:sp>
        <p:sp>
          <p:nvSpPr>
            <p:cNvPr id="16" name="Rectangle 16"/>
            <p:cNvSpPr/>
            <p:nvPr/>
          </p:nvSpPr>
          <p:spPr>
            <a:xfrm>
              <a:off x="609600" y="3048000"/>
              <a:ext cx="10972800" cy="304800"/>
            </a:xfrm>
            <a:prstGeom prst="rect">
              <a:avLst/>
            </a:prstGeom>
            <a:solidFill>
              <a:srgbClr val="FFF8F0"/>
            </a:solidFill>
            <a:ln>
              <a:noFill/>
            </a:ln>
          </p:spPr>
        </p:sp>
        <p:sp>
          <p:nvSpPr>
            <p:cNvPr id="17" name="TextBox 17"/>
            <p:cNvSpPr txBox="1"/>
            <p:nvPr/>
          </p:nvSpPr>
          <p:spPr>
            <a:xfrm>
              <a:off x="912057" y="3118485"/>
              <a:ext cx="80886"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1</a:t>
              </a:r>
            </a:p>
          </p:txBody>
        </p:sp>
        <p:sp>
          <p:nvSpPr>
            <p:cNvPr id="18" name="TextBox 18"/>
            <p:cNvSpPr txBox="1"/>
            <p:nvPr/>
          </p:nvSpPr>
          <p:spPr>
            <a:xfrm>
              <a:off x="1890712" y="3126581"/>
              <a:ext cx="27289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公司决议瑕疵立法的范式转换与体系重构</a:t>
              </a:r>
            </a:p>
          </p:txBody>
        </p:sp>
        <p:sp>
          <p:nvSpPr>
            <p:cNvPr id="19" name="TextBox 19"/>
            <p:cNvSpPr txBox="1"/>
            <p:nvPr/>
          </p:nvSpPr>
          <p:spPr>
            <a:xfrm>
              <a:off x="8258175" y="3126581"/>
              <a:ext cx="628650"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法学研究</a:t>
              </a:r>
            </a:p>
          </p:txBody>
        </p:sp>
        <p:sp>
          <p:nvSpPr>
            <p:cNvPr id="20" name="TextBox 20"/>
            <p:cNvSpPr txBox="1"/>
            <p:nvPr/>
          </p:nvSpPr>
          <p:spPr>
            <a:xfrm>
              <a:off x="9754981" y="3118485"/>
              <a:ext cx="492538"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88.53</a:t>
              </a:r>
            </a:p>
          </p:txBody>
        </p:sp>
        <p:sp>
          <p:nvSpPr>
            <p:cNvPr id="21" name="TextBox 21"/>
            <p:cNvSpPr txBox="1"/>
            <p:nvPr/>
          </p:nvSpPr>
          <p:spPr>
            <a:xfrm>
              <a:off x="11088707" y="3126581"/>
              <a:ext cx="111085"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a:t>
              </a:r>
            </a:p>
          </p:txBody>
        </p:sp>
        <p:sp>
          <p:nvSpPr>
            <p:cNvPr id="22" name="Rectangle 22"/>
            <p:cNvSpPr/>
            <p:nvPr/>
          </p:nvSpPr>
          <p:spPr>
            <a:xfrm>
              <a:off x="609600" y="3352800"/>
              <a:ext cx="10972800" cy="304800"/>
            </a:xfrm>
            <a:prstGeom prst="rect">
              <a:avLst/>
            </a:prstGeom>
            <a:solidFill>
              <a:srgbClr val="E8F5E9"/>
            </a:solidFill>
            <a:ln>
              <a:noFill/>
            </a:ln>
          </p:spPr>
        </p:sp>
        <p:sp>
          <p:nvSpPr>
            <p:cNvPr id="23" name="TextBox 23"/>
            <p:cNvSpPr txBox="1"/>
            <p:nvPr/>
          </p:nvSpPr>
          <p:spPr>
            <a:xfrm>
              <a:off x="891054" y="3423285"/>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2</a:t>
              </a:r>
            </a:p>
          </p:txBody>
        </p:sp>
        <p:sp>
          <p:nvSpPr>
            <p:cNvPr id="24" name="TextBox 24"/>
            <p:cNvSpPr txBox="1"/>
            <p:nvPr/>
          </p:nvSpPr>
          <p:spPr>
            <a:xfrm>
              <a:off x="1890712" y="3431381"/>
              <a:ext cx="152876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法益修复与功能违法论</a:t>
              </a:r>
            </a:p>
          </p:txBody>
        </p:sp>
        <p:sp>
          <p:nvSpPr>
            <p:cNvPr id="25" name="TextBox 25"/>
            <p:cNvSpPr txBox="1"/>
            <p:nvPr/>
          </p:nvSpPr>
          <p:spPr>
            <a:xfrm>
              <a:off x="8108156" y="3431381"/>
              <a:ext cx="928688"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中国社会科学</a:t>
              </a:r>
            </a:p>
          </p:txBody>
        </p:sp>
        <p:sp>
          <p:nvSpPr>
            <p:cNvPr id="26" name="TextBox 26"/>
            <p:cNvSpPr txBox="1"/>
            <p:nvPr/>
          </p:nvSpPr>
          <p:spPr>
            <a:xfrm>
              <a:off x="9775984" y="3423285"/>
              <a:ext cx="450533"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88.13</a:t>
              </a:r>
            </a:p>
          </p:txBody>
        </p:sp>
        <p:sp>
          <p:nvSpPr>
            <p:cNvPr id="27" name="TextBox 27"/>
            <p:cNvSpPr txBox="1"/>
            <p:nvPr/>
          </p:nvSpPr>
          <p:spPr>
            <a:xfrm>
              <a:off x="10942439" y="3431381"/>
              <a:ext cx="403622" cy="228600"/>
            </a:xfrm>
            <a:prstGeom prst="rect">
              <a:avLst/>
            </a:prstGeom>
            <a:noFill/>
            <a:ln>
              <a:noFill/>
            </a:ln>
          </p:spPr>
          <p:txBody>
            <a:bodyPr wrap="none" lIns="0" tIns="0" rIns="0" bIns="0" anchor="t" anchorCtr="0">
              <a:spAutoFit/>
            </a:bodyPr>
            <a:lstStyle/>
            <a:p>
              <a:pPr algn="ctr"/>
              <a:r>
                <a:rPr lang="zh-CN" sz="1125" dirty="0">
                  <a:solidFill>
                    <a:srgbClr val="2E7D32"/>
                  </a:solidFill>
                  <a:latin typeface="Arial"/>
                  <a:ea typeface="Microsoft YaHei"/>
                  <a:cs typeface="Arial"/>
                </a:rPr>
                <a:t>+1.02</a:t>
              </a:r>
            </a:p>
          </p:txBody>
        </p:sp>
        <p:sp>
          <p:nvSpPr>
            <p:cNvPr id="28" name="Rectangle 28"/>
            <p:cNvSpPr/>
            <p:nvPr/>
          </p:nvSpPr>
          <p:spPr>
            <a:xfrm>
              <a:off x="609600" y="3657600"/>
              <a:ext cx="10972800" cy="304800"/>
            </a:xfrm>
            <a:prstGeom prst="rect">
              <a:avLst/>
            </a:prstGeom>
            <a:solidFill>
              <a:srgbClr val="FFFFFF"/>
            </a:solidFill>
            <a:ln>
              <a:noFill/>
            </a:ln>
          </p:spPr>
        </p:sp>
        <p:sp>
          <p:nvSpPr>
            <p:cNvPr id="29" name="TextBox 29"/>
            <p:cNvSpPr txBox="1"/>
            <p:nvPr/>
          </p:nvSpPr>
          <p:spPr>
            <a:xfrm>
              <a:off x="893254" y="3728085"/>
              <a:ext cx="118491"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3</a:t>
              </a:r>
            </a:p>
          </p:txBody>
        </p:sp>
        <p:sp>
          <p:nvSpPr>
            <p:cNvPr id="30" name="TextBox 30"/>
            <p:cNvSpPr txBox="1"/>
            <p:nvPr/>
          </p:nvSpPr>
          <p:spPr>
            <a:xfrm>
              <a:off x="1890712" y="3736181"/>
              <a:ext cx="1828800"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代理公开的例外类型和效果</a:t>
              </a:r>
            </a:p>
          </p:txBody>
        </p:sp>
        <p:sp>
          <p:nvSpPr>
            <p:cNvPr id="31" name="TextBox 31"/>
            <p:cNvSpPr txBox="1"/>
            <p:nvPr/>
          </p:nvSpPr>
          <p:spPr>
            <a:xfrm>
              <a:off x="8258175" y="3736181"/>
              <a:ext cx="628650"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法学研究</a:t>
              </a:r>
            </a:p>
          </p:txBody>
        </p:sp>
        <p:sp>
          <p:nvSpPr>
            <p:cNvPr id="32" name="TextBox 32"/>
            <p:cNvSpPr txBox="1"/>
            <p:nvPr/>
          </p:nvSpPr>
          <p:spPr>
            <a:xfrm>
              <a:off x="9765983" y="3728085"/>
              <a:ext cx="47053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87.98</a:t>
              </a:r>
            </a:p>
          </p:txBody>
        </p:sp>
        <p:sp>
          <p:nvSpPr>
            <p:cNvPr id="33" name="TextBox 33"/>
            <p:cNvSpPr txBox="1"/>
            <p:nvPr/>
          </p:nvSpPr>
          <p:spPr>
            <a:xfrm>
              <a:off x="11088707" y="3736181"/>
              <a:ext cx="111085"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a:t>
              </a:r>
            </a:p>
          </p:txBody>
        </p:sp>
        <p:sp>
          <p:nvSpPr>
            <p:cNvPr id="34" name="Rectangle 34"/>
            <p:cNvSpPr/>
            <p:nvPr/>
          </p:nvSpPr>
          <p:spPr>
            <a:xfrm>
              <a:off x="609600" y="3962400"/>
              <a:ext cx="10972800" cy="304800"/>
            </a:xfrm>
            <a:prstGeom prst="rect">
              <a:avLst/>
            </a:prstGeom>
            <a:solidFill>
              <a:srgbClr val="FFFFFF"/>
            </a:solidFill>
            <a:ln>
              <a:noFill/>
            </a:ln>
          </p:spPr>
        </p:sp>
        <p:sp>
          <p:nvSpPr>
            <p:cNvPr id="35" name="TextBox 35"/>
            <p:cNvSpPr txBox="1"/>
            <p:nvPr/>
          </p:nvSpPr>
          <p:spPr>
            <a:xfrm>
              <a:off x="893254" y="4032885"/>
              <a:ext cx="118491"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4</a:t>
              </a:r>
            </a:p>
          </p:txBody>
        </p:sp>
        <p:sp>
          <p:nvSpPr>
            <p:cNvPr id="36" name="TextBox 36"/>
            <p:cNvSpPr txBox="1"/>
            <p:nvPr/>
          </p:nvSpPr>
          <p:spPr>
            <a:xfrm>
              <a:off x="1890712" y="4040981"/>
              <a:ext cx="27289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中国特色反腐败制度框架下贿赂犯罪法益</a:t>
              </a:r>
            </a:p>
          </p:txBody>
        </p:sp>
        <p:sp>
          <p:nvSpPr>
            <p:cNvPr id="37" name="TextBox 37"/>
            <p:cNvSpPr txBox="1"/>
            <p:nvPr/>
          </p:nvSpPr>
          <p:spPr>
            <a:xfrm>
              <a:off x="8258175" y="4040981"/>
              <a:ext cx="628650"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中国法学</a:t>
              </a:r>
            </a:p>
          </p:txBody>
        </p:sp>
        <p:sp>
          <p:nvSpPr>
            <p:cNvPr id="38" name="TextBox 38"/>
            <p:cNvSpPr txBox="1"/>
            <p:nvPr/>
          </p:nvSpPr>
          <p:spPr>
            <a:xfrm>
              <a:off x="9765983" y="4032885"/>
              <a:ext cx="47053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87.88</a:t>
              </a:r>
            </a:p>
          </p:txBody>
        </p:sp>
        <p:sp>
          <p:nvSpPr>
            <p:cNvPr id="39" name="TextBox 39"/>
            <p:cNvSpPr txBox="1"/>
            <p:nvPr/>
          </p:nvSpPr>
          <p:spPr>
            <a:xfrm>
              <a:off x="11088707" y="4040981"/>
              <a:ext cx="111085"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a:t>
              </a:r>
            </a:p>
          </p:txBody>
        </p:sp>
        <p:sp>
          <p:nvSpPr>
            <p:cNvPr id="40" name="Rectangle 40"/>
            <p:cNvSpPr/>
            <p:nvPr/>
          </p:nvSpPr>
          <p:spPr>
            <a:xfrm>
              <a:off x="609600" y="4267200"/>
              <a:ext cx="10972800" cy="304800"/>
            </a:xfrm>
            <a:prstGeom prst="rect">
              <a:avLst/>
            </a:prstGeom>
            <a:solidFill>
              <a:srgbClr val="E8F5E9"/>
            </a:solidFill>
            <a:ln>
              <a:noFill/>
            </a:ln>
          </p:spPr>
        </p:sp>
        <p:sp>
          <p:nvSpPr>
            <p:cNvPr id="41" name="TextBox 41"/>
            <p:cNvSpPr txBox="1"/>
            <p:nvPr/>
          </p:nvSpPr>
          <p:spPr>
            <a:xfrm>
              <a:off x="891054" y="4337685"/>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5</a:t>
              </a:r>
            </a:p>
          </p:txBody>
        </p:sp>
        <p:sp>
          <p:nvSpPr>
            <p:cNvPr id="42" name="TextBox 42"/>
            <p:cNvSpPr txBox="1"/>
            <p:nvPr/>
          </p:nvSpPr>
          <p:spPr>
            <a:xfrm>
              <a:off x="1890712" y="4345781"/>
              <a:ext cx="2428875"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公序良俗原则与诚实信用原则的区分</a:t>
              </a:r>
            </a:p>
          </p:txBody>
        </p:sp>
        <p:sp>
          <p:nvSpPr>
            <p:cNvPr id="43" name="TextBox 43"/>
            <p:cNvSpPr txBox="1"/>
            <p:nvPr/>
          </p:nvSpPr>
          <p:spPr>
            <a:xfrm>
              <a:off x="8108156" y="4345781"/>
              <a:ext cx="928688"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中国社会科学</a:t>
              </a:r>
            </a:p>
          </p:txBody>
        </p:sp>
        <p:sp>
          <p:nvSpPr>
            <p:cNvPr id="44" name="TextBox 44"/>
            <p:cNvSpPr txBox="1"/>
            <p:nvPr/>
          </p:nvSpPr>
          <p:spPr>
            <a:xfrm>
              <a:off x="9785985" y="4337685"/>
              <a:ext cx="43053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87.81</a:t>
              </a:r>
            </a:p>
          </p:txBody>
        </p:sp>
        <p:sp>
          <p:nvSpPr>
            <p:cNvPr id="45" name="TextBox 45"/>
            <p:cNvSpPr txBox="1"/>
            <p:nvPr/>
          </p:nvSpPr>
          <p:spPr>
            <a:xfrm>
              <a:off x="10923687" y="4345781"/>
              <a:ext cx="441127" cy="228600"/>
            </a:xfrm>
            <a:prstGeom prst="rect">
              <a:avLst/>
            </a:prstGeom>
            <a:noFill/>
            <a:ln>
              <a:noFill/>
            </a:ln>
          </p:spPr>
          <p:txBody>
            <a:bodyPr wrap="none" lIns="0" tIns="0" rIns="0" bIns="0" anchor="t" anchorCtr="0">
              <a:spAutoFit/>
            </a:bodyPr>
            <a:lstStyle/>
            <a:p>
              <a:pPr algn="ctr"/>
              <a:r>
                <a:rPr lang="zh-CN" sz="1125" dirty="0">
                  <a:solidFill>
                    <a:srgbClr val="2E7D32"/>
                  </a:solidFill>
                  <a:latin typeface="Arial"/>
                  <a:ea typeface="Microsoft YaHei"/>
                  <a:cs typeface="Arial"/>
                </a:rPr>
                <a:t>+0.05</a:t>
              </a:r>
            </a:p>
          </p:txBody>
        </p:sp>
        <p:sp>
          <p:nvSpPr>
            <p:cNvPr id="46" name="Rectangle 46"/>
            <p:cNvSpPr/>
            <p:nvPr/>
          </p:nvSpPr>
          <p:spPr>
            <a:xfrm>
              <a:off x="609600" y="4572000"/>
              <a:ext cx="10972800" cy="266700"/>
            </a:xfrm>
            <a:prstGeom prst="rect">
              <a:avLst/>
            </a:prstGeom>
            <a:solidFill>
              <a:srgbClr val="E8F5E9"/>
            </a:solidFill>
            <a:ln>
              <a:noFill/>
            </a:ln>
          </p:spPr>
        </p:sp>
        <p:sp>
          <p:nvSpPr>
            <p:cNvPr id="47" name="TextBox 47"/>
            <p:cNvSpPr txBox="1"/>
            <p:nvPr/>
          </p:nvSpPr>
          <p:spPr>
            <a:xfrm>
              <a:off x="894895" y="4631531"/>
              <a:ext cx="115211"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Arial"/>
                  <a:ea typeface="Microsoft YaHei"/>
                  <a:cs typeface="Arial"/>
                </a:rPr>
                <a:t>6</a:t>
              </a:r>
            </a:p>
          </p:txBody>
        </p:sp>
        <p:sp>
          <p:nvSpPr>
            <p:cNvPr id="48" name="TextBox 48"/>
            <p:cNvSpPr txBox="1"/>
            <p:nvPr/>
          </p:nvSpPr>
          <p:spPr>
            <a:xfrm>
              <a:off x="1891665" y="4639628"/>
              <a:ext cx="2126932"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整体法秩序视野下被害人自陷风险</a:t>
              </a:r>
            </a:p>
          </p:txBody>
        </p:sp>
        <p:sp>
          <p:nvSpPr>
            <p:cNvPr id="49" name="TextBox 49"/>
            <p:cNvSpPr txBox="1"/>
            <p:nvPr/>
          </p:nvSpPr>
          <p:spPr>
            <a:xfrm>
              <a:off x="8279130" y="4639628"/>
              <a:ext cx="586740"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法学研究</a:t>
              </a:r>
            </a:p>
          </p:txBody>
        </p:sp>
        <p:sp>
          <p:nvSpPr>
            <p:cNvPr id="50" name="TextBox 50"/>
            <p:cNvSpPr txBox="1"/>
            <p:nvPr/>
          </p:nvSpPr>
          <p:spPr>
            <a:xfrm>
              <a:off x="9780687" y="4631531"/>
              <a:ext cx="441127"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87.75</a:t>
              </a:r>
            </a:p>
          </p:txBody>
        </p:sp>
        <p:sp>
          <p:nvSpPr>
            <p:cNvPr id="51" name="TextBox 51"/>
            <p:cNvSpPr txBox="1"/>
            <p:nvPr/>
          </p:nvSpPr>
          <p:spPr>
            <a:xfrm>
              <a:off x="10938391" y="4639628"/>
              <a:ext cx="411718" cy="213360"/>
            </a:xfrm>
            <a:prstGeom prst="rect">
              <a:avLst/>
            </a:prstGeom>
            <a:noFill/>
            <a:ln>
              <a:noFill/>
            </a:ln>
          </p:spPr>
          <p:txBody>
            <a:bodyPr wrap="none" lIns="0" tIns="0" rIns="0" bIns="0" anchor="t" anchorCtr="0">
              <a:spAutoFit/>
            </a:bodyPr>
            <a:lstStyle/>
            <a:p>
              <a:pPr algn="ctr"/>
              <a:r>
                <a:rPr lang="zh-CN" sz="1050" dirty="0">
                  <a:solidFill>
                    <a:srgbClr val="2E7D32"/>
                  </a:solidFill>
                  <a:latin typeface="Arial"/>
                  <a:ea typeface="Microsoft YaHei"/>
                  <a:cs typeface="Arial"/>
                </a:rPr>
                <a:t>+0.33</a:t>
              </a:r>
            </a:p>
          </p:txBody>
        </p:sp>
        <p:sp>
          <p:nvSpPr>
            <p:cNvPr id="52" name="Rectangle 52"/>
            <p:cNvSpPr/>
            <p:nvPr/>
          </p:nvSpPr>
          <p:spPr>
            <a:xfrm>
              <a:off x="609600" y="4838700"/>
              <a:ext cx="10972800" cy="266700"/>
            </a:xfrm>
            <a:prstGeom prst="rect">
              <a:avLst/>
            </a:prstGeom>
            <a:solidFill>
              <a:srgbClr val="FFFFFF"/>
            </a:solidFill>
            <a:ln>
              <a:noFill/>
            </a:ln>
          </p:spPr>
        </p:sp>
        <p:sp>
          <p:nvSpPr>
            <p:cNvPr id="53" name="TextBox 53"/>
            <p:cNvSpPr txBox="1"/>
            <p:nvPr/>
          </p:nvSpPr>
          <p:spPr>
            <a:xfrm>
              <a:off x="896957" y="4898231"/>
              <a:ext cx="111085"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7</a:t>
              </a:r>
            </a:p>
          </p:txBody>
        </p:sp>
        <p:sp>
          <p:nvSpPr>
            <p:cNvPr id="54" name="TextBox 54"/>
            <p:cNvSpPr txBox="1"/>
            <p:nvPr/>
          </p:nvSpPr>
          <p:spPr>
            <a:xfrm>
              <a:off x="1891665" y="4906328"/>
              <a:ext cx="1566863"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论选择性要素的认识错误</a:t>
              </a:r>
            </a:p>
          </p:txBody>
        </p:sp>
        <p:sp>
          <p:nvSpPr>
            <p:cNvPr id="55" name="TextBox 55"/>
            <p:cNvSpPr txBox="1"/>
            <p:nvPr/>
          </p:nvSpPr>
          <p:spPr>
            <a:xfrm>
              <a:off x="8279130" y="4906328"/>
              <a:ext cx="586740"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法学研究</a:t>
              </a:r>
            </a:p>
          </p:txBody>
        </p:sp>
        <p:sp>
          <p:nvSpPr>
            <p:cNvPr id="56" name="TextBox 56"/>
            <p:cNvSpPr txBox="1"/>
            <p:nvPr/>
          </p:nvSpPr>
          <p:spPr>
            <a:xfrm>
              <a:off x="9780687" y="4898231"/>
              <a:ext cx="441127"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87.74</a:t>
              </a:r>
            </a:p>
          </p:txBody>
        </p:sp>
        <p:sp>
          <p:nvSpPr>
            <p:cNvPr id="57" name="TextBox 57"/>
            <p:cNvSpPr txBox="1"/>
            <p:nvPr/>
          </p:nvSpPr>
          <p:spPr>
            <a:xfrm>
              <a:off x="11092410" y="4906328"/>
              <a:ext cx="10368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a:t>
              </a:r>
            </a:p>
          </p:txBody>
        </p:sp>
        <p:sp>
          <p:nvSpPr>
            <p:cNvPr id="58" name="Rectangle 58"/>
            <p:cNvSpPr/>
            <p:nvPr/>
          </p:nvSpPr>
          <p:spPr>
            <a:xfrm>
              <a:off x="609600" y="5105400"/>
              <a:ext cx="10972800" cy="266700"/>
            </a:xfrm>
            <a:prstGeom prst="rect">
              <a:avLst/>
            </a:prstGeom>
            <a:solidFill>
              <a:srgbClr val="FFFFFF"/>
            </a:solidFill>
            <a:ln>
              <a:noFill/>
            </a:ln>
          </p:spPr>
        </p:sp>
        <p:sp>
          <p:nvSpPr>
            <p:cNvPr id="59" name="TextBox 59"/>
            <p:cNvSpPr txBox="1"/>
            <p:nvPr/>
          </p:nvSpPr>
          <p:spPr>
            <a:xfrm>
              <a:off x="896957" y="5164931"/>
              <a:ext cx="111085"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8</a:t>
              </a:r>
            </a:p>
          </p:txBody>
        </p:sp>
        <p:sp>
          <p:nvSpPr>
            <p:cNvPr id="60" name="TextBox 60"/>
            <p:cNvSpPr txBox="1"/>
            <p:nvPr/>
          </p:nvSpPr>
          <p:spPr>
            <a:xfrm>
              <a:off x="1891665" y="5173028"/>
              <a:ext cx="1986915"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民法典所有权保留之担保权构成</a:t>
              </a:r>
            </a:p>
          </p:txBody>
        </p:sp>
        <p:sp>
          <p:nvSpPr>
            <p:cNvPr id="61" name="TextBox 61"/>
            <p:cNvSpPr txBox="1"/>
            <p:nvPr/>
          </p:nvSpPr>
          <p:spPr>
            <a:xfrm>
              <a:off x="8279130" y="5173028"/>
              <a:ext cx="586740"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法学研究</a:t>
              </a:r>
            </a:p>
          </p:txBody>
        </p:sp>
        <p:sp>
          <p:nvSpPr>
            <p:cNvPr id="62" name="TextBox 62"/>
            <p:cNvSpPr txBox="1"/>
            <p:nvPr/>
          </p:nvSpPr>
          <p:spPr>
            <a:xfrm>
              <a:off x="9780687" y="5164931"/>
              <a:ext cx="441127"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87.73</a:t>
              </a:r>
            </a:p>
          </p:txBody>
        </p:sp>
        <p:sp>
          <p:nvSpPr>
            <p:cNvPr id="63" name="TextBox 63"/>
            <p:cNvSpPr txBox="1"/>
            <p:nvPr/>
          </p:nvSpPr>
          <p:spPr>
            <a:xfrm>
              <a:off x="11092410" y="5173028"/>
              <a:ext cx="10368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a:t>
              </a:r>
            </a:p>
          </p:txBody>
        </p:sp>
        <p:sp>
          <p:nvSpPr>
            <p:cNvPr id="64" name="Rectangle 64"/>
            <p:cNvSpPr/>
            <p:nvPr/>
          </p:nvSpPr>
          <p:spPr>
            <a:xfrm>
              <a:off x="609600" y="5372100"/>
              <a:ext cx="10972800" cy="266700"/>
            </a:xfrm>
            <a:prstGeom prst="rect">
              <a:avLst/>
            </a:prstGeom>
            <a:solidFill>
              <a:srgbClr val="FFFFFF"/>
            </a:solidFill>
            <a:ln>
              <a:noFill/>
            </a:ln>
          </p:spPr>
        </p:sp>
        <p:sp>
          <p:nvSpPr>
            <p:cNvPr id="65" name="TextBox 65"/>
            <p:cNvSpPr txBox="1"/>
            <p:nvPr/>
          </p:nvSpPr>
          <p:spPr>
            <a:xfrm>
              <a:off x="896957" y="5431631"/>
              <a:ext cx="111085"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9</a:t>
              </a:r>
            </a:p>
          </p:txBody>
        </p:sp>
        <p:sp>
          <p:nvSpPr>
            <p:cNvPr id="66" name="TextBox 66"/>
            <p:cNvSpPr txBox="1"/>
            <p:nvPr/>
          </p:nvSpPr>
          <p:spPr>
            <a:xfrm>
              <a:off x="1891665" y="5439728"/>
              <a:ext cx="2546985"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实体性查封优先权的理论证成及体系展开</a:t>
              </a:r>
            </a:p>
          </p:txBody>
        </p:sp>
        <p:sp>
          <p:nvSpPr>
            <p:cNvPr id="67" name="TextBox 67"/>
            <p:cNvSpPr txBox="1"/>
            <p:nvPr/>
          </p:nvSpPr>
          <p:spPr>
            <a:xfrm>
              <a:off x="8279130" y="5439728"/>
              <a:ext cx="586740"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法学研究</a:t>
              </a:r>
            </a:p>
          </p:txBody>
        </p:sp>
        <p:sp>
          <p:nvSpPr>
            <p:cNvPr id="68" name="TextBox 68"/>
            <p:cNvSpPr txBox="1"/>
            <p:nvPr/>
          </p:nvSpPr>
          <p:spPr>
            <a:xfrm>
              <a:off x="9780687" y="5431631"/>
              <a:ext cx="441127"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87.69</a:t>
              </a:r>
            </a:p>
          </p:txBody>
        </p:sp>
        <p:sp>
          <p:nvSpPr>
            <p:cNvPr id="69" name="TextBox 69"/>
            <p:cNvSpPr txBox="1"/>
            <p:nvPr/>
          </p:nvSpPr>
          <p:spPr>
            <a:xfrm>
              <a:off x="11092410" y="5439728"/>
              <a:ext cx="10368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a:t>
              </a:r>
            </a:p>
          </p:txBody>
        </p:sp>
        <p:sp>
          <p:nvSpPr>
            <p:cNvPr id="70" name="Rectangle 70"/>
            <p:cNvSpPr/>
            <p:nvPr/>
          </p:nvSpPr>
          <p:spPr>
            <a:xfrm>
              <a:off x="609600" y="5638800"/>
              <a:ext cx="10972800" cy="266700"/>
            </a:xfrm>
            <a:prstGeom prst="rect">
              <a:avLst/>
            </a:prstGeom>
            <a:solidFill>
              <a:srgbClr val="FFFFFF"/>
            </a:solidFill>
            <a:ln>
              <a:noFill/>
            </a:ln>
          </p:spPr>
        </p:sp>
        <p:sp>
          <p:nvSpPr>
            <p:cNvPr id="71" name="TextBox 71"/>
            <p:cNvSpPr txBox="1"/>
            <p:nvPr/>
          </p:nvSpPr>
          <p:spPr>
            <a:xfrm>
              <a:off x="874455" y="5698331"/>
              <a:ext cx="156091"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10</a:t>
              </a:r>
            </a:p>
          </p:txBody>
        </p:sp>
        <p:sp>
          <p:nvSpPr>
            <p:cNvPr id="72" name="TextBox 72"/>
            <p:cNvSpPr txBox="1"/>
            <p:nvPr/>
          </p:nvSpPr>
          <p:spPr>
            <a:xfrm>
              <a:off x="1891665" y="5706428"/>
              <a:ext cx="170688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债权人代位权的类型化构造</a:t>
              </a:r>
            </a:p>
          </p:txBody>
        </p:sp>
        <p:sp>
          <p:nvSpPr>
            <p:cNvPr id="73" name="TextBox 73"/>
            <p:cNvSpPr txBox="1"/>
            <p:nvPr/>
          </p:nvSpPr>
          <p:spPr>
            <a:xfrm>
              <a:off x="8279130" y="5706428"/>
              <a:ext cx="586740"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法学研究</a:t>
              </a:r>
            </a:p>
          </p:txBody>
        </p:sp>
        <p:sp>
          <p:nvSpPr>
            <p:cNvPr id="74" name="TextBox 74"/>
            <p:cNvSpPr txBox="1"/>
            <p:nvPr/>
          </p:nvSpPr>
          <p:spPr>
            <a:xfrm>
              <a:off x="9780687" y="5698331"/>
              <a:ext cx="441127"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87.56</a:t>
              </a:r>
            </a:p>
          </p:txBody>
        </p:sp>
        <p:sp>
          <p:nvSpPr>
            <p:cNvPr id="75" name="TextBox 75"/>
            <p:cNvSpPr txBox="1"/>
            <p:nvPr/>
          </p:nvSpPr>
          <p:spPr>
            <a:xfrm>
              <a:off x="11092410" y="5706428"/>
              <a:ext cx="10368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a:t>
              </a:r>
            </a:p>
          </p:txBody>
        </p:sp>
      </p:grpSp>
      <p:sp>
        <p:nvSpPr>
          <p:cNvPr id="77" name="Rectangle 77"/>
          <p:cNvSpPr/>
          <p:nvPr/>
        </p:nvSpPr>
        <p:spPr>
          <a:xfrm>
            <a:off x="609600" y="6048375"/>
            <a:ext cx="10972800" cy="523875"/>
          </a:xfrm>
          <a:prstGeom prst="roundRect">
            <a:avLst>
              <a:gd name="adj" fmla="val 10909"/>
            </a:avLst>
          </a:prstGeom>
          <a:solidFill>
            <a:srgbClr val="FFF8F0"/>
          </a:solidFill>
          <a:ln>
            <a:noFill/>
          </a:ln>
        </p:spPr>
      </p:sp>
      <p:sp>
        <p:nvSpPr>
          <p:cNvPr id="78" name="TextBox 78"/>
          <p:cNvSpPr txBox="1"/>
          <p:nvPr/>
        </p:nvSpPr>
        <p:spPr>
          <a:xfrm>
            <a:off x="897255" y="6140768"/>
            <a:ext cx="1168432" cy="274320"/>
          </a:xfrm>
          <a:prstGeom prst="rect">
            <a:avLst/>
          </a:prstGeom>
          <a:noFill/>
          <a:ln>
            <a:noFill/>
          </a:ln>
        </p:spPr>
        <p:txBody>
          <a:bodyPr wrap="none" lIns="0" tIns="0" rIns="0" bIns="0" anchor="t" anchorCtr="0">
            <a:spAutoFit/>
          </a:bodyPr>
          <a:lstStyle/>
          <a:p>
            <a:pPr algn="l"/>
            <a:r>
              <a:rPr lang="zh-CN" sz="1350" b="1" dirty="0">
                <a:solidFill>
                  <a:srgbClr val="E07B00"/>
                </a:solidFill>
                <a:latin typeface="Arial"/>
                <a:ea typeface="Microsoft YaHei"/>
                <a:cs typeface="Arial"/>
              </a:rPr>
              <a:t>排名变化亮点</a:t>
            </a:r>
          </a:p>
        </p:txBody>
      </p:sp>
      <p:sp>
        <p:nvSpPr>
          <p:cNvPr id="79" name="TextBox 79"/>
          <p:cNvSpPr txBox="1"/>
          <p:nvPr/>
        </p:nvSpPr>
        <p:spPr>
          <a:xfrm>
            <a:off x="899160" y="6366510"/>
            <a:ext cx="7159371"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上升最多：1519 整体法秩序（↑10 位，#16→#6）；下降最多：1852 司法人工智能（↓16 位，#28→#44）</a:t>
            </a:r>
          </a:p>
        </p:txBody>
      </p:sp>
      <p:sp>
        <p:nvSpPr>
          <p:cNvPr id="80" name="TextBox 80"/>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19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left)">
                                      <p:cBhvr>
                                        <p:cTn id="7" dur="4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5871605"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Top 30 自主知识信号与知识库匹配</a:t>
            </a:r>
          </a:p>
        </p:txBody>
      </p:sp>
      <p:sp>
        <p:nvSpPr>
          <p:cNvPr id="7" name="TextBox 7"/>
          <p:cNvSpPr txBox="1"/>
          <p:nvPr/>
        </p:nvSpPr>
        <p:spPr>
          <a:xfrm>
            <a:off x="586740" y="1710690"/>
            <a:ext cx="3952208"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自主知识信号评测（2026-05-28）</a:t>
            </a:r>
          </a:p>
        </p:txBody>
      </p:sp>
      <p:sp>
        <p:nvSpPr>
          <p:cNvPr id="8" name="Rectangle 8"/>
          <p:cNvSpPr/>
          <p:nvPr/>
        </p:nvSpPr>
        <p:spPr>
          <a:xfrm>
            <a:off x="609600" y="2095500"/>
            <a:ext cx="5334000" cy="1524000"/>
          </a:xfrm>
          <a:prstGeom prst="roundRect">
            <a:avLst>
              <a:gd name="adj" fmla="val 5000"/>
            </a:avLst>
          </a:prstGeom>
          <a:solidFill>
            <a:srgbClr val="E8F5E9"/>
          </a:solidFill>
          <a:ln w="19050">
            <a:solidFill>
              <a:srgbClr val="2E7D32"/>
            </a:solidFill>
          </a:ln>
        </p:spPr>
      </p:sp>
      <p:sp>
        <p:nvSpPr>
          <p:cNvPr id="9" name="TextBox 9"/>
          <p:cNvSpPr txBox="1"/>
          <p:nvPr/>
        </p:nvSpPr>
        <p:spPr>
          <a:xfrm>
            <a:off x="2302651" y="2203132"/>
            <a:ext cx="1947898"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Arial"/>
                <a:ea typeface="Microsoft YaHei"/>
                <a:cs typeface="Arial"/>
              </a:rPr>
              <a:t>DeepSeek-V4-Pro</a:t>
            </a:r>
          </a:p>
        </p:txBody>
      </p:sp>
      <p:sp>
        <p:nvSpPr>
          <p:cNvPr id="10" name="TextBox 10"/>
          <p:cNvSpPr txBox="1"/>
          <p:nvPr/>
        </p:nvSpPr>
        <p:spPr>
          <a:xfrm>
            <a:off x="2399176" y="2373630"/>
            <a:ext cx="1754848"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7.33/8</a:t>
            </a:r>
          </a:p>
        </p:txBody>
      </p:sp>
      <p:sp>
        <p:nvSpPr>
          <p:cNvPr id="11" name="TextBox 11"/>
          <p:cNvSpPr txBox="1"/>
          <p:nvPr/>
        </p:nvSpPr>
        <p:spPr>
          <a:xfrm>
            <a:off x="897255" y="2997518"/>
            <a:ext cx="189752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Strong：24 篇（80%）</a:t>
            </a:r>
          </a:p>
        </p:txBody>
      </p:sp>
      <p:sp>
        <p:nvSpPr>
          <p:cNvPr id="12" name="TextBox 12"/>
          <p:cNvSpPr txBox="1"/>
          <p:nvPr/>
        </p:nvSpPr>
        <p:spPr>
          <a:xfrm>
            <a:off x="897255" y="3264218"/>
            <a:ext cx="182551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Medium：6 篇（20%）</a:t>
            </a:r>
          </a:p>
        </p:txBody>
      </p:sp>
      <p:sp>
        <p:nvSpPr>
          <p:cNvPr id="13" name="Rectangle 13"/>
          <p:cNvSpPr/>
          <p:nvPr/>
        </p:nvSpPr>
        <p:spPr>
          <a:xfrm>
            <a:off x="6248400" y="2095500"/>
            <a:ext cx="5334000" cy="1524000"/>
          </a:xfrm>
          <a:prstGeom prst="roundRect">
            <a:avLst>
              <a:gd name="adj" fmla="val 5000"/>
            </a:avLst>
          </a:prstGeom>
          <a:solidFill>
            <a:srgbClr val="E8F5E9"/>
          </a:solidFill>
          <a:ln w="19050">
            <a:solidFill>
              <a:srgbClr val="2E7D32"/>
            </a:solidFill>
          </a:ln>
        </p:spPr>
      </p:sp>
      <p:sp>
        <p:nvSpPr>
          <p:cNvPr id="14" name="TextBox 14"/>
          <p:cNvSpPr txBox="1"/>
          <p:nvPr/>
        </p:nvSpPr>
        <p:spPr>
          <a:xfrm>
            <a:off x="8114723" y="2203132"/>
            <a:ext cx="1601355"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Arial"/>
                <a:ea typeface="Microsoft YaHei"/>
                <a:cs typeface="Arial"/>
              </a:rPr>
              <a:t>Qwen3.6-Plus</a:t>
            </a:r>
          </a:p>
        </p:txBody>
      </p:sp>
      <p:sp>
        <p:nvSpPr>
          <p:cNvPr id="15" name="TextBox 15"/>
          <p:cNvSpPr txBox="1"/>
          <p:nvPr/>
        </p:nvSpPr>
        <p:spPr>
          <a:xfrm>
            <a:off x="8037976" y="2373630"/>
            <a:ext cx="1754848"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7.90/8</a:t>
            </a:r>
          </a:p>
        </p:txBody>
      </p:sp>
      <p:sp>
        <p:nvSpPr>
          <p:cNvPr id="16" name="TextBox 16"/>
          <p:cNvSpPr txBox="1"/>
          <p:nvPr/>
        </p:nvSpPr>
        <p:spPr>
          <a:xfrm>
            <a:off x="6536055" y="2997518"/>
            <a:ext cx="209554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Strong：29 篇（96.7%）</a:t>
            </a:r>
          </a:p>
        </p:txBody>
      </p:sp>
      <p:sp>
        <p:nvSpPr>
          <p:cNvPr id="17" name="TextBox 17"/>
          <p:cNvSpPr txBox="1"/>
          <p:nvPr/>
        </p:nvSpPr>
        <p:spPr>
          <a:xfrm>
            <a:off x="6536055" y="3264218"/>
            <a:ext cx="187952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Medium：1 篇（3.3%）</a:t>
            </a:r>
          </a:p>
        </p:txBody>
      </p:sp>
      <p:sp>
        <p:nvSpPr>
          <p:cNvPr id="18" name="Rectangle 18"/>
          <p:cNvSpPr/>
          <p:nvPr/>
        </p:nvSpPr>
        <p:spPr>
          <a:xfrm>
            <a:off x="609600" y="3762375"/>
            <a:ext cx="10972800" cy="571500"/>
          </a:xfrm>
          <a:prstGeom prst="roundRect">
            <a:avLst>
              <a:gd name="adj" fmla="val 13333"/>
            </a:avLst>
          </a:prstGeom>
          <a:solidFill>
            <a:srgbClr val="F0F7FF"/>
          </a:solidFill>
          <a:ln>
            <a:noFill/>
          </a:ln>
        </p:spPr>
      </p:sp>
      <p:sp>
        <p:nvSpPr>
          <p:cNvPr id="19" name="TextBox 19"/>
          <p:cNvSpPr txBox="1"/>
          <p:nvPr/>
        </p:nvSpPr>
        <p:spPr>
          <a:xfrm>
            <a:off x="3352205" y="3965258"/>
            <a:ext cx="5487591" cy="335280"/>
          </a:xfrm>
          <a:prstGeom prst="rect">
            <a:avLst/>
          </a:prstGeom>
          <a:noFill/>
          <a:ln>
            <a:noFill/>
          </a:ln>
        </p:spPr>
        <p:txBody>
          <a:bodyPr wrap="none" lIns="0" tIns="0" rIns="0" bIns="0" anchor="t" anchorCtr="0">
            <a:spAutoFit/>
          </a:bodyPr>
          <a:lstStyle/>
          <a:p>
            <a:pPr algn="ctr"/>
            <a:r>
              <a:rPr lang="zh-CN" sz="1650" dirty="0">
                <a:solidFill>
                  <a:srgbClr val="1B1C21"/>
                </a:solidFill>
                <a:latin typeface="Arial"/>
                <a:ea typeface="Microsoft YaHei"/>
                <a:cs typeface="Arial"/>
              </a:rPr>
              <a:t>两模型平均 std 0.28；27 篇 std ≤ 1.0，23 篇完全一致</a:t>
            </a:r>
          </a:p>
        </p:txBody>
      </p:sp>
      <p:sp>
        <p:nvSpPr>
          <p:cNvPr id="20" name="TextBox 20"/>
          <p:cNvSpPr txBox="1"/>
          <p:nvPr/>
        </p:nvSpPr>
        <p:spPr>
          <a:xfrm>
            <a:off x="586740" y="4472940"/>
            <a:ext cx="5590413"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知识库匹配（中国法学自主知识体系树状知识库）</a:t>
            </a:r>
          </a:p>
        </p:txBody>
      </p:sp>
      <p:grpSp>
        <p:nvGrpSpPr>
          <p:cNvPr id="33" name="Group 33"/>
          <p:cNvGrpSpPr/>
          <p:nvPr/>
        </p:nvGrpSpPr>
        <p:grpSpPr>
          <a:xfrm>
            <a:off x="609600" y="4802505"/>
            <a:ext cx="10972800" cy="1198245"/>
            <a:chOff x="609600" y="4802505"/>
            <a:chExt cx="10972800" cy="1198245"/>
          </a:xfrm>
        </p:grpSpPr>
        <p:sp>
          <p:nvSpPr>
            <p:cNvPr id="21" name="Rectangle 21"/>
            <p:cNvSpPr/>
            <p:nvPr/>
          </p:nvSpPr>
          <p:spPr>
            <a:xfrm>
              <a:off x="609600" y="4857750"/>
              <a:ext cx="2571750" cy="1143000"/>
            </a:xfrm>
            <a:prstGeom prst="roundRect">
              <a:avLst>
                <a:gd name="adj" fmla="val 6667"/>
              </a:avLst>
            </a:prstGeom>
            <a:solidFill>
              <a:srgbClr val="F4F5F7"/>
            </a:solidFill>
            <a:ln>
              <a:noFill/>
            </a:ln>
          </p:spPr>
        </p:sp>
        <p:sp>
          <p:nvSpPr>
            <p:cNvPr id="22" name="TextBox 22"/>
            <p:cNvSpPr txBox="1"/>
            <p:nvPr/>
          </p:nvSpPr>
          <p:spPr>
            <a:xfrm>
              <a:off x="1572520" y="4802505"/>
              <a:ext cx="645909"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76</a:t>
              </a:r>
            </a:p>
          </p:txBody>
        </p:sp>
        <p:sp>
          <p:nvSpPr>
            <p:cNvPr id="23" name="TextBox 23"/>
            <p:cNvSpPr txBox="1"/>
            <p:nvPr/>
          </p:nvSpPr>
          <p:spPr>
            <a:xfrm>
              <a:off x="1376362" y="5314950"/>
              <a:ext cx="103822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个知识条目</a:t>
              </a:r>
            </a:p>
          </p:txBody>
        </p:sp>
        <p:sp>
          <p:nvSpPr>
            <p:cNvPr id="24" name="TextBox 24"/>
            <p:cNvSpPr txBox="1"/>
            <p:nvPr/>
          </p:nvSpPr>
          <p:spPr>
            <a:xfrm>
              <a:off x="1216747" y="5616892"/>
              <a:ext cx="135745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均值 2.53 条/篇</a:t>
              </a:r>
            </a:p>
          </p:txBody>
        </p:sp>
        <p:sp>
          <p:nvSpPr>
            <p:cNvPr id="25" name="Rectangle 25"/>
            <p:cNvSpPr/>
            <p:nvPr/>
          </p:nvSpPr>
          <p:spPr>
            <a:xfrm>
              <a:off x="3438525" y="4857750"/>
              <a:ext cx="2571750" cy="1143000"/>
            </a:xfrm>
            <a:prstGeom prst="roundRect">
              <a:avLst>
                <a:gd name="adj" fmla="val 6667"/>
              </a:avLst>
            </a:prstGeom>
            <a:solidFill>
              <a:srgbClr val="F4F5F7"/>
            </a:solidFill>
            <a:ln>
              <a:noFill/>
            </a:ln>
          </p:spPr>
        </p:sp>
        <p:sp>
          <p:nvSpPr>
            <p:cNvPr id="26" name="TextBox 26"/>
            <p:cNvSpPr txBox="1"/>
            <p:nvPr/>
          </p:nvSpPr>
          <p:spPr>
            <a:xfrm>
              <a:off x="4401445" y="4802505"/>
              <a:ext cx="645909" cy="731520"/>
            </a:xfrm>
            <a:prstGeom prst="rect">
              <a:avLst/>
            </a:prstGeom>
            <a:noFill/>
            <a:ln>
              <a:noFill/>
            </a:ln>
          </p:spPr>
          <p:txBody>
            <a:bodyPr wrap="none" lIns="0" tIns="0" rIns="0" bIns="0" anchor="t" anchorCtr="0">
              <a:spAutoFit/>
            </a:bodyPr>
            <a:lstStyle/>
            <a:p>
              <a:pPr algn="ctr"/>
              <a:r>
                <a:rPr lang="zh-CN" sz="3600" b="1" dirty="0">
                  <a:solidFill>
                    <a:srgbClr val="1F4D78"/>
                  </a:solidFill>
                  <a:latin typeface="Arial"/>
                  <a:ea typeface="Microsoft YaHei"/>
                  <a:cs typeface="Arial"/>
                </a:rPr>
                <a:t>27</a:t>
              </a:r>
            </a:p>
          </p:txBody>
        </p:sp>
        <p:sp>
          <p:nvSpPr>
            <p:cNvPr id="27" name="TextBox 27"/>
            <p:cNvSpPr txBox="1"/>
            <p:nvPr/>
          </p:nvSpPr>
          <p:spPr>
            <a:xfrm>
              <a:off x="4050268" y="5314950"/>
              <a:ext cx="1348264"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篇 high 置信度</a:t>
              </a:r>
            </a:p>
          </p:txBody>
        </p:sp>
        <p:sp>
          <p:nvSpPr>
            <p:cNvPr id="28" name="TextBox 28"/>
            <p:cNvSpPr txBox="1"/>
            <p:nvPr/>
          </p:nvSpPr>
          <p:spPr>
            <a:xfrm>
              <a:off x="4203192" y="5616892"/>
              <a:ext cx="1042416"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3 篇 medium</a:t>
              </a:r>
            </a:p>
          </p:txBody>
        </p:sp>
        <p:sp>
          <p:nvSpPr>
            <p:cNvPr id="29" name="Rectangle 29"/>
            <p:cNvSpPr/>
            <p:nvPr/>
          </p:nvSpPr>
          <p:spPr>
            <a:xfrm>
              <a:off x="6267450" y="4857750"/>
              <a:ext cx="5314950" cy="1143000"/>
            </a:xfrm>
            <a:prstGeom prst="roundRect">
              <a:avLst>
                <a:gd name="adj" fmla="val 6667"/>
              </a:avLst>
            </a:prstGeom>
            <a:solidFill>
              <a:srgbClr val="F4F5F7"/>
            </a:solidFill>
            <a:ln>
              <a:noFill/>
            </a:ln>
          </p:spPr>
        </p:sp>
        <p:sp>
          <p:nvSpPr>
            <p:cNvPr id="30" name="TextBox 30"/>
            <p:cNvSpPr txBox="1"/>
            <p:nvPr/>
          </p:nvSpPr>
          <p:spPr>
            <a:xfrm>
              <a:off x="8275796" y="4981575"/>
              <a:ext cx="1298258" cy="304800"/>
            </a:xfrm>
            <a:prstGeom prst="rect">
              <a:avLst/>
            </a:prstGeom>
            <a:noFill/>
            <a:ln>
              <a:noFill/>
            </a:ln>
          </p:spPr>
          <p:txBody>
            <a:bodyPr wrap="none" lIns="0" tIns="0" rIns="0" bIns="0" anchor="t" anchorCtr="0">
              <a:spAutoFit/>
            </a:bodyPr>
            <a:lstStyle/>
            <a:p>
              <a:pPr algn="ctr"/>
              <a:r>
                <a:rPr lang="zh-CN" sz="1500" b="1" dirty="0">
                  <a:solidFill>
                    <a:srgbClr val="1F4D78"/>
                  </a:solidFill>
                  <a:latin typeface="Arial"/>
                  <a:ea typeface="Microsoft YaHei"/>
                  <a:cs typeface="Arial"/>
                </a:rPr>
                <a:t>学科覆盖主轴</a:t>
              </a:r>
            </a:p>
          </p:txBody>
        </p:sp>
        <p:sp>
          <p:nvSpPr>
            <p:cNvPr id="31" name="TextBox 31"/>
            <p:cNvSpPr txBox="1"/>
            <p:nvPr/>
          </p:nvSpPr>
          <p:spPr>
            <a:xfrm>
              <a:off x="7251573" y="5283518"/>
              <a:ext cx="3346704"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民法学 13 篇 · 刑法学 12 篇 · 法理学 11 篇</a:t>
              </a:r>
            </a:p>
          </p:txBody>
        </p:sp>
        <p:sp>
          <p:nvSpPr>
            <p:cNvPr id="32" name="TextBox 32"/>
            <p:cNvSpPr txBox="1"/>
            <p:nvPr/>
          </p:nvSpPr>
          <p:spPr>
            <a:xfrm>
              <a:off x="8189595" y="5585460"/>
              <a:ext cx="147066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（多学科交叉计数）</a:t>
              </a:r>
            </a:p>
          </p:txBody>
        </p:sp>
      </p:grpSp>
      <p:sp>
        <p:nvSpPr>
          <p:cNvPr id="34" name="Rectangle 34"/>
          <p:cNvSpPr/>
          <p:nvPr/>
        </p:nvSpPr>
        <p:spPr>
          <a:xfrm>
            <a:off x="609600" y="6191250"/>
            <a:ext cx="10972800" cy="381000"/>
          </a:xfrm>
          <a:prstGeom prst="roundRect">
            <a:avLst>
              <a:gd name="adj" fmla="val 15000"/>
            </a:avLst>
          </a:prstGeom>
          <a:solidFill>
            <a:srgbClr val="FFF8F0"/>
          </a:solidFill>
          <a:ln>
            <a:noFill/>
          </a:ln>
        </p:spPr>
      </p:sp>
      <p:sp>
        <p:nvSpPr>
          <p:cNvPr id="35" name="TextBox 35"/>
          <p:cNvSpPr txBox="1"/>
          <p:nvPr/>
        </p:nvSpPr>
        <p:spPr>
          <a:xfrm>
            <a:off x="897255" y="6293168"/>
            <a:ext cx="569599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Top 30 不只是"高分论文"，也具备强自主知识信号与明确知识谱系位置</a:t>
            </a:r>
          </a:p>
        </p:txBody>
      </p:sp>
      <p:sp>
        <p:nvSpPr>
          <p:cNvPr id="36" name="TextBox 36"/>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20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image">
                                      <p:cBhvr>
                                        <p:cTn id="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381000" y="304800"/>
            <a:ext cx="457200" cy="457200"/>
          </a:xfrm>
          <a:prstGeom prst="rect">
            <a:avLst/>
          </a:prstGeom>
        </p:spPr>
      </p:pic>
      <p:pic>
        <p:nvPicPr>
          <p:cNvPr id="4" name="Image 4"/>
          <p:cNvPicPr>
            <a:picLocks noChangeAspect="1"/>
          </p:cNvPicPr>
          <p:nvPr/>
        </p:nvPicPr>
        <p:blipFill>
          <a:blip r:embed="rId3"/>
          <a:stretch>
            <a:fillRect/>
          </a:stretch>
        </p:blipFill>
        <p:spPr>
          <a:xfrm>
            <a:off x="9921089" y="361950"/>
            <a:ext cx="1889911" cy="381000"/>
          </a:xfrm>
          <a:prstGeom prst="rect">
            <a:avLst/>
          </a:prstGeom>
        </p:spPr>
      </p:pic>
      <p:sp>
        <p:nvSpPr>
          <p:cNvPr id="5" name="Rectangle 5"/>
          <p:cNvSpPr/>
          <p:nvPr/>
        </p:nvSpPr>
        <p:spPr>
          <a:xfrm>
            <a:off x="609600" y="1047750"/>
            <a:ext cx="38100" cy="342900"/>
          </a:xfrm>
          <a:prstGeom prst="rect">
            <a:avLst/>
          </a:prstGeom>
          <a:solidFill>
            <a:srgbClr val="C8161E"/>
          </a:solidFill>
          <a:ln>
            <a:noFill/>
          </a:ln>
        </p:spPr>
      </p:sp>
      <p:sp>
        <p:nvSpPr>
          <p:cNvPr id="6" name="TextBox 6"/>
          <p:cNvSpPr txBox="1"/>
          <p:nvPr/>
        </p:nvSpPr>
        <p:spPr>
          <a:xfrm>
            <a:off x="765810" y="1022985"/>
            <a:ext cx="6495383"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模型行为差异与纠偏效果（亮点数据）</a:t>
            </a:r>
          </a:p>
        </p:txBody>
      </p:sp>
      <p:sp>
        <p:nvSpPr>
          <p:cNvPr id="7" name="Rectangle 7"/>
          <p:cNvSpPr/>
          <p:nvPr/>
        </p:nvSpPr>
        <p:spPr>
          <a:xfrm>
            <a:off x="609600" y="1714500"/>
            <a:ext cx="10972800" cy="571500"/>
          </a:xfrm>
          <a:prstGeom prst="roundRect">
            <a:avLst>
              <a:gd name="adj" fmla="val 13333"/>
            </a:avLst>
          </a:prstGeom>
          <a:solidFill>
            <a:srgbClr val="F4F5F7"/>
          </a:solidFill>
          <a:ln>
            <a:noFill/>
          </a:ln>
        </p:spPr>
      </p:sp>
      <p:sp>
        <p:nvSpPr>
          <p:cNvPr id="8" name="TextBox 8"/>
          <p:cNvSpPr txBox="1"/>
          <p:nvPr/>
        </p:nvSpPr>
        <p:spPr>
          <a:xfrm>
            <a:off x="3676745" y="1917382"/>
            <a:ext cx="4838510" cy="335280"/>
          </a:xfrm>
          <a:prstGeom prst="rect">
            <a:avLst/>
          </a:prstGeom>
          <a:noFill/>
          <a:ln>
            <a:noFill/>
          </a:ln>
        </p:spPr>
        <p:txBody>
          <a:bodyPr wrap="none" lIns="0" tIns="0" rIns="0" bIns="0" anchor="t" anchorCtr="0">
            <a:spAutoFit/>
          </a:bodyPr>
          <a:lstStyle/>
          <a:p>
            <a:pPr algn="ctr"/>
            <a:r>
              <a:rPr lang="zh-CN" sz="1650" dirty="0">
                <a:solidFill>
                  <a:srgbClr val="1B1C21"/>
                </a:solidFill>
                <a:latin typeface="Arial"/>
                <a:ea typeface="Microsoft YaHei"/>
                <a:cs typeface="Arial"/>
              </a:rPr>
              <a:t>基于 1920 篇 × 6 维度 = 11,520 个评分单元的统计</a:t>
            </a:r>
          </a:p>
        </p:txBody>
      </p:sp>
      <p:sp>
        <p:nvSpPr>
          <p:cNvPr id="9" name="TextBox 9"/>
          <p:cNvSpPr txBox="1"/>
          <p:nvPr/>
        </p:nvSpPr>
        <p:spPr>
          <a:xfrm>
            <a:off x="584835" y="2456498"/>
            <a:ext cx="2329365" cy="396240"/>
          </a:xfrm>
          <a:prstGeom prst="rect">
            <a:avLst/>
          </a:prstGeom>
          <a:noFill/>
          <a:ln>
            <a:noFill/>
          </a:ln>
        </p:spPr>
        <p:txBody>
          <a:bodyPr wrap="none" lIns="0" tIns="0" rIns="0" bIns="0" anchor="t" anchorCtr="0">
            <a:spAutoFit/>
          </a:bodyPr>
          <a:lstStyle/>
          <a:p>
            <a:pPr algn="l"/>
            <a:r>
              <a:rPr lang="zh-CN" sz="1950" b="1" dirty="0">
                <a:solidFill>
                  <a:srgbClr val="C8161E"/>
                </a:solidFill>
                <a:latin typeface="Arial"/>
                <a:ea typeface="Microsoft YaHei"/>
                <a:cs typeface="Arial"/>
              </a:rPr>
              <a:t>Round 1：两极对立</a:t>
            </a:r>
          </a:p>
        </p:txBody>
      </p:sp>
      <p:sp>
        <p:nvSpPr>
          <p:cNvPr id="10" name="Rectangle 10"/>
          <p:cNvSpPr/>
          <p:nvPr/>
        </p:nvSpPr>
        <p:spPr>
          <a:xfrm>
            <a:off x="609600" y="2857500"/>
            <a:ext cx="5334000" cy="1333500"/>
          </a:xfrm>
          <a:prstGeom prst="roundRect">
            <a:avLst>
              <a:gd name="adj" fmla="val 5714"/>
            </a:avLst>
          </a:prstGeom>
          <a:solidFill>
            <a:srgbClr val="F0F7FF"/>
          </a:solidFill>
          <a:ln w="19050">
            <a:solidFill>
              <a:srgbClr val="1F4D78"/>
            </a:solidFill>
          </a:ln>
        </p:spPr>
      </p:sp>
      <p:sp>
        <p:nvSpPr>
          <p:cNvPr id="11" name="TextBox 11"/>
          <p:cNvSpPr txBox="1"/>
          <p:nvPr/>
        </p:nvSpPr>
        <p:spPr>
          <a:xfrm>
            <a:off x="2464371" y="2965132"/>
            <a:ext cx="1624458"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A 组（宽松型）</a:t>
            </a:r>
          </a:p>
        </p:txBody>
      </p:sp>
      <p:sp>
        <p:nvSpPr>
          <p:cNvPr id="12" name="TextBox 12"/>
          <p:cNvSpPr txBox="1"/>
          <p:nvPr/>
        </p:nvSpPr>
        <p:spPr>
          <a:xfrm>
            <a:off x="2600801" y="3088005"/>
            <a:ext cx="1351598" cy="731520"/>
          </a:xfrm>
          <a:prstGeom prst="rect">
            <a:avLst/>
          </a:prstGeom>
          <a:noFill/>
          <a:ln>
            <a:noFill/>
          </a:ln>
        </p:spPr>
        <p:txBody>
          <a:bodyPr wrap="none" lIns="0" tIns="0" rIns="0" bIns="0" anchor="t" anchorCtr="0">
            <a:spAutoFit/>
          </a:bodyPr>
          <a:lstStyle/>
          <a:p>
            <a:pPr algn="ctr"/>
            <a:r>
              <a:rPr lang="zh-CN" sz="3600" b="1" dirty="0">
                <a:solidFill>
                  <a:srgbClr val="1F4D78"/>
                </a:solidFill>
                <a:latin typeface="Arial"/>
                <a:ea typeface="Microsoft YaHei"/>
                <a:cs typeface="Arial"/>
              </a:rPr>
              <a:t>91.5%</a:t>
            </a:r>
          </a:p>
        </p:txBody>
      </p:sp>
      <p:sp>
        <p:nvSpPr>
          <p:cNvPr id="13" name="TextBox 13"/>
          <p:cNvSpPr txBox="1"/>
          <p:nvPr/>
        </p:nvSpPr>
        <p:spPr>
          <a:xfrm>
            <a:off x="2757488" y="3600450"/>
            <a:ext cx="103822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包揽最高分</a:t>
            </a:r>
          </a:p>
        </p:txBody>
      </p:sp>
      <p:sp>
        <p:nvSpPr>
          <p:cNvPr id="14" name="TextBox 14"/>
          <p:cNvSpPr txBox="1"/>
          <p:nvPr/>
        </p:nvSpPr>
        <p:spPr>
          <a:xfrm>
            <a:off x="2345246" y="3918585"/>
            <a:ext cx="186270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GLM 51.9% + Qwen 39.6%</a:t>
            </a:r>
          </a:p>
        </p:txBody>
      </p:sp>
      <p:sp>
        <p:nvSpPr>
          <p:cNvPr id="15" name="Rectangle 15"/>
          <p:cNvSpPr/>
          <p:nvPr/>
        </p:nvSpPr>
        <p:spPr>
          <a:xfrm>
            <a:off x="6248400" y="2857500"/>
            <a:ext cx="5334000" cy="1333500"/>
          </a:xfrm>
          <a:prstGeom prst="roundRect">
            <a:avLst>
              <a:gd name="adj" fmla="val 5714"/>
            </a:avLst>
          </a:prstGeom>
          <a:solidFill>
            <a:srgbClr val="FFEBEE"/>
          </a:solidFill>
          <a:ln w="19050">
            <a:solidFill>
              <a:srgbClr val="C8161E"/>
            </a:solidFill>
          </a:ln>
        </p:spPr>
      </p:sp>
      <p:sp>
        <p:nvSpPr>
          <p:cNvPr id="16" name="TextBox 16"/>
          <p:cNvSpPr txBox="1"/>
          <p:nvPr/>
        </p:nvSpPr>
        <p:spPr>
          <a:xfrm>
            <a:off x="8103171" y="2965132"/>
            <a:ext cx="1624458" cy="335280"/>
          </a:xfrm>
          <a:prstGeom prst="rect">
            <a:avLst/>
          </a:prstGeom>
          <a:noFill/>
          <a:ln>
            <a:noFill/>
          </a:ln>
        </p:spPr>
        <p:txBody>
          <a:bodyPr wrap="none" lIns="0" tIns="0" rIns="0" bIns="0" anchor="t" anchorCtr="0">
            <a:spAutoFit/>
          </a:bodyPr>
          <a:lstStyle/>
          <a:p>
            <a:pPr algn="ctr"/>
            <a:r>
              <a:rPr lang="zh-CN" sz="1650" b="1" dirty="0">
                <a:solidFill>
                  <a:srgbClr val="C8161E"/>
                </a:solidFill>
                <a:latin typeface="Arial"/>
                <a:ea typeface="Microsoft YaHei"/>
                <a:cs typeface="Arial"/>
              </a:rPr>
              <a:t>B 组（严格型）</a:t>
            </a:r>
          </a:p>
        </p:txBody>
      </p:sp>
      <p:sp>
        <p:nvSpPr>
          <p:cNvPr id="17" name="TextBox 17"/>
          <p:cNvSpPr txBox="1"/>
          <p:nvPr/>
        </p:nvSpPr>
        <p:spPr>
          <a:xfrm>
            <a:off x="8176593" y="3088005"/>
            <a:ext cx="1477613"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94.9%</a:t>
            </a:r>
          </a:p>
        </p:txBody>
      </p:sp>
      <p:sp>
        <p:nvSpPr>
          <p:cNvPr id="18" name="TextBox 18"/>
          <p:cNvSpPr txBox="1"/>
          <p:nvPr/>
        </p:nvSpPr>
        <p:spPr>
          <a:xfrm>
            <a:off x="8396288" y="3600450"/>
            <a:ext cx="103822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包揽最低分</a:t>
            </a:r>
          </a:p>
        </p:txBody>
      </p:sp>
      <p:sp>
        <p:nvSpPr>
          <p:cNvPr id="19" name="TextBox 19"/>
          <p:cNvSpPr txBox="1"/>
          <p:nvPr/>
        </p:nvSpPr>
        <p:spPr>
          <a:xfrm>
            <a:off x="8152066" y="3918585"/>
            <a:ext cx="152666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B 组最高分仅占 8.5%</a:t>
            </a:r>
          </a:p>
        </p:txBody>
      </p:sp>
      <p:sp>
        <p:nvSpPr>
          <p:cNvPr id="20" name="TextBox 20"/>
          <p:cNvSpPr txBox="1"/>
          <p:nvPr/>
        </p:nvSpPr>
        <p:spPr>
          <a:xfrm>
            <a:off x="584835" y="4361498"/>
            <a:ext cx="3216726" cy="396240"/>
          </a:xfrm>
          <a:prstGeom prst="rect">
            <a:avLst/>
          </a:prstGeom>
          <a:noFill/>
          <a:ln>
            <a:noFill/>
          </a:ln>
        </p:spPr>
        <p:txBody>
          <a:bodyPr wrap="none" lIns="0" tIns="0" rIns="0" bIns="0" anchor="t" anchorCtr="0">
            <a:spAutoFit/>
          </a:bodyPr>
          <a:lstStyle/>
          <a:p>
            <a:pPr algn="l"/>
            <a:r>
              <a:rPr lang="zh-CN" sz="1950" b="1" dirty="0">
                <a:solidFill>
                  <a:srgbClr val="2E7D32"/>
                </a:solidFill>
                <a:latin typeface="Arial"/>
                <a:ea typeface="Microsoft YaHei"/>
                <a:cs typeface="Arial"/>
              </a:rPr>
              <a:t>Round 2：交叉评审后纠偏</a:t>
            </a:r>
          </a:p>
        </p:txBody>
      </p:sp>
      <p:sp>
        <p:nvSpPr>
          <p:cNvPr id="21" name="Rectangle 21"/>
          <p:cNvSpPr/>
          <p:nvPr/>
        </p:nvSpPr>
        <p:spPr>
          <a:xfrm>
            <a:off x="609600" y="4762500"/>
            <a:ext cx="5334000" cy="1333500"/>
          </a:xfrm>
          <a:prstGeom prst="roundRect">
            <a:avLst>
              <a:gd name="adj" fmla="val 5714"/>
            </a:avLst>
          </a:prstGeom>
          <a:solidFill>
            <a:srgbClr val="E8F5E9"/>
          </a:solidFill>
          <a:ln w="19050">
            <a:solidFill>
              <a:srgbClr val="2E7D32"/>
            </a:solidFill>
          </a:ln>
        </p:spPr>
      </p:sp>
      <p:sp>
        <p:nvSpPr>
          <p:cNvPr id="22" name="TextBox 22"/>
          <p:cNvSpPr txBox="1"/>
          <p:nvPr/>
        </p:nvSpPr>
        <p:spPr>
          <a:xfrm>
            <a:off x="2464371" y="4870132"/>
            <a:ext cx="1624458"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Arial"/>
                <a:ea typeface="Microsoft YaHei"/>
                <a:cs typeface="Arial"/>
              </a:rPr>
              <a:t>B 组最高分占比</a:t>
            </a:r>
          </a:p>
        </p:txBody>
      </p:sp>
      <p:sp>
        <p:nvSpPr>
          <p:cNvPr id="23" name="TextBox 23"/>
          <p:cNvSpPr txBox="1"/>
          <p:nvPr/>
        </p:nvSpPr>
        <p:spPr>
          <a:xfrm>
            <a:off x="2647474" y="5314950"/>
            <a:ext cx="1258252"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 xml:space="preserve">8.5% → </a:t>
            </a:r>
            <a:r>
              <a:rPr lang="zh-CN" sz="3600" b="1" dirty="0">
                <a:solidFill>
                  <a:srgbClr val="2E7D32"/>
                </a:solidFill>
                <a:latin typeface="Arial"/>
                <a:ea typeface="Microsoft YaHei"/>
                <a:cs typeface="Arial"/>
              </a:rPr>
              <a:t>62.2%</a:t>
            </a:r>
          </a:p>
        </p:txBody>
      </p:sp>
      <p:sp>
        <p:nvSpPr>
          <p:cNvPr id="24" name="TextBox 24"/>
          <p:cNvSpPr txBox="1"/>
          <p:nvPr/>
        </p:nvSpPr>
        <p:spPr>
          <a:xfrm>
            <a:off x="2810914" y="5727382"/>
            <a:ext cx="931371"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Arial"/>
                <a:ea typeface="Microsoft YaHei"/>
                <a:cs typeface="Arial"/>
              </a:rPr>
              <a:t>+53.7pp</a:t>
            </a:r>
          </a:p>
        </p:txBody>
      </p:sp>
      <p:sp>
        <p:nvSpPr>
          <p:cNvPr id="25" name="Rectangle 25"/>
          <p:cNvSpPr/>
          <p:nvPr/>
        </p:nvSpPr>
        <p:spPr>
          <a:xfrm>
            <a:off x="6248400" y="4762500"/>
            <a:ext cx="5334000" cy="1333500"/>
          </a:xfrm>
          <a:prstGeom prst="roundRect">
            <a:avLst>
              <a:gd name="adj" fmla="val 5714"/>
            </a:avLst>
          </a:prstGeom>
          <a:solidFill>
            <a:srgbClr val="E8F5E9"/>
          </a:solidFill>
          <a:ln w="19050">
            <a:solidFill>
              <a:srgbClr val="2E7D32"/>
            </a:solidFill>
          </a:ln>
        </p:spPr>
      </p:sp>
      <p:sp>
        <p:nvSpPr>
          <p:cNvPr id="26" name="TextBox 26"/>
          <p:cNvSpPr txBox="1"/>
          <p:nvPr/>
        </p:nvSpPr>
        <p:spPr>
          <a:xfrm>
            <a:off x="8103171" y="4870132"/>
            <a:ext cx="1624458"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Arial"/>
                <a:ea typeface="Microsoft YaHei"/>
                <a:cs typeface="Arial"/>
              </a:rPr>
              <a:t>A 组最低分占比</a:t>
            </a:r>
          </a:p>
        </p:txBody>
      </p:sp>
      <p:sp>
        <p:nvSpPr>
          <p:cNvPr id="27" name="TextBox 27"/>
          <p:cNvSpPr txBox="1"/>
          <p:nvPr/>
        </p:nvSpPr>
        <p:spPr>
          <a:xfrm>
            <a:off x="8336280" y="5314950"/>
            <a:ext cx="1158240"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 xml:space="preserve">5.1% → </a:t>
            </a:r>
            <a:r>
              <a:rPr lang="zh-CN" sz="3600" b="1" dirty="0">
                <a:solidFill>
                  <a:srgbClr val="2E7D32"/>
                </a:solidFill>
                <a:latin typeface="Arial"/>
                <a:ea typeface="Microsoft YaHei"/>
                <a:cs typeface="Arial"/>
              </a:rPr>
              <a:t>31.9%</a:t>
            </a:r>
          </a:p>
        </p:txBody>
      </p:sp>
      <p:sp>
        <p:nvSpPr>
          <p:cNvPr id="28" name="TextBox 28"/>
          <p:cNvSpPr txBox="1"/>
          <p:nvPr/>
        </p:nvSpPr>
        <p:spPr>
          <a:xfrm>
            <a:off x="8449714" y="5727382"/>
            <a:ext cx="931371"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Arial"/>
                <a:ea typeface="Microsoft YaHei"/>
                <a:cs typeface="Arial"/>
              </a:rPr>
              <a:t>+26.8pp</a:t>
            </a:r>
          </a:p>
        </p:txBody>
      </p:sp>
      <p:sp>
        <p:nvSpPr>
          <p:cNvPr id="29" name="Rectangle 29"/>
          <p:cNvSpPr/>
          <p:nvPr/>
        </p:nvSpPr>
        <p:spPr>
          <a:xfrm>
            <a:off x="609600" y="6286500"/>
            <a:ext cx="10972800" cy="381000"/>
          </a:xfrm>
          <a:prstGeom prst="roundRect">
            <a:avLst>
              <a:gd name="adj" fmla="val 15000"/>
            </a:avLst>
          </a:prstGeom>
          <a:solidFill>
            <a:srgbClr val="FFF8F0"/>
          </a:solidFill>
          <a:ln>
            <a:noFill/>
          </a:ln>
        </p:spPr>
      </p:sp>
      <p:sp>
        <p:nvSpPr>
          <p:cNvPr id="30" name="TextBox 30"/>
          <p:cNvSpPr txBox="1"/>
          <p:nvPr/>
        </p:nvSpPr>
        <p:spPr>
          <a:xfrm>
            <a:off x="3386614" y="6372225"/>
            <a:ext cx="5418772"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模型间角色分工形成：B 组成为"挑刺者"，A 组成为"辩护者"</a:t>
            </a:r>
          </a:p>
        </p:txBody>
      </p:sp>
      <p:sp>
        <p:nvSpPr>
          <p:cNvPr id="31" name="TextBox 31"/>
          <p:cNvSpPr txBox="1"/>
          <p:nvPr/>
        </p:nvSpPr>
        <p:spPr>
          <a:xfrm>
            <a:off x="6033564" y="6570345"/>
            <a:ext cx="124873" cy="182880"/>
          </a:xfrm>
          <a:prstGeom prst="rect">
            <a:avLst/>
          </a:prstGeom>
          <a:noFill/>
          <a:ln>
            <a:noFill/>
          </a:ln>
        </p:spPr>
        <p:txBody>
          <a:bodyPr wrap="none" lIns="0" tIns="0" rIns="0" bIns="0" anchor="t" anchorCtr="0">
            <a:spAutoFit/>
          </a:bodyPr>
          <a:lstStyle/>
          <a:p>
            <a:pPr algn="ctr"/>
            <a:r>
              <a:rPr lang="zh-CN" sz="900" dirty="0">
                <a:solidFill>
                  <a:srgbClr val="9AA3AE"/>
                </a:solidFill>
                <a:latin typeface="Arial"/>
                <a:ea typeface="Microsoft YaHei"/>
                <a:cs typeface="Arial"/>
              </a:rPr>
              <a:t>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2336864"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论文分数分布</a:t>
            </a:r>
          </a:p>
        </p:txBody>
      </p:sp>
      <p:grpSp>
        <p:nvGrpSpPr>
          <p:cNvPr id="42" name="Group 42"/>
          <p:cNvGrpSpPr/>
          <p:nvPr/>
        </p:nvGrpSpPr>
        <p:grpSpPr>
          <a:xfrm>
            <a:off x="976432" y="1552575"/>
            <a:ext cx="9910643" cy="3507581"/>
            <a:chOff x="976432" y="1552575"/>
            <a:chExt cx="9910643" cy="3507581"/>
          </a:xfrm>
        </p:grpSpPr>
        <p:sp>
          <p:nvSpPr>
            <p:cNvPr id="7" name="TextBox 7"/>
            <p:cNvSpPr txBox="1"/>
            <p:nvPr/>
          </p:nvSpPr>
          <p:spPr>
            <a:xfrm>
              <a:off x="4717030" y="1552575"/>
              <a:ext cx="2757940" cy="304800"/>
            </a:xfrm>
            <a:prstGeom prst="rect">
              <a:avLst/>
            </a:prstGeom>
            <a:noFill/>
            <a:ln>
              <a:noFill/>
            </a:ln>
          </p:spPr>
          <p:txBody>
            <a:bodyPr wrap="none" lIns="0" tIns="0" rIns="0" bIns="0" anchor="t" anchorCtr="0">
              <a:spAutoFit/>
            </a:bodyPr>
            <a:lstStyle/>
            <a:p>
              <a:pPr algn="ctr"/>
              <a:r>
                <a:rPr lang="zh-CN" sz="1500" b="1" dirty="0">
                  <a:solidFill>
                    <a:srgbClr val="1B1C21"/>
                  </a:solidFill>
                  <a:latin typeface="Arial"/>
                  <a:ea typeface="Microsoft YaHei"/>
                  <a:cs typeface="Arial"/>
                </a:rPr>
                <a:t>1920 篇论文 R2 加权总分分布</a:t>
              </a:r>
            </a:p>
          </p:txBody>
        </p:sp>
        <p:sp>
          <p:nvSpPr>
            <p:cNvPr id="8" name="Line 8"/>
            <p:cNvSpPr/>
            <p:nvPr/>
          </p:nvSpPr>
          <p:spPr>
            <a:xfrm>
              <a:off x="1333500" y="2095500"/>
              <a:ext cx="9525" cy="2667000"/>
            </a:xfrm>
            <a:custGeom>
              <a:avLst/>
              <a:gdLst/>
              <a:ahLst/>
              <a:cxnLst/>
              <a:rect l="l" t="t" r="r" b="b"/>
              <a:pathLst>
                <a:path w="9525" h="2667000">
                  <a:moveTo>
                    <a:pt x="0" y="0"/>
                  </a:moveTo>
                  <a:lnTo>
                    <a:pt x="0" y="2667000"/>
                  </a:lnTo>
                </a:path>
              </a:pathLst>
            </a:custGeom>
            <a:noFill/>
            <a:ln w="14288">
              <a:solidFill>
                <a:srgbClr val="94A3B8"/>
              </a:solidFill>
            </a:ln>
          </p:spPr>
        </p:sp>
        <p:sp>
          <p:nvSpPr>
            <p:cNvPr id="9" name="TextBox 9"/>
            <p:cNvSpPr txBox="1"/>
            <p:nvPr/>
          </p:nvSpPr>
          <p:spPr>
            <a:xfrm>
              <a:off x="976432" y="2021681"/>
              <a:ext cx="276106" cy="228600"/>
            </a:xfrm>
            <a:prstGeom prst="rect">
              <a:avLst/>
            </a:prstGeom>
            <a:noFill/>
            <a:ln>
              <a:noFill/>
            </a:ln>
          </p:spPr>
          <p:txBody>
            <a:bodyPr wrap="none" lIns="0" tIns="0" rIns="0" bIns="0" anchor="t" anchorCtr="0">
              <a:spAutoFit/>
            </a:bodyPr>
            <a:lstStyle/>
            <a:p>
              <a:pPr algn="r"/>
              <a:r>
                <a:rPr lang="zh-CN" sz="1125" dirty="0">
                  <a:solidFill>
                    <a:srgbClr val="5A6472"/>
                  </a:solidFill>
                  <a:latin typeface="Arial"/>
                  <a:ea typeface="Microsoft YaHei"/>
                  <a:cs typeface="Arial"/>
                </a:rPr>
                <a:t>500</a:t>
              </a:r>
            </a:p>
          </p:txBody>
        </p:sp>
        <p:sp>
          <p:nvSpPr>
            <p:cNvPr id="10" name="TextBox 10"/>
            <p:cNvSpPr txBox="1"/>
            <p:nvPr/>
          </p:nvSpPr>
          <p:spPr>
            <a:xfrm>
              <a:off x="976432" y="2640806"/>
              <a:ext cx="276106" cy="228600"/>
            </a:xfrm>
            <a:prstGeom prst="rect">
              <a:avLst/>
            </a:prstGeom>
            <a:noFill/>
            <a:ln>
              <a:noFill/>
            </a:ln>
          </p:spPr>
          <p:txBody>
            <a:bodyPr wrap="none" lIns="0" tIns="0" rIns="0" bIns="0" anchor="t" anchorCtr="0">
              <a:spAutoFit/>
            </a:bodyPr>
            <a:lstStyle/>
            <a:p>
              <a:pPr algn="r"/>
              <a:r>
                <a:rPr lang="zh-CN" sz="1125" dirty="0">
                  <a:solidFill>
                    <a:srgbClr val="5A6472"/>
                  </a:solidFill>
                  <a:latin typeface="Arial"/>
                  <a:ea typeface="Microsoft YaHei"/>
                  <a:cs typeface="Arial"/>
                </a:rPr>
                <a:t>400</a:t>
              </a:r>
            </a:p>
          </p:txBody>
        </p:sp>
        <p:sp>
          <p:nvSpPr>
            <p:cNvPr id="11" name="TextBox 11"/>
            <p:cNvSpPr txBox="1"/>
            <p:nvPr/>
          </p:nvSpPr>
          <p:spPr>
            <a:xfrm>
              <a:off x="976432" y="3259931"/>
              <a:ext cx="276106" cy="228600"/>
            </a:xfrm>
            <a:prstGeom prst="rect">
              <a:avLst/>
            </a:prstGeom>
            <a:noFill/>
            <a:ln>
              <a:noFill/>
            </a:ln>
          </p:spPr>
          <p:txBody>
            <a:bodyPr wrap="none" lIns="0" tIns="0" rIns="0" bIns="0" anchor="t" anchorCtr="0">
              <a:spAutoFit/>
            </a:bodyPr>
            <a:lstStyle/>
            <a:p>
              <a:pPr algn="r"/>
              <a:r>
                <a:rPr lang="zh-CN" sz="1125" dirty="0">
                  <a:solidFill>
                    <a:srgbClr val="5A6472"/>
                  </a:solidFill>
                  <a:latin typeface="Arial"/>
                  <a:ea typeface="Microsoft YaHei"/>
                  <a:cs typeface="Arial"/>
                </a:rPr>
                <a:t>300</a:t>
              </a:r>
            </a:p>
          </p:txBody>
        </p:sp>
        <p:sp>
          <p:nvSpPr>
            <p:cNvPr id="12" name="TextBox 12"/>
            <p:cNvSpPr txBox="1"/>
            <p:nvPr/>
          </p:nvSpPr>
          <p:spPr>
            <a:xfrm>
              <a:off x="976432" y="3879056"/>
              <a:ext cx="276106" cy="228600"/>
            </a:xfrm>
            <a:prstGeom prst="rect">
              <a:avLst/>
            </a:prstGeom>
            <a:noFill/>
            <a:ln>
              <a:noFill/>
            </a:ln>
          </p:spPr>
          <p:txBody>
            <a:bodyPr wrap="none" lIns="0" tIns="0" rIns="0" bIns="0" anchor="t" anchorCtr="0">
              <a:spAutoFit/>
            </a:bodyPr>
            <a:lstStyle/>
            <a:p>
              <a:pPr algn="r"/>
              <a:r>
                <a:rPr lang="zh-CN" sz="1125" dirty="0">
                  <a:solidFill>
                    <a:srgbClr val="5A6472"/>
                  </a:solidFill>
                  <a:latin typeface="Arial"/>
                  <a:ea typeface="Microsoft YaHei"/>
                  <a:cs typeface="Arial"/>
                </a:rPr>
                <a:t>200</a:t>
              </a:r>
            </a:p>
          </p:txBody>
        </p:sp>
        <p:sp>
          <p:nvSpPr>
            <p:cNvPr id="13" name="TextBox 13"/>
            <p:cNvSpPr txBox="1"/>
            <p:nvPr/>
          </p:nvSpPr>
          <p:spPr>
            <a:xfrm>
              <a:off x="1013936" y="4498181"/>
              <a:ext cx="238601" cy="228600"/>
            </a:xfrm>
            <a:prstGeom prst="rect">
              <a:avLst/>
            </a:prstGeom>
            <a:noFill/>
            <a:ln>
              <a:noFill/>
            </a:ln>
          </p:spPr>
          <p:txBody>
            <a:bodyPr wrap="none" lIns="0" tIns="0" rIns="0" bIns="0" anchor="t" anchorCtr="0">
              <a:spAutoFit/>
            </a:bodyPr>
            <a:lstStyle/>
            <a:p>
              <a:pPr algn="r"/>
              <a:r>
                <a:rPr lang="zh-CN" sz="1125" dirty="0">
                  <a:solidFill>
                    <a:srgbClr val="5A6472"/>
                  </a:solidFill>
                  <a:latin typeface="Arial"/>
                  <a:ea typeface="Microsoft YaHei"/>
                  <a:cs typeface="Arial"/>
                </a:rPr>
                <a:t>100</a:t>
              </a:r>
            </a:p>
          </p:txBody>
        </p:sp>
        <p:sp>
          <p:nvSpPr>
            <p:cNvPr id="14" name="TextBox 14"/>
            <p:cNvSpPr txBox="1"/>
            <p:nvPr/>
          </p:nvSpPr>
          <p:spPr>
            <a:xfrm>
              <a:off x="1141452" y="4783931"/>
              <a:ext cx="111085" cy="228600"/>
            </a:xfrm>
            <a:prstGeom prst="rect">
              <a:avLst/>
            </a:prstGeom>
            <a:noFill/>
            <a:ln>
              <a:noFill/>
            </a:ln>
          </p:spPr>
          <p:txBody>
            <a:bodyPr wrap="none" lIns="0" tIns="0" rIns="0" bIns="0" anchor="t" anchorCtr="0">
              <a:spAutoFit/>
            </a:bodyPr>
            <a:lstStyle/>
            <a:p>
              <a:pPr algn="r"/>
              <a:r>
                <a:rPr lang="zh-CN" sz="1125" dirty="0">
                  <a:solidFill>
                    <a:srgbClr val="5A6472"/>
                  </a:solidFill>
                  <a:latin typeface="Arial"/>
                  <a:ea typeface="Microsoft YaHei"/>
                  <a:cs typeface="Arial"/>
                </a:rPr>
                <a:t>0</a:t>
              </a:r>
            </a:p>
          </p:txBody>
        </p:sp>
        <p:sp>
          <p:nvSpPr>
            <p:cNvPr id="15" name="Line 15"/>
            <p:cNvSpPr/>
            <p:nvPr/>
          </p:nvSpPr>
          <p:spPr>
            <a:xfrm>
              <a:off x="1333500" y="2095500"/>
              <a:ext cx="9525000" cy="9525"/>
            </a:xfrm>
            <a:custGeom>
              <a:avLst/>
              <a:gdLst/>
              <a:ahLst/>
              <a:cxnLst/>
              <a:rect l="l" t="t" r="r" b="b"/>
              <a:pathLst>
                <a:path w="9525000" h="9525">
                  <a:moveTo>
                    <a:pt x="0" y="0"/>
                  </a:moveTo>
                  <a:lnTo>
                    <a:pt x="9525000" y="0"/>
                  </a:lnTo>
                </a:path>
              </a:pathLst>
            </a:custGeom>
            <a:noFill/>
            <a:ln w="9525">
              <a:solidFill>
                <a:srgbClr val="E8ECF1"/>
              </a:solidFill>
            </a:ln>
          </p:spPr>
        </p:sp>
        <p:sp>
          <p:nvSpPr>
            <p:cNvPr id="16" name="Line 16"/>
            <p:cNvSpPr/>
            <p:nvPr/>
          </p:nvSpPr>
          <p:spPr>
            <a:xfrm>
              <a:off x="1333500" y="2714625"/>
              <a:ext cx="9525000" cy="9525"/>
            </a:xfrm>
            <a:custGeom>
              <a:avLst/>
              <a:gdLst/>
              <a:ahLst/>
              <a:cxnLst/>
              <a:rect l="l" t="t" r="r" b="b"/>
              <a:pathLst>
                <a:path w="9525000" h="9525">
                  <a:moveTo>
                    <a:pt x="0" y="0"/>
                  </a:moveTo>
                  <a:lnTo>
                    <a:pt x="9525000" y="0"/>
                  </a:lnTo>
                </a:path>
              </a:pathLst>
            </a:custGeom>
            <a:noFill/>
            <a:ln w="9525">
              <a:solidFill>
                <a:srgbClr val="E8ECF1"/>
              </a:solidFill>
            </a:ln>
          </p:spPr>
        </p:sp>
        <p:sp>
          <p:nvSpPr>
            <p:cNvPr id="17" name="Line 17"/>
            <p:cNvSpPr/>
            <p:nvPr/>
          </p:nvSpPr>
          <p:spPr>
            <a:xfrm>
              <a:off x="1333500" y="3333750"/>
              <a:ext cx="9525000" cy="9525"/>
            </a:xfrm>
            <a:custGeom>
              <a:avLst/>
              <a:gdLst/>
              <a:ahLst/>
              <a:cxnLst/>
              <a:rect l="l" t="t" r="r" b="b"/>
              <a:pathLst>
                <a:path w="9525000" h="9525">
                  <a:moveTo>
                    <a:pt x="0" y="0"/>
                  </a:moveTo>
                  <a:lnTo>
                    <a:pt x="9525000" y="0"/>
                  </a:lnTo>
                </a:path>
              </a:pathLst>
            </a:custGeom>
            <a:noFill/>
            <a:ln w="9525">
              <a:solidFill>
                <a:srgbClr val="E8ECF1"/>
              </a:solidFill>
            </a:ln>
          </p:spPr>
        </p:sp>
        <p:sp>
          <p:nvSpPr>
            <p:cNvPr id="18" name="Line 18"/>
            <p:cNvSpPr/>
            <p:nvPr/>
          </p:nvSpPr>
          <p:spPr>
            <a:xfrm>
              <a:off x="1333500" y="3952875"/>
              <a:ext cx="9525000" cy="9525"/>
            </a:xfrm>
            <a:custGeom>
              <a:avLst/>
              <a:gdLst/>
              <a:ahLst/>
              <a:cxnLst/>
              <a:rect l="l" t="t" r="r" b="b"/>
              <a:pathLst>
                <a:path w="9525000" h="9525">
                  <a:moveTo>
                    <a:pt x="0" y="0"/>
                  </a:moveTo>
                  <a:lnTo>
                    <a:pt x="9525000" y="0"/>
                  </a:lnTo>
                </a:path>
              </a:pathLst>
            </a:custGeom>
            <a:noFill/>
            <a:ln w="9525">
              <a:solidFill>
                <a:srgbClr val="E8ECF1"/>
              </a:solidFill>
            </a:ln>
          </p:spPr>
        </p:sp>
        <p:sp>
          <p:nvSpPr>
            <p:cNvPr id="19" name="Line 19"/>
            <p:cNvSpPr/>
            <p:nvPr/>
          </p:nvSpPr>
          <p:spPr>
            <a:xfrm>
              <a:off x="1333500" y="4572000"/>
              <a:ext cx="9525000" cy="9525"/>
            </a:xfrm>
            <a:custGeom>
              <a:avLst/>
              <a:gdLst/>
              <a:ahLst/>
              <a:cxnLst/>
              <a:rect l="l" t="t" r="r" b="b"/>
              <a:pathLst>
                <a:path w="9525000" h="9525">
                  <a:moveTo>
                    <a:pt x="0" y="0"/>
                  </a:moveTo>
                  <a:lnTo>
                    <a:pt x="9525000" y="0"/>
                  </a:lnTo>
                </a:path>
              </a:pathLst>
            </a:custGeom>
            <a:noFill/>
            <a:ln w="9525">
              <a:solidFill>
                <a:srgbClr val="E8ECF1"/>
              </a:solidFill>
            </a:ln>
          </p:spPr>
        </p:sp>
        <p:sp>
          <p:nvSpPr>
            <p:cNvPr id="20" name="Line 20"/>
            <p:cNvSpPr/>
            <p:nvPr/>
          </p:nvSpPr>
          <p:spPr>
            <a:xfrm>
              <a:off x="1333500" y="4762500"/>
              <a:ext cx="9525000" cy="9525"/>
            </a:xfrm>
            <a:custGeom>
              <a:avLst/>
              <a:gdLst/>
              <a:ahLst/>
              <a:cxnLst/>
              <a:rect l="l" t="t" r="r" b="b"/>
              <a:pathLst>
                <a:path w="9525000" h="9525">
                  <a:moveTo>
                    <a:pt x="0" y="0"/>
                  </a:moveTo>
                  <a:lnTo>
                    <a:pt x="9525000" y="0"/>
                  </a:lnTo>
                </a:path>
              </a:pathLst>
            </a:custGeom>
            <a:noFill/>
            <a:ln w="14288">
              <a:solidFill>
                <a:srgbClr val="94A3B8"/>
              </a:solidFill>
            </a:ln>
          </p:spPr>
        </p:sp>
        <p:sp>
          <p:nvSpPr>
            <p:cNvPr id="21" name="Rectangle 21"/>
            <p:cNvSpPr/>
            <p:nvPr/>
          </p:nvSpPr>
          <p:spPr>
            <a:xfrm>
              <a:off x="1524000" y="3000375"/>
              <a:ext cx="1190625" cy="1762125"/>
            </a:xfrm>
            <a:prstGeom prst="rect">
              <a:avLst/>
            </a:prstGeom>
            <a:solidFill>
              <a:srgbClr val="44546A">
                <a:alpha val="70000"/>
              </a:srgbClr>
            </a:solidFill>
            <a:ln>
              <a:noFill/>
            </a:ln>
          </p:spPr>
        </p:sp>
        <p:sp>
          <p:nvSpPr>
            <p:cNvPr id="22" name="TextBox 22"/>
            <p:cNvSpPr txBox="1"/>
            <p:nvPr/>
          </p:nvSpPr>
          <p:spPr>
            <a:xfrm>
              <a:off x="1994761" y="2783681"/>
              <a:ext cx="249103" cy="228600"/>
            </a:xfrm>
            <a:prstGeom prst="rect">
              <a:avLst/>
            </a:prstGeom>
            <a:noFill/>
            <a:ln>
              <a:noFill/>
            </a:ln>
          </p:spPr>
          <p:txBody>
            <a:bodyPr wrap="none" lIns="0" tIns="0" rIns="0" bIns="0" anchor="t" anchorCtr="0">
              <a:spAutoFit/>
            </a:bodyPr>
            <a:lstStyle/>
            <a:p>
              <a:pPr algn="ctr"/>
              <a:r>
                <a:rPr lang="zh-CN" sz="1125" b="1" dirty="0">
                  <a:solidFill>
                    <a:srgbClr val="1B1C21"/>
                  </a:solidFill>
                  <a:latin typeface="Arial"/>
                  <a:ea typeface="Microsoft YaHei"/>
                  <a:cs typeface="Arial"/>
                </a:rPr>
                <a:t>331</a:t>
              </a:r>
            </a:p>
          </p:txBody>
        </p:sp>
        <p:sp>
          <p:nvSpPr>
            <p:cNvPr id="23" name="TextBox 23"/>
            <p:cNvSpPr txBox="1"/>
            <p:nvPr/>
          </p:nvSpPr>
          <p:spPr>
            <a:xfrm>
              <a:off x="1857494" y="4831556"/>
              <a:ext cx="523637"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[0-60)</a:t>
              </a:r>
            </a:p>
          </p:txBody>
        </p:sp>
        <p:sp>
          <p:nvSpPr>
            <p:cNvPr id="24" name="Rectangle 24"/>
            <p:cNvSpPr/>
            <p:nvPr/>
          </p:nvSpPr>
          <p:spPr>
            <a:xfrm>
              <a:off x="2886075" y="3952875"/>
              <a:ext cx="1190625" cy="809625"/>
            </a:xfrm>
            <a:prstGeom prst="rect">
              <a:avLst/>
            </a:prstGeom>
            <a:solidFill>
              <a:srgbClr val="44546A">
                <a:alpha val="70000"/>
              </a:srgbClr>
            </a:solidFill>
            <a:ln>
              <a:noFill/>
            </a:ln>
          </p:spPr>
        </p:sp>
        <p:sp>
          <p:nvSpPr>
            <p:cNvPr id="25" name="TextBox 25"/>
            <p:cNvSpPr txBox="1"/>
            <p:nvPr/>
          </p:nvSpPr>
          <p:spPr>
            <a:xfrm>
              <a:off x="3356836" y="3736181"/>
              <a:ext cx="249103" cy="228600"/>
            </a:xfrm>
            <a:prstGeom prst="rect">
              <a:avLst/>
            </a:prstGeom>
            <a:noFill/>
            <a:ln>
              <a:noFill/>
            </a:ln>
          </p:spPr>
          <p:txBody>
            <a:bodyPr wrap="none" lIns="0" tIns="0" rIns="0" bIns="0" anchor="t" anchorCtr="0">
              <a:spAutoFit/>
            </a:bodyPr>
            <a:lstStyle/>
            <a:p>
              <a:pPr algn="ctr"/>
              <a:r>
                <a:rPr lang="zh-CN" sz="1125" b="1" dirty="0">
                  <a:solidFill>
                    <a:srgbClr val="1B1C21"/>
                  </a:solidFill>
                  <a:latin typeface="Arial"/>
                  <a:ea typeface="Microsoft YaHei"/>
                  <a:cs typeface="Arial"/>
                </a:rPr>
                <a:t>152</a:t>
              </a:r>
            </a:p>
          </p:txBody>
        </p:sp>
        <p:sp>
          <p:nvSpPr>
            <p:cNvPr id="26" name="TextBox 26"/>
            <p:cNvSpPr txBox="1"/>
            <p:nvPr/>
          </p:nvSpPr>
          <p:spPr>
            <a:xfrm>
              <a:off x="3178314" y="4831556"/>
              <a:ext cx="606147"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[60-65)</a:t>
              </a:r>
            </a:p>
          </p:txBody>
        </p:sp>
        <p:sp>
          <p:nvSpPr>
            <p:cNvPr id="27" name="Rectangle 27"/>
            <p:cNvSpPr/>
            <p:nvPr/>
          </p:nvSpPr>
          <p:spPr>
            <a:xfrm>
              <a:off x="4248150" y="3676650"/>
              <a:ext cx="1190625" cy="1085850"/>
            </a:xfrm>
            <a:prstGeom prst="rect">
              <a:avLst/>
            </a:prstGeom>
            <a:solidFill>
              <a:srgbClr val="44546A">
                <a:alpha val="70000"/>
              </a:srgbClr>
            </a:solidFill>
            <a:ln>
              <a:noFill/>
            </a:ln>
          </p:spPr>
        </p:sp>
        <p:sp>
          <p:nvSpPr>
            <p:cNvPr id="28" name="TextBox 28"/>
            <p:cNvSpPr txBox="1"/>
            <p:nvPr/>
          </p:nvSpPr>
          <p:spPr>
            <a:xfrm>
              <a:off x="4699221" y="3459956"/>
              <a:ext cx="288482" cy="228600"/>
            </a:xfrm>
            <a:prstGeom prst="rect">
              <a:avLst/>
            </a:prstGeom>
            <a:noFill/>
            <a:ln>
              <a:noFill/>
            </a:ln>
          </p:spPr>
          <p:txBody>
            <a:bodyPr wrap="none" lIns="0" tIns="0" rIns="0" bIns="0" anchor="t" anchorCtr="0">
              <a:spAutoFit/>
            </a:bodyPr>
            <a:lstStyle/>
            <a:p>
              <a:pPr algn="ctr"/>
              <a:r>
                <a:rPr lang="zh-CN" sz="1125" b="1" dirty="0">
                  <a:solidFill>
                    <a:srgbClr val="1B1C21"/>
                  </a:solidFill>
                  <a:latin typeface="Arial"/>
                  <a:ea typeface="Microsoft YaHei"/>
                  <a:cs typeface="Arial"/>
                </a:rPr>
                <a:t>204</a:t>
              </a:r>
            </a:p>
          </p:txBody>
        </p:sp>
        <p:sp>
          <p:nvSpPr>
            <p:cNvPr id="29" name="TextBox 29"/>
            <p:cNvSpPr txBox="1"/>
            <p:nvPr/>
          </p:nvSpPr>
          <p:spPr>
            <a:xfrm>
              <a:off x="4540389" y="4831556"/>
              <a:ext cx="606147"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[65-70)</a:t>
              </a:r>
            </a:p>
          </p:txBody>
        </p:sp>
        <p:sp>
          <p:nvSpPr>
            <p:cNvPr id="30" name="Rectangle 30"/>
            <p:cNvSpPr/>
            <p:nvPr/>
          </p:nvSpPr>
          <p:spPr>
            <a:xfrm>
              <a:off x="5610225" y="3048000"/>
              <a:ext cx="1190625" cy="1714500"/>
            </a:xfrm>
            <a:prstGeom prst="rect">
              <a:avLst/>
            </a:prstGeom>
            <a:solidFill>
              <a:srgbClr val="1F4D78"/>
            </a:solidFill>
            <a:ln>
              <a:noFill/>
            </a:ln>
          </p:spPr>
        </p:sp>
        <p:sp>
          <p:nvSpPr>
            <p:cNvPr id="31" name="TextBox 31"/>
            <p:cNvSpPr txBox="1"/>
            <p:nvPr/>
          </p:nvSpPr>
          <p:spPr>
            <a:xfrm>
              <a:off x="6080986" y="2831306"/>
              <a:ext cx="249103" cy="228600"/>
            </a:xfrm>
            <a:prstGeom prst="rect">
              <a:avLst/>
            </a:prstGeom>
            <a:noFill/>
            <a:ln>
              <a:noFill/>
            </a:ln>
          </p:spPr>
          <p:txBody>
            <a:bodyPr wrap="none" lIns="0" tIns="0" rIns="0" bIns="0" anchor="t" anchorCtr="0">
              <a:spAutoFit/>
            </a:bodyPr>
            <a:lstStyle/>
            <a:p>
              <a:pPr algn="ctr"/>
              <a:r>
                <a:rPr lang="zh-CN" sz="1125" b="1" dirty="0">
                  <a:solidFill>
                    <a:srgbClr val="1B1C21"/>
                  </a:solidFill>
                  <a:latin typeface="Arial"/>
                  <a:ea typeface="Microsoft YaHei"/>
                  <a:cs typeface="Arial"/>
                </a:rPr>
                <a:t>321</a:t>
              </a:r>
            </a:p>
          </p:txBody>
        </p:sp>
        <p:sp>
          <p:nvSpPr>
            <p:cNvPr id="32" name="TextBox 32"/>
            <p:cNvSpPr txBox="1"/>
            <p:nvPr/>
          </p:nvSpPr>
          <p:spPr>
            <a:xfrm>
              <a:off x="5902464" y="4831556"/>
              <a:ext cx="606147"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[70-75)</a:t>
              </a:r>
            </a:p>
          </p:txBody>
        </p:sp>
        <p:sp>
          <p:nvSpPr>
            <p:cNvPr id="33" name="Rectangle 33"/>
            <p:cNvSpPr/>
            <p:nvPr/>
          </p:nvSpPr>
          <p:spPr>
            <a:xfrm>
              <a:off x="6972300" y="2362200"/>
              <a:ext cx="1190625" cy="2400300"/>
            </a:xfrm>
            <a:prstGeom prst="rect">
              <a:avLst/>
            </a:prstGeom>
            <a:solidFill>
              <a:srgbClr val="C8161E"/>
            </a:solidFill>
            <a:ln>
              <a:noFill/>
            </a:ln>
          </p:spPr>
        </p:sp>
        <p:sp>
          <p:nvSpPr>
            <p:cNvPr id="34" name="TextBox 34"/>
            <p:cNvSpPr txBox="1"/>
            <p:nvPr/>
          </p:nvSpPr>
          <p:spPr>
            <a:xfrm>
              <a:off x="7443061" y="2145506"/>
              <a:ext cx="249103" cy="228600"/>
            </a:xfrm>
            <a:prstGeom prst="rect">
              <a:avLst/>
            </a:prstGeom>
            <a:noFill/>
            <a:ln>
              <a:noFill/>
            </a:ln>
          </p:spPr>
          <p:txBody>
            <a:bodyPr wrap="none" lIns="0" tIns="0" rIns="0" bIns="0" anchor="t" anchorCtr="0">
              <a:spAutoFit/>
            </a:bodyPr>
            <a:lstStyle/>
            <a:p>
              <a:pPr algn="ctr"/>
              <a:r>
                <a:rPr lang="zh-CN" sz="1125" b="1" dirty="0">
                  <a:solidFill>
                    <a:srgbClr val="1B1C21"/>
                  </a:solidFill>
                  <a:latin typeface="Arial"/>
                  <a:ea typeface="Microsoft YaHei"/>
                  <a:cs typeface="Arial"/>
                </a:rPr>
                <a:t>451</a:t>
              </a:r>
            </a:p>
          </p:txBody>
        </p:sp>
        <p:sp>
          <p:nvSpPr>
            <p:cNvPr id="35" name="TextBox 35"/>
            <p:cNvSpPr txBox="1"/>
            <p:nvPr/>
          </p:nvSpPr>
          <p:spPr>
            <a:xfrm>
              <a:off x="7250100" y="4831556"/>
              <a:ext cx="635026" cy="228600"/>
            </a:xfrm>
            <a:prstGeom prst="rect">
              <a:avLst/>
            </a:prstGeom>
            <a:noFill/>
            <a:ln>
              <a:noFill/>
            </a:ln>
          </p:spPr>
          <p:txBody>
            <a:bodyPr wrap="none" lIns="0" tIns="0" rIns="0" bIns="0" anchor="t" anchorCtr="0">
              <a:spAutoFit/>
            </a:bodyPr>
            <a:lstStyle/>
            <a:p>
              <a:pPr algn="ctr"/>
              <a:r>
                <a:rPr lang="zh-CN" sz="1125" b="1" dirty="0">
                  <a:solidFill>
                    <a:srgbClr val="C8161E"/>
                  </a:solidFill>
                  <a:latin typeface="Arial"/>
                  <a:ea typeface="Microsoft YaHei"/>
                  <a:cs typeface="Arial"/>
                </a:rPr>
                <a:t>[75-80)</a:t>
              </a:r>
            </a:p>
          </p:txBody>
        </p:sp>
        <p:sp>
          <p:nvSpPr>
            <p:cNvPr id="36" name="Rectangle 36"/>
            <p:cNvSpPr/>
            <p:nvPr/>
          </p:nvSpPr>
          <p:spPr>
            <a:xfrm>
              <a:off x="8334375" y="2733675"/>
              <a:ext cx="1190625" cy="2028825"/>
            </a:xfrm>
            <a:prstGeom prst="rect">
              <a:avLst/>
            </a:prstGeom>
            <a:solidFill>
              <a:srgbClr val="1F4D78"/>
            </a:solidFill>
            <a:ln>
              <a:noFill/>
            </a:ln>
          </p:spPr>
        </p:sp>
        <p:sp>
          <p:nvSpPr>
            <p:cNvPr id="37" name="TextBox 37"/>
            <p:cNvSpPr txBox="1"/>
            <p:nvPr/>
          </p:nvSpPr>
          <p:spPr>
            <a:xfrm>
              <a:off x="8785446" y="2516981"/>
              <a:ext cx="288482" cy="228600"/>
            </a:xfrm>
            <a:prstGeom prst="rect">
              <a:avLst/>
            </a:prstGeom>
            <a:noFill/>
            <a:ln>
              <a:noFill/>
            </a:ln>
          </p:spPr>
          <p:txBody>
            <a:bodyPr wrap="none" lIns="0" tIns="0" rIns="0" bIns="0" anchor="t" anchorCtr="0">
              <a:spAutoFit/>
            </a:bodyPr>
            <a:lstStyle/>
            <a:p>
              <a:pPr algn="ctr"/>
              <a:r>
                <a:rPr lang="zh-CN" sz="1125" b="1" dirty="0">
                  <a:solidFill>
                    <a:srgbClr val="1B1C21"/>
                  </a:solidFill>
                  <a:latin typeface="Arial"/>
                  <a:ea typeface="Microsoft YaHei"/>
                  <a:cs typeface="Arial"/>
                </a:rPr>
                <a:t>380</a:t>
              </a:r>
            </a:p>
          </p:txBody>
        </p:sp>
        <p:sp>
          <p:nvSpPr>
            <p:cNvPr id="38" name="TextBox 38"/>
            <p:cNvSpPr txBox="1"/>
            <p:nvPr/>
          </p:nvSpPr>
          <p:spPr>
            <a:xfrm>
              <a:off x="8626614" y="4831556"/>
              <a:ext cx="606147"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[80-85)</a:t>
              </a:r>
            </a:p>
          </p:txBody>
        </p:sp>
        <p:sp>
          <p:nvSpPr>
            <p:cNvPr id="39" name="Rectangle 39"/>
            <p:cNvSpPr/>
            <p:nvPr/>
          </p:nvSpPr>
          <p:spPr>
            <a:xfrm>
              <a:off x="9696450" y="4333875"/>
              <a:ext cx="1190625" cy="428625"/>
            </a:xfrm>
            <a:prstGeom prst="rect">
              <a:avLst/>
            </a:prstGeom>
            <a:solidFill>
              <a:srgbClr val="44546A">
                <a:alpha val="70000"/>
              </a:srgbClr>
            </a:solidFill>
            <a:ln>
              <a:noFill/>
            </a:ln>
          </p:spPr>
        </p:sp>
        <p:sp>
          <p:nvSpPr>
            <p:cNvPr id="40" name="TextBox 40"/>
            <p:cNvSpPr txBox="1"/>
            <p:nvPr/>
          </p:nvSpPr>
          <p:spPr>
            <a:xfrm>
              <a:off x="10210529" y="4117181"/>
              <a:ext cx="162467" cy="228600"/>
            </a:xfrm>
            <a:prstGeom prst="rect">
              <a:avLst/>
            </a:prstGeom>
            <a:noFill/>
            <a:ln>
              <a:noFill/>
            </a:ln>
          </p:spPr>
          <p:txBody>
            <a:bodyPr wrap="none" lIns="0" tIns="0" rIns="0" bIns="0" anchor="t" anchorCtr="0">
              <a:spAutoFit/>
            </a:bodyPr>
            <a:lstStyle/>
            <a:p>
              <a:pPr algn="ctr"/>
              <a:r>
                <a:rPr lang="zh-CN" sz="1125" b="1" dirty="0">
                  <a:solidFill>
                    <a:srgbClr val="1B1C21"/>
                  </a:solidFill>
                  <a:latin typeface="Arial"/>
                  <a:ea typeface="Microsoft YaHei"/>
                  <a:cs typeface="Arial"/>
                </a:rPr>
                <a:t>81</a:t>
              </a:r>
            </a:p>
          </p:txBody>
        </p:sp>
        <p:sp>
          <p:nvSpPr>
            <p:cNvPr id="41" name="TextBox 41"/>
            <p:cNvSpPr txBox="1"/>
            <p:nvPr/>
          </p:nvSpPr>
          <p:spPr>
            <a:xfrm>
              <a:off x="9988689" y="4831556"/>
              <a:ext cx="606147"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[85-90)</a:t>
              </a:r>
            </a:p>
          </p:txBody>
        </p:sp>
      </p:grpSp>
      <p:grpSp>
        <p:nvGrpSpPr>
          <p:cNvPr id="58" name="Group 58"/>
          <p:cNvGrpSpPr/>
          <p:nvPr/>
        </p:nvGrpSpPr>
        <p:grpSpPr>
          <a:xfrm>
            <a:off x="609600" y="5334000"/>
            <a:ext cx="10972800" cy="1066800"/>
            <a:chOff x="609600" y="5334000"/>
            <a:chExt cx="10972800" cy="1066800"/>
          </a:xfrm>
        </p:grpSpPr>
        <p:sp>
          <p:nvSpPr>
            <p:cNvPr id="43" name="Rectangle 43"/>
            <p:cNvSpPr/>
            <p:nvPr/>
          </p:nvSpPr>
          <p:spPr>
            <a:xfrm>
              <a:off x="609600" y="5334000"/>
              <a:ext cx="10972800" cy="1066800"/>
            </a:xfrm>
            <a:prstGeom prst="roundRect">
              <a:avLst>
                <a:gd name="adj" fmla="val 7143"/>
              </a:avLst>
            </a:prstGeom>
            <a:solidFill>
              <a:srgbClr val="F4F5F7"/>
            </a:solidFill>
            <a:ln>
              <a:noFill/>
            </a:ln>
          </p:spPr>
        </p:sp>
        <p:sp>
          <p:nvSpPr>
            <p:cNvPr id="44" name="TextBox 44"/>
            <p:cNvSpPr txBox="1"/>
            <p:nvPr/>
          </p:nvSpPr>
          <p:spPr>
            <a:xfrm>
              <a:off x="938212" y="5498306"/>
              <a:ext cx="328612"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均值</a:t>
              </a:r>
            </a:p>
          </p:txBody>
        </p:sp>
        <p:sp>
          <p:nvSpPr>
            <p:cNvPr id="45" name="TextBox 45"/>
            <p:cNvSpPr txBox="1"/>
            <p:nvPr/>
          </p:nvSpPr>
          <p:spPr>
            <a:xfrm>
              <a:off x="927735" y="5647372"/>
              <a:ext cx="581947"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71.0</a:t>
              </a:r>
            </a:p>
          </p:txBody>
        </p:sp>
        <p:sp>
          <p:nvSpPr>
            <p:cNvPr id="46" name="TextBox 46"/>
            <p:cNvSpPr txBox="1"/>
            <p:nvPr/>
          </p:nvSpPr>
          <p:spPr>
            <a:xfrm>
              <a:off x="2271712" y="5498306"/>
              <a:ext cx="478631"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中位数</a:t>
              </a:r>
            </a:p>
          </p:txBody>
        </p:sp>
        <p:sp>
          <p:nvSpPr>
            <p:cNvPr id="47" name="TextBox 47"/>
            <p:cNvSpPr txBox="1"/>
            <p:nvPr/>
          </p:nvSpPr>
          <p:spPr>
            <a:xfrm>
              <a:off x="2261235" y="5647372"/>
              <a:ext cx="650205"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74.5</a:t>
              </a:r>
            </a:p>
          </p:txBody>
        </p:sp>
        <p:sp>
          <p:nvSpPr>
            <p:cNvPr id="48" name="TextBox 48"/>
            <p:cNvSpPr txBox="1"/>
            <p:nvPr/>
          </p:nvSpPr>
          <p:spPr>
            <a:xfrm>
              <a:off x="3605212" y="5498306"/>
              <a:ext cx="628650"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峰值区间</a:t>
              </a:r>
            </a:p>
          </p:txBody>
        </p:sp>
        <p:sp>
          <p:nvSpPr>
            <p:cNvPr id="49" name="TextBox 49"/>
            <p:cNvSpPr txBox="1"/>
            <p:nvPr/>
          </p:nvSpPr>
          <p:spPr>
            <a:xfrm>
              <a:off x="3594735" y="5647372"/>
              <a:ext cx="800374" cy="396240"/>
            </a:xfrm>
            <a:prstGeom prst="rect">
              <a:avLst/>
            </a:prstGeom>
            <a:noFill/>
            <a:ln>
              <a:noFill/>
            </a:ln>
          </p:spPr>
          <p:txBody>
            <a:bodyPr wrap="none" lIns="0" tIns="0" rIns="0" bIns="0" anchor="t" anchorCtr="0">
              <a:spAutoFit/>
            </a:bodyPr>
            <a:lstStyle/>
            <a:p>
              <a:pPr algn="l"/>
              <a:r>
                <a:rPr lang="zh-CN" sz="1950" b="1" dirty="0">
                  <a:solidFill>
                    <a:srgbClr val="C8161E"/>
                  </a:solidFill>
                  <a:latin typeface="Arial"/>
                  <a:ea typeface="Microsoft YaHei"/>
                  <a:cs typeface="Arial"/>
                </a:rPr>
                <a:t>75-80</a:t>
              </a:r>
            </a:p>
          </p:txBody>
        </p:sp>
        <p:sp>
          <p:nvSpPr>
            <p:cNvPr id="50" name="TextBox 50"/>
            <p:cNvSpPr txBox="1"/>
            <p:nvPr/>
          </p:nvSpPr>
          <p:spPr>
            <a:xfrm>
              <a:off x="4457700" y="5695950"/>
              <a:ext cx="808196" cy="304800"/>
            </a:xfrm>
            <a:prstGeom prst="rect">
              <a:avLst/>
            </a:prstGeom>
            <a:noFill/>
            <a:ln>
              <a:noFill/>
            </a:ln>
          </p:spPr>
          <p:txBody>
            <a:bodyPr wrap="none" lIns="0" tIns="0" rIns="0" bIns="0" anchor="t" anchorCtr="0">
              <a:spAutoFit/>
            </a:bodyPr>
            <a:lstStyle/>
            <a:p>
              <a:pPr algn="l"/>
              <a:r>
                <a:rPr lang="zh-CN" sz="1500" dirty="0">
                  <a:solidFill>
                    <a:srgbClr val="5A6472"/>
                  </a:solidFill>
                  <a:latin typeface="Arial"/>
                  <a:ea typeface="Microsoft YaHei"/>
                  <a:cs typeface="Arial"/>
                </a:rPr>
                <a:t>(23.5%)</a:t>
              </a:r>
            </a:p>
          </p:txBody>
        </p:sp>
        <p:sp>
          <p:nvSpPr>
            <p:cNvPr id="51" name="TextBox 51"/>
            <p:cNvSpPr txBox="1"/>
            <p:nvPr/>
          </p:nvSpPr>
          <p:spPr>
            <a:xfrm>
              <a:off x="5700712" y="5498306"/>
              <a:ext cx="478631"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标准差</a:t>
              </a:r>
            </a:p>
          </p:txBody>
        </p:sp>
        <p:sp>
          <p:nvSpPr>
            <p:cNvPr id="52" name="TextBox 52"/>
            <p:cNvSpPr txBox="1"/>
            <p:nvPr/>
          </p:nvSpPr>
          <p:spPr>
            <a:xfrm>
              <a:off x="5690235" y="5647372"/>
              <a:ext cx="513688"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12.1</a:t>
              </a:r>
            </a:p>
          </p:txBody>
        </p:sp>
        <p:sp>
          <p:nvSpPr>
            <p:cNvPr id="53" name="TextBox 53"/>
            <p:cNvSpPr txBox="1"/>
            <p:nvPr/>
          </p:nvSpPr>
          <p:spPr>
            <a:xfrm>
              <a:off x="7034212" y="5498306"/>
              <a:ext cx="1086207"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70-85 区间占比</a:t>
              </a:r>
            </a:p>
          </p:txBody>
        </p:sp>
        <p:sp>
          <p:nvSpPr>
            <p:cNvPr id="54" name="TextBox 54"/>
            <p:cNvSpPr txBox="1"/>
            <p:nvPr/>
          </p:nvSpPr>
          <p:spPr>
            <a:xfrm>
              <a:off x="7023735" y="5647372"/>
              <a:ext cx="800374" cy="396240"/>
            </a:xfrm>
            <a:prstGeom prst="rect">
              <a:avLst/>
            </a:prstGeom>
            <a:noFill/>
            <a:ln>
              <a:noFill/>
            </a:ln>
          </p:spPr>
          <p:txBody>
            <a:bodyPr wrap="none" lIns="0" tIns="0" rIns="0" bIns="0" anchor="t" anchorCtr="0">
              <a:spAutoFit/>
            </a:bodyPr>
            <a:lstStyle/>
            <a:p>
              <a:pPr algn="l"/>
              <a:r>
                <a:rPr lang="zh-CN" sz="1950" b="1" dirty="0">
                  <a:solidFill>
                    <a:srgbClr val="2E7D32"/>
                  </a:solidFill>
                  <a:latin typeface="Arial"/>
                  <a:ea typeface="Microsoft YaHei"/>
                  <a:cs typeface="Arial"/>
                </a:rPr>
                <a:t>60.0%</a:t>
              </a:r>
            </a:p>
          </p:txBody>
        </p:sp>
        <p:sp>
          <p:nvSpPr>
            <p:cNvPr id="55" name="TextBox 55"/>
            <p:cNvSpPr txBox="1"/>
            <p:nvPr/>
          </p:nvSpPr>
          <p:spPr>
            <a:xfrm>
              <a:off x="9034462" y="5498306"/>
              <a:ext cx="1048702"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R1→R2 均分变化</a:t>
              </a:r>
            </a:p>
          </p:txBody>
        </p:sp>
        <p:sp>
          <p:nvSpPr>
            <p:cNvPr id="56" name="TextBox 56"/>
            <p:cNvSpPr txBox="1"/>
            <p:nvPr/>
          </p:nvSpPr>
          <p:spPr>
            <a:xfrm>
              <a:off x="9023985" y="5647372"/>
              <a:ext cx="1196273" cy="396240"/>
            </a:xfrm>
            <a:prstGeom prst="rect">
              <a:avLst/>
            </a:prstGeom>
            <a:noFill/>
            <a:ln>
              <a:noFill/>
            </a:ln>
          </p:spPr>
          <p:txBody>
            <a:bodyPr wrap="none" lIns="0" tIns="0" rIns="0" bIns="0" anchor="t" anchorCtr="0">
              <a:spAutoFit/>
            </a:bodyPr>
            <a:lstStyle/>
            <a:p>
              <a:pPr algn="l"/>
              <a:r>
                <a:rPr lang="zh-CN" sz="1950" b="1" dirty="0">
                  <a:solidFill>
                    <a:srgbClr val="2E7D32"/>
                  </a:solidFill>
                  <a:latin typeface="Arial"/>
                  <a:ea typeface="Microsoft YaHei"/>
                  <a:cs typeface="Arial"/>
                </a:rPr>
                <a:t>71.1→71.0</a:t>
              </a:r>
            </a:p>
          </p:txBody>
        </p:sp>
        <p:sp>
          <p:nvSpPr>
            <p:cNvPr id="57" name="TextBox 57"/>
            <p:cNvSpPr txBox="1"/>
            <p:nvPr/>
          </p:nvSpPr>
          <p:spPr>
            <a:xfrm>
              <a:off x="938212" y="6069806"/>
              <a:ext cx="6486882"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注：加权总分 = 创新性×30% + 洞察度×20% + 建构力×15% + 连贯性×20% + 共识度×10% + 延展性×5%</a:t>
              </a:r>
            </a:p>
          </p:txBody>
        </p:sp>
      </p:grpSp>
      <p:sp>
        <p:nvSpPr>
          <p:cNvPr id="59" name="TextBox 59"/>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400"/>
                                        <p:tgtEl>
                                          <p:spTgt spid="4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wipe(left)">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5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3471005"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各模型评分特征画像</a:t>
            </a:r>
          </a:p>
        </p:txBody>
      </p:sp>
      <p:sp>
        <p:nvSpPr>
          <p:cNvPr id="7" name="TextBox 7"/>
          <p:cNvSpPr txBox="1"/>
          <p:nvPr/>
        </p:nvSpPr>
        <p:spPr>
          <a:xfrm>
            <a:off x="3882580" y="1473518"/>
            <a:ext cx="4426839"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基于 1920 篇 R2 评分统计（46,080 个模型-维度评分）</a:t>
            </a:r>
          </a:p>
        </p:txBody>
      </p:sp>
      <p:grpSp>
        <p:nvGrpSpPr>
          <p:cNvPr id="48" name="Group 48"/>
          <p:cNvGrpSpPr/>
          <p:nvPr/>
        </p:nvGrpSpPr>
        <p:grpSpPr>
          <a:xfrm>
            <a:off x="609600" y="1905000"/>
            <a:ext cx="11513820" cy="2743200"/>
            <a:chOff x="609600" y="1905000"/>
            <a:chExt cx="11513820" cy="2743200"/>
          </a:xfrm>
        </p:grpSpPr>
        <p:sp>
          <p:nvSpPr>
            <p:cNvPr id="8" name="Rectangle 8"/>
            <p:cNvSpPr/>
            <p:nvPr/>
          </p:nvSpPr>
          <p:spPr>
            <a:xfrm>
              <a:off x="609600" y="1905000"/>
              <a:ext cx="10972800" cy="457200"/>
            </a:xfrm>
            <a:prstGeom prst="rect">
              <a:avLst/>
            </a:prstGeom>
            <a:solidFill>
              <a:srgbClr val="1F4D78"/>
            </a:solidFill>
            <a:ln>
              <a:noFill/>
            </a:ln>
          </p:spPr>
        </p:sp>
        <p:sp>
          <p:nvSpPr>
            <p:cNvPr id="9" name="TextBox 9"/>
            <p:cNvSpPr txBox="1"/>
            <p:nvPr/>
          </p:nvSpPr>
          <p:spPr>
            <a:xfrm>
              <a:off x="1316355" y="2045018"/>
              <a:ext cx="41233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模型</a:t>
              </a:r>
            </a:p>
          </p:txBody>
        </p:sp>
        <p:sp>
          <p:nvSpPr>
            <p:cNvPr id="10" name="TextBox 10"/>
            <p:cNvSpPr txBox="1"/>
            <p:nvPr/>
          </p:nvSpPr>
          <p:spPr>
            <a:xfrm>
              <a:off x="3221355" y="2045018"/>
              <a:ext cx="41233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组别</a:t>
              </a:r>
            </a:p>
          </p:txBody>
        </p:sp>
        <p:sp>
          <p:nvSpPr>
            <p:cNvPr id="11" name="TextBox 11"/>
            <p:cNvSpPr txBox="1"/>
            <p:nvPr/>
          </p:nvSpPr>
          <p:spPr>
            <a:xfrm>
              <a:off x="4554855" y="2045018"/>
              <a:ext cx="41233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均值</a:t>
              </a:r>
            </a:p>
          </p:txBody>
        </p:sp>
        <p:sp>
          <p:nvSpPr>
            <p:cNvPr id="12" name="TextBox 12"/>
            <p:cNvSpPr txBox="1"/>
            <p:nvPr/>
          </p:nvSpPr>
          <p:spPr>
            <a:xfrm>
              <a:off x="5697855" y="2045018"/>
              <a:ext cx="346179"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std</a:t>
              </a:r>
            </a:p>
          </p:txBody>
        </p:sp>
        <p:sp>
          <p:nvSpPr>
            <p:cNvPr id="13" name="TextBox 13"/>
            <p:cNvSpPr txBox="1"/>
            <p:nvPr/>
          </p:nvSpPr>
          <p:spPr>
            <a:xfrm>
              <a:off x="6840855" y="2045018"/>
              <a:ext cx="97940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最高分占比</a:t>
              </a:r>
            </a:p>
          </p:txBody>
        </p:sp>
        <p:sp>
          <p:nvSpPr>
            <p:cNvPr id="14" name="TextBox 14"/>
            <p:cNvSpPr txBox="1"/>
            <p:nvPr/>
          </p:nvSpPr>
          <p:spPr>
            <a:xfrm>
              <a:off x="8745855" y="2045018"/>
              <a:ext cx="97940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最低分占比</a:t>
              </a:r>
            </a:p>
          </p:txBody>
        </p:sp>
        <p:sp>
          <p:nvSpPr>
            <p:cNvPr id="15" name="TextBox 15"/>
            <p:cNvSpPr txBox="1"/>
            <p:nvPr/>
          </p:nvSpPr>
          <p:spPr>
            <a:xfrm>
              <a:off x="10650855" y="2045018"/>
              <a:ext cx="41233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特征</a:t>
              </a:r>
            </a:p>
          </p:txBody>
        </p:sp>
        <p:sp>
          <p:nvSpPr>
            <p:cNvPr id="16" name="Rectangle 16"/>
            <p:cNvSpPr/>
            <p:nvPr/>
          </p:nvSpPr>
          <p:spPr>
            <a:xfrm>
              <a:off x="609600" y="2362200"/>
              <a:ext cx="10972800" cy="571500"/>
            </a:xfrm>
            <a:prstGeom prst="rect">
              <a:avLst/>
            </a:prstGeom>
            <a:solidFill>
              <a:srgbClr val="F4F5F7"/>
            </a:solidFill>
            <a:ln>
              <a:noFill/>
            </a:ln>
          </p:spPr>
        </p:sp>
        <p:sp>
          <p:nvSpPr>
            <p:cNvPr id="17" name="TextBox 17"/>
            <p:cNvSpPr txBox="1"/>
            <p:nvPr/>
          </p:nvSpPr>
          <p:spPr>
            <a:xfrm>
              <a:off x="1316355" y="2549842"/>
              <a:ext cx="1593735" cy="274320"/>
            </a:xfrm>
            <a:prstGeom prst="rect">
              <a:avLst/>
            </a:prstGeom>
            <a:noFill/>
            <a:ln>
              <a:noFill/>
            </a:ln>
          </p:spPr>
          <p:txBody>
            <a:bodyPr wrap="none" lIns="0" tIns="0" rIns="0" bIns="0" anchor="t" anchorCtr="0">
              <a:spAutoFit/>
            </a:bodyPr>
            <a:lstStyle/>
            <a:p>
              <a:pPr algn="l"/>
              <a:r>
                <a:rPr lang="zh-CN" sz="1350" b="1" dirty="0">
                  <a:solidFill>
                    <a:srgbClr val="1B1C21"/>
                  </a:solidFill>
                  <a:latin typeface="Arial"/>
                  <a:ea typeface="Microsoft YaHei"/>
                  <a:cs typeface="Arial"/>
                </a:rPr>
                <a:t>DeepSeek-V4-Pro</a:t>
              </a:r>
            </a:p>
          </p:txBody>
        </p:sp>
        <p:sp>
          <p:nvSpPr>
            <p:cNvPr id="18" name="TextBox 18"/>
            <p:cNvSpPr txBox="1"/>
            <p:nvPr/>
          </p:nvSpPr>
          <p:spPr>
            <a:xfrm>
              <a:off x="3221355" y="2549842"/>
              <a:ext cx="85339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B（严格）</a:t>
              </a:r>
            </a:p>
          </p:txBody>
        </p:sp>
        <p:sp>
          <p:nvSpPr>
            <p:cNvPr id="19" name="TextBox 19"/>
            <p:cNvSpPr txBox="1"/>
            <p:nvPr/>
          </p:nvSpPr>
          <p:spPr>
            <a:xfrm>
              <a:off x="4554855" y="2549842"/>
              <a:ext cx="450142" cy="274320"/>
            </a:xfrm>
            <a:prstGeom prst="rect">
              <a:avLst/>
            </a:prstGeom>
            <a:noFill/>
            <a:ln>
              <a:noFill/>
            </a:ln>
          </p:spPr>
          <p:txBody>
            <a:bodyPr wrap="none" lIns="0" tIns="0" rIns="0" bIns="0" anchor="t" anchorCtr="0">
              <a:spAutoFit/>
            </a:bodyPr>
            <a:lstStyle/>
            <a:p>
              <a:pPr algn="l"/>
              <a:r>
                <a:rPr lang="zh-CN" sz="1350" b="1" dirty="0">
                  <a:solidFill>
                    <a:srgbClr val="C8161E"/>
                  </a:solidFill>
                  <a:latin typeface="Arial"/>
                  <a:ea typeface="Microsoft YaHei"/>
                  <a:cs typeface="Arial"/>
                </a:rPr>
                <a:t>68.3</a:t>
              </a:r>
            </a:p>
          </p:txBody>
        </p:sp>
        <p:sp>
          <p:nvSpPr>
            <p:cNvPr id="20" name="TextBox 20"/>
            <p:cNvSpPr txBox="1"/>
            <p:nvPr/>
          </p:nvSpPr>
          <p:spPr>
            <a:xfrm>
              <a:off x="5697855" y="2549842"/>
              <a:ext cx="38533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21.8</a:t>
              </a:r>
            </a:p>
          </p:txBody>
        </p:sp>
        <p:sp>
          <p:nvSpPr>
            <p:cNvPr id="21" name="TextBox 21"/>
            <p:cNvSpPr txBox="1"/>
            <p:nvPr/>
          </p:nvSpPr>
          <p:spPr>
            <a:xfrm>
              <a:off x="6840855" y="2549842"/>
              <a:ext cx="484346"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12.6%</a:t>
              </a:r>
            </a:p>
          </p:txBody>
        </p:sp>
        <p:sp>
          <p:nvSpPr>
            <p:cNvPr id="22" name="TextBox 22"/>
            <p:cNvSpPr txBox="1"/>
            <p:nvPr/>
          </p:nvSpPr>
          <p:spPr>
            <a:xfrm>
              <a:off x="8745855" y="2549842"/>
              <a:ext cx="554105" cy="274320"/>
            </a:xfrm>
            <a:prstGeom prst="rect">
              <a:avLst/>
            </a:prstGeom>
            <a:noFill/>
            <a:ln>
              <a:noFill/>
            </a:ln>
          </p:spPr>
          <p:txBody>
            <a:bodyPr wrap="none" lIns="0" tIns="0" rIns="0" bIns="0" anchor="t" anchorCtr="0">
              <a:spAutoFit/>
            </a:bodyPr>
            <a:lstStyle/>
            <a:p>
              <a:pPr algn="l"/>
              <a:r>
                <a:rPr lang="zh-CN" sz="1350" b="1" dirty="0">
                  <a:solidFill>
                    <a:srgbClr val="C8161E"/>
                  </a:solidFill>
                  <a:latin typeface="Arial"/>
                  <a:ea typeface="Microsoft YaHei"/>
                  <a:cs typeface="Arial"/>
                </a:rPr>
                <a:t>62.3%</a:t>
              </a:r>
            </a:p>
          </p:txBody>
        </p:sp>
        <p:sp>
          <p:nvSpPr>
            <p:cNvPr id="23" name="TextBox 23"/>
            <p:cNvSpPr txBox="1"/>
            <p:nvPr/>
          </p:nvSpPr>
          <p:spPr>
            <a:xfrm>
              <a:off x="10652760" y="2566035"/>
              <a:ext cx="13106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最严格，波动最大</a:t>
              </a:r>
            </a:p>
          </p:txBody>
        </p:sp>
        <p:sp>
          <p:nvSpPr>
            <p:cNvPr id="24" name="Rectangle 24"/>
            <p:cNvSpPr/>
            <p:nvPr/>
          </p:nvSpPr>
          <p:spPr>
            <a:xfrm>
              <a:off x="609600" y="2933700"/>
              <a:ext cx="10972800" cy="571500"/>
            </a:xfrm>
            <a:prstGeom prst="rect">
              <a:avLst/>
            </a:prstGeom>
            <a:solidFill>
              <a:srgbClr val="FFFFFF"/>
            </a:solidFill>
            <a:ln>
              <a:noFill/>
            </a:ln>
          </p:spPr>
        </p:sp>
        <p:sp>
          <p:nvSpPr>
            <p:cNvPr id="25" name="TextBox 25"/>
            <p:cNvSpPr txBox="1"/>
            <p:nvPr/>
          </p:nvSpPr>
          <p:spPr>
            <a:xfrm>
              <a:off x="1316355" y="3121342"/>
              <a:ext cx="752580" cy="274320"/>
            </a:xfrm>
            <a:prstGeom prst="rect">
              <a:avLst/>
            </a:prstGeom>
            <a:noFill/>
            <a:ln>
              <a:noFill/>
            </a:ln>
          </p:spPr>
          <p:txBody>
            <a:bodyPr wrap="none" lIns="0" tIns="0" rIns="0" bIns="0" anchor="t" anchorCtr="0">
              <a:spAutoFit/>
            </a:bodyPr>
            <a:lstStyle/>
            <a:p>
              <a:pPr algn="l"/>
              <a:r>
                <a:rPr lang="zh-CN" sz="1350" b="1" dirty="0">
                  <a:solidFill>
                    <a:srgbClr val="1B1C21"/>
                  </a:solidFill>
                  <a:latin typeface="Arial"/>
                  <a:ea typeface="Microsoft YaHei"/>
                  <a:cs typeface="Arial"/>
                </a:rPr>
                <a:t>GLM-5.1</a:t>
              </a:r>
            </a:p>
          </p:txBody>
        </p:sp>
        <p:sp>
          <p:nvSpPr>
            <p:cNvPr id="26" name="TextBox 26"/>
            <p:cNvSpPr txBox="1"/>
            <p:nvPr/>
          </p:nvSpPr>
          <p:spPr>
            <a:xfrm>
              <a:off x="3221355" y="3121342"/>
              <a:ext cx="85339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A（宽松）</a:t>
              </a:r>
            </a:p>
          </p:txBody>
        </p:sp>
        <p:sp>
          <p:nvSpPr>
            <p:cNvPr id="27" name="TextBox 27"/>
            <p:cNvSpPr txBox="1"/>
            <p:nvPr/>
          </p:nvSpPr>
          <p:spPr>
            <a:xfrm>
              <a:off x="4554855" y="3121342"/>
              <a:ext cx="38533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71.5</a:t>
              </a:r>
            </a:p>
          </p:txBody>
        </p:sp>
        <p:sp>
          <p:nvSpPr>
            <p:cNvPr id="28" name="TextBox 28"/>
            <p:cNvSpPr txBox="1"/>
            <p:nvPr/>
          </p:nvSpPr>
          <p:spPr>
            <a:xfrm>
              <a:off x="5697855" y="3121342"/>
              <a:ext cx="34032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17.1</a:t>
              </a:r>
            </a:p>
          </p:txBody>
        </p:sp>
        <p:sp>
          <p:nvSpPr>
            <p:cNvPr id="29" name="TextBox 29"/>
            <p:cNvSpPr txBox="1"/>
            <p:nvPr/>
          </p:nvSpPr>
          <p:spPr>
            <a:xfrm>
              <a:off x="6840855" y="3121342"/>
              <a:ext cx="43034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8.6%</a:t>
              </a:r>
            </a:p>
          </p:txBody>
        </p:sp>
        <p:sp>
          <p:nvSpPr>
            <p:cNvPr id="30" name="TextBox 30"/>
            <p:cNvSpPr txBox="1"/>
            <p:nvPr/>
          </p:nvSpPr>
          <p:spPr>
            <a:xfrm>
              <a:off x="8745855" y="3121342"/>
              <a:ext cx="52935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22.7%</a:t>
              </a:r>
            </a:p>
          </p:txBody>
        </p:sp>
        <p:sp>
          <p:nvSpPr>
            <p:cNvPr id="31" name="TextBox 31"/>
            <p:cNvSpPr txBox="1"/>
            <p:nvPr/>
          </p:nvSpPr>
          <p:spPr>
            <a:xfrm>
              <a:off x="10652760" y="3137535"/>
              <a:ext cx="83058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居中偏宽松</a:t>
              </a:r>
            </a:p>
          </p:txBody>
        </p:sp>
        <p:sp>
          <p:nvSpPr>
            <p:cNvPr id="32" name="Rectangle 32"/>
            <p:cNvSpPr/>
            <p:nvPr/>
          </p:nvSpPr>
          <p:spPr>
            <a:xfrm>
              <a:off x="609600" y="3505200"/>
              <a:ext cx="10972800" cy="571500"/>
            </a:xfrm>
            <a:prstGeom prst="rect">
              <a:avLst/>
            </a:prstGeom>
            <a:solidFill>
              <a:srgbClr val="F4F5F7"/>
            </a:solidFill>
            <a:ln>
              <a:noFill/>
            </a:ln>
          </p:spPr>
        </p:sp>
        <p:sp>
          <p:nvSpPr>
            <p:cNvPr id="33" name="TextBox 33"/>
            <p:cNvSpPr txBox="1"/>
            <p:nvPr/>
          </p:nvSpPr>
          <p:spPr>
            <a:xfrm>
              <a:off x="1316355" y="3692842"/>
              <a:ext cx="913250" cy="274320"/>
            </a:xfrm>
            <a:prstGeom prst="rect">
              <a:avLst/>
            </a:prstGeom>
            <a:noFill/>
            <a:ln>
              <a:noFill/>
            </a:ln>
          </p:spPr>
          <p:txBody>
            <a:bodyPr wrap="none" lIns="0" tIns="0" rIns="0" bIns="0" anchor="t" anchorCtr="0">
              <a:spAutoFit/>
            </a:bodyPr>
            <a:lstStyle/>
            <a:p>
              <a:pPr algn="l"/>
              <a:r>
                <a:rPr lang="zh-CN" sz="1350" b="1" dirty="0">
                  <a:solidFill>
                    <a:srgbClr val="1B1C21"/>
                  </a:solidFill>
                  <a:latin typeface="Arial"/>
                  <a:ea typeface="Microsoft YaHei"/>
                  <a:cs typeface="Arial"/>
                </a:rPr>
                <a:t>Kimi-K2.6</a:t>
              </a:r>
            </a:p>
          </p:txBody>
        </p:sp>
        <p:sp>
          <p:nvSpPr>
            <p:cNvPr id="34" name="TextBox 34"/>
            <p:cNvSpPr txBox="1"/>
            <p:nvPr/>
          </p:nvSpPr>
          <p:spPr>
            <a:xfrm>
              <a:off x="3221355" y="3692842"/>
              <a:ext cx="85339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B（严格）</a:t>
              </a:r>
            </a:p>
          </p:txBody>
        </p:sp>
        <p:sp>
          <p:nvSpPr>
            <p:cNvPr id="35" name="TextBox 35"/>
            <p:cNvSpPr txBox="1"/>
            <p:nvPr/>
          </p:nvSpPr>
          <p:spPr>
            <a:xfrm>
              <a:off x="4554855" y="3692842"/>
              <a:ext cx="43034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73.2</a:t>
              </a:r>
            </a:p>
          </p:txBody>
        </p:sp>
        <p:sp>
          <p:nvSpPr>
            <p:cNvPr id="36" name="TextBox 36"/>
            <p:cNvSpPr txBox="1"/>
            <p:nvPr/>
          </p:nvSpPr>
          <p:spPr>
            <a:xfrm>
              <a:off x="5697855" y="3692842"/>
              <a:ext cx="402886"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Arial"/>
                  <a:ea typeface="Microsoft YaHei"/>
                  <a:cs typeface="Arial"/>
                </a:rPr>
                <a:t>13.4</a:t>
              </a:r>
            </a:p>
          </p:txBody>
        </p:sp>
        <p:sp>
          <p:nvSpPr>
            <p:cNvPr id="37" name="TextBox 37"/>
            <p:cNvSpPr txBox="1"/>
            <p:nvPr/>
          </p:nvSpPr>
          <p:spPr>
            <a:xfrm>
              <a:off x="6840855" y="3692842"/>
              <a:ext cx="52935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22.2%</a:t>
              </a:r>
            </a:p>
          </p:txBody>
        </p:sp>
        <p:sp>
          <p:nvSpPr>
            <p:cNvPr id="38" name="TextBox 38"/>
            <p:cNvSpPr txBox="1"/>
            <p:nvPr/>
          </p:nvSpPr>
          <p:spPr>
            <a:xfrm>
              <a:off x="8745855" y="3692842"/>
              <a:ext cx="484346"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13.0%</a:t>
              </a:r>
            </a:p>
          </p:txBody>
        </p:sp>
        <p:sp>
          <p:nvSpPr>
            <p:cNvPr id="39" name="TextBox 39"/>
            <p:cNvSpPr txBox="1"/>
            <p:nvPr/>
          </p:nvSpPr>
          <p:spPr>
            <a:xfrm>
              <a:off x="10652760" y="3709035"/>
              <a:ext cx="99060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居中，最稳定</a:t>
              </a:r>
            </a:p>
          </p:txBody>
        </p:sp>
        <p:sp>
          <p:nvSpPr>
            <p:cNvPr id="40" name="Rectangle 40"/>
            <p:cNvSpPr/>
            <p:nvPr/>
          </p:nvSpPr>
          <p:spPr>
            <a:xfrm>
              <a:off x="609600" y="4076700"/>
              <a:ext cx="10972800" cy="571500"/>
            </a:xfrm>
            <a:prstGeom prst="rect">
              <a:avLst/>
            </a:prstGeom>
            <a:solidFill>
              <a:srgbClr val="FFFFFF"/>
            </a:solidFill>
            <a:ln>
              <a:noFill/>
            </a:ln>
          </p:spPr>
        </p:sp>
        <p:sp>
          <p:nvSpPr>
            <p:cNvPr id="41" name="TextBox 41"/>
            <p:cNvSpPr txBox="1"/>
            <p:nvPr/>
          </p:nvSpPr>
          <p:spPr>
            <a:xfrm>
              <a:off x="1316355" y="4264342"/>
              <a:ext cx="1310199" cy="274320"/>
            </a:xfrm>
            <a:prstGeom prst="rect">
              <a:avLst/>
            </a:prstGeom>
            <a:noFill/>
            <a:ln>
              <a:noFill/>
            </a:ln>
          </p:spPr>
          <p:txBody>
            <a:bodyPr wrap="none" lIns="0" tIns="0" rIns="0" bIns="0" anchor="t" anchorCtr="0">
              <a:spAutoFit/>
            </a:bodyPr>
            <a:lstStyle/>
            <a:p>
              <a:pPr algn="l"/>
              <a:r>
                <a:rPr lang="zh-CN" sz="1350" b="1" dirty="0">
                  <a:solidFill>
                    <a:srgbClr val="1B1C21"/>
                  </a:solidFill>
                  <a:latin typeface="Arial"/>
                  <a:ea typeface="Microsoft YaHei"/>
                  <a:cs typeface="Arial"/>
                </a:rPr>
                <a:t>Qwen3.6-Plus</a:t>
              </a:r>
            </a:p>
          </p:txBody>
        </p:sp>
        <p:sp>
          <p:nvSpPr>
            <p:cNvPr id="42" name="TextBox 42"/>
            <p:cNvSpPr txBox="1"/>
            <p:nvPr/>
          </p:nvSpPr>
          <p:spPr>
            <a:xfrm>
              <a:off x="3221355" y="4264342"/>
              <a:ext cx="85339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A（宽松）</a:t>
              </a:r>
            </a:p>
          </p:txBody>
        </p:sp>
        <p:sp>
          <p:nvSpPr>
            <p:cNvPr id="43" name="TextBox 43"/>
            <p:cNvSpPr txBox="1"/>
            <p:nvPr/>
          </p:nvSpPr>
          <p:spPr>
            <a:xfrm>
              <a:off x="4554855" y="4264342"/>
              <a:ext cx="402886"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Arial"/>
                  <a:ea typeface="Microsoft YaHei"/>
                  <a:cs typeface="Arial"/>
                </a:rPr>
                <a:t>75.1</a:t>
              </a:r>
            </a:p>
          </p:txBody>
        </p:sp>
        <p:sp>
          <p:nvSpPr>
            <p:cNvPr id="44" name="TextBox 44"/>
            <p:cNvSpPr txBox="1"/>
            <p:nvPr/>
          </p:nvSpPr>
          <p:spPr>
            <a:xfrm>
              <a:off x="5697855" y="4264342"/>
              <a:ext cx="38533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15.6</a:t>
              </a:r>
            </a:p>
          </p:txBody>
        </p:sp>
        <p:sp>
          <p:nvSpPr>
            <p:cNvPr id="45" name="TextBox 45"/>
            <p:cNvSpPr txBox="1"/>
            <p:nvPr/>
          </p:nvSpPr>
          <p:spPr>
            <a:xfrm>
              <a:off x="6840855" y="4264342"/>
              <a:ext cx="554105"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Arial"/>
                  <a:ea typeface="Microsoft YaHei"/>
                  <a:cs typeface="Arial"/>
                </a:rPr>
                <a:t>56.6%</a:t>
              </a:r>
            </a:p>
          </p:txBody>
        </p:sp>
        <p:sp>
          <p:nvSpPr>
            <p:cNvPr id="46" name="TextBox 46"/>
            <p:cNvSpPr txBox="1"/>
            <p:nvPr/>
          </p:nvSpPr>
          <p:spPr>
            <a:xfrm>
              <a:off x="8745855" y="4264342"/>
              <a:ext cx="43034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2.0%</a:t>
              </a:r>
            </a:p>
          </p:txBody>
        </p:sp>
        <p:sp>
          <p:nvSpPr>
            <p:cNvPr id="47" name="TextBox 47"/>
            <p:cNvSpPr txBox="1"/>
            <p:nvPr/>
          </p:nvSpPr>
          <p:spPr>
            <a:xfrm>
              <a:off x="10652760" y="4280535"/>
              <a:ext cx="147066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最宽松，最常给高分</a:t>
              </a:r>
            </a:p>
          </p:txBody>
        </p:sp>
      </p:grpSp>
      <p:grpSp>
        <p:nvGrpSpPr>
          <p:cNvPr id="57" name="Group 57"/>
          <p:cNvGrpSpPr/>
          <p:nvPr/>
        </p:nvGrpSpPr>
        <p:grpSpPr>
          <a:xfrm>
            <a:off x="609600" y="4953000"/>
            <a:ext cx="10972800" cy="1462088"/>
            <a:chOff x="609600" y="4953000"/>
            <a:chExt cx="10972800" cy="1462088"/>
          </a:xfrm>
        </p:grpSpPr>
        <p:sp>
          <p:nvSpPr>
            <p:cNvPr id="49" name="Rectangle 49"/>
            <p:cNvSpPr/>
            <p:nvPr/>
          </p:nvSpPr>
          <p:spPr>
            <a:xfrm>
              <a:off x="609600" y="4953000"/>
              <a:ext cx="10972800" cy="1447800"/>
            </a:xfrm>
            <a:prstGeom prst="roundRect">
              <a:avLst>
                <a:gd name="adj" fmla="val 5263"/>
              </a:avLst>
            </a:prstGeom>
            <a:solidFill>
              <a:srgbClr val="F4F5F7"/>
            </a:solidFill>
            <a:ln>
              <a:noFill/>
            </a:ln>
          </p:spPr>
        </p:sp>
        <p:sp>
          <p:nvSpPr>
            <p:cNvPr id="50" name="TextBox 50"/>
            <p:cNvSpPr txBox="1"/>
            <p:nvPr/>
          </p:nvSpPr>
          <p:spPr>
            <a:xfrm>
              <a:off x="931545" y="5108258"/>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关键发现</a:t>
              </a:r>
            </a:p>
          </p:txBody>
        </p:sp>
        <p:sp>
          <p:nvSpPr>
            <p:cNvPr id="51" name="Ellipse 51"/>
            <p:cNvSpPr/>
            <p:nvPr/>
          </p:nvSpPr>
          <p:spPr>
            <a:xfrm>
              <a:off x="914400" y="5581650"/>
              <a:ext cx="76200" cy="76200"/>
            </a:xfrm>
            <a:prstGeom prst="ellipse">
              <a:avLst/>
            </a:prstGeom>
            <a:solidFill>
              <a:srgbClr val="C8161E"/>
            </a:solidFill>
            <a:ln>
              <a:noFill/>
            </a:ln>
          </p:spPr>
        </p:sp>
        <p:sp>
          <p:nvSpPr>
            <p:cNvPr id="52" name="TextBox 52"/>
            <p:cNvSpPr txBox="1"/>
            <p:nvPr/>
          </p:nvSpPr>
          <p:spPr>
            <a:xfrm>
              <a:off x="1125855" y="5521642"/>
              <a:ext cx="611905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xml:space="preserve">宽松-严格差距：Qwen（75.1）vs DeepSeek（68.3）= </a:t>
              </a:r>
              <a:r>
                <a:rPr lang="zh-CN" sz="1350" dirty="0">
                  <a:solidFill>
                    <a:srgbClr val="1B1C21"/>
                  </a:solidFill>
                  <a:latin typeface="Arial"/>
                  <a:ea typeface="Microsoft YaHei"/>
                  <a:cs typeface="Arial"/>
                </a:rPr>
                <a:t xml:space="preserve"> </a:t>
              </a:r>
              <a:r>
                <a:rPr lang="zh-CN" sz="1350" b="1" dirty="0">
                  <a:solidFill>
                    <a:srgbClr val="C8161E"/>
                  </a:solidFill>
                  <a:latin typeface="Arial"/>
                  <a:ea typeface="Microsoft YaHei"/>
                  <a:cs typeface="Arial"/>
                </a:rPr>
                <a:t>6.8 分</a:t>
              </a:r>
              <a:r>
                <a:rPr lang="zh-CN" sz="1350" dirty="0">
                  <a:solidFill>
                    <a:srgbClr val="1B1C21"/>
                  </a:solidFill>
                  <a:latin typeface="Arial"/>
                  <a:ea typeface="Microsoft YaHei"/>
                  <a:cs typeface="Arial"/>
                </a:rPr>
                <a:t xml:space="preserve"> </a:t>
              </a:r>
              <a:r>
                <a:rPr lang="zh-CN" sz="1350" dirty="0">
                  <a:solidFill>
                    <a:srgbClr val="1B1C21"/>
                  </a:solidFill>
                  <a:latin typeface="Arial"/>
                  <a:ea typeface="Microsoft YaHei"/>
                  <a:cs typeface="Arial"/>
                </a:rPr>
                <a:t xml:space="preserve"> 系统性偏差</a:t>
              </a:r>
            </a:p>
          </p:txBody>
        </p:sp>
        <p:sp>
          <p:nvSpPr>
            <p:cNvPr id="53" name="Ellipse 53"/>
            <p:cNvSpPr/>
            <p:nvPr/>
          </p:nvSpPr>
          <p:spPr>
            <a:xfrm>
              <a:off x="914400" y="5915025"/>
              <a:ext cx="76200" cy="76200"/>
            </a:xfrm>
            <a:prstGeom prst="ellipse">
              <a:avLst/>
            </a:prstGeom>
            <a:solidFill>
              <a:srgbClr val="C8161E"/>
            </a:solidFill>
            <a:ln>
              <a:noFill/>
            </a:ln>
          </p:spPr>
        </p:sp>
        <p:sp>
          <p:nvSpPr>
            <p:cNvPr id="54" name="TextBox 54"/>
            <p:cNvSpPr txBox="1"/>
            <p:nvPr/>
          </p:nvSpPr>
          <p:spPr>
            <a:xfrm>
              <a:off x="1125855" y="5855018"/>
              <a:ext cx="653310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R2 后 B 组最高分占比从 8.5% → 62.2%，说明交叉评审迫使 B 组在认可时主动上调</a:t>
              </a:r>
            </a:p>
          </p:txBody>
        </p:sp>
        <p:sp>
          <p:nvSpPr>
            <p:cNvPr id="55" name="Ellipse 55"/>
            <p:cNvSpPr/>
            <p:nvPr/>
          </p:nvSpPr>
          <p:spPr>
            <a:xfrm>
              <a:off x="914400" y="6200775"/>
              <a:ext cx="76200" cy="76200"/>
            </a:xfrm>
            <a:prstGeom prst="ellipse">
              <a:avLst/>
            </a:prstGeom>
            <a:solidFill>
              <a:srgbClr val="C8161E"/>
            </a:solidFill>
            <a:ln>
              <a:noFill/>
            </a:ln>
          </p:spPr>
        </p:sp>
        <p:sp>
          <p:nvSpPr>
            <p:cNvPr id="56" name="TextBox 56"/>
            <p:cNvSpPr txBox="1"/>
            <p:nvPr/>
          </p:nvSpPr>
          <p:spPr>
            <a:xfrm>
              <a:off x="1125855" y="6140768"/>
              <a:ext cx="493090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Kimi 最稳定（std=13.4），DeepSeek 波动最大（std=21.8）</a:t>
              </a:r>
            </a:p>
          </p:txBody>
        </p:sp>
      </p:grpSp>
      <p:sp>
        <p:nvSpPr>
          <p:cNvPr id="58" name="TextBox 58"/>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400"/>
                                        <p:tgtEl>
                                          <p:spTgt spid="4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image">
                                      <p:cBhvr>
                                        <p:cTn id="11"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2336864"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框架迭代历程</a:t>
            </a:r>
          </a:p>
        </p:txBody>
      </p:sp>
      <p:sp>
        <p:nvSpPr>
          <p:cNvPr id="7" name="TextBox 7"/>
          <p:cNvSpPr txBox="1"/>
          <p:nvPr/>
        </p:nvSpPr>
        <p:spPr>
          <a:xfrm>
            <a:off x="4620673" y="1473518"/>
            <a:ext cx="295065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v1.0 → v2.56.6，经历 56+ 版本迭代</a:t>
            </a:r>
          </a:p>
        </p:txBody>
      </p:sp>
      <p:grpSp>
        <p:nvGrpSpPr>
          <p:cNvPr id="39" name="Group 39"/>
          <p:cNvGrpSpPr/>
          <p:nvPr/>
        </p:nvGrpSpPr>
        <p:grpSpPr>
          <a:xfrm>
            <a:off x="1333500" y="1905000"/>
            <a:ext cx="9525000" cy="2857500"/>
            <a:chOff x="1333500" y="1905000"/>
            <a:chExt cx="9525000" cy="2857500"/>
          </a:xfrm>
        </p:grpSpPr>
        <p:sp>
          <p:nvSpPr>
            <p:cNvPr id="8" name="Line 8"/>
            <p:cNvSpPr/>
            <p:nvPr/>
          </p:nvSpPr>
          <p:spPr>
            <a:xfrm>
              <a:off x="1333500" y="3333750"/>
              <a:ext cx="9525000" cy="9525"/>
            </a:xfrm>
            <a:custGeom>
              <a:avLst/>
              <a:gdLst/>
              <a:ahLst/>
              <a:cxnLst/>
              <a:rect l="l" t="t" r="r" b="b"/>
              <a:pathLst>
                <a:path w="9525000" h="9525">
                  <a:moveTo>
                    <a:pt x="0" y="0"/>
                  </a:moveTo>
                  <a:lnTo>
                    <a:pt x="9525000" y="0"/>
                  </a:lnTo>
                </a:path>
              </a:pathLst>
            </a:custGeom>
            <a:noFill/>
            <a:ln w="28575">
              <a:solidFill>
                <a:srgbClr val="D9DEE5"/>
              </a:solidFill>
            </a:ln>
          </p:spPr>
        </p:sp>
        <p:sp>
          <p:nvSpPr>
            <p:cNvPr id="9" name="Ellipse 9"/>
            <p:cNvSpPr/>
            <p:nvPr/>
          </p:nvSpPr>
          <p:spPr>
            <a:xfrm>
              <a:off x="1790700" y="3219450"/>
              <a:ext cx="228600" cy="228600"/>
            </a:xfrm>
            <a:prstGeom prst="ellipse">
              <a:avLst/>
            </a:prstGeom>
            <a:solidFill>
              <a:srgbClr val="1F4D78"/>
            </a:solidFill>
            <a:ln>
              <a:noFill/>
            </a:ln>
          </p:spPr>
        </p:sp>
        <p:sp>
          <p:nvSpPr>
            <p:cNvPr id="10" name="Line 10"/>
            <p:cNvSpPr/>
            <p:nvPr/>
          </p:nvSpPr>
          <p:spPr>
            <a:xfrm>
              <a:off x="1905000" y="2381250"/>
              <a:ext cx="9525" cy="952500"/>
            </a:xfrm>
            <a:custGeom>
              <a:avLst/>
              <a:gdLst/>
              <a:ahLst/>
              <a:cxnLst/>
              <a:rect l="l" t="t" r="r" b="b"/>
              <a:pathLst>
                <a:path w="9525" h="952500">
                  <a:moveTo>
                    <a:pt x="0" y="952500"/>
                  </a:moveTo>
                  <a:lnTo>
                    <a:pt x="0" y="0"/>
                  </a:lnTo>
                </a:path>
              </a:pathLst>
            </a:custGeom>
            <a:noFill/>
            <a:ln w="19050">
              <a:solidFill>
                <a:srgbClr val="D9DEE5"/>
              </a:solidFill>
            </a:ln>
          </p:spPr>
        </p:sp>
        <p:sp>
          <p:nvSpPr>
            <p:cNvPr id="11" name="Rectangle 11"/>
            <p:cNvSpPr/>
            <p:nvPr/>
          </p:nvSpPr>
          <p:spPr>
            <a:xfrm>
              <a:off x="1333500" y="1905000"/>
              <a:ext cx="1143000" cy="381000"/>
            </a:xfrm>
            <a:prstGeom prst="roundRect">
              <a:avLst>
                <a:gd name="adj" fmla="val 10000"/>
              </a:avLst>
            </a:prstGeom>
            <a:solidFill>
              <a:srgbClr val="1F4D78"/>
            </a:solidFill>
            <a:ln>
              <a:noFill/>
            </a:ln>
          </p:spPr>
        </p:sp>
        <p:sp>
          <p:nvSpPr>
            <p:cNvPr id="12" name="TextBox 12"/>
            <p:cNvSpPr txBox="1"/>
            <p:nvPr/>
          </p:nvSpPr>
          <p:spPr>
            <a:xfrm>
              <a:off x="1704937" y="2013585"/>
              <a:ext cx="40012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v2.0</a:t>
              </a:r>
            </a:p>
          </p:txBody>
        </p:sp>
        <p:sp>
          <p:nvSpPr>
            <p:cNvPr id="13" name="TextBox 13"/>
            <p:cNvSpPr txBox="1"/>
            <p:nvPr/>
          </p:nvSpPr>
          <p:spPr>
            <a:xfrm>
              <a:off x="1440656" y="2640806"/>
              <a:ext cx="928688"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新增准入筛选</a:t>
              </a:r>
            </a:p>
          </p:txBody>
        </p:sp>
        <p:sp>
          <p:nvSpPr>
            <p:cNvPr id="14" name="TextBox 14"/>
            <p:cNvSpPr txBox="1"/>
            <p:nvPr/>
          </p:nvSpPr>
          <p:spPr>
            <a:xfrm>
              <a:off x="1590675" y="2831306"/>
              <a:ext cx="628650"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调整权重</a:t>
              </a:r>
            </a:p>
          </p:txBody>
        </p:sp>
        <p:sp>
          <p:nvSpPr>
            <p:cNvPr id="15" name="Ellipse 15"/>
            <p:cNvSpPr/>
            <p:nvPr/>
          </p:nvSpPr>
          <p:spPr>
            <a:xfrm>
              <a:off x="3695700" y="3219450"/>
              <a:ext cx="228600" cy="228600"/>
            </a:xfrm>
            <a:prstGeom prst="ellipse">
              <a:avLst/>
            </a:prstGeom>
            <a:solidFill>
              <a:srgbClr val="2E7D32"/>
            </a:solidFill>
            <a:ln>
              <a:noFill/>
            </a:ln>
          </p:spPr>
        </p:sp>
        <p:sp>
          <p:nvSpPr>
            <p:cNvPr id="16" name="Line 16"/>
            <p:cNvSpPr/>
            <p:nvPr/>
          </p:nvSpPr>
          <p:spPr>
            <a:xfrm>
              <a:off x="3810000" y="3333750"/>
              <a:ext cx="9525" cy="952500"/>
            </a:xfrm>
            <a:custGeom>
              <a:avLst/>
              <a:gdLst/>
              <a:ahLst/>
              <a:cxnLst/>
              <a:rect l="l" t="t" r="r" b="b"/>
              <a:pathLst>
                <a:path w="9525" h="952500">
                  <a:moveTo>
                    <a:pt x="0" y="0"/>
                  </a:moveTo>
                  <a:lnTo>
                    <a:pt x="0" y="952500"/>
                  </a:lnTo>
                </a:path>
              </a:pathLst>
            </a:custGeom>
            <a:noFill/>
            <a:ln w="19050">
              <a:solidFill>
                <a:srgbClr val="D9DEE5"/>
              </a:solidFill>
            </a:ln>
          </p:spPr>
        </p:sp>
        <p:sp>
          <p:nvSpPr>
            <p:cNvPr id="17" name="Rectangle 17"/>
            <p:cNvSpPr/>
            <p:nvPr/>
          </p:nvSpPr>
          <p:spPr>
            <a:xfrm>
              <a:off x="3238500" y="4381500"/>
              <a:ext cx="1143000" cy="381000"/>
            </a:xfrm>
            <a:prstGeom prst="roundRect">
              <a:avLst>
                <a:gd name="adj" fmla="val 10000"/>
              </a:avLst>
            </a:prstGeom>
            <a:solidFill>
              <a:srgbClr val="2E7D32"/>
            </a:solidFill>
            <a:ln>
              <a:noFill/>
            </a:ln>
          </p:spPr>
        </p:sp>
        <p:sp>
          <p:nvSpPr>
            <p:cNvPr id="18" name="TextBox 18"/>
            <p:cNvSpPr txBox="1"/>
            <p:nvPr/>
          </p:nvSpPr>
          <p:spPr>
            <a:xfrm>
              <a:off x="3563731" y="4490085"/>
              <a:ext cx="49253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v2.47</a:t>
              </a:r>
            </a:p>
          </p:txBody>
        </p:sp>
        <p:sp>
          <p:nvSpPr>
            <p:cNvPr id="19" name="TextBox 19"/>
            <p:cNvSpPr txBox="1"/>
            <p:nvPr/>
          </p:nvSpPr>
          <p:spPr>
            <a:xfrm>
              <a:off x="3345656" y="3879056"/>
              <a:ext cx="928688"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生产稳定版本</a:t>
              </a:r>
            </a:p>
          </p:txBody>
        </p:sp>
        <p:sp>
          <p:nvSpPr>
            <p:cNvPr id="20" name="TextBox 20"/>
            <p:cNvSpPr txBox="1"/>
            <p:nvPr/>
          </p:nvSpPr>
          <p:spPr>
            <a:xfrm>
              <a:off x="3334405" y="4069556"/>
              <a:ext cx="951190"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14 篇验证通过</a:t>
              </a:r>
            </a:p>
          </p:txBody>
        </p:sp>
        <p:sp>
          <p:nvSpPr>
            <p:cNvPr id="21" name="Ellipse 21"/>
            <p:cNvSpPr/>
            <p:nvPr/>
          </p:nvSpPr>
          <p:spPr>
            <a:xfrm>
              <a:off x="5600700" y="3219450"/>
              <a:ext cx="228600" cy="228600"/>
            </a:xfrm>
            <a:prstGeom prst="ellipse">
              <a:avLst/>
            </a:prstGeom>
            <a:solidFill>
              <a:srgbClr val="E07B00"/>
            </a:solidFill>
            <a:ln>
              <a:noFill/>
            </a:ln>
          </p:spPr>
        </p:sp>
        <p:sp>
          <p:nvSpPr>
            <p:cNvPr id="22" name="Line 22"/>
            <p:cNvSpPr/>
            <p:nvPr/>
          </p:nvSpPr>
          <p:spPr>
            <a:xfrm>
              <a:off x="5715000" y="2381250"/>
              <a:ext cx="9525" cy="952500"/>
            </a:xfrm>
            <a:custGeom>
              <a:avLst/>
              <a:gdLst/>
              <a:ahLst/>
              <a:cxnLst/>
              <a:rect l="l" t="t" r="r" b="b"/>
              <a:pathLst>
                <a:path w="9525" h="952500">
                  <a:moveTo>
                    <a:pt x="0" y="952500"/>
                  </a:moveTo>
                  <a:lnTo>
                    <a:pt x="0" y="0"/>
                  </a:lnTo>
                </a:path>
              </a:pathLst>
            </a:custGeom>
            <a:noFill/>
            <a:ln w="19050">
              <a:solidFill>
                <a:srgbClr val="D9DEE5"/>
              </a:solidFill>
            </a:ln>
          </p:spPr>
        </p:sp>
        <p:sp>
          <p:nvSpPr>
            <p:cNvPr id="23" name="Rectangle 23"/>
            <p:cNvSpPr/>
            <p:nvPr/>
          </p:nvSpPr>
          <p:spPr>
            <a:xfrm>
              <a:off x="5143500" y="1905000"/>
              <a:ext cx="1143000" cy="381000"/>
            </a:xfrm>
            <a:prstGeom prst="roundRect">
              <a:avLst>
                <a:gd name="adj" fmla="val 10000"/>
              </a:avLst>
            </a:prstGeom>
            <a:solidFill>
              <a:srgbClr val="E07B00"/>
            </a:solidFill>
            <a:ln>
              <a:noFill/>
            </a:ln>
          </p:spPr>
        </p:sp>
        <p:sp>
          <p:nvSpPr>
            <p:cNvPr id="24" name="TextBox 24"/>
            <p:cNvSpPr txBox="1"/>
            <p:nvPr/>
          </p:nvSpPr>
          <p:spPr>
            <a:xfrm>
              <a:off x="5489734" y="2013585"/>
              <a:ext cx="45053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v2.51</a:t>
              </a:r>
            </a:p>
          </p:txBody>
        </p:sp>
        <p:sp>
          <p:nvSpPr>
            <p:cNvPr id="25" name="TextBox 25"/>
            <p:cNvSpPr txBox="1"/>
            <p:nvPr/>
          </p:nvSpPr>
          <p:spPr>
            <a:xfrm>
              <a:off x="5258157" y="2640806"/>
              <a:ext cx="913686"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Phase 0 失败</a:t>
              </a:r>
            </a:p>
          </p:txBody>
        </p:sp>
        <p:sp>
          <p:nvSpPr>
            <p:cNvPr id="26" name="TextBox 26"/>
            <p:cNvSpPr txBox="1"/>
            <p:nvPr/>
          </p:nvSpPr>
          <p:spPr>
            <a:xfrm>
              <a:off x="5078135" y="2831306"/>
              <a:ext cx="1273731"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命中率 22% vs 70%</a:t>
              </a:r>
            </a:p>
          </p:txBody>
        </p:sp>
        <p:sp>
          <p:nvSpPr>
            <p:cNvPr id="27" name="Ellipse 27"/>
            <p:cNvSpPr/>
            <p:nvPr/>
          </p:nvSpPr>
          <p:spPr>
            <a:xfrm>
              <a:off x="7505700" y="3219450"/>
              <a:ext cx="228600" cy="228600"/>
            </a:xfrm>
            <a:prstGeom prst="ellipse">
              <a:avLst/>
            </a:prstGeom>
            <a:solidFill>
              <a:srgbClr val="1F4D78"/>
            </a:solidFill>
            <a:ln>
              <a:noFill/>
            </a:ln>
          </p:spPr>
        </p:sp>
        <p:sp>
          <p:nvSpPr>
            <p:cNvPr id="28" name="Line 28"/>
            <p:cNvSpPr/>
            <p:nvPr/>
          </p:nvSpPr>
          <p:spPr>
            <a:xfrm>
              <a:off x="7620000" y="3333750"/>
              <a:ext cx="9525" cy="952500"/>
            </a:xfrm>
            <a:custGeom>
              <a:avLst/>
              <a:gdLst/>
              <a:ahLst/>
              <a:cxnLst/>
              <a:rect l="l" t="t" r="r" b="b"/>
              <a:pathLst>
                <a:path w="9525" h="952500">
                  <a:moveTo>
                    <a:pt x="0" y="0"/>
                  </a:moveTo>
                  <a:lnTo>
                    <a:pt x="0" y="952500"/>
                  </a:lnTo>
                </a:path>
              </a:pathLst>
            </a:custGeom>
            <a:noFill/>
            <a:ln w="19050">
              <a:solidFill>
                <a:srgbClr val="D9DEE5"/>
              </a:solidFill>
            </a:ln>
          </p:spPr>
        </p:sp>
        <p:sp>
          <p:nvSpPr>
            <p:cNvPr id="29" name="Rectangle 29"/>
            <p:cNvSpPr/>
            <p:nvPr/>
          </p:nvSpPr>
          <p:spPr>
            <a:xfrm>
              <a:off x="7048500" y="4381500"/>
              <a:ext cx="1143000" cy="381000"/>
            </a:xfrm>
            <a:prstGeom prst="roundRect">
              <a:avLst>
                <a:gd name="adj" fmla="val 10000"/>
              </a:avLst>
            </a:prstGeom>
            <a:solidFill>
              <a:srgbClr val="1F4D78"/>
            </a:solidFill>
            <a:ln>
              <a:noFill/>
            </a:ln>
          </p:spPr>
        </p:sp>
        <p:sp>
          <p:nvSpPr>
            <p:cNvPr id="30" name="TextBox 30"/>
            <p:cNvSpPr txBox="1"/>
            <p:nvPr/>
          </p:nvSpPr>
          <p:spPr>
            <a:xfrm>
              <a:off x="7373731" y="4490085"/>
              <a:ext cx="49253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v2.55</a:t>
              </a:r>
            </a:p>
          </p:txBody>
        </p:sp>
        <p:sp>
          <p:nvSpPr>
            <p:cNvPr id="31" name="TextBox 31"/>
            <p:cNvSpPr txBox="1"/>
            <p:nvPr/>
          </p:nvSpPr>
          <p:spPr>
            <a:xfrm>
              <a:off x="7155656" y="3879056"/>
              <a:ext cx="928688"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交叉评审版本</a:t>
              </a:r>
            </a:p>
          </p:txBody>
        </p:sp>
        <p:sp>
          <p:nvSpPr>
            <p:cNvPr id="32" name="TextBox 32"/>
            <p:cNvSpPr txBox="1"/>
            <p:nvPr/>
          </p:nvSpPr>
          <p:spPr>
            <a:xfrm>
              <a:off x="7163157" y="4069556"/>
              <a:ext cx="913686"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Round 2 专用</a:t>
              </a:r>
            </a:p>
          </p:txBody>
        </p:sp>
        <p:sp>
          <p:nvSpPr>
            <p:cNvPr id="33" name="Ellipse 33"/>
            <p:cNvSpPr/>
            <p:nvPr/>
          </p:nvSpPr>
          <p:spPr>
            <a:xfrm>
              <a:off x="9410700" y="3219450"/>
              <a:ext cx="228600" cy="228600"/>
            </a:xfrm>
            <a:prstGeom prst="ellipse">
              <a:avLst/>
            </a:prstGeom>
            <a:solidFill>
              <a:srgbClr val="C8161E"/>
            </a:solidFill>
            <a:ln>
              <a:noFill/>
            </a:ln>
          </p:spPr>
        </p:sp>
        <p:sp>
          <p:nvSpPr>
            <p:cNvPr id="34" name="Line 34"/>
            <p:cNvSpPr/>
            <p:nvPr/>
          </p:nvSpPr>
          <p:spPr>
            <a:xfrm>
              <a:off x="9525000" y="2381250"/>
              <a:ext cx="9525" cy="952500"/>
            </a:xfrm>
            <a:custGeom>
              <a:avLst/>
              <a:gdLst/>
              <a:ahLst/>
              <a:cxnLst/>
              <a:rect l="l" t="t" r="r" b="b"/>
              <a:pathLst>
                <a:path w="9525" h="952500">
                  <a:moveTo>
                    <a:pt x="0" y="952500"/>
                  </a:moveTo>
                  <a:lnTo>
                    <a:pt x="0" y="0"/>
                  </a:lnTo>
                </a:path>
              </a:pathLst>
            </a:custGeom>
            <a:noFill/>
            <a:ln w="19050">
              <a:solidFill>
                <a:srgbClr val="D9DEE5"/>
              </a:solidFill>
            </a:ln>
          </p:spPr>
        </p:sp>
        <p:sp>
          <p:nvSpPr>
            <p:cNvPr id="35" name="Rectangle 35"/>
            <p:cNvSpPr/>
            <p:nvPr/>
          </p:nvSpPr>
          <p:spPr>
            <a:xfrm>
              <a:off x="8953500" y="1905000"/>
              <a:ext cx="1143000" cy="381000"/>
            </a:xfrm>
            <a:prstGeom prst="roundRect">
              <a:avLst>
                <a:gd name="adj" fmla="val 10000"/>
              </a:avLst>
            </a:prstGeom>
            <a:solidFill>
              <a:srgbClr val="C8161E"/>
            </a:solidFill>
            <a:ln>
              <a:noFill/>
            </a:ln>
          </p:spPr>
        </p:sp>
        <p:sp>
          <p:nvSpPr>
            <p:cNvPr id="36" name="TextBox 36"/>
            <p:cNvSpPr txBox="1"/>
            <p:nvPr/>
          </p:nvSpPr>
          <p:spPr>
            <a:xfrm>
              <a:off x="9186320" y="2013585"/>
              <a:ext cx="67736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v2.56.6</a:t>
              </a:r>
            </a:p>
          </p:txBody>
        </p:sp>
        <p:sp>
          <p:nvSpPr>
            <p:cNvPr id="37" name="TextBox 37"/>
            <p:cNvSpPr txBox="1"/>
            <p:nvPr/>
          </p:nvSpPr>
          <p:spPr>
            <a:xfrm>
              <a:off x="9060656" y="2640806"/>
              <a:ext cx="928688"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锚定规则优化</a:t>
              </a:r>
            </a:p>
          </p:txBody>
        </p:sp>
        <p:sp>
          <p:nvSpPr>
            <p:cNvPr id="38" name="TextBox 38"/>
            <p:cNvSpPr txBox="1"/>
            <p:nvPr/>
          </p:nvSpPr>
          <p:spPr>
            <a:xfrm>
              <a:off x="9097223" y="2831306"/>
              <a:ext cx="855553"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Arial"/>
                  <a:ea typeface="Microsoft YaHei"/>
                  <a:cs typeface="Arial"/>
                </a:rPr>
                <a:t>std -77.9%</a:t>
              </a:r>
            </a:p>
          </p:txBody>
        </p:sp>
      </p:grpSp>
      <p:grpSp>
        <p:nvGrpSpPr>
          <p:cNvPr id="45" name="Group 45"/>
          <p:cNvGrpSpPr/>
          <p:nvPr/>
        </p:nvGrpSpPr>
        <p:grpSpPr>
          <a:xfrm>
            <a:off x="609600" y="5143500"/>
            <a:ext cx="5334000" cy="1271588"/>
            <a:chOff x="609600" y="5143500"/>
            <a:chExt cx="5334000" cy="1271588"/>
          </a:xfrm>
        </p:grpSpPr>
        <p:sp>
          <p:nvSpPr>
            <p:cNvPr id="40" name="Rectangle 40"/>
            <p:cNvSpPr/>
            <p:nvPr/>
          </p:nvSpPr>
          <p:spPr>
            <a:xfrm>
              <a:off x="609600" y="5143500"/>
              <a:ext cx="5334000" cy="1257300"/>
            </a:xfrm>
            <a:prstGeom prst="roundRect">
              <a:avLst>
                <a:gd name="adj" fmla="val 6061"/>
              </a:avLst>
            </a:prstGeom>
            <a:solidFill>
              <a:srgbClr val="F4F5F7"/>
            </a:solidFill>
            <a:ln>
              <a:noFill/>
            </a:ln>
          </p:spPr>
        </p:sp>
        <p:sp>
          <p:nvSpPr>
            <p:cNvPr id="41" name="TextBox 41"/>
            <p:cNvSpPr txBox="1"/>
            <p:nvPr/>
          </p:nvSpPr>
          <p:spPr>
            <a:xfrm>
              <a:off x="933450" y="5314950"/>
              <a:ext cx="1749814" cy="304800"/>
            </a:xfrm>
            <a:prstGeom prst="rect">
              <a:avLst/>
            </a:prstGeom>
            <a:noFill/>
            <a:ln>
              <a:noFill/>
            </a:ln>
          </p:spPr>
          <p:txBody>
            <a:bodyPr wrap="none" lIns="0" tIns="0" rIns="0" bIns="0" anchor="t" anchorCtr="0">
              <a:spAutoFit/>
            </a:bodyPr>
            <a:lstStyle/>
            <a:p>
              <a:pPr algn="l"/>
              <a:r>
                <a:rPr lang="zh-CN" sz="1500" b="1" dirty="0">
                  <a:solidFill>
                    <a:srgbClr val="1F4D78"/>
                  </a:solidFill>
                  <a:latin typeface="Arial"/>
                  <a:ea typeface="Microsoft YaHei"/>
                  <a:cs typeface="Arial"/>
                </a:rPr>
                <a:t>v2.56.6 核心成果</a:t>
              </a:r>
            </a:p>
          </p:txBody>
        </p:sp>
        <p:sp>
          <p:nvSpPr>
            <p:cNvPr id="42" name="TextBox 42"/>
            <p:cNvSpPr txBox="1"/>
            <p:nvPr/>
          </p:nvSpPr>
          <p:spPr>
            <a:xfrm>
              <a:off x="935355" y="5664518"/>
              <a:ext cx="381476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6 轮逐维度优化：AF → PO → LI → LC → CC → FE</a:t>
              </a:r>
            </a:p>
          </p:txBody>
        </p:sp>
        <p:sp>
          <p:nvSpPr>
            <p:cNvPr id="43" name="TextBox 43"/>
            <p:cNvSpPr txBox="1"/>
            <p:nvPr/>
          </p:nvSpPr>
          <p:spPr>
            <a:xfrm>
              <a:off x="935355" y="5902642"/>
              <a:ext cx="2968657"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xml:space="preserve">• std 28.16 → 6.22（降幅 </a:t>
              </a:r>
              <a:r>
                <a:rPr lang="zh-CN" sz="1350" dirty="0">
                  <a:solidFill>
                    <a:srgbClr val="1B1C21"/>
                  </a:solidFill>
                  <a:latin typeface="Arial"/>
                  <a:ea typeface="Microsoft YaHei"/>
                  <a:cs typeface="Arial"/>
                </a:rPr>
                <a:t xml:space="preserve"> </a:t>
              </a:r>
              <a:r>
                <a:rPr lang="zh-CN" sz="1350" b="1" dirty="0">
                  <a:solidFill>
                    <a:srgbClr val="2E7D32"/>
                  </a:solidFill>
                  <a:latin typeface="Arial"/>
                  <a:ea typeface="Microsoft YaHei"/>
                  <a:cs typeface="Arial"/>
                </a:rPr>
                <a:t>77.9%</a:t>
              </a:r>
              <a:r>
                <a:rPr lang="zh-CN" sz="1350" dirty="0">
                  <a:solidFill>
                    <a:srgbClr val="1B1C21"/>
                  </a:solidFill>
                  <a:latin typeface="Arial"/>
                  <a:ea typeface="Microsoft YaHei"/>
                  <a:cs typeface="Arial"/>
                </a:rPr>
                <a:t xml:space="preserve"> </a:t>
              </a:r>
              <a:r>
                <a:rPr lang="zh-CN" sz="1350" dirty="0">
                  <a:solidFill>
                    <a:srgbClr val="1B1C21"/>
                  </a:solidFill>
                  <a:latin typeface="Arial"/>
                  <a:ea typeface="Microsoft YaHei"/>
                  <a:cs typeface="Arial"/>
                </a:rPr>
                <a:t>）</a:t>
              </a:r>
            </a:p>
          </p:txBody>
        </p:sp>
        <p:sp>
          <p:nvSpPr>
            <p:cNvPr id="44" name="TextBox 44"/>
            <p:cNvSpPr txBox="1"/>
            <p:nvPr/>
          </p:nvSpPr>
          <p:spPr>
            <a:xfrm>
              <a:off x="935355" y="6140768"/>
              <a:ext cx="268962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Holdout 验证通过（无过拟合）</a:t>
              </a:r>
            </a:p>
          </p:txBody>
        </p:sp>
      </p:grpSp>
      <p:grpSp>
        <p:nvGrpSpPr>
          <p:cNvPr id="51" name="Group 51"/>
          <p:cNvGrpSpPr/>
          <p:nvPr/>
        </p:nvGrpSpPr>
        <p:grpSpPr>
          <a:xfrm>
            <a:off x="6248400" y="5143500"/>
            <a:ext cx="5334000" cy="1271588"/>
            <a:chOff x="6248400" y="5143500"/>
            <a:chExt cx="5334000" cy="1271588"/>
          </a:xfrm>
        </p:grpSpPr>
        <p:sp>
          <p:nvSpPr>
            <p:cNvPr id="46" name="Rectangle 46"/>
            <p:cNvSpPr/>
            <p:nvPr/>
          </p:nvSpPr>
          <p:spPr>
            <a:xfrm>
              <a:off x="6248400" y="5143500"/>
              <a:ext cx="5334000" cy="1257300"/>
            </a:xfrm>
            <a:prstGeom prst="roundRect">
              <a:avLst>
                <a:gd name="adj" fmla="val 6061"/>
              </a:avLst>
            </a:prstGeom>
            <a:solidFill>
              <a:srgbClr val="F4F5F7"/>
            </a:solidFill>
            <a:ln>
              <a:noFill/>
            </a:ln>
          </p:spPr>
        </p:sp>
        <p:sp>
          <p:nvSpPr>
            <p:cNvPr id="47" name="TextBox 47"/>
            <p:cNvSpPr txBox="1"/>
            <p:nvPr/>
          </p:nvSpPr>
          <p:spPr>
            <a:xfrm>
              <a:off x="6572250" y="5314950"/>
              <a:ext cx="1466279" cy="304800"/>
            </a:xfrm>
            <a:prstGeom prst="rect">
              <a:avLst/>
            </a:prstGeom>
            <a:noFill/>
            <a:ln>
              <a:noFill/>
            </a:ln>
          </p:spPr>
          <p:txBody>
            <a:bodyPr wrap="none" lIns="0" tIns="0" rIns="0" bIns="0" anchor="t" anchorCtr="0">
              <a:spAutoFit/>
            </a:bodyPr>
            <a:lstStyle/>
            <a:p>
              <a:pPr algn="l"/>
              <a:r>
                <a:rPr lang="zh-CN" sz="1500" b="1" dirty="0">
                  <a:solidFill>
                    <a:srgbClr val="E07B00"/>
                  </a:solidFill>
                  <a:latin typeface="Arial"/>
                  <a:ea typeface="Microsoft YaHei"/>
                  <a:cs typeface="Arial"/>
                </a:rPr>
                <a:t>v2.51 失败教训</a:t>
              </a:r>
            </a:p>
          </p:txBody>
        </p:sp>
        <p:sp>
          <p:nvSpPr>
            <p:cNvPr id="48" name="TextBox 48"/>
            <p:cNvSpPr txBox="1"/>
            <p:nvPr/>
          </p:nvSpPr>
          <p:spPr>
            <a:xfrm>
              <a:off x="6574155" y="5664518"/>
              <a:ext cx="254560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短 prompt 无法判断论证质量</a:t>
              </a:r>
            </a:p>
          </p:txBody>
        </p:sp>
        <p:sp>
          <p:nvSpPr>
            <p:cNvPr id="49" name="TextBox 49"/>
            <p:cNvSpPr txBox="1"/>
            <p:nvPr/>
          </p:nvSpPr>
          <p:spPr>
            <a:xfrm>
              <a:off x="6574155" y="5902642"/>
              <a:ext cx="349072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AI 无法区分"正常学术表述"和"空泛表述"</a:t>
              </a:r>
            </a:p>
          </p:txBody>
        </p:sp>
        <p:sp>
          <p:nvSpPr>
            <p:cNvPr id="50" name="TextBox 50"/>
            <p:cNvSpPr txBox="1"/>
            <p:nvPr/>
          </p:nvSpPr>
          <p:spPr>
            <a:xfrm>
              <a:off x="6574155" y="6140768"/>
              <a:ext cx="291465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Pattern 定义必须基于可观察指标</a:t>
              </a:r>
            </a:p>
          </p:txBody>
        </p:sp>
      </p:grpSp>
      <p:sp>
        <p:nvSpPr>
          <p:cNvPr id="52" name="TextBox 52"/>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400"/>
                                        <p:tgtEl>
                                          <p:spTgt spid="3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left)">
                                      <p:cBhvr>
                                        <p:cTn id="11" dur="400"/>
                                        <p:tgtEl>
                                          <p:spTgt spid="4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slide(fromBottom)">
                                      <p:cBhvr>
                                        <p:cTn id="15"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5" grpId="0"/>
      <p:bldP spid="5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2336864"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技术架构概览</a:t>
            </a:r>
          </a:p>
        </p:txBody>
      </p:sp>
      <p:grpSp>
        <p:nvGrpSpPr>
          <p:cNvPr id="39" name="Group 39"/>
          <p:cNvGrpSpPr/>
          <p:nvPr/>
        </p:nvGrpSpPr>
        <p:grpSpPr>
          <a:xfrm>
            <a:off x="952500" y="1714500"/>
            <a:ext cx="8953500" cy="4572000"/>
            <a:chOff x="952500" y="1714500"/>
            <a:chExt cx="8953500" cy="4572000"/>
          </a:xfrm>
        </p:grpSpPr>
        <p:sp>
          <p:nvSpPr>
            <p:cNvPr id="7" name="Rectangle 7"/>
            <p:cNvSpPr/>
            <p:nvPr/>
          </p:nvSpPr>
          <p:spPr>
            <a:xfrm>
              <a:off x="4191000" y="1714500"/>
              <a:ext cx="3810000" cy="571500"/>
            </a:xfrm>
            <a:prstGeom prst="roundRect">
              <a:avLst>
                <a:gd name="adj" fmla="val 13333"/>
              </a:avLst>
            </a:prstGeom>
            <a:solidFill>
              <a:srgbClr val="F4F5F7"/>
            </a:solidFill>
            <a:ln w="19050">
              <a:solidFill>
                <a:srgbClr val="1F4D78"/>
              </a:solidFill>
            </a:ln>
          </p:spPr>
        </p:sp>
        <p:sp>
          <p:nvSpPr>
            <p:cNvPr id="8" name="TextBox 8"/>
            <p:cNvSpPr txBox="1"/>
            <p:nvPr/>
          </p:nvSpPr>
          <p:spPr>
            <a:xfrm>
              <a:off x="4470249" y="1885950"/>
              <a:ext cx="3251502" cy="304800"/>
            </a:xfrm>
            <a:prstGeom prst="rect">
              <a:avLst/>
            </a:prstGeom>
            <a:noFill/>
            <a:ln>
              <a:noFill/>
            </a:ln>
          </p:spPr>
          <p:txBody>
            <a:bodyPr wrap="none" lIns="0" tIns="0" rIns="0" bIns="0" anchor="t" anchorCtr="0">
              <a:spAutoFit/>
            </a:bodyPr>
            <a:lstStyle/>
            <a:p>
              <a:pPr algn="ctr"/>
              <a:r>
                <a:rPr lang="zh-CN" sz="1500" b="1" dirty="0">
                  <a:solidFill>
                    <a:srgbClr val="1F4D78"/>
                  </a:solidFill>
                  <a:latin typeface="Arial"/>
                  <a:ea typeface="Microsoft YaHei"/>
                  <a:cs typeface="Arial"/>
                </a:rPr>
                <a:t>Web 前端（React + TypeScript）</a:t>
              </a:r>
            </a:p>
          </p:txBody>
        </p:sp>
        <p:sp>
          <p:nvSpPr>
            <p:cNvPr id="9" name="Freeform 9"/>
            <p:cNvSpPr/>
            <p:nvPr/>
          </p:nvSpPr>
          <p:spPr>
            <a:xfrm>
              <a:off x="6096000" y="2286000"/>
              <a:ext cx="9525" cy="285750"/>
            </a:xfrm>
            <a:custGeom>
              <a:avLst/>
              <a:gdLst/>
              <a:ahLst/>
              <a:cxnLst/>
              <a:rect l="l" t="t" r="r" b="b"/>
              <a:pathLst>
                <a:path w="9525" h="285750">
                  <a:moveTo>
                    <a:pt x="0" y="0"/>
                  </a:moveTo>
                  <a:lnTo>
                    <a:pt x="0" y="285750"/>
                  </a:lnTo>
                </a:path>
              </a:pathLst>
            </a:custGeom>
            <a:noFill/>
            <a:ln w="19050">
              <a:solidFill>
                <a:srgbClr val="94A3B8"/>
              </a:solidFill>
              <a:tailEnd type="triangle" w="lg" len="lg"/>
            </a:ln>
          </p:spPr>
        </p:sp>
        <p:sp>
          <p:nvSpPr>
            <p:cNvPr id="10" name="Rectangle 10"/>
            <p:cNvSpPr/>
            <p:nvPr/>
          </p:nvSpPr>
          <p:spPr>
            <a:xfrm>
              <a:off x="4191000" y="2667000"/>
              <a:ext cx="3810000" cy="571500"/>
            </a:xfrm>
            <a:prstGeom prst="roundRect">
              <a:avLst>
                <a:gd name="adj" fmla="val 13333"/>
              </a:avLst>
            </a:prstGeom>
            <a:solidFill>
              <a:srgbClr val="1F4D78"/>
            </a:solidFill>
            <a:ln>
              <a:noFill/>
            </a:ln>
          </p:spPr>
        </p:sp>
        <p:sp>
          <p:nvSpPr>
            <p:cNvPr id="11" name="TextBox 11"/>
            <p:cNvSpPr txBox="1"/>
            <p:nvPr/>
          </p:nvSpPr>
          <p:spPr>
            <a:xfrm>
              <a:off x="5205341" y="2838450"/>
              <a:ext cx="178131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API 层（FastAPI）</a:t>
              </a:r>
            </a:p>
          </p:txBody>
        </p:sp>
        <p:sp>
          <p:nvSpPr>
            <p:cNvPr id="12" name="Freeform 12"/>
            <p:cNvSpPr/>
            <p:nvPr/>
          </p:nvSpPr>
          <p:spPr>
            <a:xfrm>
              <a:off x="6096000" y="3238500"/>
              <a:ext cx="9525" cy="285750"/>
            </a:xfrm>
            <a:custGeom>
              <a:avLst/>
              <a:gdLst/>
              <a:ahLst/>
              <a:cxnLst/>
              <a:rect l="l" t="t" r="r" b="b"/>
              <a:pathLst>
                <a:path w="9525" h="285750">
                  <a:moveTo>
                    <a:pt x="0" y="0"/>
                  </a:moveTo>
                  <a:lnTo>
                    <a:pt x="0" y="285750"/>
                  </a:lnTo>
                </a:path>
              </a:pathLst>
            </a:custGeom>
            <a:noFill/>
            <a:ln w="19050">
              <a:solidFill>
                <a:srgbClr val="94A3B8"/>
              </a:solidFill>
              <a:tailEnd type="triangle" w="lg" len="lg"/>
            </a:ln>
          </p:spPr>
        </p:sp>
        <p:grpSp>
          <p:nvGrpSpPr>
            <p:cNvPr id="29" name="Group 29"/>
            <p:cNvGrpSpPr/>
            <p:nvPr/>
          </p:nvGrpSpPr>
          <p:grpSpPr>
            <a:xfrm>
              <a:off x="952500" y="3619500"/>
              <a:ext cx="8953500" cy="821531"/>
              <a:chOff x="952500" y="3619500"/>
              <a:chExt cx="8953500" cy="821531"/>
            </a:xfrm>
          </p:grpSpPr>
          <p:sp>
            <p:nvSpPr>
              <p:cNvPr id="13" name="Rectangle 13"/>
              <p:cNvSpPr/>
              <p:nvPr/>
            </p:nvSpPr>
            <p:spPr>
              <a:xfrm>
                <a:off x="952500" y="3619500"/>
                <a:ext cx="2095500" cy="762000"/>
              </a:xfrm>
              <a:prstGeom prst="roundRect">
                <a:avLst>
                  <a:gd name="adj" fmla="val 10000"/>
                </a:avLst>
              </a:prstGeom>
              <a:solidFill>
                <a:srgbClr val="F4F5F7"/>
              </a:solidFill>
              <a:ln w="19050">
                <a:solidFill>
                  <a:srgbClr val="1F4D78"/>
                </a:solidFill>
              </a:ln>
            </p:spPr>
          </p:sp>
          <p:sp>
            <p:nvSpPr>
              <p:cNvPr id="14" name="TextBox 14"/>
              <p:cNvSpPr txBox="1"/>
              <p:nvPr/>
            </p:nvSpPr>
            <p:spPr>
              <a:xfrm>
                <a:off x="1605058" y="3759518"/>
                <a:ext cx="790384"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评价引擎</a:t>
                </a:r>
              </a:p>
            </p:txBody>
          </p:sp>
          <p:sp>
            <p:nvSpPr>
              <p:cNvPr id="15" name="TextBox 15"/>
              <p:cNvSpPr txBox="1"/>
              <p:nvPr/>
            </p:nvSpPr>
            <p:spPr>
              <a:xfrm>
                <a:off x="1610916" y="4021931"/>
                <a:ext cx="778669"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多模型并发</a:t>
                </a:r>
              </a:p>
            </p:txBody>
          </p:sp>
          <p:sp>
            <p:nvSpPr>
              <p:cNvPr id="16" name="TextBox 16"/>
              <p:cNvSpPr txBox="1"/>
              <p:nvPr/>
            </p:nvSpPr>
            <p:spPr>
              <a:xfrm>
                <a:off x="1685925" y="4212431"/>
                <a:ext cx="628650"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交叉评审</a:t>
                </a:r>
              </a:p>
            </p:txBody>
          </p:sp>
          <p:sp>
            <p:nvSpPr>
              <p:cNvPr id="17" name="Rectangle 17"/>
              <p:cNvSpPr/>
              <p:nvPr/>
            </p:nvSpPr>
            <p:spPr>
              <a:xfrm>
                <a:off x="3238500" y="3619500"/>
                <a:ext cx="2095500" cy="762000"/>
              </a:xfrm>
              <a:prstGeom prst="roundRect">
                <a:avLst>
                  <a:gd name="adj" fmla="val 10000"/>
                </a:avLst>
              </a:prstGeom>
              <a:solidFill>
                <a:srgbClr val="F4F5F7"/>
              </a:solidFill>
              <a:ln w="19050">
                <a:solidFill>
                  <a:srgbClr val="1F4D78"/>
                </a:solidFill>
              </a:ln>
            </p:spPr>
          </p:sp>
          <p:sp>
            <p:nvSpPr>
              <p:cNvPr id="18" name="TextBox 18"/>
              <p:cNvSpPr txBox="1"/>
              <p:nvPr/>
            </p:nvSpPr>
            <p:spPr>
              <a:xfrm>
                <a:off x="3891058" y="3759518"/>
                <a:ext cx="790384"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知识体系</a:t>
                </a:r>
              </a:p>
            </p:txBody>
          </p:sp>
          <p:sp>
            <p:nvSpPr>
              <p:cNvPr id="19" name="TextBox 19"/>
              <p:cNvSpPr txBox="1"/>
              <p:nvPr/>
            </p:nvSpPr>
            <p:spPr>
              <a:xfrm>
                <a:off x="3844409" y="4021931"/>
                <a:ext cx="883682"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YAML 配置化</a:t>
                </a:r>
              </a:p>
            </p:txBody>
          </p:sp>
          <p:sp>
            <p:nvSpPr>
              <p:cNvPr id="20" name="TextBox 20"/>
              <p:cNvSpPr txBox="1"/>
              <p:nvPr/>
            </p:nvSpPr>
            <p:spPr>
              <a:xfrm>
                <a:off x="3971925" y="4212431"/>
                <a:ext cx="628650"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动态加载</a:t>
                </a:r>
              </a:p>
            </p:txBody>
          </p:sp>
          <p:sp>
            <p:nvSpPr>
              <p:cNvPr id="21" name="Rectangle 21"/>
              <p:cNvSpPr/>
              <p:nvPr/>
            </p:nvSpPr>
            <p:spPr>
              <a:xfrm>
                <a:off x="5524500" y="3619500"/>
                <a:ext cx="2095500" cy="762000"/>
              </a:xfrm>
              <a:prstGeom prst="roundRect">
                <a:avLst>
                  <a:gd name="adj" fmla="val 10000"/>
                </a:avLst>
              </a:prstGeom>
              <a:solidFill>
                <a:srgbClr val="F4F5F7"/>
              </a:solidFill>
              <a:ln w="19050">
                <a:solidFill>
                  <a:srgbClr val="1F4D78"/>
                </a:solidFill>
              </a:ln>
            </p:spPr>
          </p:sp>
          <p:sp>
            <p:nvSpPr>
              <p:cNvPr id="22" name="TextBox 22"/>
              <p:cNvSpPr txBox="1"/>
              <p:nvPr/>
            </p:nvSpPr>
            <p:spPr>
              <a:xfrm>
                <a:off x="6082546" y="3759518"/>
                <a:ext cx="979408"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可靠性验证</a:t>
                </a:r>
              </a:p>
            </p:txBody>
          </p:sp>
          <p:sp>
            <p:nvSpPr>
              <p:cNvPr id="23" name="TextBox 23"/>
              <p:cNvSpPr txBox="1"/>
              <p:nvPr/>
            </p:nvSpPr>
            <p:spPr>
              <a:xfrm>
                <a:off x="6261675" y="4021931"/>
                <a:ext cx="621149"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std 计算</a:t>
                </a:r>
              </a:p>
            </p:txBody>
          </p:sp>
          <p:sp>
            <p:nvSpPr>
              <p:cNvPr id="24" name="TextBox 24"/>
              <p:cNvSpPr txBox="1"/>
              <p:nvPr/>
            </p:nvSpPr>
            <p:spPr>
              <a:xfrm>
                <a:off x="6182916" y="4212431"/>
                <a:ext cx="778669"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分层置信度</a:t>
                </a:r>
              </a:p>
            </p:txBody>
          </p:sp>
          <p:sp>
            <p:nvSpPr>
              <p:cNvPr id="25" name="Rectangle 25"/>
              <p:cNvSpPr/>
              <p:nvPr/>
            </p:nvSpPr>
            <p:spPr>
              <a:xfrm>
                <a:off x="7810500" y="3619500"/>
                <a:ext cx="2095500" cy="762000"/>
              </a:xfrm>
              <a:prstGeom prst="roundRect">
                <a:avLst>
                  <a:gd name="adj" fmla="val 10000"/>
                </a:avLst>
              </a:prstGeom>
              <a:solidFill>
                <a:srgbClr val="F4F5F7"/>
              </a:solidFill>
              <a:ln w="19050">
                <a:solidFill>
                  <a:srgbClr val="1F4D78"/>
                </a:solidFill>
              </a:ln>
            </p:spPr>
          </p:sp>
          <p:sp>
            <p:nvSpPr>
              <p:cNvPr id="26" name="TextBox 26"/>
              <p:cNvSpPr txBox="1"/>
              <p:nvPr/>
            </p:nvSpPr>
            <p:spPr>
              <a:xfrm>
                <a:off x="8463058" y="3759518"/>
                <a:ext cx="790384"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专家复核</a:t>
                </a:r>
              </a:p>
            </p:txBody>
          </p:sp>
          <p:sp>
            <p:nvSpPr>
              <p:cNvPr id="27" name="TextBox 27"/>
              <p:cNvSpPr txBox="1"/>
              <p:nvPr/>
            </p:nvSpPr>
            <p:spPr>
              <a:xfrm>
                <a:off x="8468916" y="4021931"/>
                <a:ext cx="778669"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工作流引擎</a:t>
                </a:r>
              </a:p>
            </p:txBody>
          </p:sp>
          <p:sp>
            <p:nvSpPr>
              <p:cNvPr id="28" name="TextBox 28"/>
              <p:cNvSpPr txBox="1"/>
              <p:nvPr/>
            </p:nvSpPr>
            <p:spPr>
              <a:xfrm>
                <a:off x="8543925" y="4212431"/>
                <a:ext cx="628650" cy="228600"/>
              </a:xfrm>
              <a:prstGeom prst="rect">
                <a:avLst/>
              </a:prstGeom>
              <a:noFill/>
              <a:ln>
                <a:noFill/>
              </a:ln>
            </p:spPr>
            <p:txBody>
              <a:bodyPr wrap="none" lIns="0" tIns="0" rIns="0" bIns="0" anchor="t" anchorCtr="0">
                <a:spAutoFit/>
              </a:bodyPr>
              <a:lstStyle/>
              <a:p>
                <a:pPr algn="ctr"/>
                <a:r>
                  <a:rPr lang="zh-CN" sz="1125" dirty="0">
                    <a:solidFill>
                      <a:srgbClr val="5A6472"/>
                    </a:solidFill>
                    <a:latin typeface="Arial"/>
                    <a:ea typeface="Microsoft YaHei"/>
                    <a:cs typeface="Arial"/>
                  </a:rPr>
                  <a:t>邮件通知</a:t>
                </a:r>
              </a:p>
            </p:txBody>
          </p:sp>
        </p:grpSp>
        <p:sp>
          <p:nvSpPr>
            <p:cNvPr id="30" name="Freeform 30"/>
            <p:cNvSpPr/>
            <p:nvPr/>
          </p:nvSpPr>
          <p:spPr>
            <a:xfrm>
              <a:off x="6096000" y="4381500"/>
              <a:ext cx="9525" cy="285750"/>
            </a:xfrm>
            <a:custGeom>
              <a:avLst/>
              <a:gdLst/>
              <a:ahLst/>
              <a:cxnLst/>
              <a:rect l="l" t="t" r="r" b="b"/>
              <a:pathLst>
                <a:path w="9525" h="285750">
                  <a:moveTo>
                    <a:pt x="0" y="0"/>
                  </a:moveTo>
                  <a:lnTo>
                    <a:pt x="0" y="285750"/>
                  </a:lnTo>
                </a:path>
              </a:pathLst>
            </a:custGeom>
            <a:noFill/>
            <a:ln w="19050">
              <a:solidFill>
                <a:srgbClr val="94A3B8"/>
              </a:solidFill>
              <a:tailEnd type="triangle" w="lg" len="lg"/>
            </a:ln>
          </p:spPr>
        </p:sp>
        <p:sp>
          <p:nvSpPr>
            <p:cNvPr id="31" name="Rectangle 31"/>
            <p:cNvSpPr/>
            <p:nvPr/>
          </p:nvSpPr>
          <p:spPr>
            <a:xfrm>
              <a:off x="3238500" y="4762500"/>
              <a:ext cx="5715000" cy="571500"/>
            </a:xfrm>
            <a:prstGeom prst="roundRect">
              <a:avLst>
                <a:gd name="adj" fmla="val 13333"/>
              </a:avLst>
            </a:prstGeom>
            <a:solidFill>
              <a:srgbClr val="C8161E"/>
            </a:solidFill>
            <a:ln>
              <a:noFill/>
            </a:ln>
          </p:spPr>
        </p:sp>
        <p:sp>
          <p:nvSpPr>
            <p:cNvPr id="32" name="TextBox 32"/>
            <p:cNvSpPr txBox="1"/>
            <p:nvPr/>
          </p:nvSpPr>
          <p:spPr>
            <a:xfrm>
              <a:off x="3876925" y="4933950"/>
              <a:ext cx="443815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AI 统一抽象层（DashScope 百炼 + Fucheers）</a:t>
              </a:r>
            </a:p>
          </p:txBody>
        </p:sp>
        <p:sp>
          <p:nvSpPr>
            <p:cNvPr id="33" name="Freeform 33"/>
            <p:cNvSpPr/>
            <p:nvPr/>
          </p:nvSpPr>
          <p:spPr>
            <a:xfrm>
              <a:off x="6096000" y="5334000"/>
              <a:ext cx="9525" cy="285750"/>
            </a:xfrm>
            <a:custGeom>
              <a:avLst/>
              <a:gdLst/>
              <a:ahLst/>
              <a:cxnLst/>
              <a:rect l="l" t="t" r="r" b="b"/>
              <a:pathLst>
                <a:path w="9525" h="285750">
                  <a:moveTo>
                    <a:pt x="0" y="0"/>
                  </a:moveTo>
                  <a:lnTo>
                    <a:pt x="0" y="285750"/>
                  </a:lnTo>
                </a:path>
              </a:pathLst>
            </a:custGeom>
            <a:noFill/>
            <a:ln w="19050">
              <a:solidFill>
                <a:srgbClr val="94A3B8"/>
              </a:solidFill>
              <a:tailEnd type="triangle" w="lg" len="lg"/>
            </a:ln>
          </p:spPr>
        </p:sp>
        <p:grpSp>
          <p:nvGrpSpPr>
            <p:cNvPr id="38" name="Group 38"/>
            <p:cNvGrpSpPr/>
            <p:nvPr/>
          </p:nvGrpSpPr>
          <p:grpSpPr>
            <a:xfrm>
              <a:off x="3238500" y="5715000"/>
              <a:ext cx="5715000" cy="571500"/>
              <a:chOff x="3238500" y="5715000"/>
              <a:chExt cx="5715000" cy="571500"/>
            </a:xfrm>
          </p:grpSpPr>
          <p:sp>
            <p:nvSpPr>
              <p:cNvPr id="34" name="Rectangle 34"/>
              <p:cNvSpPr/>
              <p:nvPr/>
            </p:nvSpPr>
            <p:spPr>
              <a:xfrm>
                <a:off x="3238500" y="5715000"/>
                <a:ext cx="2667000" cy="571500"/>
              </a:xfrm>
              <a:prstGeom prst="roundRect">
                <a:avLst>
                  <a:gd name="adj" fmla="val 13333"/>
                </a:avLst>
              </a:prstGeom>
              <a:solidFill>
                <a:srgbClr val="F4F5F7"/>
              </a:solidFill>
              <a:ln w="19050">
                <a:solidFill>
                  <a:srgbClr val="1F4D78"/>
                </a:solidFill>
              </a:ln>
            </p:spPr>
          </p:sp>
          <p:sp>
            <p:nvSpPr>
              <p:cNvPr id="35" name="TextBox 35"/>
              <p:cNvSpPr txBox="1"/>
              <p:nvPr/>
            </p:nvSpPr>
            <p:spPr>
              <a:xfrm>
                <a:off x="3671170" y="5902642"/>
                <a:ext cx="1801661"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PostgreSQL + Redis</a:t>
                </a:r>
              </a:p>
            </p:txBody>
          </p:sp>
          <p:sp>
            <p:nvSpPr>
              <p:cNvPr id="36" name="Rectangle 36"/>
              <p:cNvSpPr/>
              <p:nvPr/>
            </p:nvSpPr>
            <p:spPr>
              <a:xfrm>
                <a:off x="6286500" y="5715000"/>
                <a:ext cx="2667000" cy="571500"/>
              </a:xfrm>
              <a:prstGeom prst="roundRect">
                <a:avLst>
                  <a:gd name="adj" fmla="val 13333"/>
                </a:avLst>
              </a:prstGeom>
              <a:solidFill>
                <a:srgbClr val="F4F5F7"/>
              </a:solidFill>
              <a:ln w="19050">
                <a:solidFill>
                  <a:srgbClr val="1F4D78"/>
                </a:solidFill>
              </a:ln>
            </p:spPr>
          </p:sp>
          <p:sp>
            <p:nvSpPr>
              <p:cNvPr id="37" name="TextBox 37"/>
              <p:cNvSpPr txBox="1"/>
              <p:nvPr/>
            </p:nvSpPr>
            <p:spPr>
              <a:xfrm>
                <a:off x="6941272" y="5902642"/>
                <a:ext cx="1357455"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全链路审计日志</a:t>
                </a:r>
              </a:p>
            </p:txBody>
          </p:sp>
        </p:grpSp>
      </p:grpSp>
      <p:grpSp>
        <p:nvGrpSpPr>
          <p:cNvPr id="48" name="Group 48"/>
          <p:cNvGrpSpPr/>
          <p:nvPr/>
        </p:nvGrpSpPr>
        <p:grpSpPr>
          <a:xfrm>
            <a:off x="609600" y="1714500"/>
            <a:ext cx="3048000" cy="1905000"/>
            <a:chOff x="609600" y="1714500"/>
            <a:chExt cx="3048000" cy="1905000"/>
          </a:xfrm>
        </p:grpSpPr>
        <p:sp>
          <p:nvSpPr>
            <p:cNvPr id="40" name="Rectangle 40"/>
            <p:cNvSpPr/>
            <p:nvPr/>
          </p:nvSpPr>
          <p:spPr>
            <a:xfrm>
              <a:off x="609600" y="1714500"/>
              <a:ext cx="3048000" cy="1905000"/>
            </a:xfrm>
            <a:prstGeom prst="roundRect">
              <a:avLst>
                <a:gd name="adj" fmla="val 4000"/>
              </a:avLst>
            </a:prstGeom>
            <a:solidFill>
              <a:srgbClr val="F4F5F7"/>
            </a:solidFill>
            <a:ln>
              <a:noFill/>
            </a:ln>
          </p:spPr>
        </p:sp>
        <p:sp>
          <p:nvSpPr>
            <p:cNvPr id="41" name="TextBox 41"/>
            <p:cNvSpPr txBox="1"/>
            <p:nvPr/>
          </p:nvSpPr>
          <p:spPr>
            <a:xfrm>
              <a:off x="933450" y="1885950"/>
              <a:ext cx="878205" cy="304800"/>
            </a:xfrm>
            <a:prstGeom prst="rect">
              <a:avLst/>
            </a:prstGeom>
            <a:noFill/>
            <a:ln>
              <a:noFill/>
            </a:ln>
          </p:spPr>
          <p:txBody>
            <a:bodyPr wrap="none" lIns="0" tIns="0" rIns="0" bIns="0" anchor="t" anchorCtr="0">
              <a:spAutoFit/>
            </a:bodyPr>
            <a:lstStyle/>
            <a:p>
              <a:pPr algn="l"/>
              <a:r>
                <a:rPr lang="zh-CN" sz="1500" b="1" dirty="0">
                  <a:solidFill>
                    <a:srgbClr val="1F4D78"/>
                  </a:solidFill>
                  <a:latin typeface="Arial"/>
                  <a:ea typeface="Microsoft YaHei"/>
                  <a:cs typeface="Arial"/>
                </a:rPr>
                <a:t>核心特性</a:t>
              </a:r>
            </a:p>
          </p:txBody>
        </p:sp>
        <p:sp>
          <p:nvSpPr>
            <p:cNvPr id="42" name="TextBox 42"/>
            <p:cNvSpPr txBox="1"/>
            <p:nvPr/>
          </p:nvSpPr>
          <p:spPr>
            <a:xfrm>
              <a:off x="937260" y="2251710"/>
              <a:ext cx="1286637"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 配置化评价框架</a:t>
              </a:r>
            </a:p>
          </p:txBody>
        </p:sp>
        <p:sp>
          <p:nvSpPr>
            <p:cNvPr id="43" name="TextBox 43"/>
            <p:cNvSpPr txBox="1"/>
            <p:nvPr/>
          </p:nvSpPr>
          <p:spPr>
            <a:xfrm>
              <a:off x="1129665" y="2458402"/>
              <a:ext cx="1510856"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Prompt/契约/量化映射</a:t>
              </a:r>
            </a:p>
          </p:txBody>
        </p:sp>
        <p:sp>
          <p:nvSpPr>
            <p:cNvPr id="44" name="TextBox 44"/>
            <p:cNvSpPr txBox="1"/>
            <p:nvPr/>
          </p:nvSpPr>
          <p:spPr>
            <a:xfrm>
              <a:off x="1129665" y="2620328"/>
              <a:ext cx="1006792"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以 YAML 为真源</a:t>
              </a:r>
            </a:p>
          </p:txBody>
        </p:sp>
        <p:sp>
          <p:nvSpPr>
            <p:cNvPr id="45" name="TextBox 45"/>
            <p:cNvSpPr txBox="1"/>
            <p:nvPr/>
          </p:nvSpPr>
          <p:spPr>
            <a:xfrm>
              <a:off x="937260" y="2870835"/>
              <a:ext cx="966597"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 全链路审计</a:t>
              </a:r>
            </a:p>
          </p:txBody>
        </p:sp>
        <p:sp>
          <p:nvSpPr>
            <p:cNvPr id="46" name="TextBox 46"/>
            <p:cNvSpPr txBox="1"/>
            <p:nvPr/>
          </p:nvSpPr>
          <p:spPr>
            <a:xfrm>
              <a:off x="1129665" y="3077528"/>
              <a:ext cx="1489853"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所有 AI 调用记录持久化</a:t>
              </a:r>
            </a:p>
          </p:txBody>
        </p:sp>
        <p:sp>
          <p:nvSpPr>
            <p:cNvPr id="47" name="TextBox 47"/>
            <p:cNvSpPr txBox="1"/>
            <p:nvPr/>
          </p:nvSpPr>
          <p:spPr>
            <a:xfrm>
              <a:off x="937260" y="3299460"/>
              <a:ext cx="966597"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 模块化设计</a:t>
              </a:r>
            </a:p>
          </p:txBody>
        </p:sp>
      </p:grpSp>
      <p:sp>
        <p:nvSpPr>
          <p:cNvPr id="49" name="TextBox 49"/>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image">
                                      <p:cBhvr>
                                        <p:cTn id="7" dur="400"/>
                                        <p:tgtEl>
                                          <p:spTgt spid="3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3849052"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失败经验与方法论沉淀</a:t>
            </a:r>
          </a:p>
        </p:txBody>
      </p:sp>
      <p:grpSp>
        <p:nvGrpSpPr>
          <p:cNvPr id="25" name="Group 25"/>
          <p:cNvGrpSpPr/>
          <p:nvPr/>
        </p:nvGrpSpPr>
        <p:grpSpPr>
          <a:xfrm>
            <a:off x="609600" y="1714500"/>
            <a:ext cx="5334000" cy="4381500"/>
            <a:chOff x="609600" y="1714500"/>
            <a:chExt cx="5334000" cy="4381500"/>
          </a:xfrm>
        </p:grpSpPr>
        <p:sp>
          <p:nvSpPr>
            <p:cNvPr id="7" name="Rectangle 7"/>
            <p:cNvSpPr/>
            <p:nvPr/>
          </p:nvSpPr>
          <p:spPr>
            <a:xfrm>
              <a:off x="609600" y="1714500"/>
              <a:ext cx="5334000" cy="4381500"/>
            </a:xfrm>
            <a:prstGeom prst="roundRect">
              <a:avLst>
                <a:gd name="adj" fmla="val 1739"/>
              </a:avLst>
            </a:prstGeom>
            <a:solidFill>
              <a:srgbClr val="FFF5F0"/>
            </a:solidFill>
            <a:ln w="19050">
              <a:solidFill>
                <a:srgbClr val="E07B00"/>
              </a:solidFill>
            </a:ln>
          </p:spPr>
        </p:sp>
        <p:sp>
          <p:nvSpPr>
            <p:cNvPr id="8" name="TextBox 8"/>
            <p:cNvSpPr txBox="1"/>
            <p:nvPr/>
          </p:nvSpPr>
          <p:spPr>
            <a:xfrm>
              <a:off x="1791102" y="1884998"/>
              <a:ext cx="2970995" cy="396240"/>
            </a:xfrm>
            <a:prstGeom prst="rect">
              <a:avLst/>
            </a:prstGeom>
            <a:noFill/>
            <a:ln>
              <a:noFill/>
            </a:ln>
          </p:spPr>
          <p:txBody>
            <a:bodyPr wrap="none" lIns="0" tIns="0" rIns="0" bIns="0" anchor="t" anchorCtr="0">
              <a:spAutoFit/>
            </a:bodyPr>
            <a:lstStyle/>
            <a:p>
              <a:pPr algn="ctr"/>
              <a:r>
                <a:rPr lang="zh-CN" sz="1950" b="1" dirty="0">
                  <a:solidFill>
                    <a:srgbClr val="E07B00"/>
                  </a:solidFill>
                  <a:latin typeface="Arial"/>
                  <a:ea typeface="Microsoft YaHei"/>
                  <a:cs typeface="Arial"/>
                </a:rPr>
                <a:t>v2.51 Phase 0 失败案例</a:t>
              </a:r>
            </a:p>
          </p:txBody>
        </p:sp>
        <p:sp>
          <p:nvSpPr>
            <p:cNvPr id="9" name="TextBox 9"/>
            <p:cNvSpPr txBox="1"/>
            <p:nvPr/>
          </p:nvSpPr>
          <p:spPr>
            <a:xfrm>
              <a:off x="933450" y="2409825"/>
              <a:ext cx="878205"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问题诊断</a:t>
              </a:r>
            </a:p>
          </p:txBody>
        </p:sp>
        <p:sp>
          <p:nvSpPr>
            <p:cNvPr id="10" name="Ellipse 10"/>
            <p:cNvSpPr/>
            <p:nvPr/>
          </p:nvSpPr>
          <p:spPr>
            <a:xfrm>
              <a:off x="914400" y="2867025"/>
              <a:ext cx="76200" cy="76200"/>
            </a:xfrm>
            <a:prstGeom prst="ellipse">
              <a:avLst/>
            </a:prstGeom>
            <a:solidFill>
              <a:srgbClr val="E07B00"/>
            </a:solidFill>
            <a:ln>
              <a:noFill/>
            </a:ln>
          </p:spPr>
        </p:sp>
        <p:sp>
          <p:nvSpPr>
            <p:cNvPr id="11" name="TextBox 11"/>
            <p:cNvSpPr txBox="1"/>
            <p:nvPr/>
          </p:nvSpPr>
          <p:spPr>
            <a:xfrm>
              <a:off x="1126808" y="2815114"/>
              <a:ext cx="312677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xml:space="preserve">负面模式检测器命中率 </a:t>
              </a:r>
              <a:r>
                <a:rPr lang="zh-CN" sz="1275" dirty="0">
                  <a:solidFill>
                    <a:srgbClr val="1B1C21"/>
                  </a:solidFill>
                  <a:latin typeface="Arial"/>
                  <a:ea typeface="Microsoft YaHei"/>
                  <a:cs typeface="Arial"/>
                </a:rPr>
                <a:t xml:space="preserve"> </a:t>
              </a:r>
              <a:r>
                <a:rPr lang="zh-CN" sz="1275" b="1" dirty="0">
                  <a:solidFill>
                    <a:srgbClr val="E07B00"/>
                  </a:solidFill>
                  <a:latin typeface="Arial"/>
                  <a:ea typeface="Microsoft YaHei"/>
                  <a:cs typeface="Arial"/>
                </a:rPr>
                <a:t>22%</a:t>
              </a:r>
              <a:r>
                <a:rPr lang="zh-CN" sz="1275" dirty="0">
                  <a:solidFill>
                    <a:srgbClr val="1B1C21"/>
                  </a:solidFill>
                  <a:latin typeface="Arial"/>
                  <a:ea typeface="Microsoft YaHei"/>
                  <a:cs typeface="Arial"/>
                </a:rPr>
                <a:t xml:space="preserve"> </a:t>
              </a:r>
              <a:r>
                <a:rPr lang="zh-CN" sz="1275" dirty="0">
                  <a:solidFill>
                    <a:srgbClr val="1B1C21"/>
                  </a:solidFill>
                  <a:latin typeface="Arial"/>
                  <a:ea typeface="Microsoft YaHei"/>
                  <a:cs typeface="Arial"/>
                </a:rPr>
                <a:t xml:space="preserve"> vs 目标 70%</a:t>
              </a:r>
            </a:p>
          </p:txBody>
        </p:sp>
        <p:sp>
          <p:nvSpPr>
            <p:cNvPr id="12" name="Ellipse 12"/>
            <p:cNvSpPr/>
            <p:nvPr/>
          </p:nvSpPr>
          <p:spPr>
            <a:xfrm>
              <a:off x="914400" y="3200400"/>
              <a:ext cx="76200" cy="76200"/>
            </a:xfrm>
            <a:prstGeom prst="ellipse">
              <a:avLst/>
            </a:prstGeom>
            <a:solidFill>
              <a:srgbClr val="E07B00"/>
            </a:solidFill>
            <a:ln>
              <a:noFill/>
            </a:ln>
          </p:spPr>
        </p:sp>
        <p:sp>
          <p:nvSpPr>
            <p:cNvPr id="13" name="TextBox 13"/>
            <p:cNvSpPr txBox="1"/>
            <p:nvPr/>
          </p:nvSpPr>
          <p:spPr>
            <a:xfrm>
              <a:off x="1126808" y="3148489"/>
              <a:ext cx="1894118"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xml:space="preserve">误报率 </a:t>
              </a:r>
              <a:r>
                <a:rPr lang="zh-CN" sz="1275" dirty="0">
                  <a:solidFill>
                    <a:srgbClr val="1B1C21"/>
                  </a:solidFill>
                  <a:latin typeface="Arial"/>
                  <a:ea typeface="Microsoft YaHei"/>
                  <a:cs typeface="Arial"/>
                </a:rPr>
                <a:t xml:space="preserve"> </a:t>
              </a:r>
              <a:r>
                <a:rPr lang="zh-CN" sz="1275" b="1" dirty="0">
                  <a:solidFill>
                    <a:srgbClr val="E07B00"/>
                  </a:solidFill>
                  <a:latin typeface="Arial"/>
                  <a:ea typeface="Microsoft YaHei"/>
                  <a:cs typeface="Arial"/>
                </a:rPr>
                <a:t>50%</a:t>
              </a:r>
              <a:r>
                <a:rPr lang="zh-CN" sz="1275" dirty="0">
                  <a:solidFill>
                    <a:srgbClr val="1B1C21"/>
                  </a:solidFill>
                  <a:latin typeface="Arial"/>
                  <a:ea typeface="Microsoft YaHei"/>
                  <a:cs typeface="Arial"/>
                </a:rPr>
                <a:t xml:space="preserve"> </a:t>
              </a:r>
              <a:r>
                <a:rPr lang="zh-CN" sz="1275" dirty="0">
                  <a:solidFill>
                    <a:srgbClr val="1B1C21"/>
                  </a:solidFill>
                  <a:latin typeface="Arial"/>
                  <a:ea typeface="Microsoft YaHei"/>
                  <a:cs typeface="Arial"/>
                </a:rPr>
                <a:t xml:space="preserve"> vs 目标 10%</a:t>
              </a:r>
            </a:p>
          </p:txBody>
        </p:sp>
        <p:sp>
          <p:nvSpPr>
            <p:cNvPr id="14" name="Ellipse 14"/>
            <p:cNvSpPr/>
            <p:nvPr/>
          </p:nvSpPr>
          <p:spPr>
            <a:xfrm>
              <a:off x="914400" y="3533775"/>
              <a:ext cx="76200" cy="76200"/>
            </a:xfrm>
            <a:prstGeom prst="ellipse">
              <a:avLst/>
            </a:prstGeom>
            <a:solidFill>
              <a:srgbClr val="E07B00"/>
            </a:solidFill>
            <a:ln>
              <a:noFill/>
            </a:ln>
          </p:spPr>
        </p:sp>
        <p:sp>
          <p:nvSpPr>
            <p:cNvPr id="15" name="TextBox 15"/>
            <p:cNvSpPr txBox="1"/>
            <p:nvPr/>
          </p:nvSpPr>
          <p:spPr>
            <a:xfrm>
              <a:off x="1126808" y="3481864"/>
              <a:ext cx="1758101"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Pattern 定义过于抽象</a:t>
              </a:r>
            </a:p>
          </p:txBody>
        </p:sp>
        <p:sp>
          <p:nvSpPr>
            <p:cNvPr id="16" name="Ellipse 16"/>
            <p:cNvSpPr/>
            <p:nvPr/>
          </p:nvSpPr>
          <p:spPr>
            <a:xfrm>
              <a:off x="914400" y="3867150"/>
              <a:ext cx="76200" cy="76200"/>
            </a:xfrm>
            <a:prstGeom prst="ellipse">
              <a:avLst/>
            </a:prstGeom>
            <a:solidFill>
              <a:srgbClr val="E07B00"/>
            </a:solidFill>
            <a:ln>
              <a:noFill/>
            </a:ln>
          </p:spPr>
        </p:sp>
        <p:sp>
          <p:nvSpPr>
            <p:cNvPr id="17" name="TextBox 17"/>
            <p:cNvSpPr txBox="1"/>
            <p:nvPr/>
          </p:nvSpPr>
          <p:spPr>
            <a:xfrm>
              <a:off x="1126808" y="3815239"/>
              <a:ext cx="315227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AI 无法区分"正常学术表述"和"空泛表述"</a:t>
              </a:r>
            </a:p>
          </p:txBody>
        </p:sp>
        <p:sp>
          <p:nvSpPr>
            <p:cNvPr id="18" name="TextBox 18"/>
            <p:cNvSpPr txBox="1"/>
            <p:nvPr/>
          </p:nvSpPr>
          <p:spPr>
            <a:xfrm>
              <a:off x="933450" y="4219575"/>
              <a:ext cx="878205"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根本原因</a:t>
              </a:r>
            </a:p>
          </p:txBody>
        </p:sp>
        <p:sp>
          <p:nvSpPr>
            <p:cNvPr id="19" name="Rectangle 19"/>
            <p:cNvSpPr/>
            <p:nvPr/>
          </p:nvSpPr>
          <p:spPr>
            <a:xfrm>
              <a:off x="952500" y="4524375"/>
              <a:ext cx="4648200" cy="762000"/>
            </a:xfrm>
            <a:prstGeom prst="roundRect">
              <a:avLst>
                <a:gd name="adj" fmla="val 7500"/>
              </a:avLst>
            </a:prstGeom>
            <a:solidFill>
              <a:srgbClr val="FFFFFF"/>
            </a:solidFill>
            <a:ln w="14288">
              <a:solidFill>
                <a:srgbClr val="E07B00"/>
              </a:solidFill>
            </a:ln>
          </p:spPr>
        </p:sp>
        <p:sp>
          <p:nvSpPr>
            <p:cNvPr id="20" name="TextBox 20"/>
            <p:cNvSpPr txBox="1"/>
            <p:nvPr/>
          </p:nvSpPr>
          <p:spPr>
            <a:xfrm>
              <a:off x="1551694" y="4672489"/>
              <a:ext cx="3449812"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短 prompt 无法提供足够上下文判断论证质量</a:t>
              </a:r>
            </a:p>
          </p:txBody>
        </p:sp>
        <p:sp>
          <p:nvSpPr>
            <p:cNvPr id="21" name="TextBox 21"/>
            <p:cNvSpPr txBox="1"/>
            <p:nvPr/>
          </p:nvSpPr>
          <p:spPr>
            <a:xfrm>
              <a:off x="1547443" y="4910614"/>
              <a:ext cx="3458313"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Pattern 依赖论证质量判断，而非可观察指标</a:t>
              </a:r>
            </a:p>
          </p:txBody>
        </p:sp>
        <p:sp>
          <p:nvSpPr>
            <p:cNvPr id="22" name="TextBox 22"/>
            <p:cNvSpPr txBox="1"/>
            <p:nvPr/>
          </p:nvSpPr>
          <p:spPr>
            <a:xfrm>
              <a:off x="933450" y="5410200"/>
              <a:ext cx="458152"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决策</a:t>
              </a:r>
            </a:p>
          </p:txBody>
        </p:sp>
        <p:sp>
          <p:nvSpPr>
            <p:cNvPr id="23" name="Rectangle 23"/>
            <p:cNvSpPr/>
            <p:nvPr/>
          </p:nvSpPr>
          <p:spPr>
            <a:xfrm>
              <a:off x="952500" y="5715000"/>
              <a:ext cx="4648200" cy="285750"/>
            </a:xfrm>
            <a:prstGeom prst="roundRect">
              <a:avLst>
                <a:gd name="adj" fmla="val 13333"/>
              </a:avLst>
            </a:prstGeom>
            <a:solidFill>
              <a:srgbClr val="E07B00"/>
            </a:solidFill>
            <a:ln>
              <a:noFill/>
            </a:ln>
          </p:spPr>
        </p:sp>
        <p:sp>
          <p:nvSpPr>
            <p:cNvPr id="24" name="TextBox 24"/>
            <p:cNvSpPr txBox="1"/>
            <p:nvPr/>
          </p:nvSpPr>
          <p:spPr>
            <a:xfrm>
              <a:off x="1711726" y="5786914"/>
              <a:ext cx="3129747"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暂停 Phase 0，重新设计 pattern 定义</a:t>
              </a:r>
            </a:p>
          </p:txBody>
        </p:sp>
      </p:grpSp>
      <p:grpSp>
        <p:nvGrpSpPr>
          <p:cNvPr id="44" name="Group 44"/>
          <p:cNvGrpSpPr/>
          <p:nvPr/>
        </p:nvGrpSpPr>
        <p:grpSpPr>
          <a:xfrm>
            <a:off x="6248400" y="1714500"/>
            <a:ext cx="5334000" cy="4381500"/>
            <a:chOff x="6248400" y="1714500"/>
            <a:chExt cx="5334000" cy="4381500"/>
          </a:xfrm>
        </p:grpSpPr>
        <p:sp>
          <p:nvSpPr>
            <p:cNvPr id="26" name="Rectangle 26"/>
            <p:cNvSpPr/>
            <p:nvPr/>
          </p:nvSpPr>
          <p:spPr>
            <a:xfrm>
              <a:off x="6248400" y="1714500"/>
              <a:ext cx="5334000" cy="4381500"/>
            </a:xfrm>
            <a:prstGeom prst="roundRect">
              <a:avLst>
                <a:gd name="adj" fmla="val 1739"/>
              </a:avLst>
            </a:prstGeom>
            <a:solidFill>
              <a:srgbClr val="F0F9FF"/>
            </a:solidFill>
            <a:ln w="19050">
              <a:solidFill>
                <a:srgbClr val="1F4D78"/>
              </a:solidFill>
            </a:ln>
          </p:spPr>
        </p:sp>
        <p:sp>
          <p:nvSpPr>
            <p:cNvPr id="27" name="TextBox 27"/>
            <p:cNvSpPr txBox="1"/>
            <p:nvPr/>
          </p:nvSpPr>
          <p:spPr>
            <a:xfrm>
              <a:off x="8208050" y="1884998"/>
              <a:ext cx="1414701" cy="396240"/>
            </a:xfrm>
            <a:prstGeom prst="rect">
              <a:avLst/>
            </a:prstGeom>
            <a:noFill/>
            <a:ln>
              <a:noFill/>
            </a:ln>
          </p:spPr>
          <p:txBody>
            <a:bodyPr wrap="none" lIns="0" tIns="0" rIns="0" bIns="0" anchor="t" anchorCtr="0">
              <a:spAutoFit/>
            </a:bodyPr>
            <a:lstStyle/>
            <a:p>
              <a:pPr algn="ctr"/>
              <a:r>
                <a:rPr lang="zh-CN" sz="1950" b="1" dirty="0">
                  <a:solidFill>
                    <a:srgbClr val="1F4D78"/>
                  </a:solidFill>
                  <a:latin typeface="Arial"/>
                  <a:ea typeface="Microsoft YaHei"/>
                  <a:cs typeface="Arial"/>
                </a:rPr>
                <a:t>方法论沉淀</a:t>
              </a:r>
            </a:p>
          </p:txBody>
        </p:sp>
        <p:sp>
          <p:nvSpPr>
            <p:cNvPr id="28" name="TextBox 28"/>
            <p:cNvSpPr txBox="1"/>
            <p:nvPr/>
          </p:nvSpPr>
          <p:spPr>
            <a:xfrm>
              <a:off x="6572250" y="2409825"/>
              <a:ext cx="2505908"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教训 1：Pattern 设计原则</a:t>
              </a:r>
            </a:p>
          </p:txBody>
        </p:sp>
        <p:sp>
          <p:nvSpPr>
            <p:cNvPr id="29" name="Ellipse 29"/>
            <p:cNvSpPr/>
            <p:nvPr/>
          </p:nvSpPr>
          <p:spPr>
            <a:xfrm>
              <a:off x="6553200" y="2867025"/>
              <a:ext cx="76200" cy="76200"/>
            </a:xfrm>
            <a:prstGeom prst="ellipse">
              <a:avLst/>
            </a:prstGeom>
            <a:solidFill>
              <a:srgbClr val="1F4D78"/>
            </a:solidFill>
            <a:ln>
              <a:noFill/>
            </a:ln>
          </p:spPr>
        </p:sp>
        <p:sp>
          <p:nvSpPr>
            <p:cNvPr id="30" name="TextBox 30"/>
            <p:cNvSpPr txBox="1"/>
            <p:nvPr/>
          </p:nvSpPr>
          <p:spPr>
            <a:xfrm>
              <a:off x="6765608" y="2815114"/>
              <a:ext cx="343281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必须基于可观察指标，避免依赖论证质量判断</a:t>
              </a:r>
            </a:p>
          </p:txBody>
        </p:sp>
        <p:sp>
          <p:nvSpPr>
            <p:cNvPr id="31" name="Ellipse 31"/>
            <p:cNvSpPr/>
            <p:nvPr/>
          </p:nvSpPr>
          <p:spPr>
            <a:xfrm>
              <a:off x="6553200" y="3200400"/>
              <a:ext cx="76200" cy="76200"/>
            </a:xfrm>
            <a:prstGeom prst="ellipse">
              <a:avLst/>
            </a:prstGeom>
            <a:solidFill>
              <a:srgbClr val="1F4D78"/>
            </a:solidFill>
            <a:ln>
              <a:noFill/>
            </a:ln>
          </p:spPr>
        </p:sp>
        <p:sp>
          <p:nvSpPr>
            <p:cNvPr id="32" name="TextBox 32"/>
            <p:cNvSpPr txBox="1"/>
            <p:nvPr/>
          </p:nvSpPr>
          <p:spPr>
            <a:xfrm>
              <a:off x="6765608" y="3148489"/>
              <a:ext cx="2608207"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可观察 = 可计数、可定位、可引用</a:t>
              </a:r>
            </a:p>
          </p:txBody>
        </p:sp>
        <p:sp>
          <p:nvSpPr>
            <p:cNvPr id="33" name="TextBox 33"/>
            <p:cNvSpPr txBox="1"/>
            <p:nvPr/>
          </p:nvSpPr>
          <p:spPr>
            <a:xfrm>
              <a:off x="6572250" y="3552825"/>
              <a:ext cx="2715935"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教训 2：Autoresearch 策略</a:t>
              </a:r>
            </a:p>
          </p:txBody>
        </p:sp>
        <p:sp>
          <p:nvSpPr>
            <p:cNvPr id="34" name="Ellipse 34"/>
            <p:cNvSpPr/>
            <p:nvPr/>
          </p:nvSpPr>
          <p:spPr>
            <a:xfrm>
              <a:off x="6553200" y="4010025"/>
              <a:ext cx="76200" cy="76200"/>
            </a:xfrm>
            <a:prstGeom prst="ellipse">
              <a:avLst/>
            </a:prstGeom>
            <a:solidFill>
              <a:srgbClr val="1F4D78"/>
            </a:solidFill>
            <a:ln>
              <a:noFill/>
            </a:ln>
          </p:spPr>
        </p:sp>
        <p:sp>
          <p:nvSpPr>
            <p:cNvPr id="35" name="TextBox 35"/>
            <p:cNvSpPr txBox="1"/>
            <p:nvPr/>
          </p:nvSpPr>
          <p:spPr>
            <a:xfrm>
              <a:off x="6765608" y="3958114"/>
              <a:ext cx="256570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逐维度优化，6 轮迭代收敛 77.9%</a:t>
              </a:r>
            </a:p>
          </p:txBody>
        </p:sp>
        <p:sp>
          <p:nvSpPr>
            <p:cNvPr id="36" name="Ellipse 36"/>
            <p:cNvSpPr/>
            <p:nvPr/>
          </p:nvSpPr>
          <p:spPr>
            <a:xfrm>
              <a:off x="6553200" y="4343400"/>
              <a:ext cx="76200" cy="76200"/>
            </a:xfrm>
            <a:prstGeom prst="ellipse">
              <a:avLst/>
            </a:prstGeom>
            <a:solidFill>
              <a:srgbClr val="1F4D78"/>
            </a:solidFill>
            <a:ln>
              <a:noFill/>
            </a:ln>
          </p:spPr>
        </p:sp>
        <p:sp>
          <p:nvSpPr>
            <p:cNvPr id="37" name="TextBox 37"/>
            <p:cNvSpPr txBox="1"/>
            <p:nvPr/>
          </p:nvSpPr>
          <p:spPr>
            <a:xfrm>
              <a:off x="6765608" y="4291489"/>
              <a:ext cx="2769727"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放宽"部分满足"标准，不降低高标准</a:t>
              </a:r>
            </a:p>
          </p:txBody>
        </p:sp>
        <p:sp>
          <p:nvSpPr>
            <p:cNvPr id="38" name="Ellipse 38"/>
            <p:cNvSpPr/>
            <p:nvPr/>
          </p:nvSpPr>
          <p:spPr>
            <a:xfrm>
              <a:off x="6553200" y="4676775"/>
              <a:ext cx="76200" cy="76200"/>
            </a:xfrm>
            <a:prstGeom prst="ellipse">
              <a:avLst/>
            </a:prstGeom>
            <a:solidFill>
              <a:srgbClr val="1F4D78"/>
            </a:solidFill>
            <a:ln>
              <a:noFill/>
            </a:ln>
          </p:spPr>
        </p:sp>
        <p:sp>
          <p:nvSpPr>
            <p:cNvPr id="39" name="TextBox 39"/>
            <p:cNvSpPr txBox="1"/>
            <p:nvPr/>
          </p:nvSpPr>
          <p:spPr>
            <a:xfrm>
              <a:off x="6765608" y="4624864"/>
              <a:ext cx="3041761"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增加【重要】提示 + 正面/反面锚点示例</a:t>
              </a:r>
            </a:p>
          </p:txBody>
        </p:sp>
        <p:sp>
          <p:nvSpPr>
            <p:cNvPr id="40" name="TextBox 40"/>
            <p:cNvSpPr txBox="1"/>
            <p:nvPr/>
          </p:nvSpPr>
          <p:spPr>
            <a:xfrm>
              <a:off x="6572250" y="5029200"/>
              <a:ext cx="1686806"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教训 3：科学态度</a:t>
              </a:r>
            </a:p>
          </p:txBody>
        </p:sp>
        <p:sp>
          <p:nvSpPr>
            <p:cNvPr id="41" name="Rectangle 41"/>
            <p:cNvSpPr/>
            <p:nvPr/>
          </p:nvSpPr>
          <p:spPr>
            <a:xfrm>
              <a:off x="6591300" y="5334000"/>
              <a:ext cx="4648200" cy="666750"/>
            </a:xfrm>
            <a:prstGeom prst="roundRect">
              <a:avLst>
                <a:gd name="adj" fmla="val 8571"/>
              </a:avLst>
            </a:prstGeom>
            <a:solidFill>
              <a:srgbClr val="FFFFFF"/>
            </a:solidFill>
            <a:ln w="14288">
              <a:solidFill>
                <a:srgbClr val="2E7D32"/>
              </a:solidFill>
            </a:ln>
          </p:spPr>
        </p:sp>
        <p:sp>
          <p:nvSpPr>
            <p:cNvPr id="42" name="TextBox 42"/>
            <p:cNvSpPr txBox="1"/>
            <p:nvPr/>
          </p:nvSpPr>
          <p:spPr>
            <a:xfrm>
              <a:off x="7709059" y="5482114"/>
              <a:ext cx="2412682" cy="259080"/>
            </a:xfrm>
            <a:prstGeom prst="rect">
              <a:avLst/>
            </a:prstGeom>
            <a:noFill/>
            <a:ln>
              <a:noFill/>
            </a:ln>
          </p:spPr>
          <p:txBody>
            <a:bodyPr wrap="none" lIns="0" tIns="0" rIns="0" bIns="0" anchor="t" anchorCtr="0">
              <a:spAutoFit/>
            </a:bodyPr>
            <a:lstStyle/>
            <a:p>
              <a:pPr algn="ctr"/>
              <a:r>
                <a:rPr lang="zh-CN" sz="1275" dirty="0">
                  <a:solidFill>
                    <a:srgbClr val="1B1C21"/>
                  </a:solidFill>
                  <a:latin typeface="Arial"/>
                  <a:ea typeface="Microsoft YaHei"/>
                  <a:cs typeface="Arial"/>
                </a:rPr>
                <a:t>公开记录失败，不隐藏负面结果</a:t>
              </a:r>
            </a:p>
          </p:txBody>
        </p:sp>
        <p:sp>
          <p:nvSpPr>
            <p:cNvPr id="43" name="TextBox 43"/>
            <p:cNvSpPr txBox="1"/>
            <p:nvPr/>
          </p:nvSpPr>
          <p:spPr>
            <a:xfrm>
              <a:off x="7738812" y="5720239"/>
              <a:ext cx="2353175"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Arial"/>
                  <a:ea typeface="Microsoft YaHei"/>
                  <a:cs typeface="Arial"/>
                </a:rPr>
                <a:t>失败是方法论迭代的必经之路</a:t>
              </a:r>
            </a:p>
          </p:txBody>
        </p:sp>
      </p:grpSp>
      <p:sp>
        <p:nvSpPr>
          <p:cNvPr id="45" name="TextBox 45"/>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400"/>
                                        <p:tgtEl>
                                          <p:spTgt spid="2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slide(fromBottom)">
                                      <p:cBhvr>
                                        <p:cTn id="11"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2714911"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评测流程全景图</a:t>
            </a:r>
          </a:p>
        </p:txBody>
      </p:sp>
      <p:sp>
        <p:nvSpPr>
          <p:cNvPr id="7" name="TextBox 7"/>
          <p:cNvSpPr txBox="1"/>
          <p:nvPr/>
        </p:nvSpPr>
        <p:spPr>
          <a:xfrm>
            <a:off x="4895207" y="1473518"/>
            <a:ext cx="2401586"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三层评测 + 一层解释验证体系</a:t>
            </a:r>
          </a:p>
        </p:txBody>
      </p:sp>
      <p:grpSp>
        <p:nvGrpSpPr>
          <p:cNvPr id="28" name="Group 28"/>
          <p:cNvGrpSpPr/>
          <p:nvPr/>
        </p:nvGrpSpPr>
        <p:grpSpPr>
          <a:xfrm>
            <a:off x="2286000" y="1905000"/>
            <a:ext cx="8800338" cy="4667250"/>
            <a:chOff x="2286000" y="1905000"/>
            <a:chExt cx="8800338" cy="4667250"/>
          </a:xfrm>
        </p:grpSpPr>
        <p:sp>
          <p:nvSpPr>
            <p:cNvPr id="8" name="Rectangle 8"/>
            <p:cNvSpPr/>
            <p:nvPr/>
          </p:nvSpPr>
          <p:spPr>
            <a:xfrm>
              <a:off x="2286000" y="1905000"/>
              <a:ext cx="7620000" cy="762000"/>
            </a:xfrm>
            <a:prstGeom prst="roundRect">
              <a:avLst>
                <a:gd name="adj" fmla="val 10000"/>
              </a:avLst>
            </a:prstGeom>
            <a:solidFill>
              <a:srgbClr val="1F4D78"/>
            </a:solidFill>
            <a:ln>
              <a:noFill/>
            </a:ln>
          </p:spPr>
        </p:sp>
        <p:sp>
          <p:nvSpPr>
            <p:cNvPr id="9" name="TextBox 9"/>
            <p:cNvSpPr txBox="1"/>
            <p:nvPr/>
          </p:nvSpPr>
          <p:spPr>
            <a:xfrm>
              <a:off x="5283771" y="2012632"/>
              <a:ext cx="1624458"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全量评审（E1）</a:t>
              </a:r>
            </a:p>
          </p:txBody>
        </p:sp>
        <p:sp>
          <p:nvSpPr>
            <p:cNvPr id="10" name="TextBox 10"/>
            <p:cNvSpPr txBox="1"/>
            <p:nvPr/>
          </p:nvSpPr>
          <p:spPr>
            <a:xfrm>
              <a:off x="4278630" y="2330768"/>
              <a:ext cx="3634740"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1920 篇已生成 R1+R2 结果，识别 Top 60 候选</a:t>
              </a:r>
            </a:p>
          </p:txBody>
        </p:sp>
        <p:sp>
          <p:nvSpPr>
            <p:cNvPr id="11" name="TextBox 11"/>
            <p:cNvSpPr txBox="1"/>
            <p:nvPr/>
          </p:nvSpPr>
          <p:spPr>
            <a:xfrm>
              <a:off x="10271760" y="2204085"/>
              <a:ext cx="814578"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~92,160 次</a:t>
              </a:r>
            </a:p>
          </p:txBody>
        </p:sp>
        <p:sp>
          <p:nvSpPr>
            <p:cNvPr id="12" name="Freeform 12"/>
            <p:cNvSpPr/>
            <p:nvPr/>
          </p:nvSpPr>
          <p:spPr>
            <a:xfrm>
              <a:off x="6096000" y="2667000"/>
              <a:ext cx="9525" cy="285750"/>
            </a:xfrm>
            <a:custGeom>
              <a:avLst/>
              <a:gdLst/>
              <a:ahLst/>
              <a:cxnLst/>
              <a:rect l="l" t="t" r="r" b="b"/>
              <a:pathLst>
                <a:path w="9525" h="285750">
                  <a:moveTo>
                    <a:pt x="0" y="0"/>
                  </a:moveTo>
                  <a:lnTo>
                    <a:pt x="0" y="285750"/>
                  </a:lnTo>
                </a:path>
              </a:pathLst>
            </a:custGeom>
            <a:noFill/>
            <a:ln w="28575">
              <a:solidFill>
                <a:srgbClr val="94A3B8"/>
              </a:solidFill>
              <a:tailEnd type="triangle" w="lg" len="lg"/>
            </a:ln>
          </p:spPr>
        </p:sp>
        <p:sp>
          <p:nvSpPr>
            <p:cNvPr id="13" name="Rectangle 13"/>
            <p:cNvSpPr/>
            <p:nvPr/>
          </p:nvSpPr>
          <p:spPr>
            <a:xfrm>
              <a:off x="2762250" y="3048000"/>
              <a:ext cx="6667500" cy="762000"/>
            </a:xfrm>
            <a:prstGeom prst="roundRect">
              <a:avLst>
                <a:gd name="adj" fmla="val 10000"/>
              </a:avLst>
            </a:prstGeom>
            <a:solidFill>
              <a:srgbClr val="44546A"/>
            </a:solidFill>
            <a:ln>
              <a:noFill/>
            </a:ln>
          </p:spPr>
        </p:sp>
        <p:sp>
          <p:nvSpPr>
            <p:cNvPr id="14" name="TextBox 14"/>
            <p:cNvSpPr txBox="1"/>
            <p:nvPr/>
          </p:nvSpPr>
          <p:spPr>
            <a:xfrm>
              <a:off x="5098948" y="3155632"/>
              <a:ext cx="199410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Top 60 重测（E2）</a:t>
              </a:r>
            </a:p>
          </p:txBody>
        </p:sp>
        <p:sp>
          <p:nvSpPr>
            <p:cNvPr id="15" name="TextBox 15"/>
            <p:cNvSpPr txBox="1"/>
            <p:nvPr/>
          </p:nvSpPr>
          <p:spPr>
            <a:xfrm>
              <a:off x="4980718" y="3473768"/>
              <a:ext cx="2230565"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50 篇完整 R1+R2，交叉验证</a:t>
              </a:r>
            </a:p>
          </p:txBody>
        </p:sp>
        <p:sp>
          <p:nvSpPr>
            <p:cNvPr id="16" name="TextBox 16"/>
            <p:cNvSpPr txBox="1"/>
            <p:nvPr/>
          </p:nvSpPr>
          <p:spPr>
            <a:xfrm>
              <a:off x="9700260" y="3347085"/>
              <a:ext cx="678561"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2,400 次</a:t>
              </a:r>
            </a:p>
          </p:txBody>
        </p:sp>
        <p:sp>
          <p:nvSpPr>
            <p:cNvPr id="17" name="Freeform 17"/>
            <p:cNvSpPr/>
            <p:nvPr/>
          </p:nvSpPr>
          <p:spPr>
            <a:xfrm>
              <a:off x="6096000" y="3810000"/>
              <a:ext cx="9525" cy="285750"/>
            </a:xfrm>
            <a:custGeom>
              <a:avLst/>
              <a:gdLst/>
              <a:ahLst/>
              <a:cxnLst/>
              <a:rect l="l" t="t" r="r" b="b"/>
              <a:pathLst>
                <a:path w="9525" h="285750">
                  <a:moveTo>
                    <a:pt x="0" y="0"/>
                  </a:moveTo>
                  <a:lnTo>
                    <a:pt x="0" y="285750"/>
                  </a:lnTo>
                </a:path>
              </a:pathLst>
            </a:custGeom>
            <a:noFill/>
            <a:ln w="28575">
              <a:solidFill>
                <a:srgbClr val="94A3B8"/>
              </a:solidFill>
              <a:tailEnd type="triangle" w="lg" len="lg"/>
            </a:ln>
          </p:spPr>
        </p:sp>
        <p:sp>
          <p:nvSpPr>
            <p:cNvPr id="18" name="Rectangle 18"/>
            <p:cNvSpPr/>
            <p:nvPr/>
          </p:nvSpPr>
          <p:spPr>
            <a:xfrm>
              <a:off x="3238500" y="4191000"/>
              <a:ext cx="5715000" cy="762000"/>
            </a:xfrm>
            <a:prstGeom prst="roundRect">
              <a:avLst>
                <a:gd name="adj" fmla="val 10000"/>
              </a:avLst>
            </a:prstGeom>
            <a:solidFill>
              <a:srgbClr val="C8161E"/>
            </a:solidFill>
            <a:ln>
              <a:noFill/>
            </a:ln>
          </p:spPr>
        </p:sp>
        <p:sp>
          <p:nvSpPr>
            <p:cNvPr id="19" name="TextBox 19"/>
            <p:cNvSpPr txBox="1"/>
            <p:nvPr/>
          </p:nvSpPr>
          <p:spPr>
            <a:xfrm>
              <a:off x="5006536" y="4298632"/>
              <a:ext cx="217892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选择性第 3 次（E3）</a:t>
              </a:r>
            </a:p>
          </p:txBody>
        </p:sp>
        <p:sp>
          <p:nvSpPr>
            <p:cNvPr id="20" name="TextBox 20"/>
            <p:cNvSpPr txBox="1"/>
            <p:nvPr/>
          </p:nvSpPr>
          <p:spPr>
            <a:xfrm>
              <a:off x="4868204" y="4616768"/>
              <a:ext cx="2455593"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13 篇 × 17 维度，仅不稳定维度</a:t>
              </a:r>
            </a:p>
          </p:txBody>
        </p:sp>
        <p:sp>
          <p:nvSpPr>
            <p:cNvPr id="21" name="TextBox 21"/>
            <p:cNvSpPr txBox="1"/>
            <p:nvPr/>
          </p:nvSpPr>
          <p:spPr>
            <a:xfrm>
              <a:off x="9128760" y="4490085"/>
              <a:ext cx="462534"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136 次</a:t>
              </a:r>
            </a:p>
          </p:txBody>
        </p:sp>
        <p:sp>
          <p:nvSpPr>
            <p:cNvPr id="22" name="Freeform 22"/>
            <p:cNvSpPr/>
            <p:nvPr/>
          </p:nvSpPr>
          <p:spPr>
            <a:xfrm>
              <a:off x="6096000" y="4953000"/>
              <a:ext cx="9525" cy="285750"/>
            </a:xfrm>
            <a:custGeom>
              <a:avLst/>
              <a:gdLst/>
              <a:ahLst/>
              <a:cxnLst/>
              <a:rect l="l" t="t" r="r" b="b"/>
              <a:pathLst>
                <a:path w="9525" h="285750">
                  <a:moveTo>
                    <a:pt x="0" y="0"/>
                  </a:moveTo>
                  <a:lnTo>
                    <a:pt x="0" y="285750"/>
                  </a:lnTo>
                </a:path>
              </a:pathLst>
            </a:custGeom>
            <a:noFill/>
            <a:ln w="28575">
              <a:solidFill>
                <a:srgbClr val="94A3B8"/>
              </a:solidFill>
              <a:tailEnd type="triangle" w="lg" len="lg"/>
            </a:ln>
          </p:spPr>
        </p:sp>
        <p:sp>
          <p:nvSpPr>
            <p:cNvPr id="23" name="Rectangle 23"/>
            <p:cNvSpPr/>
            <p:nvPr/>
          </p:nvSpPr>
          <p:spPr>
            <a:xfrm>
              <a:off x="3714750" y="5334000"/>
              <a:ext cx="4762500" cy="476250"/>
            </a:xfrm>
            <a:prstGeom prst="roundRect">
              <a:avLst>
                <a:gd name="adj" fmla="val 16000"/>
              </a:avLst>
            </a:prstGeom>
            <a:solidFill>
              <a:srgbClr val="2E7D32"/>
            </a:solidFill>
            <a:ln>
              <a:noFill/>
            </a:ln>
          </p:spPr>
        </p:sp>
        <p:sp>
          <p:nvSpPr>
            <p:cNvPr id="24" name="TextBox 24"/>
            <p:cNvSpPr txBox="1"/>
            <p:nvPr/>
          </p:nvSpPr>
          <p:spPr>
            <a:xfrm>
              <a:off x="4270724" y="5476875"/>
              <a:ext cx="365055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最终排名（三次中位数）→ Top 30 确认</a:t>
              </a:r>
            </a:p>
          </p:txBody>
        </p:sp>
        <p:sp>
          <p:nvSpPr>
            <p:cNvPr id="25" name="Freeform 25"/>
            <p:cNvSpPr/>
            <p:nvPr/>
          </p:nvSpPr>
          <p:spPr>
            <a:xfrm>
              <a:off x="6096000" y="5810250"/>
              <a:ext cx="9525" cy="190500"/>
            </a:xfrm>
            <a:custGeom>
              <a:avLst/>
              <a:gdLst/>
              <a:ahLst/>
              <a:cxnLst/>
              <a:rect l="l" t="t" r="r" b="b"/>
              <a:pathLst>
                <a:path w="9525" h="190500">
                  <a:moveTo>
                    <a:pt x="0" y="0"/>
                  </a:moveTo>
                  <a:lnTo>
                    <a:pt x="0" y="190500"/>
                  </a:lnTo>
                </a:path>
              </a:pathLst>
            </a:custGeom>
            <a:noFill/>
            <a:ln w="19050">
              <a:solidFill>
                <a:srgbClr val="94A3B8"/>
              </a:solidFill>
              <a:tailEnd type="triangle" w="lg" len="lg"/>
            </a:ln>
          </p:spPr>
        </p:sp>
        <p:sp>
          <p:nvSpPr>
            <p:cNvPr id="26" name="Rectangle 26"/>
            <p:cNvSpPr/>
            <p:nvPr/>
          </p:nvSpPr>
          <p:spPr>
            <a:xfrm>
              <a:off x="3238500" y="6096000"/>
              <a:ext cx="5715000" cy="476250"/>
            </a:xfrm>
            <a:prstGeom prst="roundRect">
              <a:avLst>
                <a:gd name="adj" fmla="val 16000"/>
              </a:avLst>
            </a:prstGeom>
            <a:solidFill>
              <a:srgbClr val="F4F5F7"/>
            </a:solidFill>
            <a:ln w="19050">
              <a:solidFill>
                <a:srgbClr val="1F4D78"/>
              </a:solidFill>
            </a:ln>
          </p:spPr>
        </p:sp>
        <p:sp>
          <p:nvSpPr>
            <p:cNvPr id="27" name="TextBox 27"/>
            <p:cNvSpPr txBox="1"/>
            <p:nvPr/>
          </p:nvSpPr>
          <p:spPr>
            <a:xfrm>
              <a:off x="3654627" y="6255068"/>
              <a:ext cx="4882746"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信号与知识谱系验证 → Top 30 自主信号评测 + 知识库匹配</a:t>
              </a:r>
            </a:p>
          </p:txBody>
        </p:sp>
      </p:grpSp>
      <p:grpSp>
        <p:nvGrpSpPr>
          <p:cNvPr id="46" name="Group 46"/>
          <p:cNvGrpSpPr/>
          <p:nvPr/>
        </p:nvGrpSpPr>
        <p:grpSpPr>
          <a:xfrm>
            <a:off x="609600" y="1905000"/>
            <a:ext cx="1428750" cy="4667250"/>
            <a:chOff x="609600" y="1905000"/>
            <a:chExt cx="1428750" cy="4667250"/>
          </a:xfrm>
        </p:grpSpPr>
        <p:sp>
          <p:nvSpPr>
            <p:cNvPr id="29" name="Rectangle 29"/>
            <p:cNvSpPr/>
            <p:nvPr/>
          </p:nvSpPr>
          <p:spPr>
            <a:xfrm>
              <a:off x="609600" y="1905000"/>
              <a:ext cx="1428750" cy="4667250"/>
            </a:xfrm>
            <a:prstGeom prst="roundRect">
              <a:avLst>
                <a:gd name="adj" fmla="val 5333"/>
              </a:avLst>
            </a:prstGeom>
            <a:solidFill>
              <a:srgbClr val="F4F5F7"/>
            </a:solidFill>
            <a:ln>
              <a:noFill/>
            </a:ln>
          </p:spPr>
        </p:sp>
        <p:sp>
          <p:nvSpPr>
            <p:cNvPr id="30" name="TextBox 30"/>
            <p:cNvSpPr txBox="1"/>
            <p:nvPr/>
          </p:nvSpPr>
          <p:spPr>
            <a:xfrm>
              <a:off x="928783" y="2045018"/>
              <a:ext cx="790384" cy="274320"/>
            </a:xfrm>
            <a:prstGeom prst="rect">
              <a:avLst/>
            </a:prstGeom>
            <a:noFill/>
            <a:ln>
              <a:noFill/>
            </a:ln>
          </p:spPr>
          <p:txBody>
            <a:bodyPr wrap="none" lIns="0" tIns="0" rIns="0" bIns="0" anchor="t" anchorCtr="0">
              <a:spAutoFit/>
            </a:bodyPr>
            <a:lstStyle/>
            <a:p>
              <a:pPr algn="ctr"/>
              <a:r>
                <a:rPr lang="zh-CN" sz="1350" b="1" dirty="0">
                  <a:solidFill>
                    <a:srgbClr val="1F4D78"/>
                  </a:solidFill>
                  <a:latin typeface="Arial"/>
                  <a:ea typeface="Microsoft YaHei"/>
                  <a:cs typeface="Arial"/>
                </a:rPr>
                <a:t>逐层聚焦</a:t>
              </a:r>
            </a:p>
          </p:txBody>
        </p:sp>
        <p:sp>
          <p:nvSpPr>
            <p:cNvPr id="31" name="TextBox 31"/>
            <p:cNvSpPr txBox="1"/>
            <p:nvPr/>
          </p:nvSpPr>
          <p:spPr>
            <a:xfrm>
              <a:off x="1245930" y="2450306"/>
              <a:ext cx="156091"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E1</a:t>
              </a:r>
            </a:p>
          </p:txBody>
        </p:sp>
        <p:sp>
          <p:nvSpPr>
            <p:cNvPr id="32" name="TextBox 32"/>
            <p:cNvSpPr txBox="1"/>
            <p:nvPr/>
          </p:nvSpPr>
          <p:spPr>
            <a:xfrm>
              <a:off x="1030605" y="2648902"/>
              <a:ext cx="58674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全量扫描</a:t>
              </a:r>
            </a:p>
          </p:txBody>
        </p:sp>
        <p:sp>
          <p:nvSpPr>
            <p:cNvPr id="33" name="TextBox 33"/>
            <p:cNvSpPr txBox="1"/>
            <p:nvPr/>
          </p:nvSpPr>
          <p:spPr>
            <a:xfrm>
              <a:off x="960596" y="2810828"/>
              <a:ext cx="726758"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识别候选池</a:t>
              </a:r>
            </a:p>
          </p:txBody>
        </p:sp>
        <p:sp>
          <p:nvSpPr>
            <p:cNvPr id="34" name="TextBox 34"/>
            <p:cNvSpPr txBox="1"/>
            <p:nvPr/>
          </p:nvSpPr>
          <p:spPr>
            <a:xfrm>
              <a:off x="1227177" y="3307556"/>
              <a:ext cx="193596"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E2</a:t>
              </a:r>
            </a:p>
          </p:txBody>
        </p:sp>
        <p:sp>
          <p:nvSpPr>
            <p:cNvPr id="35" name="TextBox 35"/>
            <p:cNvSpPr txBox="1"/>
            <p:nvPr/>
          </p:nvSpPr>
          <p:spPr>
            <a:xfrm>
              <a:off x="1030605" y="3506152"/>
              <a:ext cx="58674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重点复测</a:t>
              </a:r>
            </a:p>
          </p:txBody>
        </p:sp>
        <p:sp>
          <p:nvSpPr>
            <p:cNvPr id="36" name="TextBox 36"/>
            <p:cNvSpPr txBox="1"/>
            <p:nvPr/>
          </p:nvSpPr>
          <p:spPr>
            <a:xfrm>
              <a:off x="1030605" y="3668078"/>
              <a:ext cx="58674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暴露分歧</a:t>
              </a:r>
            </a:p>
          </p:txBody>
        </p:sp>
        <p:sp>
          <p:nvSpPr>
            <p:cNvPr id="37" name="TextBox 37"/>
            <p:cNvSpPr txBox="1"/>
            <p:nvPr/>
          </p:nvSpPr>
          <p:spPr>
            <a:xfrm>
              <a:off x="1227177" y="4355306"/>
              <a:ext cx="193596"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E3</a:t>
              </a:r>
            </a:p>
          </p:txBody>
        </p:sp>
        <p:sp>
          <p:nvSpPr>
            <p:cNvPr id="38" name="TextBox 38"/>
            <p:cNvSpPr txBox="1"/>
            <p:nvPr/>
          </p:nvSpPr>
          <p:spPr>
            <a:xfrm>
              <a:off x="1030605" y="4553902"/>
              <a:ext cx="58674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精准打击</a:t>
              </a:r>
            </a:p>
          </p:txBody>
        </p:sp>
        <p:sp>
          <p:nvSpPr>
            <p:cNvPr id="39" name="TextBox 39"/>
            <p:cNvSpPr txBox="1"/>
            <p:nvPr/>
          </p:nvSpPr>
          <p:spPr>
            <a:xfrm>
              <a:off x="890588" y="4715828"/>
              <a:ext cx="866775"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仅不稳定维度</a:t>
              </a:r>
            </a:p>
          </p:txBody>
        </p:sp>
        <p:sp>
          <p:nvSpPr>
            <p:cNvPr id="40" name="TextBox 40"/>
            <p:cNvSpPr txBox="1"/>
            <p:nvPr/>
          </p:nvSpPr>
          <p:spPr>
            <a:xfrm>
              <a:off x="1020279" y="4877752"/>
              <a:ext cx="607393"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节省 78%</a:t>
              </a:r>
            </a:p>
          </p:txBody>
        </p:sp>
        <p:sp>
          <p:nvSpPr>
            <p:cNvPr id="41" name="TextBox 41"/>
            <p:cNvSpPr txBox="1"/>
            <p:nvPr/>
          </p:nvSpPr>
          <p:spPr>
            <a:xfrm>
              <a:off x="1009650" y="5593556"/>
              <a:ext cx="628650"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信号验证</a:t>
              </a:r>
            </a:p>
          </p:txBody>
        </p:sp>
        <p:sp>
          <p:nvSpPr>
            <p:cNvPr id="42" name="TextBox 42"/>
            <p:cNvSpPr txBox="1"/>
            <p:nvPr/>
          </p:nvSpPr>
          <p:spPr>
            <a:xfrm>
              <a:off x="1030605" y="5792152"/>
              <a:ext cx="58674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确认自主</a:t>
              </a:r>
            </a:p>
          </p:txBody>
        </p:sp>
        <p:sp>
          <p:nvSpPr>
            <p:cNvPr id="43" name="TextBox 43"/>
            <p:cNvSpPr txBox="1"/>
            <p:nvPr/>
          </p:nvSpPr>
          <p:spPr>
            <a:xfrm>
              <a:off x="1030605" y="5954078"/>
              <a:ext cx="58674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知识信号</a:t>
              </a:r>
            </a:p>
          </p:txBody>
        </p:sp>
        <p:sp>
          <p:nvSpPr>
            <p:cNvPr id="44" name="TextBox 44"/>
            <p:cNvSpPr txBox="1"/>
            <p:nvPr/>
          </p:nvSpPr>
          <p:spPr>
            <a:xfrm>
              <a:off x="960596" y="6116002"/>
              <a:ext cx="726758"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与知识谱系</a:t>
              </a:r>
            </a:p>
          </p:txBody>
        </p:sp>
        <p:sp>
          <p:nvSpPr>
            <p:cNvPr id="45" name="TextBox 45"/>
            <p:cNvSpPr txBox="1"/>
            <p:nvPr/>
          </p:nvSpPr>
          <p:spPr>
            <a:xfrm>
              <a:off x="1170622" y="6277928"/>
              <a:ext cx="306705"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位置</a:t>
              </a:r>
            </a:p>
          </p:txBody>
        </p:sp>
      </p:grpSp>
      <p:grpSp>
        <p:nvGrpSpPr>
          <p:cNvPr id="64" name="Group 64"/>
          <p:cNvGrpSpPr/>
          <p:nvPr/>
        </p:nvGrpSpPr>
        <p:grpSpPr>
          <a:xfrm>
            <a:off x="10153650" y="1905000"/>
            <a:ext cx="1428750" cy="4667250"/>
            <a:chOff x="10153650" y="1905000"/>
            <a:chExt cx="1428750" cy="4667250"/>
          </a:xfrm>
        </p:grpSpPr>
        <p:sp>
          <p:nvSpPr>
            <p:cNvPr id="47" name="Rectangle 47"/>
            <p:cNvSpPr/>
            <p:nvPr/>
          </p:nvSpPr>
          <p:spPr>
            <a:xfrm>
              <a:off x="10153650" y="1905000"/>
              <a:ext cx="1428750" cy="4667250"/>
            </a:xfrm>
            <a:prstGeom prst="roundRect">
              <a:avLst>
                <a:gd name="adj" fmla="val 5333"/>
              </a:avLst>
            </a:prstGeom>
            <a:solidFill>
              <a:srgbClr val="F4F5F7"/>
            </a:solidFill>
            <a:ln>
              <a:noFill/>
            </a:ln>
          </p:spPr>
        </p:sp>
        <p:sp>
          <p:nvSpPr>
            <p:cNvPr id="48" name="TextBox 48"/>
            <p:cNvSpPr txBox="1"/>
            <p:nvPr/>
          </p:nvSpPr>
          <p:spPr>
            <a:xfrm>
              <a:off x="10472833" y="2045018"/>
              <a:ext cx="790384" cy="274320"/>
            </a:xfrm>
            <a:prstGeom prst="rect">
              <a:avLst/>
            </a:prstGeom>
            <a:noFill/>
            <a:ln>
              <a:noFill/>
            </a:ln>
          </p:spPr>
          <p:txBody>
            <a:bodyPr wrap="none" lIns="0" tIns="0" rIns="0" bIns="0" anchor="t" anchorCtr="0">
              <a:spAutoFit/>
            </a:bodyPr>
            <a:lstStyle/>
            <a:p>
              <a:pPr algn="ctr"/>
              <a:r>
                <a:rPr lang="zh-CN" sz="1350" b="1" dirty="0">
                  <a:solidFill>
                    <a:srgbClr val="C8161E"/>
                  </a:solidFill>
                  <a:latin typeface="Arial"/>
                  <a:ea typeface="Microsoft YaHei"/>
                  <a:cs typeface="Arial"/>
                </a:rPr>
                <a:t>效率指标</a:t>
              </a:r>
            </a:p>
          </p:txBody>
        </p:sp>
        <p:sp>
          <p:nvSpPr>
            <p:cNvPr id="49" name="TextBox 49"/>
            <p:cNvSpPr txBox="1"/>
            <p:nvPr/>
          </p:nvSpPr>
          <p:spPr>
            <a:xfrm>
              <a:off x="10579953" y="2545556"/>
              <a:ext cx="576143"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E3 vs E1</a:t>
              </a:r>
            </a:p>
          </p:txBody>
        </p:sp>
        <p:sp>
          <p:nvSpPr>
            <p:cNvPr id="50" name="TextBox 50"/>
            <p:cNvSpPr txBox="1"/>
            <p:nvPr/>
          </p:nvSpPr>
          <p:spPr>
            <a:xfrm>
              <a:off x="10501967" y="2694622"/>
              <a:ext cx="732115" cy="396240"/>
            </a:xfrm>
            <a:prstGeom prst="rect">
              <a:avLst/>
            </a:prstGeom>
            <a:noFill/>
            <a:ln>
              <a:noFill/>
            </a:ln>
          </p:spPr>
          <p:txBody>
            <a:bodyPr wrap="none" lIns="0" tIns="0" rIns="0" bIns="0" anchor="t" anchorCtr="0">
              <a:spAutoFit/>
            </a:bodyPr>
            <a:lstStyle/>
            <a:p>
              <a:pPr algn="ctr"/>
              <a:r>
                <a:rPr lang="zh-CN" sz="1950" b="1" dirty="0">
                  <a:solidFill>
                    <a:srgbClr val="2E7D32"/>
                  </a:solidFill>
                  <a:latin typeface="Arial"/>
                  <a:ea typeface="Microsoft YaHei"/>
                  <a:cs typeface="Arial"/>
                </a:rPr>
                <a:t>0.15%</a:t>
              </a:r>
            </a:p>
          </p:txBody>
        </p:sp>
        <p:sp>
          <p:nvSpPr>
            <p:cNvPr id="51" name="TextBox 51"/>
            <p:cNvSpPr txBox="1"/>
            <p:nvPr/>
          </p:nvSpPr>
          <p:spPr>
            <a:xfrm>
              <a:off x="10525649" y="3001328"/>
              <a:ext cx="684752"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API 调用量</a:t>
              </a:r>
            </a:p>
          </p:txBody>
        </p:sp>
        <p:sp>
          <p:nvSpPr>
            <p:cNvPr id="52" name="Line 52"/>
            <p:cNvSpPr/>
            <p:nvPr/>
          </p:nvSpPr>
          <p:spPr>
            <a:xfrm>
              <a:off x="10391775" y="3333750"/>
              <a:ext cx="952500" cy="9525"/>
            </a:xfrm>
            <a:custGeom>
              <a:avLst/>
              <a:gdLst/>
              <a:ahLst/>
              <a:cxnLst/>
              <a:rect l="l" t="t" r="r" b="b"/>
              <a:pathLst>
                <a:path w="952500" h="9525">
                  <a:moveTo>
                    <a:pt x="0" y="0"/>
                  </a:moveTo>
                  <a:lnTo>
                    <a:pt x="952500" y="0"/>
                  </a:lnTo>
                </a:path>
              </a:pathLst>
            </a:custGeom>
            <a:noFill/>
            <a:ln w="9525">
              <a:solidFill>
                <a:srgbClr val="D9DEE5"/>
              </a:solidFill>
            </a:ln>
          </p:spPr>
        </p:sp>
        <p:sp>
          <p:nvSpPr>
            <p:cNvPr id="53" name="TextBox 53"/>
            <p:cNvSpPr txBox="1"/>
            <p:nvPr/>
          </p:nvSpPr>
          <p:spPr>
            <a:xfrm>
              <a:off x="10628709" y="3498056"/>
              <a:ext cx="478631"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总投入</a:t>
              </a:r>
            </a:p>
          </p:txBody>
        </p:sp>
        <p:sp>
          <p:nvSpPr>
            <p:cNvPr id="54" name="TextBox 54"/>
            <p:cNvSpPr txBox="1"/>
            <p:nvPr/>
          </p:nvSpPr>
          <p:spPr>
            <a:xfrm>
              <a:off x="10392754" y="3647122"/>
              <a:ext cx="950543" cy="396240"/>
            </a:xfrm>
            <a:prstGeom prst="rect">
              <a:avLst/>
            </a:prstGeom>
            <a:noFill/>
            <a:ln>
              <a:noFill/>
            </a:ln>
          </p:spPr>
          <p:txBody>
            <a:bodyPr wrap="none" lIns="0" tIns="0" rIns="0" bIns="0" anchor="t" anchorCtr="0">
              <a:spAutoFit/>
            </a:bodyPr>
            <a:lstStyle/>
            <a:p>
              <a:pPr algn="ctr"/>
              <a:r>
                <a:rPr lang="zh-CN" sz="1950" b="1" dirty="0">
                  <a:solidFill>
                    <a:srgbClr val="1F4D78"/>
                  </a:solidFill>
                  <a:latin typeface="Arial"/>
                  <a:ea typeface="Microsoft YaHei"/>
                  <a:cs typeface="Arial"/>
                </a:rPr>
                <a:t>~94.7k</a:t>
              </a:r>
            </a:p>
          </p:txBody>
        </p:sp>
        <p:sp>
          <p:nvSpPr>
            <p:cNvPr id="55" name="TextBox 55"/>
            <p:cNvSpPr txBox="1"/>
            <p:nvPr/>
          </p:nvSpPr>
          <p:spPr>
            <a:xfrm>
              <a:off x="10595658" y="3953828"/>
              <a:ext cx="544735"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API 调用</a:t>
              </a:r>
            </a:p>
          </p:txBody>
        </p:sp>
        <p:sp>
          <p:nvSpPr>
            <p:cNvPr id="56" name="Line 56"/>
            <p:cNvSpPr/>
            <p:nvPr/>
          </p:nvSpPr>
          <p:spPr>
            <a:xfrm>
              <a:off x="10391775" y="4286250"/>
              <a:ext cx="952500" cy="9525"/>
            </a:xfrm>
            <a:custGeom>
              <a:avLst/>
              <a:gdLst/>
              <a:ahLst/>
              <a:cxnLst/>
              <a:rect l="l" t="t" r="r" b="b"/>
              <a:pathLst>
                <a:path w="952500" h="9525">
                  <a:moveTo>
                    <a:pt x="0" y="0"/>
                  </a:moveTo>
                  <a:lnTo>
                    <a:pt x="952500" y="0"/>
                  </a:lnTo>
                </a:path>
              </a:pathLst>
            </a:custGeom>
            <a:noFill/>
            <a:ln w="9525">
              <a:solidFill>
                <a:srgbClr val="D9DEE5"/>
              </a:solidFill>
            </a:ln>
          </p:spPr>
        </p:sp>
        <p:sp>
          <p:nvSpPr>
            <p:cNvPr id="57" name="TextBox 57"/>
            <p:cNvSpPr txBox="1"/>
            <p:nvPr/>
          </p:nvSpPr>
          <p:spPr>
            <a:xfrm>
              <a:off x="10553700" y="4450556"/>
              <a:ext cx="628650"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覆盖规模</a:t>
              </a:r>
            </a:p>
          </p:txBody>
        </p:sp>
        <p:sp>
          <p:nvSpPr>
            <p:cNvPr id="58" name="TextBox 58"/>
            <p:cNvSpPr txBox="1"/>
            <p:nvPr/>
          </p:nvSpPr>
          <p:spPr>
            <a:xfrm>
              <a:off x="10577052" y="4599622"/>
              <a:ext cx="581947" cy="396240"/>
            </a:xfrm>
            <a:prstGeom prst="rect">
              <a:avLst/>
            </a:prstGeom>
            <a:noFill/>
            <a:ln>
              <a:noFill/>
            </a:ln>
          </p:spPr>
          <p:txBody>
            <a:bodyPr wrap="none" lIns="0" tIns="0" rIns="0" bIns="0" anchor="t" anchorCtr="0">
              <a:spAutoFit/>
            </a:bodyPr>
            <a:lstStyle/>
            <a:p>
              <a:pPr algn="ctr"/>
              <a:r>
                <a:rPr lang="zh-CN" sz="1950" b="1" dirty="0">
                  <a:solidFill>
                    <a:srgbClr val="1F4D78"/>
                  </a:solidFill>
                  <a:latin typeface="Arial"/>
                  <a:ea typeface="Microsoft YaHei"/>
                  <a:cs typeface="Arial"/>
                </a:rPr>
                <a:t>1920</a:t>
              </a:r>
            </a:p>
          </p:txBody>
        </p:sp>
        <p:sp>
          <p:nvSpPr>
            <p:cNvPr id="59" name="TextBox 59"/>
            <p:cNvSpPr txBox="1"/>
            <p:nvPr/>
          </p:nvSpPr>
          <p:spPr>
            <a:xfrm>
              <a:off x="10644664" y="4906328"/>
              <a:ext cx="446722"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篇论文</a:t>
              </a:r>
            </a:p>
          </p:txBody>
        </p:sp>
        <p:sp>
          <p:nvSpPr>
            <p:cNvPr id="60" name="Line 60"/>
            <p:cNvSpPr/>
            <p:nvPr/>
          </p:nvSpPr>
          <p:spPr>
            <a:xfrm>
              <a:off x="10391775" y="5238750"/>
              <a:ext cx="952500" cy="9525"/>
            </a:xfrm>
            <a:custGeom>
              <a:avLst/>
              <a:gdLst/>
              <a:ahLst/>
              <a:cxnLst/>
              <a:rect l="l" t="t" r="r" b="b"/>
              <a:pathLst>
                <a:path w="952500" h="9525">
                  <a:moveTo>
                    <a:pt x="0" y="0"/>
                  </a:moveTo>
                  <a:lnTo>
                    <a:pt x="952500" y="0"/>
                  </a:lnTo>
                </a:path>
              </a:pathLst>
            </a:custGeom>
            <a:noFill/>
            <a:ln w="9525">
              <a:solidFill>
                <a:srgbClr val="D9DEE5"/>
              </a:solidFill>
            </a:ln>
          </p:spPr>
        </p:sp>
        <p:sp>
          <p:nvSpPr>
            <p:cNvPr id="61" name="TextBox 61"/>
            <p:cNvSpPr txBox="1"/>
            <p:nvPr/>
          </p:nvSpPr>
          <p:spPr>
            <a:xfrm>
              <a:off x="10553700" y="5403056"/>
              <a:ext cx="628650" cy="228600"/>
            </a:xfrm>
            <a:prstGeom prst="rect">
              <a:avLst/>
            </a:prstGeom>
            <a:noFill/>
            <a:ln>
              <a:noFill/>
            </a:ln>
          </p:spPr>
          <p:txBody>
            <a:bodyPr wrap="none" lIns="0" tIns="0" rIns="0" bIns="0" anchor="t" anchorCtr="0">
              <a:spAutoFit/>
            </a:bodyPr>
            <a:lstStyle/>
            <a:p>
              <a:pPr algn="ctr"/>
              <a:r>
                <a:rPr lang="zh-CN" sz="1125" dirty="0">
                  <a:solidFill>
                    <a:srgbClr val="1B1C21"/>
                  </a:solidFill>
                  <a:latin typeface="Arial"/>
                  <a:ea typeface="Microsoft YaHei"/>
                  <a:cs typeface="Arial"/>
                </a:rPr>
                <a:t>评分单元</a:t>
              </a:r>
            </a:p>
          </p:txBody>
        </p:sp>
        <p:sp>
          <p:nvSpPr>
            <p:cNvPr id="62" name="TextBox 62"/>
            <p:cNvSpPr txBox="1"/>
            <p:nvPr/>
          </p:nvSpPr>
          <p:spPr>
            <a:xfrm>
              <a:off x="10461012" y="5552122"/>
              <a:ext cx="814026" cy="396240"/>
            </a:xfrm>
            <a:prstGeom prst="rect">
              <a:avLst/>
            </a:prstGeom>
            <a:noFill/>
            <a:ln>
              <a:noFill/>
            </a:ln>
          </p:spPr>
          <p:txBody>
            <a:bodyPr wrap="none" lIns="0" tIns="0" rIns="0" bIns="0" anchor="t" anchorCtr="0">
              <a:spAutoFit/>
            </a:bodyPr>
            <a:lstStyle/>
            <a:p>
              <a:pPr algn="ctr"/>
              <a:r>
                <a:rPr lang="zh-CN" sz="1950" b="1" dirty="0">
                  <a:solidFill>
                    <a:srgbClr val="1F4D78"/>
                  </a:solidFill>
                  <a:latin typeface="Arial"/>
                  <a:ea typeface="Microsoft YaHei"/>
                  <a:cs typeface="Arial"/>
                </a:rPr>
                <a:t>11,520</a:t>
              </a:r>
            </a:p>
          </p:txBody>
        </p:sp>
        <p:sp>
          <p:nvSpPr>
            <p:cNvPr id="63" name="TextBox 63"/>
            <p:cNvSpPr txBox="1"/>
            <p:nvPr/>
          </p:nvSpPr>
          <p:spPr>
            <a:xfrm>
              <a:off x="10536150" y="5858828"/>
              <a:ext cx="663750" cy="213360"/>
            </a:xfrm>
            <a:prstGeom prst="rect">
              <a:avLst/>
            </a:prstGeom>
            <a:noFill/>
            <a:ln>
              <a:noFill/>
            </a:ln>
          </p:spPr>
          <p:txBody>
            <a:bodyPr wrap="none" lIns="0" tIns="0" rIns="0" bIns="0" anchor="t" anchorCtr="0">
              <a:spAutoFit/>
            </a:bodyPr>
            <a:lstStyle/>
            <a:p>
              <a:pPr algn="ctr"/>
              <a:r>
                <a:rPr lang="zh-CN" sz="1050" dirty="0">
                  <a:solidFill>
                    <a:srgbClr val="5A6472"/>
                  </a:solidFill>
                  <a:latin typeface="Arial"/>
                  <a:ea typeface="Microsoft YaHei"/>
                  <a:cs typeface="Arial"/>
                </a:rPr>
                <a:t>论文-维度</a:t>
              </a:r>
            </a:p>
          </p:txBody>
        </p:sp>
      </p:grpSp>
      <p:sp>
        <p:nvSpPr>
          <p:cNvPr id="65" name="TextBox 65"/>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image">
                                      <p:cBhvr>
                                        <p:cTn id="7" dur="400"/>
                                        <p:tgtEl>
                                          <p:spTgt spid="2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400"/>
                                        <p:tgtEl>
                                          <p:spTgt spid="4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wipe(left)">
                                      <p:cBhvr>
                                        <p:cTn id="15"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6" grpId="0"/>
      <p:bldP spid="6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2336864"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核心成果总结</a:t>
            </a:r>
          </a:p>
        </p:txBody>
      </p:sp>
      <p:grpSp>
        <p:nvGrpSpPr>
          <p:cNvPr id="42" name="Group 42"/>
          <p:cNvGrpSpPr/>
          <p:nvPr/>
        </p:nvGrpSpPr>
        <p:grpSpPr>
          <a:xfrm>
            <a:off x="609600" y="1619250"/>
            <a:ext cx="10972800" cy="4883944"/>
            <a:chOff x="609600" y="1619250"/>
            <a:chExt cx="10972800" cy="4883944"/>
          </a:xfrm>
        </p:grpSpPr>
        <p:sp>
          <p:nvSpPr>
            <p:cNvPr id="7" name="Rectangle 7"/>
            <p:cNvSpPr/>
            <p:nvPr/>
          </p:nvSpPr>
          <p:spPr>
            <a:xfrm>
              <a:off x="609600" y="1619250"/>
              <a:ext cx="10972800" cy="1333500"/>
            </a:xfrm>
            <a:prstGeom prst="roundRect">
              <a:avLst>
                <a:gd name="adj" fmla="val 5714"/>
              </a:avLst>
            </a:prstGeom>
            <a:solidFill>
              <a:srgbClr val="F4F5F7"/>
            </a:solidFill>
            <a:ln>
              <a:noFill/>
            </a:ln>
          </p:spPr>
        </p:sp>
        <p:sp>
          <p:nvSpPr>
            <p:cNvPr id="8" name="TextBox 8"/>
            <p:cNvSpPr txBox="1"/>
            <p:nvPr/>
          </p:nvSpPr>
          <p:spPr>
            <a:xfrm>
              <a:off x="931545" y="1774508"/>
              <a:ext cx="1197054"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方法论创新</a:t>
              </a:r>
            </a:p>
          </p:txBody>
        </p:sp>
        <p:sp>
          <p:nvSpPr>
            <p:cNvPr id="9" name="TextBox 9"/>
            <p:cNvSpPr txBox="1"/>
            <p:nvPr/>
          </p:nvSpPr>
          <p:spPr>
            <a:xfrm>
              <a:off x="935355" y="2140268"/>
              <a:ext cx="4327827"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概念操作化：将模糊学术概念转化为可验证检查清单</a:t>
              </a:r>
            </a:p>
          </p:txBody>
        </p:sp>
        <p:sp>
          <p:nvSpPr>
            <p:cNvPr id="10" name="TextBox 10"/>
            <p:cNvSpPr txBox="1"/>
            <p:nvPr/>
          </p:nvSpPr>
          <p:spPr>
            <a:xfrm>
              <a:off x="935355" y="2426018"/>
              <a:ext cx="494890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四阶段流程：预检 → 六维评分 → 自主信号校验 → 评价层复核</a:t>
              </a:r>
            </a:p>
          </p:txBody>
        </p:sp>
        <p:sp>
          <p:nvSpPr>
            <p:cNvPr id="11" name="TextBox 11"/>
            <p:cNvSpPr txBox="1"/>
            <p:nvPr/>
          </p:nvSpPr>
          <p:spPr>
            <a:xfrm>
              <a:off x="935355" y="2711768"/>
              <a:ext cx="494890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 交叉评审机制：R1 独立评分 → R2 交叉审视，std 降幅 51.3%</a:t>
              </a:r>
            </a:p>
          </p:txBody>
        </p:sp>
        <p:sp>
          <p:nvSpPr>
            <p:cNvPr id="12" name="Rectangle 12"/>
            <p:cNvSpPr/>
            <p:nvPr/>
          </p:nvSpPr>
          <p:spPr>
            <a:xfrm>
              <a:off x="609600" y="3143250"/>
              <a:ext cx="5334000" cy="3238500"/>
            </a:xfrm>
            <a:prstGeom prst="roundRect">
              <a:avLst>
                <a:gd name="adj" fmla="val 2353"/>
              </a:avLst>
            </a:prstGeom>
            <a:solidFill>
              <a:srgbClr val="F0F9FF"/>
            </a:solidFill>
            <a:ln w="19050">
              <a:solidFill>
                <a:srgbClr val="1F4D78"/>
              </a:solidFill>
            </a:ln>
          </p:spPr>
        </p:sp>
        <p:sp>
          <p:nvSpPr>
            <p:cNvPr id="13" name="TextBox 13"/>
            <p:cNvSpPr txBox="1"/>
            <p:nvPr/>
          </p:nvSpPr>
          <p:spPr>
            <a:xfrm>
              <a:off x="931545" y="3298508"/>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工程成果</a:t>
              </a:r>
            </a:p>
          </p:txBody>
        </p:sp>
        <p:sp>
          <p:nvSpPr>
            <p:cNvPr id="14" name="Ellipse 14"/>
            <p:cNvSpPr/>
            <p:nvPr/>
          </p:nvSpPr>
          <p:spPr>
            <a:xfrm>
              <a:off x="914400" y="3771900"/>
              <a:ext cx="76200" cy="76200"/>
            </a:xfrm>
            <a:prstGeom prst="ellipse">
              <a:avLst/>
            </a:prstGeom>
            <a:solidFill>
              <a:srgbClr val="1F4D78"/>
            </a:solidFill>
            <a:ln>
              <a:noFill/>
            </a:ln>
          </p:spPr>
        </p:sp>
        <p:sp>
          <p:nvSpPr>
            <p:cNvPr id="15" name="TextBox 15"/>
            <p:cNvSpPr txBox="1"/>
            <p:nvPr/>
          </p:nvSpPr>
          <p:spPr>
            <a:xfrm>
              <a:off x="1126808" y="3719989"/>
              <a:ext cx="295675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1920 篇论文生成全量 R1+R2 结果（E1）</a:t>
              </a:r>
            </a:p>
          </p:txBody>
        </p:sp>
        <p:sp>
          <p:nvSpPr>
            <p:cNvPr id="16" name="Ellipse 16"/>
            <p:cNvSpPr/>
            <p:nvPr/>
          </p:nvSpPr>
          <p:spPr>
            <a:xfrm>
              <a:off x="914400" y="4105275"/>
              <a:ext cx="76200" cy="76200"/>
            </a:xfrm>
            <a:prstGeom prst="ellipse">
              <a:avLst/>
            </a:prstGeom>
            <a:solidFill>
              <a:srgbClr val="1F4D78"/>
            </a:solidFill>
            <a:ln>
              <a:noFill/>
            </a:ln>
          </p:spPr>
        </p:sp>
        <p:sp>
          <p:nvSpPr>
            <p:cNvPr id="17" name="TextBox 17"/>
            <p:cNvSpPr txBox="1"/>
            <p:nvPr/>
          </p:nvSpPr>
          <p:spPr>
            <a:xfrm>
              <a:off x="1126808" y="4053364"/>
              <a:ext cx="362833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50 篇完成 Top 60 重测（E2），std 降幅 56.5%</a:t>
              </a:r>
            </a:p>
          </p:txBody>
        </p:sp>
        <p:sp>
          <p:nvSpPr>
            <p:cNvPr id="18" name="Ellipse 18"/>
            <p:cNvSpPr/>
            <p:nvPr/>
          </p:nvSpPr>
          <p:spPr>
            <a:xfrm>
              <a:off x="914400" y="4438650"/>
              <a:ext cx="76200" cy="76200"/>
            </a:xfrm>
            <a:prstGeom prst="ellipse">
              <a:avLst/>
            </a:prstGeom>
            <a:solidFill>
              <a:srgbClr val="1F4D78"/>
            </a:solidFill>
            <a:ln>
              <a:noFill/>
            </a:ln>
          </p:spPr>
        </p:sp>
        <p:sp>
          <p:nvSpPr>
            <p:cNvPr id="19" name="TextBox 19"/>
            <p:cNvSpPr txBox="1"/>
            <p:nvPr/>
          </p:nvSpPr>
          <p:spPr>
            <a:xfrm>
              <a:off x="1126808" y="4386739"/>
              <a:ext cx="338180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13 篇 × 17 维度完成选择性第 3 次评测（E3）</a:t>
              </a:r>
            </a:p>
          </p:txBody>
        </p:sp>
        <p:sp>
          <p:nvSpPr>
            <p:cNvPr id="20" name="Ellipse 20"/>
            <p:cNvSpPr/>
            <p:nvPr/>
          </p:nvSpPr>
          <p:spPr>
            <a:xfrm>
              <a:off x="914400" y="4772025"/>
              <a:ext cx="76200" cy="76200"/>
            </a:xfrm>
            <a:prstGeom prst="ellipse">
              <a:avLst/>
            </a:prstGeom>
            <a:solidFill>
              <a:srgbClr val="1F4D78"/>
            </a:solidFill>
            <a:ln>
              <a:noFill/>
            </a:ln>
          </p:spPr>
        </p:sp>
        <p:sp>
          <p:nvSpPr>
            <p:cNvPr id="21" name="TextBox 21"/>
            <p:cNvSpPr txBox="1"/>
            <p:nvPr/>
          </p:nvSpPr>
          <p:spPr>
            <a:xfrm>
              <a:off x="1126808" y="4720114"/>
              <a:ext cx="2523196"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30 篇 Top 候选完成自主信号评测</a:t>
              </a:r>
            </a:p>
          </p:txBody>
        </p:sp>
        <p:sp>
          <p:nvSpPr>
            <p:cNvPr id="22" name="TextBox 22"/>
            <p:cNvSpPr txBox="1"/>
            <p:nvPr/>
          </p:nvSpPr>
          <p:spPr>
            <a:xfrm>
              <a:off x="1319212" y="4926806"/>
              <a:ext cx="3148965"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平均信号强度 7.33-7.90/8，模型间 std 0.28</a:t>
              </a:r>
            </a:p>
          </p:txBody>
        </p:sp>
        <p:sp>
          <p:nvSpPr>
            <p:cNvPr id="23" name="Ellipse 23"/>
            <p:cNvSpPr/>
            <p:nvPr/>
          </p:nvSpPr>
          <p:spPr>
            <a:xfrm>
              <a:off x="914400" y="5295900"/>
              <a:ext cx="76200" cy="76200"/>
            </a:xfrm>
            <a:prstGeom prst="ellipse">
              <a:avLst/>
            </a:prstGeom>
            <a:solidFill>
              <a:srgbClr val="1F4D78"/>
            </a:solidFill>
            <a:ln>
              <a:noFill/>
            </a:ln>
          </p:spPr>
        </p:sp>
        <p:sp>
          <p:nvSpPr>
            <p:cNvPr id="24" name="TextBox 24"/>
            <p:cNvSpPr txBox="1"/>
            <p:nvPr/>
          </p:nvSpPr>
          <p:spPr>
            <a:xfrm>
              <a:off x="1126808" y="5243989"/>
              <a:ext cx="288874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30 篇完成知识库匹配，76 个核验条目</a:t>
              </a:r>
            </a:p>
          </p:txBody>
        </p:sp>
        <p:sp>
          <p:nvSpPr>
            <p:cNvPr id="25" name="Ellipse 25"/>
            <p:cNvSpPr/>
            <p:nvPr/>
          </p:nvSpPr>
          <p:spPr>
            <a:xfrm>
              <a:off x="914400" y="5629275"/>
              <a:ext cx="76200" cy="76200"/>
            </a:xfrm>
            <a:prstGeom prst="ellipse">
              <a:avLst/>
            </a:prstGeom>
            <a:solidFill>
              <a:srgbClr val="1F4D78"/>
            </a:solidFill>
            <a:ln>
              <a:noFill/>
            </a:ln>
          </p:spPr>
        </p:sp>
        <p:sp>
          <p:nvSpPr>
            <p:cNvPr id="26" name="TextBox 26"/>
            <p:cNvSpPr txBox="1"/>
            <p:nvPr/>
          </p:nvSpPr>
          <p:spPr>
            <a:xfrm>
              <a:off x="1126808" y="5577364"/>
              <a:ext cx="248919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主评测 API 调用总量 ~94,700 次</a:t>
              </a:r>
            </a:p>
          </p:txBody>
        </p:sp>
        <p:sp>
          <p:nvSpPr>
            <p:cNvPr id="27" name="Ellipse 27"/>
            <p:cNvSpPr/>
            <p:nvPr/>
          </p:nvSpPr>
          <p:spPr>
            <a:xfrm>
              <a:off x="914400" y="5962650"/>
              <a:ext cx="76200" cy="76200"/>
            </a:xfrm>
            <a:prstGeom prst="ellipse">
              <a:avLst/>
            </a:prstGeom>
            <a:solidFill>
              <a:srgbClr val="1F4D78"/>
            </a:solidFill>
            <a:ln>
              <a:noFill/>
            </a:ln>
          </p:spPr>
        </p:sp>
        <p:sp>
          <p:nvSpPr>
            <p:cNvPr id="28" name="TextBox 28"/>
            <p:cNvSpPr txBox="1"/>
            <p:nvPr/>
          </p:nvSpPr>
          <p:spPr>
            <a:xfrm>
              <a:off x="1126808" y="5910739"/>
              <a:ext cx="2574203"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覆盖 11,520 个论文-维度评分单元</a:t>
              </a:r>
            </a:p>
          </p:txBody>
        </p:sp>
        <p:sp>
          <p:nvSpPr>
            <p:cNvPr id="29" name="Rectangle 29"/>
            <p:cNvSpPr/>
            <p:nvPr/>
          </p:nvSpPr>
          <p:spPr>
            <a:xfrm>
              <a:off x="6248400" y="3143250"/>
              <a:ext cx="5334000" cy="3238500"/>
            </a:xfrm>
            <a:prstGeom prst="roundRect">
              <a:avLst>
                <a:gd name="adj" fmla="val 2353"/>
              </a:avLst>
            </a:prstGeom>
            <a:solidFill>
              <a:srgbClr val="FFF5F0"/>
            </a:solidFill>
            <a:ln w="19050">
              <a:solidFill>
                <a:srgbClr val="C8161E"/>
              </a:solidFill>
            </a:ln>
          </p:spPr>
        </p:sp>
        <p:sp>
          <p:nvSpPr>
            <p:cNvPr id="30" name="TextBox 30"/>
            <p:cNvSpPr txBox="1"/>
            <p:nvPr/>
          </p:nvSpPr>
          <p:spPr>
            <a:xfrm>
              <a:off x="6570345" y="3298508"/>
              <a:ext cx="966026"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核心指标</a:t>
              </a:r>
            </a:p>
          </p:txBody>
        </p:sp>
        <p:sp>
          <p:nvSpPr>
            <p:cNvPr id="31" name="TextBox 31"/>
            <p:cNvSpPr txBox="1"/>
            <p:nvPr/>
          </p:nvSpPr>
          <p:spPr>
            <a:xfrm>
              <a:off x="6574155" y="3759518"/>
              <a:ext cx="99741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R2 std 降幅</a:t>
              </a:r>
            </a:p>
          </p:txBody>
        </p:sp>
        <p:sp>
          <p:nvSpPr>
            <p:cNvPr id="32" name="TextBox 32"/>
            <p:cNvSpPr txBox="1"/>
            <p:nvPr/>
          </p:nvSpPr>
          <p:spPr>
            <a:xfrm>
              <a:off x="6553200" y="3867150"/>
              <a:ext cx="1126331" cy="609600"/>
            </a:xfrm>
            <a:prstGeom prst="rect">
              <a:avLst/>
            </a:prstGeom>
            <a:noFill/>
            <a:ln>
              <a:noFill/>
            </a:ln>
          </p:spPr>
          <p:txBody>
            <a:bodyPr wrap="none" lIns="0" tIns="0" rIns="0" bIns="0" anchor="t" anchorCtr="0">
              <a:spAutoFit/>
            </a:bodyPr>
            <a:lstStyle/>
            <a:p>
              <a:pPr algn="l"/>
              <a:r>
                <a:rPr lang="zh-CN" sz="3000" b="1" dirty="0">
                  <a:solidFill>
                    <a:srgbClr val="2E7D32"/>
                  </a:solidFill>
                  <a:latin typeface="Arial"/>
                  <a:ea typeface="Microsoft YaHei"/>
                  <a:cs typeface="Arial"/>
                </a:rPr>
                <a:t>51.3%</a:t>
              </a:r>
            </a:p>
          </p:txBody>
        </p:sp>
        <p:sp>
          <p:nvSpPr>
            <p:cNvPr id="33" name="TextBox 33"/>
            <p:cNvSpPr txBox="1"/>
            <p:nvPr/>
          </p:nvSpPr>
          <p:spPr>
            <a:xfrm>
              <a:off x="6577012" y="4307681"/>
              <a:ext cx="1071205"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(14.87 → 7.24)</a:t>
              </a:r>
            </a:p>
          </p:txBody>
        </p:sp>
        <p:sp>
          <p:nvSpPr>
            <p:cNvPr id="34" name="Line 34"/>
            <p:cNvSpPr/>
            <p:nvPr/>
          </p:nvSpPr>
          <p:spPr>
            <a:xfrm>
              <a:off x="6591300" y="4619625"/>
              <a:ext cx="4648200" cy="9525"/>
            </a:xfrm>
            <a:custGeom>
              <a:avLst/>
              <a:gdLst/>
              <a:ahLst/>
              <a:cxnLst/>
              <a:rect l="l" t="t" r="r" b="b"/>
              <a:pathLst>
                <a:path w="4648200" h="9525">
                  <a:moveTo>
                    <a:pt x="0" y="0"/>
                  </a:moveTo>
                  <a:lnTo>
                    <a:pt x="4648200" y="0"/>
                  </a:lnTo>
                </a:path>
              </a:pathLst>
            </a:custGeom>
            <a:noFill/>
            <a:ln w="9525">
              <a:solidFill>
                <a:srgbClr val="D9DEE5"/>
              </a:solidFill>
            </a:ln>
          </p:spPr>
        </p:sp>
        <p:sp>
          <p:nvSpPr>
            <p:cNvPr id="35" name="TextBox 35"/>
            <p:cNvSpPr txBox="1"/>
            <p:nvPr/>
          </p:nvSpPr>
          <p:spPr>
            <a:xfrm>
              <a:off x="6574155" y="4759642"/>
              <a:ext cx="1357455"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Top 30 总分范围</a:t>
              </a:r>
            </a:p>
          </p:txBody>
        </p:sp>
        <p:sp>
          <p:nvSpPr>
            <p:cNvPr id="36" name="TextBox 36"/>
            <p:cNvSpPr txBox="1"/>
            <p:nvPr/>
          </p:nvSpPr>
          <p:spPr>
            <a:xfrm>
              <a:off x="6553200" y="4867275"/>
              <a:ext cx="2617518" cy="609600"/>
            </a:xfrm>
            <a:prstGeom prst="rect">
              <a:avLst/>
            </a:prstGeom>
            <a:noFill/>
            <a:ln>
              <a:noFill/>
            </a:ln>
          </p:spPr>
          <p:txBody>
            <a:bodyPr wrap="none" lIns="0" tIns="0" rIns="0" bIns="0" anchor="t" anchorCtr="0">
              <a:spAutoFit/>
            </a:bodyPr>
            <a:lstStyle/>
            <a:p>
              <a:pPr algn="l"/>
              <a:r>
                <a:rPr lang="zh-CN" sz="3000" b="1" dirty="0">
                  <a:solidFill>
                    <a:srgbClr val="1F4D78"/>
                  </a:solidFill>
                  <a:latin typeface="Arial"/>
                  <a:ea typeface="Microsoft YaHei"/>
                  <a:cs typeface="Arial"/>
                </a:rPr>
                <a:t>85.77-88.53</a:t>
              </a:r>
            </a:p>
          </p:txBody>
        </p:sp>
        <p:sp>
          <p:nvSpPr>
            <p:cNvPr id="37" name="TextBox 37"/>
            <p:cNvSpPr txBox="1"/>
            <p:nvPr/>
          </p:nvSpPr>
          <p:spPr>
            <a:xfrm>
              <a:off x="6577012" y="5307806"/>
              <a:ext cx="786170"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均值 86.93</a:t>
              </a:r>
            </a:p>
          </p:txBody>
        </p:sp>
        <p:sp>
          <p:nvSpPr>
            <p:cNvPr id="38" name="Line 38"/>
            <p:cNvSpPr/>
            <p:nvPr/>
          </p:nvSpPr>
          <p:spPr>
            <a:xfrm>
              <a:off x="6591300" y="5619750"/>
              <a:ext cx="4648200" cy="9525"/>
            </a:xfrm>
            <a:custGeom>
              <a:avLst/>
              <a:gdLst/>
              <a:ahLst/>
              <a:cxnLst/>
              <a:rect l="l" t="t" r="r" b="b"/>
              <a:pathLst>
                <a:path w="4648200" h="9525">
                  <a:moveTo>
                    <a:pt x="0" y="0"/>
                  </a:moveTo>
                  <a:lnTo>
                    <a:pt x="4648200" y="0"/>
                  </a:lnTo>
                </a:path>
              </a:pathLst>
            </a:custGeom>
            <a:noFill/>
            <a:ln w="9525">
              <a:solidFill>
                <a:srgbClr val="D9DEE5"/>
              </a:solidFill>
            </a:ln>
          </p:spPr>
        </p:sp>
        <p:sp>
          <p:nvSpPr>
            <p:cNvPr id="39" name="TextBox 39"/>
            <p:cNvSpPr txBox="1"/>
            <p:nvPr/>
          </p:nvSpPr>
          <p:spPr>
            <a:xfrm>
              <a:off x="6574155" y="5759768"/>
              <a:ext cx="1357455"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Top 30 刊物分布</a:t>
              </a:r>
            </a:p>
          </p:txBody>
        </p:sp>
        <p:sp>
          <p:nvSpPr>
            <p:cNvPr id="40" name="TextBox 40"/>
            <p:cNvSpPr txBox="1"/>
            <p:nvPr/>
          </p:nvSpPr>
          <p:spPr>
            <a:xfrm>
              <a:off x="6575108" y="6053614"/>
              <a:ext cx="394287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《法学研究》22 篇（73.3%）、《中国法学》5 篇、</a:t>
              </a:r>
            </a:p>
          </p:txBody>
        </p:sp>
        <p:sp>
          <p:nvSpPr>
            <p:cNvPr id="41" name="TextBox 41"/>
            <p:cNvSpPr txBox="1"/>
            <p:nvPr/>
          </p:nvSpPr>
          <p:spPr>
            <a:xfrm>
              <a:off x="6575108" y="6244114"/>
              <a:ext cx="170709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《中国社会科学》3 篇</a:t>
              </a:r>
            </a:p>
          </p:txBody>
        </p:sp>
      </p:grpSp>
      <p:sp>
        <p:nvSpPr>
          <p:cNvPr id="43" name="TextBox 43"/>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slide(fromBottom)">
                                      <p:cBhvr>
                                        <p:cTn id="7"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2336864"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局限与下一步</a:t>
            </a:r>
          </a:p>
        </p:txBody>
      </p:sp>
      <p:grpSp>
        <p:nvGrpSpPr>
          <p:cNvPr id="49" name="Group 49"/>
          <p:cNvGrpSpPr/>
          <p:nvPr/>
        </p:nvGrpSpPr>
        <p:grpSpPr>
          <a:xfrm>
            <a:off x="609600" y="1619250"/>
            <a:ext cx="10972800" cy="4762500"/>
            <a:chOff x="609600" y="1619250"/>
            <a:chExt cx="10972800" cy="4762500"/>
          </a:xfrm>
        </p:grpSpPr>
        <p:sp>
          <p:nvSpPr>
            <p:cNvPr id="7" name="Rectangle 7"/>
            <p:cNvSpPr/>
            <p:nvPr/>
          </p:nvSpPr>
          <p:spPr>
            <a:xfrm>
              <a:off x="609600" y="1619250"/>
              <a:ext cx="5334000" cy="4762500"/>
            </a:xfrm>
            <a:prstGeom prst="roundRect">
              <a:avLst>
                <a:gd name="adj" fmla="val 1600"/>
              </a:avLst>
            </a:prstGeom>
            <a:solidFill>
              <a:srgbClr val="FFF5F0"/>
            </a:solidFill>
            <a:ln w="19050">
              <a:solidFill>
                <a:srgbClr val="E07B00"/>
              </a:solidFill>
            </a:ln>
          </p:spPr>
        </p:sp>
        <p:sp>
          <p:nvSpPr>
            <p:cNvPr id="8" name="TextBox 8"/>
            <p:cNvSpPr txBox="1"/>
            <p:nvPr/>
          </p:nvSpPr>
          <p:spPr>
            <a:xfrm>
              <a:off x="2705767" y="1789748"/>
              <a:ext cx="1141667" cy="396240"/>
            </a:xfrm>
            <a:prstGeom prst="rect">
              <a:avLst/>
            </a:prstGeom>
            <a:noFill/>
            <a:ln>
              <a:noFill/>
            </a:ln>
          </p:spPr>
          <p:txBody>
            <a:bodyPr wrap="none" lIns="0" tIns="0" rIns="0" bIns="0" anchor="t" anchorCtr="0">
              <a:spAutoFit/>
            </a:bodyPr>
            <a:lstStyle/>
            <a:p>
              <a:pPr algn="ctr"/>
              <a:r>
                <a:rPr lang="zh-CN" sz="1950" b="1" dirty="0">
                  <a:solidFill>
                    <a:srgbClr val="E07B00"/>
                  </a:solidFill>
                  <a:latin typeface="Arial"/>
                  <a:ea typeface="Microsoft YaHei"/>
                  <a:cs typeface="Arial"/>
                </a:rPr>
                <a:t>当前局限</a:t>
              </a:r>
            </a:p>
          </p:txBody>
        </p:sp>
        <p:sp>
          <p:nvSpPr>
            <p:cNvPr id="9" name="TextBox 9"/>
            <p:cNvSpPr txBox="1"/>
            <p:nvPr/>
          </p:nvSpPr>
          <p:spPr>
            <a:xfrm>
              <a:off x="933450" y="2266950"/>
              <a:ext cx="1329761"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1. 未收敛维度</a:t>
              </a:r>
            </a:p>
          </p:txBody>
        </p:sp>
        <p:sp>
          <p:nvSpPr>
            <p:cNvPr id="10" name="Ellipse 10"/>
            <p:cNvSpPr/>
            <p:nvPr/>
          </p:nvSpPr>
          <p:spPr>
            <a:xfrm>
              <a:off x="914400" y="2724150"/>
              <a:ext cx="76200" cy="76200"/>
            </a:xfrm>
            <a:prstGeom prst="ellipse">
              <a:avLst/>
            </a:prstGeom>
            <a:solidFill>
              <a:srgbClr val="E07B00"/>
            </a:solidFill>
            <a:ln>
              <a:noFill/>
            </a:ln>
          </p:spPr>
        </p:sp>
        <p:sp>
          <p:nvSpPr>
            <p:cNvPr id="11" name="TextBox 11"/>
            <p:cNvSpPr txBox="1"/>
            <p:nvPr/>
          </p:nvSpPr>
          <p:spPr>
            <a:xfrm>
              <a:off x="1126808" y="2672239"/>
              <a:ext cx="288874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7 个维度三次 std 仍 &gt; 5，需专家终审</a:t>
              </a:r>
            </a:p>
          </p:txBody>
        </p:sp>
        <p:sp>
          <p:nvSpPr>
            <p:cNvPr id="12" name="Ellipse 12"/>
            <p:cNvSpPr/>
            <p:nvPr/>
          </p:nvSpPr>
          <p:spPr>
            <a:xfrm>
              <a:off x="914400" y="3057525"/>
              <a:ext cx="76200" cy="76200"/>
            </a:xfrm>
            <a:prstGeom prst="ellipse">
              <a:avLst/>
            </a:prstGeom>
            <a:solidFill>
              <a:srgbClr val="E07B00"/>
            </a:solidFill>
            <a:ln>
              <a:noFill/>
            </a:ln>
          </p:spPr>
        </p:sp>
        <p:sp>
          <p:nvSpPr>
            <p:cNvPr id="13" name="TextBox 13"/>
            <p:cNvSpPr txBox="1"/>
            <p:nvPr/>
          </p:nvSpPr>
          <p:spPr>
            <a:xfrm>
              <a:off x="1126808" y="3005614"/>
              <a:ext cx="275272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主要集中在研究创新性与理论建构力</a:t>
              </a:r>
            </a:p>
          </p:txBody>
        </p:sp>
        <p:sp>
          <p:nvSpPr>
            <p:cNvPr id="14" name="Ellipse 14"/>
            <p:cNvSpPr/>
            <p:nvPr/>
          </p:nvSpPr>
          <p:spPr>
            <a:xfrm>
              <a:off x="914400" y="3390900"/>
              <a:ext cx="76200" cy="76200"/>
            </a:xfrm>
            <a:prstGeom prst="ellipse">
              <a:avLst/>
            </a:prstGeom>
            <a:solidFill>
              <a:srgbClr val="E07B00"/>
            </a:solidFill>
            <a:ln>
              <a:noFill/>
            </a:ln>
          </p:spPr>
        </p:sp>
        <p:sp>
          <p:nvSpPr>
            <p:cNvPr id="15" name="TextBox 15"/>
            <p:cNvSpPr txBox="1"/>
            <p:nvPr/>
          </p:nvSpPr>
          <p:spPr>
            <a:xfrm>
              <a:off x="1126808" y="3338989"/>
              <a:ext cx="355182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1824 集体商标：洞察度 std 10.8、建构力 14.0</a:t>
              </a:r>
            </a:p>
          </p:txBody>
        </p:sp>
        <p:sp>
          <p:nvSpPr>
            <p:cNvPr id="16" name="TextBox 16"/>
            <p:cNvSpPr txBox="1"/>
            <p:nvPr/>
          </p:nvSpPr>
          <p:spPr>
            <a:xfrm>
              <a:off x="933450" y="3695700"/>
              <a:ext cx="2222373"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2. 预检问题论文待处理</a:t>
              </a:r>
            </a:p>
          </p:txBody>
        </p:sp>
        <p:sp>
          <p:nvSpPr>
            <p:cNvPr id="17" name="Ellipse 17"/>
            <p:cNvSpPr/>
            <p:nvPr/>
          </p:nvSpPr>
          <p:spPr>
            <a:xfrm>
              <a:off x="914400" y="4152900"/>
              <a:ext cx="76200" cy="76200"/>
            </a:xfrm>
            <a:prstGeom prst="ellipse">
              <a:avLst/>
            </a:prstGeom>
            <a:solidFill>
              <a:srgbClr val="E07B00"/>
            </a:solidFill>
            <a:ln>
              <a:noFill/>
            </a:ln>
          </p:spPr>
        </p:sp>
        <p:sp>
          <p:nvSpPr>
            <p:cNvPr id="18" name="TextBox 18"/>
            <p:cNvSpPr txBox="1"/>
            <p:nvPr/>
          </p:nvSpPr>
          <p:spPr>
            <a:xfrm>
              <a:off x="1126808" y="4100989"/>
              <a:ext cx="274422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34 篇（多数/单一拒绝）需人工复核</a:t>
              </a:r>
            </a:p>
          </p:txBody>
        </p:sp>
        <p:sp>
          <p:nvSpPr>
            <p:cNvPr id="19" name="Ellipse 19"/>
            <p:cNvSpPr/>
            <p:nvPr/>
          </p:nvSpPr>
          <p:spPr>
            <a:xfrm>
              <a:off x="914400" y="4486275"/>
              <a:ext cx="76200" cy="76200"/>
            </a:xfrm>
            <a:prstGeom prst="ellipse">
              <a:avLst/>
            </a:prstGeom>
            <a:solidFill>
              <a:srgbClr val="E07B00"/>
            </a:solidFill>
            <a:ln>
              <a:noFill/>
            </a:ln>
          </p:spPr>
        </p:sp>
        <p:sp>
          <p:nvSpPr>
            <p:cNvPr id="20" name="TextBox 20"/>
            <p:cNvSpPr txBox="1"/>
            <p:nvPr/>
          </p:nvSpPr>
          <p:spPr>
            <a:xfrm>
              <a:off x="1126808" y="4434364"/>
              <a:ext cx="265071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25 篇（边界判断）需确认项目口径</a:t>
              </a:r>
            </a:p>
          </p:txBody>
        </p:sp>
        <p:sp>
          <p:nvSpPr>
            <p:cNvPr id="21" name="Ellipse 21"/>
            <p:cNvSpPr/>
            <p:nvPr/>
          </p:nvSpPr>
          <p:spPr>
            <a:xfrm>
              <a:off x="914400" y="4819650"/>
              <a:ext cx="76200" cy="76200"/>
            </a:xfrm>
            <a:prstGeom prst="ellipse">
              <a:avLst/>
            </a:prstGeom>
            <a:solidFill>
              <a:srgbClr val="E07B00"/>
            </a:solidFill>
            <a:ln>
              <a:noFill/>
            </a:ln>
          </p:spPr>
        </p:sp>
        <p:sp>
          <p:nvSpPr>
            <p:cNvPr id="22" name="TextBox 22"/>
            <p:cNvSpPr txBox="1"/>
            <p:nvPr/>
          </p:nvSpPr>
          <p:spPr>
            <a:xfrm>
              <a:off x="1126808" y="4767739"/>
              <a:ext cx="2574203"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合计 59 篇待人工决策（占 3.1%）</a:t>
              </a:r>
            </a:p>
          </p:txBody>
        </p:sp>
        <p:sp>
          <p:nvSpPr>
            <p:cNvPr id="23" name="TextBox 23"/>
            <p:cNvSpPr txBox="1"/>
            <p:nvPr/>
          </p:nvSpPr>
          <p:spPr>
            <a:xfrm>
              <a:off x="933450" y="5124450"/>
              <a:ext cx="2432399"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3. 研究创新性收敛率最低</a:t>
              </a:r>
            </a:p>
          </p:txBody>
        </p:sp>
        <p:sp>
          <p:nvSpPr>
            <p:cNvPr id="24" name="Ellipse 24"/>
            <p:cNvSpPr/>
            <p:nvPr/>
          </p:nvSpPr>
          <p:spPr>
            <a:xfrm>
              <a:off x="914400" y="5581650"/>
              <a:ext cx="76200" cy="76200"/>
            </a:xfrm>
            <a:prstGeom prst="ellipse">
              <a:avLst/>
            </a:prstGeom>
            <a:solidFill>
              <a:srgbClr val="E07B00"/>
            </a:solidFill>
            <a:ln>
              <a:noFill/>
            </a:ln>
          </p:spPr>
        </p:sp>
        <p:sp>
          <p:nvSpPr>
            <p:cNvPr id="25" name="TextBox 25"/>
            <p:cNvSpPr txBox="1"/>
            <p:nvPr/>
          </p:nvSpPr>
          <p:spPr>
            <a:xfrm>
              <a:off x="1126808" y="5529739"/>
              <a:ext cx="242118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收敛率 44.8%，属真实学术分歧</a:t>
              </a:r>
            </a:p>
          </p:txBody>
        </p:sp>
        <p:sp>
          <p:nvSpPr>
            <p:cNvPr id="26" name="Ellipse 26"/>
            <p:cNvSpPr/>
            <p:nvPr/>
          </p:nvSpPr>
          <p:spPr>
            <a:xfrm>
              <a:off x="914400" y="5915025"/>
              <a:ext cx="76200" cy="76200"/>
            </a:xfrm>
            <a:prstGeom prst="ellipse">
              <a:avLst/>
            </a:prstGeom>
            <a:solidFill>
              <a:srgbClr val="E07B00"/>
            </a:solidFill>
            <a:ln>
              <a:noFill/>
            </a:ln>
          </p:spPr>
        </p:sp>
        <p:sp>
          <p:nvSpPr>
            <p:cNvPr id="27" name="TextBox 27"/>
            <p:cNvSpPr txBox="1"/>
            <p:nvPr/>
          </p:nvSpPr>
          <p:spPr>
            <a:xfrm>
              <a:off x="1126808" y="5863114"/>
              <a:ext cx="2599706"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如"论文是否提出可争辩理论问题"</a:t>
              </a:r>
            </a:p>
          </p:txBody>
        </p:sp>
        <p:sp>
          <p:nvSpPr>
            <p:cNvPr id="28" name="Rectangle 28"/>
            <p:cNvSpPr/>
            <p:nvPr/>
          </p:nvSpPr>
          <p:spPr>
            <a:xfrm>
              <a:off x="6248400" y="1619250"/>
              <a:ext cx="5334000" cy="4762500"/>
            </a:xfrm>
            <a:prstGeom prst="roundRect">
              <a:avLst>
                <a:gd name="adj" fmla="val 1600"/>
              </a:avLst>
            </a:prstGeom>
            <a:solidFill>
              <a:srgbClr val="F0F9FF"/>
            </a:solidFill>
            <a:ln w="19050">
              <a:solidFill>
                <a:srgbClr val="1F4D78"/>
              </a:solidFill>
            </a:ln>
          </p:spPr>
        </p:sp>
        <p:sp>
          <p:nvSpPr>
            <p:cNvPr id="29" name="TextBox 29"/>
            <p:cNvSpPr txBox="1"/>
            <p:nvPr/>
          </p:nvSpPr>
          <p:spPr>
            <a:xfrm>
              <a:off x="8208050" y="1789748"/>
              <a:ext cx="1414701" cy="396240"/>
            </a:xfrm>
            <a:prstGeom prst="rect">
              <a:avLst/>
            </a:prstGeom>
            <a:noFill/>
            <a:ln>
              <a:noFill/>
            </a:ln>
          </p:spPr>
          <p:txBody>
            <a:bodyPr wrap="none" lIns="0" tIns="0" rIns="0" bIns="0" anchor="t" anchorCtr="0">
              <a:spAutoFit/>
            </a:bodyPr>
            <a:lstStyle/>
            <a:p>
              <a:pPr algn="ctr"/>
              <a:r>
                <a:rPr lang="zh-CN" sz="1950" b="1" dirty="0">
                  <a:solidFill>
                    <a:srgbClr val="1F4D78"/>
                  </a:solidFill>
                  <a:latin typeface="Arial"/>
                  <a:ea typeface="Microsoft YaHei"/>
                  <a:cs typeface="Arial"/>
                </a:rPr>
                <a:t>下一步工作</a:t>
              </a:r>
            </a:p>
          </p:txBody>
        </p:sp>
        <p:sp>
          <p:nvSpPr>
            <p:cNvPr id="30" name="TextBox 30"/>
            <p:cNvSpPr txBox="1"/>
            <p:nvPr/>
          </p:nvSpPr>
          <p:spPr>
            <a:xfrm>
              <a:off x="6572250" y="2266950"/>
              <a:ext cx="1539788"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1. 专家复核流程</a:t>
              </a:r>
            </a:p>
          </p:txBody>
        </p:sp>
        <p:sp>
          <p:nvSpPr>
            <p:cNvPr id="31" name="Ellipse 31"/>
            <p:cNvSpPr/>
            <p:nvPr/>
          </p:nvSpPr>
          <p:spPr>
            <a:xfrm>
              <a:off x="6553200" y="2724150"/>
              <a:ext cx="76200" cy="76200"/>
            </a:xfrm>
            <a:prstGeom prst="ellipse">
              <a:avLst/>
            </a:prstGeom>
            <a:solidFill>
              <a:srgbClr val="1F4D78"/>
            </a:solidFill>
            <a:ln>
              <a:noFill/>
            </a:ln>
          </p:spPr>
        </p:sp>
        <p:sp>
          <p:nvSpPr>
            <p:cNvPr id="32" name="TextBox 32"/>
            <p:cNvSpPr txBox="1"/>
            <p:nvPr/>
          </p:nvSpPr>
          <p:spPr>
            <a:xfrm>
              <a:off x="6765608" y="2672239"/>
              <a:ext cx="1902619"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完整执行评价层复核流程</a:t>
              </a:r>
            </a:p>
          </p:txBody>
        </p:sp>
        <p:sp>
          <p:nvSpPr>
            <p:cNvPr id="33" name="Ellipse 33"/>
            <p:cNvSpPr/>
            <p:nvPr/>
          </p:nvSpPr>
          <p:spPr>
            <a:xfrm>
              <a:off x="6553200" y="3057525"/>
              <a:ext cx="76200" cy="76200"/>
            </a:xfrm>
            <a:prstGeom prst="ellipse">
              <a:avLst/>
            </a:prstGeom>
            <a:solidFill>
              <a:srgbClr val="1F4D78"/>
            </a:solidFill>
            <a:ln>
              <a:noFill/>
            </a:ln>
          </p:spPr>
        </p:sp>
        <p:sp>
          <p:nvSpPr>
            <p:cNvPr id="34" name="TextBox 34"/>
            <p:cNvSpPr txBox="1"/>
            <p:nvPr/>
          </p:nvSpPr>
          <p:spPr>
            <a:xfrm>
              <a:off x="6765608" y="3005614"/>
              <a:ext cx="219165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人工处理 59 篇预检问题论文</a:t>
              </a:r>
            </a:p>
          </p:txBody>
        </p:sp>
        <p:sp>
          <p:nvSpPr>
            <p:cNvPr id="35" name="Ellipse 35"/>
            <p:cNvSpPr/>
            <p:nvPr/>
          </p:nvSpPr>
          <p:spPr>
            <a:xfrm>
              <a:off x="6553200" y="3390900"/>
              <a:ext cx="76200" cy="76200"/>
            </a:xfrm>
            <a:prstGeom prst="ellipse">
              <a:avLst/>
            </a:prstGeom>
            <a:solidFill>
              <a:srgbClr val="1F4D78"/>
            </a:solidFill>
            <a:ln>
              <a:noFill/>
            </a:ln>
          </p:spPr>
        </p:sp>
        <p:sp>
          <p:nvSpPr>
            <p:cNvPr id="36" name="TextBox 36"/>
            <p:cNvSpPr txBox="1"/>
            <p:nvPr/>
          </p:nvSpPr>
          <p:spPr>
            <a:xfrm>
              <a:off x="6765608" y="3338989"/>
              <a:ext cx="192812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专家终审 7 个未收敛维度</a:t>
              </a:r>
            </a:p>
          </p:txBody>
        </p:sp>
        <p:sp>
          <p:nvSpPr>
            <p:cNvPr id="37" name="TextBox 37"/>
            <p:cNvSpPr txBox="1"/>
            <p:nvPr/>
          </p:nvSpPr>
          <p:spPr>
            <a:xfrm>
              <a:off x="6572250" y="3695700"/>
              <a:ext cx="2012347"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2. 自主信号分歧处理</a:t>
              </a:r>
            </a:p>
          </p:txBody>
        </p:sp>
        <p:sp>
          <p:nvSpPr>
            <p:cNvPr id="38" name="Ellipse 38"/>
            <p:cNvSpPr/>
            <p:nvPr/>
          </p:nvSpPr>
          <p:spPr>
            <a:xfrm>
              <a:off x="6553200" y="4152900"/>
              <a:ext cx="76200" cy="76200"/>
            </a:xfrm>
            <a:prstGeom prst="ellipse">
              <a:avLst/>
            </a:prstGeom>
            <a:solidFill>
              <a:srgbClr val="1F4D78"/>
            </a:solidFill>
            <a:ln>
              <a:noFill/>
            </a:ln>
          </p:spPr>
        </p:sp>
        <p:sp>
          <p:nvSpPr>
            <p:cNvPr id="39" name="TextBox 39"/>
            <p:cNvSpPr txBox="1"/>
            <p:nvPr/>
          </p:nvSpPr>
          <p:spPr>
            <a:xfrm>
              <a:off x="6765608" y="4100989"/>
              <a:ext cx="1860113"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3 篇论文两模型 std=1.5</a:t>
              </a:r>
            </a:p>
          </p:txBody>
        </p:sp>
        <p:sp>
          <p:nvSpPr>
            <p:cNvPr id="40" name="Ellipse 40"/>
            <p:cNvSpPr/>
            <p:nvPr/>
          </p:nvSpPr>
          <p:spPr>
            <a:xfrm>
              <a:off x="6553200" y="4486275"/>
              <a:ext cx="76200" cy="76200"/>
            </a:xfrm>
            <a:prstGeom prst="ellipse">
              <a:avLst/>
            </a:prstGeom>
            <a:solidFill>
              <a:srgbClr val="1F4D78"/>
            </a:solidFill>
            <a:ln>
              <a:noFill/>
            </a:ln>
          </p:spPr>
        </p:sp>
        <p:sp>
          <p:nvSpPr>
            <p:cNvPr id="41" name="TextBox 41"/>
            <p:cNvSpPr txBox="1"/>
            <p:nvPr/>
          </p:nvSpPr>
          <p:spPr>
            <a:xfrm>
              <a:off x="6765608" y="4434364"/>
              <a:ext cx="2769727"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主要围绕"中国问题中心性"宽严判断</a:t>
              </a:r>
            </a:p>
          </p:txBody>
        </p:sp>
        <p:sp>
          <p:nvSpPr>
            <p:cNvPr id="42" name="Ellipse 42"/>
            <p:cNvSpPr/>
            <p:nvPr/>
          </p:nvSpPr>
          <p:spPr>
            <a:xfrm>
              <a:off x="6553200" y="4819650"/>
              <a:ext cx="76200" cy="76200"/>
            </a:xfrm>
            <a:prstGeom prst="ellipse">
              <a:avLst/>
            </a:prstGeom>
            <a:solidFill>
              <a:srgbClr val="1F4D78"/>
            </a:solidFill>
            <a:ln>
              <a:noFill/>
            </a:ln>
          </p:spPr>
        </p:sp>
        <p:sp>
          <p:nvSpPr>
            <p:cNvPr id="43" name="TextBox 43"/>
            <p:cNvSpPr txBox="1"/>
            <p:nvPr/>
          </p:nvSpPr>
          <p:spPr>
            <a:xfrm>
              <a:off x="6765608" y="4767739"/>
              <a:ext cx="207264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在专家说明中保留分歧解释</a:t>
              </a:r>
            </a:p>
          </p:txBody>
        </p:sp>
        <p:sp>
          <p:nvSpPr>
            <p:cNvPr id="44" name="TextBox 44"/>
            <p:cNvSpPr txBox="1"/>
            <p:nvPr/>
          </p:nvSpPr>
          <p:spPr>
            <a:xfrm>
              <a:off x="6572250" y="5124450"/>
              <a:ext cx="1172242" cy="304800"/>
            </a:xfrm>
            <a:prstGeom prst="rect">
              <a:avLst/>
            </a:prstGeom>
            <a:noFill/>
            <a:ln>
              <a:noFill/>
            </a:ln>
          </p:spPr>
          <p:txBody>
            <a:bodyPr wrap="none" lIns="0" tIns="0" rIns="0" bIns="0" anchor="t" anchorCtr="0">
              <a:spAutoFit/>
            </a:bodyPr>
            <a:lstStyle/>
            <a:p>
              <a:pPr algn="l"/>
              <a:r>
                <a:rPr lang="zh-CN" sz="1500" b="1" dirty="0">
                  <a:solidFill>
                    <a:srgbClr val="1B1C21"/>
                  </a:solidFill>
                  <a:latin typeface="Arial"/>
                  <a:ea typeface="Microsoft YaHei"/>
                  <a:cs typeface="Arial"/>
                </a:rPr>
                <a:t>3. 拓展方向</a:t>
              </a:r>
            </a:p>
          </p:txBody>
        </p:sp>
        <p:sp>
          <p:nvSpPr>
            <p:cNvPr id="45" name="Ellipse 45"/>
            <p:cNvSpPr/>
            <p:nvPr/>
          </p:nvSpPr>
          <p:spPr>
            <a:xfrm>
              <a:off x="6553200" y="5581650"/>
              <a:ext cx="76200" cy="76200"/>
            </a:xfrm>
            <a:prstGeom prst="ellipse">
              <a:avLst/>
            </a:prstGeom>
            <a:solidFill>
              <a:srgbClr val="1F4D78"/>
            </a:solidFill>
            <a:ln>
              <a:noFill/>
            </a:ln>
          </p:spPr>
        </p:sp>
        <p:sp>
          <p:nvSpPr>
            <p:cNvPr id="46" name="TextBox 46"/>
            <p:cNvSpPr txBox="1"/>
            <p:nvPr/>
          </p:nvSpPr>
          <p:spPr>
            <a:xfrm>
              <a:off x="6765608" y="5529739"/>
              <a:ext cx="241268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从法学拓展至人文社科其他学科</a:t>
              </a:r>
            </a:p>
          </p:txBody>
        </p:sp>
        <p:sp>
          <p:nvSpPr>
            <p:cNvPr id="47" name="Ellipse 47"/>
            <p:cNvSpPr/>
            <p:nvPr/>
          </p:nvSpPr>
          <p:spPr>
            <a:xfrm>
              <a:off x="6553200" y="5915025"/>
              <a:ext cx="76200" cy="76200"/>
            </a:xfrm>
            <a:prstGeom prst="ellipse">
              <a:avLst/>
            </a:prstGeom>
            <a:solidFill>
              <a:srgbClr val="1F4D78"/>
            </a:solidFill>
            <a:ln>
              <a:noFill/>
            </a:ln>
          </p:spPr>
        </p:sp>
        <p:sp>
          <p:nvSpPr>
            <p:cNvPr id="48" name="TextBox 48"/>
            <p:cNvSpPr txBox="1"/>
            <p:nvPr/>
          </p:nvSpPr>
          <p:spPr>
            <a:xfrm>
              <a:off x="6765608" y="5863114"/>
              <a:ext cx="207264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完善知识库匹配与谱系定位</a:t>
              </a:r>
            </a:p>
          </p:txBody>
        </p:sp>
      </p:grpSp>
      <p:sp>
        <p:nvSpPr>
          <p:cNvPr id="50" name="TextBox 50"/>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29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image">
                                      <p:cBhvr>
                                        <p:cTn id="7"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1958816"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致谢与讨论</a:t>
            </a:r>
          </a:p>
        </p:txBody>
      </p:sp>
      <p:grpSp>
        <p:nvGrpSpPr>
          <p:cNvPr id="17" name="Group 17"/>
          <p:cNvGrpSpPr/>
          <p:nvPr/>
        </p:nvGrpSpPr>
        <p:grpSpPr>
          <a:xfrm>
            <a:off x="609600" y="1714500"/>
            <a:ext cx="10972800" cy="4381500"/>
            <a:chOff x="609600" y="1714500"/>
            <a:chExt cx="10972800" cy="4381500"/>
          </a:xfrm>
        </p:grpSpPr>
        <p:sp>
          <p:nvSpPr>
            <p:cNvPr id="7" name="Rectangle 7"/>
            <p:cNvSpPr/>
            <p:nvPr/>
          </p:nvSpPr>
          <p:spPr>
            <a:xfrm>
              <a:off x="609600" y="1714500"/>
              <a:ext cx="10972800" cy="1905000"/>
            </a:xfrm>
            <a:prstGeom prst="roundRect">
              <a:avLst>
                <a:gd name="adj" fmla="val 4000"/>
              </a:avLst>
            </a:prstGeom>
            <a:solidFill>
              <a:srgbClr val="F4F5F7"/>
            </a:solidFill>
            <a:ln>
              <a:noFill/>
            </a:ln>
          </p:spPr>
        </p:sp>
        <p:sp>
          <p:nvSpPr>
            <p:cNvPr id="8" name="TextBox 8"/>
            <p:cNvSpPr txBox="1"/>
            <p:nvPr/>
          </p:nvSpPr>
          <p:spPr>
            <a:xfrm>
              <a:off x="5775293" y="1964055"/>
              <a:ext cx="641414" cy="426720"/>
            </a:xfrm>
            <a:prstGeom prst="rect">
              <a:avLst/>
            </a:prstGeom>
            <a:noFill/>
            <a:ln>
              <a:noFill/>
            </a:ln>
          </p:spPr>
          <p:txBody>
            <a:bodyPr wrap="none" lIns="0" tIns="0" rIns="0" bIns="0" anchor="t" anchorCtr="0">
              <a:spAutoFit/>
            </a:bodyPr>
            <a:lstStyle/>
            <a:p>
              <a:pPr algn="ctr"/>
              <a:r>
                <a:rPr lang="zh-CN" sz="2100" b="1" dirty="0">
                  <a:solidFill>
                    <a:srgbClr val="1F4D78"/>
                  </a:solidFill>
                  <a:latin typeface="Arial"/>
                  <a:ea typeface="Microsoft YaHei"/>
                  <a:cs typeface="Arial"/>
                </a:rPr>
                <a:t>致谢</a:t>
              </a:r>
            </a:p>
          </p:txBody>
        </p:sp>
        <p:sp>
          <p:nvSpPr>
            <p:cNvPr id="9" name="TextBox 9"/>
            <p:cNvSpPr txBox="1"/>
            <p:nvPr/>
          </p:nvSpPr>
          <p:spPr>
            <a:xfrm>
              <a:off x="4276725" y="2505075"/>
              <a:ext cx="3638550"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感谢上海交通大学人工智能研究院的支持</a:t>
              </a:r>
            </a:p>
          </p:txBody>
        </p:sp>
        <p:sp>
          <p:nvSpPr>
            <p:cNvPr id="10" name="TextBox 10"/>
            <p:cNvSpPr txBox="1"/>
            <p:nvPr/>
          </p:nvSpPr>
          <p:spPr>
            <a:xfrm>
              <a:off x="4276725" y="2838450"/>
              <a:ext cx="3638550"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感谢特邀法学专家团队的指导与标注工作</a:t>
              </a:r>
            </a:p>
          </p:txBody>
        </p:sp>
        <p:sp>
          <p:nvSpPr>
            <p:cNvPr id="11" name="TextBox 11"/>
            <p:cNvSpPr txBox="1"/>
            <p:nvPr/>
          </p:nvSpPr>
          <p:spPr>
            <a:xfrm>
              <a:off x="4776788" y="3171825"/>
              <a:ext cx="2638425" cy="304800"/>
            </a:xfrm>
            <a:prstGeom prst="rect">
              <a:avLst/>
            </a:prstGeom>
            <a:noFill/>
            <a:ln>
              <a:noFill/>
            </a:ln>
          </p:spPr>
          <p:txBody>
            <a:bodyPr wrap="none" lIns="0" tIns="0" rIns="0" bIns="0" anchor="t" anchorCtr="0">
              <a:spAutoFit/>
            </a:bodyPr>
            <a:lstStyle/>
            <a:p>
              <a:pPr algn="ctr"/>
              <a:r>
                <a:rPr lang="zh-CN" sz="1500" dirty="0">
                  <a:solidFill>
                    <a:srgbClr val="1B1C21"/>
                  </a:solidFill>
                  <a:latin typeface="Arial"/>
                  <a:ea typeface="Microsoft YaHei"/>
                  <a:cs typeface="Arial"/>
                </a:rPr>
                <a:t>感谢项目团队成员的辛勤付出</a:t>
              </a:r>
            </a:p>
          </p:txBody>
        </p:sp>
        <p:sp>
          <p:nvSpPr>
            <p:cNvPr id="12" name="Rectangle 12"/>
            <p:cNvSpPr/>
            <p:nvPr/>
          </p:nvSpPr>
          <p:spPr>
            <a:xfrm>
              <a:off x="609600" y="3905250"/>
              <a:ext cx="10972800" cy="2190750"/>
            </a:xfrm>
            <a:prstGeom prst="roundRect">
              <a:avLst>
                <a:gd name="adj" fmla="val 3478"/>
              </a:avLst>
            </a:prstGeom>
            <a:gradFill>
              <a:gsLst>
                <a:gs pos="0">
                  <a:srgbClr val="C8161E"/>
                </a:gs>
                <a:gs pos="100000">
                  <a:srgbClr val="8E0F15"/>
                </a:gs>
              </a:gsLst>
              <a:lin ang="2700000" scaled="1"/>
            </a:gradFill>
            <a:ln>
              <a:noFill/>
            </a:ln>
          </p:spPr>
        </p:sp>
        <p:sp>
          <p:nvSpPr>
            <p:cNvPr id="13" name="TextBox 13"/>
            <p:cNvSpPr txBox="1"/>
            <p:nvPr/>
          </p:nvSpPr>
          <p:spPr>
            <a:xfrm>
              <a:off x="5217795" y="4152900"/>
              <a:ext cx="1756410" cy="609600"/>
            </a:xfrm>
            <a:prstGeom prst="rect">
              <a:avLst/>
            </a:prstGeom>
            <a:noFill/>
            <a:ln>
              <a:noFill/>
            </a:ln>
          </p:spPr>
          <p:txBody>
            <a:bodyPr wrap="none" lIns="0" tIns="0" rIns="0" bIns="0" anchor="t" anchorCtr="0">
              <a:spAutoFit/>
            </a:bodyPr>
            <a:lstStyle/>
            <a:p>
              <a:pPr algn="ctr"/>
              <a:r>
                <a:rPr lang="zh-CN" sz="3000" b="1" dirty="0">
                  <a:solidFill>
                    <a:srgbClr val="FFFFFF"/>
                  </a:solidFill>
                  <a:latin typeface="Arial"/>
                  <a:ea typeface="Microsoft YaHei"/>
                  <a:cs typeface="Arial"/>
                </a:rPr>
                <a:t>开放讨论</a:t>
              </a:r>
            </a:p>
          </p:txBody>
        </p:sp>
        <p:sp>
          <p:nvSpPr>
            <p:cNvPr id="14" name="TextBox 14"/>
            <p:cNvSpPr txBox="1"/>
            <p:nvPr/>
          </p:nvSpPr>
          <p:spPr>
            <a:xfrm>
              <a:off x="5233035" y="4853940"/>
              <a:ext cx="1725930" cy="365760"/>
            </a:xfrm>
            <a:prstGeom prst="rect">
              <a:avLst/>
            </a:prstGeom>
            <a:noFill/>
            <a:ln>
              <a:noFill/>
            </a:ln>
          </p:spPr>
          <p:txBody>
            <a:bodyPr wrap="none" lIns="0" tIns="0" rIns="0" bIns="0" anchor="t" anchorCtr="0">
              <a:spAutoFit/>
            </a:bodyPr>
            <a:lstStyle/>
            <a:p>
              <a:pPr algn="ctr"/>
              <a:r>
                <a:rPr lang="zh-CN" sz="1800" dirty="0">
                  <a:solidFill>
                    <a:srgbClr val="FFFFFF"/>
                  </a:solidFill>
                  <a:latin typeface="Arial"/>
                  <a:ea typeface="Microsoft YaHei"/>
                  <a:cs typeface="Arial"/>
                </a:rPr>
                <a:t>欢迎提问与交流</a:t>
              </a:r>
            </a:p>
          </p:txBody>
        </p:sp>
        <p:sp>
          <p:nvSpPr>
            <p:cNvPr id="15" name="TextBox 15"/>
            <p:cNvSpPr txBox="1"/>
            <p:nvPr/>
          </p:nvSpPr>
          <p:spPr>
            <a:xfrm>
              <a:off x="4301728" y="5362575"/>
              <a:ext cx="3588544"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Arial"/>
                  <a:ea typeface="Microsoft YaHei"/>
                  <a:cs typeface="Arial"/>
                </a:rPr>
                <a:t>联系方式：金耀辉 · jinyh@sjtu.edu.cn</a:t>
              </a:r>
            </a:p>
          </p:txBody>
        </p:sp>
        <p:sp>
          <p:nvSpPr>
            <p:cNvPr id="16" name="TextBox 16"/>
            <p:cNvSpPr txBox="1"/>
            <p:nvPr/>
          </p:nvSpPr>
          <p:spPr>
            <a:xfrm>
              <a:off x="4221718" y="5695950"/>
              <a:ext cx="3748564"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Arial"/>
                  <a:ea typeface="Microsoft YaHei"/>
                  <a:cs typeface="Arial"/>
                </a:rPr>
                <a:t>项目地址：github.com/jinyh/SocialEval</a:t>
              </a:r>
            </a:p>
          </p:txBody>
        </p:sp>
      </p:grpSp>
      <p:sp>
        <p:nvSpPr>
          <p:cNvPr id="18" name="TextBox 18"/>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30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3905760"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A1：评分公式详解</a:t>
            </a:r>
          </a:p>
        </p:txBody>
      </p:sp>
      <p:sp>
        <p:nvSpPr>
          <p:cNvPr id="7" name="TextBox 7"/>
          <p:cNvSpPr txBox="1"/>
          <p:nvPr/>
        </p:nvSpPr>
        <p:spPr>
          <a:xfrm>
            <a:off x="3288506" y="1473518"/>
            <a:ext cx="561498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六维加权基础分为总分主体，自主知识信号用于候选分层，不直接加分</a:t>
            </a:r>
          </a:p>
        </p:txBody>
      </p:sp>
      <p:sp>
        <p:nvSpPr>
          <p:cNvPr id="8" name="Rectangle 8"/>
          <p:cNvSpPr/>
          <p:nvPr/>
        </p:nvSpPr>
        <p:spPr>
          <a:xfrm>
            <a:off x="914400" y="2038350"/>
            <a:ext cx="10363200" cy="1123950"/>
          </a:xfrm>
          <a:prstGeom prst="roundRect">
            <a:avLst>
              <a:gd name="adj" fmla="val 10169"/>
            </a:avLst>
          </a:prstGeom>
          <a:solidFill>
            <a:srgbClr val="F4F5F7"/>
          </a:solidFill>
          <a:ln w="9525">
            <a:solidFill>
              <a:srgbClr val="D9DEE5"/>
            </a:solidFill>
          </a:ln>
        </p:spPr>
      </p:sp>
      <p:sp>
        <p:nvSpPr>
          <p:cNvPr id="9" name="TextBox 9"/>
          <p:cNvSpPr txBox="1"/>
          <p:nvPr/>
        </p:nvSpPr>
        <p:spPr>
          <a:xfrm>
            <a:off x="1198245" y="2279332"/>
            <a:ext cx="1312569"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base_score</a:t>
            </a:r>
          </a:p>
        </p:txBody>
      </p:sp>
      <p:sp>
        <p:nvSpPr>
          <p:cNvPr id="10" name="TextBox 10"/>
          <p:cNvSpPr txBox="1"/>
          <p:nvPr/>
        </p:nvSpPr>
        <p:spPr>
          <a:xfrm>
            <a:off x="1198245" y="2641282"/>
            <a:ext cx="8127921" cy="335280"/>
          </a:xfrm>
          <a:prstGeom prst="rect">
            <a:avLst/>
          </a:prstGeom>
          <a:noFill/>
          <a:ln>
            <a:noFill/>
          </a:ln>
        </p:spPr>
        <p:txBody>
          <a:bodyPr wrap="none" lIns="0" tIns="0" rIns="0" bIns="0" anchor="t" anchorCtr="0">
            <a:spAutoFit/>
          </a:bodyPr>
          <a:lstStyle/>
          <a:p>
            <a:pPr algn="l"/>
            <a:r>
              <a:rPr lang="zh-CN" sz="1650" dirty="0">
                <a:solidFill>
                  <a:srgbClr val="1B1C21"/>
                </a:solidFill>
                <a:latin typeface="Arial"/>
                <a:ea typeface="Microsoft YaHei"/>
                <a:cs typeface="Arial"/>
              </a:rPr>
              <a:t>= 创新性×30% + 洞察度×20% + 建构力×15% + 连贯性×20% + 共识度×10% + 延展性×5%</a:t>
            </a:r>
          </a:p>
        </p:txBody>
      </p:sp>
      <p:sp>
        <p:nvSpPr>
          <p:cNvPr id="11" name="Rectangle 11"/>
          <p:cNvSpPr/>
          <p:nvPr/>
        </p:nvSpPr>
        <p:spPr>
          <a:xfrm>
            <a:off x="914400" y="3429000"/>
            <a:ext cx="4953000" cy="2000250"/>
          </a:xfrm>
          <a:prstGeom prst="roundRect">
            <a:avLst>
              <a:gd name="adj" fmla="val 5714"/>
            </a:avLst>
          </a:prstGeom>
          <a:solidFill>
            <a:srgbClr val="FFFFFF"/>
          </a:solidFill>
          <a:ln w="9525">
            <a:solidFill>
              <a:srgbClr val="D9DEE5"/>
            </a:solidFill>
          </a:ln>
        </p:spPr>
      </p:sp>
      <p:sp>
        <p:nvSpPr>
          <p:cNvPr id="12" name="TextBox 12"/>
          <p:cNvSpPr txBox="1"/>
          <p:nvPr/>
        </p:nvSpPr>
        <p:spPr>
          <a:xfrm>
            <a:off x="1196340" y="3634740"/>
            <a:ext cx="1053846" cy="365760"/>
          </a:xfrm>
          <a:prstGeom prst="rect">
            <a:avLst/>
          </a:prstGeom>
          <a:noFill/>
          <a:ln>
            <a:noFill/>
          </a:ln>
        </p:spPr>
        <p:txBody>
          <a:bodyPr wrap="none" lIns="0" tIns="0" rIns="0" bIns="0" anchor="t" anchorCtr="0">
            <a:spAutoFit/>
          </a:bodyPr>
          <a:lstStyle/>
          <a:p>
            <a:pPr algn="l"/>
            <a:r>
              <a:rPr lang="zh-CN" sz="1800" b="1" dirty="0">
                <a:solidFill>
                  <a:srgbClr val="C8161E"/>
                </a:solidFill>
                <a:latin typeface="Arial"/>
                <a:ea typeface="Microsoft YaHei"/>
                <a:cs typeface="Arial"/>
              </a:rPr>
              <a:t>计分原则</a:t>
            </a:r>
          </a:p>
        </p:txBody>
      </p:sp>
      <p:sp>
        <p:nvSpPr>
          <p:cNvPr id="13" name="TextBox 13"/>
          <p:cNvSpPr txBox="1"/>
          <p:nvPr/>
        </p:nvSpPr>
        <p:spPr>
          <a:xfrm>
            <a:off x="1202055" y="4092892"/>
            <a:ext cx="294165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1. 六维评分各自独立，避免互相补偿</a:t>
            </a:r>
          </a:p>
        </p:txBody>
      </p:sp>
      <p:sp>
        <p:nvSpPr>
          <p:cNvPr id="14" name="TextBox 14"/>
          <p:cNvSpPr txBox="1"/>
          <p:nvPr/>
        </p:nvSpPr>
        <p:spPr>
          <a:xfrm>
            <a:off x="1202055" y="4426268"/>
            <a:ext cx="2824639"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2. 权重反映“命题与定位”的优先性</a:t>
            </a:r>
          </a:p>
        </p:txBody>
      </p:sp>
      <p:sp>
        <p:nvSpPr>
          <p:cNvPr id="15" name="TextBox 15"/>
          <p:cNvSpPr txBox="1"/>
          <p:nvPr/>
        </p:nvSpPr>
        <p:spPr>
          <a:xfrm>
            <a:off x="1202055" y="4759642"/>
            <a:ext cx="3706749"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3. 总分只作为候选排序线索，不替代专家终审</a:t>
            </a:r>
          </a:p>
        </p:txBody>
      </p:sp>
      <p:sp>
        <p:nvSpPr>
          <p:cNvPr id="16" name="Rectangle 16"/>
          <p:cNvSpPr/>
          <p:nvPr/>
        </p:nvSpPr>
        <p:spPr>
          <a:xfrm>
            <a:off x="6324600" y="3429000"/>
            <a:ext cx="4953000" cy="2000250"/>
          </a:xfrm>
          <a:prstGeom prst="roundRect">
            <a:avLst>
              <a:gd name="adj" fmla="val 5714"/>
            </a:avLst>
          </a:prstGeom>
          <a:solidFill>
            <a:srgbClr val="FFFFFF"/>
          </a:solidFill>
          <a:ln w="9525">
            <a:solidFill>
              <a:srgbClr val="D9DEE5"/>
            </a:solidFill>
          </a:ln>
        </p:spPr>
      </p:sp>
      <p:sp>
        <p:nvSpPr>
          <p:cNvPr id="17" name="TextBox 17"/>
          <p:cNvSpPr txBox="1"/>
          <p:nvPr/>
        </p:nvSpPr>
        <p:spPr>
          <a:xfrm>
            <a:off x="6606540" y="3634740"/>
            <a:ext cx="1305878"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信号层说明</a:t>
            </a:r>
          </a:p>
        </p:txBody>
      </p:sp>
      <p:sp>
        <p:nvSpPr>
          <p:cNvPr id="18" name="TextBox 18"/>
          <p:cNvSpPr txBox="1"/>
          <p:nvPr/>
        </p:nvSpPr>
        <p:spPr>
          <a:xfrm>
            <a:off x="6612255" y="4092892"/>
            <a:ext cx="3265694"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final_score = weighted_sum（0–100）</a:t>
            </a:r>
          </a:p>
        </p:txBody>
      </p:sp>
      <p:sp>
        <p:nvSpPr>
          <p:cNvPr id="19" name="TextBox 19"/>
          <p:cNvSpPr txBox="1"/>
          <p:nvPr/>
        </p:nvSpPr>
        <p:spPr>
          <a:xfrm>
            <a:off x="6612255" y="4426268"/>
            <a:ext cx="293265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自主知识信号 = 0–8 分，进入证据包</a:t>
            </a:r>
          </a:p>
        </p:txBody>
      </p:sp>
      <p:sp>
        <p:nvSpPr>
          <p:cNvPr id="20" name="TextBox 20"/>
          <p:cNvSpPr txBox="1"/>
          <p:nvPr/>
        </p:nvSpPr>
        <p:spPr>
          <a:xfrm>
            <a:off x="6612255" y="4759642"/>
            <a:ext cx="294165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二者交叉验证：高质量 + 强自主信号</a:t>
            </a:r>
          </a:p>
        </p:txBody>
      </p:sp>
      <p:sp>
        <p:nvSpPr>
          <p:cNvPr id="21" name="Rectangle 21"/>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22" name="TextBox 22"/>
          <p:cNvSpPr txBox="1"/>
          <p:nvPr/>
        </p:nvSpPr>
        <p:spPr>
          <a:xfrm>
            <a:off x="596265" y="6554152"/>
            <a:ext cx="1006792" cy="213360"/>
          </a:xfrm>
          <a:prstGeom prst="rect">
            <a:avLst/>
          </a:prstGeom>
          <a:noFill/>
          <a:ln>
            <a:noFill/>
          </a:ln>
        </p:spPr>
        <p:txBody>
          <a:bodyPr wrap="none" lIns="0" tIns="0" rIns="0" bIns="0" anchor="t" anchorCtr="0">
            <a:spAutoFit/>
          </a:bodyPr>
          <a:lstStyle/>
          <a:p>
            <a:pPr algn="l"/>
            <a:r>
              <a:rPr lang="zh-CN" sz="1050" dirty="0">
                <a:solidFill>
                  <a:srgbClr val="9AA3AE"/>
                </a:solidFill>
                <a:latin typeface="Arial"/>
                <a:ea typeface="Microsoft YaHei"/>
                <a:cs typeface="Arial"/>
              </a:rPr>
              <a:t>附录：评分公式</a:t>
            </a:r>
          </a:p>
        </p:txBody>
      </p:sp>
      <p:sp>
        <p:nvSpPr>
          <p:cNvPr id="23" name="TextBox 23"/>
          <p:cNvSpPr txBox="1"/>
          <p:nvPr/>
        </p:nvSpPr>
        <p:spPr>
          <a:xfrm>
            <a:off x="11450050" y="6554152"/>
            <a:ext cx="145685" cy="213360"/>
          </a:xfrm>
          <a:prstGeom prst="rect">
            <a:avLst/>
          </a:prstGeom>
          <a:noFill/>
          <a:ln>
            <a:noFill/>
          </a:ln>
        </p:spPr>
        <p:txBody>
          <a:bodyPr wrap="none" lIns="0" tIns="0" rIns="0" bIns="0" anchor="t" anchorCtr="0">
            <a:spAutoFit/>
          </a:bodyPr>
          <a:lstStyle/>
          <a:p>
            <a:pPr algn="r"/>
            <a:r>
              <a:rPr lang="zh-CN" sz="1050" dirty="0">
                <a:solidFill>
                  <a:srgbClr val="9AA3AE"/>
                </a:solidFill>
                <a:latin typeface="Arial"/>
                <a:ea typeface="Microsoft YaHei"/>
                <a:cs typeface="Arial"/>
              </a:rPr>
              <a:t>A1</a:t>
            </a:r>
          </a:p>
        </p:txBody>
      </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5512460"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A2：典型论文评审报告示例</a:t>
            </a:r>
          </a:p>
        </p:txBody>
      </p:sp>
      <p:sp>
        <p:nvSpPr>
          <p:cNvPr id="7" name="TextBox 7"/>
          <p:cNvSpPr txBox="1"/>
          <p:nvPr/>
        </p:nvSpPr>
        <p:spPr>
          <a:xfrm>
            <a:off x="4008596" y="1473518"/>
            <a:ext cx="417480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单篇报告由评分、证据、分歧和复核建议四部分构成</a:t>
            </a:r>
          </a:p>
        </p:txBody>
      </p:sp>
      <p:sp>
        <p:nvSpPr>
          <p:cNvPr id="8" name="Rectangle 8"/>
          <p:cNvSpPr/>
          <p:nvPr/>
        </p:nvSpPr>
        <p:spPr>
          <a:xfrm>
            <a:off x="685800" y="2000250"/>
            <a:ext cx="2857500" cy="3714750"/>
          </a:xfrm>
          <a:prstGeom prst="roundRect">
            <a:avLst>
              <a:gd name="adj" fmla="val 3333"/>
            </a:avLst>
          </a:prstGeom>
          <a:solidFill>
            <a:srgbClr val="F4F5F7"/>
          </a:solidFill>
          <a:ln w="9525">
            <a:solidFill>
              <a:srgbClr val="D9DEE5"/>
            </a:solidFill>
          </a:ln>
        </p:spPr>
      </p:sp>
      <p:sp>
        <p:nvSpPr>
          <p:cNvPr id="9" name="TextBox 9"/>
          <p:cNvSpPr txBox="1"/>
          <p:nvPr/>
        </p:nvSpPr>
        <p:spPr>
          <a:xfrm>
            <a:off x="893445" y="220313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论文信息</a:t>
            </a:r>
          </a:p>
        </p:txBody>
      </p:sp>
      <p:sp>
        <p:nvSpPr>
          <p:cNvPr id="10" name="TextBox 10"/>
          <p:cNvSpPr txBox="1"/>
          <p:nvPr/>
        </p:nvSpPr>
        <p:spPr>
          <a:xfrm>
            <a:off x="897255" y="2635568"/>
            <a:ext cx="201453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题名：示例高分候选论文</a:t>
            </a:r>
          </a:p>
        </p:txBody>
      </p:sp>
      <p:sp>
        <p:nvSpPr>
          <p:cNvPr id="11" name="TextBox 11"/>
          <p:cNvSpPr txBox="1"/>
          <p:nvPr/>
        </p:nvSpPr>
        <p:spPr>
          <a:xfrm>
            <a:off x="897255" y="2959418"/>
            <a:ext cx="2221563"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刊物：法学研究 / 中国法学</a:t>
            </a:r>
          </a:p>
        </p:txBody>
      </p:sp>
      <p:sp>
        <p:nvSpPr>
          <p:cNvPr id="12" name="TextBox 12"/>
          <p:cNvSpPr txBox="1"/>
          <p:nvPr/>
        </p:nvSpPr>
        <p:spPr>
          <a:xfrm>
            <a:off x="897255" y="3283268"/>
            <a:ext cx="147447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年份：近十年样本</a:t>
            </a:r>
          </a:p>
        </p:txBody>
      </p:sp>
      <p:sp>
        <p:nvSpPr>
          <p:cNvPr id="13" name="TextBox 13"/>
          <p:cNvSpPr txBox="1"/>
          <p:nvPr/>
        </p:nvSpPr>
        <p:spPr>
          <a:xfrm>
            <a:off x="897255" y="3854768"/>
            <a:ext cx="934402"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输出内容：</a:t>
            </a:r>
          </a:p>
        </p:txBody>
      </p:sp>
      <p:sp>
        <p:nvSpPr>
          <p:cNvPr id="14" name="TextBox 14"/>
          <p:cNvSpPr txBox="1"/>
          <p:nvPr/>
        </p:nvSpPr>
        <p:spPr>
          <a:xfrm>
            <a:off x="1088708" y="4205764"/>
            <a:ext cx="139255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六维均分与标准差</a:t>
            </a:r>
          </a:p>
        </p:txBody>
      </p:sp>
      <p:sp>
        <p:nvSpPr>
          <p:cNvPr id="15" name="TextBox 15"/>
          <p:cNvSpPr txBox="1"/>
          <p:nvPr/>
        </p:nvSpPr>
        <p:spPr>
          <a:xfrm>
            <a:off x="1088708" y="4510564"/>
            <a:ext cx="2642211"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模型 accepted / rejected points</a:t>
            </a:r>
          </a:p>
        </p:txBody>
      </p:sp>
      <p:sp>
        <p:nvSpPr>
          <p:cNvPr id="16" name="TextBox 16"/>
          <p:cNvSpPr txBox="1"/>
          <p:nvPr/>
        </p:nvSpPr>
        <p:spPr>
          <a:xfrm>
            <a:off x="1088708" y="4815364"/>
            <a:ext cx="139255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自主知识信号证据</a:t>
            </a:r>
          </a:p>
        </p:txBody>
      </p:sp>
      <p:sp>
        <p:nvSpPr>
          <p:cNvPr id="17" name="Rectangle 17"/>
          <p:cNvSpPr/>
          <p:nvPr/>
        </p:nvSpPr>
        <p:spPr>
          <a:xfrm>
            <a:off x="3886200" y="2000250"/>
            <a:ext cx="3429000" cy="3714750"/>
          </a:xfrm>
          <a:prstGeom prst="roundRect">
            <a:avLst>
              <a:gd name="adj" fmla="val 2778"/>
            </a:avLst>
          </a:prstGeom>
          <a:solidFill>
            <a:srgbClr val="FFFFFF"/>
          </a:solidFill>
          <a:ln w="9525">
            <a:solidFill>
              <a:srgbClr val="D9DEE5"/>
            </a:solidFill>
          </a:ln>
        </p:spPr>
      </p:sp>
      <p:sp>
        <p:nvSpPr>
          <p:cNvPr id="18" name="TextBox 18"/>
          <p:cNvSpPr txBox="1"/>
          <p:nvPr/>
        </p:nvSpPr>
        <p:spPr>
          <a:xfrm>
            <a:off x="4093845" y="2203132"/>
            <a:ext cx="1428083"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六维评分快照</a:t>
            </a:r>
          </a:p>
        </p:txBody>
      </p:sp>
      <p:sp>
        <p:nvSpPr>
          <p:cNvPr id="19" name="TextBox 19"/>
          <p:cNvSpPr txBox="1"/>
          <p:nvPr/>
        </p:nvSpPr>
        <p:spPr>
          <a:xfrm>
            <a:off x="4097655" y="2711768"/>
            <a:ext cx="236558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研究创新性：88.5 / std 4.2</a:t>
            </a:r>
          </a:p>
        </p:txBody>
      </p:sp>
      <p:sp>
        <p:nvSpPr>
          <p:cNvPr id="20" name="Rectangle 20"/>
          <p:cNvSpPr/>
          <p:nvPr/>
        </p:nvSpPr>
        <p:spPr>
          <a:xfrm>
            <a:off x="4114800" y="3000375"/>
            <a:ext cx="2571750" cy="95250"/>
          </a:xfrm>
          <a:prstGeom prst="roundRect">
            <a:avLst>
              <a:gd name="adj" fmla="val 50000"/>
            </a:avLst>
          </a:prstGeom>
          <a:solidFill>
            <a:srgbClr val="F4F5F7"/>
          </a:solidFill>
          <a:ln>
            <a:noFill/>
          </a:ln>
        </p:spPr>
      </p:sp>
      <p:sp>
        <p:nvSpPr>
          <p:cNvPr id="21" name="Rectangle 21"/>
          <p:cNvSpPr/>
          <p:nvPr/>
        </p:nvSpPr>
        <p:spPr>
          <a:xfrm>
            <a:off x="4114800" y="3000375"/>
            <a:ext cx="2276475" cy="95250"/>
          </a:xfrm>
          <a:prstGeom prst="roundRect">
            <a:avLst>
              <a:gd name="adj" fmla="val 50000"/>
            </a:avLst>
          </a:prstGeom>
          <a:solidFill>
            <a:srgbClr val="C8161E"/>
          </a:solidFill>
          <a:ln>
            <a:noFill/>
          </a:ln>
        </p:spPr>
      </p:sp>
      <p:sp>
        <p:nvSpPr>
          <p:cNvPr id="22" name="TextBox 22"/>
          <p:cNvSpPr txBox="1"/>
          <p:nvPr/>
        </p:nvSpPr>
        <p:spPr>
          <a:xfrm>
            <a:off x="4097655" y="3283268"/>
            <a:ext cx="2320576"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理论建构力：86.0 / std 5.1</a:t>
            </a:r>
          </a:p>
        </p:txBody>
      </p:sp>
      <p:sp>
        <p:nvSpPr>
          <p:cNvPr id="23" name="Rectangle 23"/>
          <p:cNvSpPr/>
          <p:nvPr/>
        </p:nvSpPr>
        <p:spPr>
          <a:xfrm>
            <a:off x="4114800" y="3571875"/>
            <a:ext cx="2571750" cy="95250"/>
          </a:xfrm>
          <a:prstGeom prst="roundRect">
            <a:avLst>
              <a:gd name="adj" fmla="val 50000"/>
            </a:avLst>
          </a:prstGeom>
          <a:solidFill>
            <a:srgbClr val="F4F5F7"/>
          </a:solidFill>
          <a:ln>
            <a:noFill/>
          </a:ln>
        </p:spPr>
      </p:sp>
      <p:sp>
        <p:nvSpPr>
          <p:cNvPr id="24" name="Rectangle 24"/>
          <p:cNvSpPr/>
          <p:nvPr/>
        </p:nvSpPr>
        <p:spPr>
          <a:xfrm>
            <a:off x="4114800" y="3571875"/>
            <a:ext cx="2209800" cy="95250"/>
          </a:xfrm>
          <a:prstGeom prst="roundRect">
            <a:avLst>
              <a:gd name="adj" fmla="val 50000"/>
            </a:avLst>
          </a:prstGeom>
          <a:solidFill>
            <a:srgbClr val="1F4D78"/>
          </a:solidFill>
          <a:ln>
            <a:noFill/>
          </a:ln>
        </p:spPr>
      </p:sp>
      <p:sp>
        <p:nvSpPr>
          <p:cNvPr id="25" name="TextBox 25"/>
          <p:cNvSpPr txBox="1"/>
          <p:nvPr/>
        </p:nvSpPr>
        <p:spPr>
          <a:xfrm>
            <a:off x="4097655" y="3854768"/>
            <a:ext cx="236558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逻辑连贯性：90.2 / std 3.0</a:t>
            </a:r>
          </a:p>
        </p:txBody>
      </p:sp>
      <p:sp>
        <p:nvSpPr>
          <p:cNvPr id="26" name="Rectangle 26"/>
          <p:cNvSpPr/>
          <p:nvPr/>
        </p:nvSpPr>
        <p:spPr>
          <a:xfrm>
            <a:off x="4114800" y="4143375"/>
            <a:ext cx="2571750" cy="95250"/>
          </a:xfrm>
          <a:prstGeom prst="roundRect">
            <a:avLst>
              <a:gd name="adj" fmla="val 50000"/>
            </a:avLst>
          </a:prstGeom>
          <a:solidFill>
            <a:srgbClr val="F4F5F7"/>
          </a:solidFill>
          <a:ln>
            <a:noFill/>
          </a:ln>
        </p:spPr>
      </p:sp>
      <p:sp>
        <p:nvSpPr>
          <p:cNvPr id="27" name="Rectangle 27"/>
          <p:cNvSpPr/>
          <p:nvPr/>
        </p:nvSpPr>
        <p:spPr>
          <a:xfrm>
            <a:off x="4114800" y="4143375"/>
            <a:ext cx="2324100" cy="95250"/>
          </a:xfrm>
          <a:prstGeom prst="roundRect">
            <a:avLst>
              <a:gd name="adj" fmla="val 50000"/>
            </a:avLst>
          </a:prstGeom>
          <a:solidFill>
            <a:srgbClr val="2E7D32"/>
          </a:solidFill>
          <a:ln>
            <a:noFill/>
          </a:ln>
        </p:spPr>
      </p:sp>
      <p:sp>
        <p:nvSpPr>
          <p:cNvPr id="28" name="TextBox 28"/>
          <p:cNvSpPr txBox="1"/>
          <p:nvPr/>
        </p:nvSpPr>
        <p:spPr>
          <a:xfrm>
            <a:off x="4097655" y="4616768"/>
            <a:ext cx="2914650"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报告保留模型差异，不只给单一均值</a:t>
            </a:r>
          </a:p>
        </p:txBody>
      </p:sp>
      <p:sp>
        <p:nvSpPr>
          <p:cNvPr id="29" name="Rectangle 29"/>
          <p:cNvSpPr/>
          <p:nvPr/>
        </p:nvSpPr>
        <p:spPr>
          <a:xfrm>
            <a:off x="7658100" y="2000250"/>
            <a:ext cx="3848100" cy="3714750"/>
          </a:xfrm>
          <a:prstGeom prst="roundRect">
            <a:avLst>
              <a:gd name="adj" fmla="val 2564"/>
            </a:avLst>
          </a:prstGeom>
          <a:solidFill>
            <a:srgbClr val="FFFFFF"/>
          </a:solidFill>
          <a:ln w="9525">
            <a:solidFill>
              <a:srgbClr val="D9DEE5"/>
            </a:solidFill>
          </a:ln>
        </p:spPr>
      </p:sp>
      <p:sp>
        <p:nvSpPr>
          <p:cNvPr id="30" name="TextBox 30"/>
          <p:cNvSpPr txBox="1"/>
          <p:nvPr/>
        </p:nvSpPr>
        <p:spPr>
          <a:xfrm>
            <a:off x="7865745" y="2203132"/>
            <a:ext cx="1428083"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专家复核入口</a:t>
            </a:r>
          </a:p>
        </p:txBody>
      </p:sp>
      <p:sp>
        <p:nvSpPr>
          <p:cNvPr id="31" name="TextBox 31"/>
          <p:cNvSpPr txBox="1"/>
          <p:nvPr/>
        </p:nvSpPr>
        <p:spPr>
          <a:xfrm>
            <a:off x="7869555" y="2711768"/>
            <a:ext cx="2311575"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触发条件：任一维度 std &gt; 8</a:t>
            </a:r>
          </a:p>
        </p:txBody>
      </p:sp>
      <p:sp>
        <p:nvSpPr>
          <p:cNvPr id="32" name="TextBox 32"/>
          <p:cNvSpPr txBox="1"/>
          <p:nvPr/>
        </p:nvSpPr>
        <p:spPr>
          <a:xfrm>
            <a:off x="7869555" y="3054668"/>
            <a:ext cx="2581608"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复核材料：原文证据 + 模型分歧</a:t>
            </a:r>
          </a:p>
        </p:txBody>
      </p:sp>
      <p:sp>
        <p:nvSpPr>
          <p:cNvPr id="33" name="TextBox 33"/>
          <p:cNvSpPr txBox="1"/>
          <p:nvPr/>
        </p:nvSpPr>
        <p:spPr>
          <a:xfrm>
            <a:off x="7869555" y="3397568"/>
            <a:ext cx="2374582"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处理方式：专家评分并列存储</a:t>
            </a:r>
          </a:p>
        </p:txBody>
      </p:sp>
      <p:sp>
        <p:nvSpPr>
          <p:cNvPr id="34" name="Rectangle 34"/>
          <p:cNvSpPr/>
          <p:nvPr/>
        </p:nvSpPr>
        <p:spPr>
          <a:xfrm>
            <a:off x="7886700" y="4095750"/>
            <a:ext cx="3048000" cy="685800"/>
          </a:xfrm>
          <a:prstGeom prst="roundRect">
            <a:avLst>
              <a:gd name="adj" fmla="val 11111"/>
            </a:avLst>
          </a:prstGeom>
          <a:solidFill>
            <a:srgbClr val="C8161E">
              <a:alpha val="8000"/>
            </a:srgbClr>
          </a:solidFill>
          <a:ln w="9525">
            <a:solidFill>
              <a:srgbClr val="C8161E"/>
            </a:solidFill>
          </a:ln>
        </p:spPr>
      </p:sp>
      <p:sp>
        <p:nvSpPr>
          <p:cNvPr id="35" name="TextBox 35"/>
          <p:cNvSpPr txBox="1"/>
          <p:nvPr/>
        </p:nvSpPr>
        <p:spPr>
          <a:xfrm>
            <a:off x="8098155" y="4254818"/>
            <a:ext cx="2699523" cy="274320"/>
          </a:xfrm>
          <a:prstGeom prst="rect">
            <a:avLst/>
          </a:prstGeom>
          <a:noFill/>
          <a:ln>
            <a:noFill/>
          </a:ln>
        </p:spPr>
        <p:txBody>
          <a:bodyPr wrap="none" lIns="0" tIns="0" rIns="0" bIns="0" anchor="t" anchorCtr="0">
            <a:spAutoFit/>
          </a:bodyPr>
          <a:lstStyle/>
          <a:p>
            <a:pPr algn="l"/>
            <a:r>
              <a:rPr lang="zh-CN" sz="1350" b="1" dirty="0">
                <a:solidFill>
                  <a:srgbClr val="C8161E"/>
                </a:solidFill>
                <a:latin typeface="Arial"/>
                <a:ea typeface="Microsoft YaHei"/>
                <a:cs typeface="Arial"/>
              </a:rPr>
              <a:t>目标：让专家看见“为什么分歧”</a:t>
            </a:r>
          </a:p>
        </p:txBody>
      </p:sp>
      <p:sp>
        <p:nvSpPr>
          <p:cNvPr id="36" name="TextBox 36"/>
          <p:cNvSpPr txBox="1"/>
          <p:nvPr/>
        </p:nvSpPr>
        <p:spPr>
          <a:xfrm>
            <a:off x="8100060" y="4537710"/>
            <a:ext cx="227076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而不是只看一个难以解释的总分</a:t>
            </a:r>
          </a:p>
        </p:txBody>
      </p:sp>
      <p:sp>
        <p:nvSpPr>
          <p:cNvPr id="37" name="Rectangle 37"/>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8" name="TextBox 38"/>
          <p:cNvSpPr txBox="1"/>
          <p:nvPr/>
        </p:nvSpPr>
        <p:spPr>
          <a:xfrm>
            <a:off x="11415046" y="6554152"/>
            <a:ext cx="180689" cy="213360"/>
          </a:xfrm>
          <a:prstGeom prst="rect">
            <a:avLst/>
          </a:prstGeom>
          <a:noFill/>
          <a:ln>
            <a:noFill/>
          </a:ln>
        </p:spPr>
        <p:txBody>
          <a:bodyPr wrap="none" lIns="0" tIns="0" rIns="0" bIns="0" anchor="t" anchorCtr="0">
            <a:spAutoFit/>
          </a:bodyPr>
          <a:lstStyle/>
          <a:p>
            <a:pPr algn="r"/>
            <a:r>
              <a:rPr lang="zh-CN" sz="1050" dirty="0">
                <a:solidFill>
                  <a:srgbClr val="9AA3AE"/>
                </a:solidFill>
                <a:latin typeface="Arial"/>
                <a:ea typeface="Microsoft YaHei"/>
                <a:cs typeface="Arial"/>
              </a:rPr>
              <a:t>A2</a:t>
            </a:r>
          </a:p>
        </p:txBody>
      </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5512460"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A3：各维度收敛率详细分析</a:t>
            </a:r>
          </a:p>
        </p:txBody>
      </p:sp>
      <p:sp>
        <p:nvSpPr>
          <p:cNvPr id="7" name="TextBox 7"/>
          <p:cNvSpPr txBox="1"/>
          <p:nvPr/>
        </p:nvSpPr>
        <p:spPr>
          <a:xfrm>
            <a:off x="3738562" y="1473518"/>
            <a:ext cx="471487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客观性越强，模型越容易收敛；高阶创新判断保留专家空间</a:t>
            </a:r>
          </a:p>
        </p:txBody>
      </p:sp>
      <p:sp>
        <p:nvSpPr>
          <p:cNvPr id="8" name="Rectangle 8"/>
          <p:cNvSpPr/>
          <p:nvPr/>
        </p:nvSpPr>
        <p:spPr>
          <a:xfrm>
            <a:off x="857250" y="2095500"/>
            <a:ext cx="4953000" cy="3143250"/>
          </a:xfrm>
          <a:prstGeom prst="roundRect">
            <a:avLst>
              <a:gd name="adj" fmla="val 3636"/>
            </a:avLst>
          </a:prstGeom>
          <a:solidFill>
            <a:srgbClr val="FFFFFF"/>
          </a:solidFill>
          <a:ln w="9525">
            <a:solidFill>
              <a:srgbClr val="D9DEE5"/>
            </a:solidFill>
          </a:ln>
        </p:spPr>
      </p:sp>
      <p:sp>
        <p:nvSpPr>
          <p:cNvPr id="9" name="TextBox 9"/>
          <p:cNvSpPr txBox="1"/>
          <p:nvPr/>
        </p:nvSpPr>
        <p:spPr>
          <a:xfrm>
            <a:off x="1120140" y="2329815"/>
            <a:ext cx="1305878" cy="365760"/>
          </a:xfrm>
          <a:prstGeom prst="rect">
            <a:avLst/>
          </a:prstGeom>
          <a:noFill/>
          <a:ln>
            <a:noFill/>
          </a:ln>
        </p:spPr>
        <p:txBody>
          <a:bodyPr wrap="none" lIns="0" tIns="0" rIns="0" bIns="0" anchor="t" anchorCtr="0">
            <a:spAutoFit/>
          </a:bodyPr>
          <a:lstStyle/>
          <a:p>
            <a:pPr algn="l"/>
            <a:r>
              <a:rPr lang="zh-CN" sz="1800" b="1" dirty="0">
                <a:solidFill>
                  <a:srgbClr val="2E7D32"/>
                </a:solidFill>
                <a:latin typeface="Arial"/>
                <a:ea typeface="Microsoft YaHei"/>
                <a:cs typeface="Arial"/>
              </a:rPr>
              <a:t>高收敛维度</a:t>
            </a:r>
          </a:p>
        </p:txBody>
      </p:sp>
      <p:sp>
        <p:nvSpPr>
          <p:cNvPr id="10" name="TextBox 10"/>
          <p:cNvSpPr txBox="1"/>
          <p:nvPr/>
        </p:nvSpPr>
        <p:spPr>
          <a:xfrm>
            <a:off x="1123950" y="2838450"/>
            <a:ext cx="1788319"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逻辑连贯性：93.2%</a:t>
            </a:r>
          </a:p>
        </p:txBody>
      </p:sp>
      <p:sp>
        <p:nvSpPr>
          <p:cNvPr id="11" name="Rectangle 11"/>
          <p:cNvSpPr/>
          <p:nvPr/>
        </p:nvSpPr>
        <p:spPr>
          <a:xfrm>
            <a:off x="1143000" y="3162300"/>
            <a:ext cx="3619500" cy="152400"/>
          </a:xfrm>
          <a:prstGeom prst="roundRect">
            <a:avLst>
              <a:gd name="adj" fmla="val 50000"/>
            </a:avLst>
          </a:prstGeom>
          <a:solidFill>
            <a:srgbClr val="F4F5F7"/>
          </a:solidFill>
          <a:ln>
            <a:noFill/>
          </a:ln>
        </p:spPr>
      </p:sp>
      <p:sp>
        <p:nvSpPr>
          <p:cNvPr id="12" name="Rectangle 12"/>
          <p:cNvSpPr/>
          <p:nvPr/>
        </p:nvSpPr>
        <p:spPr>
          <a:xfrm>
            <a:off x="1143000" y="3162300"/>
            <a:ext cx="3371850" cy="152400"/>
          </a:xfrm>
          <a:prstGeom prst="roundRect">
            <a:avLst>
              <a:gd name="adj" fmla="val 50000"/>
            </a:avLst>
          </a:prstGeom>
          <a:solidFill>
            <a:srgbClr val="2E7D32"/>
          </a:solidFill>
          <a:ln>
            <a:noFill/>
          </a:ln>
        </p:spPr>
      </p:sp>
      <p:sp>
        <p:nvSpPr>
          <p:cNvPr id="13" name="TextBox 13"/>
          <p:cNvSpPr txBox="1"/>
          <p:nvPr/>
        </p:nvSpPr>
        <p:spPr>
          <a:xfrm>
            <a:off x="1125855" y="3569018"/>
            <a:ext cx="5074920"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原因：文本内部一致性、论证断裂、概念混用等线索较可观察。</a:t>
            </a:r>
          </a:p>
        </p:txBody>
      </p:sp>
      <p:sp>
        <p:nvSpPr>
          <p:cNvPr id="14" name="TextBox 14"/>
          <p:cNvSpPr txBox="1"/>
          <p:nvPr/>
        </p:nvSpPr>
        <p:spPr>
          <a:xfrm>
            <a:off x="1123950" y="4029075"/>
            <a:ext cx="1688306"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前瞻延展性：81.1%</a:t>
            </a:r>
          </a:p>
        </p:txBody>
      </p:sp>
      <p:sp>
        <p:nvSpPr>
          <p:cNvPr id="15" name="Rectangle 15"/>
          <p:cNvSpPr/>
          <p:nvPr/>
        </p:nvSpPr>
        <p:spPr>
          <a:xfrm>
            <a:off x="1143000" y="4352925"/>
            <a:ext cx="3619500" cy="152400"/>
          </a:xfrm>
          <a:prstGeom prst="roundRect">
            <a:avLst>
              <a:gd name="adj" fmla="val 50000"/>
            </a:avLst>
          </a:prstGeom>
          <a:solidFill>
            <a:srgbClr val="F4F5F7"/>
          </a:solidFill>
          <a:ln>
            <a:noFill/>
          </a:ln>
        </p:spPr>
      </p:sp>
      <p:sp>
        <p:nvSpPr>
          <p:cNvPr id="16" name="Rectangle 16"/>
          <p:cNvSpPr/>
          <p:nvPr/>
        </p:nvSpPr>
        <p:spPr>
          <a:xfrm>
            <a:off x="1143000" y="4352925"/>
            <a:ext cx="2933700" cy="152400"/>
          </a:xfrm>
          <a:prstGeom prst="roundRect">
            <a:avLst>
              <a:gd name="adj" fmla="val 50000"/>
            </a:avLst>
          </a:prstGeom>
          <a:solidFill>
            <a:srgbClr val="1F4D78"/>
          </a:solidFill>
          <a:ln>
            <a:noFill/>
          </a:ln>
        </p:spPr>
      </p:sp>
      <p:sp>
        <p:nvSpPr>
          <p:cNvPr id="17" name="Rectangle 17"/>
          <p:cNvSpPr/>
          <p:nvPr/>
        </p:nvSpPr>
        <p:spPr>
          <a:xfrm>
            <a:off x="6381750" y="2095500"/>
            <a:ext cx="4953000" cy="3143250"/>
          </a:xfrm>
          <a:prstGeom prst="roundRect">
            <a:avLst>
              <a:gd name="adj" fmla="val 3636"/>
            </a:avLst>
          </a:prstGeom>
          <a:solidFill>
            <a:srgbClr val="FFFFFF"/>
          </a:solidFill>
          <a:ln w="9525">
            <a:solidFill>
              <a:srgbClr val="D9DEE5"/>
            </a:solidFill>
          </a:ln>
        </p:spPr>
      </p:sp>
      <p:sp>
        <p:nvSpPr>
          <p:cNvPr id="18" name="TextBox 18"/>
          <p:cNvSpPr txBox="1"/>
          <p:nvPr/>
        </p:nvSpPr>
        <p:spPr>
          <a:xfrm>
            <a:off x="6644640" y="2329815"/>
            <a:ext cx="1305878" cy="365760"/>
          </a:xfrm>
          <a:prstGeom prst="rect">
            <a:avLst/>
          </a:prstGeom>
          <a:noFill/>
          <a:ln>
            <a:noFill/>
          </a:ln>
        </p:spPr>
        <p:txBody>
          <a:bodyPr wrap="none" lIns="0" tIns="0" rIns="0" bIns="0" anchor="t" anchorCtr="0">
            <a:spAutoFit/>
          </a:bodyPr>
          <a:lstStyle/>
          <a:p>
            <a:pPr algn="l"/>
            <a:r>
              <a:rPr lang="zh-CN" sz="1800" b="1" dirty="0">
                <a:solidFill>
                  <a:srgbClr val="E07B00"/>
                </a:solidFill>
                <a:latin typeface="Arial"/>
                <a:ea typeface="Microsoft YaHei"/>
                <a:cs typeface="Arial"/>
              </a:rPr>
              <a:t>低收敛维度</a:t>
            </a:r>
          </a:p>
        </p:txBody>
      </p:sp>
      <p:sp>
        <p:nvSpPr>
          <p:cNvPr id="19" name="TextBox 19"/>
          <p:cNvSpPr txBox="1"/>
          <p:nvPr/>
        </p:nvSpPr>
        <p:spPr>
          <a:xfrm>
            <a:off x="6648450" y="2838450"/>
            <a:ext cx="1788319"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研究创新性：44.8%</a:t>
            </a:r>
          </a:p>
        </p:txBody>
      </p:sp>
      <p:sp>
        <p:nvSpPr>
          <p:cNvPr id="20" name="Rectangle 20"/>
          <p:cNvSpPr/>
          <p:nvPr/>
        </p:nvSpPr>
        <p:spPr>
          <a:xfrm>
            <a:off x="6667500" y="3162300"/>
            <a:ext cx="3619500" cy="152400"/>
          </a:xfrm>
          <a:prstGeom prst="roundRect">
            <a:avLst>
              <a:gd name="adj" fmla="val 50000"/>
            </a:avLst>
          </a:prstGeom>
          <a:solidFill>
            <a:srgbClr val="F4F5F7"/>
          </a:solidFill>
          <a:ln>
            <a:noFill/>
          </a:ln>
        </p:spPr>
      </p:sp>
      <p:sp>
        <p:nvSpPr>
          <p:cNvPr id="21" name="Rectangle 21"/>
          <p:cNvSpPr/>
          <p:nvPr/>
        </p:nvSpPr>
        <p:spPr>
          <a:xfrm>
            <a:off x="6667500" y="3162300"/>
            <a:ext cx="1619250" cy="152400"/>
          </a:xfrm>
          <a:prstGeom prst="roundRect">
            <a:avLst>
              <a:gd name="adj" fmla="val 50000"/>
            </a:avLst>
          </a:prstGeom>
          <a:solidFill>
            <a:srgbClr val="E07B00"/>
          </a:solidFill>
          <a:ln>
            <a:noFill/>
          </a:ln>
        </p:spPr>
      </p:sp>
      <p:sp>
        <p:nvSpPr>
          <p:cNvPr id="22" name="TextBox 22"/>
          <p:cNvSpPr txBox="1"/>
          <p:nvPr/>
        </p:nvSpPr>
        <p:spPr>
          <a:xfrm>
            <a:off x="6650355" y="3569018"/>
            <a:ext cx="5092922"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原因：是否“真正提出可争辩理论问题”本身存在学术判断差异。</a:t>
            </a:r>
          </a:p>
        </p:txBody>
      </p:sp>
      <p:sp>
        <p:nvSpPr>
          <p:cNvPr id="23" name="TextBox 23"/>
          <p:cNvSpPr txBox="1"/>
          <p:nvPr/>
        </p:nvSpPr>
        <p:spPr>
          <a:xfrm>
            <a:off x="6648450" y="4029075"/>
            <a:ext cx="1788319"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理论建构力：56.0%</a:t>
            </a:r>
          </a:p>
        </p:txBody>
      </p:sp>
      <p:sp>
        <p:nvSpPr>
          <p:cNvPr id="24" name="Rectangle 24"/>
          <p:cNvSpPr/>
          <p:nvPr/>
        </p:nvSpPr>
        <p:spPr>
          <a:xfrm>
            <a:off x="6667500" y="4352925"/>
            <a:ext cx="3619500" cy="152400"/>
          </a:xfrm>
          <a:prstGeom prst="roundRect">
            <a:avLst>
              <a:gd name="adj" fmla="val 50000"/>
            </a:avLst>
          </a:prstGeom>
          <a:solidFill>
            <a:srgbClr val="F4F5F7"/>
          </a:solidFill>
          <a:ln>
            <a:noFill/>
          </a:ln>
        </p:spPr>
      </p:sp>
      <p:sp>
        <p:nvSpPr>
          <p:cNvPr id="25" name="Rectangle 25"/>
          <p:cNvSpPr/>
          <p:nvPr/>
        </p:nvSpPr>
        <p:spPr>
          <a:xfrm>
            <a:off x="6667500" y="4352925"/>
            <a:ext cx="2028825" cy="152400"/>
          </a:xfrm>
          <a:prstGeom prst="roundRect">
            <a:avLst>
              <a:gd name="adj" fmla="val 50000"/>
            </a:avLst>
          </a:prstGeom>
          <a:solidFill>
            <a:srgbClr val="C8161E"/>
          </a:solidFill>
          <a:ln>
            <a:noFill/>
          </a:ln>
        </p:spPr>
      </p:sp>
      <p:sp>
        <p:nvSpPr>
          <p:cNvPr id="26" name="TextBox 26"/>
          <p:cNvSpPr txBox="1"/>
          <p:nvPr/>
        </p:nvSpPr>
        <p:spPr>
          <a:xfrm>
            <a:off x="3451622" y="5743575"/>
            <a:ext cx="5288756" cy="304800"/>
          </a:xfrm>
          <a:prstGeom prst="rect">
            <a:avLst/>
          </a:prstGeom>
          <a:noFill/>
          <a:ln>
            <a:noFill/>
          </a:ln>
        </p:spPr>
        <p:txBody>
          <a:bodyPr wrap="none" lIns="0" tIns="0" rIns="0" bIns="0" anchor="t" anchorCtr="0">
            <a:spAutoFit/>
          </a:bodyPr>
          <a:lstStyle/>
          <a:p>
            <a:pPr algn="ctr"/>
            <a:r>
              <a:rPr lang="zh-CN" sz="1500" b="1" dirty="0">
                <a:solidFill>
                  <a:srgbClr val="1F4D78"/>
                </a:solidFill>
                <a:latin typeface="Arial"/>
                <a:ea typeface="Microsoft YaHei"/>
                <a:cs typeface="Arial"/>
              </a:rPr>
              <a:t>结论：不把所有分歧压成均值，未收敛维度进入专家终审</a:t>
            </a:r>
          </a:p>
        </p:txBody>
      </p:sp>
      <p:sp>
        <p:nvSpPr>
          <p:cNvPr id="27" name="Rectangle 27"/>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28" name="TextBox 28"/>
          <p:cNvSpPr txBox="1"/>
          <p:nvPr/>
        </p:nvSpPr>
        <p:spPr>
          <a:xfrm>
            <a:off x="11415046" y="6554152"/>
            <a:ext cx="180689" cy="213360"/>
          </a:xfrm>
          <a:prstGeom prst="rect">
            <a:avLst/>
          </a:prstGeom>
          <a:noFill/>
          <a:ln>
            <a:noFill/>
          </a:ln>
        </p:spPr>
        <p:txBody>
          <a:bodyPr wrap="none" lIns="0" tIns="0" rIns="0" bIns="0" anchor="t" anchorCtr="0">
            <a:spAutoFit/>
          </a:bodyPr>
          <a:lstStyle/>
          <a:p>
            <a:pPr algn="r"/>
            <a:r>
              <a:rPr lang="zh-CN" sz="1050" dirty="0">
                <a:solidFill>
                  <a:srgbClr val="9AA3AE"/>
                </a:solidFill>
                <a:latin typeface="Arial"/>
                <a:ea typeface="Microsoft YaHei"/>
                <a:cs typeface="Arial"/>
              </a:rPr>
              <a:t>A3</a:t>
            </a:r>
          </a:p>
        </p:txBody>
      </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4756366"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A4：与人工评审的对比</a:t>
            </a:r>
          </a:p>
        </p:txBody>
      </p:sp>
      <p:sp>
        <p:nvSpPr>
          <p:cNvPr id="7" name="TextBox 7"/>
          <p:cNvSpPr txBox="1"/>
          <p:nvPr/>
        </p:nvSpPr>
        <p:spPr>
          <a:xfrm>
            <a:off x="3815072" y="1473518"/>
            <a:ext cx="4561856"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AI 辅助系统解决规模化初筛问题，专家保留最终学术裁断</a:t>
            </a:r>
          </a:p>
        </p:txBody>
      </p:sp>
      <p:sp>
        <p:nvSpPr>
          <p:cNvPr id="8" name="Rectangle 8"/>
          <p:cNvSpPr/>
          <p:nvPr/>
        </p:nvSpPr>
        <p:spPr>
          <a:xfrm>
            <a:off x="914400" y="2095500"/>
            <a:ext cx="4762500" cy="3048000"/>
          </a:xfrm>
          <a:prstGeom prst="roundRect">
            <a:avLst>
              <a:gd name="adj" fmla="val 3750"/>
            </a:avLst>
          </a:prstGeom>
          <a:solidFill>
            <a:srgbClr val="F4F5F7"/>
          </a:solidFill>
          <a:ln w="9525">
            <a:solidFill>
              <a:srgbClr val="D9DEE5"/>
            </a:solidFill>
          </a:ln>
        </p:spPr>
      </p:sp>
      <p:sp>
        <p:nvSpPr>
          <p:cNvPr id="9" name="TextBox 9"/>
          <p:cNvSpPr txBox="1"/>
          <p:nvPr/>
        </p:nvSpPr>
        <p:spPr>
          <a:xfrm>
            <a:off x="1194435" y="2342198"/>
            <a:ext cx="1687735" cy="396240"/>
          </a:xfrm>
          <a:prstGeom prst="rect">
            <a:avLst/>
          </a:prstGeom>
          <a:noFill/>
          <a:ln>
            <a:noFill/>
          </a:ln>
        </p:spPr>
        <p:txBody>
          <a:bodyPr wrap="none" lIns="0" tIns="0" rIns="0" bIns="0" anchor="t" anchorCtr="0">
            <a:spAutoFit/>
          </a:bodyPr>
          <a:lstStyle/>
          <a:p>
            <a:pPr algn="l"/>
            <a:r>
              <a:rPr lang="zh-CN" sz="1950" b="1" dirty="0">
                <a:solidFill>
                  <a:srgbClr val="C8161E"/>
                </a:solidFill>
                <a:latin typeface="Arial"/>
                <a:ea typeface="Microsoft YaHei"/>
                <a:cs typeface="Arial"/>
              </a:rPr>
              <a:t>传统人工评审</a:t>
            </a:r>
          </a:p>
        </p:txBody>
      </p:sp>
      <p:sp>
        <p:nvSpPr>
          <p:cNvPr id="10" name="TextBox 10"/>
          <p:cNvSpPr txBox="1"/>
          <p:nvPr/>
        </p:nvSpPr>
        <p:spPr>
          <a:xfrm>
            <a:off x="1200150" y="2905125"/>
            <a:ext cx="3438525"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优势：学术经验深、能判断真实首创性</a:t>
            </a:r>
          </a:p>
        </p:txBody>
      </p:sp>
      <p:sp>
        <p:nvSpPr>
          <p:cNvPr id="11" name="TextBox 11"/>
          <p:cNvSpPr txBox="1"/>
          <p:nvPr/>
        </p:nvSpPr>
        <p:spPr>
          <a:xfrm>
            <a:off x="1200150" y="3314700"/>
            <a:ext cx="4148614"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限制：周期长、尺度差异大、难以覆盖 1920 篇</a:t>
            </a:r>
          </a:p>
        </p:txBody>
      </p:sp>
      <p:sp>
        <p:nvSpPr>
          <p:cNvPr id="12" name="TextBox 12"/>
          <p:cNvSpPr txBox="1"/>
          <p:nvPr/>
        </p:nvSpPr>
        <p:spPr>
          <a:xfrm>
            <a:off x="1202055" y="3950018"/>
            <a:ext cx="3094673"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适合承担：终审、价值判断、争议裁断</a:t>
            </a:r>
          </a:p>
        </p:txBody>
      </p:sp>
      <p:sp>
        <p:nvSpPr>
          <p:cNvPr id="13" name="Rectangle 13"/>
          <p:cNvSpPr/>
          <p:nvPr/>
        </p:nvSpPr>
        <p:spPr>
          <a:xfrm>
            <a:off x="6515100" y="2095500"/>
            <a:ext cx="4762500" cy="3048000"/>
          </a:xfrm>
          <a:prstGeom prst="roundRect">
            <a:avLst>
              <a:gd name="adj" fmla="val 3750"/>
            </a:avLst>
          </a:prstGeom>
          <a:solidFill>
            <a:srgbClr val="FFFFFF"/>
          </a:solidFill>
          <a:ln w="9525">
            <a:solidFill>
              <a:srgbClr val="D9DEE5"/>
            </a:solidFill>
          </a:ln>
        </p:spPr>
      </p:sp>
      <p:sp>
        <p:nvSpPr>
          <p:cNvPr id="14" name="TextBox 14"/>
          <p:cNvSpPr txBox="1"/>
          <p:nvPr/>
        </p:nvSpPr>
        <p:spPr>
          <a:xfrm>
            <a:off x="6795135" y="2342198"/>
            <a:ext cx="1455656"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AI 辅助评价</a:t>
            </a:r>
          </a:p>
        </p:txBody>
      </p:sp>
      <p:sp>
        <p:nvSpPr>
          <p:cNvPr id="15" name="TextBox 15"/>
          <p:cNvSpPr txBox="1"/>
          <p:nvPr/>
        </p:nvSpPr>
        <p:spPr>
          <a:xfrm>
            <a:off x="6800850" y="2905125"/>
            <a:ext cx="3838575"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优势：可规模化、可复现、能暴露模型分歧</a:t>
            </a:r>
          </a:p>
        </p:txBody>
      </p:sp>
      <p:sp>
        <p:nvSpPr>
          <p:cNvPr id="16" name="TextBox 16"/>
          <p:cNvSpPr txBox="1"/>
          <p:nvPr/>
        </p:nvSpPr>
        <p:spPr>
          <a:xfrm>
            <a:off x="6800850" y="3314700"/>
            <a:ext cx="3838575" cy="304800"/>
          </a:xfrm>
          <a:prstGeom prst="rect">
            <a:avLst/>
          </a:prstGeom>
          <a:noFill/>
          <a:ln>
            <a:noFill/>
          </a:ln>
        </p:spPr>
        <p:txBody>
          <a:bodyPr wrap="none" lIns="0" tIns="0" rIns="0" bIns="0" anchor="t" anchorCtr="0">
            <a:spAutoFit/>
          </a:bodyPr>
          <a:lstStyle/>
          <a:p>
            <a:pPr algn="l"/>
            <a:r>
              <a:rPr lang="zh-CN" sz="1500" dirty="0">
                <a:solidFill>
                  <a:srgbClr val="1B1C21"/>
                </a:solidFill>
                <a:latin typeface="Arial"/>
                <a:ea typeface="Microsoft YaHei"/>
                <a:cs typeface="Arial"/>
              </a:rPr>
              <a:t>限制：不替代专家判断，不裁定真正首创性</a:t>
            </a:r>
          </a:p>
        </p:txBody>
      </p:sp>
      <p:sp>
        <p:nvSpPr>
          <p:cNvPr id="17" name="TextBox 17"/>
          <p:cNvSpPr txBox="1"/>
          <p:nvPr/>
        </p:nvSpPr>
        <p:spPr>
          <a:xfrm>
            <a:off x="6802755" y="3950018"/>
            <a:ext cx="3094673" cy="274320"/>
          </a:xfrm>
          <a:prstGeom prst="rect">
            <a:avLst/>
          </a:prstGeom>
          <a:noFill/>
          <a:ln>
            <a:noFill/>
          </a:ln>
        </p:spPr>
        <p:txBody>
          <a:bodyPr wrap="none" lIns="0" tIns="0" rIns="0" bIns="0" anchor="t" anchorCtr="0">
            <a:spAutoFit/>
          </a:bodyPr>
          <a:lstStyle/>
          <a:p>
            <a:pPr algn="l"/>
            <a:r>
              <a:rPr lang="zh-CN" sz="1350" dirty="0">
                <a:solidFill>
                  <a:srgbClr val="5A6472"/>
                </a:solidFill>
                <a:latin typeface="Arial"/>
                <a:ea typeface="Microsoft YaHei"/>
                <a:cs typeface="Arial"/>
              </a:rPr>
              <a:t>适合承担：初筛、证据整理、分歧定位</a:t>
            </a:r>
          </a:p>
        </p:txBody>
      </p:sp>
      <p:sp>
        <p:nvSpPr>
          <p:cNvPr id="18" name="Rectangle 18"/>
          <p:cNvSpPr/>
          <p:nvPr/>
        </p:nvSpPr>
        <p:spPr>
          <a:xfrm>
            <a:off x="2476500" y="5572125"/>
            <a:ext cx="7239000" cy="514350"/>
          </a:xfrm>
          <a:prstGeom prst="roundRect">
            <a:avLst>
              <a:gd name="adj" fmla="val 50000"/>
            </a:avLst>
          </a:prstGeom>
          <a:solidFill>
            <a:srgbClr val="1F4D78"/>
          </a:solidFill>
          <a:ln>
            <a:noFill/>
          </a:ln>
        </p:spPr>
      </p:sp>
      <p:sp>
        <p:nvSpPr>
          <p:cNvPr id="19" name="TextBox 19"/>
          <p:cNvSpPr txBox="1"/>
          <p:nvPr/>
        </p:nvSpPr>
        <p:spPr>
          <a:xfrm>
            <a:off x="3152530" y="5727382"/>
            <a:ext cx="5886941"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推荐机制：AI 初筛 + 专家终审，评分与专家意见并列留痕</a:t>
            </a:r>
          </a:p>
        </p:txBody>
      </p:sp>
      <p:sp>
        <p:nvSpPr>
          <p:cNvPr id="20" name="Rectangle 20"/>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21" name="TextBox 21"/>
          <p:cNvSpPr txBox="1"/>
          <p:nvPr/>
        </p:nvSpPr>
        <p:spPr>
          <a:xfrm>
            <a:off x="11415046" y="6554152"/>
            <a:ext cx="180689" cy="213360"/>
          </a:xfrm>
          <a:prstGeom prst="rect">
            <a:avLst/>
          </a:prstGeom>
          <a:noFill/>
          <a:ln>
            <a:noFill/>
          </a:ln>
        </p:spPr>
        <p:txBody>
          <a:bodyPr wrap="none" lIns="0" tIns="0" rIns="0" bIns="0" anchor="t" anchorCtr="0">
            <a:spAutoFit/>
          </a:bodyPr>
          <a:lstStyle/>
          <a:p>
            <a:pPr algn="r"/>
            <a:r>
              <a:rPr lang="zh-CN" sz="1050" dirty="0">
                <a:solidFill>
                  <a:srgbClr val="9AA3AE"/>
                </a:solidFill>
                <a:latin typeface="Arial"/>
                <a:ea typeface="Microsoft YaHei"/>
                <a:cs typeface="Arial"/>
              </a:rPr>
              <a:t>A4</a:t>
            </a:r>
          </a:p>
        </p:txBody>
      </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5890508"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A5：补充负样本专家意见摘录</a:t>
            </a:r>
          </a:p>
        </p:txBody>
      </p:sp>
      <p:sp>
        <p:nvSpPr>
          <p:cNvPr id="7" name="TextBox 7"/>
          <p:cNvSpPr txBox="1"/>
          <p:nvPr/>
        </p:nvSpPr>
        <p:spPr>
          <a:xfrm>
            <a:off x="3459528" y="1473518"/>
            <a:ext cx="527294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负样本用于验证框架是否能识别“形式合规但学术贡献不足”的论文</a:t>
            </a:r>
          </a:p>
        </p:txBody>
      </p:sp>
      <p:sp>
        <p:nvSpPr>
          <p:cNvPr id="8" name="Rectangle 8"/>
          <p:cNvSpPr/>
          <p:nvPr/>
        </p:nvSpPr>
        <p:spPr>
          <a:xfrm>
            <a:off x="762000" y="2095500"/>
            <a:ext cx="3333750" cy="2857500"/>
          </a:xfrm>
          <a:prstGeom prst="roundRect">
            <a:avLst>
              <a:gd name="adj" fmla="val 4000"/>
            </a:avLst>
          </a:prstGeom>
          <a:solidFill>
            <a:srgbClr val="F4F5F7"/>
          </a:solidFill>
          <a:ln w="9525">
            <a:solidFill>
              <a:srgbClr val="D9DEE5"/>
            </a:solidFill>
          </a:ln>
        </p:spPr>
      </p:sp>
      <p:sp>
        <p:nvSpPr>
          <p:cNvPr id="9" name="TextBox 9"/>
          <p:cNvSpPr txBox="1"/>
          <p:nvPr/>
        </p:nvSpPr>
        <p:spPr>
          <a:xfrm>
            <a:off x="1026795" y="2317432"/>
            <a:ext cx="2352199"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意见类型一：洞察不足</a:t>
            </a:r>
          </a:p>
        </p:txBody>
      </p:sp>
      <p:sp>
        <p:nvSpPr>
          <p:cNvPr id="10" name="TextBox 10"/>
          <p:cNvSpPr txBox="1"/>
          <p:nvPr/>
        </p:nvSpPr>
        <p:spPr>
          <a:xfrm>
            <a:off x="1030605" y="2807018"/>
            <a:ext cx="2572607"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“仅罗列现象，未揭示制度逻辑”</a:t>
            </a:r>
          </a:p>
        </p:txBody>
      </p:sp>
      <p:sp>
        <p:nvSpPr>
          <p:cNvPr id="11" name="TextBox 11"/>
          <p:cNvSpPr txBox="1"/>
          <p:nvPr/>
        </p:nvSpPr>
        <p:spPr>
          <a:xfrm>
            <a:off x="1031558" y="3291364"/>
            <a:ext cx="1732598" cy="259080"/>
          </a:xfrm>
          <a:prstGeom prst="rect">
            <a:avLst/>
          </a:prstGeom>
          <a:noFill/>
          <a:ln>
            <a:noFill/>
          </a:ln>
        </p:spPr>
        <p:txBody>
          <a:bodyPr wrap="none" lIns="0" tIns="0" rIns="0" bIns="0" anchor="t" anchorCtr="0">
            <a:spAutoFit/>
          </a:bodyPr>
          <a:lstStyle/>
          <a:p>
            <a:pPr algn="l"/>
            <a:r>
              <a:rPr lang="zh-CN" sz="1275" dirty="0">
                <a:solidFill>
                  <a:srgbClr val="5A6472"/>
                </a:solidFill>
                <a:latin typeface="Arial"/>
                <a:ea typeface="Microsoft YaHei"/>
                <a:cs typeface="Arial"/>
              </a:rPr>
              <a:t>对应维度：现状洞察度</a:t>
            </a:r>
          </a:p>
        </p:txBody>
      </p:sp>
      <p:sp>
        <p:nvSpPr>
          <p:cNvPr id="12" name="TextBox 12"/>
          <p:cNvSpPr txBox="1"/>
          <p:nvPr/>
        </p:nvSpPr>
        <p:spPr>
          <a:xfrm>
            <a:off x="1031558" y="3624739"/>
            <a:ext cx="2948249" cy="259080"/>
          </a:xfrm>
          <a:prstGeom prst="rect">
            <a:avLst/>
          </a:prstGeom>
          <a:noFill/>
          <a:ln>
            <a:noFill/>
          </a:ln>
        </p:spPr>
        <p:txBody>
          <a:bodyPr wrap="none" lIns="0" tIns="0" rIns="0" bIns="0" anchor="t" anchorCtr="0">
            <a:spAutoFit/>
          </a:bodyPr>
          <a:lstStyle/>
          <a:p>
            <a:pPr algn="l"/>
            <a:r>
              <a:rPr lang="zh-CN" sz="1275" dirty="0">
                <a:solidFill>
                  <a:srgbClr val="5A6472"/>
                </a:solidFill>
                <a:latin typeface="Arial"/>
                <a:ea typeface="Microsoft YaHei"/>
                <a:cs typeface="Arial"/>
              </a:rPr>
              <a:t>AI 处理：要求定位问题背后的规范结构</a:t>
            </a:r>
          </a:p>
        </p:txBody>
      </p:sp>
      <p:sp>
        <p:nvSpPr>
          <p:cNvPr id="13" name="Rectangle 13"/>
          <p:cNvSpPr/>
          <p:nvPr/>
        </p:nvSpPr>
        <p:spPr>
          <a:xfrm>
            <a:off x="4429125" y="2095500"/>
            <a:ext cx="3333750" cy="2857500"/>
          </a:xfrm>
          <a:prstGeom prst="roundRect">
            <a:avLst>
              <a:gd name="adj" fmla="val 4000"/>
            </a:avLst>
          </a:prstGeom>
          <a:solidFill>
            <a:srgbClr val="FFFFFF"/>
          </a:solidFill>
          <a:ln w="9525">
            <a:solidFill>
              <a:srgbClr val="D9DEE5"/>
            </a:solidFill>
          </a:ln>
        </p:spPr>
      </p:sp>
      <p:sp>
        <p:nvSpPr>
          <p:cNvPr id="14" name="TextBox 14"/>
          <p:cNvSpPr txBox="1"/>
          <p:nvPr/>
        </p:nvSpPr>
        <p:spPr>
          <a:xfrm>
            <a:off x="4693920" y="2317432"/>
            <a:ext cx="2352199"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意见类型二：框架不足</a:t>
            </a:r>
          </a:p>
        </p:txBody>
      </p:sp>
      <p:sp>
        <p:nvSpPr>
          <p:cNvPr id="15" name="TextBox 15"/>
          <p:cNvSpPr txBox="1"/>
          <p:nvPr/>
        </p:nvSpPr>
        <p:spPr>
          <a:xfrm>
            <a:off x="4697730" y="2807018"/>
            <a:ext cx="203254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“分析框架缺乏可操作性”</a:t>
            </a:r>
          </a:p>
        </p:txBody>
      </p:sp>
      <p:sp>
        <p:nvSpPr>
          <p:cNvPr id="16" name="TextBox 16"/>
          <p:cNvSpPr txBox="1"/>
          <p:nvPr/>
        </p:nvSpPr>
        <p:spPr>
          <a:xfrm>
            <a:off x="4698682" y="3291364"/>
            <a:ext cx="1732598" cy="259080"/>
          </a:xfrm>
          <a:prstGeom prst="rect">
            <a:avLst/>
          </a:prstGeom>
          <a:noFill/>
          <a:ln>
            <a:noFill/>
          </a:ln>
        </p:spPr>
        <p:txBody>
          <a:bodyPr wrap="none" lIns="0" tIns="0" rIns="0" bIns="0" anchor="t" anchorCtr="0">
            <a:spAutoFit/>
          </a:bodyPr>
          <a:lstStyle/>
          <a:p>
            <a:pPr algn="l"/>
            <a:r>
              <a:rPr lang="zh-CN" sz="1275" dirty="0">
                <a:solidFill>
                  <a:srgbClr val="5A6472"/>
                </a:solidFill>
                <a:latin typeface="Arial"/>
                <a:ea typeface="Microsoft YaHei"/>
                <a:cs typeface="Arial"/>
              </a:rPr>
              <a:t>对应维度：理论建构力</a:t>
            </a:r>
          </a:p>
        </p:txBody>
      </p:sp>
      <p:sp>
        <p:nvSpPr>
          <p:cNvPr id="17" name="TextBox 17"/>
          <p:cNvSpPr txBox="1"/>
          <p:nvPr/>
        </p:nvSpPr>
        <p:spPr>
          <a:xfrm>
            <a:off x="4698682" y="3624739"/>
            <a:ext cx="3458313" cy="259080"/>
          </a:xfrm>
          <a:prstGeom prst="rect">
            <a:avLst/>
          </a:prstGeom>
          <a:noFill/>
          <a:ln>
            <a:noFill/>
          </a:ln>
        </p:spPr>
        <p:txBody>
          <a:bodyPr wrap="none" lIns="0" tIns="0" rIns="0" bIns="0" anchor="t" anchorCtr="0">
            <a:spAutoFit/>
          </a:bodyPr>
          <a:lstStyle/>
          <a:p>
            <a:pPr algn="l"/>
            <a:r>
              <a:rPr lang="zh-CN" sz="1275" dirty="0">
                <a:solidFill>
                  <a:srgbClr val="5A6472"/>
                </a:solidFill>
                <a:latin typeface="Arial"/>
                <a:ea typeface="Microsoft YaHei"/>
                <a:cs typeface="Arial"/>
              </a:rPr>
              <a:t>AI 处理：检查概念、命题、推理链是否可复核</a:t>
            </a:r>
          </a:p>
        </p:txBody>
      </p:sp>
      <p:sp>
        <p:nvSpPr>
          <p:cNvPr id="18" name="Rectangle 18"/>
          <p:cNvSpPr/>
          <p:nvPr/>
        </p:nvSpPr>
        <p:spPr>
          <a:xfrm>
            <a:off x="8096250" y="2095500"/>
            <a:ext cx="3333750" cy="2857500"/>
          </a:xfrm>
          <a:prstGeom prst="roundRect">
            <a:avLst>
              <a:gd name="adj" fmla="val 4000"/>
            </a:avLst>
          </a:prstGeom>
          <a:solidFill>
            <a:srgbClr val="FFFFFF"/>
          </a:solidFill>
          <a:ln w="9525">
            <a:solidFill>
              <a:srgbClr val="D9DEE5"/>
            </a:solidFill>
          </a:ln>
        </p:spPr>
      </p:sp>
      <p:sp>
        <p:nvSpPr>
          <p:cNvPr id="19" name="TextBox 19"/>
          <p:cNvSpPr txBox="1"/>
          <p:nvPr/>
        </p:nvSpPr>
        <p:spPr>
          <a:xfrm>
            <a:off x="8361045" y="2317432"/>
            <a:ext cx="2352199" cy="335280"/>
          </a:xfrm>
          <a:prstGeom prst="rect">
            <a:avLst/>
          </a:prstGeom>
          <a:noFill/>
          <a:ln>
            <a:noFill/>
          </a:ln>
        </p:spPr>
        <p:txBody>
          <a:bodyPr wrap="none" lIns="0" tIns="0" rIns="0" bIns="0" anchor="t" anchorCtr="0">
            <a:spAutoFit/>
          </a:bodyPr>
          <a:lstStyle/>
          <a:p>
            <a:pPr algn="l"/>
            <a:r>
              <a:rPr lang="zh-CN" sz="1650" b="1" dirty="0">
                <a:solidFill>
                  <a:srgbClr val="E07B00"/>
                </a:solidFill>
                <a:latin typeface="Arial"/>
                <a:ea typeface="Microsoft YaHei"/>
                <a:cs typeface="Arial"/>
              </a:rPr>
              <a:t>意见类型三：结论先行</a:t>
            </a:r>
          </a:p>
        </p:txBody>
      </p:sp>
      <p:sp>
        <p:nvSpPr>
          <p:cNvPr id="20" name="TextBox 20"/>
          <p:cNvSpPr txBox="1"/>
          <p:nvPr/>
        </p:nvSpPr>
        <p:spPr>
          <a:xfrm>
            <a:off x="8364855" y="2807018"/>
            <a:ext cx="203254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“政策宣示替代学术论证”</a:t>
            </a:r>
          </a:p>
        </p:txBody>
      </p:sp>
      <p:sp>
        <p:nvSpPr>
          <p:cNvPr id="21" name="TextBox 21"/>
          <p:cNvSpPr txBox="1"/>
          <p:nvPr/>
        </p:nvSpPr>
        <p:spPr>
          <a:xfrm>
            <a:off x="8365808" y="3291364"/>
            <a:ext cx="2608207" cy="259080"/>
          </a:xfrm>
          <a:prstGeom prst="rect">
            <a:avLst/>
          </a:prstGeom>
          <a:noFill/>
          <a:ln>
            <a:noFill/>
          </a:ln>
        </p:spPr>
        <p:txBody>
          <a:bodyPr wrap="none" lIns="0" tIns="0" rIns="0" bIns="0" anchor="t" anchorCtr="0">
            <a:spAutoFit/>
          </a:bodyPr>
          <a:lstStyle/>
          <a:p>
            <a:pPr algn="l"/>
            <a:r>
              <a:rPr lang="zh-CN" sz="1275" dirty="0">
                <a:solidFill>
                  <a:srgbClr val="5A6472"/>
                </a:solidFill>
                <a:latin typeface="Arial"/>
                <a:ea typeface="Microsoft YaHei"/>
                <a:cs typeface="Arial"/>
              </a:rPr>
              <a:t>对应维度：学术共识度 / 预检口径</a:t>
            </a:r>
          </a:p>
        </p:txBody>
      </p:sp>
      <p:sp>
        <p:nvSpPr>
          <p:cNvPr id="22" name="TextBox 22"/>
          <p:cNvSpPr txBox="1"/>
          <p:nvPr/>
        </p:nvSpPr>
        <p:spPr>
          <a:xfrm>
            <a:off x="8365808" y="3624739"/>
            <a:ext cx="2608207" cy="259080"/>
          </a:xfrm>
          <a:prstGeom prst="rect">
            <a:avLst/>
          </a:prstGeom>
          <a:noFill/>
          <a:ln>
            <a:noFill/>
          </a:ln>
        </p:spPr>
        <p:txBody>
          <a:bodyPr wrap="none" lIns="0" tIns="0" rIns="0" bIns="0" anchor="t" anchorCtr="0">
            <a:spAutoFit/>
          </a:bodyPr>
          <a:lstStyle/>
          <a:p>
            <a:pPr algn="l"/>
            <a:r>
              <a:rPr lang="zh-CN" sz="1275" dirty="0">
                <a:solidFill>
                  <a:srgbClr val="5A6472"/>
                </a:solidFill>
                <a:latin typeface="Arial"/>
                <a:ea typeface="Microsoft YaHei"/>
                <a:cs typeface="Arial"/>
              </a:rPr>
              <a:t>AI 处理：区分政策阐释与法学研究</a:t>
            </a:r>
          </a:p>
        </p:txBody>
      </p:sp>
      <p:sp>
        <p:nvSpPr>
          <p:cNvPr id="23" name="TextBox 23"/>
          <p:cNvSpPr txBox="1"/>
          <p:nvPr/>
        </p:nvSpPr>
        <p:spPr>
          <a:xfrm>
            <a:off x="3187184" y="5536882"/>
            <a:ext cx="5817632"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验证结果：正样本不被误伤，部分负样本被有效拉开分差</a:t>
            </a:r>
          </a:p>
        </p:txBody>
      </p:sp>
      <p:sp>
        <p:nvSpPr>
          <p:cNvPr id="24" name="TextBox 24"/>
          <p:cNvSpPr txBox="1"/>
          <p:nvPr/>
        </p:nvSpPr>
        <p:spPr>
          <a:xfrm>
            <a:off x="4139113" y="5902642"/>
            <a:ext cx="391377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v2.50.2：有效识别负样本与正样本差距约 22 分</a:t>
            </a:r>
          </a:p>
        </p:txBody>
      </p:sp>
      <p:sp>
        <p:nvSpPr>
          <p:cNvPr id="25" name="Rectangle 2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26" name="TextBox 26"/>
          <p:cNvSpPr txBox="1"/>
          <p:nvPr/>
        </p:nvSpPr>
        <p:spPr>
          <a:xfrm>
            <a:off x="11415046" y="6554152"/>
            <a:ext cx="180689" cy="213360"/>
          </a:xfrm>
          <a:prstGeom prst="rect">
            <a:avLst/>
          </a:prstGeom>
          <a:noFill/>
          <a:ln>
            <a:noFill/>
          </a:ln>
        </p:spPr>
        <p:txBody>
          <a:bodyPr wrap="none" lIns="0" tIns="0" rIns="0" bIns="0" anchor="t" anchorCtr="0">
            <a:spAutoFit/>
          </a:bodyPr>
          <a:lstStyle/>
          <a:p>
            <a:pPr algn="r"/>
            <a:r>
              <a:rPr lang="zh-CN" sz="1050" dirty="0">
                <a:solidFill>
                  <a:srgbClr val="9AA3AE"/>
                </a:solidFill>
                <a:latin typeface="Arial"/>
                <a:ea typeface="Microsoft YaHei"/>
                <a:cs typeface="Arial"/>
              </a:rPr>
              <a:t>A5</a:t>
            </a:r>
          </a:p>
        </p:txBody>
      </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6325262"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A6：选择性第 3 次评测详细数据</a:t>
            </a:r>
          </a:p>
        </p:txBody>
      </p:sp>
      <p:sp>
        <p:nvSpPr>
          <p:cNvPr id="7" name="TextBox 7"/>
          <p:cNvSpPr txBox="1"/>
          <p:nvPr/>
        </p:nvSpPr>
        <p:spPr>
          <a:xfrm>
            <a:off x="3027474" y="1473518"/>
            <a:ext cx="6137053"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13 篇论文 × 17 个不稳定维度 = 136 次 API 调用（vs 全量 624 次，节省 78%）</a:t>
            </a:r>
          </a:p>
        </p:txBody>
      </p:sp>
      <p:grpSp>
        <p:nvGrpSpPr>
          <p:cNvPr id="20" name="Group 20"/>
          <p:cNvGrpSpPr/>
          <p:nvPr/>
        </p:nvGrpSpPr>
        <p:grpSpPr>
          <a:xfrm>
            <a:off x="609600" y="1905000"/>
            <a:ext cx="10972800" cy="1143000"/>
            <a:chOff x="609600" y="1905000"/>
            <a:chExt cx="10972800" cy="1143000"/>
          </a:xfrm>
        </p:grpSpPr>
        <p:sp>
          <p:nvSpPr>
            <p:cNvPr id="8" name="Rectangle 8"/>
            <p:cNvSpPr/>
            <p:nvPr/>
          </p:nvSpPr>
          <p:spPr>
            <a:xfrm>
              <a:off x="609600" y="1905000"/>
              <a:ext cx="3429000" cy="1143000"/>
            </a:xfrm>
            <a:prstGeom prst="roundRect">
              <a:avLst>
                <a:gd name="adj" fmla="val 6667"/>
              </a:avLst>
            </a:prstGeom>
            <a:solidFill>
              <a:srgbClr val="F4F5F7"/>
            </a:solidFill>
            <a:ln>
              <a:noFill/>
            </a:ln>
          </p:spPr>
        </p:sp>
        <p:sp>
          <p:nvSpPr>
            <p:cNvPr id="9" name="TextBox 9"/>
            <p:cNvSpPr txBox="1"/>
            <p:nvPr/>
          </p:nvSpPr>
          <p:spPr>
            <a:xfrm>
              <a:off x="1465350" y="2092642"/>
              <a:ext cx="1717500"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收敛维度（std ≤ 5）</a:t>
              </a:r>
            </a:p>
          </p:txBody>
        </p:sp>
        <p:sp>
          <p:nvSpPr>
            <p:cNvPr id="10" name="TextBox 10"/>
            <p:cNvSpPr txBox="1"/>
            <p:nvPr/>
          </p:nvSpPr>
          <p:spPr>
            <a:xfrm>
              <a:off x="1742153" y="2198370"/>
              <a:ext cx="1163893" cy="792480"/>
            </a:xfrm>
            <a:prstGeom prst="rect">
              <a:avLst/>
            </a:prstGeom>
            <a:noFill/>
            <a:ln>
              <a:noFill/>
            </a:ln>
          </p:spPr>
          <p:txBody>
            <a:bodyPr wrap="none" lIns="0" tIns="0" rIns="0" bIns="0" anchor="t" anchorCtr="0">
              <a:spAutoFit/>
            </a:bodyPr>
            <a:lstStyle/>
            <a:p>
              <a:pPr algn="ctr"/>
              <a:r>
                <a:rPr lang="zh-CN" sz="3900" b="1" dirty="0">
                  <a:solidFill>
                    <a:srgbClr val="2E7D32"/>
                  </a:solidFill>
                  <a:latin typeface="Arial"/>
                  <a:ea typeface="Microsoft YaHei"/>
                  <a:cs typeface="Arial"/>
                </a:rPr>
                <a:t>8/17</a:t>
              </a:r>
            </a:p>
          </p:txBody>
        </p:sp>
        <p:sp>
          <p:nvSpPr>
            <p:cNvPr id="11" name="TextBox 11"/>
            <p:cNvSpPr txBox="1"/>
            <p:nvPr/>
          </p:nvSpPr>
          <p:spPr>
            <a:xfrm>
              <a:off x="2108835" y="2775585"/>
              <a:ext cx="43053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47.1%</a:t>
              </a:r>
            </a:p>
          </p:txBody>
        </p:sp>
        <p:sp>
          <p:nvSpPr>
            <p:cNvPr id="12" name="Rectangle 12"/>
            <p:cNvSpPr/>
            <p:nvPr/>
          </p:nvSpPr>
          <p:spPr>
            <a:xfrm>
              <a:off x="4381500" y="1905000"/>
              <a:ext cx="3429000" cy="1143000"/>
            </a:xfrm>
            <a:prstGeom prst="roundRect">
              <a:avLst>
                <a:gd name="adj" fmla="val 6667"/>
              </a:avLst>
            </a:prstGeom>
            <a:solidFill>
              <a:srgbClr val="F4F5F7"/>
            </a:solidFill>
            <a:ln>
              <a:noFill/>
            </a:ln>
          </p:spPr>
        </p:sp>
        <p:sp>
          <p:nvSpPr>
            <p:cNvPr id="13" name="TextBox 13"/>
            <p:cNvSpPr txBox="1"/>
            <p:nvPr/>
          </p:nvSpPr>
          <p:spPr>
            <a:xfrm>
              <a:off x="4967216" y="2092642"/>
              <a:ext cx="2257568"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进入可接受范围（std ≤ 8）</a:t>
              </a:r>
            </a:p>
          </p:txBody>
        </p:sp>
        <p:sp>
          <p:nvSpPr>
            <p:cNvPr id="14" name="TextBox 14"/>
            <p:cNvSpPr txBox="1"/>
            <p:nvPr/>
          </p:nvSpPr>
          <p:spPr>
            <a:xfrm>
              <a:off x="5432143" y="2198370"/>
              <a:ext cx="1327714" cy="792480"/>
            </a:xfrm>
            <a:prstGeom prst="rect">
              <a:avLst/>
            </a:prstGeom>
            <a:noFill/>
            <a:ln>
              <a:noFill/>
            </a:ln>
          </p:spPr>
          <p:txBody>
            <a:bodyPr wrap="none" lIns="0" tIns="0" rIns="0" bIns="0" anchor="t" anchorCtr="0">
              <a:spAutoFit/>
            </a:bodyPr>
            <a:lstStyle/>
            <a:p>
              <a:pPr algn="ctr"/>
              <a:r>
                <a:rPr lang="zh-CN" sz="3900" b="1" dirty="0">
                  <a:solidFill>
                    <a:srgbClr val="1F4D78"/>
                  </a:solidFill>
                  <a:latin typeface="Arial"/>
                  <a:ea typeface="Microsoft YaHei"/>
                  <a:cs typeface="Arial"/>
                </a:rPr>
                <a:t>10/17</a:t>
              </a:r>
            </a:p>
          </p:txBody>
        </p:sp>
        <p:sp>
          <p:nvSpPr>
            <p:cNvPr id="15" name="TextBox 15"/>
            <p:cNvSpPr txBox="1"/>
            <p:nvPr/>
          </p:nvSpPr>
          <p:spPr>
            <a:xfrm>
              <a:off x="5860732" y="2775585"/>
              <a:ext cx="470535"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58.8%</a:t>
              </a:r>
            </a:p>
          </p:txBody>
        </p:sp>
        <p:sp>
          <p:nvSpPr>
            <p:cNvPr id="16" name="Rectangle 16"/>
            <p:cNvSpPr/>
            <p:nvPr/>
          </p:nvSpPr>
          <p:spPr>
            <a:xfrm>
              <a:off x="8153400" y="1905000"/>
              <a:ext cx="3429000" cy="1143000"/>
            </a:xfrm>
            <a:prstGeom prst="roundRect">
              <a:avLst>
                <a:gd name="adj" fmla="val 6667"/>
              </a:avLst>
            </a:prstGeom>
            <a:solidFill>
              <a:srgbClr val="F4F5F7"/>
            </a:solidFill>
            <a:ln>
              <a:noFill/>
            </a:ln>
          </p:spPr>
        </p:sp>
        <p:sp>
          <p:nvSpPr>
            <p:cNvPr id="17" name="TextBox 17"/>
            <p:cNvSpPr txBox="1"/>
            <p:nvPr/>
          </p:nvSpPr>
          <p:spPr>
            <a:xfrm>
              <a:off x="8829127" y="2092642"/>
              <a:ext cx="207754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仍需专家终审（std &gt; 8）</a:t>
              </a:r>
            </a:p>
          </p:txBody>
        </p:sp>
        <p:sp>
          <p:nvSpPr>
            <p:cNvPr id="18" name="TextBox 18"/>
            <p:cNvSpPr txBox="1"/>
            <p:nvPr/>
          </p:nvSpPr>
          <p:spPr>
            <a:xfrm>
              <a:off x="9285953" y="2198370"/>
              <a:ext cx="1163893" cy="792480"/>
            </a:xfrm>
            <a:prstGeom prst="rect">
              <a:avLst/>
            </a:prstGeom>
            <a:noFill/>
            <a:ln>
              <a:noFill/>
            </a:ln>
          </p:spPr>
          <p:txBody>
            <a:bodyPr wrap="none" lIns="0" tIns="0" rIns="0" bIns="0" anchor="t" anchorCtr="0">
              <a:spAutoFit/>
            </a:bodyPr>
            <a:lstStyle/>
            <a:p>
              <a:pPr algn="ctr"/>
              <a:r>
                <a:rPr lang="zh-CN" sz="3900" b="1" dirty="0">
                  <a:solidFill>
                    <a:srgbClr val="E07B00"/>
                  </a:solidFill>
                  <a:latin typeface="Arial"/>
                  <a:ea typeface="Microsoft YaHei"/>
                  <a:cs typeface="Arial"/>
                </a:rPr>
                <a:t>7/17</a:t>
              </a:r>
            </a:p>
          </p:txBody>
        </p:sp>
        <p:sp>
          <p:nvSpPr>
            <p:cNvPr id="19" name="TextBox 19"/>
            <p:cNvSpPr txBox="1"/>
            <p:nvPr/>
          </p:nvSpPr>
          <p:spPr>
            <a:xfrm>
              <a:off x="9652635" y="2775585"/>
              <a:ext cx="43053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41.2%</a:t>
              </a:r>
            </a:p>
          </p:txBody>
        </p:sp>
      </p:grpSp>
      <p:sp>
        <p:nvSpPr>
          <p:cNvPr id="21" name="Rectangle 21"/>
          <p:cNvSpPr/>
          <p:nvPr/>
        </p:nvSpPr>
        <p:spPr>
          <a:xfrm>
            <a:off x="609600" y="3333750"/>
            <a:ext cx="10972800" cy="381000"/>
          </a:xfrm>
          <a:prstGeom prst="rect">
            <a:avLst/>
          </a:prstGeom>
          <a:solidFill>
            <a:srgbClr val="1F4D78"/>
          </a:solidFill>
          <a:ln>
            <a:noFill/>
          </a:ln>
        </p:spPr>
      </p:sp>
      <p:sp>
        <p:nvSpPr>
          <p:cNvPr id="22" name="TextBox 22"/>
          <p:cNvSpPr txBox="1"/>
          <p:nvPr/>
        </p:nvSpPr>
        <p:spPr>
          <a:xfrm>
            <a:off x="1318260" y="3461385"/>
            <a:ext cx="36652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维度</a:t>
            </a:r>
          </a:p>
        </p:txBody>
      </p:sp>
      <p:sp>
        <p:nvSpPr>
          <p:cNvPr id="23" name="TextBox 23"/>
          <p:cNvSpPr txBox="1"/>
          <p:nvPr/>
        </p:nvSpPr>
        <p:spPr>
          <a:xfrm>
            <a:off x="3604260" y="3461385"/>
            <a:ext cx="79497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E1 R2 均分</a:t>
            </a:r>
          </a:p>
        </p:txBody>
      </p:sp>
      <p:sp>
        <p:nvSpPr>
          <p:cNvPr id="24" name="TextBox 24"/>
          <p:cNvSpPr txBox="1"/>
          <p:nvPr/>
        </p:nvSpPr>
        <p:spPr>
          <a:xfrm>
            <a:off x="5128260" y="3461385"/>
            <a:ext cx="836981"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E2 R2 均分</a:t>
            </a:r>
          </a:p>
        </p:txBody>
      </p:sp>
      <p:sp>
        <p:nvSpPr>
          <p:cNvPr id="25" name="TextBox 25"/>
          <p:cNvSpPr txBox="1"/>
          <p:nvPr/>
        </p:nvSpPr>
        <p:spPr>
          <a:xfrm>
            <a:off x="6652260" y="3461385"/>
            <a:ext cx="836981"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E3 R2 均分</a:t>
            </a:r>
          </a:p>
        </p:txBody>
      </p:sp>
      <p:sp>
        <p:nvSpPr>
          <p:cNvPr id="26" name="TextBox 26"/>
          <p:cNvSpPr txBox="1"/>
          <p:nvPr/>
        </p:nvSpPr>
        <p:spPr>
          <a:xfrm>
            <a:off x="8176260" y="3461385"/>
            <a:ext cx="54294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E3 std</a:t>
            </a:r>
          </a:p>
        </p:txBody>
      </p:sp>
      <p:sp>
        <p:nvSpPr>
          <p:cNvPr id="27" name="TextBox 27"/>
          <p:cNvSpPr txBox="1"/>
          <p:nvPr/>
        </p:nvSpPr>
        <p:spPr>
          <a:xfrm>
            <a:off x="9509760" y="3461385"/>
            <a:ext cx="36652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状态</a:t>
            </a:r>
          </a:p>
        </p:txBody>
      </p:sp>
      <p:sp>
        <p:nvSpPr>
          <p:cNvPr id="28" name="Rectangle 28"/>
          <p:cNvSpPr/>
          <p:nvPr/>
        </p:nvSpPr>
        <p:spPr>
          <a:xfrm>
            <a:off x="609600" y="3714750"/>
            <a:ext cx="10972800" cy="333375"/>
          </a:xfrm>
          <a:prstGeom prst="rect">
            <a:avLst/>
          </a:prstGeom>
          <a:solidFill>
            <a:srgbClr val="F4F5F7"/>
          </a:solidFill>
          <a:ln>
            <a:noFill/>
          </a:ln>
        </p:spPr>
      </p:sp>
      <p:sp>
        <p:nvSpPr>
          <p:cNvPr id="29" name="TextBox 29"/>
          <p:cNvSpPr txBox="1"/>
          <p:nvPr/>
        </p:nvSpPr>
        <p:spPr>
          <a:xfrm>
            <a:off x="1319212" y="3812381"/>
            <a:ext cx="778669"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研究创新性</a:t>
            </a:r>
          </a:p>
        </p:txBody>
      </p:sp>
      <p:sp>
        <p:nvSpPr>
          <p:cNvPr id="30" name="TextBox 30"/>
          <p:cNvSpPr txBox="1"/>
          <p:nvPr/>
        </p:nvSpPr>
        <p:spPr>
          <a:xfrm>
            <a:off x="3605212" y="381238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85.2</a:t>
            </a:r>
          </a:p>
        </p:txBody>
      </p:sp>
      <p:sp>
        <p:nvSpPr>
          <p:cNvPr id="31" name="TextBox 31"/>
          <p:cNvSpPr txBox="1"/>
          <p:nvPr/>
        </p:nvSpPr>
        <p:spPr>
          <a:xfrm>
            <a:off x="5129212" y="381238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84.8</a:t>
            </a:r>
          </a:p>
        </p:txBody>
      </p:sp>
      <p:sp>
        <p:nvSpPr>
          <p:cNvPr id="32" name="TextBox 32"/>
          <p:cNvSpPr txBox="1"/>
          <p:nvPr/>
        </p:nvSpPr>
        <p:spPr>
          <a:xfrm>
            <a:off x="6653212" y="381238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85.0</a:t>
            </a:r>
          </a:p>
        </p:txBody>
      </p:sp>
      <p:sp>
        <p:nvSpPr>
          <p:cNvPr id="33" name="TextBox 33"/>
          <p:cNvSpPr txBox="1"/>
          <p:nvPr/>
        </p:nvSpPr>
        <p:spPr>
          <a:xfrm>
            <a:off x="8177212" y="3812381"/>
            <a:ext cx="288482" cy="228600"/>
          </a:xfrm>
          <a:prstGeom prst="rect">
            <a:avLst/>
          </a:prstGeom>
          <a:noFill/>
          <a:ln>
            <a:noFill/>
          </a:ln>
        </p:spPr>
        <p:txBody>
          <a:bodyPr wrap="none" lIns="0" tIns="0" rIns="0" bIns="0" anchor="t" anchorCtr="0">
            <a:spAutoFit/>
          </a:bodyPr>
          <a:lstStyle/>
          <a:p>
            <a:pPr algn="l"/>
            <a:r>
              <a:rPr lang="zh-CN" sz="1125" b="1" dirty="0">
                <a:solidFill>
                  <a:srgbClr val="E07B00"/>
                </a:solidFill>
                <a:latin typeface="Arial"/>
                <a:ea typeface="Microsoft YaHei"/>
                <a:cs typeface="Arial"/>
              </a:rPr>
              <a:t>9.2</a:t>
            </a:r>
          </a:p>
        </p:txBody>
      </p:sp>
      <p:sp>
        <p:nvSpPr>
          <p:cNvPr id="34" name="TextBox 34"/>
          <p:cNvSpPr txBox="1"/>
          <p:nvPr/>
        </p:nvSpPr>
        <p:spPr>
          <a:xfrm>
            <a:off x="9510712" y="3812381"/>
            <a:ext cx="478631" cy="228600"/>
          </a:xfrm>
          <a:prstGeom prst="rect">
            <a:avLst/>
          </a:prstGeom>
          <a:noFill/>
          <a:ln>
            <a:noFill/>
          </a:ln>
        </p:spPr>
        <p:txBody>
          <a:bodyPr wrap="none" lIns="0" tIns="0" rIns="0" bIns="0" anchor="t" anchorCtr="0">
            <a:spAutoFit/>
          </a:bodyPr>
          <a:lstStyle/>
          <a:p>
            <a:pPr algn="l"/>
            <a:r>
              <a:rPr lang="zh-CN" sz="1125" dirty="0">
                <a:solidFill>
                  <a:srgbClr val="E07B00"/>
                </a:solidFill>
                <a:latin typeface="Arial"/>
                <a:ea typeface="Microsoft YaHei"/>
                <a:cs typeface="Arial"/>
              </a:rPr>
              <a:t>未收敛</a:t>
            </a:r>
          </a:p>
        </p:txBody>
      </p:sp>
      <p:sp>
        <p:nvSpPr>
          <p:cNvPr id="35" name="Rectangle 35"/>
          <p:cNvSpPr/>
          <p:nvPr/>
        </p:nvSpPr>
        <p:spPr>
          <a:xfrm>
            <a:off x="609600" y="4048125"/>
            <a:ext cx="10972800" cy="333375"/>
          </a:xfrm>
          <a:prstGeom prst="rect">
            <a:avLst/>
          </a:prstGeom>
          <a:solidFill>
            <a:srgbClr val="FFFFFF"/>
          </a:solidFill>
          <a:ln>
            <a:noFill/>
          </a:ln>
        </p:spPr>
      </p:sp>
      <p:sp>
        <p:nvSpPr>
          <p:cNvPr id="36" name="TextBox 36"/>
          <p:cNvSpPr txBox="1"/>
          <p:nvPr/>
        </p:nvSpPr>
        <p:spPr>
          <a:xfrm>
            <a:off x="1319212" y="4145756"/>
            <a:ext cx="778669"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现状洞察度</a:t>
            </a:r>
          </a:p>
        </p:txBody>
      </p:sp>
      <p:sp>
        <p:nvSpPr>
          <p:cNvPr id="37" name="TextBox 37"/>
          <p:cNvSpPr txBox="1"/>
          <p:nvPr/>
        </p:nvSpPr>
        <p:spPr>
          <a:xfrm>
            <a:off x="3605212" y="414575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82.5</a:t>
            </a:r>
          </a:p>
        </p:txBody>
      </p:sp>
      <p:sp>
        <p:nvSpPr>
          <p:cNvPr id="38" name="TextBox 38"/>
          <p:cNvSpPr txBox="1"/>
          <p:nvPr/>
        </p:nvSpPr>
        <p:spPr>
          <a:xfrm>
            <a:off x="5129212" y="4145756"/>
            <a:ext cx="3211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83.1</a:t>
            </a:r>
          </a:p>
        </p:txBody>
      </p:sp>
      <p:sp>
        <p:nvSpPr>
          <p:cNvPr id="39" name="TextBox 39"/>
          <p:cNvSpPr txBox="1"/>
          <p:nvPr/>
        </p:nvSpPr>
        <p:spPr>
          <a:xfrm>
            <a:off x="6653212" y="414575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82.8</a:t>
            </a:r>
          </a:p>
        </p:txBody>
      </p:sp>
      <p:sp>
        <p:nvSpPr>
          <p:cNvPr id="40" name="TextBox 40"/>
          <p:cNvSpPr txBox="1"/>
          <p:nvPr/>
        </p:nvSpPr>
        <p:spPr>
          <a:xfrm>
            <a:off x="8177212" y="4145756"/>
            <a:ext cx="288482"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4.2</a:t>
            </a:r>
          </a:p>
        </p:txBody>
      </p:sp>
      <p:sp>
        <p:nvSpPr>
          <p:cNvPr id="41" name="TextBox 41"/>
          <p:cNvSpPr txBox="1"/>
          <p:nvPr/>
        </p:nvSpPr>
        <p:spPr>
          <a:xfrm>
            <a:off x="9510712" y="4145756"/>
            <a:ext cx="478631"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Arial"/>
                <a:ea typeface="Microsoft YaHei"/>
                <a:cs typeface="Arial"/>
              </a:rPr>
              <a:t>已收敛</a:t>
            </a:r>
          </a:p>
        </p:txBody>
      </p:sp>
      <p:sp>
        <p:nvSpPr>
          <p:cNvPr id="42" name="Rectangle 42"/>
          <p:cNvSpPr/>
          <p:nvPr/>
        </p:nvSpPr>
        <p:spPr>
          <a:xfrm>
            <a:off x="609600" y="4381500"/>
            <a:ext cx="10972800" cy="333375"/>
          </a:xfrm>
          <a:prstGeom prst="rect">
            <a:avLst/>
          </a:prstGeom>
          <a:solidFill>
            <a:srgbClr val="F4F5F7"/>
          </a:solidFill>
          <a:ln>
            <a:noFill/>
          </a:ln>
        </p:spPr>
      </p:sp>
      <p:sp>
        <p:nvSpPr>
          <p:cNvPr id="43" name="TextBox 43"/>
          <p:cNvSpPr txBox="1"/>
          <p:nvPr/>
        </p:nvSpPr>
        <p:spPr>
          <a:xfrm>
            <a:off x="1319212" y="4479131"/>
            <a:ext cx="778669"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理论建构力</a:t>
            </a:r>
          </a:p>
        </p:txBody>
      </p:sp>
      <p:sp>
        <p:nvSpPr>
          <p:cNvPr id="44" name="TextBox 44"/>
          <p:cNvSpPr txBox="1"/>
          <p:nvPr/>
        </p:nvSpPr>
        <p:spPr>
          <a:xfrm>
            <a:off x="3605212" y="447913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80.3</a:t>
            </a:r>
          </a:p>
        </p:txBody>
      </p:sp>
      <p:sp>
        <p:nvSpPr>
          <p:cNvPr id="45" name="TextBox 45"/>
          <p:cNvSpPr txBox="1"/>
          <p:nvPr/>
        </p:nvSpPr>
        <p:spPr>
          <a:xfrm>
            <a:off x="5129212" y="447913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79.8</a:t>
            </a:r>
          </a:p>
        </p:txBody>
      </p:sp>
      <p:sp>
        <p:nvSpPr>
          <p:cNvPr id="46" name="TextBox 46"/>
          <p:cNvSpPr txBox="1"/>
          <p:nvPr/>
        </p:nvSpPr>
        <p:spPr>
          <a:xfrm>
            <a:off x="6653212" y="4479131"/>
            <a:ext cx="3211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80.1</a:t>
            </a:r>
          </a:p>
        </p:txBody>
      </p:sp>
      <p:sp>
        <p:nvSpPr>
          <p:cNvPr id="47" name="TextBox 47"/>
          <p:cNvSpPr txBox="1"/>
          <p:nvPr/>
        </p:nvSpPr>
        <p:spPr>
          <a:xfrm>
            <a:off x="8177212" y="4479131"/>
            <a:ext cx="335738" cy="228600"/>
          </a:xfrm>
          <a:prstGeom prst="rect">
            <a:avLst/>
          </a:prstGeom>
          <a:noFill/>
          <a:ln>
            <a:noFill/>
          </a:ln>
        </p:spPr>
        <p:txBody>
          <a:bodyPr wrap="none" lIns="0" tIns="0" rIns="0" bIns="0" anchor="t" anchorCtr="0">
            <a:spAutoFit/>
          </a:bodyPr>
          <a:lstStyle/>
          <a:p>
            <a:pPr algn="l"/>
            <a:r>
              <a:rPr lang="zh-CN" sz="1125" b="1" dirty="0">
                <a:solidFill>
                  <a:srgbClr val="E07B00"/>
                </a:solidFill>
                <a:latin typeface="Arial"/>
                <a:ea typeface="Microsoft YaHei"/>
                <a:cs typeface="Arial"/>
              </a:rPr>
              <a:t>10.5</a:t>
            </a:r>
          </a:p>
        </p:txBody>
      </p:sp>
      <p:sp>
        <p:nvSpPr>
          <p:cNvPr id="48" name="TextBox 48"/>
          <p:cNvSpPr txBox="1"/>
          <p:nvPr/>
        </p:nvSpPr>
        <p:spPr>
          <a:xfrm>
            <a:off x="9510712" y="4479131"/>
            <a:ext cx="478631" cy="228600"/>
          </a:xfrm>
          <a:prstGeom prst="rect">
            <a:avLst/>
          </a:prstGeom>
          <a:noFill/>
          <a:ln>
            <a:noFill/>
          </a:ln>
        </p:spPr>
        <p:txBody>
          <a:bodyPr wrap="none" lIns="0" tIns="0" rIns="0" bIns="0" anchor="t" anchorCtr="0">
            <a:spAutoFit/>
          </a:bodyPr>
          <a:lstStyle/>
          <a:p>
            <a:pPr algn="l"/>
            <a:r>
              <a:rPr lang="zh-CN" sz="1125" dirty="0">
                <a:solidFill>
                  <a:srgbClr val="E07B00"/>
                </a:solidFill>
                <a:latin typeface="Arial"/>
                <a:ea typeface="Microsoft YaHei"/>
                <a:cs typeface="Arial"/>
              </a:rPr>
              <a:t>未收敛</a:t>
            </a:r>
          </a:p>
        </p:txBody>
      </p:sp>
      <p:sp>
        <p:nvSpPr>
          <p:cNvPr id="49" name="Rectangle 49"/>
          <p:cNvSpPr/>
          <p:nvPr/>
        </p:nvSpPr>
        <p:spPr>
          <a:xfrm>
            <a:off x="609600" y="4714875"/>
            <a:ext cx="10972800" cy="333375"/>
          </a:xfrm>
          <a:prstGeom prst="rect">
            <a:avLst/>
          </a:prstGeom>
          <a:solidFill>
            <a:srgbClr val="FFFFFF"/>
          </a:solidFill>
          <a:ln>
            <a:noFill/>
          </a:ln>
        </p:spPr>
      </p:sp>
      <p:sp>
        <p:nvSpPr>
          <p:cNvPr id="50" name="TextBox 50"/>
          <p:cNvSpPr txBox="1"/>
          <p:nvPr/>
        </p:nvSpPr>
        <p:spPr>
          <a:xfrm>
            <a:off x="1319212" y="4812506"/>
            <a:ext cx="778669"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逻辑连贯性</a:t>
            </a:r>
          </a:p>
        </p:txBody>
      </p:sp>
      <p:sp>
        <p:nvSpPr>
          <p:cNvPr id="51" name="TextBox 51"/>
          <p:cNvSpPr txBox="1"/>
          <p:nvPr/>
        </p:nvSpPr>
        <p:spPr>
          <a:xfrm>
            <a:off x="3605212" y="481250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88.7</a:t>
            </a:r>
          </a:p>
        </p:txBody>
      </p:sp>
      <p:sp>
        <p:nvSpPr>
          <p:cNvPr id="52" name="TextBox 52"/>
          <p:cNvSpPr txBox="1"/>
          <p:nvPr/>
        </p:nvSpPr>
        <p:spPr>
          <a:xfrm>
            <a:off x="5129212" y="481250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89.2</a:t>
            </a:r>
          </a:p>
        </p:txBody>
      </p:sp>
      <p:sp>
        <p:nvSpPr>
          <p:cNvPr id="53" name="TextBox 53"/>
          <p:cNvSpPr txBox="1"/>
          <p:nvPr/>
        </p:nvSpPr>
        <p:spPr>
          <a:xfrm>
            <a:off x="6653212" y="481250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88.9</a:t>
            </a:r>
          </a:p>
        </p:txBody>
      </p:sp>
      <p:sp>
        <p:nvSpPr>
          <p:cNvPr id="54" name="TextBox 54"/>
          <p:cNvSpPr txBox="1"/>
          <p:nvPr/>
        </p:nvSpPr>
        <p:spPr>
          <a:xfrm>
            <a:off x="8177212" y="4812506"/>
            <a:ext cx="249103"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3.1</a:t>
            </a:r>
          </a:p>
        </p:txBody>
      </p:sp>
      <p:sp>
        <p:nvSpPr>
          <p:cNvPr id="55" name="TextBox 55"/>
          <p:cNvSpPr txBox="1"/>
          <p:nvPr/>
        </p:nvSpPr>
        <p:spPr>
          <a:xfrm>
            <a:off x="9510712" y="4812506"/>
            <a:ext cx="478631"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Arial"/>
                <a:ea typeface="Microsoft YaHei"/>
                <a:cs typeface="Arial"/>
              </a:rPr>
              <a:t>已收敛</a:t>
            </a:r>
          </a:p>
        </p:txBody>
      </p:sp>
      <p:sp>
        <p:nvSpPr>
          <p:cNvPr id="56" name="Rectangle 56"/>
          <p:cNvSpPr/>
          <p:nvPr/>
        </p:nvSpPr>
        <p:spPr>
          <a:xfrm>
            <a:off x="609600" y="5048250"/>
            <a:ext cx="10972800" cy="333375"/>
          </a:xfrm>
          <a:prstGeom prst="rect">
            <a:avLst/>
          </a:prstGeom>
          <a:solidFill>
            <a:srgbClr val="F4F5F7"/>
          </a:solidFill>
          <a:ln>
            <a:noFill/>
          </a:ln>
        </p:spPr>
      </p:sp>
      <p:sp>
        <p:nvSpPr>
          <p:cNvPr id="57" name="TextBox 57"/>
          <p:cNvSpPr txBox="1"/>
          <p:nvPr/>
        </p:nvSpPr>
        <p:spPr>
          <a:xfrm>
            <a:off x="1319212" y="5145881"/>
            <a:ext cx="778669"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学术共识度</a:t>
            </a:r>
          </a:p>
        </p:txBody>
      </p:sp>
      <p:sp>
        <p:nvSpPr>
          <p:cNvPr id="58" name="TextBox 58"/>
          <p:cNvSpPr txBox="1"/>
          <p:nvPr/>
        </p:nvSpPr>
        <p:spPr>
          <a:xfrm>
            <a:off x="3605212" y="514588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86.4</a:t>
            </a:r>
          </a:p>
        </p:txBody>
      </p:sp>
      <p:sp>
        <p:nvSpPr>
          <p:cNvPr id="59" name="TextBox 59"/>
          <p:cNvSpPr txBox="1"/>
          <p:nvPr/>
        </p:nvSpPr>
        <p:spPr>
          <a:xfrm>
            <a:off x="5129212" y="514588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87.0</a:t>
            </a:r>
          </a:p>
        </p:txBody>
      </p:sp>
      <p:sp>
        <p:nvSpPr>
          <p:cNvPr id="60" name="TextBox 60"/>
          <p:cNvSpPr txBox="1"/>
          <p:nvPr/>
        </p:nvSpPr>
        <p:spPr>
          <a:xfrm>
            <a:off x="6653212" y="514588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86.7</a:t>
            </a:r>
          </a:p>
        </p:txBody>
      </p:sp>
      <p:sp>
        <p:nvSpPr>
          <p:cNvPr id="61" name="TextBox 61"/>
          <p:cNvSpPr txBox="1"/>
          <p:nvPr/>
        </p:nvSpPr>
        <p:spPr>
          <a:xfrm>
            <a:off x="8177212" y="5145881"/>
            <a:ext cx="288482" cy="228600"/>
          </a:xfrm>
          <a:prstGeom prst="rect">
            <a:avLst/>
          </a:prstGeom>
          <a:noFill/>
          <a:ln>
            <a:noFill/>
          </a:ln>
        </p:spPr>
        <p:txBody>
          <a:bodyPr wrap="none" lIns="0" tIns="0" rIns="0" bIns="0" anchor="t" anchorCtr="0">
            <a:spAutoFit/>
          </a:bodyPr>
          <a:lstStyle/>
          <a:p>
            <a:pPr algn="l"/>
            <a:r>
              <a:rPr lang="zh-CN" sz="1125" b="1" dirty="0">
                <a:solidFill>
                  <a:srgbClr val="1F4D78"/>
                </a:solidFill>
                <a:latin typeface="Arial"/>
                <a:ea typeface="Microsoft YaHei"/>
                <a:cs typeface="Arial"/>
              </a:rPr>
              <a:t>6.8</a:t>
            </a:r>
          </a:p>
        </p:txBody>
      </p:sp>
      <p:sp>
        <p:nvSpPr>
          <p:cNvPr id="62" name="TextBox 62"/>
          <p:cNvSpPr txBox="1"/>
          <p:nvPr/>
        </p:nvSpPr>
        <p:spPr>
          <a:xfrm>
            <a:off x="9510712" y="5145881"/>
            <a:ext cx="478631" cy="228600"/>
          </a:xfrm>
          <a:prstGeom prst="rect">
            <a:avLst/>
          </a:prstGeom>
          <a:noFill/>
          <a:ln>
            <a:noFill/>
          </a:ln>
        </p:spPr>
        <p:txBody>
          <a:bodyPr wrap="none" lIns="0" tIns="0" rIns="0" bIns="0" anchor="t" anchorCtr="0">
            <a:spAutoFit/>
          </a:bodyPr>
          <a:lstStyle/>
          <a:p>
            <a:pPr algn="l"/>
            <a:r>
              <a:rPr lang="zh-CN" sz="1125" dirty="0">
                <a:solidFill>
                  <a:srgbClr val="1F4D78"/>
                </a:solidFill>
                <a:latin typeface="Arial"/>
                <a:ea typeface="Microsoft YaHei"/>
                <a:cs typeface="Arial"/>
              </a:rPr>
              <a:t>可接受</a:t>
            </a:r>
          </a:p>
        </p:txBody>
      </p:sp>
      <p:sp>
        <p:nvSpPr>
          <p:cNvPr id="63" name="Rectangle 63"/>
          <p:cNvSpPr/>
          <p:nvPr/>
        </p:nvSpPr>
        <p:spPr>
          <a:xfrm>
            <a:off x="609600" y="5381625"/>
            <a:ext cx="10972800" cy="333375"/>
          </a:xfrm>
          <a:prstGeom prst="rect">
            <a:avLst/>
          </a:prstGeom>
          <a:solidFill>
            <a:srgbClr val="FFFFFF"/>
          </a:solidFill>
          <a:ln>
            <a:noFill/>
          </a:ln>
        </p:spPr>
      </p:sp>
      <p:sp>
        <p:nvSpPr>
          <p:cNvPr id="64" name="TextBox 64"/>
          <p:cNvSpPr txBox="1"/>
          <p:nvPr/>
        </p:nvSpPr>
        <p:spPr>
          <a:xfrm>
            <a:off x="1319212" y="5479256"/>
            <a:ext cx="778669"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前瞻延展性</a:t>
            </a:r>
          </a:p>
        </p:txBody>
      </p:sp>
      <p:sp>
        <p:nvSpPr>
          <p:cNvPr id="65" name="TextBox 65"/>
          <p:cNvSpPr txBox="1"/>
          <p:nvPr/>
        </p:nvSpPr>
        <p:spPr>
          <a:xfrm>
            <a:off x="3605212" y="5479256"/>
            <a:ext cx="3211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84.1</a:t>
            </a:r>
          </a:p>
        </p:txBody>
      </p:sp>
      <p:sp>
        <p:nvSpPr>
          <p:cNvPr id="66" name="TextBox 66"/>
          <p:cNvSpPr txBox="1"/>
          <p:nvPr/>
        </p:nvSpPr>
        <p:spPr>
          <a:xfrm>
            <a:off x="5129212" y="547925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83.8</a:t>
            </a:r>
          </a:p>
        </p:txBody>
      </p:sp>
      <p:sp>
        <p:nvSpPr>
          <p:cNvPr id="67" name="TextBox 67"/>
          <p:cNvSpPr txBox="1"/>
          <p:nvPr/>
        </p:nvSpPr>
        <p:spPr>
          <a:xfrm>
            <a:off x="6653212" y="547925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84.0</a:t>
            </a:r>
          </a:p>
        </p:txBody>
      </p:sp>
      <p:sp>
        <p:nvSpPr>
          <p:cNvPr id="68" name="TextBox 68"/>
          <p:cNvSpPr txBox="1"/>
          <p:nvPr/>
        </p:nvSpPr>
        <p:spPr>
          <a:xfrm>
            <a:off x="8177212" y="5479256"/>
            <a:ext cx="288482"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4.5</a:t>
            </a:r>
          </a:p>
        </p:txBody>
      </p:sp>
      <p:sp>
        <p:nvSpPr>
          <p:cNvPr id="69" name="TextBox 69"/>
          <p:cNvSpPr txBox="1"/>
          <p:nvPr/>
        </p:nvSpPr>
        <p:spPr>
          <a:xfrm>
            <a:off x="9510712" y="5479256"/>
            <a:ext cx="478631"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Arial"/>
                <a:ea typeface="Microsoft YaHei"/>
                <a:cs typeface="Arial"/>
              </a:rPr>
              <a:t>已收敛</a:t>
            </a:r>
          </a:p>
        </p:txBody>
      </p:sp>
      <p:sp>
        <p:nvSpPr>
          <p:cNvPr id="70" name="TextBox 70"/>
          <p:cNvSpPr txBox="1"/>
          <p:nvPr/>
        </p:nvSpPr>
        <p:spPr>
          <a:xfrm>
            <a:off x="3256407" y="5966460"/>
            <a:ext cx="5679186"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注：完整 17 个维度数据见 results/retest-top60/top30_anomaly_check.md</a:t>
            </a:r>
          </a:p>
        </p:txBody>
      </p:sp>
      <p:sp>
        <p:nvSpPr>
          <p:cNvPr id="71" name="TextBox 71"/>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A6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6022824"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A7：Top 30 三次评测排名对比</a:t>
            </a:r>
          </a:p>
        </p:txBody>
      </p:sp>
      <p:sp>
        <p:nvSpPr>
          <p:cNvPr id="7" name="TextBox 7"/>
          <p:cNvSpPr txBox="1"/>
          <p:nvPr/>
        </p:nvSpPr>
        <p:spPr>
          <a:xfrm>
            <a:off x="4818698" y="1473518"/>
            <a:ext cx="2554605"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排名变化 ≥ 5 位的论文详细分析</a:t>
            </a:r>
          </a:p>
        </p:txBody>
      </p:sp>
      <p:grpSp>
        <p:nvGrpSpPr>
          <p:cNvPr id="24" name="Group 24"/>
          <p:cNvGrpSpPr/>
          <p:nvPr/>
        </p:nvGrpSpPr>
        <p:grpSpPr>
          <a:xfrm>
            <a:off x="609600" y="1905000"/>
            <a:ext cx="10972800" cy="1502569"/>
            <a:chOff x="609600" y="1905000"/>
            <a:chExt cx="10972800" cy="1502569"/>
          </a:xfrm>
        </p:grpSpPr>
        <p:sp>
          <p:nvSpPr>
            <p:cNvPr id="8" name="Rectangle 8"/>
            <p:cNvSpPr/>
            <p:nvPr/>
          </p:nvSpPr>
          <p:spPr>
            <a:xfrm>
              <a:off x="609600" y="1905000"/>
              <a:ext cx="5334000" cy="1333500"/>
            </a:xfrm>
            <a:prstGeom prst="roundRect">
              <a:avLst>
                <a:gd name="adj" fmla="val 5714"/>
              </a:avLst>
            </a:prstGeom>
            <a:solidFill>
              <a:srgbClr val="F4F5F7"/>
            </a:solidFill>
            <a:ln>
              <a:noFill/>
            </a:ln>
          </p:spPr>
        </p:sp>
        <p:sp>
          <p:nvSpPr>
            <p:cNvPr id="9" name="TextBox 9"/>
            <p:cNvSpPr txBox="1"/>
            <p:nvPr/>
          </p:nvSpPr>
          <p:spPr>
            <a:xfrm>
              <a:off x="933450" y="2076450"/>
              <a:ext cx="878205" cy="304800"/>
            </a:xfrm>
            <a:prstGeom prst="rect">
              <a:avLst/>
            </a:prstGeom>
            <a:noFill/>
            <a:ln>
              <a:noFill/>
            </a:ln>
          </p:spPr>
          <p:txBody>
            <a:bodyPr wrap="none" lIns="0" tIns="0" rIns="0" bIns="0" anchor="t" anchorCtr="0">
              <a:spAutoFit/>
            </a:bodyPr>
            <a:lstStyle/>
            <a:p>
              <a:pPr algn="l"/>
              <a:r>
                <a:rPr lang="zh-CN" sz="1500" b="1" dirty="0">
                  <a:solidFill>
                    <a:srgbClr val="1F4D78"/>
                  </a:solidFill>
                  <a:latin typeface="Arial"/>
                  <a:ea typeface="Microsoft YaHei"/>
                  <a:cs typeface="Arial"/>
                </a:rPr>
                <a:t>关键发现</a:t>
              </a:r>
            </a:p>
          </p:txBody>
        </p:sp>
        <p:sp>
          <p:nvSpPr>
            <p:cNvPr id="10" name="Ellipse 10"/>
            <p:cNvSpPr/>
            <p:nvPr/>
          </p:nvSpPr>
          <p:spPr>
            <a:xfrm>
              <a:off x="914400" y="2533650"/>
              <a:ext cx="76200" cy="76200"/>
            </a:xfrm>
            <a:prstGeom prst="ellipse">
              <a:avLst/>
            </a:prstGeom>
            <a:solidFill>
              <a:srgbClr val="1F4D78"/>
            </a:solidFill>
            <a:ln>
              <a:noFill/>
            </a:ln>
          </p:spPr>
        </p:sp>
        <p:sp>
          <p:nvSpPr>
            <p:cNvPr id="11" name="TextBox 11"/>
            <p:cNvSpPr txBox="1"/>
            <p:nvPr/>
          </p:nvSpPr>
          <p:spPr>
            <a:xfrm>
              <a:off x="1126808" y="2481739"/>
              <a:ext cx="386636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中位数 vs 均值排名差异：3 篇论文排名变化 ≥ 5 位</a:t>
              </a:r>
            </a:p>
          </p:txBody>
        </p:sp>
        <p:sp>
          <p:nvSpPr>
            <p:cNvPr id="12" name="Ellipse 12"/>
            <p:cNvSpPr/>
            <p:nvPr/>
          </p:nvSpPr>
          <p:spPr>
            <a:xfrm>
              <a:off x="914400" y="2867025"/>
              <a:ext cx="76200" cy="76200"/>
            </a:xfrm>
            <a:prstGeom prst="ellipse">
              <a:avLst/>
            </a:prstGeom>
            <a:solidFill>
              <a:srgbClr val="1F4D78"/>
            </a:solidFill>
            <a:ln>
              <a:noFill/>
            </a:ln>
          </p:spPr>
        </p:sp>
        <p:sp>
          <p:nvSpPr>
            <p:cNvPr id="13" name="TextBox 13"/>
            <p:cNvSpPr txBox="1"/>
            <p:nvPr/>
          </p:nvSpPr>
          <p:spPr>
            <a:xfrm>
              <a:off x="1126808" y="2815114"/>
              <a:ext cx="2684716"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新进入 Top 30：2 篇（E3 后上升）</a:t>
              </a:r>
            </a:p>
          </p:txBody>
        </p:sp>
        <p:sp>
          <p:nvSpPr>
            <p:cNvPr id="14" name="Ellipse 14"/>
            <p:cNvSpPr/>
            <p:nvPr/>
          </p:nvSpPr>
          <p:spPr>
            <a:xfrm>
              <a:off x="914400" y="3200400"/>
              <a:ext cx="76200" cy="76200"/>
            </a:xfrm>
            <a:prstGeom prst="ellipse">
              <a:avLst/>
            </a:prstGeom>
            <a:solidFill>
              <a:srgbClr val="1F4D78"/>
            </a:solidFill>
            <a:ln>
              <a:noFill/>
            </a:ln>
          </p:spPr>
        </p:sp>
        <p:sp>
          <p:nvSpPr>
            <p:cNvPr id="15" name="TextBox 15"/>
            <p:cNvSpPr txBox="1"/>
            <p:nvPr/>
          </p:nvSpPr>
          <p:spPr>
            <a:xfrm>
              <a:off x="1126808" y="3148489"/>
              <a:ext cx="251469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跌出 Top 30：2 篇（E3 后下降）</a:t>
              </a:r>
            </a:p>
          </p:txBody>
        </p:sp>
        <p:sp>
          <p:nvSpPr>
            <p:cNvPr id="16" name="Rectangle 16"/>
            <p:cNvSpPr/>
            <p:nvPr/>
          </p:nvSpPr>
          <p:spPr>
            <a:xfrm>
              <a:off x="6248400" y="1905000"/>
              <a:ext cx="5334000" cy="1333500"/>
            </a:xfrm>
            <a:prstGeom prst="roundRect">
              <a:avLst>
                <a:gd name="adj" fmla="val 5714"/>
              </a:avLst>
            </a:prstGeom>
            <a:solidFill>
              <a:srgbClr val="FFF5F0"/>
            </a:solidFill>
            <a:ln>
              <a:noFill/>
            </a:ln>
          </p:spPr>
        </p:sp>
        <p:sp>
          <p:nvSpPr>
            <p:cNvPr id="17" name="TextBox 17"/>
            <p:cNvSpPr txBox="1"/>
            <p:nvPr/>
          </p:nvSpPr>
          <p:spPr>
            <a:xfrm>
              <a:off x="6572250" y="2076450"/>
              <a:ext cx="1298258" cy="304800"/>
            </a:xfrm>
            <a:prstGeom prst="rect">
              <a:avLst/>
            </a:prstGeom>
            <a:noFill/>
            <a:ln>
              <a:noFill/>
            </a:ln>
          </p:spPr>
          <p:txBody>
            <a:bodyPr wrap="none" lIns="0" tIns="0" rIns="0" bIns="0" anchor="t" anchorCtr="0">
              <a:spAutoFit/>
            </a:bodyPr>
            <a:lstStyle/>
            <a:p>
              <a:pPr algn="l"/>
              <a:r>
                <a:rPr lang="zh-CN" sz="1500" b="1" dirty="0">
                  <a:solidFill>
                    <a:srgbClr val="E07B00"/>
                  </a:solidFill>
                  <a:latin typeface="Arial"/>
                  <a:ea typeface="Microsoft YaHei"/>
                  <a:cs typeface="Arial"/>
                </a:rPr>
                <a:t>主要变化原因</a:t>
              </a:r>
            </a:p>
          </p:txBody>
        </p:sp>
        <p:sp>
          <p:nvSpPr>
            <p:cNvPr id="18" name="Ellipse 18"/>
            <p:cNvSpPr/>
            <p:nvPr/>
          </p:nvSpPr>
          <p:spPr>
            <a:xfrm>
              <a:off x="6553200" y="2533650"/>
              <a:ext cx="76200" cy="76200"/>
            </a:xfrm>
            <a:prstGeom prst="ellipse">
              <a:avLst/>
            </a:prstGeom>
            <a:solidFill>
              <a:srgbClr val="E07B00"/>
            </a:solidFill>
            <a:ln>
              <a:noFill/>
            </a:ln>
          </p:spPr>
        </p:sp>
        <p:sp>
          <p:nvSpPr>
            <p:cNvPr id="19" name="TextBox 19"/>
            <p:cNvSpPr txBox="1"/>
            <p:nvPr/>
          </p:nvSpPr>
          <p:spPr>
            <a:xfrm>
              <a:off x="6765608" y="2481739"/>
              <a:ext cx="2778228"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研究创新性维度第 3 次评测分歧收敛</a:t>
              </a:r>
            </a:p>
          </p:txBody>
        </p:sp>
        <p:sp>
          <p:nvSpPr>
            <p:cNvPr id="20" name="Ellipse 20"/>
            <p:cNvSpPr/>
            <p:nvPr/>
          </p:nvSpPr>
          <p:spPr>
            <a:xfrm>
              <a:off x="6553200" y="2867025"/>
              <a:ext cx="76200" cy="76200"/>
            </a:xfrm>
            <a:prstGeom prst="ellipse">
              <a:avLst/>
            </a:prstGeom>
            <a:solidFill>
              <a:srgbClr val="E07B00"/>
            </a:solidFill>
            <a:ln>
              <a:noFill/>
            </a:ln>
          </p:spPr>
        </p:sp>
        <p:sp>
          <p:nvSpPr>
            <p:cNvPr id="21" name="TextBox 21"/>
            <p:cNvSpPr txBox="1"/>
            <p:nvPr/>
          </p:nvSpPr>
          <p:spPr>
            <a:xfrm>
              <a:off x="6765608" y="2815114"/>
              <a:ext cx="241268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理论建构力维度模型间分歧加剧</a:t>
              </a:r>
            </a:p>
          </p:txBody>
        </p:sp>
        <p:sp>
          <p:nvSpPr>
            <p:cNvPr id="22" name="Ellipse 22"/>
            <p:cNvSpPr/>
            <p:nvPr/>
          </p:nvSpPr>
          <p:spPr>
            <a:xfrm>
              <a:off x="6553200" y="3200400"/>
              <a:ext cx="76200" cy="76200"/>
            </a:xfrm>
            <a:prstGeom prst="ellipse">
              <a:avLst/>
            </a:prstGeom>
            <a:solidFill>
              <a:srgbClr val="E07B00"/>
            </a:solidFill>
            <a:ln>
              <a:noFill/>
            </a:ln>
          </p:spPr>
        </p:sp>
        <p:sp>
          <p:nvSpPr>
            <p:cNvPr id="23" name="TextBox 23"/>
            <p:cNvSpPr txBox="1"/>
            <p:nvPr/>
          </p:nvSpPr>
          <p:spPr>
            <a:xfrm>
              <a:off x="6765608" y="3148489"/>
              <a:ext cx="258270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中位数对极端值的鲁棒性优于均值</a:t>
              </a:r>
            </a:p>
          </p:txBody>
        </p:sp>
      </p:grpSp>
      <p:sp>
        <p:nvSpPr>
          <p:cNvPr id="25" name="Rectangle 25"/>
          <p:cNvSpPr/>
          <p:nvPr/>
        </p:nvSpPr>
        <p:spPr>
          <a:xfrm>
            <a:off x="609600" y="3524250"/>
            <a:ext cx="10972800" cy="381000"/>
          </a:xfrm>
          <a:prstGeom prst="rect">
            <a:avLst/>
          </a:prstGeom>
          <a:solidFill>
            <a:srgbClr val="1F4D78"/>
          </a:solidFill>
          <a:ln>
            <a:noFill/>
          </a:ln>
        </p:spPr>
      </p:sp>
      <p:sp>
        <p:nvSpPr>
          <p:cNvPr id="26" name="TextBox 26"/>
          <p:cNvSpPr txBox="1"/>
          <p:nvPr/>
        </p:nvSpPr>
        <p:spPr>
          <a:xfrm>
            <a:off x="1318260" y="36518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论文编号</a:t>
            </a:r>
          </a:p>
        </p:txBody>
      </p:sp>
      <p:sp>
        <p:nvSpPr>
          <p:cNvPr id="27" name="TextBox 27"/>
          <p:cNvSpPr txBox="1"/>
          <p:nvPr/>
        </p:nvSpPr>
        <p:spPr>
          <a:xfrm>
            <a:off x="3032760" y="3651885"/>
            <a:ext cx="55974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E1 排名</a:t>
            </a:r>
          </a:p>
        </p:txBody>
      </p:sp>
      <p:sp>
        <p:nvSpPr>
          <p:cNvPr id="28" name="TextBox 28"/>
          <p:cNvSpPr txBox="1"/>
          <p:nvPr/>
        </p:nvSpPr>
        <p:spPr>
          <a:xfrm>
            <a:off x="4366260" y="3651885"/>
            <a:ext cx="601751"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E2 排名</a:t>
            </a:r>
          </a:p>
        </p:txBody>
      </p:sp>
      <p:sp>
        <p:nvSpPr>
          <p:cNvPr id="29" name="TextBox 29"/>
          <p:cNvSpPr txBox="1"/>
          <p:nvPr/>
        </p:nvSpPr>
        <p:spPr>
          <a:xfrm>
            <a:off x="5699760" y="3651885"/>
            <a:ext cx="937793"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E3 最终排名</a:t>
            </a:r>
          </a:p>
        </p:txBody>
      </p:sp>
      <p:sp>
        <p:nvSpPr>
          <p:cNvPr id="30" name="TextBox 30"/>
          <p:cNvSpPr txBox="1"/>
          <p:nvPr/>
        </p:nvSpPr>
        <p:spPr>
          <a:xfrm>
            <a:off x="7414260" y="36518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排名变化</a:t>
            </a:r>
          </a:p>
        </p:txBody>
      </p:sp>
      <p:sp>
        <p:nvSpPr>
          <p:cNvPr id="31" name="TextBox 31"/>
          <p:cNvSpPr txBox="1"/>
          <p:nvPr/>
        </p:nvSpPr>
        <p:spPr>
          <a:xfrm>
            <a:off x="9128760" y="36518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主要原因</a:t>
            </a:r>
          </a:p>
        </p:txBody>
      </p:sp>
      <p:sp>
        <p:nvSpPr>
          <p:cNvPr id="32" name="Rectangle 32"/>
          <p:cNvSpPr/>
          <p:nvPr/>
        </p:nvSpPr>
        <p:spPr>
          <a:xfrm>
            <a:off x="609600" y="3905250"/>
            <a:ext cx="10972800" cy="333375"/>
          </a:xfrm>
          <a:prstGeom prst="rect">
            <a:avLst/>
          </a:prstGeom>
          <a:solidFill>
            <a:srgbClr val="F4F5F7"/>
          </a:solidFill>
          <a:ln>
            <a:noFill/>
          </a:ln>
        </p:spPr>
      </p:sp>
      <p:sp>
        <p:nvSpPr>
          <p:cNvPr id="33" name="TextBox 33"/>
          <p:cNvSpPr txBox="1"/>
          <p:nvPr/>
        </p:nvSpPr>
        <p:spPr>
          <a:xfrm>
            <a:off x="1319212" y="4002881"/>
            <a:ext cx="283607"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0101</a:t>
            </a:r>
          </a:p>
        </p:txBody>
      </p:sp>
      <p:sp>
        <p:nvSpPr>
          <p:cNvPr id="34" name="TextBox 34"/>
          <p:cNvSpPr txBox="1"/>
          <p:nvPr/>
        </p:nvSpPr>
        <p:spPr>
          <a:xfrm>
            <a:off x="3033712" y="4002881"/>
            <a:ext cx="7358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a:t>
            </a:r>
          </a:p>
        </p:txBody>
      </p:sp>
      <p:sp>
        <p:nvSpPr>
          <p:cNvPr id="35" name="TextBox 35"/>
          <p:cNvSpPr txBox="1"/>
          <p:nvPr/>
        </p:nvSpPr>
        <p:spPr>
          <a:xfrm>
            <a:off x="4367212" y="4002881"/>
            <a:ext cx="7358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a:t>
            </a:r>
          </a:p>
        </p:txBody>
      </p:sp>
      <p:sp>
        <p:nvSpPr>
          <p:cNvPr id="36" name="TextBox 36"/>
          <p:cNvSpPr txBox="1"/>
          <p:nvPr/>
        </p:nvSpPr>
        <p:spPr>
          <a:xfrm>
            <a:off x="5700712" y="4002881"/>
            <a:ext cx="75831"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1</a:t>
            </a:r>
          </a:p>
        </p:txBody>
      </p:sp>
      <p:sp>
        <p:nvSpPr>
          <p:cNvPr id="37" name="TextBox 37"/>
          <p:cNvSpPr txBox="1"/>
          <p:nvPr/>
        </p:nvSpPr>
        <p:spPr>
          <a:xfrm>
            <a:off x="7415212" y="4002881"/>
            <a:ext cx="111085"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Arial"/>
                <a:ea typeface="Microsoft YaHei"/>
                <a:cs typeface="Arial"/>
              </a:rPr>
              <a:t>0</a:t>
            </a:r>
          </a:p>
        </p:txBody>
      </p:sp>
      <p:sp>
        <p:nvSpPr>
          <p:cNvPr id="38" name="TextBox 38"/>
          <p:cNvSpPr txBox="1"/>
          <p:nvPr/>
        </p:nvSpPr>
        <p:spPr>
          <a:xfrm>
            <a:off x="9130665" y="4010978"/>
            <a:ext cx="306705"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稳定</a:t>
            </a:r>
          </a:p>
        </p:txBody>
      </p:sp>
      <p:sp>
        <p:nvSpPr>
          <p:cNvPr id="39" name="Rectangle 39"/>
          <p:cNvSpPr/>
          <p:nvPr/>
        </p:nvSpPr>
        <p:spPr>
          <a:xfrm>
            <a:off x="609600" y="4238625"/>
            <a:ext cx="10972800" cy="333375"/>
          </a:xfrm>
          <a:prstGeom prst="rect">
            <a:avLst/>
          </a:prstGeom>
          <a:solidFill>
            <a:srgbClr val="FFFFFF"/>
          </a:solidFill>
          <a:ln>
            <a:noFill/>
          </a:ln>
        </p:spPr>
      </p:sp>
      <p:sp>
        <p:nvSpPr>
          <p:cNvPr id="40" name="TextBox 40"/>
          <p:cNvSpPr txBox="1"/>
          <p:nvPr/>
        </p:nvSpPr>
        <p:spPr>
          <a:xfrm>
            <a:off x="1319212" y="433625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0820</a:t>
            </a:r>
          </a:p>
        </p:txBody>
      </p:sp>
      <p:sp>
        <p:nvSpPr>
          <p:cNvPr id="41" name="TextBox 41"/>
          <p:cNvSpPr txBox="1"/>
          <p:nvPr/>
        </p:nvSpPr>
        <p:spPr>
          <a:xfrm>
            <a:off x="3033712" y="4336256"/>
            <a:ext cx="111085"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3</a:t>
            </a:r>
          </a:p>
        </p:txBody>
      </p:sp>
      <p:sp>
        <p:nvSpPr>
          <p:cNvPr id="42" name="TextBox 42"/>
          <p:cNvSpPr txBox="1"/>
          <p:nvPr/>
        </p:nvSpPr>
        <p:spPr>
          <a:xfrm>
            <a:off x="4367212" y="4336256"/>
            <a:ext cx="111085"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2</a:t>
            </a:r>
          </a:p>
        </p:txBody>
      </p:sp>
      <p:sp>
        <p:nvSpPr>
          <p:cNvPr id="43" name="TextBox 43"/>
          <p:cNvSpPr txBox="1"/>
          <p:nvPr/>
        </p:nvSpPr>
        <p:spPr>
          <a:xfrm>
            <a:off x="5700712" y="4336256"/>
            <a:ext cx="115211"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2</a:t>
            </a:r>
          </a:p>
        </p:txBody>
      </p:sp>
      <p:sp>
        <p:nvSpPr>
          <p:cNvPr id="44" name="TextBox 44"/>
          <p:cNvSpPr txBox="1"/>
          <p:nvPr/>
        </p:nvSpPr>
        <p:spPr>
          <a:xfrm>
            <a:off x="7415212" y="4336256"/>
            <a:ext cx="156091"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Arial"/>
                <a:ea typeface="Microsoft YaHei"/>
                <a:cs typeface="Arial"/>
              </a:rPr>
              <a:t>+1</a:t>
            </a:r>
          </a:p>
        </p:txBody>
      </p:sp>
      <p:sp>
        <p:nvSpPr>
          <p:cNvPr id="45" name="TextBox 45"/>
          <p:cNvSpPr txBox="1"/>
          <p:nvPr/>
        </p:nvSpPr>
        <p:spPr>
          <a:xfrm>
            <a:off x="9130665" y="4344352"/>
            <a:ext cx="306705"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微调</a:t>
            </a:r>
          </a:p>
        </p:txBody>
      </p:sp>
      <p:sp>
        <p:nvSpPr>
          <p:cNvPr id="46" name="Rectangle 46"/>
          <p:cNvSpPr/>
          <p:nvPr/>
        </p:nvSpPr>
        <p:spPr>
          <a:xfrm>
            <a:off x="609600" y="4572000"/>
            <a:ext cx="10972800" cy="333375"/>
          </a:xfrm>
          <a:prstGeom prst="rect">
            <a:avLst/>
          </a:prstGeom>
          <a:solidFill>
            <a:srgbClr val="F4F5F7"/>
          </a:solidFill>
          <a:ln>
            <a:noFill/>
          </a:ln>
        </p:spPr>
      </p:sp>
      <p:sp>
        <p:nvSpPr>
          <p:cNvPr id="47" name="TextBox 47"/>
          <p:cNvSpPr txBox="1"/>
          <p:nvPr/>
        </p:nvSpPr>
        <p:spPr>
          <a:xfrm>
            <a:off x="1319212" y="4669631"/>
            <a:ext cx="3211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1023</a:t>
            </a:r>
          </a:p>
        </p:txBody>
      </p:sp>
      <p:sp>
        <p:nvSpPr>
          <p:cNvPr id="48" name="TextBox 48"/>
          <p:cNvSpPr txBox="1"/>
          <p:nvPr/>
        </p:nvSpPr>
        <p:spPr>
          <a:xfrm>
            <a:off x="3033712" y="4669631"/>
            <a:ext cx="15609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12</a:t>
            </a:r>
          </a:p>
        </p:txBody>
      </p:sp>
      <p:sp>
        <p:nvSpPr>
          <p:cNvPr id="49" name="TextBox 49"/>
          <p:cNvSpPr txBox="1"/>
          <p:nvPr/>
        </p:nvSpPr>
        <p:spPr>
          <a:xfrm>
            <a:off x="4367212" y="4669631"/>
            <a:ext cx="111085"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8</a:t>
            </a:r>
          </a:p>
        </p:txBody>
      </p:sp>
      <p:sp>
        <p:nvSpPr>
          <p:cNvPr id="50" name="TextBox 50"/>
          <p:cNvSpPr txBox="1"/>
          <p:nvPr/>
        </p:nvSpPr>
        <p:spPr>
          <a:xfrm>
            <a:off x="5700712" y="4669631"/>
            <a:ext cx="115211"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5</a:t>
            </a:r>
          </a:p>
        </p:txBody>
      </p:sp>
      <p:sp>
        <p:nvSpPr>
          <p:cNvPr id="51" name="TextBox 51"/>
          <p:cNvSpPr txBox="1"/>
          <p:nvPr/>
        </p:nvSpPr>
        <p:spPr>
          <a:xfrm>
            <a:off x="7415212" y="4669631"/>
            <a:ext cx="201847"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+7</a:t>
            </a:r>
          </a:p>
        </p:txBody>
      </p:sp>
      <p:sp>
        <p:nvSpPr>
          <p:cNvPr id="52" name="TextBox 52"/>
          <p:cNvSpPr txBox="1"/>
          <p:nvPr/>
        </p:nvSpPr>
        <p:spPr>
          <a:xfrm>
            <a:off x="9130665" y="4677728"/>
            <a:ext cx="726758"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创新性收敛</a:t>
            </a:r>
          </a:p>
        </p:txBody>
      </p:sp>
      <p:sp>
        <p:nvSpPr>
          <p:cNvPr id="53" name="Rectangle 53"/>
          <p:cNvSpPr/>
          <p:nvPr/>
        </p:nvSpPr>
        <p:spPr>
          <a:xfrm>
            <a:off x="609600" y="4905375"/>
            <a:ext cx="10972800" cy="333375"/>
          </a:xfrm>
          <a:prstGeom prst="rect">
            <a:avLst/>
          </a:prstGeom>
          <a:solidFill>
            <a:srgbClr val="FFFFFF"/>
          </a:solidFill>
          <a:ln>
            <a:noFill/>
          </a:ln>
        </p:spPr>
      </p:sp>
      <p:sp>
        <p:nvSpPr>
          <p:cNvPr id="54" name="TextBox 54"/>
          <p:cNvSpPr txBox="1"/>
          <p:nvPr/>
        </p:nvSpPr>
        <p:spPr>
          <a:xfrm>
            <a:off x="1319212" y="5003006"/>
            <a:ext cx="3211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1824</a:t>
            </a:r>
          </a:p>
        </p:txBody>
      </p:sp>
      <p:sp>
        <p:nvSpPr>
          <p:cNvPr id="55" name="TextBox 55"/>
          <p:cNvSpPr txBox="1"/>
          <p:nvPr/>
        </p:nvSpPr>
        <p:spPr>
          <a:xfrm>
            <a:off x="3033712" y="5003006"/>
            <a:ext cx="15609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18</a:t>
            </a:r>
          </a:p>
        </p:txBody>
      </p:sp>
      <p:sp>
        <p:nvSpPr>
          <p:cNvPr id="56" name="TextBox 56"/>
          <p:cNvSpPr txBox="1"/>
          <p:nvPr/>
        </p:nvSpPr>
        <p:spPr>
          <a:xfrm>
            <a:off x="4367212" y="5003006"/>
            <a:ext cx="19359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22</a:t>
            </a:r>
          </a:p>
        </p:txBody>
      </p:sp>
      <p:sp>
        <p:nvSpPr>
          <p:cNvPr id="57" name="TextBox 57"/>
          <p:cNvSpPr txBox="1"/>
          <p:nvPr/>
        </p:nvSpPr>
        <p:spPr>
          <a:xfrm>
            <a:off x="5700712" y="5003006"/>
            <a:ext cx="201847" cy="228600"/>
          </a:xfrm>
          <a:prstGeom prst="rect">
            <a:avLst/>
          </a:prstGeom>
          <a:noFill/>
          <a:ln>
            <a:noFill/>
          </a:ln>
        </p:spPr>
        <p:txBody>
          <a:bodyPr wrap="none" lIns="0" tIns="0" rIns="0" bIns="0" anchor="t" anchorCtr="0">
            <a:spAutoFit/>
          </a:bodyPr>
          <a:lstStyle/>
          <a:p>
            <a:pPr algn="l"/>
            <a:r>
              <a:rPr lang="zh-CN" sz="1125" b="1" dirty="0">
                <a:solidFill>
                  <a:srgbClr val="E07B00"/>
                </a:solidFill>
                <a:latin typeface="Arial"/>
                <a:ea typeface="Microsoft YaHei"/>
                <a:cs typeface="Arial"/>
              </a:rPr>
              <a:t>28</a:t>
            </a:r>
          </a:p>
        </p:txBody>
      </p:sp>
      <p:sp>
        <p:nvSpPr>
          <p:cNvPr id="58" name="TextBox 58"/>
          <p:cNvSpPr txBox="1"/>
          <p:nvPr/>
        </p:nvSpPr>
        <p:spPr>
          <a:xfrm>
            <a:off x="7415212" y="5003006"/>
            <a:ext cx="249103" cy="228600"/>
          </a:xfrm>
          <a:prstGeom prst="rect">
            <a:avLst/>
          </a:prstGeom>
          <a:noFill/>
          <a:ln>
            <a:noFill/>
          </a:ln>
        </p:spPr>
        <p:txBody>
          <a:bodyPr wrap="none" lIns="0" tIns="0" rIns="0" bIns="0" anchor="t" anchorCtr="0">
            <a:spAutoFit/>
          </a:bodyPr>
          <a:lstStyle/>
          <a:p>
            <a:pPr algn="l"/>
            <a:r>
              <a:rPr lang="zh-CN" sz="1125" b="1" dirty="0">
                <a:solidFill>
                  <a:srgbClr val="E07B00"/>
                </a:solidFill>
                <a:latin typeface="Arial"/>
                <a:ea typeface="Microsoft YaHei"/>
                <a:cs typeface="Arial"/>
              </a:rPr>
              <a:t>-10</a:t>
            </a:r>
          </a:p>
        </p:txBody>
      </p:sp>
      <p:sp>
        <p:nvSpPr>
          <p:cNvPr id="59" name="TextBox 59"/>
          <p:cNvSpPr txBox="1"/>
          <p:nvPr/>
        </p:nvSpPr>
        <p:spPr>
          <a:xfrm>
            <a:off x="9130665" y="5011102"/>
            <a:ext cx="726758"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建构力分歧</a:t>
            </a:r>
          </a:p>
        </p:txBody>
      </p:sp>
      <p:sp>
        <p:nvSpPr>
          <p:cNvPr id="60" name="Rectangle 60"/>
          <p:cNvSpPr/>
          <p:nvPr/>
        </p:nvSpPr>
        <p:spPr>
          <a:xfrm>
            <a:off x="609600" y="5238750"/>
            <a:ext cx="10972800" cy="333375"/>
          </a:xfrm>
          <a:prstGeom prst="rect">
            <a:avLst/>
          </a:prstGeom>
          <a:solidFill>
            <a:srgbClr val="F4F5F7"/>
          </a:solidFill>
          <a:ln>
            <a:noFill/>
          </a:ln>
        </p:spPr>
      </p:sp>
      <p:sp>
        <p:nvSpPr>
          <p:cNvPr id="61" name="TextBox 61"/>
          <p:cNvSpPr txBox="1"/>
          <p:nvPr/>
        </p:nvSpPr>
        <p:spPr>
          <a:xfrm>
            <a:off x="1319212" y="5336381"/>
            <a:ext cx="3211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1307</a:t>
            </a:r>
          </a:p>
        </p:txBody>
      </p:sp>
      <p:sp>
        <p:nvSpPr>
          <p:cNvPr id="62" name="TextBox 62"/>
          <p:cNvSpPr txBox="1"/>
          <p:nvPr/>
        </p:nvSpPr>
        <p:spPr>
          <a:xfrm>
            <a:off x="3033712" y="5336381"/>
            <a:ext cx="19359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32</a:t>
            </a:r>
          </a:p>
        </p:txBody>
      </p:sp>
      <p:sp>
        <p:nvSpPr>
          <p:cNvPr id="63" name="TextBox 63"/>
          <p:cNvSpPr txBox="1"/>
          <p:nvPr/>
        </p:nvSpPr>
        <p:spPr>
          <a:xfrm>
            <a:off x="4367212" y="5336381"/>
            <a:ext cx="15609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31</a:t>
            </a:r>
          </a:p>
        </p:txBody>
      </p:sp>
      <p:sp>
        <p:nvSpPr>
          <p:cNvPr id="64" name="TextBox 64"/>
          <p:cNvSpPr txBox="1"/>
          <p:nvPr/>
        </p:nvSpPr>
        <p:spPr>
          <a:xfrm>
            <a:off x="5700712" y="5336381"/>
            <a:ext cx="201847"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29</a:t>
            </a:r>
          </a:p>
        </p:txBody>
      </p:sp>
      <p:sp>
        <p:nvSpPr>
          <p:cNvPr id="65" name="TextBox 65"/>
          <p:cNvSpPr txBox="1"/>
          <p:nvPr/>
        </p:nvSpPr>
        <p:spPr>
          <a:xfrm>
            <a:off x="7415212" y="5336381"/>
            <a:ext cx="201847"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+3</a:t>
            </a:r>
          </a:p>
        </p:txBody>
      </p:sp>
      <p:sp>
        <p:nvSpPr>
          <p:cNvPr id="66" name="TextBox 66"/>
          <p:cNvSpPr txBox="1"/>
          <p:nvPr/>
        </p:nvSpPr>
        <p:spPr>
          <a:xfrm>
            <a:off x="9130665" y="5344478"/>
            <a:ext cx="446722"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Arial"/>
                <a:ea typeface="Microsoft YaHei"/>
                <a:cs typeface="Arial"/>
              </a:rPr>
              <a:t>新进入</a:t>
            </a:r>
          </a:p>
        </p:txBody>
      </p:sp>
      <p:sp>
        <p:nvSpPr>
          <p:cNvPr id="67" name="Rectangle 67"/>
          <p:cNvSpPr/>
          <p:nvPr/>
        </p:nvSpPr>
        <p:spPr>
          <a:xfrm>
            <a:off x="609600" y="5572125"/>
            <a:ext cx="10972800" cy="333375"/>
          </a:xfrm>
          <a:prstGeom prst="rect">
            <a:avLst/>
          </a:prstGeom>
          <a:solidFill>
            <a:srgbClr val="FFFFFF"/>
          </a:solidFill>
          <a:ln>
            <a:noFill/>
          </a:ln>
        </p:spPr>
      </p:sp>
      <p:sp>
        <p:nvSpPr>
          <p:cNvPr id="68" name="TextBox 68"/>
          <p:cNvSpPr txBox="1"/>
          <p:nvPr/>
        </p:nvSpPr>
        <p:spPr>
          <a:xfrm>
            <a:off x="1319212" y="5669756"/>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0956</a:t>
            </a:r>
          </a:p>
        </p:txBody>
      </p:sp>
      <p:sp>
        <p:nvSpPr>
          <p:cNvPr id="69" name="TextBox 69"/>
          <p:cNvSpPr txBox="1"/>
          <p:nvPr/>
        </p:nvSpPr>
        <p:spPr>
          <a:xfrm>
            <a:off x="3033712" y="5669756"/>
            <a:ext cx="19359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28</a:t>
            </a:r>
          </a:p>
        </p:txBody>
      </p:sp>
      <p:sp>
        <p:nvSpPr>
          <p:cNvPr id="70" name="TextBox 70"/>
          <p:cNvSpPr txBox="1"/>
          <p:nvPr/>
        </p:nvSpPr>
        <p:spPr>
          <a:xfrm>
            <a:off x="4367212" y="5669756"/>
            <a:ext cx="19359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29</a:t>
            </a:r>
          </a:p>
        </p:txBody>
      </p:sp>
      <p:sp>
        <p:nvSpPr>
          <p:cNvPr id="71" name="TextBox 71"/>
          <p:cNvSpPr txBox="1"/>
          <p:nvPr/>
        </p:nvSpPr>
        <p:spPr>
          <a:xfrm>
            <a:off x="5700712" y="5669756"/>
            <a:ext cx="162467" cy="228600"/>
          </a:xfrm>
          <a:prstGeom prst="rect">
            <a:avLst/>
          </a:prstGeom>
          <a:noFill/>
          <a:ln>
            <a:noFill/>
          </a:ln>
        </p:spPr>
        <p:txBody>
          <a:bodyPr wrap="none" lIns="0" tIns="0" rIns="0" bIns="0" anchor="t" anchorCtr="0">
            <a:spAutoFit/>
          </a:bodyPr>
          <a:lstStyle/>
          <a:p>
            <a:pPr algn="l"/>
            <a:r>
              <a:rPr lang="zh-CN" sz="1125" b="1" dirty="0">
                <a:solidFill>
                  <a:srgbClr val="E07B00"/>
                </a:solidFill>
                <a:latin typeface="Arial"/>
                <a:ea typeface="Microsoft YaHei"/>
                <a:cs typeface="Arial"/>
              </a:rPr>
              <a:t>31</a:t>
            </a:r>
          </a:p>
        </p:txBody>
      </p:sp>
      <p:sp>
        <p:nvSpPr>
          <p:cNvPr id="72" name="TextBox 72"/>
          <p:cNvSpPr txBox="1"/>
          <p:nvPr/>
        </p:nvSpPr>
        <p:spPr>
          <a:xfrm>
            <a:off x="7415212" y="5669756"/>
            <a:ext cx="201847" cy="228600"/>
          </a:xfrm>
          <a:prstGeom prst="rect">
            <a:avLst/>
          </a:prstGeom>
          <a:noFill/>
          <a:ln>
            <a:noFill/>
          </a:ln>
        </p:spPr>
        <p:txBody>
          <a:bodyPr wrap="none" lIns="0" tIns="0" rIns="0" bIns="0" anchor="t" anchorCtr="0">
            <a:spAutoFit/>
          </a:bodyPr>
          <a:lstStyle/>
          <a:p>
            <a:pPr algn="l"/>
            <a:r>
              <a:rPr lang="zh-CN" sz="1125" b="1" dirty="0">
                <a:solidFill>
                  <a:srgbClr val="E07B00"/>
                </a:solidFill>
                <a:latin typeface="Arial"/>
                <a:ea typeface="Microsoft YaHei"/>
                <a:cs typeface="Arial"/>
              </a:rPr>
              <a:t>-3</a:t>
            </a:r>
          </a:p>
        </p:txBody>
      </p:sp>
      <p:sp>
        <p:nvSpPr>
          <p:cNvPr id="73" name="TextBox 73"/>
          <p:cNvSpPr txBox="1"/>
          <p:nvPr/>
        </p:nvSpPr>
        <p:spPr>
          <a:xfrm>
            <a:off x="9130665" y="5677852"/>
            <a:ext cx="306705" cy="213360"/>
          </a:xfrm>
          <a:prstGeom prst="rect">
            <a:avLst/>
          </a:prstGeom>
          <a:noFill/>
          <a:ln>
            <a:noFill/>
          </a:ln>
        </p:spPr>
        <p:txBody>
          <a:bodyPr wrap="none" lIns="0" tIns="0" rIns="0" bIns="0" anchor="t" anchorCtr="0">
            <a:spAutoFit/>
          </a:bodyPr>
          <a:lstStyle/>
          <a:p>
            <a:pPr algn="l"/>
            <a:r>
              <a:rPr lang="zh-CN" sz="1050" dirty="0">
                <a:solidFill>
                  <a:srgbClr val="E07B00"/>
                </a:solidFill>
                <a:latin typeface="Arial"/>
                <a:ea typeface="Microsoft YaHei"/>
                <a:cs typeface="Arial"/>
              </a:rPr>
              <a:t>跌出</a:t>
            </a:r>
          </a:p>
        </p:txBody>
      </p:sp>
      <p:sp>
        <p:nvSpPr>
          <p:cNvPr id="74" name="TextBox 74"/>
          <p:cNvSpPr txBox="1"/>
          <p:nvPr/>
        </p:nvSpPr>
        <p:spPr>
          <a:xfrm>
            <a:off x="3368421" y="6109335"/>
            <a:ext cx="5455158"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注：完整 30 篇排名对比见 results/retest-top60/top30_comparison.md</a:t>
            </a:r>
          </a:p>
        </p:txBody>
      </p:sp>
      <p:sp>
        <p:nvSpPr>
          <p:cNvPr id="75" name="TextBox 75"/>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A7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27710" y="870585"/>
            <a:ext cx="6136238" cy="548640"/>
          </a:xfrm>
          <a:prstGeom prst="rect">
            <a:avLst/>
          </a:prstGeom>
          <a:noFill/>
          <a:ln>
            <a:noFill/>
          </a:ln>
        </p:spPr>
        <p:txBody>
          <a:bodyPr wrap="none" lIns="0" tIns="0" rIns="0" bIns="0" anchor="t" anchorCtr="0">
            <a:spAutoFit/>
          </a:bodyPr>
          <a:lstStyle/>
          <a:p>
            <a:pPr algn="l"/>
            <a:r>
              <a:rPr lang="zh-CN" sz="2700" b="1" dirty="0">
                <a:solidFill>
                  <a:srgbClr val="1B1C21"/>
                </a:solidFill>
                <a:latin typeface="Arial"/>
                <a:ea typeface="Microsoft YaHei"/>
                <a:cs typeface="Arial"/>
              </a:rPr>
              <a:t>附录 A8：Round 1 问题论文详细分析</a:t>
            </a:r>
          </a:p>
        </p:txBody>
      </p:sp>
      <p:sp>
        <p:nvSpPr>
          <p:cNvPr id="7" name="TextBox 7"/>
          <p:cNvSpPr txBox="1"/>
          <p:nvPr/>
        </p:nvSpPr>
        <p:spPr>
          <a:xfrm>
            <a:off x="4391144" y="1473518"/>
            <a:ext cx="3409712" cy="274320"/>
          </a:xfrm>
          <a:prstGeom prst="rect">
            <a:avLst/>
          </a:prstGeom>
          <a:noFill/>
          <a:ln>
            <a:noFill/>
          </a:ln>
        </p:spPr>
        <p:txBody>
          <a:bodyPr wrap="none" lIns="0" tIns="0" rIns="0" bIns="0" anchor="t" anchorCtr="0">
            <a:spAutoFit/>
          </a:bodyPr>
          <a:lstStyle/>
          <a:p>
            <a:pPr algn="ctr"/>
            <a:r>
              <a:rPr lang="zh-CN" sz="1350" dirty="0">
                <a:solidFill>
                  <a:srgbClr val="5A6472"/>
                </a:solidFill>
                <a:latin typeface="Arial"/>
                <a:ea typeface="Microsoft YaHei"/>
                <a:cs typeface="Arial"/>
              </a:rPr>
              <a:t>154 篇问题论文分类（占 1920 篇的 8.0%）</a:t>
            </a:r>
          </a:p>
        </p:txBody>
      </p:sp>
      <p:grpSp>
        <p:nvGrpSpPr>
          <p:cNvPr id="44" name="Group 44"/>
          <p:cNvGrpSpPr/>
          <p:nvPr/>
        </p:nvGrpSpPr>
        <p:grpSpPr>
          <a:xfrm>
            <a:off x="609600" y="1905000"/>
            <a:ext cx="10972800" cy="2524125"/>
            <a:chOff x="609600" y="1905000"/>
            <a:chExt cx="10972800" cy="2524125"/>
          </a:xfrm>
        </p:grpSpPr>
        <p:sp>
          <p:nvSpPr>
            <p:cNvPr id="8" name="Rectangle 8"/>
            <p:cNvSpPr/>
            <p:nvPr/>
          </p:nvSpPr>
          <p:spPr>
            <a:xfrm>
              <a:off x="609600" y="1905000"/>
              <a:ext cx="10972800" cy="381000"/>
            </a:xfrm>
            <a:prstGeom prst="rect">
              <a:avLst/>
            </a:prstGeom>
            <a:solidFill>
              <a:srgbClr val="1F4D78"/>
            </a:solidFill>
            <a:ln>
              <a:noFill/>
            </a:ln>
          </p:spPr>
        </p:sp>
        <p:sp>
          <p:nvSpPr>
            <p:cNvPr id="9" name="TextBox 9"/>
            <p:cNvSpPr txBox="1"/>
            <p:nvPr/>
          </p:nvSpPr>
          <p:spPr>
            <a:xfrm>
              <a:off x="1699260" y="2032635"/>
              <a:ext cx="36652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类别</a:t>
              </a:r>
            </a:p>
          </p:txBody>
        </p:sp>
        <p:sp>
          <p:nvSpPr>
            <p:cNvPr id="10" name="TextBox 10"/>
            <p:cNvSpPr txBox="1"/>
            <p:nvPr/>
          </p:nvSpPr>
          <p:spPr>
            <a:xfrm>
              <a:off x="3794760" y="2032635"/>
              <a:ext cx="36652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数量</a:t>
              </a:r>
            </a:p>
          </p:txBody>
        </p:sp>
        <p:sp>
          <p:nvSpPr>
            <p:cNvPr id="11" name="TextBox 11"/>
            <p:cNvSpPr txBox="1"/>
            <p:nvPr/>
          </p:nvSpPr>
          <p:spPr>
            <a:xfrm>
              <a:off x="5128260" y="2032635"/>
              <a:ext cx="534543"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已处理</a:t>
              </a:r>
            </a:p>
          </p:txBody>
        </p:sp>
        <p:sp>
          <p:nvSpPr>
            <p:cNvPr id="12" name="TextBox 12"/>
            <p:cNvSpPr txBox="1"/>
            <p:nvPr/>
          </p:nvSpPr>
          <p:spPr>
            <a:xfrm>
              <a:off x="6652260" y="2032635"/>
              <a:ext cx="534543"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待处理</a:t>
              </a:r>
            </a:p>
          </p:txBody>
        </p:sp>
        <p:sp>
          <p:nvSpPr>
            <p:cNvPr id="13" name="TextBox 13"/>
            <p:cNvSpPr txBox="1"/>
            <p:nvPr/>
          </p:nvSpPr>
          <p:spPr>
            <a:xfrm>
              <a:off x="8366760" y="2032635"/>
              <a:ext cx="36652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说明</a:t>
              </a:r>
            </a:p>
          </p:txBody>
        </p:sp>
        <p:sp>
          <p:nvSpPr>
            <p:cNvPr id="14" name="Rectangle 14"/>
            <p:cNvSpPr/>
            <p:nvPr/>
          </p:nvSpPr>
          <p:spPr>
            <a:xfrm>
              <a:off x="609600" y="2286000"/>
              <a:ext cx="10972800" cy="428625"/>
            </a:xfrm>
            <a:prstGeom prst="rect">
              <a:avLst/>
            </a:prstGeom>
            <a:solidFill>
              <a:srgbClr val="F4F5F7"/>
            </a:solidFill>
            <a:ln>
              <a:noFill/>
            </a:ln>
          </p:spPr>
        </p:sp>
        <p:sp>
          <p:nvSpPr>
            <p:cNvPr id="15" name="TextBox 15"/>
            <p:cNvSpPr txBox="1"/>
            <p:nvPr/>
          </p:nvSpPr>
          <p:spPr>
            <a:xfrm>
              <a:off x="1699260" y="2423160"/>
              <a:ext cx="646557"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1-空状态</a:t>
              </a:r>
            </a:p>
          </p:txBody>
        </p:sp>
        <p:sp>
          <p:nvSpPr>
            <p:cNvPr id="16" name="TextBox 16"/>
            <p:cNvSpPr txBox="1"/>
            <p:nvPr/>
          </p:nvSpPr>
          <p:spPr>
            <a:xfrm>
              <a:off x="3794760" y="2423160"/>
              <a:ext cx="414528"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90 篇</a:t>
              </a:r>
            </a:p>
          </p:txBody>
        </p:sp>
        <p:sp>
          <p:nvSpPr>
            <p:cNvPr id="17" name="TextBox 17"/>
            <p:cNvSpPr txBox="1"/>
            <p:nvPr/>
          </p:nvSpPr>
          <p:spPr>
            <a:xfrm>
              <a:off x="5128260" y="2423160"/>
              <a:ext cx="677361"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Arial"/>
                  <a:ea typeface="Microsoft YaHei"/>
                  <a:cs typeface="Arial"/>
                </a:rPr>
                <a:t>✓ 已补测</a:t>
              </a:r>
            </a:p>
          </p:txBody>
        </p:sp>
        <p:sp>
          <p:nvSpPr>
            <p:cNvPr id="18" name="TextBox 18"/>
            <p:cNvSpPr txBox="1"/>
            <p:nvPr/>
          </p:nvSpPr>
          <p:spPr>
            <a:xfrm>
              <a:off x="6652260" y="2423160"/>
              <a:ext cx="11849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a:t>
              </a:r>
            </a:p>
          </p:txBody>
        </p:sp>
        <p:sp>
          <p:nvSpPr>
            <p:cNvPr id="19" name="TextBox 19"/>
            <p:cNvSpPr txBox="1"/>
            <p:nvPr/>
          </p:nvSpPr>
          <p:spPr>
            <a:xfrm>
              <a:off x="8368665" y="2439352"/>
              <a:ext cx="859774"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API/内容审查</a:t>
              </a:r>
            </a:p>
          </p:txBody>
        </p:sp>
        <p:sp>
          <p:nvSpPr>
            <p:cNvPr id="20" name="Rectangle 20"/>
            <p:cNvSpPr/>
            <p:nvPr/>
          </p:nvSpPr>
          <p:spPr>
            <a:xfrm>
              <a:off x="609600" y="2714625"/>
              <a:ext cx="10972800" cy="428625"/>
            </a:xfrm>
            <a:prstGeom prst="rect">
              <a:avLst/>
            </a:prstGeom>
            <a:solidFill>
              <a:srgbClr val="FFFFFF"/>
            </a:solidFill>
            <a:ln>
              <a:noFill/>
            </a:ln>
          </p:spPr>
        </p:sp>
        <p:sp>
          <p:nvSpPr>
            <p:cNvPr id="21" name="TextBox 21"/>
            <p:cNvSpPr txBox="1"/>
            <p:nvPr/>
          </p:nvSpPr>
          <p:spPr>
            <a:xfrm>
              <a:off x="1699260" y="2851785"/>
              <a:ext cx="84658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2-全部拒绝</a:t>
              </a:r>
            </a:p>
          </p:txBody>
        </p:sp>
        <p:sp>
          <p:nvSpPr>
            <p:cNvPr id="22" name="TextBox 22"/>
            <p:cNvSpPr txBox="1"/>
            <p:nvPr/>
          </p:nvSpPr>
          <p:spPr>
            <a:xfrm>
              <a:off x="3794760" y="2851785"/>
              <a:ext cx="326517"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5 篇</a:t>
              </a:r>
            </a:p>
          </p:txBody>
        </p:sp>
        <p:sp>
          <p:nvSpPr>
            <p:cNvPr id="23" name="TextBox 23"/>
            <p:cNvSpPr txBox="1"/>
            <p:nvPr/>
          </p:nvSpPr>
          <p:spPr>
            <a:xfrm>
              <a:off x="5128260" y="2851785"/>
              <a:ext cx="677361"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Arial"/>
                  <a:ea typeface="Microsoft YaHei"/>
                  <a:cs typeface="Arial"/>
                </a:rPr>
                <a:t>✓ 已排除</a:t>
              </a:r>
            </a:p>
          </p:txBody>
        </p:sp>
        <p:sp>
          <p:nvSpPr>
            <p:cNvPr id="24" name="TextBox 24"/>
            <p:cNvSpPr txBox="1"/>
            <p:nvPr/>
          </p:nvSpPr>
          <p:spPr>
            <a:xfrm>
              <a:off x="6652260" y="2851785"/>
              <a:ext cx="11849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a:t>
              </a:r>
            </a:p>
          </p:txBody>
        </p:sp>
        <p:sp>
          <p:nvSpPr>
            <p:cNvPr id="25" name="TextBox 25"/>
            <p:cNvSpPr txBox="1"/>
            <p:nvPr/>
          </p:nvSpPr>
          <p:spPr>
            <a:xfrm>
              <a:off x="8368665" y="2867978"/>
              <a:ext cx="726758"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政策性文本</a:t>
              </a:r>
            </a:p>
          </p:txBody>
        </p:sp>
        <p:sp>
          <p:nvSpPr>
            <p:cNvPr id="26" name="Rectangle 26"/>
            <p:cNvSpPr/>
            <p:nvPr/>
          </p:nvSpPr>
          <p:spPr>
            <a:xfrm>
              <a:off x="609600" y="3143250"/>
              <a:ext cx="10972800" cy="428625"/>
            </a:xfrm>
            <a:prstGeom prst="rect">
              <a:avLst/>
            </a:prstGeom>
            <a:solidFill>
              <a:srgbClr val="F4F5F7"/>
            </a:solidFill>
            <a:ln>
              <a:noFill/>
            </a:ln>
          </p:spPr>
        </p:sp>
        <p:sp>
          <p:nvSpPr>
            <p:cNvPr id="27" name="TextBox 27"/>
            <p:cNvSpPr txBox="1"/>
            <p:nvPr/>
          </p:nvSpPr>
          <p:spPr>
            <a:xfrm>
              <a:off x="1699260" y="3280410"/>
              <a:ext cx="84658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3-多数拒绝</a:t>
              </a:r>
            </a:p>
          </p:txBody>
        </p:sp>
        <p:sp>
          <p:nvSpPr>
            <p:cNvPr id="28" name="TextBox 28"/>
            <p:cNvSpPr txBox="1"/>
            <p:nvPr/>
          </p:nvSpPr>
          <p:spPr>
            <a:xfrm>
              <a:off x="3794760" y="3280410"/>
              <a:ext cx="374523"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19 篇</a:t>
              </a:r>
            </a:p>
          </p:txBody>
        </p:sp>
        <p:sp>
          <p:nvSpPr>
            <p:cNvPr id="29" name="TextBox 29"/>
            <p:cNvSpPr txBox="1"/>
            <p:nvPr/>
          </p:nvSpPr>
          <p:spPr>
            <a:xfrm>
              <a:off x="5128260" y="3280410"/>
              <a:ext cx="11849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a:t>
              </a:r>
            </a:p>
          </p:txBody>
        </p:sp>
        <p:sp>
          <p:nvSpPr>
            <p:cNvPr id="30" name="TextBox 30"/>
            <p:cNvSpPr txBox="1"/>
            <p:nvPr/>
          </p:nvSpPr>
          <p:spPr>
            <a:xfrm>
              <a:off x="6652260" y="3280410"/>
              <a:ext cx="1013403" cy="243840"/>
            </a:xfrm>
            <a:prstGeom prst="rect">
              <a:avLst/>
            </a:prstGeom>
            <a:noFill/>
            <a:ln>
              <a:noFill/>
            </a:ln>
          </p:spPr>
          <p:txBody>
            <a:bodyPr wrap="none" lIns="0" tIns="0" rIns="0" bIns="0" anchor="t" anchorCtr="0">
              <a:spAutoFit/>
            </a:bodyPr>
            <a:lstStyle/>
            <a:p>
              <a:pPr algn="l"/>
              <a:r>
                <a:rPr lang="zh-CN" sz="1200" b="1" dirty="0">
                  <a:solidFill>
                    <a:srgbClr val="E07B00"/>
                  </a:solidFill>
                  <a:latin typeface="Arial"/>
                  <a:ea typeface="Microsoft YaHei"/>
                  <a:cs typeface="Arial"/>
                </a:rPr>
                <a:t>⚠ 需人工复核</a:t>
              </a:r>
            </a:p>
          </p:txBody>
        </p:sp>
        <p:sp>
          <p:nvSpPr>
            <p:cNvPr id="31" name="TextBox 31"/>
            <p:cNvSpPr txBox="1"/>
            <p:nvPr/>
          </p:nvSpPr>
          <p:spPr>
            <a:xfrm>
              <a:off x="8368665" y="3296602"/>
              <a:ext cx="859774"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2-3 模型拒绝</a:t>
              </a:r>
            </a:p>
          </p:txBody>
        </p:sp>
        <p:sp>
          <p:nvSpPr>
            <p:cNvPr id="32" name="Rectangle 32"/>
            <p:cNvSpPr/>
            <p:nvPr/>
          </p:nvSpPr>
          <p:spPr>
            <a:xfrm>
              <a:off x="609600" y="3571875"/>
              <a:ext cx="10972800" cy="428625"/>
            </a:xfrm>
            <a:prstGeom prst="rect">
              <a:avLst/>
            </a:prstGeom>
            <a:solidFill>
              <a:srgbClr val="FFFFFF"/>
            </a:solidFill>
            <a:ln>
              <a:noFill/>
            </a:ln>
          </p:spPr>
        </p:sp>
        <p:sp>
          <p:nvSpPr>
            <p:cNvPr id="33" name="TextBox 33"/>
            <p:cNvSpPr txBox="1"/>
            <p:nvPr/>
          </p:nvSpPr>
          <p:spPr>
            <a:xfrm>
              <a:off x="1699260" y="3709035"/>
              <a:ext cx="84658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4-单一拒绝</a:t>
              </a:r>
            </a:p>
          </p:txBody>
        </p:sp>
        <p:sp>
          <p:nvSpPr>
            <p:cNvPr id="34" name="TextBox 34"/>
            <p:cNvSpPr txBox="1"/>
            <p:nvPr/>
          </p:nvSpPr>
          <p:spPr>
            <a:xfrm>
              <a:off x="3794760" y="3709035"/>
              <a:ext cx="374523"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15 篇</a:t>
              </a:r>
            </a:p>
          </p:txBody>
        </p:sp>
        <p:sp>
          <p:nvSpPr>
            <p:cNvPr id="35" name="TextBox 35"/>
            <p:cNvSpPr txBox="1"/>
            <p:nvPr/>
          </p:nvSpPr>
          <p:spPr>
            <a:xfrm>
              <a:off x="5128260" y="3709035"/>
              <a:ext cx="11849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a:t>
              </a:r>
            </a:p>
          </p:txBody>
        </p:sp>
        <p:sp>
          <p:nvSpPr>
            <p:cNvPr id="36" name="TextBox 36"/>
            <p:cNvSpPr txBox="1"/>
            <p:nvPr/>
          </p:nvSpPr>
          <p:spPr>
            <a:xfrm>
              <a:off x="6652260" y="3709035"/>
              <a:ext cx="1013403" cy="243840"/>
            </a:xfrm>
            <a:prstGeom prst="rect">
              <a:avLst/>
            </a:prstGeom>
            <a:noFill/>
            <a:ln>
              <a:noFill/>
            </a:ln>
          </p:spPr>
          <p:txBody>
            <a:bodyPr wrap="none" lIns="0" tIns="0" rIns="0" bIns="0" anchor="t" anchorCtr="0">
              <a:spAutoFit/>
            </a:bodyPr>
            <a:lstStyle/>
            <a:p>
              <a:pPr algn="l"/>
              <a:r>
                <a:rPr lang="zh-CN" sz="1200" b="1" dirty="0">
                  <a:solidFill>
                    <a:srgbClr val="E07B00"/>
                  </a:solidFill>
                  <a:latin typeface="Arial"/>
                  <a:ea typeface="Microsoft YaHei"/>
                  <a:cs typeface="Arial"/>
                </a:rPr>
                <a:t>⚠ 需人工复核</a:t>
              </a:r>
            </a:p>
          </p:txBody>
        </p:sp>
        <p:sp>
          <p:nvSpPr>
            <p:cNvPr id="37" name="TextBox 37"/>
            <p:cNvSpPr txBox="1"/>
            <p:nvPr/>
          </p:nvSpPr>
          <p:spPr>
            <a:xfrm>
              <a:off x="8368665" y="3725228"/>
              <a:ext cx="670750"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1 模型拒绝</a:t>
              </a:r>
            </a:p>
          </p:txBody>
        </p:sp>
        <p:sp>
          <p:nvSpPr>
            <p:cNvPr id="38" name="Rectangle 38"/>
            <p:cNvSpPr/>
            <p:nvPr/>
          </p:nvSpPr>
          <p:spPr>
            <a:xfrm>
              <a:off x="609600" y="4000500"/>
              <a:ext cx="10972800" cy="428625"/>
            </a:xfrm>
            <a:prstGeom prst="rect">
              <a:avLst/>
            </a:prstGeom>
            <a:solidFill>
              <a:srgbClr val="F4F5F7"/>
            </a:solidFill>
            <a:ln>
              <a:noFill/>
            </a:ln>
          </p:spPr>
        </p:sp>
        <p:sp>
          <p:nvSpPr>
            <p:cNvPr id="39" name="TextBox 39"/>
            <p:cNvSpPr txBox="1"/>
            <p:nvPr/>
          </p:nvSpPr>
          <p:spPr>
            <a:xfrm>
              <a:off x="1699260" y="4137660"/>
              <a:ext cx="84658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5-边界判断</a:t>
              </a:r>
            </a:p>
          </p:txBody>
        </p:sp>
        <p:sp>
          <p:nvSpPr>
            <p:cNvPr id="40" name="TextBox 40"/>
            <p:cNvSpPr txBox="1"/>
            <p:nvPr/>
          </p:nvSpPr>
          <p:spPr>
            <a:xfrm>
              <a:off x="3794760" y="4137660"/>
              <a:ext cx="414528"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25 篇</a:t>
              </a:r>
            </a:p>
          </p:txBody>
        </p:sp>
        <p:sp>
          <p:nvSpPr>
            <p:cNvPr id="41" name="TextBox 41"/>
            <p:cNvSpPr txBox="1"/>
            <p:nvPr/>
          </p:nvSpPr>
          <p:spPr>
            <a:xfrm>
              <a:off x="5128260" y="4137660"/>
              <a:ext cx="11849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a:t>
              </a:r>
            </a:p>
          </p:txBody>
        </p:sp>
        <p:sp>
          <p:nvSpPr>
            <p:cNvPr id="42" name="TextBox 42"/>
            <p:cNvSpPr txBox="1"/>
            <p:nvPr/>
          </p:nvSpPr>
          <p:spPr>
            <a:xfrm>
              <a:off x="6652260" y="4137660"/>
              <a:ext cx="1013403" cy="243840"/>
            </a:xfrm>
            <a:prstGeom prst="rect">
              <a:avLst/>
            </a:prstGeom>
            <a:noFill/>
            <a:ln>
              <a:noFill/>
            </a:ln>
          </p:spPr>
          <p:txBody>
            <a:bodyPr wrap="none" lIns="0" tIns="0" rIns="0" bIns="0" anchor="t" anchorCtr="0">
              <a:spAutoFit/>
            </a:bodyPr>
            <a:lstStyle/>
            <a:p>
              <a:pPr algn="l"/>
              <a:r>
                <a:rPr lang="zh-CN" sz="1200" b="1" dirty="0">
                  <a:solidFill>
                    <a:srgbClr val="E07B00"/>
                  </a:solidFill>
                  <a:latin typeface="Arial"/>
                  <a:ea typeface="Microsoft YaHei"/>
                  <a:cs typeface="Arial"/>
                </a:rPr>
                <a:t>⚠ 需人工确认</a:t>
              </a:r>
            </a:p>
          </p:txBody>
        </p:sp>
        <p:sp>
          <p:nvSpPr>
            <p:cNvPr id="43" name="TextBox 43"/>
            <p:cNvSpPr txBox="1"/>
            <p:nvPr/>
          </p:nvSpPr>
          <p:spPr>
            <a:xfrm>
              <a:off x="8368665" y="4153852"/>
              <a:ext cx="586740"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口径归属</a:t>
              </a:r>
            </a:p>
          </p:txBody>
        </p:sp>
      </p:grpSp>
      <p:grpSp>
        <p:nvGrpSpPr>
          <p:cNvPr id="81" name="Group 81"/>
          <p:cNvGrpSpPr/>
          <p:nvPr/>
        </p:nvGrpSpPr>
        <p:grpSpPr>
          <a:xfrm>
            <a:off x="609600" y="4679632"/>
            <a:ext cx="10972800" cy="2083118"/>
            <a:chOff x="609600" y="4679632"/>
            <a:chExt cx="10972800" cy="2083118"/>
          </a:xfrm>
        </p:grpSpPr>
        <p:sp>
          <p:nvSpPr>
            <p:cNvPr id="45" name="TextBox 45"/>
            <p:cNvSpPr txBox="1"/>
            <p:nvPr/>
          </p:nvSpPr>
          <p:spPr>
            <a:xfrm>
              <a:off x="4313450" y="4679632"/>
              <a:ext cx="3565100"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模型拒绝行为画像（1920 篇统计）</a:t>
              </a:r>
            </a:p>
          </p:txBody>
        </p:sp>
        <p:sp>
          <p:nvSpPr>
            <p:cNvPr id="46" name="Rectangle 46"/>
            <p:cNvSpPr/>
            <p:nvPr/>
          </p:nvSpPr>
          <p:spPr>
            <a:xfrm>
              <a:off x="609600" y="5048250"/>
              <a:ext cx="10972800" cy="381000"/>
            </a:xfrm>
            <a:prstGeom prst="rect">
              <a:avLst/>
            </a:prstGeom>
            <a:solidFill>
              <a:srgbClr val="1F4D78"/>
            </a:solidFill>
            <a:ln>
              <a:noFill/>
            </a:ln>
          </p:spPr>
        </p:sp>
        <p:sp>
          <p:nvSpPr>
            <p:cNvPr id="47" name="TextBox 47"/>
            <p:cNvSpPr txBox="1"/>
            <p:nvPr/>
          </p:nvSpPr>
          <p:spPr>
            <a:xfrm>
              <a:off x="1699260" y="5175885"/>
              <a:ext cx="36652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模型</a:t>
              </a:r>
            </a:p>
          </p:txBody>
        </p:sp>
        <p:sp>
          <p:nvSpPr>
            <p:cNvPr id="48" name="TextBox 48"/>
            <p:cNvSpPr txBox="1"/>
            <p:nvPr/>
          </p:nvSpPr>
          <p:spPr>
            <a:xfrm>
              <a:off x="3413760" y="5175885"/>
              <a:ext cx="36652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组别</a:t>
              </a:r>
            </a:p>
          </p:txBody>
        </p:sp>
        <p:sp>
          <p:nvSpPr>
            <p:cNvPr id="49" name="TextBox 49"/>
            <p:cNvSpPr txBox="1"/>
            <p:nvPr/>
          </p:nvSpPr>
          <p:spPr>
            <a:xfrm>
              <a:off x="4747260" y="51758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拒绝次数</a:t>
              </a:r>
            </a:p>
          </p:txBody>
        </p:sp>
        <p:sp>
          <p:nvSpPr>
            <p:cNvPr id="50" name="TextBox 50"/>
            <p:cNvSpPr txBox="1"/>
            <p:nvPr/>
          </p:nvSpPr>
          <p:spPr>
            <a:xfrm>
              <a:off x="6271260" y="5175885"/>
              <a:ext cx="534543"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拒绝率</a:t>
              </a:r>
            </a:p>
          </p:txBody>
        </p:sp>
        <p:sp>
          <p:nvSpPr>
            <p:cNvPr id="51" name="TextBox 51"/>
            <p:cNvSpPr txBox="1"/>
            <p:nvPr/>
          </p:nvSpPr>
          <p:spPr>
            <a:xfrm>
              <a:off x="7795260" y="51758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评分均值</a:t>
              </a:r>
            </a:p>
          </p:txBody>
        </p:sp>
        <p:sp>
          <p:nvSpPr>
            <p:cNvPr id="52" name="TextBox 52"/>
            <p:cNvSpPr txBox="1"/>
            <p:nvPr/>
          </p:nvSpPr>
          <p:spPr>
            <a:xfrm>
              <a:off x="9509760" y="5175885"/>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行为特征</a:t>
              </a:r>
            </a:p>
          </p:txBody>
        </p:sp>
        <p:sp>
          <p:nvSpPr>
            <p:cNvPr id="53" name="Rectangle 53"/>
            <p:cNvSpPr/>
            <p:nvPr/>
          </p:nvSpPr>
          <p:spPr>
            <a:xfrm>
              <a:off x="609600" y="5429250"/>
              <a:ext cx="10972800" cy="333375"/>
            </a:xfrm>
            <a:prstGeom prst="rect">
              <a:avLst/>
            </a:prstGeom>
            <a:solidFill>
              <a:srgbClr val="F4F5F7"/>
            </a:solidFill>
            <a:ln>
              <a:noFill/>
            </a:ln>
          </p:spPr>
        </p:sp>
        <p:sp>
          <p:nvSpPr>
            <p:cNvPr id="54" name="TextBox 54"/>
            <p:cNvSpPr txBox="1"/>
            <p:nvPr/>
          </p:nvSpPr>
          <p:spPr>
            <a:xfrm>
              <a:off x="1700212" y="5526881"/>
              <a:ext cx="72616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Kimi-K2.6</a:t>
              </a:r>
            </a:p>
          </p:txBody>
        </p:sp>
        <p:sp>
          <p:nvSpPr>
            <p:cNvPr id="55" name="TextBox 55"/>
            <p:cNvSpPr txBox="1"/>
            <p:nvPr/>
          </p:nvSpPr>
          <p:spPr>
            <a:xfrm>
              <a:off x="3414712" y="5526881"/>
              <a:ext cx="711160"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B（严格）</a:t>
              </a:r>
            </a:p>
          </p:txBody>
        </p:sp>
        <p:sp>
          <p:nvSpPr>
            <p:cNvPr id="56" name="TextBox 56"/>
            <p:cNvSpPr txBox="1"/>
            <p:nvPr/>
          </p:nvSpPr>
          <p:spPr>
            <a:xfrm>
              <a:off x="4748212" y="5526881"/>
              <a:ext cx="406622" cy="228600"/>
            </a:xfrm>
            <a:prstGeom prst="rect">
              <a:avLst/>
            </a:prstGeom>
            <a:noFill/>
            <a:ln>
              <a:noFill/>
            </a:ln>
          </p:spPr>
          <p:txBody>
            <a:bodyPr wrap="none" lIns="0" tIns="0" rIns="0" bIns="0" anchor="t" anchorCtr="0">
              <a:spAutoFit/>
            </a:bodyPr>
            <a:lstStyle/>
            <a:p>
              <a:pPr algn="l"/>
              <a:r>
                <a:rPr lang="zh-CN" sz="1125" b="1" dirty="0">
                  <a:solidFill>
                    <a:srgbClr val="E07B00"/>
                  </a:solidFill>
                  <a:latin typeface="Arial"/>
                  <a:ea typeface="Microsoft YaHei"/>
                  <a:cs typeface="Arial"/>
                </a:rPr>
                <a:t>33 次</a:t>
              </a:r>
            </a:p>
          </p:txBody>
        </p:sp>
        <p:sp>
          <p:nvSpPr>
            <p:cNvPr id="57" name="TextBox 57"/>
            <p:cNvSpPr txBox="1"/>
            <p:nvPr/>
          </p:nvSpPr>
          <p:spPr>
            <a:xfrm>
              <a:off x="6272212" y="5526881"/>
              <a:ext cx="47863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最严格</a:t>
              </a:r>
            </a:p>
          </p:txBody>
        </p:sp>
        <p:sp>
          <p:nvSpPr>
            <p:cNvPr id="58" name="TextBox 58"/>
            <p:cNvSpPr txBox="1"/>
            <p:nvPr/>
          </p:nvSpPr>
          <p:spPr>
            <a:xfrm>
              <a:off x="7796212" y="5526881"/>
              <a:ext cx="35861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73.2</a:t>
              </a:r>
            </a:p>
          </p:txBody>
        </p:sp>
        <p:sp>
          <p:nvSpPr>
            <p:cNvPr id="59" name="TextBox 59"/>
            <p:cNvSpPr txBox="1"/>
            <p:nvPr/>
          </p:nvSpPr>
          <p:spPr>
            <a:xfrm>
              <a:off x="9511665" y="5534978"/>
              <a:ext cx="1006792"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拒绝与评分一致</a:t>
              </a:r>
            </a:p>
          </p:txBody>
        </p:sp>
        <p:sp>
          <p:nvSpPr>
            <p:cNvPr id="60" name="Rectangle 60"/>
            <p:cNvSpPr/>
            <p:nvPr/>
          </p:nvSpPr>
          <p:spPr>
            <a:xfrm>
              <a:off x="609600" y="5762625"/>
              <a:ext cx="10972800" cy="333375"/>
            </a:xfrm>
            <a:prstGeom prst="rect">
              <a:avLst/>
            </a:prstGeom>
            <a:solidFill>
              <a:srgbClr val="FFFFFF"/>
            </a:solidFill>
            <a:ln>
              <a:noFill/>
            </a:ln>
          </p:spPr>
        </p:sp>
        <p:sp>
          <p:nvSpPr>
            <p:cNvPr id="61" name="TextBox 61"/>
            <p:cNvSpPr txBox="1"/>
            <p:nvPr/>
          </p:nvSpPr>
          <p:spPr>
            <a:xfrm>
              <a:off x="1700212" y="5860256"/>
              <a:ext cx="598646"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GLM-5.1</a:t>
              </a:r>
            </a:p>
          </p:txBody>
        </p:sp>
        <p:sp>
          <p:nvSpPr>
            <p:cNvPr id="62" name="TextBox 62"/>
            <p:cNvSpPr txBox="1"/>
            <p:nvPr/>
          </p:nvSpPr>
          <p:spPr>
            <a:xfrm>
              <a:off x="3414712" y="5860256"/>
              <a:ext cx="711160"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A（宽松）</a:t>
              </a:r>
            </a:p>
          </p:txBody>
        </p:sp>
        <p:sp>
          <p:nvSpPr>
            <p:cNvPr id="63" name="TextBox 63"/>
            <p:cNvSpPr txBox="1"/>
            <p:nvPr/>
          </p:nvSpPr>
          <p:spPr>
            <a:xfrm>
              <a:off x="4748212" y="5860256"/>
              <a:ext cx="388620"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23 次</a:t>
              </a:r>
            </a:p>
          </p:txBody>
        </p:sp>
        <p:sp>
          <p:nvSpPr>
            <p:cNvPr id="64" name="TextBox 64"/>
            <p:cNvSpPr txBox="1"/>
            <p:nvPr/>
          </p:nvSpPr>
          <p:spPr>
            <a:xfrm>
              <a:off x="6272212" y="5860256"/>
              <a:ext cx="47863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偏严格</a:t>
              </a:r>
            </a:p>
          </p:txBody>
        </p:sp>
        <p:sp>
          <p:nvSpPr>
            <p:cNvPr id="65" name="TextBox 65"/>
            <p:cNvSpPr txBox="1"/>
            <p:nvPr/>
          </p:nvSpPr>
          <p:spPr>
            <a:xfrm>
              <a:off x="7796212" y="5860256"/>
              <a:ext cx="3211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71.5</a:t>
              </a:r>
            </a:p>
          </p:txBody>
        </p:sp>
        <p:sp>
          <p:nvSpPr>
            <p:cNvPr id="66" name="TextBox 66"/>
            <p:cNvSpPr txBox="1"/>
            <p:nvPr/>
          </p:nvSpPr>
          <p:spPr>
            <a:xfrm>
              <a:off x="9511665" y="5868352"/>
              <a:ext cx="1146810"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拒绝多但评分宽松</a:t>
              </a:r>
            </a:p>
          </p:txBody>
        </p:sp>
        <p:sp>
          <p:nvSpPr>
            <p:cNvPr id="67" name="Rectangle 67"/>
            <p:cNvSpPr/>
            <p:nvPr/>
          </p:nvSpPr>
          <p:spPr>
            <a:xfrm>
              <a:off x="609600" y="6096000"/>
              <a:ext cx="10972800" cy="333375"/>
            </a:xfrm>
            <a:prstGeom prst="rect">
              <a:avLst/>
            </a:prstGeom>
            <a:solidFill>
              <a:srgbClr val="F4F5F7"/>
            </a:solidFill>
            <a:ln>
              <a:noFill/>
            </a:ln>
          </p:spPr>
        </p:sp>
        <p:sp>
          <p:nvSpPr>
            <p:cNvPr id="68" name="TextBox 68"/>
            <p:cNvSpPr txBox="1"/>
            <p:nvPr/>
          </p:nvSpPr>
          <p:spPr>
            <a:xfrm>
              <a:off x="1700212" y="6193631"/>
              <a:ext cx="1266230"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DeepSeek-V4-Pro</a:t>
              </a:r>
            </a:p>
          </p:txBody>
        </p:sp>
        <p:sp>
          <p:nvSpPr>
            <p:cNvPr id="69" name="TextBox 69"/>
            <p:cNvSpPr txBox="1"/>
            <p:nvPr/>
          </p:nvSpPr>
          <p:spPr>
            <a:xfrm>
              <a:off x="3414712" y="6193631"/>
              <a:ext cx="711160"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B（严格）</a:t>
              </a:r>
            </a:p>
          </p:txBody>
        </p:sp>
        <p:sp>
          <p:nvSpPr>
            <p:cNvPr id="70" name="TextBox 70"/>
            <p:cNvSpPr txBox="1"/>
            <p:nvPr/>
          </p:nvSpPr>
          <p:spPr>
            <a:xfrm>
              <a:off x="4748212" y="6193631"/>
              <a:ext cx="351115"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15 次</a:t>
              </a:r>
            </a:p>
          </p:txBody>
        </p:sp>
        <p:sp>
          <p:nvSpPr>
            <p:cNvPr id="71" name="TextBox 71"/>
            <p:cNvSpPr txBox="1"/>
            <p:nvPr/>
          </p:nvSpPr>
          <p:spPr>
            <a:xfrm>
              <a:off x="6272212" y="6193631"/>
              <a:ext cx="32861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中等</a:t>
              </a:r>
            </a:p>
          </p:txBody>
        </p:sp>
        <p:sp>
          <p:nvSpPr>
            <p:cNvPr id="72" name="TextBox 72"/>
            <p:cNvSpPr txBox="1"/>
            <p:nvPr/>
          </p:nvSpPr>
          <p:spPr>
            <a:xfrm>
              <a:off x="7796212" y="6193631"/>
              <a:ext cx="375118" cy="228600"/>
            </a:xfrm>
            <a:prstGeom prst="rect">
              <a:avLst/>
            </a:prstGeom>
            <a:noFill/>
            <a:ln>
              <a:noFill/>
            </a:ln>
          </p:spPr>
          <p:txBody>
            <a:bodyPr wrap="none" lIns="0" tIns="0" rIns="0" bIns="0" anchor="t" anchorCtr="0">
              <a:spAutoFit/>
            </a:bodyPr>
            <a:lstStyle/>
            <a:p>
              <a:pPr algn="l"/>
              <a:r>
                <a:rPr lang="zh-CN" sz="1125" b="1" dirty="0">
                  <a:solidFill>
                    <a:srgbClr val="C8161E"/>
                  </a:solidFill>
                  <a:latin typeface="Arial"/>
                  <a:ea typeface="Microsoft YaHei"/>
                  <a:cs typeface="Arial"/>
                </a:rPr>
                <a:t>68.3</a:t>
              </a:r>
            </a:p>
          </p:txBody>
        </p:sp>
        <p:sp>
          <p:nvSpPr>
            <p:cNvPr id="73" name="TextBox 73"/>
            <p:cNvSpPr txBox="1"/>
            <p:nvPr/>
          </p:nvSpPr>
          <p:spPr>
            <a:xfrm>
              <a:off x="9511665" y="6201728"/>
              <a:ext cx="1286828"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评分最严但拒绝适中</a:t>
              </a:r>
            </a:p>
          </p:txBody>
        </p:sp>
        <p:sp>
          <p:nvSpPr>
            <p:cNvPr id="74" name="Rectangle 74"/>
            <p:cNvSpPr/>
            <p:nvPr/>
          </p:nvSpPr>
          <p:spPr>
            <a:xfrm>
              <a:off x="609600" y="6429375"/>
              <a:ext cx="10972800" cy="333375"/>
            </a:xfrm>
            <a:prstGeom prst="rect">
              <a:avLst/>
            </a:prstGeom>
            <a:solidFill>
              <a:srgbClr val="FFFFFF"/>
            </a:solidFill>
            <a:ln>
              <a:noFill/>
            </a:ln>
          </p:spPr>
        </p:sp>
        <p:sp>
          <p:nvSpPr>
            <p:cNvPr id="75" name="TextBox 75"/>
            <p:cNvSpPr txBox="1"/>
            <p:nvPr/>
          </p:nvSpPr>
          <p:spPr>
            <a:xfrm>
              <a:off x="1700212" y="6527006"/>
              <a:ext cx="1041202"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Qwen3.6-Plus</a:t>
              </a:r>
            </a:p>
          </p:txBody>
        </p:sp>
        <p:sp>
          <p:nvSpPr>
            <p:cNvPr id="76" name="TextBox 76"/>
            <p:cNvSpPr txBox="1"/>
            <p:nvPr/>
          </p:nvSpPr>
          <p:spPr>
            <a:xfrm>
              <a:off x="3414712" y="6527006"/>
              <a:ext cx="711160"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A（宽松）</a:t>
              </a:r>
            </a:p>
          </p:txBody>
        </p:sp>
        <p:sp>
          <p:nvSpPr>
            <p:cNvPr id="77" name="TextBox 77"/>
            <p:cNvSpPr txBox="1"/>
            <p:nvPr/>
          </p:nvSpPr>
          <p:spPr>
            <a:xfrm>
              <a:off x="4748212" y="6527006"/>
              <a:ext cx="319986"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6 次</a:t>
              </a:r>
            </a:p>
          </p:txBody>
        </p:sp>
        <p:sp>
          <p:nvSpPr>
            <p:cNvPr id="78" name="TextBox 78"/>
            <p:cNvSpPr txBox="1"/>
            <p:nvPr/>
          </p:nvSpPr>
          <p:spPr>
            <a:xfrm>
              <a:off x="6272212" y="6527006"/>
              <a:ext cx="47863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最宽松</a:t>
              </a:r>
            </a:p>
          </p:txBody>
        </p:sp>
        <p:sp>
          <p:nvSpPr>
            <p:cNvPr id="79" name="TextBox 79"/>
            <p:cNvSpPr txBox="1"/>
            <p:nvPr/>
          </p:nvSpPr>
          <p:spPr>
            <a:xfrm>
              <a:off x="7796212" y="6527006"/>
              <a:ext cx="335738"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75.1</a:t>
              </a:r>
            </a:p>
          </p:txBody>
        </p:sp>
        <p:sp>
          <p:nvSpPr>
            <p:cNvPr id="80" name="TextBox 80"/>
            <p:cNvSpPr txBox="1"/>
            <p:nvPr/>
          </p:nvSpPr>
          <p:spPr>
            <a:xfrm>
              <a:off x="9511665" y="6535102"/>
              <a:ext cx="1426845"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拒绝最少，评分最宽松</a:t>
              </a:r>
            </a:p>
          </p:txBody>
        </p:sp>
      </p:grpSp>
      <p:sp>
        <p:nvSpPr>
          <p:cNvPr id="82" name="TextBox 82"/>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A8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image">
                                      <p:cBhvr>
                                        <p:cTn id="7" dur="400"/>
                                        <p:tgtEl>
                                          <p:spTgt spid="4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fade">
                                      <p:cBhvr>
                                        <p:cTn id="11"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8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09600" y="304800"/>
            <a:ext cx="381000" cy="381000"/>
          </a:xfrm>
          <a:prstGeom prst="rect">
            <a:avLst/>
          </a:prstGeom>
        </p:spPr>
      </p:pic>
      <p:pic>
        <p:nvPicPr>
          <p:cNvPr id="4" name="Image 4"/>
          <p:cNvPicPr>
            <a:picLocks noChangeAspect="1"/>
          </p:cNvPicPr>
          <p:nvPr/>
        </p:nvPicPr>
        <p:blipFill>
          <a:blip r:embed="rId3"/>
          <a:stretch>
            <a:fillRect/>
          </a:stretch>
        </p:blipFill>
        <p:spPr>
          <a:xfrm>
            <a:off x="10001250" y="307348"/>
            <a:ext cx="1581150" cy="318755"/>
          </a:xfrm>
          <a:prstGeom prst="rect">
            <a:avLst/>
          </a:prstGeom>
        </p:spPr>
      </p:pic>
      <p:sp>
        <p:nvSpPr>
          <p:cNvPr id="5" name="Rectangle 5"/>
          <p:cNvSpPr/>
          <p:nvPr/>
        </p:nvSpPr>
        <p:spPr>
          <a:xfrm>
            <a:off x="609600" y="914400"/>
            <a:ext cx="38100" cy="304800"/>
          </a:xfrm>
          <a:prstGeom prst="rect">
            <a:avLst/>
          </a:prstGeom>
          <a:gradFill>
            <a:gsLst>
              <a:gs pos="0">
                <a:srgbClr val="C8161E"/>
              </a:gs>
              <a:gs pos="100000">
                <a:srgbClr val="1F4D78"/>
              </a:gs>
            </a:gsLst>
            <a:lin ang="0" scaled="1"/>
          </a:gradFill>
          <a:ln>
            <a:noFill/>
          </a:ln>
        </p:spPr>
      </p:sp>
      <p:sp>
        <p:nvSpPr>
          <p:cNvPr id="6" name="TextBox 6"/>
          <p:cNvSpPr txBox="1"/>
          <p:nvPr/>
        </p:nvSpPr>
        <p:spPr>
          <a:xfrm>
            <a:off x="731520" y="902970"/>
            <a:ext cx="7369874" cy="487680"/>
          </a:xfrm>
          <a:prstGeom prst="rect">
            <a:avLst/>
          </a:prstGeom>
          <a:noFill/>
          <a:ln>
            <a:noFill/>
          </a:ln>
        </p:spPr>
        <p:txBody>
          <a:bodyPr wrap="none" lIns="0" tIns="0" rIns="0" bIns="0" anchor="t" anchorCtr="0">
            <a:spAutoFit/>
          </a:bodyPr>
          <a:lstStyle/>
          <a:p>
            <a:pPr algn="l"/>
            <a:r>
              <a:rPr lang="zh-CN" sz="2400" b="1" dirty="0">
                <a:solidFill>
                  <a:srgbClr val="1B1C21"/>
                </a:solidFill>
                <a:latin typeface="Arial"/>
                <a:ea typeface="Microsoft YaHei"/>
                <a:cs typeface="Arial"/>
              </a:rPr>
              <a:t>附录 A9：Top 30 自主信号与知识库匹配详细数据</a:t>
            </a:r>
          </a:p>
        </p:txBody>
      </p:sp>
      <p:grpSp>
        <p:nvGrpSpPr>
          <p:cNvPr id="20" name="Group 20"/>
          <p:cNvGrpSpPr/>
          <p:nvPr/>
        </p:nvGrpSpPr>
        <p:grpSpPr>
          <a:xfrm>
            <a:off x="609600" y="1536382"/>
            <a:ext cx="10972800" cy="2083118"/>
            <a:chOff x="609600" y="1536382"/>
            <a:chExt cx="10972800" cy="2083118"/>
          </a:xfrm>
        </p:grpSpPr>
        <p:sp>
          <p:nvSpPr>
            <p:cNvPr id="7" name="TextBox 7"/>
            <p:cNvSpPr txBox="1"/>
            <p:nvPr/>
          </p:nvSpPr>
          <p:spPr>
            <a:xfrm>
              <a:off x="4180608" y="1536382"/>
              <a:ext cx="3830784"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自主知识信号评测（30 篇 × 2 模型）</a:t>
              </a:r>
            </a:p>
          </p:txBody>
        </p:sp>
        <p:sp>
          <p:nvSpPr>
            <p:cNvPr id="8" name="Rectangle 8"/>
            <p:cNvSpPr/>
            <p:nvPr/>
          </p:nvSpPr>
          <p:spPr>
            <a:xfrm>
              <a:off x="609600" y="1905000"/>
              <a:ext cx="5334000" cy="1714500"/>
            </a:xfrm>
            <a:prstGeom prst="roundRect">
              <a:avLst>
                <a:gd name="adj" fmla="val 4444"/>
              </a:avLst>
            </a:prstGeom>
            <a:solidFill>
              <a:srgbClr val="F4F5F7"/>
            </a:solidFill>
            <a:ln>
              <a:noFill/>
            </a:ln>
          </p:spPr>
        </p:sp>
        <p:sp>
          <p:nvSpPr>
            <p:cNvPr id="9" name="TextBox 9"/>
            <p:cNvSpPr txBox="1"/>
            <p:nvPr/>
          </p:nvSpPr>
          <p:spPr>
            <a:xfrm>
              <a:off x="935355" y="2092642"/>
              <a:ext cx="1678796" cy="274320"/>
            </a:xfrm>
            <a:prstGeom prst="rect">
              <a:avLst/>
            </a:prstGeom>
            <a:noFill/>
            <a:ln>
              <a:noFill/>
            </a:ln>
          </p:spPr>
          <p:txBody>
            <a:bodyPr wrap="none" lIns="0" tIns="0" rIns="0" bIns="0" anchor="t" anchorCtr="0">
              <a:spAutoFit/>
            </a:bodyPr>
            <a:lstStyle/>
            <a:p>
              <a:pPr algn="l"/>
              <a:r>
                <a:rPr lang="zh-CN" sz="1350" b="1" dirty="0">
                  <a:solidFill>
                    <a:srgbClr val="1B1C21"/>
                  </a:solidFill>
                  <a:latin typeface="Arial"/>
                  <a:ea typeface="Microsoft YaHei"/>
                  <a:cs typeface="Arial"/>
                </a:rPr>
                <a:t>DeepSeek 评测结果</a:t>
              </a:r>
            </a:p>
          </p:txBody>
        </p:sp>
        <p:sp>
          <p:nvSpPr>
            <p:cNvPr id="10" name="TextBox 10"/>
            <p:cNvSpPr txBox="1"/>
            <p:nvPr/>
          </p:nvSpPr>
          <p:spPr>
            <a:xfrm>
              <a:off x="936308" y="2434114"/>
              <a:ext cx="1979128"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平均信号强度：</a:t>
              </a:r>
              <a:r>
                <a:rPr lang="zh-CN" sz="1275" dirty="0">
                  <a:solidFill>
                    <a:srgbClr val="1B1C21"/>
                  </a:solidFill>
                  <a:latin typeface="Arial"/>
                  <a:ea typeface="Microsoft YaHei"/>
                  <a:cs typeface="Arial"/>
                </a:rPr>
                <a:t xml:space="preserve"> </a:t>
              </a:r>
              <a:r>
                <a:rPr lang="zh-CN" sz="1275" b="1" dirty="0">
                  <a:solidFill>
                    <a:srgbClr val="2E7D32"/>
                  </a:solidFill>
                  <a:latin typeface="Arial"/>
                  <a:ea typeface="Microsoft YaHei"/>
                  <a:cs typeface="Arial"/>
                </a:rPr>
                <a:t>7.33/8</a:t>
              </a:r>
            </a:p>
          </p:txBody>
        </p:sp>
        <p:sp>
          <p:nvSpPr>
            <p:cNvPr id="11" name="TextBox 11"/>
            <p:cNvSpPr txBox="1"/>
            <p:nvPr/>
          </p:nvSpPr>
          <p:spPr>
            <a:xfrm>
              <a:off x="936308" y="2719864"/>
              <a:ext cx="251469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Strong 信号：24 篇（80.0%）</a:t>
              </a:r>
            </a:p>
          </p:txBody>
        </p:sp>
        <p:sp>
          <p:nvSpPr>
            <p:cNvPr id="12" name="TextBox 12"/>
            <p:cNvSpPr txBox="1"/>
            <p:nvPr/>
          </p:nvSpPr>
          <p:spPr>
            <a:xfrm>
              <a:off x="936308" y="3005614"/>
              <a:ext cx="2642211"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Moderate 信号：6 篇（20.0%）</a:t>
              </a:r>
            </a:p>
          </p:txBody>
        </p:sp>
        <p:sp>
          <p:nvSpPr>
            <p:cNvPr id="13" name="TextBox 13"/>
            <p:cNvSpPr txBox="1"/>
            <p:nvPr/>
          </p:nvSpPr>
          <p:spPr>
            <a:xfrm>
              <a:off x="936308" y="3291364"/>
              <a:ext cx="3237286"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典型案例：0101 中国特色反腐败制度框架</a:t>
              </a:r>
            </a:p>
          </p:txBody>
        </p:sp>
        <p:sp>
          <p:nvSpPr>
            <p:cNvPr id="14" name="Rectangle 14"/>
            <p:cNvSpPr/>
            <p:nvPr/>
          </p:nvSpPr>
          <p:spPr>
            <a:xfrm>
              <a:off x="6248400" y="1905000"/>
              <a:ext cx="5334000" cy="1714500"/>
            </a:xfrm>
            <a:prstGeom prst="roundRect">
              <a:avLst>
                <a:gd name="adj" fmla="val 4444"/>
              </a:avLst>
            </a:prstGeom>
            <a:solidFill>
              <a:srgbClr val="F4F5F7"/>
            </a:solidFill>
            <a:ln>
              <a:noFill/>
            </a:ln>
          </p:spPr>
        </p:sp>
        <p:sp>
          <p:nvSpPr>
            <p:cNvPr id="15" name="TextBox 15"/>
            <p:cNvSpPr txBox="1"/>
            <p:nvPr/>
          </p:nvSpPr>
          <p:spPr>
            <a:xfrm>
              <a:off x="6574155" y="2092642"/>
              <a:ext cx="1338553" cy="274320"/>
            </a:xfrm>
            <a:prstGeom prst="rect">
              <a:avLst/>
            </a:prstGeom>
            <a:noFill/>
            <a:ln>
              <a:noFill/>
            </a:ln>
          </p:spPr>
          <p:txBody>
            <a:bodyPr wrap="none" lIns="0" tIns="0" rIns="0" bIns="0" anchor="t" anchorCtr="0">
              <a:spAutoFit/>
            </a:bodyPr>
            <a:lstStyle/>
            <a:p>
              <a:pPr algn="l"/>
              <a:r>
                <a:rPr lang="zh-CN" sz="1350" b="1" dirty="0">
                  <a:solidFill>
                    <a:srgbClr val="1B1C21"/>
                  </a:solidFill>
                  <a:latin typeface="Arial"/>
                  <a:ea typeface="Microsoft YaHei"/>
                  <a:cs typeface="Arial"/>
                </a:rPr>
                <a:t>Qwen 评测结果</a:t>
              </a:r>
            </a:p>
          </p:txBody>
        </p:sp>
        <p:sp>
          <p:nvSpPr>
            <p:cNvPr id="16" name="TextBox 16"/>
            <p:cNvSpPr txBox="1"/>
            <p:nvPr/>
          </p:nvSpPr>
          <p:spPr>
            <a:xfrm>
              <a:off x="6575108" y="2434114"/>
              <a:ext cx="1979128"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平均信号强度：</a:t>
              </a:r>
              <a:r>
                <a:rPr lang="zh-CN" sz="1275" dirty="0">
                  <a:solidFill>
                    <a:srgbClr val="1B1C21"/>
                  </a:solidFill>
                  <a:latin typeface="Arial"/>
                  <a:ea typeface="Microsoft YaHei"/>
                  <a:cs typeface="Arial"/>
                </a:rPr>
                <a:t xml:space="preserve"> </a:t>
              </a:r>
              <a:r>
                <a:rPr lang="zh-CN" sz="1275" b="1" dirty="0">
                  <a:solidFill>
                    <a:srgbClr val="2E7D32"/>
                  </a:solidFill>
                  <a:latin typeface="Arial"/>
                  <a:ea typeface="Microsoft YaHei"/>
                  <a:cs typeface="Arial"/>
                </a:rPr>
                <a:t>7.90/8</a:t>
              </a:r>
            </a:p>
          </p:txBody>
        </p:sp>
        <p:sp>
          <p:nvSpPr>
            <p:cNvPr id="17" name="TextBox 17"/>
            <p:cNvSpPr txBox="1"/>
            <p:nvPr/>
          </p:nvSpPr>
          <p:spPr>
            <a:xfrm>
              <a:off x="6575108" y="2719864"/>
              <a:ext cx="251469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Strong 信号：29 篇（96.7%）</a:t>
              </a:r>
            </a:p>
          </p:txBody>
        </p:sp>
        <p:sp>
          <p:nvSpPr>
            <p:cNvPr id="18" name="TextBox 18"/>
            <p:cNvSpPr txBox="1"/>
            <p:nvPr/>
          </p:nvSpPr>
          <p:spPr>
            <a:xfrm>
              <a:off x="6575108" y="3005614"/>
              <a:ext cx="250619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Moderate 信号：1 篇（3.3%）</a:t>
              </a:r>
            </a:p>
          </p:txBody>
        </p:sp>
        <p:sp>
          <p:nvSpPr>
            <p:cNvPr id="19" name="TextBox 19"/>
            <p:cNvSpPr txBox="1"/>
            <p:nvPr/>
          </p:nvSpPr>
          <p:spPr>
            <a:xfrm>
              <a:off x="6575108" y="3291364"/>
              <a:ext cx="195362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模型间平均 std：</a:t>
              </a:r>
              <a:r>
                <a:rPr lang="zh-CN" sz="1275" dirty="0">
                  <a:solidFill>
                    <a:srgbClr val="1B1C21"/>
                  </a:solidFill>
                  <a:latin typeface="Arial"/>
                  <a:ea typeface="Microsoft YaHei"/>
                  <a:cs typeface="Arial"/>
                </a:rPr>
                <a:t xml:space="preserve"> </a:t>
              </a:r>
              <a:r>
                <a:rPr lang="zh-CN" sz="1275" b="1" dirty="0">
                  <a:solidFill>
                    <a:srgbClr val="2E7D32"/>
                  </a:solidFill>
                  <a:latin typeface="Arial"/>
                  <a:ea typeface="Microsoft YaHei"/>
                  <a:cs typeface="Arial"/>
                </a:rPr>
                <a:t>0.28</a:t>
              </a:r>
            </a:p>
          </p:txBody>
        </p:sp>
      </p:grpSp>
      <p:grpSp>
        <p:nvGrpSpPr>
          <p:cNvPr id="46" name="Group 46"/>
          <p:cNvGrpSpPr/>
          <p:nvPr/>
        </p:nvGrpSpPr>
        <p:grpSpPr>
          <a:xfrm>
            <a:off x="609600" y="3822382"/>
            <a:ext cx="10972800" cy="2654618"/>
            <a:chOff x="609600" y="3822382"/>
            <a:chExt cx="10972800" cy="2654618"/>
          </a:xfrm>
        </p:grpSpPr>
        <p:sp>
          <p:nvSpPr>
            <p:cNvPr id="21" name="TextBox 21"/>
            <p:cNvSpPr txBox="1"/>
            <p:nvPr/>
          </p:nvSpPr>
          <p:spPr>
            <a:xfrm>
              <a:off x="5266444" y="3822382"/>
              <a:ext cx="1659112"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知识库匹配成果</a:t>
              </a:r>
            </a:p>
          </p:txBody>
        </p:sp>
        <p:sp>
          <p:nvSpPr>
            <p:cNvPr id="22" name="Rectangle 22"/>
            <p:cNvSpPr/>
            <p:nvPr/>
          </p:nvSpPr>
          <p:spPr>
            <a:xfrm>
              <a:off x="609600" y="4191000"/>
              <a:ext cx="3429000" cy="2286000"/>
            </a:xfrm>
            <a:prstGeom prst="roundRect">
              <a:avLst>
                <a:gd name="adj" fmla="val 3333"/>
              </a:avLst>
            </a:prstGeom>
            <a:solidFill>
              <a:srgbClr val="F4F5F7"/>
            </a:solidFill>
            <a:ln>
              <a:noFill/>
            </a:ln>
          </p:spPr>
        </p:sp>
        <p:sp>
          <p:nvSpPr>
            <p:cNvPr id="23" name="TextBox 23"/>
            <p:cNvSpPr txBox="1"/>
            <p:nvPr/>
          </p:nvSpPr>
          <p:spPr>
            <a:xfrm>
              <a:off x="1928908" y="4378642"/>
              <a:ext cx="790384" cy="274320"/>
            </a:xfrm>
            <a:prstGeom prst="rect">
              <a:avLst/>
            </a:prstGeom>
            <a:noFill/>
            <a:ln>
              <a:noFill/>
            </a:ln>
          </p:spPr>
          <p:txBody>
            <a:bodyPr wrap="none" lIns="0" tIns="0" rIns="0" bIns="0" anchor="t" anchorCtr="0">
              <a:spAutoFit/>
            </a:bodyPr>
            <a:lstStyle/>
            <a:p>
              <a:pPr algn="ctr"/>
              <a:r>
                <a:rPr lang="zh-CN" sz="1350" b="1" dirty="0">
                  <a:solidFill>
                    <a:srgbClr val="1B1C21"/>
                  </a:solidFill>
                  <a:latin typeface="Arial"/>
                  <a:ea typeface="Microsoft YaHei"/>
                  <a:cs typeface="Arial"/>
                </a:rPr>
                <a:t>匹配统计</a:t>
              </a:r>
            </a:p>
          </p:txBody>
        </p:sp>
        <p:sp>
          <p:nvSpPr>
            <p:cNvPr id="24" name="TextBox 24"/>
            <p:cNvSpPr txBox="1"/>
            <p:nvPr/>
          </p:nvSpPr>
          <p:spPr>
            <a:xfrm>
              <a:off x="936308" y="4767739"/>
              <a:ext cx="1656088"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总匹配条目：</a:t>
              </a:r>
              <a:r>
                <a:rPr lang="zh-CN" sz="1275" dirty="0">
                  <a:solidFill>
                    <a:srgbClr val="1B1C21"/>
                  </a:solidFill>
                  <a:latin typeface="Arial"/>
                  <a:ea typeface="Microsoft YaHei"/>
                  <a:cs typeface="Arial"/>
                </a:rPr>
                <a:t xml:space="preserve"> </a:t>
              </a:r>
              <a:r>
                <a:rPr lang="zh-CN" sz="1275" b="1" dirty="0">
                  <a:solidFill>
                    <a:srgbClr val="1F4D78"/>
                  </a:solidFill>
                  <a:latin typeface="Arial"/>
                  <a:ea typeface="Microsoft YaHei"/>
                  <a:cs typeface="Arial"/>
                </a:rPr>
                <a:t>76 个</a:t>
              </a:r>
            </a:p>
          </p:txBody>
        </p:sp>
        <p:sp>
          <p:nvSpPr>
            <p:cNvPr id="25" name="TextBox 25"/>
            <p:cNvSpPr txBox="1"/>
            <p:nvPr/>
          </p:nvSpPr>
          <p:spPr>
            <a:xfrm>
              <a:off x="936308" y="5053489"/>
              <a:ext cx="178360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LLM verified：76 个</a:t>
              </a:r>
            </a:p>
          </p:txBody>
        </p:sp>
        <p:sp>
          <p:nvSpPr>
            <p:cNvPr id="26" name="TextBox 26"/>
            <p:cNvSpPr txBox="1"/>
            <p:nvPr/>
          </p:nvSpPr>
          <p:spPr>
            <a:xfrm>
              <a:off x="936308" y="5339239"/>
              <a:ext cx="1647587"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High 置信度：27 篇</a:t>
              </a:r>
            </a:p>
          </p:txBody>
        </p:sp>
        <p:sp>
          <p:nvSpPr>
            <p:cNvPr id="27" name="TextBox 27"/>
            <p:cNvSpPr txBox="1"/>
            <p:nvPr/>
          </p:nvSpPr>
          <p:spPr>
            <a:xfrm>
              <a:off x="936308" y="5624989"/>
              <a:ext cx="1809107"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Medium 置信度：3 篇</a:t>
              </a:r>
            </a:p>
          </p:txBody>
        </p:sp>
        <p:sp>
          <p:nvSpPr>
            <p:cNvPr id="28" name="TextBox 28"/>
            <p:cNvSpPr txBox="1"/>
            <p:nvPr/>
          </p:nvSpPr>
          <p:spPr>
            <a:xfrm>
              <a:off x="936308" y="5910739"/>
              <a:ext cx="2047137"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学科覆盖：民法、刑法、</a:t>
              </a:r>
            </a:p>
          </p:txBody>
        </p:sp>
        <p:sp>
          <p:nvSpPr>
            <p:cNvPr id="29" name="TextBox 29"/>
            <p:cNvSpPr txBox="1"/>
            <p:nvPr/>
          </p:nvSpPr>
          <p:spPr>
            <a:xfrm>
              <a:off x="1126808" y="6148864"/>
              <a:ext cx="1052513"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法理学为主轴</a:t>
              </a:r>
            </a:p>
          </p:txBody>
        </p:sp>
        <p:sp>
          <p:nvSpPr>
            <p:cNvPr id="30" name="Rectangle 30"/>
            <p:cNvSpPr/>
            <p:nvPr/>
          </p:nvSpPr>
          <p:spPr>
            <a:xfrm>
              <a:off x="4381500" y="4191000"/>
              <a:ext cx="3429000" cy="2286000"/>
            </a:xfrm>
            <a:prstGeom prst="roundRect">
              <a:avLst>
                <a:gd name="adj" fmla="val 3333"/>
              </a:avLst>
            </a:prstGeom>
            <a:solidFill>
              <a:srgbClr val="F4F5F7"/>
            </a:solidFill>
            <a:ln>
              <a:noFill/>
            </a:ln>
          </p:spPr>
        </p:sp>
        <p:sp>
          <p:nvSpPr>
            <p:cNvPr id="31" name="TextBox 31"/>
            <p:cNvSpPr txBox="1"/>
            <p:nvPr/>
          </p:nvSpPr>
          <p:spPr>
            <a:xfrm>
              <a:off x="5700808" y="4378642"/>
              <a:ext cx="790384" cy="274320"/>
            </a:xfrm>
            <a:prstGeom prst="rect">
              <a:avLst/>
            </a:prstGeom>
            <a:noFill/>
            <a:ln>
              <a:noFill/>
            </a:ln>
          </p:spPr>
          <p:txBody>
            <a:bodyPr wrap="none" lIns="0" tIns="0" rIns="0" bIns="0" anchor="t" anchorCtr="0">
              <a:spAutoFit/>
            </a:bodyPr>
            <a:lstStyle/>
            <a:p>
              <a:pPr algn="ctr"/>
              <a:r>
                <a:rPr lang="zh-CN" sz="1350" b="1" dirty="0">
                  <a:solidFill>
                    <a:srgbClr val="1B1C21"/>
                  </a:solidFill>
                  <a:latin typeface="Arial"/>
                  <a:ea typeface="Microsoft YaHei"/>
                  <a:cs typeface="Arial"/>
                </a:rPr>
                <a:t>匹配类型</a:t>
              </a:r>
            </a:p>
          </p:txBody>
        </p:sp>
        <p:sp>
          <p:nvSpPr>
            <p:cNvPr id="32" name="TextBox 32"/>
            <p:cNvSpPr txBox="1"/>
            <p:nvPr/>
          </p:nvSpPr>
          <p:spPr>
            <a:xfrm>
              <a:off x="4708208" y="4767739"/>
              <a:ext cx="160508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标识性概念：32 个</a:t>
              </a:r>
            </a:p>
          </p:txBody>
        </p:sp>
        <p:sp>
          <p:nvSpPr>
            <p:cNvPr id="33" name="TextBox 33"/>
            <p:cNvSpPr txBox="1"/>
            <p:nvPr/>
          </p:nvSpPr>
          <p:spPr>
            <a:xfrm>
              <a:off x="4708208" y="5053489"/>
              <a:ext cx="1562576"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原创性理论：18 个</a:t>
              </a:r>
            </a:p>
          </p:txBody>
        </p:sp>
        <p:sp>
          <p:nvSpPr>
            <p:cNvPr id="34" name="TextBox 34"/>
            <p:cNvSpPr txBox="1"/>
            <p:nvPr/>
          </p:nvSpPr>
          <p:spPr>
            <a:xfrm>
              <a:off x="4708208" y="5339239"/>
              <a:ext cx="143506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框架结构：26 个</a:t>
              </a:r>
            </a:p>
          </p:txBody>
        </p:sp>
        <p:sp>
          <p:nvSpPr>
            <p:cNvPr id="35" name="TextBox 35"/>
            <p:cNvSpPr txBox="1"/>
            <p:nvPr/>
          </p:nvSpPr>
          <p:spPr>
            <a:xfrm>
              <a:off x="4708208" y="5624989"/>
              <a:ext cx="1027009"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典型案例：</a:t>
              </a:r>
            </a:p>
          </p:txBody>
        </p:sp>
        <p:sp>
          <p:nvSpPr>
            <p:cNvPr id="36" name="TextBox 36"/>
            <p:cNvSpPr txBox="1"/>
            <p:nvPr/>
          </p:nvSpPr>
          <p:spPr>
            <a:xfrm>
              <a:off x="4900612" y="5879306"/>
              <a:ext cx="1228725"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0101 贿赂犯罪法益</a:t>
              </a:r>
            </a:p>
          </p:txBody>
        </p:sp>
        <p:sp>
          <p:nvSpPr>
            <p:cNvPr id="37" name="TextBox 37"/>
            <p:cNvSpPr txBox="1"/>
            <p:nvPr/>
          </p:nvSpPr>
          <p:spPr>
            <a:xfrm>
              <a:off x="4900612" y="6069806"/>
              <a:ext cx="1303734" cy="228600"/>
            </a:xfrm>
            <a:prstGeom prst="rect">
              <a:avLst/>
            </a:prstGeom>
            <a:noFill/>
            <a:ln>
              <a:noFill/>
            </a:ln>
          </p:spPr>
          <p:txBody>
            <a:bodyPr wrap="none" lIns="0" tIns="0" rIns="0" bIns="0" anchor="t" anchorCtr="0">
              <a:spAutoFit/>
            </a:bodyPr>
            <a:lstStyle/>
            <a:p>
              <a:pPr algn="l"/>
              <a:r>
                <a:rPr lang="zh-CN" sz="1125" dirty="0">
                  <a:solidFill>
                    <a:srgbClr val="5A6472"/>
                  </a:solidFill>
                  <a:latin typeface="Arial"/>
                  <a:ea typeface="Microsoft YaHei"/>
                  <a:cs typeface="Arial"/>
                </a:rPr>
                <a:t>0820 法律行为理论</a:t>
              </a:r>
            </a:p>
          </p:txBody>
        </p:sp>
        <p:sp>
          <p:nvSpPr>
            <p:cNvPr id="38" name="Rectangle 38"/>
            <p:cNvSpPr/>
            <p:nvPr/>
          </p:nvSpPr>
          <p:spPr>
            <a:xfrm>
              <a:off x="8153400" y="4191000"/>
              <a:ext cx="3429000" cy="2286000"/>
            </a:xfrm>
            <a:prstGeom prst="roundRect">
              <a:avLst>
                <a:gd name="adj" fmla="val 3333"/>
              </a:avLst>
            </a:prstGeom>
            <a:solidFill>
              <a:srgbClr val="FFF5F0"/>
            </a:solidFill>
            <a:ln>
              <a:noFill/>
            </a:ln>
          </p:spPr>
        </p:sp>
        <p:sp>
          <p:nvSpPr>
            <p:cNvPr id="39" name="TextBox 39"/>
            <p:cNvSpPr txBox="1"/>
            <p:nvPr/>
          </p:nvSpPr>
          <p:spPr>
            <a:xfrm>
              <a:off x="9472708" y="4378642"/>
              <a:ext cx="790384" cy="274320"/>
            </a:xfrm>
            <a:prstGeom prst="rect">
              <a:avLst/>
            </a:prstGeom>
            <a:noFill/>
            <a:ln>
              <a:noFill/>
            </a:ln>
          </p:spPr>
          <p:txBody>
            <a:bodyPr wrap="none" lIns="0" tIns="0" rIns="0" bIns="0" anchor="t" anchorCtr="0">
              <a:spAutoFit/>
            </a:bodyPr>
            <a:lstStyle/>
            <a:p>
              <a:pPr algn="ctr"/>
              <a:r>
                <a:rPr lang="zh-CN" sz="1350" b="1" dirty="0">
                  <a:solidFill>
                    <a:srgbClr val="E07B00"/>
                  </a:solidFill>
                  <a:latin typeface="Arial"/>
                  <a:ea typeface="Microsoft YaHei"/>
                  <a:cs typeface="Arial"/>
                </a:rPr>
                <a:t>分歧案例</a:t>
              </a:r>
            </a:p>
          </p:txBody>
        </p:sp>
        <p:sp>
          <p:nvSpPr>
            <p:cNvPr id="40" name="TextBox 40"/>
            <p:cNvSpPr txBox="1"/>
            <p:nvPr/>
          </p:nvSpPr>
          <p:spPr>
            <a:xfrm>
              <a:off x="8480108" y="4767739"/>
              <a:ext cx="2004631"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3 篇论文两模型 std=1.5</a:t>
              </a:r>
            </a:p>
          </p:txBody>
        </p:sp>
        <p:sp>
          <p:nvSpPr>
            <p:cNvPr id="41" name="TextBox 41"/>
            <p:cNvSpPr txBox="1"/>
            <p:nvPr/>
          </p:nvSpPr>
          <p:spPr>
            <a:xfrm>
              <a:off x="8480108" y="5053489"/>
              <a:ext cx="163058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主要围绕"中国问题</a:t>
              </a:r>
            </a:p>
          </p:txBody>
        </p:sp>
        <p:sp>
          <p:nvSpPr>
            <p:cNvPr id="42" name="TextBox 42"/>
            <p:cNvSpPr txBox="1"/>
            <p:nvPr/>
          </p:nvSpPr>
          <p:spPr>
            <a:xfrm>
              <a:off x="8670608" y="5243989"/>
              <a:ext cx="131604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中心性"宽严判断</a:t>
              </a:r>
            </a:p>
          </p:txBody>
        </p:sp>
        <p:sp>
          <p:nvSpPr>
            <p:cNvPr id="43" name="TextBox 43"/>
            <p:cNvSpPr txBox="1"/>
            <p:nvPr/>
          </p:nvSpPr>
          <p:spPr>
            <a:xfrm>
              <a:off x="8480108" y="5577364"/>
              <a:ext cx="202163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案例：0820、1307、1821</a:t>
              </a:r>
            </a:p>
          </p:txBody>
        </p:sp>
        <p:sp>
          <p:nvSpPr>
            <p:cNvPr id="44" name="TextBox 44"/>
            <p:cNvSpPr txBox="1"/>
            <p:nvPr/>
          </p:nvSpPr>
          <p:spPr>
            <a:xfrm>
              <a:off x="8480108" y="5910739"/>
              <a:ext cx="170709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 处理：在专家说明中</a:t>
              </a:r>
            </a:p>
          </p:txBody>
        </p:sp>
        <p:sp>
          <p:nvSpPr>
            <p:cNvPr id="45" name="TextBox 45"/>
            <p:cNvSpPr txBox="1"/>
            <p:nvPr/>
          </p:nvSpPr>
          <p:spPr>
            <a:xfrm>
              <a:off x="8670608" y="6101239"/>
              <a:ext cx="1052513"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保留分歧解释</a:t>
              </a:r>
            </a:p>
          </p:txBody>
        </p:sp>
      </p:grpSp>
      <p:sp>
        <p:nvSpPr>
          <p:cNvPr id="47" name="TextBox 47"/>
          <p:cNvSpPr txBox="1"/>
          <p:nvPr/>
        </p:nvSpPr>
        <p:spPr>
          <a:xfrm>
            <a:off x="11438954" y="6646545"/>
            <a:ext cx="154877" cy="182880"/>
          </a:xfrm>
          <a:prstGeom prst="rect">
            <a:avLst/>
          </a:prstGeom>
          <a:noFill/>
          <a:ln>
            <a:noFill/>
          </a:ln>
        </p:spPr>
        <p:txBody>
          <a:bodyPr wrap="none" lIns="0" tIns="0" rIns="0" bIns="0" anchor="t" anchorCtr="0">
            <a:spAutoFit/>
          </a:bodyPr>
          <a:lstStyle/>
          <a:p>
            <a:pPr algn="r"/>
            <a:r>
              <a:rPr lang="zh-CN" sz="900" dirty="0">
                <a:solidFill>
                  <a:srgbClr val="9AA3AE"/>
                </a:solidFill>
                <a:latin typeface="Arial"/>
                <a:ea typeface="Microsoft YaHei"/>
                <a:cs typeface="Arial"/>
              </a:rPr>
              <a:t>A9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400"/>
                                        <p:tgtEl>
                                          <p:spTgt spid="2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slide(fromBottom)">
                                      <p:cBhvr>
                                        <p:cTn id="11"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