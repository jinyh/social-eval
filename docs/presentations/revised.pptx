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10657" r:id="rId3"/>
    <p:sldId id="10658" r:id="rId4"/>
    <p:sldId id="9918" r:id="rId5"/>
  </p:sldIdLst>
  <p:sldSz cx="12192000" cy="6858000"/>
  <p:notesSz cx="7102475" cy="10233025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 autoAdjust="0"/>
    <p:restoredTop sz="85578" autoAdjust="0"/>
  </p:normalViewPr>
  <p:slideViewPr>
    <p:cSldViewPr snapToGrid="0" showGuides="1">
      <p:cViewPr>
        <p:scale>
          <a:sx n="86" d="100"/>
          <a:sy n="86" d="100"/>
        </p:scale>
        <p:origin x="616" y="408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4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7C66039A-3D15-4D27-8FD3-6ADF01C34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建筑物&#10;&#10;自动生成的说明">
            <a:extLst>
              <a:ext uri="{FF2B5EF4-FFF2-40B4-BE49-F238E27FC236}">
                <a16:creationId xmlns:a16="http://schemas.microsoft.com/office/drawing/2014/main" id="{27CDB2F7-E7B6-465A-921A-BD30952F7D4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924" y="4902201"/>
            <a:ext cx="7179060" cy="2311400"/>
          </a:xfrm>
          <a:prstGeom prst="rect">
            <a:avLst/>
          </a:prstGeom>
          <a:effectLst/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>
            <a:extLst>
              <a:ext uri="{FF2B5EF4-FFF2-40B4-BE49-F238E27FC236}">
                <a16:creationId xmlns:a16="http://schemas.microsoft.com/office/drawing/2014/main" id="{B46500FD-D914-4D54-A821-08966030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1CEC8E-67B8-0542-B6BF-1336F7F82C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133351"/>
            <a:ext cx="2082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3C46B9-BB5F-5D48-A282-A1DFCA9C9F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62" y="918446"/>
            <a:ext cx="56134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5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966519" y="4176584"/>
            <a:ext cx="4460789" cy="1474365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上海交通大学人工智能研究院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金耀辉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2026</a:t>
            </a:r>
            <a:r>
              <a:rPr lang="zh-CN" altLang="en-US" dirty="0">
                <a:latin typeface="+mn-ea"/>
              </a:rPr>
              <a:t>年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月</a:t>
            </a:r>
            <a:endParaRPr lang="en-US" altLang="zh-CN" dirty="0">
              <a:latin typeface="+mn-ea"/>
            </a:endParaRPr>
          </a:p>
        </p:txBody>
      </p:sp>
      <p:sp>
        <p:nvSpPr>
          <p:cNvPr id="8" name="矩形 11">
            <a:extLst>
              <a:ext uri="{FF2B5EF4-FFF2-40B4-BE49-F238E27FC236}">
                <a16:creationId xmlns:a16="http://schemas.microsoft.com/office/drawing/2014/main" id="{CE61EEE4-9E49-A74C-8AA3-04BBD8FC0AD0}"/>
              </a:ext>
            </a:extLst>
          </p:cNvPr>
          <p:cNvSpPr/>
          <p:nvPr/>
        </p:nvSpPr>
        <p:spPr>
          <a:xfrm>
            <a:off x="1702909" y="1610212"/>
            <a:ext cx="8494633" cy="1832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400" b="1" dirty="0">
                <a:solidFill>
                  <a:srgbClr val="C00000"/>
                </a:solidFill>
              </a:rPr>
              <a:t>中国法学自主知识体系创新</a:t>
            </a:r>
          </a:p>
          <a:p>
            <a:pPr algn="ctr">
              <a:lnSpc>
                <a:spcPct val="120000"/>
              </a:lnSpc>
            </a:pPr>
            <a:r>
              <a:rPr lang="zh-CN" altLang="en-US" sz="4400" b="1" dirty="0">
                <a:solidFill>
                  <a:srgbClr val="C00000"/>
                </a:solidFill>
                <a:ea typeface="Microsoft YaHei"/>
                <a:cs typeface="Arial"/>
              </a:rPr>
              <a:t>人工智能辅助评价系统</a:t>
            </a:r>
            <a:endParaRPr lang="en-US" altLang="zh-CN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63AFCE-1CC8-9877-2306-7DDEC93D9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55F2B-7ED7-7A89-DC8D-E1130912E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9B7F9-F8DA-9630-917D-F27185903C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58EB8-BB77-6EBC-1C55-AC45958EC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ea typeface="Microsoft YaHei"/>
                <a:cs typeface="Arial"/>
              </a:rPr>
              <a:t>四阶段评审流程</a:t>
            </a:r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BA07EE92-5FC0-67FB-05E1-B0A273A4928C}"/>
              </a:ext>
            </a:extLst>
          </p:cNvPr>
          <p:cNvGrpSpPr/>
          <p:nvPr/>
        </p:nvGrpSpPr>
        <p:grpSpPr>
          <a:xfrm>
            <a:off x="3028950" y="1732723"/>
            <a:ext cx="9525" cy="3714750"/>
            <a:chOff x="3028950" y="1905000"/>
            <a:chExt cx="9525" cy="3714750"/>
          </a:xfrm>
        </p:grpSpPr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EEDB7635-763D-5F8A-F675-FB6A28B3CA07}"/>
                </a:ext>
              </a:extLst>
            </p:cNvPr>
            <p:cNvSpPr/>
            <p:nvPr/>
          </p:nvSpPr>
          <p:spPr>
            <a:xfrm>
              <a:off x="3028950" y="190500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9050">
              <a:solidFill>
                <a:srgbClr val="D9DEE5"/>
              </a:solidFill>
            </a:ln>
          </p:spPr>
        </p:sp>
      </p:grpSp>
      <p:grpSp>
        <p:nvGrpSpPr>
          <p:cNvPr id="8" name="Group 23">
            <a:extLst>
              <a:ext uri="{FF2B5EF4-FFF2-40B4-BE49-F238E27FC236}">
                <a16:creationId xmlns:a16="http://schemas.microsoft.com/office/drawing/2014/main" id="{72918E80-A877-92AB-6FFA-78EB8554085F}"/>
              </a:ext>
            </a:extLst>
          </p:cNvPr>
          <p:cNvGrpSpPr/>
          <p:nvPr/>
        </p:nvGrpSpPr>
        <p:grpSpPr>
          <a:xfrm>
            <a:off x="2984500" y="2274061"/>
            <a:ext cx="88900" cy="2632075"/>
            <a:chOff x="2984500" y="2446338"/>
            <a:chExt cx="88900" cy="2632075"/>
          </a:xfrm>
        </p:grpSpPr>
        <p:grpSp>
          <p:nvGrpSpPr>
            <p:cNvPr id="9" name="Group 14">
              <a:extLst>
                <a:ext uri="{FF2B5EF4-FFF2-40B4-BE49-F238E27FC236}">
                  <a16:creationId xmlns:a16="http://schemas.microsoft.com/office/drawing/2014/main" id="{BBED693C-84C0-AD46-75D5-DD054689568E}"/>
                </a:ext>
              </a:extLst>
            </p:cNvPr>
            <p:cNvGrpSpPr/>
            <p:nvPr/>
          </p:nvGrpSpPr>
          <p:grpSpPr>
            <a:xfrm>
              <a:off x="2984500" y="2446338"/>
              <a:ext cx="88900" cy="155575"/>
              <a:chOff x="2984500" y="2446338"/>
              <a:chExt cx="88900" cy="155575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8C9DAFCC-3F60-D443-31C3-75B678DBD292}"/>
                  </a:ext>
                </a:extLst>
              </p:cNvPr>
              <p:cNvSpPr/>
              <p:nvPr/>
            </p:nvSpPr>
            <p:spPr>
              <a:xfrm>
                <a:off x="3028950" y="2446338"/>
                <a:ext cx="95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5575">
                    <a:moveTo>
                      <a:pt x="0" y="0"/>
                    </a:moveTo>
                    <a:lnTo>
                      <a:pt x="0" y="155575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9" name="Freeform 12">
                <a:extLst>
                  <a:ext uri="{FF2B5EF4-FFF2-40B4-BE49-F238E27FC236}">
                    <a16:creationId xmlns:a16="http://schemas.microsoft.com/office/drawing/2014/main" id="{7D9E8087-39FA-463B-932D-66ACE29C6639}"/>
                  </a:ext>
                </a:extLst>
              </p:cNvPr>
              <p:cNvSpPr/>
              <p:nvPr/>
            </p:nvSpPr>
            <p:spPr>
              <a:xfrm>
                <a:off x="3028950" y="255746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20" name="Freeform 13">
                <a:extLst>
                  <a:ext uri="{FF2B5EF4-FFF2-40B4-BE49-F238E27FC236}">
                    <a16:creationId xmlns:a16="http://schemas.microsoft.com/office/drawing/2014/main" id="{085A0530-6642-AA3C-0450-383CE251CBA2}"/>
                  </a:ext>
                </a:extLst>
              </p:cNvPr>
              <p:cNvSpPr/>
              <p:nvPr/>
            </p:nvSpPr>
            <p:spPr>
              <a:xfrm>
                <a:off x="2984500" y="255746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</p:grpSp>
        <p:grpSp>
          <p:nvGrpSpPr>
            <p:cNvPr id="10" name="Group 18">
              <a:extLst>
                <a:ext uri="{FF2B5EF4-FFF2-40B4-BE49-F238E27FC236}">
                  <a16:creationId xmlns:a16="http://schemas.microsoft.com/office/drawing/2014/main" id="{F2F60A80-4AC6-BBE5-8C7F-C019485F4321}"/>
                </a:ext>
              </a:extLst>
            </p:cNvPr>
            <p:cNvGrpSpPr/>
            <p:nvPr/>
          </p:nvGrpSpPr>
          <p:grpSpPr>
            <a:xfrm>
              <a:off x="2984500" y="3684588"/>
              <a:ext cx="88900" cy="155575"/>
              <a:chOff x="2984500" y="3684588"/>
              <a:chExt cx="88900" cy="155575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0013A89B-761A-D2B2-99F1-CADD9DD5C634}"/>
                  </a:ext>
                </a:extLst>
              </p:cNvPr>
              <p:cNvSpPr/>
              <p:nvPr/>
            </p:nvSpPr>
            <p:spPr>
              <a:xfrm>
                <a:off x="3028950" y="3684588"/>
                <a:ext cx="95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5575">
                    <a:moveTo>
                      <a:pt x="0" y="0"/>
                    </a:moveTo>
                    <a:lnTo>
                      <a:pt x="0" y="155575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EA06F3E-C08B-5590-BD34-08943A0C98ED}"/>
                  </a:ext>
                </a:extLst>
              </p:cNvPr>
              <p:cNvSpPr/>
              <p:nvPr/>
            </p:nvSpPr>
            <p:spPr>
              <a:xfrm>
                <a:off x="3028950" y="37957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33264E5-3214-6B6F-132B-BA528CA2C1E6}"/>
                  </a:ext>
                </a:extLst>
              </p:cNvPr>
              <p:cNvSpPr/>
              <p:nvPr/>
            </p:nvSpPr>
            <p:spPr>
              <a:xfrm>
                <a:off x="2984500" y="37957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</p:grpSp>
        <p:grpSp>
          <p:nvGrpSpPr>
            <p:cNvPr id="11" name="Group 22">
              <a:extLst>
                <a:ext uri="{FF2B5EF4-FFF2-40B4-BE49-F238E27FC236}">
                  <a16:creationId xmlns:a16="http://schemas.microsoft.com/office/drawing/2014/main" id="{0CF76951-49FF-4DFF-4B04-1439B28F9B28}"/>
                </a:ext>
              </a:extLst>
            </p:cNvPr>
            <p:cNvGrpSpPr/>
            <p:nvPr/>
          </p:nvGrpSpPr>
          <p:grpSpPr>
            <a:xfrm>
              <a:off x="2984500" y="4922838"/>
              <a:ext cx="88900" cy="155575"/>
              <a:chOff x="2984500" y="4922838"/>
              <a:chExt cx="88900" cy="155575"/>
            </a:xfrm>
          </p:grpSpPr>
          <p:sp>
            <p:nvSpPr>
              <p:cNvPr id="12" name="Freeform 19">
                <a:extLst>
                  <a:ext uri="{FF2B5EF4-FFF2-40B4-BE49-F238E27FC236}">
                    <a16:creationId xmlns:a16="http://schemas.microsoft.com/office/drawing/2014/main" id="{12E3F725-27D5-0971-37FB-7C197A652183}"/>
                  </a:ext>
                </a:extLst>
              </p:cNvPr>
              <p:cNvSpPr/>
              <p:nvPr/>
            </p:nvSpPr>
            <p:spPr>
              <a:xfrm>
                <a:off x="3028950" y="4922838"/>
                <a:ext cx="95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5575">
                    <a:moveTo>
                      <a:pt x="0" y="0"/>
                    </a:moveTo>
                    <a:lnTo>
                      <a:pt x="0" y="155575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3" name="Freeform 20">
                <a:extLst>
                  <a:ext uri="{FF2B5EF4-FFF2-40B4-BE49-F238E27FC236}">
                    <a16:creationId xmlns:a16="http://schemas.microsoft.com/office/drawing/2014/main" id="{6E0627A7-660F-3E34-7A6D-E8CF71B6D0E1}"/>
                  </a:ext>
                </a:extLst>
              </p:cNvPr>
              <p:cNvSpPr/>
              <p:nvPr/>
            </p:nvSpPr>
            <p:spPr>
              <a:xfrm>
                <a:off x="3028950" y="503396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4" name="Freeform 21">
                <a:extLst>
                  <a:ext uri="{FF2B5EF4-FFF2-40B4-BE49-F238E27FC236}">
                    <a16:creationId xmlns:a16="http://schemas.microsoft.com/office/drawing/2014/main" id="{CAE47A81-E3E9-875F-848B-B1C2CBBE6E2D}"/>
                  </a:ext>
                </a:extLst>
              </p:cNvPr>
              <p:cNvSpPr/>
              <p:nvPr/>
            </p:nvSpPr>
            <p:spPr>
              <a:xfrm>
                <a:off x="2984500" y="503396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</p:grpSp>
      </p:grpSp>
      <p:sp>
        <p:nvSpPr>
          <p:cNvPr id="22" name="Rectangle 24">
            <a:extLst>
              <a:ext uri="{FF2B5EF4-FFF2-40B4-BE49-F238E27FC236}">
                <a16:creationId xmlns:a16="http://schemas.microsoft.com/office/drawing/2014/main" id="{695FDB50-775B-50E3-0C1D-1473EF3FEE9A}"/>
              </a:ext>
            </a:extLst>
          </p:cNvPr>
          <p:cNvSpPr/>
          <p:nvPr/>
        </p:nvSpPr>
        <p:spPr>
          <a:xfrm>
            <a:off x="2476500" y="1237423"/>
            <a:ext cx="7239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D9DEE5"/>
            </a:solidFill>
          </a:ln>
        </p:spPr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F7ED419-6915-4ABA-EC45-9F8F110DA660}"/>
              </a:ext>
            </a:extLst>
          </p:cNvPr>
          <p:cNvSpPr/>
          <p:nvPr/>
        </p:nvSpPr>
        <p:spPr>
          <a:xfrm>
            <a:off x="2628900" y="1332673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C8161E"/>
          </a:solidFill>
          <a:ln>
            <a:noFill/>
          </a:ln>
        </p:spPr>
      </p:sp>
      <p:grpSp>
        <p:nvGrpSpPr>
          <p:cNvPr id="24" name="Group 28">
            <a:extLst>
              <a:ext uri="{FF2B5EF4-FFF2-40B4-BE49-F238E27FC236}">
                <a16:creationId xmlns:a16="http://schemas.microsoft.com/office/drawing/2014/main" id="{22DA8BB8-1CBD-B6E1-61F8-71B18E76DDE4}"/>
              </a:ext>
            </a:extLst>
          </p:cNvPr>
          <p:cNvGrpSpPr/>
          <p:nvPr/>
        </p:nvGrpSpPr>
        <p:grpSpPr>
          <a:xfrm>
            <a:off x="2857500" y="1504123"/>
            <a:ext cx="242887" cy="242888"/>
            <a:chOff x="2857500" y="1676400"/>
            <a:chExt cx="242887" cy="242888"/>
          </a:xfrm>
        </p:grpSpPr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F904CD4-217D-EB28-C845-C258FC9CE790}"/>
                </a:ext>
              </a:extLst>
            </p:cNvPr>
            <p:cNvSpPr/>
            <p:nvPr/>
          </p:nvSpPr>
          <p:spPr>
            <a:xfrm>
              <a:off x="2857500" y="1676400"/>
              <a:ext cx="228600" cy="242888"/>
            </a:xfrm>
            <a:custGeom>
              <a:avLst/>
              <a:gdLst/>
              <a:ahLst/>
              <a:cxnLst/>
              <a:rect l="l" t="t" r="r" b="b"/>
              <a:pathLst>
                <a:path w="228600" h="242888">
                  <a:moveTo>
                    <a:pt x="102584" y="232515"/>
                  </a:moveTo>
                  <a:lnTo>
                    <a:pt x="71438" y="242888"/>
                  </a:lnTo>
                  <a:lnTo>
                    <a:pt x="71438" y="121444"/>
                  </a:lnTo>
                  <a:lnTo>
                    <a:pt x="7429" y="51035"/>
                  </a:lnTo>
                  <a:cubicBezTo>
                    <a:pt x="2650" y="45776"/>
                    <a:pt x="1" y="38925"/>
                    <a:pt x="0" y="31818"/>
                  </a:cubicBezTo>
                  <a:lnTo>
                    <a:pt x="0" y="0"/>
                  </a:lnTo>
                  <a:lnTo>
                    <a:pt x="228600" y="0"/>
                  </a:lnTo>
                  <a:lnTo>
                    <a:pt x="228600" y="31032"/>
                  </a:lnTo>
                  <a:cubicBezTo>
                    <a:pt x="228598" y="38610"/>
                    <a:pt x="225587" y="45877"/>
                    <a:pt x="220228" y="51235"/>
                  </a:cubicBezTo>
                  <a:lnTo>
                    <a:pt x="157162" y="114300"/>
                  </a:lnTo>
                  <a:lnTo>
                    <a:pt x="157162" y="157162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927D43CF-9565-10B4-769E-417C67D3DBBA}"/>
                </a:ext>
              </a:extLst>
            </p:cNvPr>
            <p:cNvSpPr/>
            <p:nvPr/>
          </p:nvSpPr>
          <p:spPr>
            <a:xfrm>
              <a:off x="3014662" y="1862138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28575"/>
                  </a:moveTo>
                  <a:lnTo>
                    <a:pt x="28575" y="57150"/>
                  </a:ln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25" name="TextBox 29">
            <a:extLst>
              <a:ext uri="{FF2B5EF4-FFF2-40B4-BE49-F238E27FC236}">
                <a16:creationId xmlns:a16="http://schemas.microsoft.com/office/drawing/2014/main" id="{B7152997-4C55-2E52-F95D-BF23984DAC1C}"/>
              </a:ext>
            </a:extLst>
          </p:cNvPr>
          <p:cNvSpPr txBox="1"/>
          <p:nvPr/>
        </p:nvSpPr>
        <p:spPr>
          <a:xfrm>
            <a:off x="2759646" y="1844663"/>
            <a:ext cx="53861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阶段一</a:t>
            </a:r>
            <a:endParaRPr lang="zh-CN" sz="1400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7" name="TextBox 31">
            <a:extLst>
              <a:ext uri="{FF2B5EF4-FFF2-40B4-BE49-F238E27FC236}">
                <a16:creationId xmlns:a16="http://schemas.microsoft.com/office/drawing/2014/main" id="{55E90CC9-A63C-E0E9-2FE9-397F070FE427}"/>
              </a:ext>
            </a:extLst>
          </p:cNvPr>
          <p:cNvSpPr txBox="1"/>
          <p:nvPr/>
        </p:nvSpPr>
        <p:spPr>
          <a:xfrm>
            <a:off x="3710940" y="1400924"/>
            <a:ext cx="273472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1C21"/>
                </a:solidFill>
                <a:latin typeface="Arial"/>
                <a:ea typeface="Microsoft YaHei"/>
                <a:cs typeface="Arial"/>
              </a:rPr>
              <a:t>预检 · 项目口径判断</a:t>
            </a:r>
          </a:p>
        </p:txBody>
      </p:sp>
      <p:sp>
        <p:nvSpPr>
          <p:cNvPr id="28" name="TextBox 32">
            <a:extLst>
              <a:ext uri="{FF2B5EF4-FFF2-40B4-BE49-F238E27FC236}">
                <a16:creationId xmlns:a16="http://schemas.microsoft.com/office/drawing/2014/main" id="{308246AF-4B7C-EAA2-9BDB-3A2FB8C4F40A}"/>
              </a:ext>
            </a:extLst>
          </p:cNvPr>
          <p:cNvSpPr txBox="1"/>
          <p:nvPr/>
        </p:nvSpPr>
        <p:spPr>
          <a:xfrm>
            <a:off x="3716655" y="1850379"/>
            <a:ext cx="403956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5A6472"/>
                </a:solidFill>
                <a:latin typeface="Arial"/>
                <a:ea typeface="Microsoft YaHei"/>
                <a:cs typeface="Arial"/>
              </a:rPr>
              <a:t>门槛判断：进入评分 / 边界复核 / 明显不适格</a:t>
            </a:r>
          </a:p>
        </p:txBody>
      </p:sp>
      <p:sp>
        <p:nvSpPr>
          <p:cNvPr id="29" name="Rectangle 33">
            <a:extLst>
              <a:ext uri="{FF2B5EF4-FFF2-40B4-BE49-F238E27FC236}">
                <a16:creationId xmlns:a16="http://schemas.microsoft.com/office/drawing/2014/main" id="{765AEE9A-8294-8BB3-6CA7-82EEB884FCCF}"/>
              </a:ext>
            </a:extLst>
          </p:cNvPr>
          <p:cNvSpPr/>
          <p:nvPr/>
        </p:nvSpPr>
        <p:spPr>
          <a:xfrm>
            <a:off x="8172450" y="1542223"/>
            <a:ext cx="1390650" cy="381000"/>
          </a:xfrm>
          <a:prstGeom prst="roundRect">
            <a:avLst>
              <a:gd name="adj" fmla="val 50000"/>
            </a:avLst>
          </a:prstGeom>
          <a:solidFill>
            <a:srgbClr val="C8161E">
              <a:alpha val="10000"/>
            </a:srgbClr>
          </a:solidFill>
          <a:ln>
            <a:noFill/>
          </a:ln>
        </p:spPr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16FDE5FF-D3C5-2A2F-C298-A3D2A7CB2DBF}"/>
              </a:ext>
            </a:extLst>
          </p:cNvPr>
          <p:cNvSpPr txBox="1"/>
          <p:nvPr/>
        </p:nvSpPr>
        <p:spPr>
          <a:xfrm>
            <a:off x="8508702" y="1634615"/>
            <a:ext cx="71814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C8161E"/>
                </a:solidFill>
                <a:latin typeface="Arial"/>
                <a:ea typeface="Microsoft YaHei"/>
                <a:cs typeface="Arial"/>
              </a:rPr>
              <a:t>三类口径</a:t>
            </a:r>
          </a:p>
        </p:txBody>
      </p:sp>
      <p:sp>
        <p:nvSpPr>
          <p:cNvPr id="34" name="Rectangle 36">
            <a:extLst>
              <a:ext uri="{FF2B5EF4-FFF2-40B4-BE49-F238E27FC236}">
                <a16:creationId xmlns:a16="http://schemas.microsoft.com/office/drawing/2014/main" id="{AA4B59CA-3130-A9AD-A4D5-16671E647193}"/>
              </a:ext>
            </a:extLst>
          </p:cNvPr>
          <p:cNvSpPr/>
          <p:nvPr/>
        </p:nvSpPr>
        <p:spPr>
          <a:xfrm>
            <a:off x="2476500" y="2475673"/>
            <a:ext cx="7239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D9DEE5"/>
            </a:solidFill>
          </a:ln>
        </p:spPr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1C4F5DF1-878F-6A4C-6E3E-6B3B0C3B6BC1}"/>
              </a:ext>
            </a:extLst>
          </p:cNvPr>
          <p:cNvSpPr/>
          <p:nvPr/>
        </p:nvSpPr>
        <p:spPr>
          <a:xfrm>
            <a:off x="2628900" y="2570923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1F4D78"/>
          </a:solidFill>
          <a:ln>
            <a:noFill/>
          </a:ln>
        </p:spPr>
      </p:sp>
      <p:grpSp>
        <p:nvGrpSpPr>
          <p:cNvPr id="36" name="Group 42">
            <a:extLst>
              <a:ext uri="{FF2B5EF4-FFF2-40B4-BE49-F238E27FC236}">
                <a16:creationId xmlns:a16="http://schemas.microsoft.com/office/drawing/2014/main" id="{34891928-4AB9-59A1-A00A-252FCBF21C91}"/>
              </a:ext>
            </a:extLst>
          </p:cNvPr>
          <p:cNvGrpSpPr/>
          <p:nvPr/>
        </p:nvGrpSpPr>
        <p:grpSpPr>
          <a:xfrm>
            <a:off x="2871788" y="2742373"/>
            <a:ext cx="214312" cy="242888"/>
            <a:chOff x="2871788" y="2914650"/>
            <a:chExt cx="214312" cy="242888"/>
          </a:xfrm>
        </p:grpSpPr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73F9B0F6-D75E-5ADD-E5C8-D85617F50C9B}"/>
                </a:ext>
              </a:extLst>
            </p:cNvPr>
            <p:cNvSpPr/>
            <p:nvPr/>
          </p:nvSpPr>
          <p:spPr>
            <a:xfrm>
              <a:off x="2871788" y="291465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65937" y="228600"/>
                  </a:move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142875" y="0"/>
                  </a:lnTo>
                  <a:cubicBezTo>
                    <a:pt x="158657" y="0"/>
                    <a:pt x="171450" y="12793"/>
                    <a:pt x="171450" y="28575"/>
                  </a:cubicBezTo>
                  <a:lnTo>
                    <a:pt x="171450" y="142875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CC8B14AE-8F9B-93C0-387F-A6681D155255}"/>
                </a:ext>
              </a:extLst>
            </p:cNvPr>
            <p:cNvSpPr/>
            <p:nvPr/>
          </p:nvSpPr>
          <p:spPr>
            <a:xfrm>
              <a:off x="3000375" y="3100388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28575"/>
                  </a:moveTo>
                  <a:lnTo>
                    <a:pt x="28575" y="57150"/>
                  </a:ln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D193EE0F-90E3-43A5-3CAB-7B80BA46656B}"/>
                </a:ext>
              </a:extLst>
            </p:cNvPr>
            <p:cNvSpPr/>
            <p:nvPr/>
          </p:nvSpPr>
          <p:spPr>
            <a:xfrm>
              <a:off x="2928938" y="29718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FE71E4E5-C727-A346-F1BD-1106E7EF31EB}"/>
                </a:ext>
              </a:extLst>
            </p:cNvPr>
            <p:cNvSpPr/>
            <p:nvPr/>
          </p:nvSpPr>
          <p:spPr>
            <a:xfrm>
              <a:off x="2928938" y="3028950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37" name="TextBox 43">
            <a:extLst>
              <a:ext uri="{FF2B5EF4-FFF2-40B4-BE49-F238E27FC236}">
                <a16:creationId xmlns:a16="http://schemas.microsoft.com/office/drawing/2014/main" id="{D219BCD9-E605-BEE7-A1C9-21ED7506C0C5}"/>
              </a:ext>
            </a:extLst>
          </p:cNvPr>
          <p:cNvSpPr txBox="1"/>
          <p:nvPr/>
        </p:nvSpPr>
        <p:spPr>
          <a:xfrm>
            <a:off x="2759645" y="3082913"/>
            <a:ext cx="53861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阶段二</a:t>
            </a:r>
            <a:endParaRPr lang="zh-CN" sz="1400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9" name="TextBox 45">
            <a:extLst>
              <a:ext uri="{FF2B5EF4-FFF2-40B4-BE49-F238E27FC236}">
                <a16:creationId xmlns:a16="http://schemas.microsoft.com/office/drawing/2014/main" id="{CDB12145-5F34-C4E3-3107-1AAEE104AAF9}"/>
              </a:ext>
            </a:extLst>
          </p:cNvPr>
          <p:cNvSpPr txBox="1"/>
          <p:nvPr/>
        </p:nvSpPr>
        <p:spPr>
          <a:xfrm>
            <a:off x="3710940" y="2639174"/>
            <a:ext cx="335027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1C21"/>
                </a:solidFill>
                <a:latin typeface="Arial"/>
                <a:ea typeface="Microsoft YaHei"/>
                <a:cs typeface="Arial"/>
              </a:rPr>
              <a:t>六维评分 · 学术质量评分</a:t>
            </a:r>
          </a:p>
        </p:txBody>
      </p:sp>
      <p:sp>
        <p:nvSpPr>
          <p:cNvPr id="40" name="TextBox 46">
            <a:extLst>
              <a:ext uri="{FF2B5EF4-FFF2-40B4-BE49-F238E27FC236}">
                <a16:creationId xmlns:a16="http://schemas.microsoft.com/office/drawing/2014/main" id="{9F8DBAB9-BFE0-27A4-77F0-F7FEF5515E6B}"/>
              </a:ext>
            </a:extLst>
          </p:cNvPr>
          <p:cNvSpPr txBox="1"/>
          <p:nvPr/>
        </p:nvSpPr>
        <p:spPr>
          <a:xfrm>
            <a:off x="3716655" y="3088629"/>
            <a:ext cx="328295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5A6472"/>
                </a:solidFill>
                <a:latin typeface="Arial"/>
                <a:ea typeface="Microsoft YaHei"/>
                <a:cs typeface="Arial"/>
              </a:rPr>
              <a:t>六维学术质量评分，构成加权基础分</a:t>
            </a:r>
          </a:p>
        </p:txBody>
      </p:sp>
      <p:sp>
        <p:nvSpPr>
          <p:cNvPr id="41" name="Rectangle 47">
            <a:extLst>
              <a:ext uri="{FF2B5EF4-FFF2-40B4-BE49-F238E27FC236}">
                <a16:creationId xmlns:a16="http://schemas.microsoft.com/office/drawing/2014/main" id="{A7C3F155-4530-41D6-105D-4971FE48CC61}"/>
              </a:ext>
            </a:extLst>
          </p:cNvPr>
          <p:cNvSpPr/>
          <p:nvPr/>
        </p:nvSpPr>
        <p:spPr>
          <a:xfrm>
            <a:off x="8172450" y="2780473"/>
            <a:ext cx="1390650" cy="381000"/>
          </a:xfrm>
          <a:prstGeom prst="roundRect">
            <a:avLst>
              <a:gd name="adj" fmla="val 50000"/>
            </a:avLst>
          </a:prstGeom>
          <a:solidFill>
            <a:srgbClr val="1F4D78">
              <a:alpha val="10000"/>
            </a:srgbClr>
          </a:solidFill>
          <a:ln>
            <a:noFill/>
          </a:ln>
        </p:spPr>
      </p:sp>
      <p:sp>
        <p:nvSpPr>
          <p:cNvPr id="42" name="TextBox 48">
            <a:extLst>
              <a:ext uri="{FF2B5EF4-FFF2-40B4-BE49-F238E27FC236}">
                <a16:creationId xmlns:a16="http://schemas.microsoft.com/office/drawing/2014/main" id="{DF1D63C5-368A-4D3B-BDFD-D16408D78043}"/>
              </a:ext>
            </a:extLst>
          </p:cNvPr>
          <p:cNvSpPr txBox="1"/>
          <p:nvPr/>
        </p:nvSpPr>
        <p:spPr>
          <a:xfrm>
            <a:off x="8455002" y="2872865"/>
            <a:ext cx="82554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F4D78"/>
                </a:solidFill>
                <a:latin typeface="Arial"/>
                <a:ea typeface="Microsoft YaHei"/>
                <a:cs typeface="Arial"/>
              </a:rPr>
              <a:t>0 – 100 分</a:t>
            </a:r>
          </a:p>
        </p:txBody>
      </p:sp>
      <p:sp>
        <p:nvSpPr>
          <p:cNvPr id="48" name="Rectangle 50">
            <a:extLst>
              <a:ext uri="{FF2B5EF4-FFF2-40B4-BE49-F238E27FC236}">
                <a16:creationId xmlns:a16="http://schemas.microsoft.com/office/drawing/2014/main" id="{BB54E67B-D31A-F24E-E9FD-C4A7CD1F87C9}"/>
              </a:ext>
            </a:extLst>
          </p:cNvPr>
          <p:cNvSpPr/>
          <p:nvPr/>
        </p:nvSpPr>
        <p:spPr>
          <a:xfrm>
            <a:off x="2476500" y="3713923"/>
            <a:ext cx="7239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D9DEE5"/>
            </a:solidFill>
          </a:ln>
        </p:spPr>
      </p:sp>
      <p:sp>
        <p:nvSpPr>
          <p:cNvPr id="49" name="Rectangle 51">
            <a:extLst>
              <a:ext uri="{FF2B5EF4-FFF2-40B4-BE49-F238E27FC236}">
                <a16:creationId xmlns:a16="http://schemas.microsoft.com/office/drawing/2014/main" id="{C4001AAC-CEA2-D47A-DD87-8DA232709B50}"/>
              </a:ext>
            </a:extLst>
          </p:cNvPr>
          <p:cNvSpPr/>
          <p:nvPr/>
        </p:nvSpPr>
        <p:spPr>
          <a:xfrm>
            <a:off x="2628900" y="3809173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>
            <a:noFill/>
          </a:ln>
        </p:spPr>
      </p:sp>
      <p:grpSp>
        <p:nvGrpSpPr>
          <p:cNvPr id="50" name="Group 54">
            <a:extLst>
              <a:ext uri="{FF2B5EF4-FFF2-40B4-BE49-F238E27FC236}">
                <a16:creationId xmlns:a16="http://schemas.microsoft.com/office/drawing/2014/main" id="{DAF67FB1-E024-95F2-0229-058835868D8A}"/>
              </a:ext>
            </a:extLst>
          </p:cNvPr>
          <p:cNvGrpSpPr/>
          <p:nvPr/>
        </p:nvGrpSpPr>
        <p:grpSpPr>
          <a:xfrm>
            <a:off x="2843212" y="3966335"/>
            <a:ext cx="257175" cy="257175"/>
            <a:chOff x="2843212" y="4138612"/>
            <a:chExt cx="257175" cy="257175"/>
          </a:xfrm>
        </p:grpSpPr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4C52CDC4-2826-7B99-7A44-27DB53DFFD81}"/>
                </a:ext>
              </a:extLst>
            </p:cNvPr>
            <p:cNvSpPr/>
            <p:nvPr/>
          </p:nvSpPr>
          <p:spPr>
            <a:xfrm>
              <a:off x="2843212" y="413861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ACA29AE8-CE66-CBC6-DAA1-769C08FA7D8D}"/>
                </a:ext>
              </a:extLst>
            </p:cNvPr>
            <p:cNvSpPr/>
            <p:nvPr/>
          </p:nvSpPr>
          <p:spPr>
            <a:xfrm>
              <a:off x="3014662" y="43100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857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51" name="TextBox 55">
            <a:extLst>
              <a:ext uri="{FF2B5EF4-FFF2-40B4-BE49-F238E27FC236}">
                <a16:creationId xmlns:a16="http://schemas.microsoft.com/office/drawing/2014/main" id="{9563BE8D-7900-4A89-E1B3-ED5BD0167B25}"/>
              </a:ext>
            </a:extLst>
          </p:cNvPr>
          <p:cNvSpPr txBox="1"/>
          <p:nvPr/>
        </p:nvSpPr>
        <p:spPr>
          <a:xfrm>
            <a:off x="2759646" y="4321163"/>
            <a:ext cx="53861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阶段三</a:t>
            </a:r>
            <a:endParaRPr lang="zh-CN" sz="1400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53" name="TextBox 57">
            <a:extLst>
              <a:ext uri="{FF2B5EF4-FFF2-40B4-BE49-F238E27FC236}">
                <a16:creationId xmlns:a16="http://schemas.microsoft.com/office/drawing/2014/main" id="{5A2F1319-AAA5-5EFF-B7E4-D56B9C847C70}"/>
              </a:ext>
            </a:extLst>
          </p:cNvPr>
          <p:cNvSpPr txBox="1"/>
          <p:nvPr/>
        </p:nvSpPr>
        <p:spPr>
          <a:xfrm>
            <a:off x="3710940" y="3877424"/>
            <a:ext cx="307776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1C21"/>
                </a:solidFill>
                <a:latin typeface="Arial"/>
                <a:ea typeface="Microsoft YaHei"/>
                <a:cs typeface="Arial"/>
              </a:rPr>
              <a:t>自主知识体系信号校验</a:t>
            </a:r>
          </a:p>
        </p:txBody>
      </p:sp>
      <p:sp>
        <p:nvSpPr>
          <p:cNvPr id="54" name="TextBox 58">
            <a:extLst>
              <a:ext uri="{FF2B5EF4-FFF2-40B4-BE49-F238E27FC236}">
                <a16:creationId xmlns:a16="http://schemas.microsoft.com/office/drawing/2014/main" id="{25377414-FFEF-306A-6463-EB888AF24B9F}"/>
              </a:ext>
            </a:extLst>
          </p:cNvPr>
          <p:cNvSpPr txBox="1"/>
          <p:nvPr/>
        </p:nvSpPr>
        <p:spPr>
          <a:xfrm>
            <a:off x="3716655" y="4326879"/>
            <a:ext cx="389850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5A6472"/>
                </a:solidFill>
                <a:latin typeface="Arial"/>
                <a:ea typeface="Microsoft YaHei"/>
                <a:cs typeface="Arial"/>
              </a:rPr>
              <a:t>提取自主信号用于候选分层，</a:t>
            </a:r>
            <a:r>
              <a:rPr lang="zh-CN" sz="16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不计入基础分</a:t>
            </a:r>
          </a:p>
        </p:txBody>
      </p:sp>
      <p:sp>
        <p:nvSpPr>
          <p:cNvPr id="55" name="Rectangle 59">
            <a:extLst>
              <a:ext uri="{FF2B5EF4-FFF2-40B4-BE49-F238E27FC236}">
                <a16:creationId xmlns:a16="http://schemas.microsoft.com/office/drawing/2014/main" id="{596E2E7B-F2BB-4F1E-7C36-814566BFDCED}"/>
              </a:ext>
            </a:extLst>
          </p:cNvPr>
          <p:cNvSpPr/>
          <p:nvPr/>
        </p:nvSpPr>
        <p:spPr>
          <a:xfrm>
            <a:off x="8172450" y="4018723"/>
            <a:ext cx="1390650" cy="381000"/>
          </a:xfrm>
          <a:prstGeom prst="roundRect">
            <a:avLst>
              <a:gd name="adj" fmla="val 50000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</p:sp>
      <p:sp>
        <p:nvSpPr>
          <p:cNvPr id="56" name="TextBox 60">
            <a:extLst>
              <a:ext uri="{FF2B5EF4-FFF2-40B4-BE49-F238E27FC236}">
                <a16:creationId xmlns:a16="http://schemas.microsoft.com/office/drawing/2014/main" id="{A02F973A-38F9-6BEA-0346-AEFB13058119}"/>
              </a:ext>
            </a:extLst>
          </p:cNvPr>
          <p:cNvSpPr txBox="1"/>
          <p:nvPr/>
        </p:nvSpPr>
        <p:spPr>
          <a:xfrm>
            <a:off x="8464619" y="4111115"/>
            <a:ext cx="806311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 – 8 信号</a:t>
            </a:r>
          </a:p>
        </p:txBody>
      </p:sp>
      <p:sp>
        <p:nvSpPr>
          <p:cNvPr id="60" name="Rectangle 62">
            <a:extLst>
              <a:ext uri="{FF2B5EF4-FFF2-40B4-BE49-F238E27FC236}">
                <a16:creationId xmlns:a16="http://schemas.microsoft.com/office/drawing/2014/main" id="{30946F43-D598-512A-F808-EA979698FEF6}"/>
              </a:ext>
            </a:extLst>
          </p:cNvPr>
          <p:cNvSpPr/>
          <p:nvPr/>
        </p:nvSpPr>
        <p:spPr>
          <a:xfrm>
            <a:off x="2476500" y="4952173"/>
            <a:ext cx="723900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D9DEE5"/>
            </a:solidFill>
          </a:ln>
        </p:spPr>
      </p:sp>
      <p:sp>
        <p:nvSpPr>
          <p:cNvPr id="61" name="Rectangle 63">
            <a:extLst>
              <a:ext uri="{FF2B5EF4-FFF2-40B4-BE49-F238E27FC236}">
                <a16:creationId xmlns:a16="http://schemas.microsoft.com/office/drawing/2014/main" id="{AAF2D116-CE21-4505-C906-FA12A88BE9C3}"/>
              </a:ext>
            </a:extLst>
          </p:cNvPr>
          <p:cNvSpPr/>
          <p:nvPr/>
        </p:nvSpPr>
        <p:spPr>
          <a:xfrm>
            <a:off x="2628900" y="5047423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>
            <a:noFill/>
          </a:ln>
        </p:spPr>
      </p:sp>
      <p:grpSp>
        <p:nvGrpSpPr>
          <p:cNvPr id="62" name="Group 66">
            <a:extLst>
              <a:ext uri="{FF2B5EF4-FFF2-40B4-BE49-F238E27FC236}">
                <a16:creationId xmlns:a16="http://schemas.microsoft.com/office/drawing/2014/main" id="{CD54BE8F-108D-3E8E-D461-D0345667E1F0}"/>
              </a:ext>
            </a:extLst>
          </p:cNvPr>
          <p:cNvGrpSpPr/>
          <p:nvPr/>
        </p:nvGrpSpPr>
        <p:grpSpPr>
          <a:xfrm>
            <a:off x="2823931" y="5204585"/>
            <a:ext cx="279010" cy="257176"/>
            <a:chOff x="2823931" y="5376862"/>
            <a:chExt cx="279010" cy="257176"/>
          </a:xfrm>
        </p:grpSpPr>
        <p:sp>
          <p:nvSpPr>
            <p:cNvPr id="69" name="Freeform 64">
              <a:extLst>
                <a:ext uri="{FF2B5EF4-FFF2-40B4-BE49-F238E27FC236}">
                  <a16:creationId xmlns:a16="http://schemas.microsoft.com/office/drawing/2014/main" id="{9A0E7E7E-2FD4-BA39-8654-D13498FB2EDD}"/>
                </a:ext>
              </a:extLst>
            </p:cNvPr>
            <p:cNvSpPr/>
            <p:nvPr/>
          </p:nvSpPr>
          <p:spPr>
            <a:xfrm>
              <a:off x="2823931" y="5376862"/>
              <a:ext cx="279010" cy="254975"/>
            </a:xfrm>
            <a:custGeom>
              <a:avLst/>
              <a:gdLst/>
              <a:ahLst/>
              <a:cxnLst/>
              <a:rect l="l" t="t" r="r" b="b"/>
              <a:pathLst>
                <a:path w="279010" h="254975">
                  <a:moveTo>
                    <a:pt x="140154" y="254975"/>
                  </a:moveTo>
                  <a:cubicBezTo>
                    <a:pt x="50649" y="227230"/>
                    <a:pt x="0" y="132765"/>
                    <a:pt x="26425" y="42862"/>
                  </a:cubicBezTo>
                  <a:cubicBezTo>
                    <a:pt x="70939" y="44899"/>
                    <a:pt x="114496" y="29526"/>
                    <a:pt x="147869" y="0"/>
                  </a:cubicBezTo>
                  <a:cubicBezTo>
                    <a:pt x="181242" y="29526"/>
                    <a:pt x="224800" y="44899"/>
                    <a:pt x="269313" y="42862"/>
                  </a:cubicBezTo>
                  <a:cubicBezTo>
                    <a:pt x="279010" y="75854"/>
                    <a:pt x="278561" y="110999"/>
                    <a:pt x="268027" y="143732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70" name="Freeform 65">
              <a:extLst>
                <a:ext uri="{FF2B5EF4-FFF2-40B4-BE49-F238E27FC236}">
                  <a16:creationId xmlns:a16="http://schemas.microsoft.com/office/drawing/2014/main" id="{279421BC-37DC-19F4-7A55-BCB5BB6D64CA}"/>
                </a:ext>
              </a:extLst>
            </p:cNvPr>
            <p:cNvSpPr/>
            <p:nvPr/>
          </p:nvSpPr>
          <p:spPr>
            <a:xfrm>
              <a:off x="3014662" y="5576888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28575"/>
                  </a:moveTo>
                  <a:lnTo>
                    <a:pt x="28575" y="57150"/>
                  </a:ln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63" name="TextBox 67">
            <a:extLst>
              <a:ext uri="{FF2B5EF4-FFF2-40B4-BE49-F238E27FC236}">
                <a16:creationId xmlns:a16="http://schemas.microsoft.com/office/drawing/2014/main" id="{BB27F2AB-97CF-5DC0-AEF3-83D80B444D83}"/>
              </a:ext>
            </a:extLst>
          </p:cNvPr>
          <p:cNvSpPr txBox="1"/>
          <p:nvPr/>
        </p:nvSpPr>
        <p:spPr>
          <a:xfrm>
            <a:off x="2759646" y="5559413"/>
            <a:ext cx="53861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阶段四</a:t>
            </a:r>
            <a:endParaRPr lang="zh-CN" sz="1400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65" name="TextBox 69">
            <a:extLst>
              <a:ext uri="{FF2B5EF4-FFF2-40B4-BE49-F238E27FC236}">
                <a16:creationId xmlns:a16="http://schemas.microsoft.com/office/drawing/2014/main" id="{A7ACABE3-B655-3F83-2273-303CE1A2EFC6}"/>
              </a:ext>
            </a:extLst>
          </p:cNvPr>
          <p:cNvSpPr txBox="1"/>
          <p:nvPr/>
        </p:nvSpPr>
        <p:spPr>
          <a:xfrm>
            <a:off x="3710940" y="5115674"/>
            <a:ext cx="335027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B1C21"/>
                </a:solidFill>
                <a:latin typeface="Arial"/>
                <a:ea typeface="Microsoft YaHei"/>
                <a:cs typeface="Arial"/>
              </a:rPr>
              <a:t>评价层复核 · 可靠性判断</a:t>
            </a:r>
          </a:p>
        </p:txBody>
      </p:sp>
      <p:sp>
        <p:nvSpPr>
          <p:cNvPr id="66" name="TextBox 70">
            <a:extLst>
              <a:ext uri="{FF2B5EF4-FFF2-40B4-BE49-F238E27FC236}">
                <a16:creationId xmlns:a16="http://schemas.microsoft.com/office/drawing/2014/main" id="{15DD039D-CAEB-4A1E-C1E7-FE1F55E9E2C9}"/>
              </a:ext>
            </a:extLst>
          </p:cNvPr>
          <p:cNvSpPr txBox="1"/>
          <p:nvPr/>
        </p:nvSpPr>
        <p:spPr>
          <a:xfrm>
            <a:off x="3716655" y="5565129"/>
            <a:ext cx="451405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5A6472"/>
                </a:solidFill>
                <a:latin typeface="Arial"/>
                <a:ea typeface="Microsoft YaHei"/>
                <a:cs typeface="Arial"/>
              </a:rPr>
              <a:t>依据标准差与置信度分级，未收敛维度交专家终审</a:t>
            </a:r>
          </a:p>
        </p:txBody>
      </p:sp>
      <p:sp>
        <p:nvSpPr>
          <p:cNvPr id="67" name="Rectangle 71">
            <a:extLst>
              <a:ext uri="{FF2B5EF4-FFF2-40B4-BE49-F238E27FC236}">
                <a16:creationId xmlns:a16="http://schemas.microsoft.com/office/drawing/2014/main" id="{4DEC531A-1A66-F240-9F3A-5EDEBDEAF236}"/>
              </a:ext>
            </a:extLst>
          </p:cNvPr>
          <p:cNvSpPr/>
          <p:nvPr/>
        </p:nvSpPr>
        <p:spPr>
          <a:xfrm>
            <a:off x="8172450" y="5256973"/>
            <a:ext cx="1390650" cy="381000"/>
          </a:xfrm>
          <a:prstGeom prst="roundRect">
            <a:avLst>
              <a:gd name="adj" fmla="val 50000"/>
            </a:avLst>
          </a:prstGeom>
          <a:solidFill>
            <a:srgbClr val="44546A">
              <a:alpha val="10000"/>
            </a:srgbClr>
          </a:solidFill>
          <a:ln>
            <a:noFill/>
          </a:ln>
        </p:spPr>
      </p:sp>
      <p:sp>
        <p:nvSpPr>
          <p:cNvPr id="68" name="TextBox 72">
            <a:extLst>
              <a:ext uri="{FF2B5EF4-FFF2-40B4-BE49-F238E27FC236}">
                <a16:creationId xmlns:a16="http://schemas.microsoft.com/office/drawing/2014/main" id="{6A7C2049-DC10-5F68-CA93-E0FD4821C96E}"/>
              </a:ext>
            </a:extLst>
          </p:cNvPr>
          <p:cNvSpPr txBox="1"/>
          <p:nvPr/>
        </p:nvSpPr>
        <p:spPr>
          <a:xfrm>
            <a:off x="8508702" y="5349365"/>
            <a:ext cx="71814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44546A"/>
                </a:solidFill>
                <a:latin typeface="Arial"/>
                <a:ea typeface="Microsoft YaHei"/>
                <a:cs typeface="Arial"/>
              </a:rPr>
              <a:t>复核判断</a:t>
            </a:r>
          </a:p>
        </p:txBody>
      </p:sp>
    </p:spTree>
    <p:extLst>
      <p:ext uri="{BB962C8B-B14F-4D97-AF65-F5344CB8AC3E}">
        <p14:creationId xmlns:p14="http://schemas.microsoft.com/office/powerpoint/2010/main" val="94560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9E5F0C-A27E-2B0F-DB21-4B454815C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A96B7-D340-3F93-EA4C-E6A813D89D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BC6A3-901B-A410-0733-398BA2D2E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A8805-B5D4-838E-32F4-68295D44A8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ea typeface="Microsoft YaHei"/>
                <a:cs typeface="Arial"/>
              </a:rPr>
              <a:t>交叉评审收敛效果</a:t>
            </a:r>
            <a:endParaRPr kumimoji="1" lang="zh-CN" altLang="en-US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E055EE90-4249-CAC1-0F2E-8A0050051422}"/>
              </a:ext>
            </a:extLst>
          </p:cNvPr>
          <p:cNvGrpSpPr/>
          <p:nvPr/>
        </p:nvGrpSpPr>
        <p:grpSpPr>
          <a:xfrm>
            <a:off x="1428750" y="1194840"/>
            <a:ext cx="6975940" cy="244972"/>
            <a:chOff x="1428750" y="1104900"/>
            <a:chExt cx="6975940" cy="244972"/>
          </a:xfrm>
        </p:grpSpPr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833F0AB0-7842-4079-509D-1FD7EAC815BA}"/>
                </a:ext>
              </a:extLst>
            </p:cNvPr>
            <p:cNvSpPr/>
            <p:nvPr/>
          </p:nvSpPr>
          <p:spPr>
            <a:xfrm>
              <a:off x="1428750" y="110490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3F018C86-43B5-27E9-0676-7646D36014D8}"/>
                </a:ext>
              </a:extLst>
            </p:cNvPr>
            <p:cNvSpPr txBox="1"/>
            <p:nvPr/>
          </p:nvSpPr>
          <p:spPr>
            <a:xfrm>
              <a:off x="1661160" y="1118235"/>
              <a:ext cx="137377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latin typeface="Arial"/>
                  <a:ea typeface="Microsoft YaHei"/>
                  <a:cs typeface="Arial"/>
                </a:rPr>
                <a:t>Round 1 平均 std</a:t>
              </a: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BE9090F8-98D5-22F5-DB07-6CC5D51488E3}"/>
                </a:ext>
              </a:extLst>
            </p:cNvPr>
            <p:cNvSpPr/>
            <p:nvPr/>
          </p:nvSpPr>
          <p:spPr>
            <a:xfrm>
              <a:off x="3211640" y="110490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B648E1C1-16A3-30CB-ECD0-135DE08ED5EA}"/>
                </a:ext>
              </a:extLst>
            </p:cNvPr>
            <p:cNvSpPr txBox="1"/>
            <p:nvPr/>
          </p:nvSpPr>
          <p:spPr>
            <a:xfrm>
              <a:off x="3444050" y="1118235"/>
              <a:ext cx="137377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latin typeface="Arial"/>
                  <a:ea typeface="Microsoft YaHei"/>
                  <a:cs typeface="Arial"/>
                </a:rPr>
                <a:t>Round 2 平均 std</a:t>
              </a: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C3C46996-0BC6-AB53-18BE-A2AF5A04E356}"/>
                </a:ext>
              </a:extLst>
            </p:cNvPr>
            <p:cNvSpPr txBox="1"/>
            <p:nvPr/>
          </p:nvSpPr>
          <p:spPr>
            <a:xfrm>
              <a:off x="4944319" y="1134428"/>
              <a:ext cx="346037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latin typeface="Arial"/>
                  <a:ea typeface="Microsoft YaHei"/>
                  <a:cs typeface="Arial"/>
                </a:rPr>
                <a:t>基于 1920 篇 × 6 维度 = 11,520 个评分单元</a:t>
              </a:r>
            </a:p>
          </p:txBody>
        </p:sp>
      </p:grpSp>
      <p:grpSp>
        <p:nvGrpSpPr>
          <p:cNvPr id="12" name="Group 62">
            <a:extLst>
              <a:ext uri="{FF2B5EF4-FFF2-40B4-BE49-F238E27FC236}">
                <a16:creationId xmlns:a16="http://schemas.microsoft.com/office/drawing/2014/main" id="{EC53DA40-86B7-5117-CA90-9710B17A93EF}"/>
              </a:ext>
            </a:extLst>
          </p:cNvPr>
          <p:cNvGrpSpPr/>
          <p:nvPr/>
        </p:nvGrpSpPr>
        <p:grpSpPr>
          <a:xfrm>
            <a:off x="872117" y="1738718"/>
            <a:ext cx="7128883" cy="4002940"/>
            <a:chOff x="872117" y="1648778"/>
            <a:chExt cx="7128883" cy="4002940"/>
          </a:xfrm>
        </p:grpSpPr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4898816A-2C07-6953-90A9-B71FF78C9E2A}"/>
                </a:ext>
              </a:extLst>
            </p:cNvPr>
            <p:cNvSpPr/>
            <p:nvPr/>
          </p:nvSpPr>
          <p:spPr>
            <a:xfrm>
              <a:off x="1143000" y="51435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4288">
              <a:solidFill>
                <a:srgbClr val="D9DEE5"/>
              </a:solidFill>
            </a:ln>
          </p:spPr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B6E98F51-0592-8387-E242-853F062C96D5}"/>
                </a:ext>
              </a:extLst>
            </p:cNvPr>
            <p:cNvSpPr/>
            <p:nvPr/>
          </p:nvSpPr>
          <p:spPr>
            <a:xfrm>
              <a:off x="1143000" y="42862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F9A9D9A6-7EC9-4BC2-67AB-4A1EEF74C36E}"/>
                </a:ext>
              </a:extLst>
            </p:cNvPr>
            <p:cNvSpPr/>
            <p:nvPr/>
          </p:nvSpPr>
          <p:spPr>
            <a:xfrm>
              <a:off x="1143000" y="34290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DDD3A9C5-7C51-93A2-C866-5FE71137C094}"/>
                </a:ext>
              </a:extLst>
            </p:cNvPr>
            <p:cNvSpPr/>
            <p:nvPr/>
          </p:nvSpPr>
          <p:spPr>
            <a:xfrm>
              <a:off x="1143000" y="25717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43AAAF40-0B43-D5E6-28AB-9260D02C2742}"/>
                </a:ext>
              </a:extLst>
            </p:cNvPr>
            <p:cNvSpPr/>
            <p:nvPr/>
          </p:nvSpPr>
          <p:spPr>
            <a:xfrm>
              <a:off x="1143000" y="17145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1E59B78A-F64F-BA37-7DC8-89735B1C9BE2}"/>
                </a:ext>
              </a:extLst>
            </p:cNvPr>
            <p:cNvSpPr txBox="1"/>
            <p:nvPr/>
          </p:nvSpPr>
          <p:spPr>
            <a:xfrm>
              <a:off x="957075" y="5077778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19" name="TextBox 21">
              <a:extLst>
                <a:ext uri="{FF2B5EF4-FFF2-40B4-BE49-F238E27FC236}">
                  <a16:creationId xmlns:a16="http://schemas.microsoft.com/office/drawing/2014/main" id="{35ECAAE2-7ED0-00C3-975C-37EB8EC00096}"/>
                </a:ext>
              </a:extLst>
            </p:cNvPr>
            <p:cNvSpPr txBox="1"/>
            <p:nvPr/>
          </p:nvSpPr>
          <p:spPr>
            <a:xfrm>
              <a:off x="957075" y="4220528"/>
              <a:ext cx="8496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27A656BA-E228-E14C-2B3A-40C274061500}"/>
                </a:ext>
              </a:extLst>
            </p:cNvPr>
            <p:cNvSpPr txBox="1"/>
            <p:nvPr/>
          </p:nvSpPr>
          <p:spPr>
            <a:xfrm>
              <a:off x="872117" y="3363278"/>
              <a:ext cx="1699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21" name="TextBox 23">
              <a:extLst>
                <a:ext uri="{FF2B5EF4-FFF2-40B4-BE49-F238E27FC236}">
                  <a16:creationId xmlns:a16="http://schemas.microsoft.com/office/drawing/2014/main" id="{243303DF-1CB0-2952-7A52-F6A4126223E3}"/>
                </a:ext>
              </a:extLst>
            </p:cNvPr>
            <p:cNvSpPr txBox="1"/>
            <p:nvPr/>
          </p:nvSpPr>
          <p:spPr>
            <a:xfrm>
              <a:off x="872117" y="2506028"/>
              <a:ext cx="1699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  <p:sp>
          <p:nvSpPr>
            <p:cNvPr id="22" name="TextBox 24">
              <a:extLst>
                <a:ext uri="{FF2B5EF4-FFF2-40B4-BE49-F238E27FC236}">
                  <a16:creationId xmlns:a16="http://schemas.microsoft.com/office/drawing/2014/main" id="{3B77324B-DCC9-94DE-AE51-1269458F79D9}"/>
                </a:ext>
              </a:extLst>
            </p:cNvPr>
            <p:cNvSpPr txBox="1"/>
            <p:nvPr/>
          </p:nvSpPr>
          <p:spPr>
            <a:xfrm>
              <a:off x="872117" y="1648778"/>
              <a:ext cx="1699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C01D8DA8-42DF-A8B5-D55C-A58ABF6E17DA}"/>
                </a:ext>
              </a:extLst>
            </p:cNvPr>
            <p:cNvSpPr/>
            <p:nvPr/>
          </p:nvSpPr>
          <p:spPr>
            <a:xfrm>
              <a:off x="1143000" y="1714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24" name="Rectangle 26">
              <a:extLst>
                <a:ext uri="{FF2B5EF4-FFF2-40B4-BE49-F238E27FC236}">
                  <a16:creationId xmlns:a16="http://schemas.microsoft.com/office/drawing/2014/main" id="{848DBCF2-1910-A864-1F9B-F294DE42D99C}"/>
                </a:ext>
              </a:extLst>
            </p:cNvPr>
            <p:cNvSpPr/>
            <p:nvPr/>
          </p:nvSpPr>
          <p:spPr>
            <a:xfrm>
              <a:off x="1314450" y="1933575"/>
              <a:ext cx="361950" cy="32099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5" name="TextBox 27">
              <a:extLst>
                <a:ext uri="{FF2B5EF4-FFF2-40B4-BE49-F238E27FC236}">
                  <a16:creationId xmlns:a16="http://schemas.microsoft.com/office/drawing/2014/main" id="{955C8E95-56BD-31C7-6748-70C55AA39DDC}"/>
                </a:ext>
              </a:extLst>
            </p:cNvPr>
            <p:cNvSpPr txBox="1"/>
            <p:nvPr/>
          </p:nvSpPr>
          <p:spPr>
            <a:xfrm>
              <a:off x="1271806" y="1727835"/>
              <a:ext cx="4472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18.70</a:t>
              </a:r>
            </a:p>
          </p:txBody>
        </p:sp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46A6C8C1-C7EC-ABFF-79AF-52C9D751BCA4}"/>
                </a:ext>
              </a:extLst>
            </p:cNvPr>
            <p:cNvSpPr/>
            <p:nvPr/>
          </p:nvSpPr>
          <p:spPr>
            <a:xfrm>
              <a:off x="1752600" y="3267075"/>
              <a:ext cx="361950" cy="18764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7" name="TextBox 29">
              <a:extLst>
                <a:ext uri="{FF2B5EF4-FFF2-40B4-BE49-F238E27FC236}">
                  <a16:creationId xmlns:a16="http://schemas.microsoft.com/office/drawing/2014/main" id="{4EA1A3FE-1CFA-74B2-9400-6E7F39132327}"/>
                </a:ext>
              </a:extLst>
            </p:cNvPr>
            <p:cNvSpPr txBox="1"/>
            <p:nvPr/>
          </p:nvSpPr>
          <p:spPr>
            <a:xfrm>
              <a:off x="1709956" y="3061335"/>
              <a:ext cx="4472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10.94</a:t>
              </a:r>
            </a:p>
          </p:txBody>
        </p:sp>
        <p:sp>
          <p:nvSpPr>
            <p:cNvPr id="28" name="TextBox 30">
              <a:extLst>
                <a:ext uri="{FF2B5EF4-FFF2-40B4-BE49-F238E27FC236}">
                  <a16:creationId xmlns:a16="http://schemas.microsoft.com/office/drawing/2014/main" id="{0A3E34E4-F433-555C-55D8-5CE4B59C7C3A}"/>
                </a:ext>
              </a:extLst>
            </p:cNvPr>
            <p:cNvSpPr txBox="1"/>
            <p:nvPr/>
          </p:nvSpPr>
          <p:spPr>
            <a:xfrm>
              <a:off x="1265659" y="5204460"/>
              <a:ext cx="8976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研究创新性</a:t>
              </a:r>
            </a:p>
          </p:txBody>
        </p:sp>
        <p:sp>
          <p:nvSpPr>
            <p:cNvPr id="29" name="TextBox 31">
              <a:extLst>
                <a:ext uri="{FF2B5EF4-FFF2-40B4-BE49-F238E27FC236}">
                  <a16:creationId xmlns:a16="http://schemas.microsoft.com/office/drawing/2014/main" id="{3AEC8302-16C0-970C-145A-09E7CDD0691C}"/>
                </a:ext>
              </a:extLst>
            </p:cNvPr>
            <p:cNvSpPr txBox="1"/>
            <p:nvPr/>
          </p:nvSpPr>
          <p:spPr>
            <a:xfrm>
              <a:off x="1561414" y="5467052"/>
              <a:ext cx="3061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latin typeface="Arial"/>
                  <a:ea typeface="Microsoft YaHei"/>
                  <a:cs typeface="Arial"/>
                </a:rPr>
                <a:t>30%</a:t>
              </a:r>
            </a:p>
          </p:txBody>
        </p:sp>
        <p:sp>
          <p:nvSpPr>
            <p:cNvPr id="30" name="Rectangle 32">
              <a:extLst>
                <a:ext uri="{FF2B5EF4-FFF2-40B4-BE49-F238E27FC236}">
                  <a16:creationId xmlns:a16="http://schemas.microsoft.com/office/drawing/2014/main" id="{A75AAF3F-D8A8-0E83-0CDE-D7559778155C}"/>
                </a:ext>
              </a:extLst>
            </p:cNvPr>
            <p:cNvSpPr/>
            <p:nvPr/>
          </p:nvSpPr>
          <p:spPr>
            <a:xfrm>
              <a:off x="2457450" y="2276475"/>
              <a:ext cx="361950" cy="28670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1" name="TextBox 33">
              <a:extLst>
                <a:ext uri="{FF2B5EF4-FFF2-40B4-BE49-F238E27FC236}">
                  <a16:creationId xmlns:a16="http://schemas.microsoft.com/office/drawing/2014/main" id="{1ED43681-890C-5A38-C762-F3E1FDDE9089}"/>
                </a:ext>
              </a:extLst>
            </p:cNvPr>
            <p:cNvSpPr txBox="1"/>
            <p:nvPr/>
          </p:nvSpPr>
          <p:spPr>
            <a:xfrm>
              <a:off x="2414806" y="2070735"/>
              <a:ext cx="4472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16.72</a:t>
              </a:r>
            </a:p>
          </p:txBody>
        </p:sp>
        <p:sp>
          <p:nvSpPr>
            <p:cNvPr id="32" name="Rectangle 34">
              <a:extLst>
                <a:ext uri="{FF2B5EF4-FFF2-40B4-BE49-F238E27FC236}">
                  <a16:creationId xmlns:a16="http://schemas.microsoft.com/office/drawing/2014/main" id="{5027A3C4-FAC0-4E91-DD0D-F6F86D282608}"/>
                </a:ext>
              </a:extLst>
            </p:cNvPr>
            <p:cNvSpPr/>
            <p:nvPr/>
          </p:nvSpPr>
          <p:spPr>
            <a:xfrm>
              <a:off x="2895600" y="3676650"/>
              <a:ext cx="361950" cy="146685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B8616641-198D-6798-F46F-121E9FE7CCE3}"/>
                </a:ext>
              </a:extLst>
            </p:cNvPr>
            <p:cNvSpPr txBox="1"/>
            <p:nvPr/>
          </p:nvSpPr>
          <p:spPr>
            <a:xfrm>
              <a:off x="2902649" y="3470910"/>
              <a:ext cx="34785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8.56</a:t>
              </a:r>
            </a:p>
          </p:txBody>
        </p:sp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BBA43521-A012-09E6-20A9-2C800D10FBB9}"/>
                </a:ext>
              </a:extLst>
            </p:cNvPr>
            <p:cNvSpPr txBox="1"/>
            <p:nvPr/>
          </p:nvSpPr>
          <p:spPr>
            <a:xfrm>
              <a:off x="2408659" y="5204460"/>
              <a:ext cx="8976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现状洞察度</a:t>
              </a:r>
            </a:p>
          </p:txBody>
        </p:sp>
        <p:sp>
          <p:nvSpPr>
            <p:cNvPr id="35" name="TextBox 37">
              <a:extLst>
                <a:ext uri="{FF2B5EF4-FFF2-40B4-BE49-F238E27FC236}">
                  <a16:creationId xmlns:a16="http://schemas.microsoft.com/office/drawing/2014/main" id="{FB5231BD-25F0-F9E0-227A-154CE5D50335}"/>
                </a:ext>
              </a:extLst>
            </p:cNvPr>
            <p:cNvSpPr txBox="1"/>
            <p:nvPr/>
          </p:nvSpPr>
          <p:spPr>
            <a:xfrm>
              <a:off x="2704414" y="5467052"/>
              <a:ext cx="3061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36" name="Rectangle 38">
              <a:extLst>
                <a:ext uri="{FF2B5EF4-FFF2-40B4-BE49-F238E27FC236}">
                  <a16:creationId xmlns:a16="http://schemas.microsoft.com/office/drawing/2014/main" id="{756920E8-31C5-78B4-7338-B8D6828E1B73}"/>
                </a:ext>
              </a:extLst>
            </p:cNvPr>
            <p:cNvSpPr/>
            <p:nvPr/>
          </p:nvSpPr>
          <p:spPr>
            <a:xfrm>
              <a:off x="3600450" y="2019300"/>
              <a:ext cx="361950" cy="312420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9">
              <a:extLst>
                <a:ext uri="{FF2B5EF4-FFF2-40B4-BE49-F238E27FC236}">
                  <a16:creationId xmlns:a16="http://schemas.microsoft.com/office/drawing/2014/main" id="{5D50C3A6-BE37-5BCA-51B6-02B268473355}"/>
                </a:ext>
              </a:extLst>
            </p:cNvPr>
            <p:cNvSpPr txBox="1"/>
            <p:nvPr/>
          </p:nvSpPr>
          <p:spPr>
            <a:xfrm>
              <a:off x="3557806" y="1813560"/>
              <a:ext cx="4472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18.23</a:t>
              </a:r>
            </a:p>
          </p:txBody>
        </p:sp>
        <p:sp>
          <p:nvSpPr>
            <p:cNvPr id="38" name="Rectangle 40">
              <a:extLst>
                <a:ext uri="{FF2B5EF4-FFF2-40B4-BE49-F238E27FC236}">
                  <a16:creationId xmlns:a16="http://schemas.microsoft.com/office/drawing/2014/main" id="{AE918279-F843-1221-6055-0D8B6FF51C69}"/>
                </a:ext>
              </a:extLst>
            </p:cNvPr>
            <p:cNvSpPr/>
            <p:nvPr/>
          </p:nvSpPr>
          <p:spPr>
            <a:xfrm>
              <a:off x="4038600" y="3648075"/>
              <a:ext cx="361950" cy="14954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9" name="TextBox 41">
              <a:extLst>
                <a:ext uri="{FF2B5EF4-FFF2-40B4-BE49-F238E27FC236}">
                  <a16:creationId xmlns:a16="http://schemas.microsoft.com/office/drawing/2014/main" id="{C7924A2C-38DA-AD82-7F01-54B18BBF90D6}"/>
                </a:ext>
              </a:extLst>
            </p:cNvPr>
            <p:cNvSpPr txBox="1"/>
            <p:nvPr/>
          </p:nvSpPr>
          <p:spPr>
            <a:xfrm>
              <a:off x="4045649" y="3442335"/>
              <a:ext cx="34785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8.71</a:t>
              </a:r>
            </a:p>
          </p:txBody>
        </p:sp>
        <p:sp>
          <p:nvSpPr>
            <p:cNvPr id="40" name="TextBox 42">
              <a:extLst>
                <a:ext uri="{FF2B5EF4-FFF2-40B4-BE49-F238E27FC236}">
                  <a16:creationId xmlns:a16="http://schemas.microsoft.com/office/drawing/2014/main" id="{FDCCD964-6FCB-34D0-B9E1-4819F4AF69AA}"/>
                </a:ext>
              </a:extLst>
            </p:cNvPr>
            <p:cNvSpPr txBox="1"/>
            <p:nvPr/>
          </p:nvSpPr>
          <p:spPr>
            <a:xfrm>
              <a:off x="3551659" y="5204460"/>
              <a:ext cx="8976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理论建构力</a:t>
              </a:r>
            </a:p>
          </p:txBody>
        </p:sp>
        <p:sp>
          <p:nvSpPr>
            <p:cNvPr id="41" name="TextBox 43">
              <a:extLst>
                <a:ext uri="{FF2B5EF4-FFF2-40B4-BE49-F238E27FC236}">
                  <a16:creationId xmlns:a16="http://schemas.microsoft.com/office/drawing/2014/main" id="{3483C1DF-94F8-0825-6B6C-54B5A6E6F4A0}"/>
                </a:ext>
              </a:extLst>
            </p:cNvPr>
            <p:cNvSpPr txBox="1"/>
            <p:nvPr/>
          </p:nvSpPr>
          <p:spPr>
            <a:xfrm>
              <a:off x="3847414" y="5467052"/>
              <a:ext cx="3061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latin typeface="Arial"/>
                  <a:ea typeface="Microsoft YaHei"/>
                  <a:cs typeface="Arial"/>
                </a:rPr>
                <a:t>15%</a:t>
              </a: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6459E119-C173-26E3-9216-D0D9623D1AAC}"/>
                </a:ext>
              </a:extLst>
            </p:cNvPr>
            <p:cNvSpPr/>
            <p:nvPr/>
          </p:nvSpPr>
          <p:spPr>
            <a:xfrm>
              <a:off x="4743450" y="3409950"/>
              <a:ext cx="361950" cy="173355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3" name="TextBox 45">
              <a:extLst>
                <a:ext uri="{FF2B5EF4-FFF2-40B4-BE49-F238E27FC236}">
                  <a16:creationId xmlns:a16="http://schemas.microsoft.com/office/drawing/2014/main" id="{E3CFFFE1-F69B-2CE7-9C7F-61DC9987AACC}"/>
                </a:ext>
              </a:extLst>
            </p:cNvPr>
            <p:cNvSpPr txBox="1"/>
            <p:nvPr/>
          </p:nvSpPr>
          <p:spPr>
            <a:xfrm>
              <a:off x="4700806" y="3204210"/>
              <a:ext cx="4472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10.10</a:t>
              </a:r>
            </a:p>
          </p:txBody>
        </p:sp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D1B6BC81-0FA3-CBB7-8C67-E2E1CFE005C2}"/>
                </a:ext>
              </a:extLst>
            </p:cNvPr>
            <p:cNvSpPr/>
            <p:nvPr/>
          </p:nvSpPr>
          <p:spPr>
            <a:xfrm>
              <a:off x="5181600" y="4429125"/>
              <a:ext cx="361950" cy="71437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5" name="TextBox 47">
              <a:extLst>
                <a:ext uri="{FF2B5EF4-FFF2-40B4-BE49-F238E27FC236}">
                  <a16:creationId xmlns:a16="http://schemas.microsoft.com/office/drawing/2014/main" id="{6EE73FF8-0C1F-A627-65BF-700499222F39}"/>
                </a:ext>
              </a:extLst>
            </p:cNvPr>
            <p:cNvSpPr txBox="1"/>
            <p:nvPr/>
          </p:nvSpPr>
          <p:spPr>
            <a:xfrm>
              <a:off x="5188649" y="4223385"/>
              <a:ext cx="34785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4.16</a:t>
              </a:r>
            </a:p>
          </p:txBody>
        </p:sp>
        <p:sp>
          <p:nvSpPr>
            <p:cNvPr id="46" name="TextBox 48">
              <a:extLst>
                <a:ext uri="{FF2B5EF4-FFF2-40B4-BE49-F238E27FC236}">
                  <a16:creationId xmlns:a16="http://schemas.microsoft.com/office/drawing/2014/main" id="{1CA48E92-20DC-5D27-7C44-5DBB84FEA380}"/>
                </a:ext>
              </a:extLst>
            </p:cNvPr>
            <p:cNvSpPr txBox="1"/>
            <p:nvPr/>
          </p:nvSpPr>
          <p:spPr>
            <a:xfrm>
              <a:off x="4694659" y="5204460"/>
              <a:ext cx="8976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逻辑连贯性</a:t>
              </a:r>
            </a:p>
          </p:txBody>
        </p:sp>
        <p:sp>
          <p:nvSpPr>
            <p:cNvPr id="47" name="TextBox 49">
              <a:extLst>
                <a:ext uri="{FF2B5EF4-FFF2-40B4-BE49-F238E27FC236}">
                  <a16:creationId xmlns:a16="http://schemas.microsoft.com/office/drawing/2014/main" id="{DB44F87F-6FA0-B1EA-AD25-E41F24DD04EE}"/>
                </a:ext>
              </a:extLst>
            </p:cNvPr>
            <p:cNvSpPr txBox="1"/>
            <p:nvPr/>
          </p:nvSpPr>
          <p:spPr>
            <a:xfrm>
              <a:off x="4990414" y="5467052"/>
              <a:ext cx="3061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48" name="Rectangle 50">
              <a:extLst>
                <a:ext uri="{FF2B5EF4-FFF2-40B4-BE49-F238E27FC236}">
                  <a16:creationId xmlns:a16="http://schemas.microsoft.com/office/drawing/2014/main" id="{8AEB9D23-3CE6-1455-23D6-D0B2C4E3DF9B}"/>
                </a:ext>
              </a:extLst>
            </p:cNvPr>
            <p:cNvSpPr/>
            <p:nvPr/>
          </p:nvSpPr>
          <p:spPr>
            <a:xfrm>
              <a:off x="5886450" y="3057525"/>
              <a:ext cx="361950" cy="208597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9" name="TextBox 51">
              <a:extLst>
                <a:ext uri="{FF2B5EF4-FFF2-40B4-BE49-F238E27FC236}">
                  <a16:creationId xmlns:a16="http://schemas.microsoft.com/office/drawing/2014/main" id="{C36C684A-D0F5-C8A7-C31A-0DF61FC473CB}"/>
                </a:ext>
              </a:extLst>
            </p:cNvPr>
            <p:cNvSpPr txBox="1"/>
            <p:nvPr/>
          </p:nvSpPr>
          <p:spPr>
            <a:xfrm>
              <a:off x="5843806" y="2851785"/>
              <a:ext cx="4472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12.16</a:t>
              </a:r>
            </a:p>
          </p:txBody>
        </p:sp>
        <p:sp>
          <p:nvSpPr>
            <p:cNvPr id="50" name="Rectangle 52">
              <a:extLst>
                <a:ext uri="{FF2B5EF4-FFF2-40B4-BE49-F238E27FC236}">
                  <a16:creationId xmlns:a16="http://schemas.microsoft.com/office/drawing/2014/main" id="{8F4BA5B6-A48B-B78C-8072-3B9EB3575E41}"/>
                </a:ext>
              </a:extLst>
            </p:cNvPr>
            <p:cNvSpPr/>
            <p:nvPr/>
          </p:nvSpPr>
          <p:spPr>
            <a:xfrm>
              <a:off x="6324600" y="4219575"/>
              <a:ext cx="361950" cy="9239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1" name="TextBox 53">
              <a:extLst>
                <a:ext uri="{FF2B5EF4-FFF2-40B4-BE49-F238E27FC236}">
                  <a16:creationId xmlns:a16="http://schemas.microsoft.com/office/drawing/2014/main" id="{DA7F2D18-9D7C-4CF1-48C8-E4F767CCB2F4}"/>
                </a:ext>
              </a:extLst>
            </p:cNvPr>
            <p:cNvSpPr txBox="1"/>
            <p:nvPr/>
          </p:nvSpPr>
          <p:spPr>
            <a:xfrm>
              <a:off x="6331649" y="4013835"/>
              <a:ext cx="34785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5.37</a:t>
              </a:r>
            </a:p>
          </p:txBody>
        </p:sp>
        <p:sp>
          <p:nvSpPr>
            <p:cNvPr id="52" name="TextBox 54">
              <a:extLst>
                <a:ext uri="{FF2B5EF4-FFF2-40B4-BE49-F238E27FC236}">
                  <a16:creationId xmlns:a16="http://schemas.microsoft.com/office/drawing/2014/main" id="{C1167B94-486B-8DF3-4B8D-3D0D67314F08}"/>
                </a:ext>
              </a:extLst>
            </p:cNvPr>
            <p:cNvSpPr txBox="1"/>
            <p:nvPr/>
          </p:nvSpPr>
          <p:spPr>
            <a:xfrm>
              <a:off x="5837659" y="5204460"/>
              <a:ext cx="8976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学术共识度</a:t>
              </a:r>
            </a:p>
          </p:txBody>
        </p:sp>
        <p:sp>
          <p:nvSpPr>
            <p:cNvPr id="53" name="TextBox 55">
              <a:extLst>
                <a:ext uri="{FF2B5EF4-FFF2-40B4-BE49-F238E27FC236}">
                  <a16:creationId xmlns:a16="http://schemas.microsoft.com/office/drawing/2014/main" id="{968B2FAD-D093-BC04-22AE-D401F7A2EC67}"/>
                </a:ext>
              </a:extLst>
            </p:cNvPr>
            <p:cNvSpPr txBox="1"/>
            <p:nvPr/>
          </p:nvSpPr>
          <p:spPr>
            <a:xfrm>
              <a:off x="6133414" y="5467052"/>
              <a:ext cx="30617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latin typeface="Arial"/>
                  <a:ea typeface="Microsoft YaHei"/>
                  <a:cs typeface="Arial"/>
                </a:rPr>
                <a:t>10%</a:t>
              </a:r>
            </a:p>
          </p:txBody>
        </p:sp>
        <p:sp>
          <p:nvSpPr>
            <p:cNvPr id="54" name="Rectangle 56">
              <a:extLst>
                <a:ext uri="{FF2B5EF4-FFF2-40B4-BE49-F238E27FC236}">
                  <a16:creationId xmlns:a16="http://schemas.microsoft.com/office/drawing/2014/main" id="{BE05B548-B137-F4D3-CEC9-9D83C4979B9A}"/>
                </a:ext>
              </a:extLst>
            </p:cNvPr>
            <p:cNvSpPr/>
            <p:nvPr/>
          </p:nvSpPr>
          <p:spPr>
            <a:xfrm>
              <a:off x="7029450" y="2857500"/>
              <a:ext cx="361950" cy="228600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5" name="TextBox 57">
              <a:extLst>
                <a:ext uri="{FF2B5EF4-FFF2-40B4-BE49-F238E27FC236}">
                  <a16:creationId xmlns:a16="http://schemas.microsoft.com/office/drawing/2014/main" id="{E05DCE4C-6DAE-4B73-1D95-EEF3ED4DBAF7}"/>
                </a:ext>
              </a:extLst>
            </p:cNvPr>
            <p:cNvSpPr txBox="1"/>
            <p:nvPr/>
          </p:nvSpPr>
          <p:spPr>
            <a:xfrm>
              <a:off x="6986806" y="2651760"/>
              <a:ext cx="44723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13.33</a:t>
              </a:r>
            </a:p>
          </p:txBody>
        </p:sp>
        <p:sp>
          <p:nvSpPr>
            <p:cNvPr id="56" name="Rectangle 58">
              <a:extLst>
                <a:ext uri="{FF2B5EF4-FFF2-40B4-BE49-F238E27FC236}">
                  <a16:creationId xmlns:a16="http://schemas.microsoft.com/office/drawing/2014/main" id="{0286217E-9F26-6A31-C320-79679B276124}"/>
                </a:ext>
              </a:extLst>
            </p:cNvPr>
            <p:cNvSpPr/>
            <p:nvPr/>
          </p:nvSpPr>
          <p:spPr>
            <a:xfrm>
              <a:off x="7467600" y="4171950"/>
              <a:ext cx="361950" cy="97155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7" name="TextBox 59">
              <a:extLst>
                <a:ext uri="{FF2B5EF4-FFF2-40B4-BE49-F238E27FC236}">
                  <a16:creationId xmlns:a16="http://schemas.microsoft.com/office/drawing/2014/main" id="{EC0D6392-0D4F-22FB-728C-54A4EEF8576F}"/>
                </a:ext>
              </a:extLst>
            </p:cNvPr>
            <p:cNvSpPr txBox="1"/>
            <p:nvPr/>
          </p:nvSpPr>
          <p:spPr>
            <a:xfrm>
              <a:off x="7474649" y="3966210"/>
              <a:ext cx="34785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5.68</a:t>
              </a:r>
            </a:p>
          </p:txBody>
        </p:sp>
        <p:sp>
          <p:nvSpPr>
            <p:cNvPr id="58" name="TextBox 60">
              <a:extLst>
                <a:ext uri="{FF2B5EF4-FFF2-40B4-BE49-F238E27FC236}">
                  <a16:creationId xmlns:a16="http://schemas.microsoft.com/office/drawing/2014/main" id="{984A0C99-E376-7296-603B-F090BDE731E8}"/>
                </a:ext>
              </a:extLst>
            </p:cNvPr>
            <p:cNvSpPr txBox="1"/>
            <p:nvPr/>
          </p:nvSpPr>
          <p:spPr>
            <a:xfrm>
              <a:off x="6980659" y="5204460"/>
              <a:ext cx="8976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前瞻延展性</a:t>
              </a:r>
            </a:p>
          </p:txBody>
        </p:sp>
        <p:sp>
          <p:nvSpPr>
            <p:cNvPr id="59" name="TextBox 61">
              <a:extLst>
                <a:ext uri="{FF2B5EF4-FFF2-40B4-BE49-F238E27FC236}">
                  <a16:creationId xmlns:a16="http://schemas.microsoft.com/office/drawing/2014/main" id="{81827CDC-91A4-6147-D162-9E3D225B4629}"/>
                </a:ext>
              </a:extLst>
            </p:cNvPr>
            <p:cNvSpPr txBox="1"/>
            <p:nvPr/>
          </p:nvSpPr>
          <p:spPr>
            <a:xfrm>
              <a:off x="7318893" y="5467052"/>
              <a:ext cx="2212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latin typeface="Arial"/>
                  <a:ea typeface="Microsoft YaHei"/>
                  <a:cs typeface="Arial"/>
                </a:rPr>
                <a:t>5%</a:t>
              </a:r>
            </a:p>
          </p:txBody>
        </p:sp>
      </p:grpSp>
      <p:grpSp>
        <p:nvGrpSpPr>
          <p:cNvPr id="60" name="Group 68">
            <a:extLst>
              <a:ext uri="{FF2B5EF4-FFF2-40B4-BE49-F238E27FC236}">
                <a16:creationId xmlns:a16="http://schemas.microsoft.com/office/drawing/2014/main" id="{A952ED02-4BF3-E475-356E-284903E75639}"/>
              </a:ext>
            </a:extLst>
          </p:cNvPr>
          <p:cNvGrpSpPr/>
          <p:nvPr/>
        </p:nvGrpSpPr>
        <p:grpSpPr>
          <a:xfrm>
            <a:off x="8458200" y="1518690"/>
            <a:ext cx="3048000" cy="1809750"/>
            <a:chOff x="8458200" y="1428750"/>
            <a:chExt cx="3048000" cy="1809750"/>
          </a:xfrm>
        </p:grpSpPr>
        <p:sp>
          <p:nvSpPr>
            <p:cNvPr id="61" name="Rectangle 63">
              <a:extLst>
                <a:ext uri="{FF2B5EF4-FFF2-40B4-BE49-F238E27FC236}">
                  <a16:creationId xmlns:a16="http://schemas.microsoft.com/office/drawing/2014/main" id="{CC363FFF-9282-9013-6400-14ADD7A167F2}"/>
                </a:ext>
              </a:extLst>
            </p:cNvPr>
            <p:cNvSpPr/>
            <p:nvPr/>
          </p:nvSpPr>
          <p:spPr>
            <a:xfrm>
              <a:off x="8458200" y="1428750"/>
              <a:ext cx="3048000" cy="1809750"/>
            </a:xfrm>
            <a:prstGeom prst="roundRect">
              <a:avLst>
                <a:gd name="adj" fmla="val 8421"/>
              </a:avLst>
            </a:prstGeom>
            <a:solidFill>
              <a:srgbClr val="C8161E"/>
            </a:solidFill>
            <a:ln>
              <a:noFill/>
            </a:ln>
          </p:spPr>
        </p:sp>
        <p:sp>
          <p:nvSpPr>
            <p:cNvPr id="62" name="TextBox 64">
              <a:extLst>
                <a:ext uri="{FF2B5EF4-FFF2-40B4-BE49-F238E27FC236}">
                  <a16:creationId xmlns:a16="http://schemas.microsoft.com/office/drawing/2014/main" id="{317E352E-0330-2E1D-A456-9F014EDB643A}"/>
                </a:ext>
              </a:extLst>
            </p:cNvPr>
            <p:cNvSpPr txBox="1"/>
            <p:nvPr/>
          </p:nvSpPr>
          <p:spPr>
            <a:xfrm>
              <a:off x="8671560" y="1680210"/>
              <a:ext cx="14362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chemeClr val="bg1">
                      <a:alpha val="85000"/>
                    </a:schemeClr>
                  </a:solidFill>
                  <a:latin typeface="Arial"/>
                  <a:ea typeface="Microsoft YaHei"/>
                  <a:cs typeface="Arial"/>
                </a:rPr>
                <a:t>整体标准差降幅</a:t>
              </a:r>
            </a:p>
          </p:txBody>
        </p:sp>
        <p:sp>
          <p:nvSpPr>
            <p:cNvPr id="63" name="TextBox 65">
              <a:extLst>
                <a:ext uri="{FF2B5EF4-FFF2-40B4-BE49-F238E27FC236}">
                  <a16:creationId xmlns:a16="http://schemas.microsoft.com/office/drawing/2014/main" id="{A2647DFA-2E64-2EBC-1342-B93B00942DF5}"/>
                </a:ext>
              </a:extLst>
            </p:cNvPr>
            <p:cNvSpPr txBox="1"/>
            <p:nvPr/>
          </p:nvSpPr>
          <p:spPr>
            <a:xfrm>
              <a:off x="8580120" y="1969770"/>
              <a:ext cx="1862689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51.3</a:t>
              </a:r>
              <a:r>
                <a:rPr lang="zh-CN" sz="3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%</a:t>
              </a:r>
            </a:p>
          </p:txBody>
        </p:sp>
        <p:sp>
          <p:nvSpPr>
            <p:cNvPr id="64" name="Line 66">
              <a:extLst>
                <a:ext uri="{FF2B5EF4-FFF2-40B4-BE49-F238E27FC236}">
                  <a16:creationId xmlns:a16="http://schemas.microsoft.com/office/drawing/2014/main" id="{C903AA64-1246-D5C3-DFBB-FDB71C27536F}"/>
                </a:ext>
              </a:extLst>
            </p:cNvPr>
            <p:cNvSpPr/>
            <p:nvPr/>
          </p:nvSpPr>
          <p:spPr>
            <a:xfrm>
              <a:off x="8686800" y="27432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65" name="TextBox 67">
              <a:extLst>
                <a:ext uri="{FF2B5EF4-FFF2-40B4-BE49-F238E27FC236}">
                  <a16:creationId xmlns:a16="http://schemas.microsoft.com/office/drawing/2014/main" id="{D1B4C687-6BF4-39AC-57FB-0CBA68557F6A}"/>
                </a:ext>
              </a:extLst>
            </p:cNvPr>
            <p:cNvSpPr txBox="1"/>
            <p:nvPr/>
          </p:nvSpPr>
          <p:spPr>
            <a:xfrm>
              <a:off x="8667750" y="2886075"/>
              <a:ext cx="187070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R1 </a:t>
              </a:r>
              <a:r>
                <a:rPr lang="zh-CN" sz="1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14.87</a:t>
              </a:r>
              <a:r>
                <a:rPr lang="zh-CN" sz="16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→ R2 </a:t>
              </a:r>
              <a:r>
                <a:rPr lang="zh-CN" sz="1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7.24</a:t>
              </a:r>
            </a:p>
          </p:txBody>
        </p:sp>
      </p:grpSp>
      <p:grpSp>
        <p:nvGrpSpPr>
          <p:cNvPr id="66" name="Group 75">
            <a:extLst>
              <a:ext uri="{FF2B5EF4-FFF2-40B4-BE49-F238E27FC236}">
                <a16:creationId xmlns:a16="http://schemas.microsoft.com/office/drawing/2014/main" id="{07AC8B9F-24D0-35BD-F5B1-494480435EB8}"/>
              </a:ext>
            </a:extLst>
          </p:cNvPr>
          <p:cNvGrpSpPr/>
          <p:nvPr/>
        </p:nvGrpSpPr>
        <p:grpSpPr>
          <a:xfrm>
            <a:off x="8458200" y="3518940"/>
            <a:ext cx="3048000" cy="800100"/>
            <a:chOff x="8458200" y="3429000"/>
            <a:chExt cx="3048000" cy="800100"/>
          </a:xfrm>
        </p:grpSpPr>
        <p:sp>
          <p:nvSpPr>
            <p:cNvPr id="67" name="Rectangle 69">
              <a:extLst>
                <a:ext uri="{FF2B5EF4-FFF2-40B4-BE49-F238E27FC236}">
                  <a16:creationId xmlns:a16="http://schemas.microsoft.com/office/drawing/2014/main" id="{18B8FF46-BF49-B34B-8F92-8863C8903C7B}"/>
                </a:ext>
              </a:extLst>
            </p:cNvPr>
            <p:cNvSpPr/>
            <p:nvPr/>
          </p:nvSpPr>
          <p:spPr>
            <a:xfrm>
              <a:off x="8458200" y="3429000"/>
              <a:ext cx="30480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grpSp>
          <p:nvGrpSpPr>
            <p:cNvPr id="68" name="Group 72">
              <a:extLst>
                <a:ext uri="{FF2B5EF4-FFF2-40B4-BE49-F238E27FC236}">
                  <a16:creationId xmlns:a16="http://schemas.microsoft.com/office/drawing/2014/main" id="{81B14D20-25E7-6BF1-4C0A-F32B40AFED8B}"/>
                </a:ext>
              </a:extLst>
            </p:cNvPr>
            <p:cNvGrpSpPr/>
            <p:nvPr/>
          </p:nvGrpSpPr>
          <p:grpSpPr>
            <a:xfrm>
              <a:off x="8696325" y="3686175"/>
              <a:ext cx="285750" cy="285750"/>
              <a:chOff x="8696325" y="3686175"/>
              <a:chExt cx="285750" cy="285750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11EFC1FA-DC19-A715-D61C-3FD44CE7C94C}"/>
                  </a:ext>
                </a:extLst>
              </p:cNvPr>
              <p:cNvSpPr/>
              <p:nvPr/>
            </p:nvSpPr>
            <p:spPr>
              <a:xfrm>
                <a:off x="8696325" y="36861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365B6AED-D95C-CCAD-57BF-BFDCDB793CE6}"/>
                  </a:ext>
                </a:extLst>
              </p:cNvPr>
              <p:cNvSpPr/>
              <p:nvPr/>
            </p:nvSpPr>
            <p:spPr>
              <a:xfrm>
                <a:off x="8791575" y="379730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9" name="TextBox 73">
              <a:extLst>
                <a:ext uri="{FF2B5EF4-FFF2-40B4-BE49-F238E27FC236}">
                  <a16:creationId xmlns:a16="http://schemas.microsoft.com/office/drawing/2014/main" id="{0D5D7166-4E86-F423-F578-D6102823554E}"/>
                </a:ext>
              </a:extLst>
            </p:cNvPr>
            <p:cNvSpPr txBox="1"/>
            <p:nvPr/>
          </p:nvSpPr>
          <p:spPr>
            <a:xfrm>
              <a:off x="9147810" y="3604260"/>
              <a:ext cx="17649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latin typeface="Arial"/>
                  <a:ea typeface="Microsoft YaHei"/>
                  <a:cs typeface="Arial"/>
                </a:rPr>
                <a:t>逻辑连贯性 R2 收敛率</a:t>
              </a:r>
            </a:p>
          </p:txBody>
        </p:sp>
        <p:sp>
          <p:nvSpPr>
            <p:cNvPr id="70" name="TextBox 74">
              <a:extLst>
                <a:ext uri="{FF2B5EF4-FFF2-40B4-BE49-F238E27FC236}">
                  <a16:creationId xmlns:a16="http://schemas.microsoft.com/office/drawing/2014/main" id="{26AD1FC7-8B37-2073-F045-9FFD8F0ACF94}"/>
                </a:ext>
              </a:extLst>
            </p:cNvPr>
            <p:cNvSpPr txBox="1"/>
            <p:nvPr/>
          </p:nvSpPr>
          <p:spPr>
            <a:xfrm>
              <a:off x="9136380" y="3830955"/>
              <a:ext cx="13030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93.2</a:t>
              </a:r>
              <a:r>
                <a:rPr lang="zh-CN" sz="14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%</a:t>
              </a:r>
              <a:r>
                <a:rPr lang="zh-CN" altLang="en-US" sz="14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200" b="1" dirty="0">
                  <a:latin typeface="Arial"/>
                  <a:ea typeface="Microsoft YaHei"/>
                  <a:cs typeface="Arial"/>
                </a:rPr>
                <a:t>最高</a:t>
              </a:r>
              <a:endParaRPr lang="zh-CN" sz="1100" b="1" dirty="0"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B349CE9-C72E-CEA0-1EB0-5FAE03F77F4D}"/>
              </a:ext>
            </a:extLst>
          </p:cNvPr>
          <p:cNvGrpSpPr/>
          <p:nvPr/>
        </p:nvGrpSpPr>
        <p:grpSpPr>
          <a:xfrm>
            <a:off x="8458200" y="4433340"/>
            <a:ext cx="3048000" cy="800100"/>
            <a:chOff x="8458200" y="4343400"/>
            <a:chExt cx="3048000" cy="800100"/>
          </a:xfrm>
        </p:grpSpPr>
        <p:sp>
          <p:nvSpPr>
            <p:cNvPr id="74" name="Rectangle 76">
              <a:extLst>
                <a:ext uri="{FF2B5EF4-FFF2-40B4-BE49-F238E27FC236}">
                  <a16:creationId xmlns:a16="http://schemas.microsoft.com/office/drawing/2014/main" id="{7A297C3A-5622-C1A4-3CB9-39E0D3A6BD13}"/>
                </a:ext>
              </a:extLst>
            </p:cNvPr>
            <p:cNvSpPr/>
            <p:nvPr/>
          </p:nvSpPr>
          <p:spPr>
            <a:xfrm>
              <a:off x="8458200" y="4343400"/>
              <a:ext cx="3048000" cy="8001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grpSp>
          <p:nvGrpSpPr>
            <p:cNvPr id="75" name="Group 81">
              <a:extLst>
                <a:ext uri="{FF2B5EF4-FFF2-40B4-BE49-F238E27FC236}">
                  <a16:creationId xmlns:a16="http://schemas.microsoft.com/office/drawing/2014/main" id="{A8148AC6-3D0E-BDC1-5FFC-6C336979F179}"/>
                </a:ext>
              </a:extLst>
            </p:cNvPr>
            <p:cNvGrpSpPr/>
            <p:nvPr/>
          </p:nvGrpSpPr>
          <p:grpSpPr>
            <a:xfrm>
              <a:off x="8696325" y="4616450"/>
              <a:ext cx="285750" cy="263525"/>
              <a:chOff x="8696325" y="4616450"/>
              <a:chExt cx="285750" cy="263525"/>
            </a:xfrm>
          </p:grpSpPr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E5480937-B3C8-6B12-2D38-C642CFC7CD04}"/>
                  </a:ext>
                </a:extLst>
              </p:cNvPr>
              <p:cNvSpPr/>
              <p:nvPr/>
            </p:nvSpPr>
            <p:spPr>
              <a:xfrm>
                <a:off x="8696325" y="474345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924F06F7-F25A-06CB-CAB5-00D677FB47B1}"/>
                  </a:ext>
                </a:extLst>
              </p:cNvPr>
              <p:cNvSpPr/>
              <p:nvPr/>
            </p:nvSpPr>
            <p:spPr>
              <a:xfrm>
                <a:off x="8886825" y="467995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165F7BC3-8863-DD65-F344-8E8E02BE2EDD}"/>
                  </a:ext>
                </a:extLst>
              </p:cNvPr>
              <p:cNvSpPr/>
              <p:nvPr/>
            </p:nvSpPr>
            <p:spPr>
              <a:xfrm>
                <a:off x="8791575" y="4616450"/>
                <a:ext cx="952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0"/>
                      <a:pt x="79375" y="254000"/>
                    </a:cubicBezTo>
                    <a:lnTo>
                      <a:pt x="15875" y="254000"/>
                    </a:lnTo>
                    <a:cubicBezTo>
                      <a:pt x="7107" y="254000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1B3F3C01-1768-352A-C10A-1C103BD00AC2}"/>
                  </a:ext>
                </a:extLst>
              </p:cNvPr>
              <p:cNvSpPr/>
              <p:nvPr/>
            </p:nvSpPr>
            <p:spPr>
              <a:xfrm>
                <a:off x="8712200" y="4870450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</p:grpSp>
        <p:sp>
          <p:nvSpPr>
            <p:cNvPr id="76" name="TextBox 82">
              <a:extLst>
                <a:ext uri="{FF2B5EF4-FFF2-40B4-BE49-F238E27FC236}">
                  <a16:creationId xmlns:a16="http://schemas.microsoft.com/office/drawing/2014/main" id="{5AFA1143-F684-0F1C-1145-F939E9A4E9A1}"/>
                </a:ext>
              </a:extLst>
            </p:cNvPr>
            <p:cNvSpPr txBox="1"/>
            <p:nvPr/>
          </p:nvSpPr>
          <p:spPr>
            <a:xfrm>
              <a:off x="9147810" y="4518660"/>
              <a:ext cx="17649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latin typeface="Arial"/>
                  <a:ea typeface="Microsoft YaHei"/>
                  <a:cs typeface="Arial"/>
                </a:rPr>
                <a:t>研究创新性 R2 收敛率</a:t>
              </a:r>
            </a:p>
          </p:txBody>
        </p:sp>
        <p:sp>
          <p:nvSpPr>
            <p:cNvPr id="77" name="TextBox 83">
              <a:extLst>
                <a:ext uri="{FF2B5EF4-FFF2-40B4-BE49-F238E27FC236}">
                  <a16:creationId xmlns:a16="http://schemas.microsoft.com/office/drawing/2014/main" id="{FDFE2F8D-21A2-B570-0B59-C43A5EDF35AA}"/>
                </a:ext>
              </a:extLst>
            </p:cNvPr>
            <p:cNvSpPr txBox="1"/>
            <p:nvPr/>
          </p:nvSpPr>
          <p:spPr>
            <a:xfrm>
              <a:off x="9136381" y="4745355"/>
              <a:ext cx="22374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07B00"/>
                  </a:solidFill>
                  <a:latin typeface="Arial"/>
                  <a:ea typeface="Microsoft YaHei"/>
                  <a:cs typeface="Arial"/>
                </a:rPr>
                <a:t>44.8</a:t>
              </a:r>
              <a:r>
                <a:rPr lang="zh-CN" sz="1400" b="1" dirty="0">
                  <a:solidFill>
                    <a:srgbClr val="E07B00"/>
                  </a:solidFill>
                  <a:latin typeface="Arial"/>
                  <a:ea typeface="Microsoft YaHei"/>
                  <a:cs typeface="Arial"/>
                </a:rPr>
                <a:t>%</a:t>
              </a:r>
              <a:r>
                <a:rPr lang="zh-CN" altLang="en-US" sz="1400" b="1" dirty="0">
                  <a:solidFill>
                    <a:srgbClr val="E07B00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200" b="1" dirty="0">
                  <a:latin typeface="Arial"/>
                  <a:ea typeface="Microsoft YaHei"/>
                  <a:cs typeface="Arial"/>
                </a:rPr>
                <a:t>最低 · 真实学术分歧</a:t>
              </a:r>
              <a:endParaRPr lang="zh-CN" sz="1100" b="1" dirty="0"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537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60" grpId="0"/>
      <p:bldP spid="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25F177-E7E4-68D9-D87D-F8764FBF59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1" y="3129756"/>
            <a:ext cx="7081677" cy="598488"/>
          </a:xfrm>
        </p:spPr>
        <p:txBody>
          <a:bodyPr/>
          <a:lstStyle/>
          <a:p>
            <a:r>
              <a:rPr lang="en-CN" dirty="0"/>
              <a:t>感谢关注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88101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52189</TotalTime>
  <Words>218</Words>
  <Application>Microsoft Macintosh PowerPoint</Application>
  <PresentationFormat>Widescreen</PresentationFormat>
  <Paragraphs>66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等线</vt:lpstr>
      <vt:lpstr>Microsoft YaHei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2574</cp:revision>
  <dcterms:created xsi:type="dcterms:W3CDTF">2019-01-23T14:14:04Z</dcterms:created>
  <dcterms:modified xsi:type="dcterms:W3CDTF">2026-06-01T14:19:39Z</dcterms:modified>
</cp:coreProperties>
</file>