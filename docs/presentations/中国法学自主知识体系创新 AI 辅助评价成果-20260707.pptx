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0657" r:id="rId2"/>
  </p:sldIdLst>
  <p:sldSz cx="12192000" cy="6858000"/>
  <p:notesSz cx="7102475" cy="10233025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xia Zhang" initials="WZ" lastIdx="1" clrIdx="0">
    <p:extLst>
      <p:ext uri="{19B8F6BF-5375-455C-9EA6-DF929625EA0E}">
        <p15:presenceInfo xmlns:p15="http://schemas.microsoft.com/office/powerpoint/2012/main" userId="dd4b013fb83bef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930C"/>
    <a:srgbClr val="25D9CA"/>
    <a:srgbClr val="0000CD"/>
    <a:srgbClr val="F9F9FB"/>
    <a:srgbClr val="DEEBFE"/>
    <a:srgbClr val="F7DC7F"/>
    <a:srgbClr val="0066FF"/>
    <a:srgbClr val="02FFFF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9" autoAdjust="0"/>
    <p:restoredTop sz="85578" autoAdjust="0"/>
  </p:normalViewPr>
  <p:slideViewPr>
    <p:cSldViewPr snapToGrid="0" showGuides="1">
      <p:cViewPr varScale="1">
        <p:scale>
          <a:sx n="96" d="100"/>
          <a:sy n="96" d="100"/>
        </p:scale>
        <p:origin x="392" y="168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6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04"/>
    </p:cViewPr>
  </p:sorterViewPr>
  <p:notesViewPr>
    <p:cSldViewPr snapToGrid="0" showGuide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86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7ABA8D-3632-4FB6-8561-0367E4880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F70B8EC-E67C-4355-9367-9F32C48344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7C66039A-3D15-4D27-8FD3-6ADF01C34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建筑物&#10;&#10;自动生成的说明">
            <a:extLst>
              <a:ext uri="{FF2B5EF4-FFF2-40B4-BE49-F238E27FC236}">
                <a16:creationId xmlns:a16="http://schemas.microsoft.com/office/drawing/2014/main" id="{27CDB2F7-E7B6-465A-921A-BD30952F7D4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924" y="4902201"/>
            <a:ext cx="7179060" cy="2311400"/>
          </a:xfrm>
          <a:prstGeom prst="rect">
            <a:avLst/>
          </a:prstGeom>
          <a:effectLst/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B46500FD-D914-4D54-A821-08966030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66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3C46B9-BB5F-5D48-A282-A1DFCA9C9F1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62" y="918446"/>
            <a:ext cx="56134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5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63AFCE-1CC8-9877-2306-7DDEC93D9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0" rIns="0"/>
          <a:lstStyle/>
          <a:p>
            <a:pPr algn="ctr"/>
            <a:r>
              <a:rPr lang="zh-CN" sz="1200" noProof="1">
                <a:solidFill>
                  <a:srgbClr val="808080"/>
                </a:solidFill>
                <a:latin typeface="Microsoft YaHe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7882127" cy="32918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2000" b="1" noProof="1">
                <a:solidFill>
                  <a:srgbClr val="FFFFFF"/>
                </a:solidFill>
                <a:latin typeface="Microsoft YaHei"/>
              </a:rPr>
              <a:t>中国法学自主知识体系创新 AI 辅助评价成果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896112"/>
            <a:ext cx="11201400" cy="438912"/>
          </a:xfrm>
          <a:prstGeom prst="roundRect">
            <a:avLst>
              <a:gd name="adj" fmla="val 4000"/>
            </a:avLst>
          </a:prstGeom>
          <a:solidFill>
            <a:srgbClr val="C60C1C"/>
          </a:solidFill>
          <a:ln>
            <a:solidFill>
              <a:srgbClr val="C6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TextBox 4"/>
          <p:cNvSpPr txBox="1"/>
          <p:nvPr/>
        </p:nvSpPr>
        <p:spPr>
          <a:xfrm>
            <a:off x="713232" y="969264"/>
            <a:ext cx="10771632" cy="27432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600" b="1" noProof="1">
                <a:solidFill>
                  <a:srgbClr val="FFFFFF"/>
                </a:solidFill>
                <a:latin typeface="Microsoft YaHei"/>
              </a:rPr>
              <a:t>完成 1920 篇法学论文全量评价，形成“指标框架 + 多智能体评审 + 专家复核”闭环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536192"/>
            <a:ext cx="3593591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3970">
            <a:solidFill>
              <a:srgbClr val="E05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Rounded Rectangle 6"/>
          <p:cNvSpPr/>
          <p:nvPr/>
        </p:nvSpPr>
        <p:spPr>
          <a:xfrm>
            <a:off x="676656" y="1700784"/>
            <a:ext cx="786384" cy="274320"/>
          </a:xfrm>
          <a:prstGeom prst="roundRect">
            <a:avLst>
              <a:gd name="adj" fmla="val 4000"/>
            </a:avLst>
          </a:prstGeom>
          <a:solidFill>
            <a:srgbClr val="C60C1C"/>
          </a:solidFill>
          <a:ln>
            <a:solidFill>
              <a:srgbClr val="C6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931541" y="1707273"/>
            <a:ext cx="276614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1673351"/>
            <a:ext cx="2295144" cy="34747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1600" b="1" noProof="1">
                <a:solidFill>
                  <a:srgbClr val="8E141C"/>
                </a:solidFill>
                <a:latin typeface="Microsoft YaHei"/>
              </a:rPr>
              <a:t>评价底座与指标框架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95892"/>
            <a:ext cx="2807756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1400" b="0" noProof="1">
                <a:solidFill>
                  <a:srgbClr val="5A5A5A"/>
                </a:solidFill>
                <a:latin typeface="Microsoft YaHei"/>
              </a:rPr>
              <a:t>五轴归属判断 + 六维内容质量评价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32304"/>
            <a:ext cx="3154679" cy="9144"/>
          </a:xfrm>
          <a:prstGeom prst="rect">
            <a:avLst/>
          </a:prstGeom>
          <a:solidFill>
            <a:srgbClr val="E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2" name="Rounded Rectangle 11"/>
          <p:cNvSpPr/>
          <p:nvPr/>
        </p:nvSpPr>
        <p:spPr>
          <a:xfrm>
            <a:off x="4297680" y="1536192"/>
            <a:ext cx="3593591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3970">
            <a:solidFill>
              <a:srgbClr val="E05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Rounded Rectangle 12"/>
          <p:cNvSpPr/>
          <p:nvPr/>
        </p:nvSpPr>
        <p:spPr>
          <a:xfrm>
            <a:off x="4480560" y="1700784"/>
            <a:ext cx="786384" cy="274320"/>
          </a:xfrm>
          <a:prstGeom prst="roundRect">
            <a:avLst>
              <a:gd name="adj" fmla="val 4000"/>
            </a:avLst>
          </a:prstGeom>
          <a:solidFill>
            <a:srgbClr val="C60C1C"/>
          </a:solidFill>
          <a:ln>
            <a:solidFill>
              <a:srgbClr val="C6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4735445" y="1707273"/>
            <a:ext cx="276614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673351"/>
            <a:ext cx="2295144" cy="34747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1600" b="1" noProof="1">
                <a:solidFill>
                  <a:srgbClr val="8E141C"/>
                </a:solidFill>
                <a:latin typeface="Microsoft YaHei"/>
              </a:rPr>
              <a:t>4 模型 × 2 轮评审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095892"/>
            <a:ext cx="2389372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1400" b="0" noProof="1">
                <a:solidFill>
                  <a:srgbClr val="5A5A5A"/>
                </a:solidFill>
                <a:latin typeface="Microsoft YaHei"/>
              </a:rPr>
              <a:t>多智能体独立初评与交叉复议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17136" y="2432304"/>
            <a:ext cx="3154679" cy="9144"/>
          </a:xfrm>
          <a:prstGeom prst="rect">
            <a:avLst/>
          </a:prstGeom>
          <a:solidFill>
            <a:srgbClr val="E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8" name="Rounded Rectangle 17"/>
          <p:cNvSpPr/>
          <p:nvPr/>
        </p:nvSpPr>
        <p:spPr>
          <a:xfrm>
            <a:off x="8101583" y="1536192"/>
            <a:ext cx="3593591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3970">
            <a:solidFill>
              <a:srgbClr val="E05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Rounded Rectangle 18"/>
          <p:cNvSpPr/>
          <p:nvPr/>
        </p:nvSpPr>
        <p:spPr>
          <a:xfrm>
            <a:off x="8284463" y="1700784"/>
            <a:ext cx="786384" cy="274320"/>
          </a:xfrm>
          <a:prstGeom prst="roundRect">
            <a:avLst>
              <a:gd name="adj" fmla="val 4000"/>
            </a:avLst>
          </a:prstGeom>
          <a:solidFill>
            <a:srgbClr val="C60C1C"/>
          </a:solidFill>
          <a:ln>
            <a:solidFill>
              <a:srgbClr val="C6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400" noProof="1"/>
          </a:p>
        </p:txBody>
      </p:sp>
      <p:sp>
        <p:nvSpPr>
          <p:cNvPr id="20" name="TextBox 19"/>
          <p:cNvSpPr txBox="1"/>
          <p:nvPr/>
        </p:nvSpPr>
        <p:spPr>
          <a:xfrm>
            <a:off x="8539348" y="1707273"/>
            <a:ext cx="276614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3" y="1673351"/>
            <a:ext cx="2295144" cy="34747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1600" b="1" noProof="1">
                <a:solidFill>
                  <a:srgbClr val="8E141C"/>
                </a:solidFill>
                <a:latin typeface="Microsoft YaHei"/>
              </a:rPr>
              <a:t>知识映射与推广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95892"/>
            <a:ext cx="2568908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1400" b="0" noProof="1">
                <a:solidFill>
                  <a:srgbClr val="5A5A5A"/>
                </a:solidFill>
                <a:latin typeface="Microsoft YaHei"/>
              </a:rPr>
              <a:t>评价结果转化为可复核治理材料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432304"/>
            <a:ext cx="3154679" cy="9144"/>
          </a:xfrm>
          <a:prstGeom prst="rect">
            <a:avLst/>
          </a:prstGeom>
          <a:solidFill>
            <a:srgbClr val="E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Rounded Rectangle 23"/>
          <p:cNvSpPr/>
          <p:nvPr/>
        </p:nvSpPr>
        <p:spPr>
          <a:xfrm>
            <a:off x="1065276" y="2633472"/>
            <a:ext cx="713232" cy="1152144"/>
          </a:xfrm>
          <a:prstGeom prst="roundRect">
            <a:avLst>
              <a:gd name="adj" fmla="val 3000"/>
            </a:avLst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pic>
        <p:nvPicPr>
          <p:cNvPr id="25" name="Picture 24" descr="chinese-social-sciences-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689196"/>
            <a:ext cx="713232" cy="96754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961388" y="2633472"/>
            <a:ext cx="713232" cy="1152144"/>
          </a:xfrm>
          <a:prstGeom prst="roundRect">
            <a:avLst>
              <a:gd name="adj" fmla="val 3000"/>
            </a:avLst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pic>
        <p:nvPicPr>
          <p:cNvPr id="27" name="Picture 26" descr="law-science-co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956" y="2689328"/>
            <a:ext cx="713232" cy="96727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857499" y="2633472"/>
            <a:ext cx="713232" cy="1152144"/>
          </a:xfrm>
          <a:prstGeom prst="roundRect">
            <a:avLst>
              <a:gd name="adj" fmla="val 3000"/>
            </a:avLst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pic>
        <p:nvPicPr>
          <p:cNvPr id="29" name="Picture 28" descr="china-legal-science-cov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0068" y="2672104"/>
            <a:ext cx="713232" cy="10017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944" y="3968496"/>
            <a:ext cx="932688" cy="310896"/>
          </a:xfrm>
          <a:prstGeom prst="rect">
            <a:avLst/>
          </a:prstGeom>
          <a:noFill/>
        </p:spPr>
        <p:txBody>
          <a:bodyPr wrap="none" lIns="0" tIns="9144" rIns="0" bIns="9144" anchor="ctr">
            <a:spAutoFit/>
          </a:bodyPr>
          <a:lstStyle/>
          <a:p>
            <a:pPr algn="ctr"/>
            <a:r>
              <a:rPr lang="zh-CN" sz="2400" b="1" noProof="1">
                <a:solidFill>
                  <a:srgbClr val="C60C1C"/>
                </a:solidFill>
                <a:latin typeface="Microsoft YaHei"/>
              </a:rPr>
              <a:t>1920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215" y="4281309"/>
            <a:ext cx="718145" cy="233910"/>
          </a:xfrm>
          <a:prstGeom prst="rect">
            <a:avLst/>
          </a:prstGeom>
          <a:noFill/>
        </p:spPr>
        <p:txBody>
          <a:bodyPr wrap="none" lIns="0" tIns="9144" rIns="0" bIns="9144" anchor="ctr">
            <a:spAutoFit/>
          </a:bodyPr>
          <a:lstStyle/>
          <a:p>
            <a:pPr algn="ctr"/>
            <a:r>
              <a:rPr lang="zh-CN" sz="1400" b="0" noProof="1">
                <a:solidFill>
                  <a:srgbClr val="5A5A5A"/>
                </a:solidFill>
                <a:latin typeface="Microsoft YaHei"/>
              </a:rPr>
              <a:t>全量论文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3968496"/>
            <a:ext cx="1133856" cy="310896"/>
          </a:xfrm>
          <a:prstGeom prst="rect">
            <a:avLst/>
          </a:prstGeom>
          <a:noFill/>
        </p:spPr>
        <p:txBody>
          <a:bodyPr wrap="none" lIns="0" tIns="9144" rIns="0" bIns="9144" anchor="ctr">
            <a:spAutoFit/>
          </a:bodyPr>
          <a:lstStyle/>
          <a:p>
            <a:pPr algn="ctr"/>
            <a:r>
              <a:rPr lang="zh-CN" sz="1800" b="1" noProof="1">
                <a:solidFill>
                  <a:srgbClr val="DA4E2D"/>
                </a:solidFill>
                <a:latin typeface="Microsoft YaHei"/>
              </a:rPr>
              <a:t>Top102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1831" y="4281309"/>
            <a:ext cx="538609" cy="233910"/>
          </a:xfrm>
          <a:prstGeom prst="rect">
            <a:avLst/>
          </a:prstGeom>
          <a:noFill/>
        </p:spPr>
        <p:txBody>
          <a:bodyPr wrap="none" lIns="0" tIns="9144" rIns="0" bIns="9144" anchor="ctr">
            <a:spAutoFit/>
          </a:bodyPr>
          <a:lstStyle/>
          <a:p>
            <a:pPr algn="ctr"/>
            <a:r>
              <a:rPr lang="zh-CN" sz="1400" b="0" noProof="1">
                <a:solidFill>
                  <a:srgbClr val="5A5A5A"/>
                </a:solidFill>
                <a:latin typeface="Microsoft YaHei"/>
              </a:rPr>
              <a:t>候选池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3968496"/>
            <a:ext cx="1005840" cy="310896"/>
          </a:xfrm>
          <a:prstGeom prst="rect">
            <a:avLst/>
          </a:prstGeom>
          <a:noFill/>
        </p:spPr>
        <p:txBody>
          <a:bodyPr wrap="none" lIns="0" tIns="9144" rIns="0" bIns="9144" anchor="ctr">
            <a:spAutoFit/>
          </a:bodyPr>
          <a:lstStyle/>
          <a:p>
            <a:pPr algn="ctr"/>
            <a:r>
              <a:rPr lang="zh-CN" sz="1800" b="1" noProof="1">
                <a:solidFill>
                  <a:srgbClr val="BE8E48"/>
                </a:solidFill>
                <a:latin typeface="Microsoft YaHei"/>
              </a:rPr>
              <a:t>Top50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60199" y="4281309"/>
            <a:ext cx="718145" cy="233910"/>
          </a:xfrm>
          <a:prstGeom prst="rect">
            <a:avLst/>
          </a:prstGeom>
          <a:noFill/>
        </p:spPr>
        <p:txBody>
          <a:bodyPr wrap="none" lIns="0" tIns="9144" rIns="0" bIns="9144" anchor="ctr">
            <a:spAutoFit/>
          </a:bodyPr>
          <a:lstStyle/>
          <a:p>
            <a:pPr algn="ctr"/>
            <a:r>
              <a:rPr lang="zh-CN" sz="1400" b="0" noProof="1">
                <a:solidFill>
                  <a:srgbClr val="5A5A5A"/>
                </a:solidFill>
                <a:latin typeface="Microsoft YaHei"/>
              </a:rPr>
              <a:t>审阅清单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4882896"/>
            <a:ext cx="3008375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2D2D2D"/>
                </a:solidFill>
                <a:latin typeface="Microsoft YaHei"/>
              </a:rPr>
              <a:t>覆盖 2015-2025 年三大刊论文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5173045"/>
            <a:ext cx="3154679" cy="6267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1400" b="0" noProof="1">
                <a:solidFill>
                  <a:srgbClr val="5A5A5A"/>
                </a:solidFill>
                <a:latin typeface="Microsoft YaHei"/>
              </a:rPr>
              <a:t>以“五轴 + 六维”形成统一评价底座，支持候选发现与专家审阅。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6871" y="2587214"/>
            <a:ext cx="1097280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2400" b="1" noProof="1">
                <a:solidFill>
                  <a:srgbClr val="C60C1C"/>
                </a:solidFill>
                <a:latin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6871" y="2898109"/>
            <a:ext cx="1097280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200" b="0" noProof="1">
                <a:solidFill>
                  <a:srgbClr val="5A5A5A"/>
                </a:solidFill>
                <a:latin typeface="Microsoft YaHei"/>
              </a:rPr>
              <a:t>评价模型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6223" y="2587214"/>
            <a:ext cx="1097280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2400" b="1" noProof="1">
                <a:solidFill>
                  <a:srgbClr val="DA4E2D"/>
                </a:solidFill>
                <a:latin typeface="Microsoft YaHe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6223" y="2898109"/>
            <a:ext cx="1097280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200" b="0" noProof="1">
                <a:solidFill>
                  <a:srgbClr val="5A5A5A"/>
                </a:solidFill>
                <a:latin typeface="Microsoft YaHei"/>
              </a:rPr>
              <a:t>轮评审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7463" y="2587214"/>
            <a:ext cx="877824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2200" b="1" noProof="1">
                <a:solidFill>
                  <a:srgbClr val="BE8E48"/>
                </a:solidFill>
                <a:latin typeface="Microsoft YaHei"/>
              </a:rPr>
              <a:t>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7010" y="2915414"/>
            <a:ext cx="978729" cy="203133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200" b="0" noProof="1">
                <a:solidFill>
                  <a:srgbClr val="5A5A5A"/>
                </a:solidFill>
                <a:latin typeface="Microsoft YaHei"/>
              </a:rPr>
              <a:t>维度</a:t>
            </a:r>
            <a:r>
              <a:rPr lang="zh-CN" altLang="en-US" sz="1200" b="0" noProof="1">
                <a:solidFill>
                  <a:srgbClr val="5A5A5A"/>
                </a:solidFill>
                <a:latin typeface="Microsoft YaHei"/>
              </a:rPr>
              <a:t>单轮</a:t>
            </a:r>
            <a:r>
              <a:rPr lang="zh-CN" sz="1200" b="0" noProof="1">
                <a:solidFill>
                  <a:srgbClr val="5A5A5A"/>
                </a:solidFill>
                <a:latin typeface="Microsoft YaHei"/>
              </a:rPr>
              <a:t>调用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11712" y="3456432"/>
            <a:ext cx="932688" cy="475488"/>
          </a:xfrm>
          <a:prstGeom prst="roundRect">
            <a:avLst>
              <a:gd name="adj" fmla="val 4000"/>
            </a:avLst>
          </a:prstGeom>
          <a:solidFill>
            <a:srgbClr val="FDF7F5"/>
          </a:solidFill>
          <a:ln w="12700">
            <a:solidFill>
              <a:srgbClr val="C6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5" name="TextBox 44"/>
          <p:cNvSpPr txBox="1"/>
          <p:nvPr/>
        </p:nvSpPr>
        <p:spPr>
          <a:xfrm>
            <a:off x="4448288" y="3584448"/>
            <a:ext cx="859536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200" b="1" noProof="1">
                <a:solidFill>
                  <a:srgbClr val="C60C1C"/>
                </a:solidFill>
                <a:latin typeface="Microsoft YaHei"/>
              </a:rPr>
              <a:t>独立初评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18720" y="3456432"/>
            <a:ext cx="932688" cy="475488"/>
          </a:xfrm>
          <a:prstGeom prst="roundRect">
            <a:avLst>
              <a:gd name="adj" fmla="val 4000"/>
            </a:avLst>
          </a:prstGeom>
          <a:solidFill>
            <a:srgbClr val="FDF7F5"/>
          </a:solidFill>
          <a:ln w="12700">
            <a:solidFill>
              <a:srgbClr val="DA4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7" name="TextBox 46"/>
          <p:cNvSpPr txBox="1"/>
          <p:nvPr/>
        </p:nvSpPr>
        <p:spPr>
          <a:xfrm>
            <a:off x="5655296" y="3584448"/>
            <a:ext cx="859536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200" b="1" noProof="1">
                <a:solidFill>
                  <a:srgbClr val="DA4E2D"/>
                </a:solidFill>
                <a:latin typeface="Microsoft YaHei"/>
              </a:rPr>
              <a:t>交叉复议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25728" y="3456432"/>
            <a:ext cx="932688" cy="475488"/>
          </a:xfrm>
          <a:prstGeom prst="roundRect">
            <a:avLst>
              <a:gd name="adj" fmla="val 4000"/>
            </a:avLst>
          </a:prstGeom>
          <a:solidFill>
            <a:srgbClr val="FDF7F5"/>
          </a:solidFill>
          <a:ln w="12700">
            <a:solidFill>
              <a:srgbClr val="BE8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9" name="TextBox 48"/>
          <p:cNvSpPr txBox="1"/>
          <p:nvPr/>
        </p:nvSpPr>
        <p:spPr>
          <a:xfrm>
            <a:off x="6862304" y="3584448"/>
            <a:ext cx="859536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200" b="1" noProof="1">
                <a:solidFill>
                  <a:srgbClr val="BE8E48"/>
                </a:solidFill>
                <a:latin typeface="Microsoft YaHei"/>
              </a:rPr>
              <a:t>分歧收敛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0120" y="3584448"/>
            <a:ext cx="201168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600" b="1" noProof="1">
                <a:solidFill>
                  <a:srgbClr val="5A5A5A"/>
                </a:solidFill>
                <a:latin typeface="Microsoft YaHe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7128" y="3584448"/>
            <a:ext cx="201168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600" b="1" noProof="1">
                <a:solidFill>
                  <a:srgbClr val="5A5A5A"/>
                </a:solidFill>
                <a:latin typeface="Microsoft YaHei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2159" y="4186077"/>
            <a:ext cx="2424638" cy="38779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2400" b="1" noProof="1">
                <a:solidFill>
                  <a:srgbClr val="8E141C"/>
                </a:solidFill>
                <a:latin typeface="Microsoft YaHei"/>
              </a:rPr>
              <a:t>14.873 → 7.237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4754880"/>
            <a:ext cx="2953511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2D2D2D"/>
                </a:solidFill>
                <a:latin typeface="Microsoft YaHei"/>
              </a:rPr>
              <a:t>分歧值 ≤ 8：1246 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5175504"/>
            <a:ext cx="2953511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2D2D2D"/>
                </a:solidFill>
                <a:latin typeface="Microsoft YaHei"/>
              </a:rPr>
              <a:t>分歧值 ≤ 12：1819 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17720" y="5438221"/>
            <a:ext cx="2953511" cy="6267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1400" b="0" noProof="1">
                <a:solidFill>
                  <a:srgbClr val="5A5A5A"/>
                </a:solidFill>
                <a:latin typeface="Microsoft YaHei"/>
              </a:rPr>
              <a:t>创新点：多模型并行评价，保留真实学术分歧并交由专家复核。</a:t>
            </a:r>
          </a:p>
        </p:txBody>
      </p:sp>
      <p:pic>
        <p:nvPicPr>
          <p:cNvPr id="56" name="Picture 55" descr="法学知识网络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8517" y="2542032"/>
            <a:ext cx="1939725" cy="1883664"/>
          </a:xfrm>
          <a:prstGeom prst="rect">
            <a:avLst/>
          </a:prstGeom>
        </p:spPr>
      </p:pic>
      <p:sp>
        <p:nvSpPr>
          <p:cNvPr id="57" name="Oval 56"/>
          <p:cNvSpPr/>
          <p:nvPr/>
        </p:nvSpPr>
        <p:spPr>
          <a:xfrm>
            <a:off x="8446407" y="4480560"/>
            <a:ext cx="91440" cy="91440"/>
          </a:xfrm>
          <a:prstGeom prst="ellipse">
            <a:avLst/>
          </a:prstGeom>
          <a:solidFill>
            <a:srgbClr val="2F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8" name="TextBox 57"/>
          <p:cNvSpPr txBox="1"/>
          <p:nvPr/>
        </p:nvSpPr>
        <p:spPr>
          <a:xfrm>
            <a:off x="8574423" y="4424713"/>
            <a:ext cx="1440394" cy="203133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1200" b="0" noProof="1">
                <a:solidFill>
                  <a:srgbClr val="5A5A5A"/>
                </a:solidFill>
                <a:latin typeface="Microsoft YaHei"/>
              </a:rPr>
              <a:t>教育部《手册》节点</a:t>
            </a:r>
          </a:p>
        </p:txBody>
      </p:sp>
      <p:sp>
        <p:nvSpPr>
          <p:cNvPr id="59" name="Oval 58"/>
          <p:cNvSpPr/>
          <p:nvPr/>
        </p:nvSpPr>
        <p:spPr>
          <a:xfrm>
            <a:off x="10131552" y="4480560"/>
            <a:ext cx="91440" cy="91440"/>
          </a:xfrm>
          <a:prstGeom prst="ellipse">
            <a:avLst/>
          </a:prstGeom>
          <a:solidFill>
            <a:srgbClr val="1D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0" name="TextBox 59"/>
          <p:cNvSpPr txBox="1"/>
          <p:nvPr/>
        </p:nvSpPr>
        <p:spPr>
          <a:xfrm>
            <a:off x="10259568" y="4407408"/>
            <a:ext cx="1298448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lang="zh-CN" sz="1200" b="0" noProof="1">
                <a:solidFill>
                  <a:srgbClr val="5A5A5A"/>
                </a:solidFill>
                <a:latin typeface="Microsoft YaHei"/>
              </a:rPr>
              <a:t>三大刊论文节点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882896"/>
            <a:ext cx="2971799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600" b="1" noProof="1">
                <a:solidFill>
                  <a:srgbClr val="8E141C"/>
                </a:solidFill>
                <a:latin typeface="Microsoft YaHei"/>
              </a:rPr>
              <a:t>Top50 形成 175 项初步对应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03919" y="5340096"/>
            <a:ext cx="1280160" cy="256032"/>
          </a:xfrm>
          <a:prstGeom prst="roundRect">
            <a:avLst>
              <a:gd name="adj" fmla="val 3500"/>
            </a:avLst>
          </a:prstGeom>
          <a:solidFill>
            <a:srgbClr val="FDF7F5"/>
          </a:solidFill>
          <a:ln w="11430">
            <a:solidFill>
              <a:srgbClr val="C6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2000" noProof="1"/>
          </a:p>
        </p:txBody>
      </p:sp>
      <p:sp>
        <p:nvSpPr>
          <p:cNvPr id="63" name="TextBox 62"/>
          <p:cNvSpPr txBox="1"/>
          <p:nvPr/>
        </p:nvSpPr>
        <p:spPr>
          <a:xfrm>
            <a:off x="8757227" y="5346585"/>
            <a:ext cx="773545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C60C1C"/>
                </a:solidFill>
                <a:latin typeface="Microsoft YaHei"/>
              </a:rPr>
              <a:t>专家复核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13263" y="5340096"/>
            <a:ext cx="1280160" cy="256032"/>
          </a:xfrm>
          <a:prstGeom prst="roundRect">
            <a:avLst>
              <a:gd name="adj" fmla="val 3500"/>
            </a:avLst>
          </a:prstGeom>
          <a:solidFill>
            <a:srgbClr val="FDF7F5"/>
          </a:solidFill>
          <a:ln w="11430">
            <a:solidFill>
              <a:srgbClr val="DA4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2000" noProof="1"/>
          </a:p>
        </p:txBody>
      </p:sp>
      <p:sp>
        <p:nvSpPr>
          <p:cNvPr id="65" name="TextBox 64"/>
          <p:cNvSpPr txBox="1"/>
          <p:nvPr/>
        </p:nvSpPr>
        <p:spPr>
          <a:xfrm>
            <a:off x="10366571" y="5346585"/>
            <a:ext cx="773545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DA4E2D"/>
                </a:solidFill>
                <a:latin typeface="Microsoft YaHei"/>
              </a:rPr>
              <a:t>学科建设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503919" y="5705856"/>
            <a:ext cx="1280160" cy="256032"/>
          </a:xfrm>
          <a:prstGeom prst="roundRect">
            <a:avLst>
              <a:gd name="adj" fmla="val 3500"/>
            </a:avLst>
          </a:prstGeom>
          <a:solidFill>
            <a:srgbClr val="FDF7F5"/>
          </a:solidFill>
          <a:ln w="11430">
            <a:solidFill>
              <a:srgbClr val="BE8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2000" noProof="1"/>
          </a:p>
        </p:txBody>
      </p:sp>
      <p:sp>
        <p:nvSpPr>
          <p:cNvPr id="67" name="TextBox 66"/>
          <p:cNvSpPr txBox="1"/>
          <p:nvPr/>
        </p:nvSpPr>
        <p:spPr>
          <a:xfrm>
            <a:off x="8757227" y="5712345"/>
            <a:ext cx="773545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BE8E48"/>
                </a:solidFill>
                <a:latin typeface="Microsoft YaHei"/>
              </a:rPr>
              <a:t>成果发现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13263" y="5705856"/>
            <a:ext cx="1280160" cy="256032"/>
          </a:xfrm>
          <a:prstGeom prst="roundRect">
            <a:avLst>
              <a:gd name="adj" fmla="val 3500"/>
            </a:avLst>
          </a:prstGeom>
          <a:solidFill>
            <a:srgbClr val="FDF7F5"/>
          </a:solidFill>
          <a:ln w="11430">
            <a:solidFill>
              <a:srgbClr val="8E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2000" noProof="1"/>
          </a:p>
        </p:txBody>
      </p:sp>
      <p:sp>
        <p:nvSpPr>
          <p:cNvPr id="69" name="TextBox 68"/>
          <p:cNvSpPr txBox="1"/>
          <p:nvPr/>
        </p:nvSpPr>
        <p:spPr>
          <a:xfrm>
            <a:off x="10366571" y="5712345"/>
            <a:ext cx="773545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8E141C"/>
                </a:solidFill>
                <a:latin typeface="Microsoft YaHei"/>
              </a:rPr>
              <a:t>评价改革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11014" y="6176123"/>
            <a:ext cx="4612738" cy="23391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zh-CN" sz="1400" b="1" noProof="1">
                <a:solidFill>
                  <a:srgbClr val="696969"/>
                </a:solidFill>
                <a:latin typeface="Microsoft YaHei"/>
              </a:rPr>
              <a:t>AI 辅助初筛、证据整理和一致性检验，不替代专家终审。</a:t>
            </a:r>
          </a:p>
        </p:txBody>
      </p:sp>
    </p:spTree>
    <p:extLst>
      <p:ext uri="{BB962C8B-B14F-4D97-AF65-F5344CB8AC3E}">
        <p14:creationId xmlns:p14="http://schemas.microsoft.com/office/powerpoint/2010/main" val="9456057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52185</TotalTime>
  <Words>210</Words>
  <Application>Microsoft Macintosh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Microsoft YaHei</vt:lpstr>
      <vt:lpstr>Arial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Yaohui Jin</cp:lastModifiedBy>
  <cp:revision>2578</cp:revision>
  <dcterms:created xsi:type="dcterms:W3CDTF">2019-01-23T14:14:04Z</dcterms:created>
  <dcterms:modified xsi:type="dcterms:W3CDTF">2026-07-07T06:46:15Z</dcterms:modified>
</cp:coreProperties>
</file>