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presentations/template-asset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"/>
            <a:ext cx="1828800" cy="210312"/>
          </a:xfrm>
          <a:prstGeom prst="rect">
            <a:avLst/>
          </a:prstGeom>
        </p:spPr>
      </p:pic>
      <p:pic>
        <p:nvPicPr>
          <p:cNvPr id="3" name="Image 1" descr="docs/presentations/template-assets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82880"/>
            <a:ext cx="2468880" cy="8229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057400" y="1737360"/>
            <a:ext cx="8138160" cy="0"/>
          </a:xfrm>
          <a:prstGeom prst="line">
            <a:avLst/>
          </a:prstGeom>
          <a:noFill/>
          <a:ln w="15240">
            <a:solidFill>
              <a:srgbClr val="BFBFBF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874520" y="2057400"/>
            <a:ext cx="8458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8161E"/>
                </a:solidFill>
              </a:rPr>
              <a:t>面向自主知识体系的</a:t>
            </a:r>
            <a:endParaRPr lang="en-US" sz="3100" dirty="0"/>
          </a:p>
          <a:p>
            <a:pPr algn="ctr" indent="0" marL="0">
              <a:buNone/>
            </a:pPr>
            <a:r>
              <a:rPr lang="en-US" sz="3100" b="1" dirty="0">
                <a:solidFill>
                  <a:srgbClr val="C8161E"/>
                </a:solidFill>
              </a:rPr>
              <a:t>AI 辅助学术评价系统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1828800" y="3200400"/>
            <a:ext cx="8549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Academic Evaluation System for Indigenous Knowledge Frameworks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96596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4546A"/>
                </a:solidFill>
              </a:rPr>
              <a:t>以法学论文评审为切入点，构建可信、可解释、可扩展的人文社科评价基础设施</a:t>
            </a:r>
            <a:endParaRPr lang="en-US" sz="1600" dirty="0"/>
          </a:p>
        </p:txBody>
      </p:sp>
      <p:pic>
        <p:nvPicPr>
          <p:cNvPr id="8" name="Image 2" descr="docs/presentations/template-assets/image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206240"/>
            <a:ext cx="10195560" cy="24231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83480" y="4937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SocialEval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658368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961120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12" name="Image 3" descr="docs/presentations/template-assets/image3.png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3200400" y="6236208"/>
            <a:ext cx="5806440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presentations/template-asset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"/>
            <a:ext cx="1828800" cy="210312"/>
          </a:xfrm>
          <a:prstGeom prst="rect">
            <a:avLst/>
          </a:prstGeom>
        </p:spPr>
      </p:pic>
      <p:pic>
        <p:nvPicPr>
          <p:cNvPr id="3" name="Image 1" descr="docs/presentations/template-assets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82880"/>
            <a:ext cx="2468880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4672" y="347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78992" y="3474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</a:rPr>
              <a:t>BACKGROUND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058400" y="3474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SocialEval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658368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61120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9" name="Image 2" descr="docs/presentations/template-assets/image3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200400" y="6236208"/>
            <a:ext cx="5806440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68580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61E"/>
                </a:solidFill>
              </a:rPr>
              <a:t>学术评价为何需要新的技术支撑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777240" y="119786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Academic Evaluation Needs New Technical Support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77240" y="1581912"/>
            <a:ext cx="6492240" cy="0"/>
          </a:xfrm>
          <a:prstGeom prst="line">
            <a:avLst/>
          </a:prstGeom>
          <a:noFill/>
          <a:ln w="13970">
            <a:solidFill>
              <a:srgbClr val="BFBFB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68680" y="1600200"/>
            <a:ext cx="4846320" cy="3931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333333"/>
                </a:solidFill>
              </a:rPr>
              <a:t>传统学术评价长期面临标准不一、效率偏低、专家成本高的结构性张力。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333333"/>
                </a:solidFill>
              </a:rPr>
              <a:t>人文社科尤其依赖隐性知识、学科语境与资深判断，难以完全流程化。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333333"/>
                </a:solidFill>
              </a:rPr>
              <a:t>稿件数量增长与评审资源有限并存，初审阶段的时间压力持续上升。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333333"/>
                </a:solidFill>
              </a:rPr>
              <a:t>需要一种提升效率、保留学科判断、并支持追溯的辅助机制。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 rot="10800000">
            <a:off x="6766560" y="1828800"/>
            <a:ext cx="4114800" cy="3291840"/>
          </a:xfrm>
          <a:prstGeom prst="triangle">
            <a:avLst/>
          </a:prstGeom>
          <a:solidFill>
            <a:srgbClr val="F7F7F7"/>
          </a:solidFill>
          <a:ln w="15240">
            <a:solidFill>
              <a:srgbClr val="BFCED9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183880" y="1417320"/>
            <a:ext cx="1143000" cy="1143000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183880" y="181965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标准统一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400800" y="4343400"/>
            <a:ext cx="1143000" cy="1143000"/>
          </a:xfrm>
          <a:prstGeom prst="ellipse">
            <a:avLst/>
          </a:prstGeom>
          <a:solidFill>
            <a:srgbClr val="1F4D78"/>
          </a:solidFill>
          <a:ln w="12700">
            <a:solidFill>
              <a:srgbClr val="1F4D78">
                <a:alpha val="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400800" y="474573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评审效率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784080" y="4343400"/>
            <a:ext cx="1143000" cy="1143000"/>
          </a:xfrm>
          <a:prstGeom prst="ellipse">
            <a:avLst/>
          </a:prstGeom>
          <a:solidFill>
            <a:srgbClr val="C8161E"/>
          </a:solidFill>
          <a:ln w="12700">
            <a:solidFill>
              <a:srgbClr val="C8161E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784080" y="474573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专家成本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720840" y="5349240"/>
            <a:ext cx="44805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967728" y="55412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333333"/>
                </a:solidFill>
              </a:rPr>
              <a:t>评价质量的提升，取决于把“标准、效率、成本”的三角冲突转化为可设计的系统机制。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presentations/template-asset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"/>
            <a:ext cx="1828800" cy="210312"/>
          </a:xfrm>
          <a:prstGeom prst="rect">
            <a:avLst/>
          </a:prstGeom>
        </p:spPr>
      </p:pic>
      <p:pic>
        <p:nvPicPr>
          <p:cNvPr id="3" name="Image 1" descr="docs/presentations/template-assets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82880"/>
            <a:ext cx="2468880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4672" y="347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78992" y="3474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</a:rPr>
              <a:t>CHALLENGE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058400" y="3474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SocialEval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658368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61120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9" name="Image 2" descr="docs/presentations/template-assets/image3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200400" y="6236208"/>
            <a:ext cx="5806440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68580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61E"/>
                </a:solidFill>
              </a:rPr>
              <a:t>为什么不能用“通用 AI 打分”替代学术评价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777240" y="119786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Generic AI Scoring Is Not Enough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77240" y="1581912"/>
            <a:ext cx="6492240" cy="0"/>
          </a:xfrm>
          <a:prstGeom prst="line">
            <a:avLst/>
          </a:prstGeom>
          <a:noFill/>
          <a:ln w="13970">
            <a:solidFill>
              <a:srgbClr val="BFBFB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68680" y="1783080"/>
            <a:ext cx="4892040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400800" y="1783080"/>
            <a:ext cx="4892040" cy="4251960"/>
          </a:xfrm>
          <a:prstGeom prst="roundRect">
            <a:avLst>
              <a:gd name="adj" fmla="val 1505"/>
            </a:avLst>
          </a:prstGeom>
          <a:solidFill>
            <a:srgbClr val="F7F7F7"/>
          </a:solidFill>
          <a:ln w="12700">
            <a:solidFill>
              <a:srgbClr val="BFD1D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1097280" y="2011680"/>
            <a:ext cx="1234440" cy="310896"/>
          </a:xfrm>
          <a:prstGeom prst="roundRect">
            <a:avLst>
              <a:gd name="adj" fmla="val 20588"/>
            </a:avLst>
          </a:prstGeom>
          <a:solidFill>
            <a:srgbClr val="C8161E"/>
          </a:solidFill>
          <a:ln w="12700">
            <a:solidFill>
              <a:srgbClr val="C8161E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097280" y="2075688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Generic AI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629400" y="2011680"/>
            <a:ext cx="1828800" cy="310896"/>
          </a:xfrm>
          <a:prstGeom prst="roundRect">
            <a:avLst>
              <a:gd name="adj" fmla="val 20588"/>
            </a:avLst>
          </a:prstGeom>
          <a:solidFill>
            <a:srgbClr val="1F4D78"/>
          </a:solidFill>
          <a:ln w="12700">
            <a:solidFill>
              <a:srgbClr val="1F4D78">
                <a:alpha val="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629400" y="207568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Scholarly Evaluation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1097280" y="2606040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FAF0EE"/>
          </a:solidFill>
          <a:ln w="12700">
            <a:solidFill>
              <a:srgbClr val="E9C7C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298448" y="277063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语言流畅度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1097280" y="3337560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FAF0EE"/>
          </a:solidFill>
          <a:ln w="12700">
            <a:solidFill>
              <a:srgbClr val="E9C7C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298448" y="350215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常识性总结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1097280" y="4069080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FAF0EE"/>
          </a:solidFill>
          <a:ln w="12700">
            <a:solidFill>
              <a:srgbClr val="E9C7C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298448" y="423367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形式特征识别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1097280" y="4800600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FAF0EE"/>
          </a:solidFill>
          <a:ln w="12700">
            <a:solidFill>
              <a:srgbClr val="E9C7C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298448" y="496519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表面相关性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6629400" y="2606040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FF7F5"/>
          </a:solidFill>
          <a:ln w="12700">
            <a:solidFill>
              <a:srgbClr val="B6D3C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830568" y="277063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问题意识判断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6629400" y="3337560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FF7F5"/>
          </a:solidFill>
          <a:ln w="12700">
            <a:solidFill>
              <a:srgbClr val="B6D3C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830568" y="350215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文献位置辨认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6629400" y="4069080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FF7F5"/>
          </a:solidFill>
          <a:ln w="12700">
            <a:solidFill>
              <a:srgbClr val="B6D3C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830568" y="423367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理论建构评估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6629400" y="4800600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FF7F5"/>
          </a:solidFill>
          <a:ln w="12700">
            <a:solidFill>
              <a:srgbClr val="B6D3CF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830568" y="496519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论证链条审查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822960" y="5980176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</a:rPr>
              <a:t>关键不只是接入模型，而是先定义评价标准，避免“像论文”被误判为“高质量论文”。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presentations/template-asset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"/>
            <a:ext cx="1828800" cy="210312"/>
          </a:xfrm>
          <a:prstGeom prst="rect">
            <a:avLst/>
          </a:prstGeom>
        </p:spPr>
      </p:pic>
      <p:pic>
        <p:nvPicPr>
          <p:cNvPr id="3" name="Image 1" descr="docs/presentations/template-assets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82880"/>
            <a:ext cx="2468880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4672" y="347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78992" y="3474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058400" y="3474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SocialEval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658368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61120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9" name="Image 2" descr="docs/presentations/template-assets/image3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200400" y="6236208"/>
            <a:ext cx="5806440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68580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61E"/>
                </a:solidFill>
              </a:rPr>
              <a:t>“自主知识体系”作为评价底层逻辑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777240" y="119786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Knowledge Framework as Evaluation Foundation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77240" y="1581912"/>
            <a:ext cx="6492240" cy="0"/>
          </a:xfrm>
          <a:prstGeom prst="line">
            <a:avLst/>
          </a:prstGeom>
          <a:noFill/>
          <a:ln w="13970">
            <a:solidFill>
              <a:srgbClr val="BFBFB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68680" y="1645920"/>
            <a:ext cx="4754880" cy="4023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</a:rPr>
              <a:t>评价标准来自学科自身的问题意识、理论传统与学术共同体实践。</a:t>
            </a:r>
            <a:endParaRPr lang="en-US" sz="1620" dirty="0"/>
          </a:p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</a:rPr>
              <a:t>知识体系不是装饰性概念，而是评价维度、提示词设计与解释输出的上位约束。</a:t>
            </a:r>
            <a:endParaRPr lang="en-US" sz="1620" dirty="0"/>
          </a:p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</a:rPr>
              <a:t>通过外部化配置，系统避免把评价标准隐含在代码与模型习惯之中。</a:t>
            </a:r>
            <a:endParaRPr lang="en-US" sz="1620" dirty="0"/>
          </a:p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</a:rPr>
              <a:t>AI 输出因此从“模型意见”转向“知识体系约束下的结构化判断”。</a:t>
            </a:r>
            <a:endParaRPr lang="en-US" sz="1620" dirty="0"/>
          </a:p>
        </p:txBody>
      </p:sp>
      <p:sp>
        <p:nvSpPr>
          <p:cNvPr id="14" name="Shape 9"/>
          <p:cNvSpPr/>
          <p:nvPr/>
        </p:nvSpPr>
        <p:spPr>
          <a:xfrm>
            <a:off x="6446520" y="1965960"/>
            <a:ext cx="4663440" cy="841248"/>
          </a:xfrm>
          <a:prstGeom prst="roundRect">
            <a:avLst>
              <a:gd name="adj" fmla="val 7609"/>
            </a:avLst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647688" y="2103120"/>
            <a:ext cx="4261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知识体系层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647688" y="2359152"/>
            <a:ext cx="4261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学科问题意识 / 理论传统 / 学术共同体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903720" y="2907792"/>
            <a:ext cx="4206240" cy="841248"/>
          </a:xfrm>
          <a:prstGeom prst="roundRect">
            <a:avLst>
              <a:gd name="adj" fmla="val 7609"/>
            </a:avLst>
          </a:prstGeom>
          <a:solidFill>
            <a:srgbClr val="C8161E"/>
          </a:solidFill>
          <a:ln w="12700">
            <a:solidFill>
              <a:srgbClr val="C8161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104888" y="304495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评价框架层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104888" y="3300984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维度定义 / 权重 / 阈值 / 提示词模板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315200" y="3849624"/>
            <a:ext cx="3794760" cy="841248"/>
          </a:xfrm>
          <a:prstGeom prst="roundRect">
            <a:avLst>
              <a:gd name="adj" fmla="val 7609"/>
            </a:avLst>
          </a:prstGeom>
          <a:solidFill>
            <a:srgbClr val="1F4D78"/>
          </a:solidFill>
          <a:ln w="12700">
            <a:solidFill>
              <a:srgbClr val="1F4D7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516368" y="3986784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执行层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516368" y="4242816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逐维提示 / 结构化输出 / 证据引用 / 审计记录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732520" y="2788920"/>
            <a:ext cx="0" cy="914400"/>
          </a:xfrm>
          <a:prstGeom prst="line">
            <a:avLst/>
          </a:prstGeom>
          <a:noFill/>
          <a:ln w="15240">
            <a:solidFill>
              <a:srgbClr val="AEBECD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presentations/template-asset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"/>
            <a:ext cx="1828800" cy="210312"/>
          </a:xfrm>
          <a:prstGeom prst="rect">
            <a:avLst/>
          </a:prstGeom>
        </p:spPr>
      </p:pic>
      <p:pic>
        <p:nvPicPr>
          <p:cNvPr id="3" name="Image 1" descr="docs/presentations/template-assets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82880"/>
            <a:ext cx="2468880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4672" y="347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78992" y="3474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</a:rPr>
              <a:t>FRAMEWORK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058400" y="3474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SocialEval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658368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61120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9" name="Image 2" descr="docs/presentations/template-assets/image3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200400" y="6236208"/>
            <a:ext cx="5806440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68580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61E"/>
                </a:solidFill>
              </a:rPr>
              <a:t>法学论文的六维评价框架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777240" y="119786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Six-Dimension Evaluation Framework for Legal Scholarship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77240" y="1581912"/>
            <a:ext cx="6492240" cy="0"/>
          </a:xfrm>
          <a:prstGeom prst="line">
            <a:avLst/>
          </a:prstGeom>
          <a:noFill/>
          <a:ln w="13970">
            <a:solidFill>
              <a:srgbClr val="BFBFB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68680" y="1783080"/>
            <a:ext cx="3154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1069848" y="1984248"/>
            <a:ext cx="347472" cy="34747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508760" y="19659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问题创新性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508760" y="222199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Originality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1069848" y="25694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3333"/>
                </a:solidFill>
              </a:rPr>
              <a:t>研究问题的独创性与价值</a:t>
            </a:r>
            <a:endParaRPr lang="en-US" sz="1120" dirty="0"/>
          </a:p>
        </p:txBody>
      </p:sp>
      <p:sp>
        <p:nvSpPr>
          <p:cNvPr id="18" name="Shape 13"/>
          <p:cNvSpPr/>
          <p:nvPr/>
        </p:nvSpPr>
        <p:spPr>
          <a:xfrm>
            <a:off x="4572000" y="1783080"/>
            <a:ext cx="3154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73168" y="1984248"/>
            <a:ext cx="347472" cy="347472"/>
          </a:xfrm>
          <a:prstGeom prst="ellipse">
            <a:avLst/>
          </a:prstGeom>
          <a:solidFill>
            <a:srgbClr val="1F4D78"/>
          </a:solidFill>
          <a:ln w="12700">
            <a:solidFill>
              <a:srgbClr val="1F4D78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212080" y="19659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现状洞察度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212080" y="222199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Insight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773168" y="25694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3333"/>
                </a:solidFill>
              </a:rPr>
              <a:t>对既有研究的把握与批判</a:t>
            </a:r>
            <a:endParaRPr lang="en-US" sz="1120" dirty="0"/>
          </a:p>
        </p:txBody>
      </p:sp>
      <p:sp>
        <p:nvSpPr>
          <p:cNvPr id="23" name="Shape 18"/>
          <p:cNvSpPr/>
          <p:nvPr/>
        </p:nvSpPr>
        <p:spPr>
          <a:xfrm>
            <a:off x="8275320" y="1783080"/>
            <a:ext cx="3154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476488" y="1984248"/>
            <a:ext cx="347472" cy="347472"/>
          </a:xfrm>
          <a:prstGeom prst="ellipse">
            <a:avLst/>
          </a:prstGeom>
          <a:solidFill>
            <a:srgbClr val="C8161E"/>
          </a:solidFill>
          <a:ln w="12700">
            <a:solidFill>
              <a:srgbClr val="C8161E">
                <a:alpha val="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915400" y="19659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理论建构力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915400" y="222199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Construction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8476488" y="25694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3333"/>
                </a:solidFill>
              </a:rPr>
              <a:t>理论框架的完整性与自洽性</a:t>
            </a:r>
            <a:endParaRPr lang="en-US" sz="1120" dirty="0"/>
          </a:p>
        </p:txBody>
      </p:sp>
      <p:sp>
        <p:nvSpPr>
          <p:cNvPr id="28" name="Shape 23"/>
          <p:cNvSpPr/>
          <p:nvPr/>
        </p:nvSpPr>
        <p:spPr>
          <a:xfrm>
            <a:off x="868680" y="3611880"/>
            <a:ext cx="3154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1069848" y="3813048"/>
            <a:ext cx="347472" cy="347472"/>
          </a:xfrm>
          <a:prstGeom prst="ellipse">
            <a:avLst/>
          </a:prstGeom>
          <a:solidFill>
            <a:srgbClr val="C8161E"/>
          </a:solidFill>
          <a:ln w="12700">
            <a:solidFill>
              <a:srgbClr val="C8161E">
                <a:alpha val="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508760" y="37947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逻辑严密性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1508760" y="405079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Coherence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1069848" y="4398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3333"/>
                </a:solidFill>
              </a:rPr>
              <a:t>论证推理的严谨程度</a:t>
            </a:r>
            <a:endParaRPr lang="en-US" sz="1120" dirty="0"/>
          </a:p>
        </p:txBody>
      </p:sp>
      <p:sp>
        <p:nvSpPr>
          <p:cNvPr id="33" name="Shape 28"/>
          <p:cNvSpPr/>
          <p:nvPr/>
        </p:nvSpPr>
        <p:spPr>
          <a:xfrm>
            <a:off x="4572000" y="3611880"/>
            <a:ext cx="3154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773168" y="3813048"/>
            <a:ext cx="347472" cy="347472"/>
          </a:xfrm>
          <a:prstGeom prst="ellipse">
            <a:avLst/>
          </a:prstGeom>
          <a:solidFill>
            <a:srgbClr val="6A5B8C"/>
          </a:solidFill>
          <a:ln w="12700">
            <a:solidFill>
              <a:srgbClr val="6A5B8C">
                <a:alpha val="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212080" y="37947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学术共识度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5212080" y="405079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Scholarly Consensus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4773168" y="4398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3333"/>
                </a:solidFill>
              </a:rPr>
              <a:t>与主流学术共同体的对话程度</a:t>
            </a:r>
            <a:endParaRPr lang="en-US" sz="1120" dirty="0"/>
          </a:p>
        </p:txBody>
      </p:sp>
      <p:sp>
        <p:nvSpPr>
          <p:cNvPr id="38" name="Shape 33"/>
          <p:cNvSpPr/>
          <p:nvPr/>
        </p:nvSpPr>
        <p:spPr>
          <a:xfrm>
            <a:off x="8275320" y="3611880"/>
            <a:ext cx="3154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8476488" y="3813048"/>
            <a:ext cx="347472" cy="347472"/>
          </a:xfrm>
          <a:prstGeom prst="ellipse">
            <a:avLst/>
          </a:prstGeom>
          <a:solidFill>
            <a:srgbClr val="546A7B"/>
          </a:solidFill>
          <a:ln w="12700">
            <a:solidFill>
              <a:srgbClr val="546A7B">
                <a:alpha val="0"/>
              </a:srgbClr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915400" y="37947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前瞻延展性</a:t>
            </a:r>
            <a:endParaRPr lang="en-US" sz="1400" dirty="0"/>
          </a:p>
        </p:txBody>
      </p:sp>
      <p:sp>
        <p:nvSpPr>
          <p:cNvPr id="41" name="Text 36"/>
          <p:cNvSpPr/>
          <p:nvPr/>
        </p:nvSpPr>
        <p:spPr>
          <a:xfrm>
            <a:off x="8915400" y="405079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Extension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8476488" y="4398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3333"/>
                </a:solidFill>
              </a:rPr>
              <a:t>对未来议题的开拓潜力</a:t>
            </a:r>
            <a:endParaRPr lang="en-US" sz="1120" dirty="0"/>
          </a:p>
        </p:txBody>
      </p:sp>
      <p:sp>
        <p:nvSpPr>
          <p:cNvPr id="43" name="Text 38"/>
          <p:cNvSpPr/>
          <p:nvPr/>
        </p:nvSpPr>
        <p:spPr>
          <a:xfrm>
            <a:off x="822960" y="5980176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</a:rPr>
              <a:t>六维框架既是法学默认配置，也构成后续多学科扩展时的抽象模板。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presentations/template-asset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"/>
            <a:ext cx="1828800" cy="210312"/>
          </a:xfrm>
          <a:prstGeom prst="rect">
            <a:avLst/>
          </a:prstGeom>
        </p:spPr>
      </p:pic>
      <p:pic>
        <p:nvPicPr>
          <p:cNvPr id="3" name="Image 1" descr="docs/presentations/template-assets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82880"/>
            <a:ext cx="2468880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4672" y="347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78992" y="3474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</a:rPr>
              <a:t>WORKFLOW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058400" y="3474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SocialEval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658368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61120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9" name="Image 2" descr="docs/presentations/template-assets/image3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200400" y="6236208"/>
            <a:ext cx="5806440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68580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61E"/>
                </a:solidFill>
              </a:rPr>
              <a:t>系统总体机制：从论文输入到标准化报告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777240" y="119786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Workflow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77240" y="1581912"/>
            <a:ext cx="6492240" cy="0"/>
          </a:xfrm>
          <a:prstGeom prst="line">
            <a:avLst/>
          </a:prstGeom>
          <a:noFill/>
          <a:ln w="13970">
            <a:solidFill>
              <a:srgbClr val="BFBFB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68680" y="2240280"/>
            <a:ext cx="1417320" cy="640080"/>
          </a:xfrm>
          <a:prstGeom prst="chevron">
            <a:avLst/>
          </a:prstGeom>
          <a:solidFill>
            <a:srgbClr val="44546A"/>
          </a:solidFill>
          <a:ln w="12700">
            <a:solidFill>
              <a:srgbClr val="44546A">
                <a:alpha val="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978408" y="24048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论文输入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2651760" y="2240280"/>
            <a:ext cx="1417320" cy="640080"/>
          </a:xfrm>
          <a:prstGeom prst="chevron">
            <a:avLst/>
          </a:prstGeom>
          <a:solidFill>
            <a:srgbClr val="1F4D78"/>
          </a:solidFill>
          <a:ln w="12700">
            <a:solidFill>
              <a:srgbClr val="1F4D78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761488" y="24048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文档预处理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434840" y="2240280"/>
            <a:ext cx="1417320" cy="640080"/>
          </a:xfrm>
          <a:prstGeom prst="chevron">
            <a:avLst/>
          </a:prstGeom>
          <a:solidFill>
            <a:srgbClr val="C8161E"/>
          </a:solidFill>
          <a:ln w="12700">
            <a:solidFill>
              <a:srgbClr val="C8161E">
                <a:alpha val="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544568" y="24048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框架加载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17920" y="2240280"/>
            <a:ext cx="1417320" cy="640080"/>
          </a:xfrm>
          <a:prstGeom prst="chevron">
            <a:avLst/>
          </a:prstGeom>
          <a:solidFill>
            <a:srgbClr val="C8161E"/>
          </a:solidFill>
          <a:ln w="12700">
            <a:solidFill>
              <a:srgbClr val="C8161E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327648" y="24048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 逐维评价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001000" y="2240280"/>
            <a:ext cx="1417320" cy="640080"/>
          </a:xfrm>
          <a:prstGeom prst="chevron">
            <a:avLst/>
          </a:prstGeom>
          <a:solidFill>
            <a:srgbClr val="6A5B8C"/>
          </a:solidFill>
          <a:ln w="12700">
            <a:solidFill>
              <a:srgbClr val="6A5B8C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110728" y="24048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可靠性验证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784080" y="2240280"/>
            <a:ext cx="1417320" cy="640080"/>
          </a:xfrm>
          <a:prstGeom prst="chevron">
            <a:avLst/>
          </a:prstGeom>
          <a:solidFill>
            <a:srgbClr val="546A7B"/>
          </a:solidFill>
          <a:ln w="12700">
            <a:solidFill>
              <a:srgbClr val="546A7B">
                <a:alpha val="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893808" y="24048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报告与复核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96112" y="14813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结构化流程编排，而不是单次模型调用。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896112" y="3657600"/>
            <a:ext cx="489204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333333"/>
                </a:solidFill>
              </a:rPr>
              <a:t>多模型并发与一致性验证共同承担可信性保障。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333333"/>
                </a:solidFill>
              </a:rPr>
              <a:t>专家复核只在分歧处聚焦介入，形成人机协同闭环。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333333"/>
                </a:solidFill>
              </a:rPr>
              <a:t>报告输出保留标准化结果，也保留可追溯的过程信息。</a:t>
            </a:r>
            <a:endParaRPr lang="en-US" sz="1520" dirty="0"/>
          </a:p>
        </p:txBody>
      </p:sp>
      <p:sp>
        <p:nvSpPr>
          <p:cNvPr id="27" name="Shape 22"/>
          <p:cNvSpPr/>
          <p:nvPr/>
        </p:nvSpPr>
        <p:spPr>
          <a:xfrm>
            <a:off x="6720840" y="3657600"/>
            <a:ext cx="45262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7022592" y="406908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546A"/>
                </a:solidFill>
              </a:rPr>
              <a:t>可信机制的核心不是“更强模型”，而是：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4546A"/>
                </a:solidFill>
              </a:rPr>
              <a:t>可定义的标准 + 可观察的分歧 + 可介入的专家判断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presentations/template-asset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"/>
            <a:ext cx="1828800" cy="210312"/>
          </a:xfrm>
          <a:prstGeom prst="rect">
            <a:avLst/>
          </a:prstGeom>
        </p:spPr>
      </p:pic>
      <p:pic>
        <p:nvPicPr>
          <p:cNvPr id="3" name="Image 1" descr="docs/presentations/template-assets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82880"/>
            <a:ext cx="2468880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4672" y="347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78992" y="3474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</a:rPr>
              <a:t>INGESTION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058400" y="3474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SocialEval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658368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61120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9" name="Image 2" descr="docs/presentations/template-assets/image3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200400" y="6236208"/>
            <a:ext cx="5806440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68580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61E"/>
                </a:solidFill>
              </a:rPr>
              <a:t>文档摄取与预处理：把论文变成可评价对象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777240" y="119786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and Preprocessing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77240" y="1581912"/>
            <a:ext cx="6492240" cy="0"/>
          </a:xfrm>
          <a:prstGeom prst="line">
            <a:avLst/>
          </a:prstGeom>
          <a:noFill/>
          <a:ln w="13970">
            <a:solidFill>
              <a:srgbClr val="BFBFB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68680" y="1737360"/>
            <a:ext cx="2834640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1143000" y="199339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</a:rPr>
              <a:t>原始论文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1115568" y="2331720"/>
            <a:ext cx="2331720" cy="2560320"/>
          </a:xfrm>
          <a:prstGeom prst="rect">
            <a:avLst/>
          </a:prstGeom>
          <a:solidFill>
            <a:srgbClr val="F7F7F7"/>
          </a:solidFill>
          <a:ln w="12700">
            <a:solidFill>
              <a:srgbClr val="BFD1D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25880" y="257860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161E"/>
                </a:solidFill>
              </a:rPr>
              <a:t>页眉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261872" y="2724912"/>
            <a:ext cx="17830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325880" y="299923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摘要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261872" y="3145536"/>
            <a:ext cx="17830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325880" y="3419856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引言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1261872" y="3566160"/>
            <a:ext cx="17830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325880" y="384048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主体内容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261872" y="3986784"/>
            <a:ext cx="17830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325880" y="4261104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161E"/>
                </a:solidFill>
              </a:rPr>
              <a:t>参考文献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1261872" y="4407408"/>
            <a:ext cx="178308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931920" y="2926080"/>
            <a:ext cx="1143000" cy="640080"/>
          </a:xfrm>
          <a:prstGeom prst="chevron">
            <a:avLst/>
          </a:prstGeom>
          <a:solidFill>
            <a:srgbClr val="C8161E"/>
          </a:solidFill>
          <a:ln w="12700">
            <a:solidFill>
              <a:srgbClr val="C8161E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303520" y="1737360"/>
            <a:ext cx="2834640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5559552" y="199339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78"/>
                </a:solidFill>
              </a:rPr>
              <a:t>结构化文本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5559552" y="2331720"/>
            <a:ext cx="2331720" cy="2560320"/>
          </a:xfrm>
          <a:prstGeom prst="rect">
            <a:avLst/>
          </a:prstGeom>
          <a:solidFill>
            <a:srgbClr val="F7FBFA"/>
          </a:solidFill>
          <a:ln w="12700">
            <a:solidFill>
              <a:srgbClr val="BCD6D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779008" y="2578608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摘要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715000" y="2724912"/>
            <a:ext cx="181051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779008" y="2999232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引言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5715000" y="3145536"/>
            <a:ext cx="181051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779008" y="341985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主体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715000" y="3566160"/>
            <a:ext cx="181051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779008" y="384048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结论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5715000" y="3986784"/>
            <a:ext cx="181051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5779008" y="4261104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161E"/>
                </a:solidFill>
              </a:rPr>
              <a:t>参考文献(独立字段)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5715000" y="4407408"/>
            <a:ext cx="181051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549640" y="1783080"/>
            <a:ext cx="274320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支持 PDF、DOCX、TXT 等常见学术文稿格式。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自动去除页眉页脚、致谢等评价噪声，同时独立提取参考文献。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结构识别失败时降级为全文分段模式，并在报告中留痕。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v1 默认不支持扫描版 PDF OCR，以保证输入质量。</a:t>
            </a:r>
            <a:endParaRPr lang="en-US" sz="1350" dirty="0"/>
          </a:p>
        </p:txBody>
      </p:sp>
      <p:sp>
        <p:nvSpPr>
          <p:cNvPr id="41" name="Shape 36"/>
          <p:cNvSpPr/>
          <p:nvPr/>
        </p:nvSpPr>
        <p:spPr>
          <a:xfrm>
            <a:off x="896112" y="548640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1060704" y="5650992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2500" dirty="0"/>
          </a:p>
        </p:txBody>
      </p:sp>
      <p:sp>
        <p:nvSpPr>
          <p:cNvPr id="43" name="Text 38"/>
          <p:cNvSpPr/>
          <p:nvPr/>
        </p:nvSpPr>
        <p:spPr>
          <a:xfrm>
            <a:off x="1060704" y="6144768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文本型优先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2724912" y="548640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889504" y="5650992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4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2500" dirty="0"/>
          </a:p>
        </p:txBody>
      </p:sp>
      <p:sp>
        <p:nvSpPr>
          <p:cNvPr id="46" name="Text 41"/>
          <p:cNvSpPr/>
          <p:nvPr/>
        </p:nvSpPr>
        <p:spPr>
          <a:xfrm>
            <a:off x="2889504" y="6144768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结构友好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4553712" y="548640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4718304" y="5650992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</a:t>
            </a:r>
            <a:endParaRPr lang="en-US" sz="2500" dirty="0"/>
          </a:p>
        </p:txBody>
      </p:sp>
      <p:sp>
        <p:nvSpPr>
          <p:cNvPr id="49" name="Text 44"/>
          <p:cNvSpPr/>
          <p:nvPr/>
        </p:nvSpPr>
        <p:spPr>
          <a:xfrm>
            <a:off x="4718304" y="6144768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降级兼容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presentations/template-asset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"/>
            <a:ext cx="1828800" cy="210312"/>
          </a:xfrm>
          <a:prstGeom prst="rect">
            <a:avLst/>
          </a:prstGeom>
        </p:spPr>
      </p:pic>
      <p:pic>
        <p:nvPicPr>
          <p:cNvPr id="3" name="Image 1" descr="docs/presentations/template-assets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82880"/>
            <a:ext cx="2468880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4672" y="347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78992" y="3474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</a:rPr>
              <a:t>ENGINE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058400" y="3474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SocialEval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658368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61120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9" name="Image 2" descr="docs/presentations/template-assets/image3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200400" y="6236208"/>
            <a:ext cx="5806440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68580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61E"/>
                </a:solidFill>
              </a:rPr>
              <a:t>AI 评价引擎：按维度生成结构化判断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777240" y="119786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Dimension-Level AI Evaluation Engine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77240" y="1581912"/>
            <a:ext cx="6492240" cy="0"/>
          </a:xfrm>
          <a:prstGeom prst="line">
            <a:avLst/>
          </a:prstGeom>
          <a:noFill/>
          <a:ln w="13970">
            <a:solidFill>
              <a:srgbClr val="BFBFB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68680" y="1783080"/>
            <a:ext cx="489204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1115568" y="1993392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44546A"/>
          </a:solidFill>
          <a:ln w="12700">
            <a:solidFill>
              <a:srgbClr val="44546A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115568" y="2057400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Structured JSON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1097280" y="2377440"/>
            <a:ext cx="4407408" cy="3246120"/>
          </a:xfrm>
          <a:prstGeom prst="rect">
            <a:avLst/>
          </a:prstGeom>
          <a:solidFill>
            <a:srgbClr val="243949"/>
          </a:solidFill>
          <a:ln w="12700">
            <a:solidFill>
              <a:srgbClr val="243949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325880" y="2633472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"dimension": "问题创新性",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"score": 82,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"evidence_quotes":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"论文原文引用片段 1",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"论文原文引用片段 2"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"analysis": "AI 分析说明文本"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46520" y="1874520"/>
            <a:ext cx="4754880" cy="914400"/>
          </a:xfrm>
          <a:prstGeom prst="roundRect">
            <a:avLst>
              <a:gd name="adj" fmla="val 7000"/>
            </a:avLst>
          </a:prstGeom>
          <a:solidFill>
            <a:srgbClr val="F7F7F7"/>
          </a:solidFill>
          <a:ln w="12700">
            <a:solidFill>
              <a:srgbClr val="BFD1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46520" y="2971800"/>
            <a:ext cx="4754880" cy="914400"/>
          </a:xfrm>
          <a:prstGeom prst="roundRect">
            <a:avLst>
              <a:gd name="adj" fmla="val 7000"/>
            </a:avLst>
          </a:prstGeom>
          <a:solidFill>
            <a:srgbClr val="F7FBFA"/>
          </a:solidFill>
          <a:ln w="12700">
            <a:solidFill>
              <a:srgbClr val="BCD6D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4069080"/>
            <a:ext cx="4754880" cy="914400"/>
          </a:xfrm>
          <a:prstGeom prst="roundRect">
            <a:avLst>
              <a:gd name="adj" fmla="val 7000"/>
            </a:avLst>
          </a:prstGeom>
          <a:solidFill>
            <a:srgbClr val="FBF6EF"/>
          </a:solidFill>
          <a:ln w="12700">
            <a:solidFill>
              <a:srgbClr val="DCCBA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675120" y="2148840"/>
            <a:ext cx="256032" cy="25603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022592" y="21031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333333"/>
                </a:solidFill>
              </a:rPr>
              <a:t>逐维提示构造</a:t>
            </a:r>
            <a:endParaRPr lang="en-US" sz="1320" dirty="0"/>
          </a:p>
        </p:txBody>
      </p:sp>
      <p:sp>
        <p:nvSpPr>
          <p:cNvPr id="23" name="Text 18"/>
          <p:cNvSpPr/>
          <p:nvPr/>
        </p:nvSpPr>
        <p:spPr>
          <a:xfrm>
            <a:off x="8302752" y="208483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67085"/>
                </a:solidFill>
              </a:rPr>
              <a:t>每个评价维度单独形成 prompt，而不是让模型直接给总分。</a:t>
            </a:r>
            <a:endParaRPr lang="en-US" sz="1060" dirty="0"/>
          </a:p>
        </p:txBody>
      </p:sp>
      <p:sp>
        <p:nvSpPr>
          <p:cNvPr id="24" name="Shape 19"/>
          <p:cNvSpPr/>
          <p:nvPr/>
        </p:nvSpPr>
        <p:spPr>
          <a:xfrm>
            <a:off x="6675120" y="3246120"/>
            <a:ext cx="256032" cy="256032"/>
          </a:xfrm>
          <a:prstGeom prst="ellipse">
            <a:avLst/>
          </a:prstGeom>
          <a:solidFill>
            <a:srgbClr val="1F4D78"/>
          </a:solidFill>
          <a:ln w="12700">
            <a:solidFill>
              <a:srgbClr val="1F4D78">
                <a:alpha val="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022592" y="32004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333333"/>
                </a:solidFill>
              </a:rPr>
              <a:t>统一 Provider 抽象</a:t>
            </a:r>
            <a:endParaRPr lang="en-US" sz="1320" dirty="0"/>
          </a:p>
        </p:txBody>
      </p:sp>
      <p:sp>
        <p:nvSpPr>
          <p:cNvPr id="26" name="Text 21"/>
          <p:cNvSpPr/>
          <p:nvPr/>
        </p:nvSpPr>
        <p:spPr>
          <a:xfrm>
            <a:off x="8302752" y="318211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67085"/>
                </a:solidFill>
              </a:rPr>
              <a:t>业务层不直接绑定 SDK，便于切换 OpenAI / Anthropic / DeepSeek。</a:t>
            </a:r>
            <a:endParaRPr lang="en-US" sz="1060" dirty="0"/>
          </a:p>
        </p:txBody>
      </p:sp>
      <p:sp>
        <p:nvSpPr>
          <p:cNvPr id="27" name="Shape 22"/>
          <p:cNvSpPr/>
          <p:nvPr/>
        </p:nvSpPr>
        <p:spPr>
          <a:xfrm>
            <a:off x="6675120" y="4343400"/>
            <a:ext cx="256032" cy="256032"/>
          </a:xfrm>
          <a:prstGeom prst="ellipse">
            <a:avLst/>
          </a:prstGeom>
          <a:solidFill>
            <a:srgbClr val="C8161E"/>
          </a:solidFill>
          <a:ln w="12700">
            <a:solidFill>
              <a:srgbClr val="C8161E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022592" y="42976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333333"/>
                </a:solidFill>
              </a:rPr>
              <a:t>审计友好输出</a:t>
            </a:r>
            <a:endParaRPr lang="en-US" sz="1320" dirty="0"/>
          </a:p>
        </p:txBody>
      </p:sp>
      <p:sp>
        <p:nvSpPr>
          <p:cNvPr id="29" name="Text 24"/>
          <p:cNvSpPr/>
          <p:nvPr/>
        </p:nvSpPr>
        <p:spPr>
          <a:xfrm>
            <a:off x="8302752" y="427939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67085"/>
                </a:solidFill>
              </a:rPr>
              <a:t>分数、证据引用、分析说明都以结构化字段沉淀，便于追溯。</a:t>
            </a:r>
            <a:endParaRPr lang="en-US" sz="10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presentations/template-asset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"/>
            <a:ext cx="1828800" cy="210312"/>
          </a:xfrm>
          <a:prstGeom prst="rect">
            <a:avLst/>
          </a:prstGeom>
        </p:spPr>
      </p:pic>
      <p:pic>
        <p:nvPicPr>
          <p:cNvPr id="3" name="Image 1" descr="docs/presentations/template-assets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82880"/>
            <a:ext cx="2468880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4672" y="347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78992" y="3474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</a:rPr>
              <a:t>CONCURRENCY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058400" y="3474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SocialEval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658368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61120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9" name="Image 2" descr="docs/presentations/template-assets/image3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200400" y="6236208"/>
            <a:ext cx="5806440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68580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61E"/>
                </a:solidFill>
              </a:rPr>
              <a:t>多模型并发：不是堆模型，而是观察稳定性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777240" y="119786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Concurrency for Stability, Not Hype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77240" y="1581912"/>
            <a:ext cx="6492240" cy="0"/>
          </a:xfrm>
          <a:prstGeom prst="line">
            <a:avLst/>
          </a:prstGeom>
          <a:noFill/>
          <a:ln w="13970">
            <a:solidFill>
              <a:srgbClr val="BFBFB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68680" y="1719072"/>
            <a:ext cx="438912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333333"/>
                </a:solidFill>
              </a:rPr>
              <a:t>同一论文、同一维度可并发提交给多个模型，收集不同模型评分结果。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333333"/>
                </a:solidFill>
              </a:rPr>
              <a:t>重点不在“谁更聪明”，而在于观察不同模型对同一学术判断是否趋同。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333333"/>
                </a:solidFill>
              </a:rPr>
              <a:t>v1 默认并发数为 3，上限为 5，在成本与可靠性之间做平衡。</a:t>
            </a:r>
            <a:endParaRPr lang="en-US" sz="1520" dirty="0"/>
          </a:p>
        </p:txBody>
      </p:sp>
      <p:sp>
        <p:nvSpPr>
          <p:cNvPr id="14" name="Shape 9"/>
          <p:cNvSpPr/>
          <p:nvPr/>
        </p:nvSpPr>
        <p:spPr>
          <a:xfrm>
            <a:off x="5440680" y="1783080"/>
            <a:ext cx="5669280" cy="4069080"/>
          </a:xfrm>
          <a:prstGeom prst="roundRect">
            <a:avLst>
              <a:gd name="adj" fmla="val 15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589520" y="2148840"/>
            <a:ext cx="1417320" cy="749808"/>
          </a:xfrm>
          <a:prstGeom prst="roundRect">
            <a:avLst>
              <a:gd name="adj" fmla="val 7317"/>
            </a:avLst>
          </a:prstGeom>
          <a:solidFill>
            <a:srgbClr val="44546A"/>
          </a:solidFill>
          <a:ln w="12700">
            <a:solidFill>
              <a:srgbClr val="44546A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699248" y="23134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同一篇论文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同一评价维度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989320" y="3383280"/>
            <a:ext cx="1143000" cy="658368"/>
          </a:xfrm>
          <a:prstGeom prst="roundRect">
            <a:avLst>
              <a:gd name="adj" fmla="val 6944"/>
            </a:avLst>
          </a:prstGeom>
          <a:solidFill>
            <a:srgbClr val="44546A"/>
          </a:solidFill>
          <a:ln w="12700">
            <a:solidFill>
              <a:srgbClr val="44546A">
                <a:alpha val="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989320" y="361188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75320" y="2898648"/>
            <a:ext cx="-1719072" cy="484632"/>
          </a:xfrm>
          <a:prstGeom prst="line">
            <a:avLst/>
          </a:prstGeom>
          <a:noFill/>
          <a:ln w="13970">
            <a:solidFill>
              <a:srgbClr val="9EB2C4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726680" y="3383280"/>
            <a:ext cx="1143000" cy="658368"/>
          </a:xfrm>
          <a:prstGeom prst="roundRect">
            <a:avLst>
              <a:gd name="adj" fmla="val 6944"/>
            </a:avLst>
          </a:prstGeom>
          <a:solidFill>
            <a:srgbClr val="1F4D78"/>
          </a:solidFill>
          <a:ln w="12700">
            <a:solidFill>
              <a:srgbClr val="1F4D78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726680" y="361188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275320" y="2898648"/>
            <a:ext cx="18288" cy="484632"/>
          </a:xfrm>
          <a:prstGeom prst="line">
            <a:avLst/>
          </a:prstGeom>
          <a:noFill/>
          <a:ln w="13970">
            <a:solidFill>
              <a:srgbClr val="9EB2C4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9464040" y="3383280"/>
            <a:ext cx="1143000" cy="658368"/>
          </a:xfrm>
          <a:prstGeom prst="roundRect">
            <a:avLst>
              <a:gd name="adj" fmla="val 6944"/>
            </a:avLst>
          </a:prstGeom>
          <a:solidFill>
            <a:srgbClr val="C8161E"/>
          </a:solidFill>
          <a:ln w="12700">
            <a:solidFill>
              <a:srgbClr val="C8161E">
                <a:alpha val="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464040" y="361188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275320" y="2898648"/>
            <a:ext cx="1755648" cy="484632"/>
          </a:xfrm>
          <a:prstGeom prst="line">
            <a:avLst/>
          </a:prstGeom>
          <a:noFill/>
          <a:ln w="13970">
            <a:solidFill>
              <a:srgbClr val="9EB2C4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6565392" y="4041648"/>
            <a:ext cx="1737360" cy="786384"/>
          </a:xfrm>
          <a:prstGeom prst="line">
            <a:avLst/>
          </a:prstGeom>
          <a:noFill/>
          <a:ln w="13970">
            <a:solidFill>
              <a:srgbClr val="9EB2C4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8302752" y="4041648"/>
            <a:ext cx="0" cy="786384"/>
          </a:xfrm>
          <a:prstGeom prst="line">
            <a:avLst/>
          </a:prstGeom>
          <a:noFill/>
          <a:ln w="13970">
            <a:solidFill>
              <a:srgbClr val="9EB2C4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10040112" y="4041648"/>
            <a:ext cx="-1737360" cy="786384"/>
          </a:xfrm>
          <a:prstGeom prst="line">
            <a:avLst/>
          </a:prstGeom>
          <a:noFill/>
          <a:ln w="13970">
            <a:solidFill>
              <a:srgbClr val="9EB2C4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7114032" y="4864608"/>
            <a:ext cx="2359152" cy="768096"/>
          </a:xfrm>
          <a:prstGeom prst="roundRect">
            <a:avLst>
              <a:gd name="adj" fmla="val 7143"/>
            </a:avLst>
          </a:prstGeom>
          <a:solidFill>
            <a:srgbClr val="EEF6F3"/>
          </a:solidFill>
          <a:ln w="12700">
            <a:solidFill>
              <a:srgbClr val="BCD6D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315200" y="5138928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4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评分集合 / divergence → convergence</a:t>
            </a:r>
            <a:endParaRPr lang="en-US" sz="1120" dirty="0"/>
          </a:p>
        </p:txBody>
      </p:sp>
      <p:sp>
        <p:nvSpPr>
          <p:cNvPr id="31" name="Shape 26"/>
          <p:cNvSpPr/>
          <p:nvPr/>
        </p:nvSpPr>
        <p:spPr>
          <a:xfrm>
            <a:off x="914400" y="4663440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1078992" y="4828032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500" dirty="0"/>
          </a:p>
        </p:txBody>
      </p:sp>
      <p:sp>
        <p:nvSpPr>
          <p:cNvPr id="33" name="Text 28"/>
          <p:cNvSpPr/>
          <p:nvPr/>
        </p:nvSpPr>
        <p:spPr>
          <a:xfrm>
            <a:off x="1078992" y="532180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默认并发数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2651760" y="4663440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2816352" y="4828032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500" dirty="0"/>
          </a:p>
        </p:txBody>
      </p:sp>
      <p:sp>
        <p:nvSpPr>
          <p:cNvPr id="36" name="Text 31"/>
          <p:cNvSpPr/>
          <p:nvPr/>
        </p:nvSpPr>
        <p:spPr>
          <a:xfrm>
            <a:off x="2816352" y="532180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并发上限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presentations/template-asset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"/>
            <a:ext cx="1828800" cy="210312"/>
          </a:xfrm>
          <a:prstGeom prst="rect">
            <a:avLst/>
          </a:prstGeom>
        </p:spPr>
      </p:pic>
      <p:pic>
        <p:nvPicPr>
          <p:cNvPr id="3" name="Image 1" descr="docs/presentations/template-assets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82880"/>
            <a:ext cx="2468880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4672" y="347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78992" y="3474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</a:rPr>
              <a:t>RELIABILITY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058400" y="3474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SocialEval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658368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61120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9" name="Image 2" descr="docs/presentations/template-assets/image3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200400" y="6236208"/>
            <a:ext cx="5806440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68580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61E"/>
                </a:solidFill>
              </a:rPr>
              <a:t>可靠性验证：把“模型结果”转化为“可信结果”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777240" y="119786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Validation Layer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77240" y="1581912"/>
            <a:ext cx="6492240" cy="0"/>
          </a:xfrm>
          <a:prstGeom prst="line">
            <a:avLst/>
          </a:prstGeom>
          <a:noFill/>
          <a:ln w="13970">
            <a:solidFill>
              <a:srgbClr val="BFBFB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68680" y="1810512"/>
            <a:ext cx="288036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1170432" y="233172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≤ 5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1371600" y="28803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高置信度阈值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70432" y="34015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667085"/>
                </a:solidFill>
              </a:rPr>
              <a:t>均值与标准差让结果不仅是“一个分数”，而是“分数 + 分歧程度 + 置信标签”。</a:t>
            </a:r>
            <a:endParaRPr lang="en-US" sz="1220" dirty="0"/>
          </a:p>
        </p:txBody>
      </p:sp>
      <p:sp>
        <p:nvSpPr>
          <p:cNvPr id="17" name="Shape 12"/>
          <p:cNvSpPr/>
          <p:nvPr/>
        </p:nvSpPr>
        <p:spPr>
          <a:xfrm>
            <a:off x="1353312" y="4864608"/>
            <a:ext cx="1783080" cy="310896"/>
          </a:xfrm>
          <a:prstGeom prst="roundRect">
            <a:avLst>
              <a:gd name="adj" fmla="val 20588"/>
            </a:avLst>
          </a:prstGeom>
          <a:solidFill>
            <a:srgbClr val="1F4D78"/>
          </a:solidFill>
          <a:ln w="12700">
            <a:solidFill>
              <a:srgbClr val="1F4D78">
                <a:alpha val="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353312" y="4928616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High Confidence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160520" y="1810512"/>
            <a:ext cx="704088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4480560" y="20574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示例：某一评价维度的多模型评分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4480560" y="2560320"/>
            <a:ext cx="3566160" cy="475488"/>
          </a:xfrm>
          <a:prstGeom prst="rect">
            <a:avLst/>
          </a:prstGeom>
          <a:solidFill>
            <a:srgbClr val="F2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09160" y="270662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720840" y="26700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4480560" y="3273552"/>
            <a:ext cx="3566160" cy="475488"/>
          </a:xfrm>
          <a:prstGeom prst="rect">
            <a:avLst/>
          </a:prstGeom>
          <a:solidFill>
            <a:srgbClr val="F8F4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09160" y="341985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720840" y="33832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4480560" y="3986784"/>
            <a:ext cx="3566160" cy="475488"/>
          </a:xfrm>
          <a:prstGeom prst="rect">
            <a:avLst/>
          </a:prstGeom>
          <a:solidFill>
            <a:srgbClr val="F2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709160" y="413308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6720840" y="4096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700" dirty="0"/>
          </a:p>
        </p:txBody>
      </p:sp>
      <p:sp>
        <p:nvSpPr>
          <p:cNvPr id="30" name="Shape 25"/>
          <p:cNvSpPr/>
          <p:nvPr/>
        </p:nvSpPr>
        <p:spPr>
          <a:xfrm>
            <a:off x="8412480" y="2487168"/>
            <a:ext cx="10515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577072" y="2651760"/>
            <a:ext cx="722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81.3</a:t>
            </a:r>
            <a:endParaRPr lang="en-US" sz="2500" dirty="0"/>
          </a:p>
        </p:txBody>
      </p:sp>
      <p:sp>
        <p:nvSpPr>
          <p:cNvPr id="32" name="Text 27"/>
          <p:cNvSpPr/>
          <p:nvPr/>
        </p:nvSpPr>
        <p:spPr>
          <a:xfrm>
            <a:off x="8577072" y="3145536"/>
            <a:ext cx="722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Mean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9692640" y="2487168"/>
            <a:ext cx="10515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9857232" y="2651760"/>
            <a:ext cx="722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2500" dirty="0"/>
          </a:p>
        </p:txBody>
      </p:sp>
      <p:sp>
        <p:nvSpPr>
          <p:cNvPr id="35" name="Text 30"/>
          <p:cNvSpPr/>
          <p:nvPr/>
        </p:nvSpPr>
        <p:spPr>
          <a:xfrm>
            <a:off x="9857232" y="3145536"/>
            <a:ext cx="722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Std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366760" y="4206240"/>
            <a:ext cx="2395728" cy="1005840"/>
          </a:xfrm>
          <a:prstGeom prst="roundRect">
            <a:avLst>
              <a:gd name="adj" fmla="val 5455"/>
            </a:avLst>
          </a:prstGeom>
          <a:solidFill>
            <a:srgbClr val="EEF6F3"/>
          </a:solidFill>
          <a:ln w="12700">
            <a:solidFill>
              <a:srgbClr val="BCD6D3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595360" y="44805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78"/>
                </a:solidFill>
              </a:rPr>
              <a:t>结果展示口径：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4D78"/>
                </a:solidFill>
              </a:rPr>
              <a:t>原始分数列表 / 均值 / 标准差 / 置信标签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presentations/template-asset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"/>
            <a:ext cx="1828800" cy="210312"/>
          </a:xfrm>
          <a:prstGeom prst="rect">
            <a:avLst/>
          </a:prstGeom>
        </p:spPr>
      </p:pic>
      <p:pic>
        <p:nvPicPr>
          <p:cNvPr id="3" name="Image 1" descr="docs/presentations/template-assets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82880"/>
            <a:ext cx="2468880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4672" y="347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78992" y="3474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</a:rPr>
              <a:t>REVIEW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058400" y="3474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SocialEval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658368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61120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9" name="Image 2" descr="docs/presentations/template-assets/image3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200400" y="6236208"/>
            <a:ext cx="5806440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68580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61E"/>
                </a:solidFill>
              </a:rPr>
              <a:t>专家复核：在分歧处引入高质量人工判断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777240" y="119786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Review as Human-in-the-Loop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77240" y="1581912"/>
            <a:ext cx="6492240" cy="0"/>
          </a:xfrm>
          <a:prstGeom prst="line">
            <a:avLst/>
          </a:prstGeom>
          <a:noFill/>
          <a:ln w="13970">
            <a:solidFill>
              <a:srgbClr val="BFBFB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68680" y="1691640"/>
            <a:ext cx="429768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333333"/>
                </a:solidFill>
              </a:rPr>
              <a:t>低置信度维度或论文自动进入专家复核队列。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333333"/>
                </a:solidFill>
              </a:rPr>
              <a:t>编辑也可对高置信度结果追加复核，以满足制度要求。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333333"/>
                </a:solidFill>
              </a:rPr>
              <a:t>专家评分与 AI 评分并列存储，不互相覆盖，保留判断差异。</a:t>
            </a:r>
            <a:endParaRPr lang="en-US" sz="1520" dirty="0"/>
          </a:p>
        </p:txBody>
      </p:sp>
      <p:sp>
        <p:nvSpPr>
          <p:cNvPr id="14" name="Shape 9"/>
          <p:cNvSpPr/>
          <p:nvPr/>
        </p:nvSpPr>
        <p:spPr>
          <a:xfrm>
            <a:off x="5440680" y="1783080"/>
            <a:ext cx="5715000" cy="4343400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5779008" y="201168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4546A"/>
                </a:solidFill>
              </a:rPr>
              <a:t>AI 初评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705088" y="20116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D78"/>
                </a:solidFill>
              </a:rPr>
              <a:t>专家复核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715000" y="2395728"/>
            <a:ext cx="2194560" cy="3063240"/>
          </a:xfrm>
          <a:prstGeom prst="rect">
            <a:avLst/>
          </a:prstGeom>
          <a:solidFill>
            <a:srgbClr val="F2F7FA"/>
          </a:solidFill>
          <a:ln w="12700">
            <a:solidFill>
              <a:srgbClr val="BFD1DF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641080" y="2395728"/>
            <a:ext cx="2194560" cy="3063240"/>
          </a:xfrm>
          <a:prstGeom prst="rect">
            <a:avLst/>
          </a:prstGeom>
          <a:solidFill>
            <a:srgbClr val="F7FBFA"/>
          </a:solidFill>
          <a:ln w="12700">
            <a:solidFill>
              <a:srgbClr val="BCD6D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943600" y="269748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创新性  82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869680" y="269748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创新性  80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943600" y="326440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洞察度  79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869680" y="326440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洞察度  83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943600" y="383133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建构力  84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869680" y="383133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建构力  85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943600" y="439826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严密性  80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869680" y="439826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严密性  78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8019288" y="3950208"/>
            <a:ext cx="438912" cy="0"/>
          </a:xfrm>
          <a:prstGeom prst="line">
            <a:avLst/>
          </a:prstGeom>
          <a:noFill/>
          <a:ln w="20320">
            <a:solidFill>
              <a:srgbClr val="C8161E"/>
            </a:solidFill>
            <a:prstDash val="solid"/>
            <a:headEnd type="triangle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6812280" y="4736592"/>
            <a:ext cx="2926080" cy="713232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12700">
            <a:solidFill>
              <a:srgbClr val="DCCBAE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040880" y="4992624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records / 不覆盖，只并列</a:t>
            </a:r>
            <a:endParaRPr lang="en-US" sz="1220" dirty="0"/>
          </a:p>
        </p:txBody>
      </p:sp>
      <p:sp>
        <p:nvSpPr>
          <p:cNvPr id="30" name="Text 25"/>
          <p:cNvSpPr/>
          <p:nvPr/>
        </p:nvSpPr>
        <p:spPr>
          <a:xfrm>
            <a:off x="822960" y="5980176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</a:rPr>
              <a:t>系统不是“AI 替代人”，而是“AI 先行筛查，专家聚焦介入”。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presentations/template-asset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"/>
            <a:ext cx="1828800" cy="210312"/>
          </a:xfrm>
          <a:prstGeom prst="rect">
            <a:avLst/>
          </a:prstGeom>
        </p:spPr>
      </p:pic>
      <p:pic>
        <p:nvPicPr>
          <p:cNvPr id="3" name="Image 1" descr="docs/presentations/template-assets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82880"/>
            <a:ext cx="2468880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4672" y="347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78992" y="3474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</a:rPr>
              <a:t>REPORTING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058400" y="3474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SocialEval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658368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61120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9" name="Image 2" descr="docs/presentations/template-assets/image3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200400" y="6236208"/>
            <a:ext cx="5806440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68580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61E"/>
                </a:solidFill>
              </a:rPr>
              <a:t>报告输出：从黑箱分数到可解释评价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777240" y="119786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and Standardized Reporting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77240" y="1581912"/>
            <a:ext cx="6492240" cy="0"/>
          </a:xfrm>
          <a:prstGeom prst="line">
            <a:avLst/>
          </a:prstGeom>
          <a:noFill/>
          <a:ln w="13970">
            <a:solidFill>
              <a:srgbClr val="BFBFB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68680" y="1783080"/>
            <a:ext cx="448056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623560" y="1783080"/>
            <a:ext cx="448056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1143000" y="1993392"/>
            <a:ext cx="1325880" cy="310896"/>
          </a:xfrm>
          <a:prstGeom prst="roundRect">
            <a:avLst>
              <a:gd name="adj" fmla="val 20588"/>
            </a:avLst>
          </a:prstGeom>
          <a:solidFill>
            <a:srgbClr val="44546A"/>
          </a:solidFill>
          <a:ln w="12700">
            <a:solidFill>
              <a:srgbClr val="44546A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143000" y="2057400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Public Report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897880" y="1993392"/>
            <a:ext cx="1417320" cy="310896"/>
          </a:xfrm>
          <a:prstGeom prst="roundRect">
            <a:avLst>
              <a:gd name="adj" fmla="val 20588"/>
            </a:avLst>
          </a:prstGeom>
          <a:solidFill>
            <a:srgbClr val="1F4D78"/>
          </a:solidFill>
          <a:ln w="12700">
            <a:solidFill>
              <a:srgbClr val="1F4D78">
                <a:alpha val="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897880" y="2057400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Internal Report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1170432" y="24323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</a:rPr>
              <a:t>面向投稿人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925312" y="243230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</a:rPr>
              <a:t>面向编辑 / 专家 / 管理员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43000" y="278892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六维评分与加权总分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六维雷达图与维度简评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整体评价与专家意见摘要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任务完成后统一公开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897880" y="278892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均值 ± 标准差与置信标签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证据引用与 AI 分析说明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多模型原始评分与一致性数据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专家复核意见与报告版本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170432" y="4709160"/>
            <a:ext cx="3611880" cy="1078992"/>
          </a:xfrm>
          <a:prstGeom prst="rect">
            <a:avLst/>
          </a:prstGeom>
          <a:solidFill>
            <a:srgbClr val="F2F7FA"/>
          </a:solidFill>
          <a:ln w="12700">
            <a:solidFill>
              <a:srgbClr val="BFD1D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925312" y="4709160"/>
            <a:ext cx="3611880" cy="1078992"/>
          </a:xfrm>
          <a:prstGeom prst="rect">
            <a:avLst/>
          </a:prstGeom>
          <a:solidFill>
            <a:srgbClr val="F7FBFA"/>
          </a:solidFill>
          <a:ln w="12700">
            <a:solidFill>
              <a:srgbClr val="BCD6D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417320" y="49377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</a:rPr>
              <a:t>标准化结果报告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172200" y="4937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78"/>
                </a:solidFill>
              </a:rPr>
              <a:t>可追溯内部完整报告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10378440" y="2011680"/>
            <a:ext cx="1097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0543032" y="2176272"/>
            <a:ext cx="768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</a:t>
            </a:r>
            <a:endParaRPr lang="en-US" sz="2500" dirty="0"/>
          </a:p>
        </p:txBody>
      </p:sp>
      <p:sp>
        <p:nvSpPr>
          <p:cNvPr id="29" name="Text 24"/>
          <p:cNvSpPr/>
          <p:nvPr/>
        </p:nvSpPr>
        <p:spPr>
          <a:xfrm>
            <a:off x="10543032" y="2670048"/>
            <a:ext cx="768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快照版本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10378440" y="3154680"/>
            <a:ext cx="1097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10543032" y="3319272"/>
            <a:ext cx="768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2500" dirty="0"/>
          </a:p>
        </p:txBody>
      </p:sp>
      <p:sp>
        <p:nvSpPr>
          <p:cNvPr id="32" name="Text 27"/>
          <p:cNvSpPr/>
          <p:nvPr/>
        </p:nvSpPr>
        <p:spPr>
          <a:xfrm>
            <a:off x="10543032" y="3813048"/>
            <a:ext cx="768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系统集成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10378440" y="4297680"/>
            <a:ext cx="1097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10543032" y="4462272"/>
            <a:ext cx="768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4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2500" dirty="0"/>
          </a:p>
        </p:txBody>
      </p:sp>
      <p:sp>
        <p:nvSpPr>
          <p:cNvPr id="35" name="Text 30"/>
          <p:cNvSpPr/>
          <p:nvPr/>
        </p:nvSpPr>
        <p:spPr>
          <a:xfrm>
            <a:off x="10543032" y="4956048"/>
            <a:ext cx="768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人工阅读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presentations/template-asset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"/>
            <a:ext cx="1828800" cy="210312"/>
          </a:xfrm>
          <a:prstGeom prst="rect">
            <a:avLst/>
          </a:prstGeom>
        </p:spPr>
      </p:pic>
      <p:pic>
        <p:nvPicPr>
          <p:cNvPr id="3" name="Image 1" descr="docs/presentations/template-assets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82880"/>
            <a:ext cx="2468880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4672" y="347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78992" y="3474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058400" y="3474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SocialEval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658368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61120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9" name="Image 2" descr="docs/presentations/template-assets/image3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200400" y="6236208"/>
            <a:ext cx="5806440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68580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61E"/>
                </a:solidFill>
              </a:rPr>
              <a:t>系统架构：面向扩展的人文社科评价底座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777240" y="119786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for Scalable Scholarly Evaluation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77240" y="1581912"/>
            <a:ext cx="6492240" cy="0"/>
          </a:xfrm>
          <a:prstGeom prst="line">
            <a:avLst/>
          </a:prstGeom>
          <a:noFill/>
          <a:ln w="13970">
            <a:solidFill>
              <a:srgbClr val="BFBFB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68680" y="1920240"/>
            <a:ext cx="1554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868680" y="1920240"/>
            <a:ext cx="1554480" cy="18288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978408" y="226771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2788920" y="1920240"/>
            <a:ext cx="1554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788920" y="1920240"/>
            <a:ext cx="1554480" cy="182880"/>
          </a:xfrm>
          <a:prstGeom prst="rect">
            <a:avLst/>
          </a:prstGeom>
          <a:solidFill>
            <a:srgbClr val="1F4D78"/>
          </a:solidFill>
          <a:ln w="12700">
            <a:solidFill>
              <a:srgbClr val="1F4D78">
                <a:alpha val="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898648" y="226771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709160" y="1920240"/>
            <a:ext cx="1554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1920240"/>
            <a:ext cx="1554480" cy="182880"/>
          </a:xfrm>
          <a:prstGeom prst="rect">
            <a:avLst/>
          </a:prstGeom>
          <a:solidFill>
            <a:srgbClr val="C8161E"/>
          </a:solidFill>
          <a:ln w="12700">
            <a:solidFill>
              <a:srgbClr val="C8161E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18888" y="226771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629400" y="1920240"/>
            <a:ext cx="1554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29400" y="1920240"/>
            <a:ext cx="1554480" cy="182880"/>
          </a:xfrm>
          <a:prstGeom prst="rect">
            <a:avLst/>
          </a:prstGeom>
          <a:solidFill>
            <a:srgbClr val="C8161E"/>
          </a:solidFill>
          <a:ln w="12700">
            <a:solidFill>
              <a:srgbClr val="C8161E">
                <a:alpha val="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739128" y="226771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8549640" y="1920240"/>
            <a:ext cx="1554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549640" y="1920240"/>
            <a:ext cx="1554480" cy="182880"/>
          </a:xfrm>
          <a:prstGeom prst="rect">
            <a:avLst/>
          </a:prstGeom>
          <a:solidFill>
            <a:srgbClr val="6A5B8C"/>
          </a:solidFill>
          <a:ln w="12700">
            <a:solidFill>
              <a:srgbClr val="6A5B8C">
                <a:alpha val="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659368" y="226771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10058400" y="1920240"/>
            <a:ext cx="12344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10058400" y="1920240"/>
            <a:ext cx="1234440" cy="182880"/>
          </a:xfrm>
          <a:prstGeom prst="rect">
            <a:avLst/>
          </a:prstGeom>
          <a:solidFill>
            <a:srgbClr val="546A7B"/>
          </a:solidFill>
          <a:ln w="12700">
            <a:solidFill>
              <a:srgbClr val="546A7B">
                <a:alpha val="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0168128" y="2267712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2011680" y="3703320"/>
            <a:ext cx="4023360" cy="1280160"/>
          </a:xfrm>
          <a:prstGeom prst="roundRect">
            <a:avLst>
              <a:gd name="adj" fmla="val 5000"/>
            </a:avLst>
          </a:prstGeom>
          <a:solidFill>
            <a:srgbClr val="F7FBFA"/>
          </a:solidFill>
          <a:ln w="12700">
            <a:solidFill>
              <a:srgbClr val="BCD6D3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355080" y="3703320"/>
            <a:ext cx="4023360" cy="1280160"/>
          </a:xfrm>
          <a:prstGeom prst="roundRect">
            <a:avLst>
              <a:gd name="adj" fmla="val 5000"/>
            </a:avLst>
          </a:prstGeom>
          <a:solidFill>
            <a:srgbClr val="F2F7FA"/>
          </a:solidFill>
          <a:ln w="12700">
            <a:solidFill>
              <a:srgbClr val="BFD1D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240280" y="39684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Frameworks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2240280" y="4279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YAML / JSON 外部配置加载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维度、权重、阈值不硬编码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6583680" y="396849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Storage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6583680" y="427939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AI 输入输出、预处理结果、报告版本与访问审计长期保留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4023360" y="3054096"/>
            <a:ext cx="0" cy="621792"/>
          </a:xfrm>
          <a:prstGeom prst="line">
            <a:avLst/>
          </a:prstGeom>
          <a:noFill/>
          <a:ln w="13970">
            <a:solidFill>
              <a:srgbClr val="9EB2C4"/>
            </a:solidFill>
            <a:prstDash val="solid"/>
            <a:tailEnd type="triangle"/>
          </a:ln>
        </p:spPr>
      </p:sp>
      <p:sp>
        <p:nvSpPr>
          <p:cNvPr id="38" name="Shape 33"/>
          <p:cNvSpPr/>
          <p:nvPr/>
        </p:nvSpPr>
        <p:spPr>
          <a:xfrm>
            <a:off x="8183880" y="3054096"/>
            <a:ext cx="0" cy="621792"/>
          </a:xfrm>
          <a:prstGeom prst="line">
            <a:avLst/>
          </a:prstGeom>
          <a:noFill/>
          <a:ln w="13970">
            <a:solidFill>
              <a:srgbClr val="9EB2C4"/>
            </a:solidFill>
            <a:prstDash val="solid"/>
            <a:tailEnd type="triangle"/>
          </a:ln>
        </p:spPr>
      </p:sp>
      <p:sp>
        <p:nvSpPr>
          <p:cNvPr id="39" name="Shape 34"/>
          <p:cNvSpPr/>
          <p:nvPr/>
        </p:nvSpPr>
        <p:spPr>
          <a:xfrm>
            <a:off x="3154680" y="5440680"/>
            <a:ext cx="53949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3401568" y="5641848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C8161E"/>
                </a:solidFill>
              </a:rPr>
              <a:t>统一 Provider 抽象 + 模块化边界，让法学先行方案可扩展到更多人文社科学科。</a:t>
            </a:r>
            <a:endParaRPr lang="en-US" sz="12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presentations/template-asset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"/>
            <a:ext cx="1828800" cy="210312"/>
          </a:xfrm>
          <a:prstGeom prst="rect">
            <a:avLst/>
          </a:prstGeom>
        </p:spPr>
      </p:pic>
      <p:pic>
        <p:nvPicPr>
          <p:cNvPr id="3" name="Image 1" descr="docs/presentations/template-assets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82880"/>
            <a:ext cx="2468880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4672" y="347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78992" y="3474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</a:rPr>
              <a:t>PROGRESS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058400" y="3474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SocialEval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658368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61120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9" name="Image 2" descr="docs/presentations/template-assets/image3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200400" y="6236208"/>
            <a:ext cx="5806440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68580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61E"/>
                </a:solidFill>
              </a:rPr>
              <a:t>当前进展与近期里程碑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777240" y="119786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 and Near-Term Milestones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77240" y="1581912"/>
            <a:ext cx="6492240" cy="0"/>
          </a:xfrm>
          <a:prstGeom prst="line">
            <a:avLst/>
          </a:prstGeom>
          <a:noFill/>
          <a:ln w="13970">
            <a:solidFill>
              <a:srgbClr val="BFBFB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68680" y="1737360"/>
            <a:ext cx="425196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10" dirty="0">
                <a:solidFill>
                  <a:srgbClr val="333333"/>
                </a:solidFill>
              </a:rPr>
              <a:t>当前已推进文档摄取、知识框架加载、AI provider 抽象、可靠性计算等核心底座。</a:t>
            </a:r>
            <a:endParaRPr lang="en-US" sz="1510" dirty="0"/>
          </a:p>
          <a:p>
            <a:pPr marL="177800" indent="-177800">
              <a:buSzPct val="100000"/>
              <a:buChar char="•"/>
            </a:pPr>
            <a:r>
              <a:rPr lang="en-US" sz="1510" dirty="0">
                <a:solidFill>
                  <a:srgbClr val="333333"/>
                </a:solidFill>
              </a:rPr>
              <a:t>近期目标是打通“上传论文 → 自动评审 → 内部报告查看”的最小闭环。</a:t>
            </a:r>
            <a:endParaRPr lang="en-US" sz="1510" dirty="0"/>
          </a:p>
          <a:p>
            <a:pPr marL="177800" indent="-177800">
              <a:buSzPct val="100000"/>
              <a:buChar char="•"/>
            </a:pPr>
            <a:r>
              <a:rPr lang="en-US" sz="1510" dirty="0">
                <a:solidFill>
                  <a:srgbClr val="333333"/>
                </a:solidFill>
              </a:rPr>
              <a:t>下一阶段将补齐专家复核、公开报告、审计留存、批量任务与恢复机制。</a:t>
            </a:r>
            <a:endParaRPr lang="en-US" sz="1510" dirty="0"/>
          </a:p>
        </p:txBody>
      </p:sp>
      <p:sp>
        <p:nvSpPr>
          <p:cNvPr id="14" name="Shape 9"/>
          <p:cNvSpPr/>
          <p:nvPr/>
        </p:nvSpPr>
        <p:spPr>
          <a:xfrm>
            <a:off x="5897880" y="4434840"/>
            <a:ext cx="4572000" cy="0"/>
          </a:xfrm>
          <a:prstGeom prst="line">
            <a:avLst/>
          </a:prstGeom>
          <a:noFill/>
          <a:ln w="25400">
            <a:solidFill>
              <a:srgbClr val="B8C7D3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486400" y="4160520"/>
            <a:ext cx="502920" cy="502920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486400" y="432511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983480" y="4892040"/>
            <a:ext cx="15087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074920" y="513892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333333"/>
                </a:solidFill>
              </a:rPr>
              <a:t>自动评审闭环</a:t>
            </a:r>
            <a:endParaRPr lang="en-US" sz="1120" dirty="0"/>
          </a:p>
        </p:txBody>
      </p:sp>
      <p:sp>
        <p:nvSpPr>
          <p:cNvPr id="19" name="Text 14"/>
          <p:cNvSpPr/>
          <p:nvPr/>
        </p:nvSpPr>
        <p:spPr>
          <a:xfrm>
            <a:off x="5120640" y="54681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46A"/>
                </a:solidFill>
              </a:rPr>
              <a:t>已在推进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949440" y="4160520"/>
            <a:ext cx="502920" cy="502920"/>
          </a:xfrm>
          <a:prstGeom prst="ellipse">
            <a:avLst/>
          </a:prstGeom>
          <a:solidFill>
            <a:srgbClr val="1F4D78"/>
          </a:solidFill>
          <a:ln w="12700">
            <a:solidFill>
              <a:srgbClr val="1F4D78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949440" y="432511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446520" y="4892040"/>
            <a:ext cx="15087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537960" y="513892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333333"/>
                </a:solidFill>
              </a:rPr>
              <a:t>专家复核</a:t>
            </a:r>
            <a:endParaRPr lang="en-US" sz="1120" dirty="0"/>
          </a:p>
        </p:txBody>
      </p:sp>
      <p:sp>
        <p:nvSpPr>
          <p:cNvPr id="24" name="Text 19"/>
          <p:cNvSpPr/>
          <p:nvPr/>
        </p:nvSpPr>
        <p:spPr>
          <a:xfrm>
            <a:off x="6583680" y="54681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D78"/>
                </a:solidFill>
              </a:rPr>
              <a:t>下一阶段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8412480" y="4160520"/>
            <a:ext cx="502920" cy="502920"/>
          </a:xfrm>
          <a:prstGeom prst="ellipse">
            <a:avLst/>
          </a:prstGeom>
          <a:solidFill>
            <a:srgbClr val="C8161E"/>
          </a:solidFill>
          <a:ln w="12700">
            <a:solidFill>
              <a:srgbClr val="C8161E">
                <a:alpha val="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412480" y="432511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909560" y="4892040"/>
            <a:ext cx="15087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001000" y="513892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333333"/>
                </a:solidFill>
              </a:rPr>
              <a:t>报告版本化 / 审计</a:t>
            </a:r>
            <a:endParaRPr lang="en-US" sz="1120" dirty="0"/>
          </a:p>
        </p:txBody>
      </p:sp>
      <p:sp>
        <p:nvSpPr>
          <p:cNvPr id="29" name="Text 24"/>
          <p:cNvSpPr/>
          <p:nvPr/>
        </p:nvSpPr>
        <p:spPr>
          <a:xfrm>
            <a:off x="8046720" y="54681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161E"/>
                </a:solidFill>
              </a:rPr>
              <a:t>规划中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9875520" y="4160520"/>
            <a:ext cx="502920" cy="502920"/>
          </a:xfrm>
          <a:prstGeom prst="ellipse">
            <a:avLst/>
          </a:prstGeom>
          <a:solidFill>
            <a:srgbClr val="C8161E"/>
          </a:solidFill>
          <a:ln w="12700">
            <a:solidFill>
              <a:srgbClr val="C8161E">
                <a:alpha val="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9875520" y="432511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9372600" y="4892040"/>
            <a:ext cx="15087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464040" y="513892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333333"/>
                </a:solidFill>
              </a:rPr>
              <a:t>批量任务 / 恢复</a:t>
            </a:r>
            <a:endParaRPr lang="en-US" sz="1120" dirty="0"/>
          </a:p>
        </p:txBody>
      </p:sp>
      <p:sp>
        <p:nvSpPr>
          <p:cNvPr id="34" name="Text 29"/>
          <p:cNvSpPr/>
          <p:nvPr/>
        </p:nvSpPr>
        <p:spPr>
          <a:xfrm>
            <a:off x="9509760" y="54681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161E"/>
                </a:solidFill>
              </a:rPr>
              <a:t>规划中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896112" y="4800600"/>
            <a:ext cx="13258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1060704" y="4965192"/>
            <a:ext cx="996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</a:t>
            </a:r>
            <a:endParaRPr lang="en-US" sz="2500" dirty="0"/>
          </a:p>
        </p:txBody>
      </p:sp>
      <p:sp>
        <p:nvSpPr>
          <p:cNvPr id="37" name="Text 32"/>
          <p:cNvSpPr/>
          <p:nvPr/>
        </p:nvSpPr>
        <p:spPr>
          <a:xfrm>
            <a:off x="1060704" y="5458968"/>
            <a:ext cx="996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需求基线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2450592" y="4800600"/>
            <a:ext cx="13258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2615184" y="4965192"/>
            <a:ext cx="996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2500" dirty="0"/>
          </a:p>
        </p:txBody>
      </p:sp>
      <p:sp>
        <p:nvSpPr>
          <p:cNvPr id="40" name="Text 35"/>
          <p:cNvSpPr/>
          <p:nvPr/>
        </p:nvSpPr>
        <p:spPr>
          <a:xfrm>
            <a:off x="2615184" y="5458968"/>
            <a:ext cx="996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演示闭环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4005072" y="4800600"/>
            <a:ext cx="13258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169664" y="4965192"/>
            <a:ext cx="996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4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2500" dirty="0"/>
          </a:p>
        </p:txBody>
      </p:sp>
      <p:sp>
        <p:nvSpPr>
          <p:cNvPr id="43" name="Text 38"/>
          <p:cNvSpPr/>
          <p:nvPr/>
        </p:nvSpPr>
        <p:spPr>
          <a:xfrm>
            <a:off x="4169664" y="5458968"/>
            <a:ext cx="996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逐步扩展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presentations/template-asset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"/>
            <a:ext cx="1828800" cy="210312"/>
          </a:xfrm>
          <a:prstGeom prst="rect">
            <a:avLst/>
          </a:prstGeom>
        </p:spPr>
      </p:pic>
      <p:pic>
        <p:nvPicPr>
          <p:cNvPr id="3" name="Image 1" descr="docs/presentations/template-assets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82880"/>
            <a:ext cx="2468880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4672" y="347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78992" y="3474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058400" y="3474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SocialEval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658368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61120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9" name="Image 2" descr="docs/presentations/template-assets/image3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200400" y="6236208"/>
            <a:ext cx="5806440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74980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61E"/>
                </a:solidFill>
              </a:rPr>
              <a:t>结语：AI 辅助学术评价的边界与前景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868680" y="1261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Boundaries and Future of AI-Assisted Evaluation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868680" y="1645920"/>
            <a:ext cx="7863840" cy="0"/>
          </a:xfrm>
          <a:prstGeom prst="line">
            <a:avLst/>
          </a:prstGeom>
          <a:noFill/>
          <a:ln w="13970">
            <a:solidFill>
              <a:srgbClr val="BFBFB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960120" y="1965960"/>
            <a:ext cx="315468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960120" y="1965960"/>
            <a:ext cx="3154680" cy="164592"/>
          </a:xfrm>
          <a:prstGeom prst="rect">
            <a:avLst/>
          </a:prstGeom>
          <a:solidFill>
            <a:srgbClr val="C8161E"/>
          </a:solidFill>
          <a:ln w="12700">
            <a:solidFill>
              <a:srgbClr val="C8161E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234440" y="23591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8161E"/>
                </a:solidFill>
              </a:rPr>
              <a:t>标准显化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234440" y="27889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333333"/>
                </a:solidFill>
              </a:rPr>
              <a:t>评价不再只依赖隐性经验，而是把学科标准显化为可定义、可讨论、可演化的结构。</a:t>
            </a:r>
            <a:endParaRPr lang="en-US" sz="1220" dirty="0"/>
          </a:p>
        </p:txBody>
      </p:sp>
      <p:sp>
        <p:nvSpPr>
          <p:cNvPr id="17" name="Shape 12"/>
          <p:cNvSpPr/>
          <p:nvPr/>
        </p:nvSpPr>
        <p:spPr>
          <a:xfrm>
            <a:off x="4663440" y="1965960"/>
            <a:ext cx="315468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663440" y="1965960"/>
            <a:ext cx="3154680" cy="164592"/>
          </a:xfrm>
          <a:prstGeom prst="rect">
            <a:avLst/>
          </a:prstGeom>
          <a:solidFill>
            <a:srgbClr val="1F4D78"/>
          </a:solidFill>
          <a:ln w="12700">
            <a:solidFill>
              <a:srgbClr val="1F4D78">
                <a:alpha val="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937760" y="23591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4D78"/>
                </a:solidFill>
              </a:rPr>
              <a:t>结果可信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4937760" y="27889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333333"/>
                </a:solidFill>
              </a:rPr>
              <a:t>均值、标准差、专家复核与版本审计共同构成了可解释、可追溯的可信链条。</a:t>
            </a:r>
            <a:endParaRPr lang="en-US" sz="1220" dirty="0"/>
          </a:p>
        </p:txBody>
      </p:sp>
      <p:sp>
        <p:nvSpPr>
          <p:cNvPr id="21" name="Shape 16"/>
          <p:cNvSpPr/>
          <p:nvPr/>
        </p:nvSpPr>
        <p:spPr>
          <a:xfrm>
            <a:off x="8366760" y="1965960"/>
            <a:ext cx="315468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366760" y="1965960"/>
            <a:ext cx="3154680" cy="164592"/>
          </a:xfrm>
          <a:prstGeom prst="rect">
            <a:avLst/>
          </a:prstGeom>
          <a:solidFill>
            <a:srgbClr val="C8161E"/>
          </a:solidFill>
          <a:ln w="12700">
            <a:solidFill>
              <a:srgbClr val="C8161E">
                <a:alpha val="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641080" y="23591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8161E"/>
                </a:solidFill>
              </a:rPr>
              <a:t>跨学科扩展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8641080" y="27889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333333"/>
                </a:solidFill>
              </a:rPr>
              <a:t>从法学出发，未来可迁移到更广泛的人文社科评价场景。</a:t>
            </a:r>
            <a:endParaRPr lang="en-US" sz="1220" dirty="0"/>
          </a:p>
        </p:txBody>
      </p:sp>
      <p:pic>
        <p:nvPicPr>
          <p:cNvPr id="25" name="Image 3" descr="docs/presentations/template-assets/image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611880"/>
            <a:ext cx="6492240" cy="21031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331720" y="498348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8161E"/>
                </a:solidFill>
              </a:rPr>
              <a:t>自主知识体系 + AI + 专家复核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C8161E"/>
                </a:solidFill>
              </a:rPr>
              <a:t>构成一条兼顾学理基础与技术能力的折中路径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822960" y="5980176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</a:rPr>
              <a:t>Future target: explainable, auditable, and extensible infrastructure for scholarly evaluation.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presentations/template-asset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"/>
            <a:ext cx="1828800" cy="210312"/>
          </a:xfrm>
          <a:prstGeom prst="rect">
            <a:avLst/>
          </a:prstGeom>
        </p:spPr>
      </p:pic>
      <p:pic>
        <p:nvPicPr>
          <p:cNvPr id="3" name="Image 1" descr="docs/presentations/template-assets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82880"/>
            <a:ext cx="2468880" cy="82296"/>
          </a:xfrm>
          <a:prstGeom prst="rect">
            <a:avLst/>
          </a:prstGeom>
        </p:spPr>
      </p:pic>
      <p:pic>
        <p:nvPicPr>
          <p:cNvPr id="4" name="Image 2" descr="docs/presentations/template-assets/image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46120"/>
            <a:ext cx="12188952" cy="3429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480560" y="17830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161E"/>
                </a:solidFill>
              </a:rPr>
              <a:t>致谢</a:t>
            </a:r>
            <a:endParaRPr lang="en-US" sz="3000" dirty="0"/>
          </a:p>
        </p:txBody>
      </p:sp>
      <p:sp>
        <p:nvSpPr>
          <p:cNvPr id="6" name="Text 1"/>
          <p:cNvSpPr/>
          <p:nvPr/>
        </p:nvSpPr>
        <p:spPr>
          <a:xfrm>
            <a:off x="4343400" y="22402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2926080" y="2743200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546A"/>
                </a:solidFill>
              </a:rPr>
              <a:t>感谢各位专家、老师与同仁的聆听与指正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2011680" y="3154680"/>
            <a:ext cx="8183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44546A"/>
                </a:solidFill>
              </a:rPr>
              <a:t>欢迎围绕自主知识体系、AI 辅助评价、法学与人文社科拓展合作继续交流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617720" y="4709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/ Q&amp;A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658368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961120" y="6455664"/>
            <a:ext cx="2560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12" name="Image 3" descr="docs/presentations/template-assets/image3.png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3200400" y="6236208"/>
            <a:ext cx="5806440" cy="2011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SocialEval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面向自主知识体系的 AI 辅助学术评价系统</dc:title>
  <dc:subject>AI-assisted academic evaluation system</dc:subject>
  <dc:creator>OpenAI Codex</dc:creator>
  <cp:lastModifiedBy>OpenAI Codex</cp:lastModifiedBy>
  <cp:revision>1</cp:revision>
  <dcterms:created xsi:type="dcterms:W3CDTF">2026-03-19T15:54:28Z</dcterms:created>
  <dcterms:modified xsi:type="dcterms:W3CDTF">2026-03-19T15:54:28Z</dcterms:modified>
</cp:coreProperties>
</file>