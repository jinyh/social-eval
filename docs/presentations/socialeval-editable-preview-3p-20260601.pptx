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4"/>
    <p:sldId id="257" r:id="rId3"/>
    <p:sldId id="258" r:id="rId2"/>
  </p:sldIdLst>
  <p:sldSz cx="12191999" cy="6858000"/>
  <p:notesSz cx="7102475" cy="10233025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xia Zhang" initials="WZ" lastIdx="1" clrIdx="0">
    <p:extLst>
      <p:ext uri="{19B8F6BF-5375-455C-9EA6-DF929625EA0E}">
        <p15:presenceInfo xmlns:p15="http://schemas.microsoft.com/office/powerpoint/2012/main" userId="dd4b013fb83bef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FF930C"/>
    <a:srgbClr val="25D9CA"/>
    <a:srgbClr val="0000CD"/>
    <a:srgbClr val="F9F9FB"/>
    <a:srgbClr val="DEEBFE"/>
    <a:srgbClr val="F7DC7F"/>
    <a:srgbClr val="0066FF"/>
    <a:srgbClr val="02FFFF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5" autoAdjust="0"/>
    <p:restoredTop sz="85578" autoAdjust="0"/>
  </p:normalViewPr>
  <p:slideViewPr>
    <p:cSldViewPr snapToGrid="0" showGuides="1">
      <p:cViewPr varScale="1">
        <p:scale>
          <a:sx n="96" d="100"/>
          <a:sy n="96" d="100"/>
        </p:scale>
        <p:origin x="416" y="168"/>
      </p:cViewPr>
      <p:guideLst>
        <p:guide pos="3863"/>
        <p:guide orient="horz" pos="1003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6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604"/>
    </p:cViewPr>
  </p:sorterViewPr>
  <p:notesViewPr>
    <p:cSldViewPr snapToGrid="0" showGuides="1">
      <p:cViewPr varScale="1">
        <p:scale>
          <a:sx n="94" d="100"/>
          <a:sy n="94" d="100"/>
        </p:scale>
        <p:origin x="3752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512A60F-63B3-4D54-AA63-B159FADA9F31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8513A3C-D0C5-45C0-BD52-194E7639670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F7A6D04-2810-44D7-A07D-0AA2596107F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57ABA8D-3632-4FB6-8561-0367E4880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F70B8EC-E67C-4355-9367-9F32C48344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E58E8B-64DD-4CB6-9A0A-016E581D3E4C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43D3B54-A2E0-47EA-82F0-8A5C219B17C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585BA52-95CD-854D-A470-CE76748E806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51"/>
          <a:stretch/>
        </p:blipFill>
        <p:spPr>
          <a:xfrm>
            <a:off x="332010" y="251357"/>
            <a:ext cx="1934780" cy="48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>
            <a:extLst>
              <a:ext uri="{FF2B5EF4-FFF2-40B4-BE49-F238E27FC236}">
                <a16:creationId xmlns:a16="http://schemas.microsoft.com/office/drawing/2014/main" id="{ECA0A7A8-52A5-4508-9B7C-8E9F070AF3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749300"/>
            <a:ext cx="12203394" cy="319193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3383857"/>
            <a:ext cx="10052879" cy="106085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79869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C6124F18-99FF-4E25-B026-C95B196756F6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5052868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3E0947F5-F302-4DA0-B1F5-30EE10CF1F22}"/>
              </a:ext>
            </a:extLst>
          </p:cNvPr>
          <p:cNvGrpSpPr/>
          <p:nvPr userDrawn="1"/>
        </p:nvGrpSpPr>
        <p:grpSpPr>
          <a:xfrm>
            <a:off x="3352562" y="6252715"/>
            <a:ext cx="5486876" cy="406590"/>
            <a:chOff x="3352562" y="6073254"/>
            <a:chExt cx="5486876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57ABA8D-3632-4FB6-8561-0367E4880E76}"/>
              </a:ext>
            </a:extLst>
          </p:cNvPr>
          <p:cNvCxnSpPr>
            <a:cxnSpLocks/>
          </p:cNvCxnSpPr>
          <p:nvPr userDrawn="1"/>
        </p:nvCxnSpPr>
        <p:spPr>
          <a:xfrm>
            <a:off x="2328587" y="6496383"/>
            <a:ext cx="900000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F70B8EC-E67C-4355-9367-9F32C483445D}"/>
              </a:ext>
            </a:extLst>
          </p:cNvPr>
          <p:cNvCxnSpPr>
            <a:cxnSpLocks/>
          </p:cNvCxnSpPr>
          <p:nvPr userDrawn="1"/>
        </p:nvCxnSpPr>
        <p:spPr>
          <a:xfrm>
            <a:off x="8983387" y="6496383"/>
            <a:ext cx="900000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CD561446-72A4-5E48-B1AA-88BCD07BAE0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10" y="251357"/>
            <a:ext cx="42291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79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7C66039A-3D15-4D27-8FD3-6ADF01C34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/>
          <p:nvPr/>
        </p:nvSpPr>
        <p:spPr>
          <a:xfrm>
            <a:off x="304801" y="2455636"/>
            <a:ext cx="2960913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片包含 建筑物&#10;&#10;自动生成的说明">
            <a:extLst>
              <a:ext uri="{FF2B5EF4-FFF2-40B4-BE49-F238E27FC236}">
                <a16:creationId xmlns:a16="http://schemas.microsoft.com/office/drawing/2014/main" id="{27CDB2F7-E7B6-465A-921A-BD30952F7D4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924" y="4902201"/>
            <a:ext cx="7179060" cy="2311400"/>
          </a:xfrm>
          <a:prstGeom prst="rect">
            <a:avLst/>
          </a:prstGeom>
          <a:effectLst/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/>
          <p:nvPr/>
        </p:nvSpPr>
        <p:spPr>
          <a:xfrm rot="16200000">
            <a:off x="1736542" y="2389144"/>
            <a:ext cx="97430" cy="296091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/>
          <p:nvPr/>
        </p:nvSpPr>
        <p:spPr>
          <a:xfrm flipV="1">
            <a:off x="3478991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896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图片包含 建筑物, 圆屋顶, 地板&#10;&#10;描述已自动生成">
            <a:extLst>
              <a:ext uri="{FF2B5EF4-FFF2-40B4-BE49-F238E27FC236}">
                <a16:creationId xmlns:a16="http://schemas.microsoft.com/office/drawing/2014/main" id="{1CF278BF-7BDF-4094-9C1D-962B78BFDF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12700"/>
            <a:ext cx="12188951" cy="685800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ACBE5229-6D64-4AB4-BD32-C5A9C0A25B3D}"/>
              </a:ext>
            </a:extLst>
          </p:cNvPr>
          <p:cNvGrpSpPr/>
          <p:nvPr/>
        </p:nvGrpSpPr>
        <p:grpSpPr>
          <a:xfrm>
            <a:off x="4034970" y="685800"/>
            <a:ext cx="4122060" cy="1462680"/>
            <a:chOff x="667655" y="1497651"/>
            <a:chExt cx="4122060" cy="146268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6977AD1-FB29-49DB-B293-6E501C63653E}"/>
                </a:ext>
              </a:extLst>
            </p:cNvPr>
            <p:cNvGrpSpPr/>
            <p:nvPr/>
          </p:nvGrpSpPr>
          <p:grpSpPr>
            <a:xfrm>
              <a:off x="667656" y="1497651"/>
              <a:ext cx="4122059" cy="1438728"/>
              <a:chOff x="537028" y="1493158"/>
              <a:chExt cx="4122059" cy="1438728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2C25A7C-283B-4D59-8088-0D173FD791A1}"/>
                  </a:ext>
                </a:extLst>
              </p:cNvPr>
              <p:cNvSpPr/>
              <p:nvPr/>
            </p:nvSpPr>
            <p:spPr>
              <a:xfrm>
                <a:off x="537029" y="1493158"/>
                <a:ext cx="4122058" cy="14387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" name="图片 10" descr="图片包含 建筑物&#10;&#10;自动生成的说明">
                <a:extLst>
                  <a:ext uri="{FF2B5EF4-FFF2-40B4-BE49-F238E27FC236}">
                    <a16:creationId xmlns:a16="http://schemas.microsoft.com/office/drawing/2014/main" id="{909D8670-2666-4A27-A0FE-9BF4BFDA7D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alphaModFix amt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7028" y="1604731"/>
                <a:ext cx="4122058" cy="1327155"/>
              </a:xfrm>
              <a:prstGeom prst="rect">
                <a:avLst/>
              </a:prstGeom>
              <a:effectLst/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0563126-3B82-41C3-959D-6EE0A64FB1C8}"/>
                </a:ext>
              </a:extLst>
            </p:cNvPr>
            <p:cNvSpPr txBox="1"/>
            <p:nvPr/>
          </p:nvSpPr>
          <p:spPr>
            <a:xfrm>
              <a:off x="667655" y="1755350"/>
              <a:ext cx="412205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dirty="0">
                  <a:solidFill>
                    <a:schemeClr val="accent1"/>
                  </a:solidFill>
                </a:rPr>
                <a:t>目    录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1F06D8F-A998-4957-BCDD-C5D37E948A62}"/>
                </a:ext>
              </a:extLst>
            </p:cNvPr>
            <p:cNvSpPr/>
            <p:nvPr/>
          </p:nvSpPr>
          <p:spPr>
            <a:xfrm rot="16200000">
              <a:off x="2683685" y="854302"/>
              <a:ext cx="90000" cy="4122058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E9A5540C-0F48-4B7F-B5D6-F8A8EDA2E8C4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-19050" y="3428999"/>
            <a:ext cx="12211050" cy="342899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9484F6-57FB-4D78-BAC6-3A0A97C9E850}"/>
              </a:ext>
            </a:extLst>
          </p:cNvPr>
          <p:cNvSpPr/>
          <p:nvPr userDrawn="1"/>
        </p:nvSpPr>
        <p:spPr>
          <a:xfrm rot="16200000" flipV="1">
            <a:off x="6051001" y="-2738344"/>
            <a:ext cx="90000" cy="121989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477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B46500FD-D914-4D54-A821-08966030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227868-C0F1-41FC-A8C9-A533B4E114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065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B46500FD-D914-4D54-A821-08966030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227868-C0F1-41FC-A8C9-A533B4E114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1CEC8E-67B8-0542-B6BF-1336F7F82CC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133351"/>
            <a:ext cx="2082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0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(标题导航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片包含 建筑物, 圆屋顶, 地板&#10;&#10;描述已自动生成">
            <a:extLst>
              <a:ext uri="{FF2B5EF4-FFF2-40B4-BE49-F238E27FC236}">
                <a16:creationId xmlns:a16="http://schemas.microsoft.com/office/drawing/2014/main" id="{FCB44420-1668-4CDF-B7B1-BF6494090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B0646154-6233-4139-B550-A28CDF04E3FA}"/>
              </a:ext>
            </a:extLst>
          </p:cNvPr>
          <p:cNvSpPr/>
          <p:nvPr userDrawn="1"/>
        </p:nvSpPr>
        <p:spPr>
          <a:xfrm>
            <a:off x="995330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</a:rPr>
              <a:t>标题一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AC3C199-AD82-4263-B8E8-8D1CD35372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6B24E9D-7E64-7A41-BAEA-4B8DFE2C1F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133351"/>
            <a:ext cx="2082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13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AABAA2F6-CE8B-4D0C-9DA1-7AFD8C0E1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8" name="平行四边形 17">
            <a:extLst>
              <a:ext uri="{FF2B5EF4-FFF2-40B4-BE49-F238E27FC236}">
                <a16:creationId xmlns:a16="http://schemas.microsoft.com/office/drawing/2014/main" id="{55B5EF86-CD68-45F5-B469-E0C751A7F1CE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444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片 6" descr="图片包含 户外, 标牌, 黑色&#10;&#10;自动生成的说明">
            <a:extLst>
              <a:ext uri="{FF2B5EF4-FFF2-40B4-BE49-F238E27FC236}">
                <a16:creationId xmlns:a16="http://schemas.microsoft.com/office/drawing/2014/main" id="{BBD19A13-D175-4468-834D-FE213A533A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0E3A7107-0A14-4195-8DEB-51F0B46D6B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F842958-30A2-AA47-8819-111B0A762B7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133351"/>
            <a:ext cx="2082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7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>
            <a:extLst>
              <a:ext uri="{FF2B5EF4-FFF2-40B4-BE49-F238E27FC236}">
                <a16:creationId xmlns:a16="http://schemas.microsoft.com/office/drawing/2014/main" id="{59C76395-F18A-42DC-A156-F93BFCD8E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C8E8E9-B6E9-4C9E-A8E5-EC39920274FE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6D4021-94E1-4E9F-90EB-E54E5216CA6E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079C22-C965-4A93-8C7F-F7C26F71D8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13C46B9-BB5F-5D48-A282-A1DFCA9C9F1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762" y="918446"/>
            <a:ext cx="56134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407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5" r:id="rId3"/>
    <p:sldLayoutId id="2147483657" r:id="rId4"/>
    <p:sldLayoutId id="2147483650" r:id="rId5"/>
    <p:sldLayoutId id="2147483665" r:id="rId6"/>
    <p:sldLayoutId id="2147483659" r:id="rId7"/>
    <p:sldLayoutId id="2147483651" r:id="rId8"/>
    <p:sldLayoutId id="2147483654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pos="7488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7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405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B4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15400" y="-411480"/>
            <a:ext cx="3566160" cy="3566160"/>
          </a:xfrm>
          <a:prstGeom prst="ellipse">
            <a:avLst/>
          </a:prstGeom>
          <a:solidFill>
            <a:srgbClr val="EEE6DC"/>
          </a:solidFill>
          <a:ln w="12700">
            <a:solidFill>
              <a:srgbClr val="E2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17320"/>
            <a:ext cx="97840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323030"/>
                </a:solidFill>
                <a:latin typeface="PingFang SC"/>
              </a:rPr>
              <a:t>中国法学自主知识体系创新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8595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B41222"/>
                </a:solidFill>
                <a:latin typeface="PingFang SC"/>
              </a:rPr>
              <a:t>人工智能辅助评价系统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834640"/>
            <a:ext cx="5486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0">
                <a:solidFill>
                  <a:srgbClr val="5A5A5A"/>
                </a:solidFill>
                <a:latin typeface="PingFang SC"/>
              </a:rPr>
              <a:t>SocialEval 项目阶段性汇报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" y="3401568"/>
            <a:ext cx="2331720" cy="50292"/>
          </a:xfrm>
          <a:prstGeom prst="rect">
            <a:avLst/>
          </a:prstGeom>
          <a:solidFill>
            <a:srgbClr val="B4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6583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0">
                <a:solidFill>
                  <a:srgbClr val="2A2A2A"/>
                </a:solidFill>
                <a:latin typeface="PingFang SC"/>
              </a:rPr>
              <a:t>面向法学论文评审的多模型一致性验证与专家复核体系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5157216"/>
            <a:ext cx="4114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>
                <a:solidFill>
                  <a:srgbClr val="5A5A5A"/>
                </a:solidFill>
                <a:latin typeface="PingFang SC"/>
              </a:rPr>
              <a:t>上海交通大学人工智能研究院
金耀辉｜2026年6月1日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5440680"/>
            <a:ext cx="987552" cy="3291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3216" y="550468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2F679A"/>
                </a:solidFill>
                <a:latin typeface="PingFang SC"/>
              </a:rPr>
              <a:t>多模型并发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5440680"/>
            <a:ext cx="987552" cy="3291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67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77656" y="550468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367E6A"/>
                </a:solidFill>
                <a:latin typeface="PingFang SC"/>
              </a:rPr>
              <a:t>交叉评审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5440680"/>
            <a:ext cx="987552" cy="3291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8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2096" y="550468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850" b="1">
                <a:solidFill>
                  <a:srgbClr val="B48426"/>
                </a:solidFill>
                <a:latin typeface="PingFang SC"/>
              </a:rPr>
              <a:t>专家终审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B4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10896"/>
            <a:ext cx="8046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800" b="1">
                <a:solidFill>
                  <a:srgbClr val="323030"/>
                </a:solidFill>
                <a:latin typeface="PingFang SC"/>
              </a:rPr>
              <a:t>传统学术评价的“不可能三角”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384048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50" b="0">
                <a:solidFill>
                  <a:srgbClr val="5A5A5A"/>
                </a:solidFill>
                <a:latin typeface="PingFang SC"/>
              </a:rPr>
              <a:t>SocialEval 项目阶段性汇报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999" cy="18288"/>
          </a:xfrm>
          <a:prstGeom prst="rect">
            <a:avLst/>
          </a:prstGeom>
          <a:solidFill>
            <a:srgbClr val="EE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PingFang SC"/>
              </a:rPr>
              <a:t>中国法学自主知识体系创新 · 人工智能辅助评价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96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987552"/>
            <a:ext cx="10149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PingFang SC"/>
              </a:rPr>
              <a:t>面对近十年法学三大刊约 1850 篇论文，传统专家评审很难同时满足统一标准、审阅效率与规模覆盖。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80360" y="2057400"/>
            <a:ext cx="3200400" cy="2788920"/>
          </a:xfrm>
          <a:prstGeom prst="line">
            <a:avLst/>
          </a:prstGeom>
          <a:ln w="25400">
            <a:solidFill>
              <a:srgbClr val="CA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2057400"/>
            <a:ext cx="3200400" cy="2788920"/>
          </a:xfrm>
          <a:prstGeom prst="line">
            <a:avLst/>
          </a:prstGeom>
          <a:ln w="25400">
            <a:solidFill>
              <a:srgbClr val="CA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880360" y="4846320"/>
            <a:ext cx="6400800" cy="457200"/>
          </a:xfrm>
          <a:prstGeom prst="line">
            <a:avLst/>
          </a:prstGeom>
          <a:ln w="25400">
            <a:solidFill>
              <a:srgbClr val="CA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303520" y="1051560"/>
            <a:ext cx="1554480" cy="1554480"/>
          </a:xfrm>
          <a:prstGeom prst="ellipse">
            <a:avLst/>
          </a:prstGeom>
          <a:solidFill>
            <a:srgbClr val="FAE9EA"/>
          </a:solidFill>
          <a:ln w="25400">
            <a:solidFill>
              <a:srgbClr val="B4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77256" y="1719072"/>
            <a:ext cx="120700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600" b="1">
                <a:solidFill>
                  <a:srgbClr val="B41222"/>
                </a:solidFill>
                <a:latin typeface="PingFang SC"/>
              </a:rPr>
              <a:t>标准不一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24912"/>
            <a:ext cx="26517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30" b="0">
                <a:solidFill>
                  <a:srgbClr val="5A5A5A"/>
                </a:solidFill>
                <a:latin typeface="PingFang SC"/>
              </a:rPr>
              <a:t>依赖专家主观经验
不同评审人尺度差异大</a:t>
            </a:r>
          </a:p>
        </p:txBody>
      </p:sp>
      <p:sp>
        <p:nvSpPr>
          <p:cNvPr id="18" name="Oval 17"/>
          <p:cNvSpPr/>
          <p:nvPr/>
        </p:nvSpPr>
        <p:spPr>
          <a:xfrm>
            <a:off x="2103120" y="4297680"/>
            <a:ext cx="1554480" cy="1554480"/>
          </a:xfrm>
          <a:prstGeom prst="ellipse">
            <a:avLst/>
          </a:prstGeom>
          <a:solidFill>
            <a:srgbClr val="EBF3FA"/>
          </a:solidFill>
          <a:ln w="25400">
            <a:solidFill>
              <a:srgbClr val="2F6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76856" y="4965192"/>
            <a:ext cx="120700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600" b="1">
                <a:solidFill>
                  <a:srgbClr val="2F679A"/>
                </a:solidFill>
                <a:latin typeface="PingFang SC"/>
              </a:rPr>
              <a:t>效率低下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971031"/>
            <a:ext cx="26517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30" b="0">
                <a:solidFill>
                  <a:srgbClr val="5A5A5A"/>
                </a:solidFill>
                <a:latin typeface="PingFang SC"/>
              </a:rPr>
              <a:t>评审周期漫长
专家调度成本高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0" y="4297680"/>
            <a:ext cx="1554480" cy="1554480"/>
          </a:xfrm>
          <a:prstGeom prst="ellipse">
            <a:avLst/>
          </a:prstGeom>
          <a:solidFill>
            <a:srgbClr val="E7F5EF"/>
          </a:solidFill>
          <a:ln w="25400">
            <a:solidFill>
              <a:srgbClr val="367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77656" y="4965192"/>
            <a:ext cx="120700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600" b="1">
                <a:solidFill>
                  <a:srgbClr val="367E6A"/>
                </a:solidFill>
                <a:latin typeface="PingFang SC"/>
              </a:rPr>
              <a:t>规模化难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5971031"/>
            <a:ext cx="26517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30" b="0">
                <a:solidFill>
                  <a:srgbClr val="5A5A5A"/>
                </a:solidFill>
                <a:latin typeface="PingFang SC"/>
              </a:rPr>
              <a:t>面对海量论文
人工逐一评审不现实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90872" y="3127248"/>
            <a:ext cx="2788920" cy="749808"/>
          </a:xfrm>
          <a:prstGeom prst="roundRect">
            <a:avLst/>
          </a:prstGeom>
          <a:solidFill>
            <a:srgbClr val="3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3310128"/>
            <a:ext cx="243230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AI 辅助评价的进入点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925312"/>
            <a:ext cx="34747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PingFang SC"/>
              </a:rPr>
              <a:t>统一尺度 · 提升效率 · 暴露分歧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B4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10896"/>
            <a:ext cx="8046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800" b="1">
                <a:solidFill>
                  <a:srgbClr val="323030"/>
                </a:solidFill>
                <a:latin typeface="PingFang SC"/>
              </a:rPr>
              <a:t>项目目标与定位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384048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50" b="0">
                <a:solidFill>
                  <a:srgbClr val="5A5A5A"/>
                </a:solidFill>
                <a:latin typeface="PingFang SC"/>
              </a:rPr>
              <a:t>SocialEval 项目阶段性汇报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999" cy="18288"/>
          </a:xfrm>
          <a:prstGeom prst="rect">
            <a:avLst/>
          </a:prstGeom>
          <a:solidFill>
            <a:srgbClr val="EE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PingFang SC"/>
              </a:rPr>
              <a:t>中国法学自主知识体系创新 · 人工智能辅助评价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96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941832"/>
            <a:ext cx="102412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PingFang SC"/>
              </a:rPr>
              <a:t>核心目标：构建面向“自主知识体系”的 AI 辅助学术评价系统，以法学论文评审为切入点，可拓展至人文社科各学科。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1737360"/>
            <a:ext cx="3154680" cy="969264"/>
          </a:xfrm>
          <a:prstGeom prst="roundRect">
            <a:avLst/>
          </a:prstGeom>
          <a:solidFill>
            <a:srgbClr val="FAE9EA"/>
          </a:solidFill>
          <a:ln w="15240">
            <a:solidFill>
              <a:srgbClr val="B4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1883664"/>
            <a:ext cx="10972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B41222"/>
                </a:solidFill>
                <a:latin typeface="PingFang SC"/>
              </a:rPr>
              <a:t>核心目标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148840"/>
            <a:ext cx="2743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1">
                <a:solidFill>
                  <a:srgbClr val="2A2A2A"/>
                </a:solidFill>
                <a:latin typeface="PingFang SC"/>
              </a:rPr>
              <a:t>面向自主知识体系
形成可复核的评价流程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737360"/>
            <a:ext cx="3154680" cy="969264"/>
          </a:xfrm>
          <a:prstGeom prst="roundRect">
            <a:avLst/>
          </a:prstGeom>
          <a:solidFill>
            <a:srgbClr val="EBF3FA"/>
          </a:solidFill>
          <a:ln w="15240">
            <a:solidFill>
              <a:srgbClr val="2F6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0972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2F679A"/>
                </a:solidFill>
                <a:latin typeface="PingFang SC"/>
              </a:rPr>
              <a:t>切入点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148840"/>
            <a:ext cx="2743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1">
                <a:solidFill>
                  <a:srgbClr val="2A2A2A"/>
                </a:solidFill>
                <a:latin typeface="PingFang SC"/>
              </a:rPr>
              <a:t>法学论文评审
三大刊近十年样本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19" y="1737360"/>
            <a:ext cx="3154680" cy="969264"/>
          </a:xfrm>
          <a:prstGeom prst="roundRect">
            <a:avLst/>
          </a:prstGeom>
          <a:solidFill>
            <a:srgbClr val="E7F5EF"/>
          </a:solidFill>
          <a:ln w="15240">
            <a:solidFill>
              <a:srgbClr val="367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1" y="1883664"/>
            <a:ext cx="10972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367E6A"/>
                </a:solidFill>
                <a:latin typeface="PingFang SC"/>
              </a:rPr>
              <a:t>系统定位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2148840"/>
            <a:ext cx="2743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1">
                <a:solidFill>
                  <a:srgbClr val="2A2A2A"/>
                </a:solidFill>
                <a:latin typeface="PingFang SC"/>
              </a:rPr>
              <a:t>辅助初筛
不替代专家终审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3246120"/>
            <a:ext cx="4800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19088" y="3246120"/>
            <a:ext cx="4800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3474720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367E6A"/>
                </a:solidFill>
                <a:latin typeface="PingFang SC"/>
              </a:rPr>
              <a:t>AI 可以做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895344"/>
            <a:ext cx="4251960" cy="96012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2A2A2A"/>
                </a:solidFill>
                <a:latin typeface="PingFang SC"/>
              </a:rPr>
              <a:t>识别项目口径与边界样本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2A2A2A"/>
                </a:solidFill>
                <a:latin typeface="PingFang SC"/>
              </a:rPr>
              <a:t>生成六维评价信号并整理证据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2A2A2A"/>
                </a:solidFill>
                <a:latin typeface="PingFang SC"/>
              </a:rPr>
              <a:t>暴露模型分歧，触发专家复核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B41222"/>
                </a:solidFill>
                <a:latin typeface="PingFang SC"/>
              </a:rPr>
              <a:t>AI 不能做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895344"/>
            <a:ext cx="4297680" cy="96012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2A2A2A"/>
                </a:solidFill>
                <a:latin typeface="PingFang SC"/>
              </a:rPr>
              <a:t>裁定真正首创性或终局排名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2A2A2A"/>
                </a:solidFill>
                <a:latin typeface="PingFang SC"/>
              </a:rPr>
              <a:t>替代主编、专家的学术判断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2A2A2A"/>
                </a:solidFill>
                <a:latin typeface="PingFang SC"/>
              </a:rPr>
              <a:t>因“政治正确”或主题宏大直接给高分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614416"/>
            <a:ext cx="10378440" cy="438912"/>
          </a:xfrm>
          <a:prstGeom prst="rect">
            <a:avLst/>
          </a:prstGeom>
          <a:solidFill>
            <a:srgbClr val="3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5733288"/>
            <a:ext cx="99212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PingFang SC"/>
              </a:rPr>
              <a:t>评价原则：AI 辅助初筛，专家保留终审；评分结果与专家意见并列存储，不互相覆盖。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52179</TotalTime>
  <Words>21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等线</vt:lpstr>
      <vt:lpstr>Arial</vt:lpstr>
      <vt:lpstr>Office 主题​​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Yaohui Jin</cp:lastModifiedBy>
  <cp:revision>2571</cp:revision>
  <dcterms:created xsi:type="dcterms:W3CDTF">2019-01-23T14:14:04Z</dcterms:created>
  <dcterms:modified xsi:type="dcterms:W3CDTF">2026-06-01T09:23:59Z</dcterms:modified>
</cp:coreProperties>
</file>