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各位委员、各位老师，大家好。我汇报的题目是"中国法学自主知识体系创新——人工智能辅助评价系统"。这是 SocialEval 项目的阶段性成果汇报，我们以法学论文评审为切入点，探索一套可规模化、可解释、可复核的 AI 辅助学术评价路径。</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传统学术评价面临一个"不可能三角"：标准统一、评审效率和规模覆盖很难同时满足。面对近十年法学三大刊约一千九百篇论文，如果完全依赖人工逐篇评审，周期和专家调度成本都会非常高。</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项目目标不是让 AI 替代专家，而是让 AI 承担初筛、证据整理、分歧暴露和候选分层。真正的首创性判断、主编判断和价值裁断仍然由专家完成。</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评价对象来自近十年法学三大刊，去重后形成一千九百二十篇可评测论文。系统已完成全量 R1+R2、Top101 稳定性复测与 E3 不稳定维度仲裁；最终展示名单为按全量领域配额形成的 Top50，最低分 82.60。</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样本体系分为校准回归集、冻结测试集和最终验证集，目的在于严格防止调参集和验证集混用。专家负样本用于检查系统是否能识别形式完整但学术贡献不足的论文。</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阶段流程的第三阶段已经更新为五轴位置归属度评价。前两阶段解决是否进入评价和六维质量分，第三阶段用对象、材料、范畴、解释目标和体系映射五轴判断自主知识体系归属，第四阶段再把标准差、置信度和专家判断纳入复核。</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六维不是六个并列指标，而是三个递进层级。顶层是风险与延展，包括学术共识度和前瞻延展性，权重最低但起到安全阀作用。中层是工具与论证，包括理论建构力和逻辑连贯性。底层是命题与定位，包括研究创新性和现状洞察度，权重最高，体现本项目对自主知识体系创新的核心关注。</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概念操作化的重点是把判断拆成可检查清单。六维评价回答论文质量，五轴位置归属度回答论文贡献能否纳入中国法学自主知识体系；二者分工不同，不能把五轴当成第七个质量维度。</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每篇论文、每个维度由四个模型独立评分。A 组包括 GLM 和 Qwen，评分相对宽松；B 组包括 DeepSeek 和 Kimi，评分相对严格。多模型并发的目的不是简单取平均，而是主动暴露系统性偏见和真实学术分歧。</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Round 1 中四个模型互不可见，Round 2 中宽松组和严格组互相看到对方意见后重新评分。每个模型必须说明接受和拒绝对方意见的理由，这使分歧本身成为可复核证据。</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Autoresearch 的目标有两个：一是与专家判断对齐，避免正样本被误伤；二是平衡模型之间的尺度差异。最终 v2.56.6 通过六轮锚定规则优化，将标准差显著压低。</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系统自动计算均值和标准差，并将置信度分为 High、Medium、Low、Critical 四级。超过阈值的维度不强行决断，而是进入专家复核队列。</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五轴位置归属度采用十分制，五个轴各二分。Top50 先限定在五轴十分论文中，九分只用于学科代表性或年度覆盖需要时补足，八分及以下原则上不进入正式名单。</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六类风险标记来自大规模评测中观察到的典型失败模式，定义在 v0.16 规程第 5.4 节。它们不是第七个评分维度，而是特征提取信号，用于标记论文供专家优先复核。按触发频率排序：直接移植无语境转化三十次，中国材料仅作背景二十二次，标识性概念膨胀十七次，政策复述十四次，传统文化仅价值宣示十次，权力配置无程序控制零次。每类风险都有真实案例支撑，例如直接移植风险在比较法论文中频繁触发，但经验证后多数论文实际上已做了本土转化，说明风险标记起到了正确的标记、验证、确认或排除的作用。</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知识库匹配是解释验证工具，不是 Top50 入选的直接加分项。本版只保留方法论说明；配额版 Top50 的知识库匹配必须按同一五十篇名单重新生成，不能沿用旧口径数字。</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这一页解释 E2 Top101 稳定性复测。E2 入口为加权分 Top60、每年至少五篇、各学科至少五篇；可比单元 2400 个，维度级平均差值 -0.51 分，平均绝对差 5.22 分。</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选择性第三次评测覆盖 13 篇论文、17 个不稳定维度，8 个维度收敛到 std 小于等于 5。仍异常的维度主要集中在研究创新性和理论建构力，说明这些是高阶学术判断分歧。</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这一页展示预检拒审的具体案例。全部拒绝的五篇论文，如"坚持抓住领导干部这个关键少数"，属于政策阐释而非学术研究，四个模型一致排除。单模型拒绝中，Kimi 最严格，典型理由是"论文缺乏可争辩的法学问题，属于制度介绍"。边界论文二十五篇需要人工确认项目口径，典型场景包括法学历史研究和法社会学实证研究。空状态主要来自阿里云内容审查触发，已全部补测完成。</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Round 1 中的问题论文被分为五类：空状态、全部拒绝、多数拒绝、单一拒绝和边界判断。一百五十四篇问题论文占全量一千九百二十篇的百分之八。空状态九十篇已全部补测完成，全部拒绝五篇可直接排除，多数拒绝十九篇、单一拒绝十五篇和边界判断二十五篇需要人工确认项目口径。拒绝模型分布显示 Kimi 最严格（三十三次），Qwen 最宽松（仅六次）。</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交叉评审是本项目最核心的机制创新。全量数据中，整体标准差从 Round 1 的 14.87 下降到 Round 2 的 7.24，降幅 51.3%。逻辑连贯性最容易收敛，研究创新性最低，保留给专家终审。</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大规模评测已完成 E1 全量 1920 篇、E2 Top101 稳定性复测、E3 45 篇 63 个不稳定维度仲裁，并固化配额版 Top50 展示名单。主评测 API 调用约九万七千五百次。</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Round 1 中，A 组模型主要给高分，B 组模型主要给低分。Round 2 后，B 组在认可对方意见时主动上调，A 组也会在严格意见影响下下调，模型角色从两极对立转向互相纠偏。</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这一页说明 E2 的入口是 Top101 候选池：加权分 Top60，加上每年至少五篇和各学科至少五篇的双约束。该入口用于稳定性体检，不等同于最终展示名单。</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最终展示名单采用五轴优先和全量领域配额规则。名单不是纯分数前五十，而是在满足自主知识体系归属资格后，按一千九百二十篇全库学科比例分配名额，再在学科内按六维加权分排序。</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这一页把入选规则和解释验证切开。当前可确认的是 Top50 排名、配额、六维分、标准差和五轴分；旧解释验证均值和知识库匹配条目数不在本稿沿用，后续需按同一五十篇重跑。</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全量 R2 分数均值约 71，中位数约 74.5，峰值集中在 75 到 80 区间。R1 到 R2 的均分几乎不变，说明交叉评审主要降低分歧，而不是系统性抬高或压低分数。</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四个模型具有明显行为画像：DeepSeek 最严格且波动较大，Qwen 最宽松，Kimi 相对稳定，GLM 居中偏宽松。这些差异正是多模型机制需要处理的对象。</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框架从 v1.0 演进到 v2.56.6，经历了多个关键版本。尤其是 v2.51 失败经验表明，短 prompt 无法可靠判断论证质量，必须回到可观察指标和锚定规则。</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系统后端采用 Python 与 FastAPI，数据层使用 PostgreSQL 和 Redis，AI 调用通过统一抽象层接入 DashScope 与仲裁模型。Prompt 和输出契约以 YAML 配置为真源，保证可追溯和可迭代。</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项目没有隐藏失败版本。v2.51 Phase 0 的负面模式检测器失败，提醒我们不能依赖抽象的"空泛表述"判断，而要把标准落到可观察、可复核的指标上。</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最终流程是逐层聚焦：E1 形成六维基线，E2 做 Top101 稳定性复测，E3 只仲裁不稳定维度，随后补充五轴归属评价，最后形成五轴优先、学科配额的 Top50 展示名单。</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核心成果不是单一排名，而是一套可追溯流程：E1 全量基线、E2 Top101 稳定性复测、E3 不稳定维度仲裁，以及最终按全量领域配额形成的 Top50 展示名单。</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当前仍有部分高阶维度未完全收敛，预检边界论文也需要人工确认。下一步重点是执行专家复核流程，完善五轴归属分歧解释，并将方法扩展到人文社科其他学科。</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以上是 SocialEval 项目的阶段性汇报。欢迎各位老师从方法论、法学评价口径、专家复核流程和后续拓展方向提出意见。</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六维加权分仍是质量排序主体，五轴位置归属度是资格门槛。这个设计避免把自主知识体系归属误当成质量加分，也能解释为什么少量高分但归属不足的论文不进入正式 Top50。</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典型单篇报告包含论文信息、六维评分、模型分歧、五轴归属和复核建议。它的目标不是给一个孤立总分，而是让专家看到分数背后的证据结构。</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维度收敛率的差异说明，客观性较强的逻辑连贯性更容易收敛，而研究创新性和理论建构力保留更多真实学术判断差异。</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AI 辅助评价解决规模化初筛和证据整理问题，人工评审承担最终学术裁断。二者不是替代关系，而是分工关系。</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负样本专家意见帮助我们检查系统是否能识别洞察不足、框架不足和政策宣示替代论证等问题。这是人机对齐的重要来源。</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这一页展示选择性第三次评测的关键数据。新的 Top101 合并结果中，E3 覆盖 45 篇论文、63 个不稳定维度；其中 47 个维度在 E3 R2 后 std 不超过五，16 个仍需专家复核。</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这一页展示 Top50 的学科配额和入选统计。配额来自全量一千九百二十篇的领域比例，目的是避免最终名单被少数高分领域过度集中。</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这一页展示新旧名单差异。新规则移出五轴低于九分的旧入选论文，补入同学科中五轴归属更强的候选，使正式名单同时满足质量排序和自主知识体系归属要求。</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Top50 中四十九篇为五轴十分，一篇为九分补足，八分及以下为零。解释验证后续需要围绕同一五十篇重新做解释验证信号和知识库匹配。</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这一页附录展示配额版 Top50 的完整基本信息，包括排名、领域、论文标题、期刊、年份、作者、机构和分数。最低分为八十二点六，第五十名是《党内法规的概念分析》。</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这一页附录展示配额版 Top50 的总分、六维分数、标准差和五轴归属分。红色标准差保留为专家复核线索，但五轴分不进入六维加权基础分。</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ab2a60cc2d6f50e.png"/>
  <Relationship Id="rId3" Type="http://schemas.openxmlformats.org/officeDocument/2006/relationships/image" Target="../media/image_9a46fdb2bfcf08ba.png"/>
  <Relationship Id="rId4" Type="http://schemas.openxmlformats.org/officeDocument/2006/relationships/image" Target="../media/image_393ead454c02a0a1.png"/>
  <Relationship Id="rId5"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39.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40.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4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42.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43.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44.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d755cbac8782150.png"/>
  <Relationship Id="rId3" Type="http://schemas.openxmlformats.org/officeDocument/2006/relationships/image" Target="../media/image_393ead454c02a0a1.png"/>
  <Relationship Id="rId4" Type="http://schemas.openxmlformats.org/officeDocument/2006/relationships/notesSlide" Target="../notesSlides/notesSlide4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16477" y="2943225"/>
            <a:ext cx="12159045" cy="3914775"/>
          </a:xfrm>
          <a:prstGeom prst="rect">
            <a:avLst/>
          </a:prstGeom>
        </p:spPr>
      </p:pic>
      <p:grpSp>
        <p:nvGrpSpPr>
          <p:cNvPr id="6" name="Group 6"/>
          <p:cNvGrpSpPr/>
          <p:nvPr/>
        </p:nvGrpSpPr>
        <p:grpSpPr>
          <a:xfrm>
            <a:off x="685800" y="419100"/>
            <a:ext cx="10820400" cy="400050"/>
            <a:chOff x="685800" y="419100"/>
            <a:chExt cx="10820400" cy="400050"/>
          </a:xfrm>
        </p:grpSpPr>
        <p:pic>
          <p:nvPicPr>
            <p:cNvPr id="4" name="Image 4"/>
            <p:cNvPicPr>
              <a:picLocks noChangeAspect="1"/>
            </p:cNvPicPr>
            <p:nvPr/>
          </p:nvPicPr>
          <p:blipFill>
            <a:blip r:embed="rId3"/>
            <a:stretch>
              <a:fillRect/>
            </a:stretch>
          </p:blipFill>
          <p:spPr>
            <a:xfrm>
              <a:off x="685800" y="438150"/>
              <a:ext cx="2831142" cy="323850"/>
            </a:xfrm>
            <a:prstGeom prst="rect">
              <a:avLst/>
            </a:prstGeom>
          </p:spPr>
        </p:pic>
        <p:pic>
          <p:nvPicPr>
            <p:cNvPr id="5" name="Image 5"/>
            <p:cNvPicPr>
              <a:picLocks noChangeAspect="1"/>
            </p:cNvPicPr>
            <p:nvPr/>
          </p:nvPicPr>
          <p:blipFill>
            <a:blip r:embed="rId4"/>
            <a:stretch>
              <a:fillRect/>
            </a:stretch>
          </p:blipFill>
          <p:spPr>
            <a:xfrm>
              <a:off x="9525000" y="419100"/>
              <a:ext cx="1981200" cy="400050"/>
            </a:xfrm>
            <a:prstGeom prst="rect">
              <a:avLst/>
            </a:prstGeom>
          </p:spPr>
        </p:pic>
      </p:grpSp>
      <p:grpSp>
        <p:nvGrpSpPr>
          <p:cNvPr id="9" name="Group 9"/>
          <p:cNvGrpSpPr/>
          <p:nvPr/>
        </p:nvGrpSpPr>
        <p:grpSpPr>
          <a:xfrm>
            <a:off x="1644653" y="1530377"/>
            <a:ext cx="6822014" cy="1422349"/>
            <a:chOff x="1644653" y="1530377"/>
            <a:chExt cx="6822014" cy="1422349"/>
          </a:xfrm>
        </p:grpSpPr>
        <p:sp>
          <p:nvSpPr>
            <p:cNvPr id="7" name="TextBox 7"/>
            <p:cNvSpPr txBox="1"/>
            <p:nvPr/>
          </p:nvSpPr>
          <p:spPr>
            <a:xfrm>
              <a:off x="1644653" y="1530377"/>
              <a:ext cx="6822014" cy="812749"/>
            </a:xfrm>
            <a:prstGeom prst="rect">
              <a:avLst/>
            </a:prstGeom>
            <a:noFill/>
            <a:ln>
              <a:noFill/>
            </a:ln>
          </p:spPr>
          <p:txBody>
            <a:bodyPr wrap="none" lIns="0" tIns="0" rIns="0" bIns="0" anchor="t" anchorCtr="0">
              <a:spAutoFit/>
            </a:bodyPr>
            <a:lstStyle/>
            <a:p>
              <a:pPr algn="l"/>
              <a:r>
                <a:rPr lang="zh-CN" sz="4000" b="1" dirty="0">
                  <a:solidFill>
                    <a:srgbClr val="1B1C21"/>
                  </a:solidFill>
                  <a:latin typeface="Arial"/>
                  <a:ea typeface="Microsoft YaHei"/>
                  <a:cs typeface="Arial"/>
                </a:rPr>
                <a:t>中国法学自主知识体系创新</a:t>
              </a:r>
            </a:p>
          </p:txBody>
        </p:sp>
        <p:sp>
          <p:nvSpPr>
            <p:cNvPr id="8" name="TextBox 8"/>
            <p:cNvSpPr txBox="1"/>
            <p:nvPr/>
          </p:nvSpPr>
          <p:spPr>
            <a:xfrm>
              <a:off x="1644653" y="2139977"/>
              <a:ext cx="5701944" cy="812749"/>
            </a:xfrm>
            <a:prstGeom prst="rect">
              <a:avLst/>
            </a:prstGeom>
            <a:noFill/>
            <a:ln>
              <a:noFill/>
            </a:ln>
          </p:spPr>
          <p:txBody>
            <a:bodyPr wrap="none" lIns="0" tIns="0" rIns="0" bIns="0" anchor="t" anchorCtr="0">
              <a:spAutoFit/>
            </a:bodyPr>
            <a:lstStyle/>
            <a:p>
              <a:pPr algn="l"/>
              <a:r>
                <a:rPr lang="zh-CN" sz="4000" b="1" dirty="0">
                  <a:solidFill>
                    <a:srgbClr val="C8161E"/>
                  </a:solidFill>
                  <a:latin typeface="Arial"/>
                  <a:ea typeface="Microsoft YaHei"/>
                  <a:cs typeface="Arial"/>
                </a:rPr>
                <a:t>人工智能</a:t>
              </a:r>
              <a:r>
                <a:rPr lang="zh-CN" sz="4000" b="1" dirty="0">
                  <a:solidFill>
                    <a:srgbClr val="1B1C21"/>
                  </a:solidFill>
                  <a:latin typeface="Arial"/>
                  <a:ea typeface="Microsoft YaHei"/>
                  <a:cs typeface="Arial"/>
                </a:rPr>
                <a:t>辅助评价系统</a:t>
              </a:r>
            </a:p>
          </p:txBody>
        </p:sp>
      </p:grpSp>
      <p:grpSp>
        <p:nvGrpSpPr>
          <p:cNvPr id="13" name="Group 13"/>
          <p:cNvGrpSpPr/>
          <p:nvPr/>
        </p:nvGrpSpPr>
        <p:grpSpPr>
          <a:xfrm>
            <a:off x="3942083" y="4208807"/>
            <a:ext cx="2813880" cy="801319"/>
            <a:chOff x="3942083" y="4208807"/>
            <a:chExt cx="2813880" cy="801319"/>
          </a:xfrm>
        </p:grpSpPr>
        <p:sp>
          <p:nvSpPr>
            <p:cNvPr id="10" name="TextBox 10"/>
            <p:cNvSpPr txBox="1"/>
            <p:nvPr/>
          </p:nvSpPr>
          <p:spPr>
            <a:xfrm>
              <a:off x="3942083" y="4208807"/>
              <a:ext cx="2813880" cy="325069"/>
            </a:xfrm>
            <a:prstGeom prst="rect">
              <a:avLst/>
            </a:prstGeom>
            <a:noFill/>
            <a:ln>
              <a:noFill/>
            </a:ln>
          </p:spPr>
          <p:txBody>
            <a:bodyPr wrap="none" lIns="0" tIns="0" rIns="0" bIns="0" anchor="t" anchorCtr="0">
              <a:spAutoFit/>
            </a:bodyPr>
            <a:lstStyle/>
            <a:p>
              <a:pPr algn="l"/>
              <a:r>
                <a:rPr lang="zh-CN" sz="1600" dirty="0">
                  <a:solidFill>
                    <a:srgbClr val="5A6472"/>
                  </a:solidFill>
                  <a:latin typeface="Arial"/>
                  <a:ea typeface="Microsoft YaHei"/>
                  <a:cs typeface="Arial"/>
                </a:rPr>
                <a:t>上海交通大学人工智能研究院</a:t>
              </a:r>
            </a:p>
          </p:txBody>
        </p:sp>
        <p:sp>
          <p:nvSpPr>
            <p:cNvPr id="11" name="TextBox 11"/>
            <p:cNvSpPr txBox="1"/>
            <p:nvPr/>
          </p:nvSpPr>
          <p:spPr>
            <a:xfrm>
              <a:off x="3942083" y="4446932"/>
              <a:ext cx="680614" cy="325069"/>
            </a:xfrm>
            <a:prstGeom prst="rect">
              <a:avLst/>
            </a:prstGeom>
            <a:noFill/>
            <a:ln>
              <a:noFill/>
            </a:ln>
          </p:spPr>
          <p:txBody>
            <a:bodyPr wrap="none" lIns="0" tIns="0" rIns="0" bIns="0" anchor="t" anchorCtr="0">
              <a:spAutoFit/>
            </a:bodyPr>
            <a:lstStyle/>
            <a:p>
              <a:pPr algn="l"/>
              <a:r>
                <a:rPr lang="zh-CN" sz="1600" dirty="0">
                  <a:solidFill>
                    <a:srgbClr val="5A6472"/>
                  </a:solidFill>
                  <a:latin typeface="Arial"/>
                  <a:ea typeface="Microsoft YaHei"/>
                  <a:cs typeface="Arial"/>
                </a:rPr>
                <a:t>金耀辉</a:t>
              </a:r>
            </a:p>
          </p:txBody>
        </p:sp>
        <p:sp>
          <p:nvSpPr>
            <p:cNvPr id="12" name="TextBox 12"/>
            <p:cNvSpPr txBox="1"/>
            <p:nvPr/>
          </p:nvSpPr>
          <p:spPr>
            <a:xfrm>
              <a:off x="3942083" y="4685057"/>
              <a:ext cx="1053935" cy="325069"/>
            </a:xfrm>
            <a:prstGeom prst="rect">
              <a:avLst/>
            </a:prstGeom>
            <a:noFill/>
            <a:ln>
              <a:noFill/>
            </a:ln>
          </p:spPr>
          <p:txBody>
            <a:bodyPr wrap="none" lIns="0" tIns="0" rIns="0" bIns="0" anchor="t" anchorCtr="0">
              <a:spAutoFit/>
            </a:bodyPr>
            <a:lstStyle/>
            <a:p>
              <a:pPr algn="l"/>
              <a:r>
                <a:rPr lang="zh-CN" sz="1600" dirty="0">
                  <a:solidFill>
                    <a:srgbClr val="5A6472"/>
                  </a:solidFill>
                  <a:latin typeface="Arial"/>
                  <a:ea typeface="Microsoft YaHei"/>
                  <a:cs typeface="Arial"/>
                </a:rPr>
                <a:t>2026年6月</a:t>
              </a:r>
            </a:p>
          </p:txBody>
        </p:sp>
      </p:grpSp>
      <p:sp>
        <p:nvSpPr>
          <p:cNvPr id="14" name="Rectangle 14"/>
          <p:cNvSpPr/>
          <p:nvPr/>
        </p:nvSpPr>
        <p:spPr>
          <a:xfrm>
            <a:off x="0" y="6819900"/>
            <a:ext cx="12192000" cy="38100"/>
          </a:xfrm>
          <a:prstGeom prst="rect">
            <a:avLst/>
          </a:prstGeom>
          <a:gradFill>
            <a:gsLst>
              <a:gs pos="0">
                <a:srgbClr val="C8161E"/>
              </a:gs>
              <a:gs pos="100000">
                <a:srgbClr val="1F4D78"/>
              </a:gs>
            </a:gsLst>
            <a:lin ang="0" scaled="1"/>
          </a:gradFill>
          <a:ln>
            <a:noFill/>
          </a:ln>
        </p:spPr>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5206497"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传统学术评价的“不可能三角”</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7" name="Group 17"/>
          <p:cNvGrpSpPr/>
          <p:nvPr/>
        </p:nvGrpSpPr>
        <p:grpSpPr>
          <a:xfrm>
            <a:off x="1605844" y="1465607"/>
            <a:ext cx="4046363" cy="4077919"/>
            <a:chOff x="1605844" y="1465607"/>
            <a:chExt cx="4046363" cy="4077919"/>
          </a:xfrm>
        </p:grpSpPr>
        <p:sp>
          <p:nvSpPr>
            <p:cNvPr id="8" name="Polygon 8"/>
            <p:cNvSpPr/>
            <p:nvPr/>
          </p:nvSpPr>
          <p:spPr>
            <a:xfrm>
              <a:off x="2190750" y="1905000"/>
              <a:ext cx="2857500" cy="3048000"/>
            </a:xfrm>
            <a:custGeom>
              <a:avLst/>
              <a:gdLst/>
              <a:ahLst/>
              <a:cxnLst/>
              <a:rect l="l" t="t" r="r" b="b"/>
              <a:pathLst>
                <a:path w="2857500" h="3048000">
                  <a:moveTo>
                    <a:pt x="1428750" y="0"/>
                  </a:moveTo>
                  <a:lnTo>
                    <a:pt x="0" y="3048000"/>
                  </a:lnTo>
                  <a:lnTo>
                    <a:pt x="2857500" y="3048000"/>
                  </a:lnTo>
                  <a:close/>
                </a:path>
              </a:pathLst>
            </a:custGeom>
            <a:solidFill>
              <a:srgbClr val="1F4D78">
                <a:alpha val="6000"/>
              </a:srgbClr>
            </a:solidFill>
            <a:ln w="19050">
              <a:solidFill>
                <a:srgbClr val="1F4D78"/>
              </a:solidFill>
            </a:ln>
          </p:spPr>
        </p:sp>
        <p:sp>
          <p:nvSpPr>
            <p:cNvPr id="9" name="Ellipse 9"/>
            <p:cNvSpPr/>
            <p:nvPr/>
          </p:nvSpPr>
          <p:spPr>
            <a:xfrm>
              <a:off x="3409950" y="1695450"/>
              <a:ext cx="419100" cy="419100"/>
            </a:xfrm>
            <a:prstGeom prst="ellipse">
              <a:avLst/>
            </a:prstGeom>
            <a:solidFill>
              <a:srgbClr val="C8161E"/>
            </a:solidFill>
            <a:ln>
              <a:noFill/>
            </a:ln>
          </p:spPr>
        </p:sp>
        <p:sp>
          <p:nvSpPr>
            <p:cNvPr id="10" name="Ellipse 10"/>
            <p:cNvSpPr/>
            <p:nvPr/>
          </p:nvSpPr>
          <p:spPr>
            <a:xfrm>
              <a:off x="1981200" y="4743450"/>
              <a:ext cx="419100" cy="419100"/>
            </a:xfrm>
            <a:prstGeom prst="ellipse">
              <a:avLst/>
            </a:prstGeom>
            <a:solidFill>
              <a:srgbClr val="1F4D78"/>
            </a:solidFill>
            <a:ln>
              <a:noFill/>
            </a:ln>
          </p:spPr>
        </p:sp>
        <p:sp>
          <p:nvSpPr>
            <p:cNvPr id="11" name="Ellipse 11"/>
            <p:cNvSpPr/>
            <p:nvPr/>
          </p:nvSpPr>
          <p:spPr>
            <a:xfrm>
              <a:off x="4838700" y="4743450"/>
              <a:ext cx="419100" cy="419100"/>
            </a:xfrm>
            <a:prstGeom prst="ellipse">
              <a:avLst/>
            </a:prstGeom>
            <a:solidFill>
              <a:srgbClr val="44546A"/>
            </a:solidFill>
            <a:ln>
              <a:noFill/>
            </a:ln>
          </p:spPr>
        </p:sp>
        <p:sp>
          <p:nvSpPr>
            <p:cNvPr id="12" name="TextBox 12"/>
            <p:cNvSpPr txBox="1"/>
            <p:nvPr/>
          </p:nvSpPr>
          <p:spPr>
            <a:xfrm>
              <a:off x="2966561" y="3691890"/>
              <a:ext cx="1305878" cy="365760"/>
            </a:xfrm>
            <a:prstGeom prst="rect">
              <a:avLst/>
            </a:prstGeom>
            <a:noFill/>
            <a:ln>
              <a:noFill/>
            </a:ln>
          </p:spPr>
          <p:txBody>
            <a:bodyPr wrap="none" lIns="0" tIns="0" rIns="0" bIns="0" anchor="t" anchorCtr="0">
              <a:spAutoFit/>
            </a:bodyPr>
            <a:lstStyle/>
            <a:p>
              <a:pPr algn="ctr"/>
              <a:r>
                <a:rPr lang="zh-CN" sz="1800" b="1" dirty="0">
                  <a:solidFill>
                    <a:srgbClr val="C8161E"/>
                  </a:solidFill>
                  <a:latin typeface="Arial"/>
                  <a:ea typeface="Microsoft YaHei"/>
                  <a:cs typeface="Arial"/>
                </a:rPr>
                <a:t>不可能三角</a:t>
              </a:r>
            </a:p>
          </p:txBody>
        </p:sp>
        <p:sp>
          <p:nvSpPr>
            <p:cNvPr id="13" name="TextBox 13"/>
            <p:cNvSpPr txBox="1"/>
            <p:nvPr/>
          </p:nvSpPr>
          <p:spPr>
            <a:xfrm>
              <a:off x="3041547" y="4058893"/>
              <a:ext cx="115590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三者难以兼得</a:t>
              </a:r>
            </a:p>
          </p:txBody>
        </p:sp>
        <p:sp>
          <p:nvSpPr>
            <p:cNvPr id="14" name="TextBox 14"/>
            <p:cNvSpPr txBox="1"/>
            <p:nvPr/>
          </p:nvSpPr>
          <p:spPr>
            <a:xfrm>
              <a:off x="3151197" y="1465607"/>
              <a:ext cx="936606"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标准统一</a:t>
              </a:r>
            </a:p>
          </p:txBody>
        </p:sp>
        <p:sp>
          <p:nvSpPr>
            <p:cNvPr id="15" name="TextBox 15"/>
            <p:cNvSpPr txBox="1"/>
            <p:nvPr/>
          </p:nvSpPr>
          <p:spPr>
            <a:xfrm>
              <a:off x="1605844" y="5218457"/>
              <a:ext cx="712613"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高效率</a:t>
              </a:r>
            </a:p>
          </p:txBody>
        </p:sp>
        <p:sp>
          <p:nvSpPr>
            <p:cNvPr id="16" name="TextBox 16"/>
            <p:cNvSpPr txBox="1"/>
            <p:nvPr/>
          </p:nvSpPr>
          <p:spPr>
            <a:xfrm>
              <a:off x="4939594" y="5218457"/>
              <a:ext cx="712613" cy="325069"/>
            </a:xfrm>
            <a:prstGeom prst="rect">
              <a:avLst/>
            </a:prstGeom>
            <a:noFill/>
            <a:ln>
              <a:noFill/>
            </a:ln>
          </p:spPr>
          <p:txBody>
            <a:bodyPr wrap="none" lIns="0" tIns="0" rIns="0" bIns="0" anchor="t" anchorCtr="0">
              <a:spAutoFit/>
            </a:bodyPr>
            <a:lstStyle/>
            <a:p>
              <a:pPr algn="ctr"/>
              <a:r>
                <a:rPr lang="zh-CN" sz="1600" b="1" dirty="0">
                  <a:solidFill>
                    <a:srgbClr val="44546A"/>
                  </a:solidFill>
                  <a:latin typeface="Arial"/>
                  <a:ea typeface="Microsoft YaHei"/>
                  <a:cs typeface="Arial"/>
                </a:rPr>
                <a:t>规模化</a:t>
              </a:r>
            </a:p>
          </p:txBody>
        </p:sp>
      </p:grpSp>
      <p:grpSp>
        <p:nvGrpSpPr>
          <p:cNvPr id="23" name="Group 23"/>
          <p:cNvGrpSpPr/>
          <p:nvPr/>
        </p:nvGrpSpPr>
        <p:grpSpPr>
          <a:xfrm>
            <a:off x="6096000" y="1333500"/>
            <a:ext cx="5410200" cy="1314450"/>
            <a:chOff x="6096000" y="1333500"/>
            <a:chExt cx="5410200" cy="1314450"/>
          </a:xfrm>
        </p:grpSpPr>
        <p:sp>
          <p:nvSpPr>
            <p:cNvPr id="18" name="Rectangle 18"/>
            <p:cNvSpPr/>
            <p:nvPr/>
          </p:nvSpPr>
          <p:spPr>
            <a:xfrm>
              <a:off x="6096000" y="1333500"/>
              <a:ext cx="5410200" cy="1314450"/>
            </a:xfrm>
            <a:prstGeom prst="roundRect">
              <a:avLst>
                <a:gd name="adj" fmla="val 11594"/>
              </a:avLst>
            </a:prstGeom>
            <a:solidFill>
              <a:srgbClr val="FFFFFF"/>
            </a:solidFill>
            <a:ln w="14288">
              <a:solidFill>
                <a:srgbClr val="D9DEE5"/>
              </a:solidFill>
            </a:ln>
          </p:spPr>
        </p:sp>
        <p:sp>
          <p:nvSpPr>
            <p:cNvPr id="19" name="Rectangle 19"/>
            <p:cNvSpPr/>
            <p:nvPr/>
          </p:nvSpPr>
          <p:spPr>
            <a:xfrm>
              <a:off x="6096000" y="1333500"/>
              <a:ext cx="57150" cy="1314450"/>
            </a:xfrm>
            <a:prstGeom prst="roundRect">
              <a:avLst>
                <a:gd name="adj" fmla="val 50000"/>
              </a:avLst>
            </a:prstGeom>
            <a:solidFill>
              <a:srgbClr val="C8161E"/>
            </a:solidFill>
            <a:ln>
              <a:noFill/>
            </a:ln>
          </p:spPr>
        </p:sp>
        <p:sp>
          <p:nvSpPr>
            <p:cNvPr id="20" name="TextBox 20"/>
            <p:cNvSpPr txBox="1"/>
            <p:nvPr/>
          </p:nvSpPr>
          <p:spPr>
            <a:xfrm>
              <a:off x="6489697" y="1574773"/>
              <a:ext cx="1171086"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标准不一</a:t>
              </a:r>
            </a:p>
          </p:txBody>
        </p:sp>
        <p:sp>
          <p:nvSpPr>
            <p:cNvPr id="21" name="TextBox 21"/>
            <p:cNvSpPr txBox="1"/>
            <p:nvPr/>
          </p:nvSpPr>
          <p:spPr>
            <a:xfrm>
              <a:off x="6497317" y="2020543"/>
              <a:ext cx="3770033"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依赖专家主观经验，不同评审人尺度差异大，</a:t>
              </a:r>
            </a:p>
          </p:txBody>
        </p:sp>
        <p:sp>
          <p:nvSpPr>
            <p:cNvPr id="22" name="TextBox 22"/>
            <p:cNvSpPr txBox="1"/>
            <p:nvPr/>
          </p:nvSpPr>
          <p:spPr>
            <a:xfrm>
              <a:off x="6497317" y="2287243"/>
              <a:ext cx="302314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同一篇论文评价结论可能相差悬殊。</a:t>
              </a:r>
            </a:p>
          </p:txBody>
        </p:sp>
      </p:grpSp>
      <p:grpSp>
        <p:nvGrpSpPr>
          <p:cNvPr id="29" name="Group 29"/>
          <p:cNvGrpSpPr/>
          <p:nvPr/>
        </p:nvGrpSpPr>
        <p:grpSpPr>
          <a:xfrm>
            <a:off x="6096000" y="2819400"/>
            <a:ext cx="5410200" cy="1314450"/>
            <a:chOff x="6096000" y="2819400"/>
            <a:chExt cx="5410200" cy="1314450"/>
          </a:xfrm>
        </p:grpSpPr>
        <p:sp>
          <p:nvSpPr>
            <p:cNvPr id="24" name="Rectangle 24"/>
            <p:cNvSpPr/>
            <p:nvPr/>
          </p:nvSpPr>
          <p:spPr>
            <a:xfrm>
              <a:off x="6096000" y="2819400"/>
              <a:ext cx="5410200" cy="1314450"/>
            </a:xfrm>
            <a:prstGeom prst="roundRect">
              <a:avLst>
                <a:gd name="adj" fmla="val 11594"/>
              </a:avLst>
            </a:prstGeom>
            <a:solidFill>
              <a:srgbClr val="FFFFFF"/>
            </a:solidFill>
            <a:ln w="14288">
              <a:solidFill>
                <a:srgbClr val="D9DEE5"/>
              </a:solidFill>
            </a:ln>
          </p:spPr>
        </p:sp>
        <p:sp>
          <p:nvSpPr>
            <p:cNvPr id="25" name="Rectangle 25"/>
            <p:cNvSpPr/>
            <p:nvPr/>
          </p:nvSpPr>
          <p:spPr>
            <a:xfrm>
              <a:off x="6096000" y="2819400"/>
              <a:ext cx="57150" cy="1314450"/>
            </a:xfrm>
            <a:prstGeom prst="roundRect">
              <a:avLst>
                <a:gd name="adj" fmla="val 50000"/>
              </a:avLst>
            </a:prstGeom>
            <a:solidFill>
              <a:srgbClr val="1F4D78"/>
            </a:solidFill>
            <a:ln>
              <a:noFill/>
            </a:ln>
          </p:spPr>
        </p:sp>
        <p:sp>
          <p:nvSpPr>
            <p:cNvPr id="26" name="TextBox 26"/>
            <p:cNvSpPr txBox="1"/>
            <p:nvPr/>
          </p:nvSpPr>
          <p:spPr>
            <a:xfrm>
              <a:off x="6489697" y="3060673"/>
              <a:ext cx="1171086"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效率低下</a:t>
              </a:r>
            </a:p>
          </p:txBody>
        </p:sp>
        <p:sp>
          <p:nvSpPr>
            <p:cNvPr id="27" name="TextBox 27"/>
            <p:cNvSpPr txBox="1"/>
            <p:nvPr/>
          </p:nvSpPr>
          <p:spPr>
            <a:xfrm>
              <a:off x="6497317" y="3506443"/>
              <a:ext cx="339658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评审周期漫长（数周到数月），专家调度</a:t>
              </a:r>
            </a:p>
          </p:txBody>
        </p:sp>
        <p:sp>
          <p:nvSpPr>
            <p:cNvPr id="28" name="TextBox 28"/>
            <p:cNvSpPr txBox="1"/>
            <p:nvPr/>
          </p:nvSpPr>
          <p:spPr>
            <a:xfrm>
              <a:off x="6497317" y="3773143"/>
              <a:ext cx="302314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成本高，难以快速响应大批量需求。</a:t>
              </a:r>
            </a:p>
          </p:txBody>
        </p:sp>
      </p:grpSp>
      <p:grpSp>
        <p:nvGrpSpPr>
          <p:cNvPr id="35" name="Group 35"/>
          <p:cNvGrpSpPr/>
          <p:nvPr/>
        </p:nvGrpSpPr>
        <p:grpSpPr>
          <a:xfrm>
            <a:off x="6096000" y="4305300"/>
            <a:ext cx="5410200" cy="1314450"/>
            <a:chOff x="6096000" y="4305300"/>
            <a:chExt cx="5410200" cy="1314450"/>
          </a:xfrm>
        </p:grpSpPr>
        <p:sp>
          <p:nvSpPr>
            <p:cNvPr id="30" name="Rectangle 30"/>
            <p:cNvSpPr/>
            <p:nvPr/>
          </p:nvSpPr>
          <p:spPr>
            <a:xfrm>
              <a:off x="6096000" y="4305300"/>
              <a:ext cx="5410200" cy="1314450"/>
            </a:xfrm>
            <a:prstGeom prst="roundRect">
              <a:avLst>
                <a:gd name="adj" fmla="val 11594"/>
              </a:avLst>
            </a:prstGeom>
            <a:solidFill>
              <a:srgbClr val="FFFFFF"/>
            </a:solidFill>
            <a:ln w="14288">
              <a:solidFill>
                <a:srgbClr val="D9DEE5"/>
              </a:solidFill>
            </a:ln>
          </p:spPr>
        </p:sp>
        <p:sp>
          <p:nvSpPr>
            <p:cNvPr id="31" name="Rectangle 31"/>
            <p:cNvSpPr/>
            <p:nvPr/>
          </p:nvSpPr>
          <p:spPr>
            <a:xfrm>
              <a:off x="6096000" y="4305300"/>
              <a:ext cx="57150" cy="1314450"/>
            </a:xfrm>
            <a:prstGeom prst="roundRect">
              <a:avLst>
                <a:gd name="adj" fmla="val 50000"/>
              </a:avLst>
            </a:prstGeom>
            <a:solidFill>
              <a:srgbClr val="44546A"/>
            </a:solidFill>
            <a:ln>
              <a:noFill/>
            </a:ln>
          </p:spPr>
        </p:sp>
        <p:sp>
          <p:nvSpPr>
            <p:cNvPr id="32" name="TextBox 32"/>
            <p:cNvSpPr txBox="1"/>
            <p:nvPr/>
          </p:nvSpPr>
          <p:spPr>
            <a:xfrm>
              <a:off x="6489697" y="4546573"/>
              <a:ext cx="1171086"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规模化难</a:t>
              </a:r>
            </a:p>
          </p:txBody>
        </p:sp>
        <p:sp>
          <p:nvSpPr>
            <p:cNvPr id="33" name="TextBox 33"/>
            <p:cNvSpPr txBox="1"/>
            <p:nvPr/>
          </p:nvSpPr>
          <p:spPr>
            <a:xfrm>
              <a:off x="6497317" y="4992343"/>
              <a:ext cx="3312561"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 xml:space="preserve">面对近 10 年法学三大刊 </a:t>
              </a:r>
              <a:r>
                <a:rPr lang="zh-CN" sz="1400" b="1" dirty="0">
                  <a:solidFill>
                    <a:srgbClr val="C8161E"/>
                  </a:solidFill>
                  <a:latin typeface="Arial"/>
                  <a:ea typeface="Microsoft YaHei"/>
                  <a:cs typeface="Arial"/>
                </a:rPr>
                <a:t>~1920 篇</a:t>
              </a:r>
              <a:r>
                <a:rPr lang="zh-CN" sz="1400" dirty="0">
                  <a:solidFill>
                    <a:srgbClr val="5A6472"/>
                  </a:solidFill>
                  <a:latin typeface="Arial"/>
                  <a:ea typeface="Microsoft YaHei"/>
                  <a:cs typeface="Arial"/>
                </a:rPr>
                <a:t>论文，</a:t>
              </a:r>
            </a:p>
          </p:txBody>
        </p:sp>
        <p:sp>
          <p:nvSpPr>
            <p:cNvPr id="34" name="TextBox 34"/>
            <p:cNvSpPr txBox="1"/>
            <p:nvPr/>
          </p:nvSpPr>
          <p:spPr>
            <a:xfrm>
              <a:off x="6497317" y="5259043"/>
              <a:ext cx="302314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人工逐一评审在现实中几乎不可行。</a:t>
              </a:r>
            </a:p>
          </p:txBody>
        </p:sp>
      </p:grpSp>
      <p:grpSp>
        <p:nvGrpSpPr>
          <p:cNvPr id="39" name="Group 39"/>
          <p:cNvGrpSpPr/>
          <p:nvPr/>
        </p:nvGrpSpPr>
        <p:grpSpPr>
          <a:xfrm>
            <a:off x="0" y="6516343"/>
            <a:ext cx="12192000" cy="341657"/>
            <a:chOff x="0" y="6516343"/>
            <a:chExt cx="12192000" cy="341657"/>
          </a:xfrm>
        </p:grpSpPr>
        <p:sp>
          <p:nvSpPr>
            <p:cNvPr id="36" name="Rectangle 36"/>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37" name="TextBox 37"/>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38" name="TextBox 38"/>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slide(fromBottom)">
                                      <p:cBhvr>
                                        <p:cTn id="7" dur="400"/>
                                        <p:tgtEl>
                                          <p:spTgt spid="17"/>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image">
                                      <p:cBhvr>
                                        <p:cTn id="11" dur="400"/>
                                        <p:tgtEl>
                                          <p:spTgt spid="2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left)">
                                      <p:cBhvr>
                                        <p:cTn id="1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P spid="29"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815212"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项目目标与定位</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4" name="Group 14"/>
          <p:cNvGrpSpPr/>
          <p:nvPr/>
        </p:nvGrpSpPr>
        <p:grpSpPr>
          <a:xfrm>
            <a:off x="685800" y="1104900"/>
            <a:ext cx="10820400" cy="1181100"/>
            <a:chOff x="685800" y="1104900"/>
            <a:chExt cx="10820400" cy="1181100"/>
          </a:xfrm>
        </p:grpSpPr>
        <p:sp>
          <p:nvSpPr>
            <p:cNvPr id="8" name="Rectangle 8"/>
            <p:cNvSpPr/>
            <p:nvPr/>
          </p:nvSpPr>
          <p:spPr>
            <a:xfrm>
              <a:off x="685800" y="1104900"/>
              <a:ext cx="10820400" cy="1181100"/>
            </a:xfrm>
            <a:prstGeom prst="roundRect">
              <a:avLst>
                <a:gd name="adj" fmla="val 12903"/>
              </a:avLst>
            </a:prstGeom>
            <a:solidFill>
              <a:srgbClr val="1F4D78"/>
            </a:solidFill>
            <a:ln>
              <a:noFill/>
            </a:ln>
          </p:spPr>
        </p:sp>
        <p:sp>
          <p:nvSpPr>
            <p:cNvPr id="9" name="TextBox 9"/>
            <p:cNvSpPr txBox="1"/>
            <p:nvPr/>
          </p:nvSpPr>
          <p:spPr>
            <a:xfrm>
              <a:off x="970283" y="1370357"/>
              <a:ext cx="893940" cy="325069"/>
            </a:xfrm>
            <a:prstGeom prst="rect">
              <a:avLst/>
            </a:prstGeom>
            <a:noFill/>
            <a:ln>
              <a:noFill/>
            </a:ln>
          </p:spPr>
          <p:txBody>
            <a:bodyPr wrap="none" lIns="0" tIns="0" rIns="0" bIns="0" anchor="t" anchorCtr="0">
              <a:spAutoFit/>
            </a:bodyPr>
            <a:lstStyle/>
            <a:p>
              <a:pPr algn="l"/>
              <a:r>
                <a:rPr lang="zh-CN" sz="1600" dirty="0">
                  <a:solidFill>
                    <a:srgbClr val="FFFFFF">
                      <a:alphaMod val="85000"/>
                    </a:srgbClr>
                  </a:solidFill>
                  <a:latin typeface="Arial"/>
                  <a:ea typeface="Microsoft YaHei"/>
                  <a:cs typeface="Arial"/>
                </a:rPr>
                <a:t>核心目标</a:t>
              </a:r>
            </a:p>
          </p:txBody>
        </p:sp>
        <p:sp>
          <p:nvSpPr>
            <p:cNvPr id="10" name="TextBox 10"/>
            <p:cNvSpPr txBox="1"/>
            <p:nvPr/>
          </p:nvSpPr>
          <p:spPr>
            <a:xfrm>
              <a:off x="962025" y="1700212"/>
              <a:ext cx="6846249"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构建面向“自主知识体系”的 AI 辅助学术评价系统</a:t>
              </a:r>
            </a:p>
          </p:txBody>
        </p:sp>
        <p:sp>
          <p:nvSpPr>
            <p:cNvPr id="11" name="Line 11"/>
            <p:cNvSpPr/>
            <p:nvPr/>
          </p:nvSpPr>
          <p:spPr>
            <a:xfrm>
              <a:off x="7620000" y="1390650"/>
              <a:ext cx="9525" cy="609600"/>
            </a:xfrm>
            <a:custGeom>
              <a:avLst/>
              <a:gdLst/>
              <a:ahLst/>
              <a:cxnLst/>
              <a:rect l="l" t="t" r="r" b="b"/>
              <a:pathLst>
                <a:path w="9525" h="609600">
                  <a:moveTo>
                    <a:pt x="0" y="0"/>
                  </a:moveTo>
                  <a:lnTo>
                    <a:pt x="0" y="609600"/>
                  </a:lnTo>
                </a:path>
              </a:pathLst>
            </a:custGeom>
            <a:noFill/>
            <a:ln w="9525">
              <a:solidFill>
                <a:srgbClr val="FFFFFF">
                  <a:alpha val="30000"/>
                </a:srgbClr>
              </a:solidFill>
            </a:ln>
          </p:spPr>
        </p:sp>
        <p:sp>
          <p:nvSpPr>
            <p:cNvPr id="12" name="TextBox 12"/>
            <p:cNvSpPr txBox="1"/>
            <p:nvPr/>
          </p:nvSpPr>
          <p:spPr>
            <a:xfrm>
              <a:off x="7904483" y="1370357"/>
              <a:ext cx="680614" cy="325069"/>
            </a:xfrm>
            <a:prstGeom prst="rect">
              <a:avLst/>
            </a:prstGeom>
            <a:noFill/>
            <a:ln>
              <a:noFill/>
            </a:ln>
          </p:spPr>
          <p:txBody>
            <a:bodyPr wrap="none" lIns="0" tIns="0" rIns="0" bIns="0" anchor="t" anchorCtr="0">
              <a:spAutoFit/>
            </a:bodyPr>
            <a:lstStyle/>
            <a:p>
              <a:pPr algn="l"/>
              <a:r>
                <a:rPr lang="zh-CN" sz="1600" dirty="0">
                  <a:solidFill>
                    <a:srgbClr val="FFFFFF">
                      <a:alphaMod val="85000"/>
                    </a:srgbClr>
                  </a:solidFill>
                  <a:latin typeface="Arial"/>
                  <a:ea typeface="Microsoft YaHei"/>
                  <a:cs typeface="Arial"/>
                </a:rPr>
                <a:t>切入点</a:t>
              </a:r>
            </a:p>
          </p:txBody>
        </p:sp>
        <p:sp>
          <p:nvSpPr>
            <p:cNvPr id="13" name="TextBox 13"/>
            <p:cNvSpPr txBox="1"/>
            <p:nvPr/>
          </p:nvSpPr>
          <p:spPr>
            <a:xfrm>
              <a:off x="7899397" y="1727173"/>
              <a:ext cx="1731226" cy="406451"/>
            </a:xfrm>
            <a:prstGeom prst="rect">
              <a:avLst/>
            </a:prstGeom>
            <a:noFill/>
            <a:ln>
              <a:noFill/>
            </a:ln>
          </p:spPr>
          <p:txBody>
            <a:bodyPr wrap="none" lIns="0" tIns="0" rIns="0" bIns="0" anchor="t" anchorCtr="0">
              <a:spAutoFit/>
            </a:bodyPr>
            <a:lstStyle/>
            <a:p>
              <a:pPr algn="l"/>
              <a:r>
                <a:rPr lang="zh-CN" sz="2000" b="1" dirty="0">
                  <a:solidFill>
                    <a:srgbClr val="FFFFFF"/>
                  </a:solidFill>
                  <a:latin typeface="Arial"/>
                  <a:ea typeface="Microsoft YaHei"/>
                  <a:cs typeface="Arial"/>
                </a:rPr>
                <a:t>法学论文评审</a:t>
              </a:r>
            </a:p>
          </p:txBody>
        </p:sp>
      </p:grpSp>
      <p:grpSp>
        <p:nvGrpSpPr>
          <p:cNvPr id="16" name="Group 16"/>
          <p:cNvGrpSpPr/>
          <p:nvPr/>
        </p:nvGrpSpPr>
        <p:grpSpPr>
          <a:xfrm>
            <a:off x="657863" y="2600987"/>
            <a:ext cx="5030130" cy="446989"/>
            <a:chOff x="657863" y="2600987"/>
            <a:chExt cx="5030130" cy="446989"/>
          </a:xfrm>
        </p:grpSpPr>
        <p:sp>
          <p:nvSpPr>
            <p:cNvPr id="15" name="TextBox 15"/>
            <p:cNvSpPr txBox="1"/>
            <p:nvPr/>
          </p:nvSpPr>
          <p:spPr>
            <a:xfrm>
              <a:off x="657863" y="2600987"/>
              <a:ext cx="5030130" cy="446989"/>
            </a:xfrm>
            <a:prstGeom prst="rect">
              <a:avLst/>
            </a:prstGeom>
            <a:noFill/>
            <a:ln>
              <a:noFill/>
            </a:ln>
          </p:spPr>
          <p:txBody>
            <a:bodyPr wrap="none" lIns="0" tIns="0" rIns="0" bIns="0" anchor="t" anchorCtr="0">
              <a:spAutoFit/>
            </a:bodyPr>
            <a:lstStyle/>
            <a:p>
              <a:pPr algn="l"/>
              <a:r>
                <a:rPr lang="zh-CN" sz="2200" b="1" dirty="0">
                  <a:solidFill>
                    <a:srgbClr val="1B1C21"/>
                  </a:solidFill>
                  <a:latin typeface="Arial"/>
                  <a:ea typeface="Microsoft YaHei"/>
                  <a:cs typeface="Arial"/>
                </a:rPr>
                <a:t>AI 定位：</a:t>
              </a:r>
              <a:r>
                <a:rPr lang="zh-CN" sz="2200" b="1" dirty="0">
                  <a:solidFill>
                    <a:srgbClr val="C8161E"/>
                  </a:solidFill>
                  <a:latin typeface="Arial"/>
                  <a:ea typeface="Microsoft YaHei"/>
                  <a:cs typeface="Arial"/>
                </a:rPr>
                <a:t>辅助初筛，不替代专家终审</a:t>
              </a:r>
            </a:p>
          </p:txBody>
        </p:sp>
      </p:grpSp>
      <p:grpSp>
        <p:nvGrpSpPr>
          <p:cNvPr id="26" name="Group 26"/>
          <p:cNvGrpSpPr/>
          <p:nvPr/>
        </p:nvGrpSpPr>
        <p:grpSpPr>
          <a:xfrm>
            <a:off x="685800" y="3124200"/>
            <a:ext cx="5257800" cy="2971800"/>
            <a:chOff x="685800" y="3124200"/>
            <a:chExt cx="5257800" cy="2971800"/>
          </a:xfrm>
        </p:grpSpPr>
        <p:sp>
          <p:nvSpPr>
            <p:cNvPr id="17" name="Rectangle 17"/>
            <p:cNvSpPr/>
            <p:nvPr/>
          </p:nvSpPr>
          <p:spPr>
            <a:xfrm>
              <a:off x="685800" y="3124200"/>
              <a:ext cx="5257800" cy="2971800"/>
            </a:xfrm>
            <a:prstGeom prst="roundRect">
              <a:avLst>
                <a:gd name="adj" fmla="val 5128"/>
              </a:avLst>
            </a:prstGeom>
            <a:solidFill>
              <a:srgbClr val="2E7D32">
                <a:alpha val="6000"/>
              </a:srgbClr>
            </a:solidFill>
            <a:ln w="14288">
              <a:solidFill>
                <a:srgbClr val="2E7D32"/>
              </a:solidFill>
            </a:ln>
          </p:spPr>
        </p:sp>
        <p:grpSp>
          <p:nvGrpSpPr>
            <p:cNvPr id="20" name="Group 20"/>
            <p:cNvGrpSpPr/>
            <p:nvPr/>
          </p:nvGrpSpPr>
          <p:grpSpPr>
            <a:xfrm>
              <a:off x="1035844" y="3436144"/>
              <a:ext cx="271462" cy="271462"/>
              <a:chOff x="1035844" y="3436144"/>
              <a:chExt cx="271462" cy="271462"/>
            </a:xfrm>
          </p:grpSpPr>
          <p:sp>
            <p:nvSpPr>
              <p:cNvPr id="18" name="Freeform 18"/>
              <p:cNvSpPr/>
              <p:nvPr/>
            </p:nvSpPr>
            <p:spPr>
              <a:xfrm>
                <a:off x="1035844" y="3436144"/>
                <a:ext cx="271462" cy="271462"/>
              </a:xfrm>
              <a:custGeom>
                <a:avLst/>
                <a:gdLst/>
                <a:ahLst/>
                <a:cxnLst/>
                <a:rect l="l" t="t" r="r" b="b"/>
                <a:pathLst>
                  <a:path w="271462" h="271462">
                    <a:moveTo>
                      <a:pt x="0" y="135731"/>
                    </a:moveTo>
                    <a:cubicBezTo>
                      <a:pt x="0" y="210694"/>
                      <a:pt x="60769" y="271462"/>
                      <a:pt x="135731" y="271462"/>
                    </a:cubicBezTo>
                    <a:cubicBezTo>
                      <a:pt x="210694" y="271462"/>
                      <a:pt x="271462" y="210694"/>
                      <a:pt x="271462" y="135731"/>
                    </a:cubicBezTo>
                    <a:cubicBezTo>
                      <a:pt x="271462" y="60769"/>
                      <a:pt x="210694" y="0"/>
                      <a:pt x="135731" y="0"/>
                    </a:cubicBezTo>
                    <a:cubicBezTo>
                      <a:pt x="60769" y="0"/>
                      <a:pt x="0" y="60769"/>
                      <a:pt x="0" y="135731"/>
                    </a:cubicBezTo>
                  </a:path>
                </a:pathLst>
              </a:custGeom>
              <a:noFill/>
              <a:ln w="19050">
                <a:solidFill>
                  <a:srgbClr val="2E7D32"/>
                </a:solidFill>
              </a:ln>
            </p:spPr>
          </p:sp>
          <p:sp>
            <p:nvSpPr>
              <p:cNvPr id="19" name="Freeform 19"/>
              <p:cNvSpPr/>
              <p:nvPr/>
            </p:nvSpPr>
            <p:spPr>
              <a:xfrm>
                <a:off x="1126331" y="3541712"/>
                <a:ext cx="90488" cy="60325"/>
              </a:xfrm>
              <a:custGeom>
                <a:avLst/>
                <a:gdLst/>
                <a:ahLst/>
                <a:cxnLst/>
                <a:rect l="l" t="t" r="r" b="b"/>
                <a:pathLst>
                  <a:path w="90488" h="60325">
                    <a:moveTo>
                      <a:pt x="0" y="30163"/>
                    </a:moveTo>
                    <a:lnTo>
                      <a:pt x="30162" y="60325"/>
                    </a:lnTo>
                    <a:lnTo>
                      <a:pt x="90488" y="0"/>
                    </a:lnTo>
                  </a:path>
                </a:pathLst>
              </a:custGeom>
              <a:noFill/>
              <a:ln w="19050">
                <a:solidFill>
                  <a:srgbClr val="2E7D32"/>
                </a:solidFill>
              </a:ln>
            </p:spPr>
          </p:sp>
        </p:grpSp>
        <p:sp>
          <p:nvSpPr>
            <p:cNvPr id="21" name="TextBox 21"/>
            <p:cNvSpPr txBox="1"/>
            <p:nvPr/>
          </p:nvSpPr>
          <p:spPr>
            <a:xfrm>
              <a:off x="1457325" y="3433762"/>
              <a:ext cx="1364563" cy="457200"/>
            </a:xfrm>
            <a:prstGeom prst="rect">
              <a:avLst/>
            </a:prstGeom>
            <a:noFill/>
            <a:ln>
              <a:noFill/>
            </a:ln>
          </p:spPr>
          <p:txBody>
            <a:bodyPr wrap="none" lIns="0" tIns="0" rIns="0" bIns="0" anchor="t" anchorCtr="0">
              <a:spAutoFit/>
            </a:bodyPr>
            <a:lstStyle/>
            <a:p>
              <a:pPr algn="l"/>
              <a:r>
                <a:rPr lang="zh-CN" sz="2250" b="1" dirty="0">
                  <a:solidFill>
                    <a:srgbClr val="2E7D32"/>
                  </a:solidFill>
                  <a:latin typeface="Arial"/>
                  <a:ea typeface="Microsoft YaHei"/>
                  <a:cs typeface="Arial"/>
                </a:rPr>
                <a:t>AI 可以做</a:t>
              </a:r>
            </a:p>
          </p:txBody>
        </p:sp>
        <p:sp>
          <p:nvSpPr>
            <p:cNvPr id="22" name="TextBox 22"/>
            <p:cNvSpPr txBox="1"/>
            <p:nvPr/>
          </p:nvSpPr>
          <p:spPr>
            <a:xfrm>
              <a:off x="1005840" y="4072890"/>
              <a:ext cx="168992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识别项目口径</a:t>
              </a:r>
            </a:p>
          </p:txBody>
        </p:sp>
        <p:sp>
          <p:nvSpPr>
            <p:cNvPr id="23" name="TextBox 23"/>
            <p:cNvSpPr txBox="1"/>
            <p:nvPr/>
          </p:nvSpPr>
          <p:spPr>
            <a:xfrm>
              <a:off x="1005840" y="4530090"/>
              <a:ext cx="168992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生成六维信号</a:t>
              </a:r>
            </a:p>
          </p:txBody>
        </p:sp>
        <p:sp>
          <p:nvSpPr>
            <p:cNvPr id="24" name="TextBox 24"/>
            <p:cNvSpPr txBox="1"/>
            <p:nvPr/>
          </p:nvSpPr>
          <p:spPr>
            <a:xfrm>
              <a:off x="1005840" y="4987290"/>
              <a:ext cx="168992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暴露模型分歧</a:t>
              </a:r>
            </a:p>
          </p:txBody>
        </p:sp>
        <p:sp>
          <p:nvSpPr>
            <p:cNvPr id="25" name="TextBox 25"/>
            <p:cNvSpPr txBox="1"/>
            <p:nvPr/>
          </p:nvSpPr>
          <p:spPr>
            <a:xfrm>
              <a:off x="1005840" y="5444490"/>
              <a:ext cx="168992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整理评价证据</a:t>
              </a:r>
            </a:p>
          </p:txBody>
        </p:sp>
      </p:grpSp>
      <p:grpSp>
        <p:nvGrpSpPr>
          <p:cNvPr id="37" name="Group 37"/>
          <p:cNvGrpSpPr/>
          <p:nvPr/>
        </p:nvGrpSpPr>
        <p:grpSpPr>
          <a:xfrm>
            <a:off x="6248400" y="3124200"/>
            <a:ext cx="5257800" cy="2971800"/>
            <a:chOff x="6248400" y="3124200"/>
            <a:chExt cx="5257800" cy="2971800"/>
          </a:xfrm>
        </p:grpSpPr>
        <p:sp>
          <p:nvSpPr>
            <p:cNvPr id="27" name="Rectangle 27"/>
            <p:cNvSpPr/>
            <p:nvPr/>
          </p:nvSpPr>
          <p:spPr>
            <a:xfrm>
              <a:off x="6248400" y="3124200"/>
              <a:ext cx="5257800" cy="2971800"/>
            </a:xfrm>
            <a:prstGeom prst="roundRect">
              <a:avLst>
                <a:gd name="adj" fmla="val 5128"/>
              </a:avLst>
            </a:prstGeom>
            <a:solidFill>
              <a:srgbClr val="C8161E">
                <a:alpha val="6000"/>
              </a:srgbClr>
            </a:solidFill>
            <a:ln w="14288">
              <a:solidFill>
                <a:srgbClr val="C8161E"/>
              </a:solidFill>
            </a:ln>
          </p:spPr>
        </p:sp>
        <p:grpSp>
          <p:nvGrpSpPr>
            <p:cNvPr id="31" name="Group 31"/>
            <p:cNvGrpSpPr/>
            <p:nvPr/>
          </p:nvGrpSpPr>
          <p:grpSpPr>
            <a:xfrm>
              <a:off x="6582079" y="3431133"/>
              <a:ext cx="304181" cy="261331"/>
              <a:chOff x="6582079" y="3431133"/>
              <a:chExt cx="304181" cy="261331"/>
            </a:xfrm>
          </p:grpSpPr>
          <p:sp>
            <p:nvSpPr>
              <p:cNvPr id="28" name="Freeform 28"/>
              <p:cNvSpPr/>
              <p:nvPr/>
            </p:nvSpPr>
            <p:spPr>
              <a:xfrm>
                <a:off x="6734175" y="3526631"/>
                <a:ext cx="9525" cy="60325"/>
              </a:xfrm>
              <a:custGeom>
                <a:avLst/>
                <a:gdLst/>
                <a:ahLst/>
                <a:cxnLst/>
                <a:rect l="l" t="t" r="r" b="b"/>
                <a:pathLst>
                  <a:path w="9525" h="60325">
                    <a:moveTo>
                      <a:pt x="0" y="0"/>
                    </a:moveTo>
                    <a:lnTo>
                      <a:pt x="0" y="60325"/>
                    </a:lnTo>
                  </a:path>
                </a:pathLst>
              </a:custGeom>
              <a:noFill/>
              <a:ln w="19050">
                <a:solidFill>
                  <a:srgbClr val="C8161E"/>
                </a:solidFill>
              </a:ln>
            </p:spPr>
          </p:sp>
          <p:sp>
            <p:nvSpPr>
              <p:cNvPr id="29" name="Freeform 29"/>
              <p:cNvSpPr/>
              <p:nvPr/>
            </p:nvSpPr>
            <p:spPr>
              <a:xfrm>
                <a:off x="6582079" y="3431133"/>
                <a:ext cx="304181" cy="261331"/>
              </a:xfrm>
              <a:custGeom>
                <a:avLst/>
                <a:gdLst/>
                <a:ahLst/>
                <a:cxnLst/>
                <a:rect l="l" t="t" r="r" b="b"/>
                <a:pathLst>
                  <a:path w="304181" h="261331">
                    <a:moveTo>
                      <a:pt x="127408" y="13923"/>
                    </a:moveTo>
                    <a:lnTo>
                      <a:pt x="5160" y="218033"/>
                    </a:lnTo>
                    <a:cubicBezTo>
                      <a:pt x="31" y="226914"/>
                      <a:pt x="0" y="237849"/>
                      <a:pt x="5077" y="246759"/>
                    </a:cubicBezTo>
                    <a:cubicBezTo>
                      <a:pt x="10155" y="255669"/>
                      <a:pt x="19578" y="261216"/>
                      <a:pt x="29832" y="261331"/>
                    </a:cubicBezTo>
                    <a:lnTo>
                      <a:pt x="274360" y="261331"/>
                    </a:lnTo>
                    <a:cubicBezTo>
                      <a:pt x="284610" y="261213"/>
                      <a:pt x="294028" y="255668"/>
                      <a:pt x="299104" y="246763"/>
                    </a:cubicBezTo>
                    <a:cubicBezTo>
                      <a:pt x="304181" y="237857"/>
                      <a:pt x="304153" y="226928"/>
                      <a:pt x="299033" y="218048"/>
                    </a:cubicBezTo>
                    <a:lnTo>
                      <a:pt x="176784" y="13908"/>
                    </a:lnTo>
                    <a:cubicBezTo>
                      <a:pt x="171553" y="5274"/>
                      <a:pt x="162191" y="0"/>
                      <a:pt x="152096" y="0"/>
                    </a:cubicBezTo>
                    <a:cubicBezTo>
                      <a:pt x="142001" y="0"/>
                      <a:pt x="132639" y="5274"/>
                      <a:pt x="127408" y="13908"/>
                    </a:cubicBezTo>
                  </a:path>
                </a:pathLst>
              </a:custGeom>
              <a:noFill/>
              <a:ln w="19050">
                <a:solidFill>
                  <a:srgbClr val="C8161E"/>
                </a:solidFill>
              </a:ln>
            </p:spPr>
          </p:sp>
          <p:sp>
            <p:nvSpPr>
              <p:cNvPr id="30" name="Freeform 30"/>
              <p:cNvSpPr/>
              <p:nvPr/>
            </p:nvSpPr>
            <p:spPr>
              <a:xfrm>
                <a:off x="6734175" y="3632200"/>
                <a:ext cx="9525" cy="9525"/>
              </a:xfrm>
              <a:custGeom>
                <a:avLst/>
                <a:gdLst/>
                <a:ahLst/>
                <a:cxnLst/>
                <a:rect l="l" t="t" r="r" b="b"/>
                <a:pathLst>
                  <a:path w="9525" h="9525">
                    <a:moveTo>
                      <a:pt x="0" y="0"/>
                    </a:moveTo>
                    <a:lnTo>
                      <a:pt x="151" y="0"/>
                    </a:lnTo>
                  </a:path>
                </a:pathLst>
              </a:custGeom>
              <a:noFill/>
              <a:ln w="19050">
                <a:solidFill>
                  <a:srgbClr val="C8161E"/>
                </a:solidFill>
              </a:ln>
            </p:spPr>
          </p:sp>
        </p:grpSp>
        <p:sp>
          <p:nvSpPr>
            <p:cNvPr id="32" name="TextBox 32"/>
            <p:cNvSpPr txBox="1"/>
            <p:nvPr/>
          </p:nvSpPr>
          <p:spPr>
            <a:xfrm>
              <a:off x="7019925" y="3433762"/>
              <a:ext cx="1364563" cy="457200"/>
            </a:xfrm>
            <a:prstGeom prst="rect">
              <a:avLst/>
            </a:prstGeom>
            <a:noFill/>
            <a:ln>
              <a:noFill/>
            </a:ln>
          </p:spPr>
          <p:txBody>
            <a:bodyPr wrap="none" lIns="0" tIns="0" rIns="0" bIns="0" anchor="t" anchorCtr="0">
              <a:spAutoFit/>
            </a:bodyPr>
            <a:lstStyle/>
            <a:p>
              <a:pPr algn="l"/>
              <a:r>
                <a:rPr lang="zh-CN" sz="2250" b="1" dirty="0">
                  <a:solidFill>
                    <a:srgbClr val="C8161E"/>
                  </a:solidFill>
                  <a:latin typeface="Arial"/>
                  <a:ea typeface="Microsoft YaHei"/>
                  <a:cs typeface="Arial"/>
                </a:rPr>
                <a:t>AI 不能做</a:t>
              </a:r>
            </a:p>
          </p:txBody>
        </p:sp>
        <p:sp>
          <p:nvSpPr>
            <p:cNvPr id="33" name="TextBox 33"/>
            <p:cNvSpPr txBox="1"/>
            <p:nvPr/>
          </p:nvSpPr>
          <p:spPr>
            <a:xfrm>
              <a:off x="6568440" y="4072890"/>
              <a:ext cx="216998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裁定真正的首创性</a:t>
              </a:r>
            </a:p>
          </p:txBody>
        </p:sp>
        <p:sp>
          <p:nvSpPr>
            <p:cNvPr id="34" name="TextBox 34"/>
            <p:cNvSpPr txBox="1"/>
            <p:nvPr/>
          </p:nvSpPr>
          <p:spPr>
            <a:xfrm>
              <a:off x="6568440" y="4530090"/>
              <a:ext cx="216998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替代主编最终判断</a:t>
              </a:r>
            </a:p>
          </p:txBody>
        </p:sp>
        <p:sp>
          <p:nvSpPr>
            <p:cNvPr id="35" name="TextBox 35"/>
            <p:cNvSpPr txBox="1"/>
            <p:nvPr/>
          </p:nvSpPr>
          <p:spPr>
            <a:xfrm>
              <a:off x="6568440" y="4987290"/>
              <a:ext cx="2410016" cy="365760"/>
            </a:xfrm>
            <a:prstGeom prst="rect">
              <a:avLst/>
            </a:prstGeom>
            <a:noFill/>
            <a:ln>
              <a:noFill/>
            </a:ln>
          </p:spPr>
          <p:txBody>
            <a:bodyPr wrap="none" lIns="0" tIns="0" rIns="0" bIns="0" anchor="t" anchorCtr="0">
              <a:spAutoFit/>
            </a:bodyPr>
            <a:lstStyle/>
            <a:p>
              <a:pPr algn="l"/>
              <a:r>
                <a:rPr lang="zh-CN" sz="1800" dirty="0">
                  <a:solidFill>
                    <a:srgbClr val="1B1C21"/>
                  </a:solidFill>
                  <a:latin typeface="Arial"/>
                  <a:ea typeface="Microsoft YaHei"/>
                  <a:cs typeface="Arial"/>
                </a:rPr>
                <a:t>· 因政治正确性给高分</a:t>
              </a:r>
            </a:p>
          </p:txBody>
        </p:sp>
        <p:sp>
          <p:nvSpPr>
            <p:cNvPr id="36" name="TextBox 36"/>
            <p:cNvSpPr txBox="1"/>
            <p:nvPr/>
          </p:nvSpPr>
          <p:spPr>
            <a:xfrm>
              <a:off x="6573517" y="5563843"/>
              <a:ext cx="228558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关键引用：v0.16 规程 §1.2</a:t>
              </a:r>
            </a:p>
          </p:txBody>
        </p:sp>
      </p:grpSp>
      <p:grpSp>
        <p:nvGrpSpPr>
          <p:cNvPr id="41" name="Group 41"/>
          <p:cNvGrpSpPr/>
          <p:nvPr/>
        </p:nvGrpSpPr>
        <p:grpSpPr>
          <a:xfrm>
            <a:off x="0" y="6516343"/>
            <a:ext cx="12192000" cy="341657"/>
            <a:chOff x="0" y="6516343"/>
            <a:chExt cx="12192000" cy="341657"/>
          </a:xfrm>
        </p:grpSpPr>
        <p:sp>
          <p:nvSpPr>
            <p:cNvPr id="38" name="Rectangle 38"/>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39" name="TextBox 39"/>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40" name="TextBox 40"/>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400"/>
                                        <p:tgtEl>
                                          <p:spTgt spid="14"/>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image">
                                      <p:cBhvr>
                                        <p:cTn id="11" dur="400"/>
                                        <p:tgtEl>
                                          <p:spTgt spid="16"/>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6" grpId="0"/>
      <p:bldP spid="3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815212"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评价对象与规模</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2" name="Group 12"/>
          <p:cNvGrpSpPr/>
          <p:nvPr/>
        </p:nvGrpSpPr>
        <p:grpSpPr>
          <a:xfrm>
            <a:off x="685800" y="1123950"/>
            <a:ext cx="3543300" cy="1866900"/>
            <a:chOff x="685800" y="1123950"/>
            <a:chExt cx="3543300" cy="1866900"/>
          </a:xfrm>
        </p:grpSpPr>
        <p:sp>
          <p:nvSpPr>
            <p:cNvPr id="8" name="Rectangle 8"/>
            <p:cNvSpPr/>
            <p:nvPr/>
          </p:nvSpPr>
          <p:spPr>
            <a:xfrm>
              <a:off x="685800" y="1123950"/>
              <a:ext cx="3543300" cy="1866900"/>
            </a:xfrm>
            <a:prstGeom prst="roundRect">
              <a:avLst>
                <a:gd name="adj" fmla="val 8163"/>
              </a:avLst>
            </a:prstGeom>
            <a:solidFill>
              <a:srgbClr val="C8161E"/>
            </a:solidFill>
            <a:ln>
              <a:noFill/>
            </a:ln>
          </p:spPr>
        </p:sp>
        <p:sp>
          <p:nvSpPr>
            <p:cNvPr id="9" name="TextBox 9"/>
            <p:cNvSpPr txBox="1"/>
            <p:nvPr/>
          </p:nvSpPr>
          <p:spPr>
            <a:xfrm>
              <a:off x="970283" y="1408457"/>
              <a:ext cx="1533920" cy="325069"/>
            </a:xfrm>
            <a:prstGeom prst="rect">
              <a:avLst/>
            </a:prstGeom>
            <a:noFill/>
            <a:ln>
              <a:noFill/>
            </a:ln>
          </p:spPr>
          <p:txBody>
            <a:bodyPr wrap="none" lIns="0" tIns="0" rIns="0" bIns="0" anchor="t" anchorCtr="0">
              <a:spAutoFit/>
            </a:bodyPr>
            <a:lstStyle/>
            <a:p>
              <a:pPr algn="l"/>
              <a:r>
                <a:rPr lang="zh-CN" sz="1600" dirty="0">
                  <a:solidFill>
                    <a:srgbClr val="FFFFFF">
                      <a:alphaMod val="85000"/>
                    </a:srgbClr>
                  </a:solidFill>
                  <a:latin typeface="Arial"/>
                  <a:ea typeface="Microsoft YaHei"/>
                  <a:cs typeface="Arial"/>
                </a:rPr>
                <a:t>可评测论文总量</a:t>
              </a:r>
            </a:p>
          </p:txBody>
        </p:sp>
        <p:sp>
          <p:nvSpPr>
            <p:cNvPr id="10" name="TextBox 10"/>
            <p:cNvSpPr txBox="1"/>
            <p:nvPr/>
          </p:nvSpPr>
          <p:spPr>
            <a:xfrm>
              <a:off x="883920" y="1779270"/>
              <a:ext cx="2594467" cy="1097280"/>
            </a:xfrm>
            <a:prstGeom prst="rect">
              <a:avLst/>
            </a:prstGeom>
            <a:noFill/>
            <a:ln>
              <a:noFill/>
            </a:ln>
          </p:spPr>
          <p:txBody>
            <a:bodyPr wrap="none" lIns="0" tIns="0" rIns="0" bIns="0" anchor="t" anchorCtr="0">
              <a:spAutoFit/>
            </a:bodyPr>
            <a:lstStyle/>
            <a:p>
              <a:pPr algn="l"/>
              <a:r>
                <a:rPr lang="zh-CN" sz="5400" b="1" dirty="0">
                  <a:solidFill>
                    <a:srgbClr val="FFFFFF"/>
                  </a:solidFill>
                  <a:latin typeface="Arial"/>
                  <a:ea typeface="Microsoft YaHei"/>
                  <a:cs typeface="Arial"/>
                </a:rPr>
                <a:t>1920</a:t>
              </a:r>
              <a:r>
                <a:rPr lang="zh-CN" sz="2600" b="1" dirty="0">
                  <a:solidFill>
                    <a:srgbClr val="FFFFFF"/>
                  </a:solidFill>
                  <a:latin typeface="Arial"/>
                  <a:ea typeface="Microsoft YaHei"/>
                  <a:cs typeface="Arial"/>
                </a:rPr>
                <a:t xml:space="preserve"> 篇</a:t>
              </a:r>
            </a:p>
          </p:txBody>
        </p:sp>
        <p:sp>
          <p:nvSpPr>
            <p:cNvPr id="11" name="TextBox 11"/>
            <p:cNvSpPr txBox="1"/>
            <p:nvPr/>
          </p:nvSpPr>
          <p:spPr>
            <a:xfrm>
              <a:off x="972817" y="2649193"/>
              <a:ext cx="2565668" cy="284531"/>
            </a:xfrm>
            <a:prstGeom prst="rect">
              <a:avLst/>
            </a:prstGeom>
            <a:noFill/>
            <a:ln>
              <a:noFill/>
            </a:ln>
          </p:spPr>
          <p:txBody>
            <a:bodyPr wrap="none" lIns="0" tIns="0" rIns="0" bIns="0" anchor="t" anchorCtr="0">
              <a:spAutoFit/>
            </a:bodyPr>
            <a:lstStyle/>
            <a:p>
              <a:pPr algn="l"/>
              <a:r>
                <a:rPr lang="zh-CN" sz="1400" dirty="0">
                  <a:solidFill>
                    <a:srgbClr val="FFFFFF">
                      <a:alphaMod val="85000"/>
                    </a:srgbClr>
                  </a:solidFill>
                  <a:latin typeface="Arial"/>
                  <a:ea typeface="Microsoft YaHei"/>
                  <a:cs typeface="Arial"/>
                </a:rPr>
                <a:t>元数据 1962 条，去重后可评测</a:t>
              </a:r>
            </a:p>
          </p:txBody>
        </p:sp>
      </p:grpSp>
      <p:grpSp>
        <p:nvGrpSpPr>
          <p:cNvPr id="16" name="Group 16"/>
          <p:cNvGrpSpPr/>
          <p:nvPr/>
        </p:nvGrpSpPr>
        <p:grpSpPr>
          <a:xfrm>
            <a:off x="970283" y="3275357"/>
            <a:ext cx="2829346" cy="953767"/>
            <a:chOff x="970283" y="3275357"/>
            <a:chExt cx="2829346" cy="953767"/>
          </a:xfrm>
        </p:grpSpPr>
        <p:sp>
          <p:nvSpPr>
            <p:cNvPr id="13" name="TextBox 13"/>
            <p:cNvSpPr txBox="1"/>
            <p:nvPr/>
          </p:nvSpPr>
          <p:spPr>
            <a:xfrm>
              <a:off x="970283" y="3275357"/>
              <a:ext cx="2829346"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数据源：近 10 年法学三大刊</a:t>
              </a:r>
            </a:p>
          </p:txBody>
        </p:sp>
        <p:sp>
          <p:nvSpPr>
            <p:cNvPr id="14" name="TextBox 14"/>
            <p:cNvSpPr txBox="1"/>
            <p:nvPr/>
          </p:nvSpPr>
          <p:spPr>
            <a:xfrm>
              <a:off x="972817" y="3658843"/>
              <a:ext cx="227624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《中国法学》《法学研究》</a:t>
              </a:r>
            </a:p>
          </p:txBody>
        </p:sp>
        <p:sp>
          <p:nvSpPr>
            <p:cNvPr id="15" name="TextBox 15"/>
            <p:cNvSpPr txBox="1"/>
            <p:nvPr/>
          </p:nvSpPr>
          <p:spPr>
            <a:xfrm>
              <a:off x="972817" y="3944593"/>
              <a:ext cx="227624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《中国社会科学》法学板块</a:t>
              </a:r>
            </a:p>
          </p:txBody>
        </p:sp>
      </p:grpSp>
      <p:grpSp>
        <p:nvGrpSpPr>
          <p:cNvPr id="30" name="Group 30"/>
          <p:cNvGrpSpPr/>
          <p:nvPr/>
        </p:nvGrpSpPr>
        <p:grpSpPr>
          <a:xfrm>
            <a:off x="4622797" y="1269973"/>
            <a:ext cx="6027420" cy="1987553"/>
            <a:chOff x="4622797" y="1269973"/>
            <a:chExt cx="6027420" cy="1987553"/>
          </a:xfrm>
        </p:grpSpPr>
        <p:sp>
          <p:nvSpPr>
            <p:cNvPr id="17" name="TextBox 17"/>
            <p:cNvSpPr txBox="1"/>
            <p:nvPr/>
          </p:nvSpPr>
          <p:spPr>
            <a:xfrm>
              <a:off x="4622797" y="1269973"/>
              <a:ext cx="1171086"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刊物分布</a:t>
              </a:r>
            </a:p>
          </p:txBody>
        </p:sp>
        <p:sp>
          <p:nvSpPr>
            <p:cNvPr id="18" name="TextBox 18"/>
            <p:cNvSpPr txBox="1"/>
            <p:nvPr/>
          </p:nvSpPr>
          <p:spPr>
            <a:xfrm>
              <a:off x="4627883" y="1865657"/>
              <a:ext cx="1320594"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《中国法学》</a:t>
              </a:r>
            </a:p>
          </p:txBody>
        </p:sp>
        <p:sp>
          <p:nvSpPr>
            <p:cNvPr id="19" name="Rectangle 19"/>
            <p:cNvSpPr/>
            <p:nvPr/>
          </p:nvSpPr>
          <p:spPr>
            <a:xfrm>
              <a:off x="6286500" y="1847850"/>
              <a:ext cx="4191000" cy="247650"/>
            </a:xfrm>
            <a:prstGeom prst="roundRect">
              <a:avLst>
                <a:gd name="adj" fmla="val 15385"/>
              </a:avLst>
            </a:prstGeom>
            <a:solidFill>
              <a:srgbClr val="F4F5F7"/>
            </a:solidFill>
            <a:ln>
              <a:noFill/>
            </a:ln>
          </p:spPr>
        </p:sp>
        <p:sp>
          <p:nvSpPr>
            <p:cNvPr id="20" name="Rectangle 20"/>
            <p:cNvSpPr/>
            <p:nvPr/>
          </p:nvSpPr>
          <p:spPr>
            <a:xfrm>
              <a:off x="6286500" y="1847850"/>
              <a:ext cx="3390900" cy="247650"/>
            </a:xfrm>
            <a:prstGeom prst="roundRect">
              <a:avLst>
                <a:gd name="adj" fmla="val 15385"/>
              </a:avLst>
            </a:prstGeom>
            <a:solidFill>
              <a:srgbClr val="C8161E"/>
            </a:solidFill>
            <a:ln>
              <a:noFill/>
            </a:ln>
          </p:spPr>
        </p:sp>
        <p:sp>
          <p:nvSpPr>
            <p:cNvPr id="21" name="TextBox 21"/>
            <p:cNvSpPr txBox="1"/>
            <p:nvPr/>
          </p:nvSpPr>
          <p:spPr>
            <a:xfrm>
              <a:off x="9366422" y="1865657"/>
              <a:ext cx="1283795" cy="325069"/>
            </a:xfrm>
            <a:prstGeom prst="rect">
              <a:avLst/>
            </a:prstGeom>
            <a:noFill/>
            <a:ln>
              <a:noFill/>
            </a:ln>
          </p:spPr>
          <p:txBody>
            <a:bodyPr wrap="none" lIns="0" tIns="0" rIns="0" bIns="0" anchor="t" anchorCtr="0">
              <a:spAutoFit/>
            </a:bodyPr>
            <a:lstStyle/>
            <a:p>
              <a:pPr algn="r"/>
              <a:r>
                <a:rPr lang="zh-CN" sz="1600" b="1" dirty="0">
                  <a:solidFill>
                    <a:srgbClr val="C8161E"/>
                  </a:solidFill>
                  <a:latin typeface="Arial"/>
                  <a:ea typeface="Microsoft YaHei"/>
                  <a:cs typeface="Arial"/>
                </a:rPr>
                <a:t>954 · 49.7%</a:t>
              </a:r>
            </a:p>
          </p:txBody>
        </p:sp>
        <p:sp>
          <p:nvSpPr>
            <p:cNvPr id="22" name="TextBox 22"/>
            <p:cNvSpPr txBox="1"/>
            <p:nvPr/>
          </p:nvSpPr>
          <p:spPr>
            <a:xfrm>
              <a:off x="4627883" y="2399057"/>
              <a:ext cx="1320594"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《法学研究》</a:t>
              </a:r>
            </a:p>
          </p:txBody>
        </p:sp>
        <p:sp>
          <p:nvSpPr>
            <p:cNvPr id="23" name="Rectangle 23"/>
            <p:cNvSpPr/>
            <p:nvPr/>
          </p:nvSpPr>
          <p:spPr>
            <a:xfrm>
              <a:off x="6286500" y="2381250"/>
              <a:ext cx="4191000" cy="247650"/>
            </a:xfrm>
            <a:prstGeom prst="roundRect">
              <a:avLst>
                <a:gd name="adj" fmla="val 15385"/>
              </a:avLst>
            </a:prstGeom>
            <a:solidFill>
              <a:srgbClr val="F4F5F7"/>
            </a:solidFill>
            <a:ln>
              <a:noFill/>
            </a:ln>
          </p:spPr>
        </p:sp>
        <p:sp>
          <p:nvSpPr>
            <p:cNvPr id="24" name="Rectangle 24"/>
            <p:cNvSpPr/>
            <p:nvPr/>
          </p:nvSpPr>
          <p:spPr>
            <a:xfrm>
              <a:off x="6286500" y="2381250"/>
              <a:ext cx="2724150" cy="247650"/>
            </a:xfrm>
            <a:prstGeom prst="roundRect">
              <a:avLst>
                <a:gd name="adj" fmla="val 15385"/>
              </a:avLst>
            </a:prstGeom>
            <a:solidFill>
              <a:srgbClr val="1F4D78"/>
            </a:solidFill>
            <a:ln>
              <a:noFill/>
            </a:ln>
          </p:spPr>
        </p:sp>
        <p:sp>
          <p:nvSpPr>
            <p:cNvPr id="25" name="TextBox 25"/>
            <p:cNvSpPr txBox="1"/>
            <p:nvPr/>
          </p:nvSpPr>
          <p:spPr>
            <a:xfrm>
              <a:off x="9366422" y="2399057"/>
              <a:ext cx="1283795" cy="325069"/>
            </a:xfrm>
            <a:prstGeom prst="rect">
              <a:avLst/>
            </a:prstGeom>
            <a:noFill/>
            <a:ln>
              <a:noFill/>
            </a:ln>
          </p:spPr>
          <p:txBody>
            <a:bodyPr wrap="none" lIns="0" tIns="0" rIns="0" bIns="0" anchor="t" anchorCtr="0">
              <a:spAutoFit/>
            </a:bodyPr>
            <a:lstStyle/>
            <a:p>
              <a:pPr algn="r"/>
              <a:r>
                <a:rPr lang="zh-CN" sz="1600" b="1" dirty="0">
                  <a:solidFill>
                    <a:srgbClr val="1F4D78"/>
                  </a:solidFill>
                  <a:latin typeface="Arial"/>
                  <a:ea typeface="Microsoft YaHei"/>
                  <a:cs typeface="Arial"/>
                </a:rPr>
                <a:t>767 · 39.9%</a:t>
              </a:r>
            </a:p>
          </p:txBody>
        </p:sp>
        <p:sp>
          <p:nvSpPr>
            <p:cNvPr id="26" name="TextBox 26"/>
            <p:cNvSpPr txBox="1"/>
            <p:nvPr/>
          </p:nvSpPr>
          <p:spPr>
            <a:xfrm>
              <a:off x="4627883" y="2932457"/>
              <a:ext cx="1747247"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《中国社会科学》</a:t>
              </a:r>
            </a:p>
          </p:txBody>
        </p:sp>
        <p:sp>
          <p:nvSpPr>
            <p:cNvPr id="27" name="Rectangle 27"/>
            <p:cNvSpPr/>
            <p:nvPr/>
          </p:nvSpPr>
          <p:spPr>
            <a:xfrm>
              <a:off x="6286500" y="2914650"/>
              <a:ext cx="4191000" cy="247650"/>
            </a:xfrm>
            <a:prstGeom prst="roundRect">
              <a:avLst>
                <a:gd name="adj" fmla="val 15385"/>
              </a:avLst>
            </a:prstGeom>
            <a:solidFill>
              <a:srgbClr val="F4F5F7"/>
            </a:solidFill>
            <a:ln>
              <a:noFill/>
            </a:ln>
          </p:spPr>
        </p:sp>
        <p:sp>
          <p:nvSpPr>
            <p:cNvPr id="28" name="Rectangle 28"/>
            <p:cNvSpPr/>
            <p:nvPr/>
          </p:nvSpPr>
          <p:spPr>
            <a:xfrm>
              <a:off x="6286500" y="2914650"/>
              <a:ext cx="714375" cy="247650"/>
            </a:xfrm>
            <a:prstGeom prst="roundRect">
              <a:avLst>
                <a:gd name="adj" fmla="val 15385"/>
              </a:avLst>
            </a:prstGeom>
            <a:solidFill>
              <a:srgbClr val="44546A"/>
            </a:solidFill>
            <a:ln>
              <a:noFill/>
            </a:ln>
          </p:spPr>
        </p:sp>
        <p:sp>
          <p:nvSpPr>
            <p:cNvPr id="29" name="TextBox 29"/>
            <p:cNvSpPr txBox="1"/>
            <p:nvPr/>
          </p:nvSpPr>
          <p:spPr>
            <a:xfrm>
              <a:off x="9478419" y="2932457"/>
              <a:ext cx="1171798" cy="325069"/>
            </a:xfrm>
            <a:prstGeom prst="rect">
              <a:avLst/>
            </a:prstGeom>
            <a:noFill/>
            <a:ln>
              <a:noFill/>
            </a:ln>
          </p:spPr>
          <p:txBody>
            <a:bodyPr wrap="none" lIns="0" tIns="0" rIns="0" bIns="0" anchor="t" anchorCtr="0">
              <a:spAutoFit/>
            </a:bodyPr>
            <a:lstStyle/>
            <a:p>
              <a:pPr algn="r"/>
              <a:r>
                <a:rPr lang="zh-CN" sz="1600" b="1" dirty="0">
                  <a:solidFill>
                    <a:srgbClr val="44546A"/>
                  </a:solidFill>
                  <a:latin typeface="Arial"/>
                  <a:ea typeface="Microsoft YaHei"/>
                  <a:cs typeface="Arial"/>
                </a:rPr>
                <a:t>199 · 10.4%</a:t>
              </a:r>
            </a:p>
          </p:txBody>
        </p:sp>
      </p:grpSp>
      <p:grpSp>
        <p:nvGrpSpPr>
          <p:cNvPr id="34" name="Group 34"/>
          <p:cNvGrpSpPr/>
          <p:nvPr/>
        </p:nvGrpSpPr>
        <p:grpSpPr>
          <a:xfrm>
            <a:off x="685800" y="4476750"/>
            <a:ext cx="10838184" cy="419124"/>
            <a:chOff x="685800" y="4476750"/>
            <a:chExt cx="10838184" cy="419124"/>
          </a:xfrm>
        </p:grpSpPr>
        <p:sp>
          <p:nvSpPr>
            <p:cNvPr id="31" name="Rectangle 31"/>
            <p:cNvSpPr/>
            <p:nvPr/>
          </p:nvSpPr>
          <p:spPr>
            <a:xfrm>
              <a:off x="685800" y="4476750"/>
              <a:ext cx="57150" cy="285750"/>
            </a:xfrm>
            <a:prstGeom prst="roundRect">
              <a:avLst>
                <a:gd name="adj" fmla="val 50000"/>
              </a:avLst>
            </a:prstGeom>
            <a:solidFill>
              <a:srgbClr val="C8161E"/>
            </a:solidFill>
            <a:ln>
              <a:noFill/>
            </a:ln>
          </p:spPr>
        </p:sp>
        <p:sp>
          <p:nvSpPr>
            <p:cNvPr id="32" name="TextBox 32"/>
            <p:cNvSpPr txBox="1"/>
            <p:nvPr/>
          </p:nvSpPr>
          <p:spPr>
            <a:xfrm>
              <a:off x="850897" y="4489423"/>
              <a:ext cx="1731226"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当前评测进度</a:t>
              </a:r>
            </a:p>
          </p:txBody>
        </p:sp>
        <p:sp>
          <p:nvSpPr>
            <p:cNvPr id="33" name="TextBox 33"/>
            <p:cNvSpPr txBox="1"/>
            <p:nvPr/>
          </p:nvSpPr>
          <p:spPr>
            <a:xfrm>
              <a:off x="8790265" y="4554193"/>
              <a:ext cx="2733719"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主评测 API 调用总量 ~97,500 次</a:t>
              </a:r>
            </a:p>
          </p:txBody>
        </p:sp>
      </p:grpSp>
      <p:grpSp>
        <p:nvGrpSpPr>
          <p:cNvPr id="39" name="Group 39"/>
          <p:cNvGrpSpPr/>
          <p:nvPr/>
        </p:nvGrpSpPr>
        <p:grpSpPr>
          <a:xfrm>
            <a:off x="685800" y="4914900"/>
            <a:ext cx="2571750" cy="1524000"/>
            <a:chOff x="685800" y="4914900"/>
            <a:chExt cx="2571750" cy="1524000"/>
          </a:xfrm>
        </p:grpSpPr>
        <p:sp>
          <p:nvSpPr>
            <p:cNvPr id="35" name="Rectangle 35"/>
            <p:cNvSpPr/>
            <p:nvPr/>
          </p:nvSpPr>
          <p:spPr>
            <a:xfrm>
              <a:off x="685800" y="4914900"/>
              <a:ext cx="2571750" cy="1524000"/>
            </a:xfrm>
            <a:prstGeom prst="roundRect">
              <a:avLst>
                <a:gd name="adj" fmla="val 10000"/>
              </a:avLst>
            </a:prstGeom>
            <a:solidFill>
              <a:srgbClr val="FFFFFF"/>
            </a:solidFill>
            <a:ln w="14288">
              <a:solidFill>
                <a:srgbClr val="D9DEE5"/>
              </a:solidFill>
            </a:ln>
          </p:spPr>
        </p:sp>
        <p:sp>
          <p:nvSpPr>
            <p:cNvPr id="36" name="TextBox 36"/>
            <p:cNvSpPr txBox="1"/>
            <p:nvPr/>
          </p:nvSpPr>
          <p:spPr>
            <a:xfrm>
              <a:off x="894083" y="5123207"/>
              <a:ext cx="1194198" cy="325069"/>
            </a:xfrm>
            <a:prstGeom prst="rect">
              <a:avLst/>
            </a:prstGeom>
            <a:noFill/>
            <a:ln>
              <a:noFill/>
            </a:ln>
          </p:spPr>
          <p:txBody>
            <a:bodyPr wrap="none" lIns="0" tIns="0" rIns="0" bIns="0" anchor="t" anchorCtr="0">
              <a:spAutoFit/>
            </a:bodyPr>
            <a:lstStyle/>
            <a:p>
              <a:pPr algn="l"/>
              <a:r>
                <a:rPr lang="zh-CN" sz="1600" b="1" dirty="0">
                  <a:solidFill>
                    <a:srgbClr val="C8161E"/>
                  </a:solidFill>
                  <a:latin typeface="Arial"/>
                  <a:ea typeface="Microsoft YaHei"/>
                  <a:cs typeface="Arial"/>
                </a:rPr>
                <a:t>全量评审 E1</a:t>
              </a:r>
            </a:p>
          </p:txBody>
        </p:sp>
        <p:sp>
          <p:nvSpPr>
            <p:cNvPr id="37" name="TextBox 37"/>
            <p:cNvSpPr txBox="1"/>
            <p:nvPr/>
          </p:nvSpPr>
          <p:spPr>
            <a:xfrm>
              <a:off x="872490" y="5434965"/>
              <a:ext cx="1585508" cy="670560"/>
            </a:xfrm>
            <a:prstGeom prst="rect">
              <a:avLst/>
            </a:prstGeom>
            <a:noFill/>
            <a:ln>
              <a:noFill/>
            </a:ln>
          </p:spPr>
          <p:txBody>
            <a:bodyPr wrap="none" lIns="0" tIns="0" rIns="0" bIns="0" anchor="t" anchorCtr="0">
              <a:spAutoFit/>
            </a:bodyPr>
            <a:lstStyle/>
            <a:p>
              <a:pPr algn="l"/>
              <a:r>
                <a:rPr lang="zh-CN" sz="3300" b="1" dirty="0">
                  <a:solidFill>
                    <a:srgbClr val="1B1C21"/>
                  </a:solidFill>
                  <a:latin typeface="Arial"/>
                  <a:ea typeface="Microsoft YaHei"/>
                  <a:cs typeface="Arial"/>
                </a:rPr>
                <a:t>1920</a:t>
              </a:r>
              <a:r>
                <a:rPr lang="zh-CN" sz="1400" b="1" dirty="0">
                  <a:solidFill>
                    <a:srgbClr val="1B1C21"/>
                  </a:solidFill>
                  <a:latin typeface="Arial"/>
                  <a:ea typeface="Microsoft YaHei"/>
                  <a:cs typeface="Arial"/>
                </a:rPr>
                <a:t xml:space="preserve"> 篇</a:t>
              </a:r>
            </a:p>
          </p:txBody>
        </p:sp>
        <p:sp>
          <p:nvSpPr>
            <p:cNvPr id="38" name="TextBox 38"/>
            <p:cNvSpPr txBox="1"/>
            <p:nvPr/>
          </p:nvSpPr>
          <p:spPr>
            <a:xfrm>
              <a:off x="899160" y="6023610"/>
              <a:ext cx="1982724"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已生成 R1+R2，90 篇已补测</a:t>
              </a:r>
            </a:p>
          </p:txBody>
        </p:sp>
      </p:grpSp>
      <p:grpSp>
        <p:nvGrpSpPr>
          <p:cNvPr id="44" name="Group 44"/>
          <p:cNvGrpSpPr/>
          <p:nvPr/>
        </p:nvGrpSpPr>
        <p:grpSpPr>
          <a:xfrm>
            <a:off x="3429000" y="4914900"/>
            <a:ext cx="2571750" cy="1524000"/>
            <a:chOff x="3429000" y="4914900"/>
            <a:chExt cx="2571750" cy="1524000"/>
          </a:xfrm>
        </p:grpSpPr>
        <p:sp>
          <p:nvSpPr>
            <p:cNvPr id="40" name="Rectangle 40"/>
            <p:cNvSpPr/>
            <p:nvPr/>
          </p:nvSpPr>
          <p:spPr>
            <a:xfrm>
              <a:off x="3429000" y="4914900"/>
              <a:ext cx="2571750" cy="1524000"/>
            </a:xfrm>
            <a:prstGeom prst="roundRect">
              <a:avLst>
                <a:gd name="adj" fmla="val 10000"/>
              </a:avLst>
            </a:prstGeom>
            <a:solidFill>
              <a:srgbClr val="FFFFFF"/>
            </a:solidFill>
            <a:ln w="14288">
              <a:solidFill>
                <a:srgbClr val="D9DEE5"/>
              </a:solidFill>
            </a:ln>
          </p:spPr>
        </p:sp>
        <p:sp>
          <p:nvSpPr>
            <p:cNvPr id="41" name="TextBox 41"/>
            <p:cNvSpPr txBox="1"/>
            <p:nvPr/>
          </p:nvSpPr>
          <p:spPr>
            <a:xfrm>
              <a:off x="3637283" y="5123207"/>
              <a:ext cx="1563786"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Top 101 重测 E2</a:t>
              </a:r>
            </a:p>
          </p:txBody>
        </p:sp>
        <p:sp>
          <p:nvSpPr>
            <p:cNvPr id="42" name="TextBox 42"/>
            <p:cNvSpPr txBox="1"/>
            <p:nvPr/>
          </p:nvSpPr>
          <p:spPr>
            <a:xfrm>
              <a:off x="3615690" y="5434965"/>
              <a:ext cx="1215861" cy="670560"/>
            </a:xfrm>
            <a:prstGeom prst="rect">
              <a:avLst/>
            </a:prstGeom>
            <a:noFill/>
            <a:ln>
              <a:noFill/>
            </a:ln>
          </p:spPr>
          <p:txBody>
            <a:bodyPr wrap="none" lIns="0" tIns="0" rIns="0" bIns="0" anchor="t" anchorCtr="0">
              <a:spAutoFit/>
            </a:bodyPr>
            <a:lstStyle/>
            <a:p>
              <a:pPr algn="l"/>
              <a:r>
                <a:rPr lang="zh-CN" sz="3300" b="1" dirty="0">
                  <a:solidFill>
                    <a:srgbClr val="1B1C21"/>
                  </a:solidFill>
                  <a:latin typeface="Arial"/>
                  <a:ea typeface="Microsoft YaHei"/>
                  <a:cs typeface="Arial"/>
                </a:rPr>
                <a:t>101</a:t>
              </a:r>
              <a:r>
                <a:rPr lang="zh-CN" sz="1400" b="1" dirty="0">
                  <a:solidFill>
                    <a:srgbClr val="1B1C21"/>
                  </a:solidFill>
                  <a:latin typeface="Arial"/>
                  <a:ea typeface="Microsoft YaHei"/>
                  <a:cs typeface="Arial"/>
                </a:rPr>
                <a:t xml:space="preserve"> 篇</a:t>
              </a:r>
            </a:p>
          </p:txBody>
        </p:sp>
        <p:sp>
          <p:nvSpPr>
            <p:cNvPr id="43" name="TextBox 43"/>
            <p:cNvSpPr txBox="1"/>
            <p:nvPr/>
          </p:nvSpPr>
          <p:spPr>
            <a:xfrm>
              <a:off x="3642360" y="6023610"/>
              <a:ext cx="1862709"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Top60 + 年份/学科双约束</a:t>
              </a:r>
            </a:p>
          </p:txBody>
        </p:sp>
      </p:grpSp>
      <p:grpSp>
        <p:nvGrpSpPr>
          <p:cNvPr id="49" name="Group 49"/>
          <p:cNvGrpSpPr/>
          <p:nvPr/>
        </p:nvGrpSpPr>
        <p:grpSpPr>
          <a:xfrm>
            <a:off x="6172200" y="4914900"/>
            <a:ext cx="2571750" cy="1524000"/>
            <a:chOff x="6172200" y="4914900"/>
            <a:chExt cx="2571750" cy="1524000"/>
          </a:xfrm>
        </p:grpSpPr>
        <p:sp>
          <p:nvSpPr>
            <p:cNvPr id="45" name="Rectangle 45"/>
            <p:cNvSpPr/>
            <p:nvPr/>
          </p:nvSpPr>
          <p:spPr>
            <a:xfrm>
              <a:off x="6172200" y="4914900"/>
              <a:ext cx="2571750" cy="1524000"/>
            </a:xfrm>
            <a:prstGeom prst="roundRect">
              <a:avLst>
                <a:gd name="adj" fmla="val 10000"/>
              </a:avLst>
            </a:prstGeom>
            <a:solidFill>
              <a:srgbClr val="FFFFFF"/>
            </a:solidFill>
            <a:ln w="14288">
              <a:solidFill>
                <a:srgbClr val="D9DEE5"/>
              </a:solidFill>
            </a:ln>
          </p:spPr>
        </p:sp>
        <p:sp>
          <p:nvSpPr>
            <p:cNvPr id="46" name="TextBox 46"/>
            <p:cNvSpPr txBox="1"/>
            <p:nvPr/>
          </p:nvSpPr>
          <p:spPr>
            <a:xfrm>
              <a:off x="6380483" y="5123207"/>
              <a:ext cx="1507788" cy="325069"/>
            </a:xfrm>
            <a:prstGeom prst="rect">
              <a:avLst/>
            </a:prstGeom>
            <a:noFill/>
            <a:ln>
              <a:noFill/>
            </a:ln>
          </p:spPr>
          <p:txBody>
            <a:bodyPr wrap="none" lIns="0" tIns="0" rIns="0" bIns="0" anchor="t" anchorCtr="0">
              <a:spAutoFit/>
            </a:bodyPr>
            <a:lstStyle/>
            <a:p>
              <a:pPr algn="l"/>
              <a:r>
                <a:rPr lang="zh-CN" sz="1600" b="1" dirty="0">
                  <a:solidFill>
                    <a:srgbClr val="2E7D32"/>
                  </a:solidFill>
                  <a:latin typeface="Arial"/>
                  <a:ea typeface="Microsoft YaHei"/>
                  <a:cs typeface="Arial"/>
                </a:rPr>
                <a:t>第 3 次评测 E3</a:t>
              </a:r>
            </a:p>
          </p:txBody>
        </p:sp>
        <p:sp>
          <p:nvSpPr>
            <p:cNvPr id="47" name="TextBox 47"/>
            <p:cNvSpPr txBox="1"/>
            <p:nvPr/>
          </p:nvSpPr>
          <p:spPr>
            <a:xfrm>
              <a:off x="6358890" y="5434965"/>
              <a:ext cx="1192759" cy="670560"/>
            </a:xfrm>
            <a:prstGeom prst="rect">
              <a:avLst/>
            </a:prstGeom>
            <a:noFill/>
            <a:ln>
              <a:noFill/>
            </a:ln>
          </p:spPr>
          <p:txBody>
            <a:bodyPr wrap="none" lIns="0" tIns="0" rIns="0" bIns="0" anchor="t" anchorCtr="0">
              <a:spAutoFit/>
            </a:bodyPr>
            <a:lstStyle/>
            <a:p>
              <a:pPr algn="l"/>
              <a:r>
                <a:rPr lang="zh-CN" sz="3300" b="1" dirty="0">
                  <a:solidFill>
                    <a:srgbClr val="1B1C21"/>
                  </a:solidFill>
                  <a:latin typeface="Arial"/>
                  <a:ea typeface="Microsoft YaHei"/>
                  <a:cs typeface="Arial"/>
                </a:rPr>
                <a:t>45</a:t>
              </a:r>
              <a:r>
                <a:rPr lang="zh-CN" sz="1400" b="1" dirty="0">
                  <a:solidFill>
                    <a:srgbClr val="1B1C21"/>
                  </a:solidFill>
                  <a:latin typeface="Arial"/>
                  <a:ea typeface="Microsoft YaHei"/>
                  <a:cs typeface="Arial"/>
                </a:rPr>
                <a:t xml:space="preserve"> 篇</a:t>
              </a:r>
            </a:p>
          </p:txBody>
        </p:sp>
        <p:sp>
          <p:nvSpPr>
            <p:cNvPr id="48" name="TextBox 48"/>
            <p:cNvSpPr txBox="1"/>
            <p:nvPr/>
          </p:nvSpPr>
          <p:spPr>
            <a:xfrm>
              <a:off x="6385560" y="6023610"/>
              <a:ext cx="1350645"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63 个不稳定维度</a:t>
              </a:r>
            </a:p>
          </p:txBody>
        </p:sp>
      </p:grpSp>
      <p:grpSp>
        <p:nvGrpSpPr>
          <p:cNvPr id="54" name="Group 54"/>
          <p:cNvGrpSpPr/>
          <p:nvPr/>
        </p:nvGrpSpPr>
        <p:grpSpPr>
          <a:xfrm>
            <a:off x="8915400" y="4914900"/>
            <a:ext cx="2590800" cy="1524000"/>
            <a:chOff x="8915400" y="4914900"/>
            <a:chExt cx="2590800" cy="1524000"/>
          </a:xfrm>
        </p:grpSpPr>
        <p:sp>
          <p:nvSpPr>
            <p:cNvPr id="50" name="Rectangle 50"/>
            <p:cNvSpPr/>
            <p:nvPr/>
          </p:nvSpPr>
          <p:spPr>
            <a:xfrm>
              <a:off x="8915400" y="4914900"/>
              <a:ext cx="2590800" cy="1524000"/>
            </a:xfrm>
            <a:prstGeom prst="roundRect">
              <a:avLst>
                <a:gd name="adj" fmla="val 10000"/>
              </a:avLst>
            </a:prstGeom>
            <a:solidFill>
              <a:srgbClr val="FFFFFF"/>
            </a:solidFill>
            <a:ln w="14288">
              <a:solidFill>
                <a:srgbClr val="D9DEE5"/>
              </a:solidFill>
            </a:ln>
          </p:spPr>
        </p:sp>
        <p:sp>
          <p:nvSpPr>
            <p:cNvPr id="51" name="TextBox 51"/>
            <p:cNvSpPr txBox="1"/>
            <p:nvPr/>
          </p:nvSpPr>
          <p:spPr>
            <a:xfrm>
              <a:off x="9123683" y="5123207"/>
              <a:ext cx="1686982" cy="325069"/>
            </a:xfrm>
            <a:prstGeom prst="rect">
              <a:avLst/>
            </a:prstGeom>
            <a:noFill/>
            <a:ln>
              <a:noFill/>
            </a:ln>
          </p:spPr>
          <p:txBody>
            <a:bodyPr wrap="none" lIns="0" tIns="0" rIns="0" bIns="0" anchor="t" anchorCtr="0">
              <a:spAutoFit/>
            </a:bodyPr>
            <a:lstStyle/>
            <a:p>
              <a:pPr algn="l"/>
              <a:r>
                <a:rPr lang="zh-CN" sz="1600" b="1" dirty="0">
                  <a:solidFill>
                    <a:srgbClr val="44546A"/>
                  </a:solidFill>
                  <a:latin typeface="Arial"/>
                  <a:ea typeface="Microsoft YaHei"/>
                  <a:cs typeface="Arial"/>
                </a:rPr>
                <a:t>Top 50 配额展示</a:t>
              </a:r>
            </a:p>
          </p:txBody>
        </p:sp>
        <p:sp>
          <p:nvSpPr>
            <p:cNvPr id="52" name="TextBox 52"/>
            <p:cNvSpPr txBox="1"/>
            <p:nvPr/>
          </p:nvSpPr>
          <p:spPr>
            <a:xfrm>
              <a:off x="9102090" y="5434965"/>
              <a:ext cx="1192759" cy="670560"/>
            </a:xfrm>
            <a:prstGeom prst="rect">
              <a:avLst/>
            </a:prstGeom>
            <a:noFill/>
            <a:ln>
              <a:noFill/>
            </a:ln>
          </p:spPr>
          <p:txBody>
            <a:bodyPr wrap="none" lIns="0" tIns="0" rIns="0" bIns="0" anchor="t" anchorCtr="0">
              <a:spAutoFit/>
            </a:bodyPr>
            <a:lstStyle/>
            <a:p>
              <a:pPr algn="l"/>
              <a:r>
                <a:rPr lang="zh-CN" sz="3300" b="1" dirty="0">
                  <a:solidFill>
                    <a:srgbClr val="1B1C21"/>
                  </a:solidFill>
                  <a:latin typeface="Arial"/>
                  <a:ea typeface="Microsoft YaHei"/>
                  <a:cs typeface="Arial"/>
                </a:rPr>
                <a:t>50</a:t>
              </a:r>
              <a:r>
                <a:rPr lang="zh-CN" sz="1400" b="1" dirty="0">
                  <a:solidFill>
                    <a:srgbClr val="1B1C21"/>
                  </a:solidFill>
                  <a:latin typeface="Arial"/>
                  <a:ea typeface="Microsoft YaHei"/>
                  <a:cs typeface="Arial"/>
                </a:rPr>
                <a:t xml:space="preserve"> 篇</a:t>
              </a:r>
            </a:p>
          </p:txBody>
        </p:sp>
        <p:sp>
          <p:nvSpPr>
            <p:cNvPr id="53" name="TextBox 53"/>
            <p:cNvSpPr txBox="1"/>
            <p:nvPr/>
          </p:nvSpPr>
          <p:spPr>
            <a:xfrm>
              <a:off x="9128760" y="6023610"/>
              <a:ext cx="1942719"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最低 82.60，11 个领域配额</a:t>
              </a:r>
            </a:p>
          </p:txBody>
        </p:sp>
      </p:grpSp>
      <p:grpSp>
        <p:nvGrpSpPr>
          <p:cNvPr id="58" name="Group 58"/>
          <p:cNvGrpSpPr/>
          <p:nvPr/>
        </p:nvGrpSpPr>
        <p:grpSpPr>
          <a:xfrm>
            <a:off x="0" y="6516343"/>
            <a:ext cx="12192000" cy="341657"/>
            <a:chOff x="0" y="6516343"/>
            <a:chExt cx="12192000" cy="341657"/>
          </a:xfrm>
        </p:grpSpPr>
        <p:sp>
          <p:nvSpPr>
            <p:cNvPr id="55" name="Rectangle 55"/>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56" name="TextBox 56"/>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57" name="TextBox 57"/>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amond(in)">
                                      <p:cBhvr>
                                        <p:cTn id="7" dur="400"/>
                                        <p:tgtEl>
                                          <p:spTgt spid="1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ipe(left)">
                                      <p:cBhvr>
                                        <p:cTn id="19" dur="400"/>
                                        <p:tgtEl>
                                          <p:spTgt spid="34"/>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slide(fromBottom)">
                                      <p:cBhvr>
                                        <p:cTn id="23" dur="400"/>
                                        <p:tgtEl>
                                          <p:spTgt spid="39"/>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image">
                                      <p:cBhvr>
                                        <p:cTn id="27" dur="400"/>
                                        <p:tgtEl>
                                          <p:spTgt spid="44"/>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childTnLst>
                          </p:cTn>
                        </p:par>
                        <p:par>
                          <p:cTn id="32" fill="hold">
                            <p:stCondLst>
                              <p:cond delay="6300"/>
                            </p:stCondLst>
                            <p:childTnLst>
                              <p:par>
                                <p:cTn id="33" presetID="22" presetClass="entr" presetSubtype="1" fill="hold" nodeType="after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wipe(left)">
                                      <p:cBhvr>
                                        <p:cTn id="35"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30" grpId="0"/>
      <p:bldP spid="34" grpId="0"/>
      <p:bldP spid="39" grpId="0"/>
      <p:bldP spid="44" grpId="0"/>
      <p:bldP spid="49" grpId="0"/>
      <p:bldP spid="5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3599240"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专家团队与样本体系</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9" name="Group 9"/>
          <p:cNvGrpSpPr/>
          <p:nvPr/>
        </p:nvGrpSpPr>
        <p:grpSpPr>
          <a:xfrm>
            <a:off x="660397" y="1022323"/>
            <a:ext cx="6016297" cy="406451"/>
            <a:chOff x="660397" y="1022323"/>
            <a:chExt cx="6016297" cy="406451"/>
          </a:xfrm>
        </p:grpSpPr>
        <p:sp>
          <p:nvSpPr>
            <p:cNvPr id="8" name="TextBox 8"/>
            <p:cNvSpPr txBox="1"/>
            <p:nvPr/>
          </p:nvSpPr>
          <p:spPr>
            <a:xfrm>
              <a:off x="660397" y="1022323"/>
              <a:ext cx="6016297"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三级递进样本设计</a:t>
              </a:r>
              <a:r>
                <a:rPr lang="zh-CN" sz="1600" dirty="0">
                  <a:solidFill>
                    <a:srgbClr val="5A6472"/>
                  </a:solidFill>
                  <a:latin typeface="Arial"/>
                  <a:ea typeface="Microsoft YaHei"/>
                  <a:cs typeface="Arial"/>
                </a:rPr>
                <a:t xml:space="preserve"> 严格防止调参集与验证集混用</a:t>
              </a:r>
            </a:p>
          </p:txBody>
        </p:sp>
      </p:grpSp>
      <p:grpSp>
        <p:nvGrpSpPr>
          <p:cNvPr id="18" name="Group 18"/>
          <p:cNvGrpSpPr/>
          <p:nvPr/>
        </p:nvGrpSpPr>
        <p:grpSpPr>
          <a:xfrm>
            <a:off x="685800" y="1524000"/>
            <a:ext cx="3124200" cy="2552700"/>
            <a:chOff x="685800" y="1524000"/>
            <a:chExt cx="3124200" cy="2552700"/>
          </a:xfrm>
        </p:grpSpPr>
        <p:sp>
          <p:nvSpPr>
            <p:cNvPr id="10" name="Rectangle 10"/>
            <p:cNvSpPr/>
            <p:nvPr/>
          </p:nvSpPr>
          <p:spPr>
            <a:xfrm>
              <a:off x="685800" y="1524000"/>
              <a:ext cx="3124200" cy="2552700"/>
            </a:xfrm>
            <a:prstGeom prst="roundRect">
              <a:avLst>
                <a:gd name="adj" fmla="val 5970"/>
              </a:avLst>
            </a:prstGeom>
            <a:solidFill>
              <a:srgbClr val="FFFFFF"/>
            </a:solidFill>
            <a:ln w="14288">
              <a:solidFill>
                <a:srgbClr val="C8161E"/>
              </a:solidFill>
            </a:ln>
          </p:spPr>
        </p:sp>
        <p:sp>
          <p:nvSpPr>
            <p:cNvPr id="11" name="Rectangle 11"/>
            <p:cNvSpPr/>
            <p:nvPr/>
          </p:nvSpPr>
          <p:spPr>
            <a:xfrm>
              <a:off x="685800" y="1524000"/>
              <a:ext cx="3124200" cy="571500"/>
            </a:xfrm>
            <a:prstGeom prst="roundRect">
              <a:avLst>
                <a:gd name="adj" fmla="val 26667"/>
              </a:avLst>
            </a:prstGeom>
            <a:solidFill>
              <a:srgbClr val="C8161E"/>
            </a:solidFill>
            <a:ln>
              <a:noFill/>
            </a:ln>
          </p:spPr>
        </p:sp>
        <p:sp>
          <p:nvSpPr>
            <p:cNvPr id="12" name="Rectangle 12"/>
            <p:cNvSpPr/>
            <p:nvPr/>
          </p:nvSpPr>
          <p:spPr>
            <a:xfrm>
              <a:off x="685800" y="1809750"/>
              <a:ext cx="3124200" cy="285750"/>
            </a:xfrm>
            <a:prstGeom prst="rect">
              <a:avLst/>
            </a:prstGeom>
            <a:solidFill>
              <a:srgbClr val="C8161E"/>
            </a:solidFill>
            <a:ln>
              <a:noFill/>
            </a:ln>
          </p:spPr>
        </p:sp>
        <p:sp>
          <p:nvSpPr>
            <p:cNvPr id="13" name="TextBox 13"/>
            <p:cNvSpPr txBox="1"/>
            <p:nvPr/>
          </p:nvSpPr>
          <p:spPr>
            <a:xfrm>
              <a:off x="891540" y="1710690"/>
              <a:ext cx="1809941"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① 校准 / 回归集</a:t>
              </a:r>
            </a:p>
          </p:txBody>
        </p:sp>
        <p:sp>
          <p:nvSpPr>
            <p:cNvPr id="14" name="TextBox 14"/>
            <p:cNvSpPr txBox="1"/>
            <p:nvPr/>
          </p:nvSpPr>
          <p:spPr>
            <a:xfrm>
              <a:off x="876300" y="2266950"/>
              <a:ext cx="853297" cy="609600"/>
            </a:xfrm>
            <a:prstGeom prst="rect">
              <a:avLst/>
            </a:prstGeom>
            <a:noFill/>
            <a:ln>
              <a:noFill/>
            </a:ln>
          </p:spPr>
          <p:txBody>
            <a:bodyPr wrap="none" lIns="0" tIns="0" rIns="0" bIns="0" anchor="t" anchorCtr="0">
              <a:spAutoFit/>
            </a:bodyPr>
            <a:lstStyle/>
            <a:p>
              <a:pPr algn="l"/>
              <a:r>
                <a:rPr lang="zh-CN" sz="3000" b="1" dirty="0">
                  <a:solidFill>
                    <a:srgbClr val="C8161E"/>
                  </a:solidFill>
                  <a:latin typeface="Arial"/>
                  <a:ea typeface="Microsoft YaHei"/>
                  <a:cs typeface="Arial"/>
                </a:rPr>
                <a:t xml:space="preserve">3 </a:t>
              </a:r>
              <a:r>
                <a:rPr lang="zh-CN" sz="1600" b="1" dirty="0">
                  <a:solidFill>
                    <a:srgbClr val="5A6472"/>
                  </a:solidFill>
                  <a:latin typeface="Arial"/>
                  <a:ea typeface="Microsoft YaHei"/>
                  <a:cs typeface="Arial"/>
                </a:rPr>
                <a:t>篇</a:t>
              </a:r>
            </a:p>
          </p:txBody>
        </p:sp>
        <p:sp>
          <p:nvSpPr>
            <p:cNvPr id="15" name="TextBox 15"/>
            <p:cNvSpPr txBox="1"/>
            <p:nvPr/>
          </p:nvSpPr>
          <p:spPr>
            <a:xfrm>
              <a:off x="896617" y="2877793"/>
              <a:ext cx="208952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调参期间反复运行的快速</a:t>
              </a:r>
            </a:p>
          </p:txBody>
        </p:sp>
        <p:sp>
          <p:nvSpPr>
            <p:cNvPr id="16" name="TextBox 16"/>
            <p:cNvSpPr txBox="1"/>
            <p:nvPr/>
          </p:nvSpPr>
          <p:spPr>
            <a:xfrm>
              <a:off x="896617" y="3144493"/>
              <a:ext cx="78246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回归检查</a:t>
              </a:r>
            </a:p>
          </p:txBody>
        </p:sp>
        <p:sp>
          <p:nvSpPr>
            <p:cNvPr id="17" name="TextBox 17"/>
            <p:cNvSpPr txBox="1"/>
            <p:nvPr/>
          </p:nvSpPr>
          <p:spPr>
            <a:xfrm>
              <a:off x="899160" y="3604260"/>
              <a:ext cx="1838706" cy="243840"/>
            </a:xfrm>
            <a:prstGeom prst="rect">
              <a:avLst/>
            </a:prstGeom>
            <a:noFill/>
            <a:ln>
              <a:noFill/>
            </a:ln>
          </p:spPr>
          <p:txBody>
            <a:bodyPr wrap="none" lIns="0" tIns="0" rIns="0" bIns="0" anchor="t" anchorCtr="0">
              <a:spAutoFit/>
            </a:bodyPr>
            <a:lstStyle/>
            <a:p>
              <a:pPr algn="l"/>
              <a:r>
                <a:rPr lang="zh-CN" sz="1200" dirty="0">
                  <a:solidFill>
                    <a:srgbClr val="9AA3AE"/>
                  </a:solidFill>
                  <a:latin typeface="Arial"/>
                  <a:ea typeface="Microsoft YaHei"/>
                  <a:cs typeface="Arial"/>
                </a:rPr>
                <a:t>佀化强 · 郑晓剑 · 杜宴林</a:t>
              </a:r>
            </a:p>
          </p:txBody>
        </p:sp>
      </p:grpSp>
      <p:grpSp>
        <p:nvGrpSpPr>
          <p:cNvPr id="27" name="Group 27"/>
          <p:cNvGrpSpPr/>
          <p:nvPr/>
        </p:nvGrpSpPr>
        <p:grpSpPr>
          <a:xfrm>
            <a:off x="4533900" y="1524000"/>
            <a:ext cx="3124200" cy="2552700"/>
            <a:chOff x="4533900" y="1524000"/>
            <a:chExt cx="3124200" cy="2552700"/>
          </a:xfrm>
        </p:grpSpPr>
        <p:sp>
          <p:nvSpPr>
            <p:cNvPr id="19" name="Rectangle 19"/>
            <p:cNvSpPr/>
            <p:nvPr/>
          </p:nvSpPr>
          <p:spPr>
            <a:xfrm>
              <a:off x="4533900" y="1524000"/>
              <a:ext cx="3124200" cy="2552700"/>
            </a:xfrm>
            <a:prstGeom prst="roundRect">
              <a:avLst>
                <a:gd name="adj" fmla="val 5970"/>
              </a:avLst>
            </a:prstGeom>
            <a:solidFill>
              <a:srgbClr val="FFFFFF"/>
            </a:solidFill>
            <a:ln w="14288">
              <a:solidFill>
                <a:srgbClr val="1F4D78"/>
              </a:solidFill>
            </a:ln>
          </p:spPr>
        </p:sp>
        <p:sp>
          <p:nvSpPr>
            <p:cNvPr id="20" name="Rectangle 20"/>
            <p:cNvSpPr/>
            <p:nvPr/>
          </p:nvSpPr>
          <p:spPr>
            <a:xfrm>
              <a:off x="4533900" y="1524000"/>
              <a:ext cx="3124200" cy="571500"/>
            </a:xfrm>
            <a:prstGeom prst="roundRect">
              <a:avLst>
                <a:gd name="adj" fmla="val 26667"/>
              </a:avLst>
            </a:prstGeom>
            <a:solidFill>
              <a:srgbClr val="1F4D78"/>
            </a:solidFill>
            <a:ln>
              <a:noFill/>
            </a:ln>
          </p:spPr>
        </p:sp>
        <p:sp>
          <p:nvSpPr>
            <p:cNvPr id="21" name="Rectangle 21"/>
            <p:cNvSpPr/>
            <p:nvPr/>
          </p:nvSpPr>
          <p:spPr>
            <a:xfrm>
              <a:off x="4533900" y="1809750"/>
              <a:ext cx="3124200" cy="285750"/>
            </a:xfrm>
            <a:prstGeom prst="rect">
              <a:avLst/>
            </a:prstGeom>
            <a:solidFill>
              <a:srgbClr val="1F4D78"/>
            </a:solidFill>
            <a:ln>
              <a:noFill/>
            </a:ln>
          </p:spPr>
        </p:sp>
        <p:sp>
          <p:nvSpPr>
            <p:cNvPr id="22" name="TextBox 22"/>
            <p:cNvSpPr txBox="1"/>
            <p:nvPr/>
          </p:nvSpPr>
          <p:spPr>
            <a:xfrm>
              <a:off x="4739640" y="1710690"/>
              <a:ext cx="1520104"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② 冻结测试集</a:t>
              </a:r>
            </a:p>
          </p:txBody>
        </p:sp>
        <p:sp>
          <p:nvSpPr>
            <p:cNvPr id="23" name="TextBox 23"/>
            <p:cNvSpPr txBox="1"/>
            <p:nvPr/>
          </p:nvSpPr>
          <p:spPr>
            <a:xfrm>
              <a:off x="4724400" y="2266950"/>
              <a:ext cx="853297" cy="609600"/>
            </a:xfrm>
            <a:prstGeom prst="rect">
              <a:avLst/>
            </a:prstGeom>
            <a:noFill/>
            <a:ln>
              <a:noFill/>
            </a:ln>
          </p:spPr>
          <p:txBody>
            <a:bodyPr wrap="none" lIns="0" tIns="0" rIns="0" bIns="0" anchor="t" anchorCtr="0">
              <a:spAutoFit/>
            </a:bodyPr>
            <a:lstStyle/>
            <a:p>
              <a:pPr algn="l"/>
              <a:r>
                <a:rPr lang="zh-CN" sz="3000" b="1" dirty="0">
                  <a:solidFill>
                    <a:srgbClr val="1F4D78"/>
                  </a:solidFill>
                  <a:latin typeface="Arial"/>
                  <a:ea typeface="Microsoft YaHei"/>
                  <a:cs typeface="Arial"/>
                </a:rPr>
                <a:t xml:space="preserve">4 </a:t>
              </a:r>
              <a:r>
                <a:rPr lang="zh-CN" sz="1600" b="1" dirty="0">
                  <a:solidFill>
                    <a:srgbClr val="5A6472"/>
                  </a:solidFill>
                  <a:latin typeface="Arial"/>
                  <a:ea typeface="Microsoft YaHei"/>
                  <a:cs typeface="Arial"/>
                </a:rPr>
                <a:t>篇</a:t>
              </a:r>
            </a:p>
          </p:txBody>
        </p:sp>
        <p:sp>
          <p:nvSpPr>
            <p:cNvPr id="24" name="TextBox 24"/>
            <p:cNvSpPr txBox="1"/>
            <p:nvPr/>
          </p:nvSpPr>
          <p:spPr>
            <a:xfrm>
              <a:off x="4744717" y="2877793"/>
              <a:ext cx="208952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调参后冻结测试，仅修复</a:t>
              </a:r>
            </a:p>
          </p:txBody>
        </p:sp>
        <p:sp>
          <p:nvSpPr>
            <p:cNvPr id="25" name="TextBox 25"/>
            <p:cNvSpPr txBox="1"/>
            <p:nvPr/>
          </p:nvSpPr>
          <p:spPr>
            <a:xfrm>
              <a:off x="4744717" y="3144493"/>
              <a:ext cx="96918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可归因问题</a:t>
              </a:r>
            </a:p>
          </p:txBody>
        </p:sp>
        <p:sp>
          <p:nvSpPr>
            <p:cNvPr id="26" name="TextBox 26"/>
            <p:cNvSpPr txBox="1"/>
            <p:nvPr/>
          </p:nvSpPr>
          <p:spPr>
            <a:xfrm>
              <a:off x="4747260" y="3604260"/>
              <a:ext cx="2342769" cy="243840"/>
            </a:xfrm>
            <a:prstGeom prst="rect">
              <a:avLst/>
            </a:prstGeom>
            <a:noFill/>
            <a:ln>
              <a:noFill/>
            </a:ln>
          </p:spPr>
          <p:txBody>
            <a:bodyPr wrap="none" lIns="0" tIns="0" rIns="0" bIns="0" anchor="t" anchorCtr="0">
              <a:spAutoFit/>
            </a:bodyPr>
            <a:lstStyle/>
            <a:p>
              <a:pPr algn="l"/>
              <a:r>
                <a:rPr lang="zh-CN" sz="1200" dirty="0">
                  <a:solidFill>
                    <a:srgbClr val="9AA3AE"/>
                  </a:solidFill>
                  <a:latin typeface="Arial"/>
                  <a:ea typeface="Microsoft YaHei"/>
                  <a:cs typeface="Arial"/>
                </a:rPr>
                <a:t>马长山 · 尚海明 · 许可 · 周光权</a:t>
              </a:r>
            </a:p>
          </p:txBody>
        </p:sp>
      </p:grpSp>
      <p:grpSp>
        <p:nvGrpSpPr>
          <p:cNvPr id="36" name="Group 36"/>
          <p:cNvGrpSpPr/>
          <p:nvPr/>
        </p:nvGrpSpPr>
        <p:grpSpPr>
          <a:xfrm>
            <a:off x="8382000" y="1524000"/>
            <a:ext cx="3124200" cy="2552700"/>
            <a:chOff x="8382000" y="1524000"/>
            <a:chExt cx="3124200" cy="2552700"/>
          </a:xfrm>
        </p:grpSpPr>
        <p:sp>
          <p:nvSpPr>
            <p:cNvPr id="28" name="Rectangle 28"/>
            <p:cNvSpPr/>
            <p:nvPr/>
          </p:nvSpPr>
          <p:spPr>
            <a:xfrm>
              <a:off x="8382000" y="1524000"/>
              <a:ext cx="3124200" cy="2552700"/>
            </a:xfrm>
            <a:prstGeom prst="roundRect">
              <a:avLst>
                <a:gd name="adj" fmla="val 5970"/>
              </a:avLst>
            </a:prstGeom>
            <a:solidFill>
              <a:srgbClr val="FFFFFF"/>
            </a:solidFill>
            <a:ln w="14288">
              <a:solidFill>
                <a:srgbClr val="2E7D32"/>
              </a:solidFill>
            </a:ln>
          </p:spPr>
        </p:sp>
        <p:sp>
          <p:nvSpPr>
            <p:cNvPr id="29" name="Rectangle 29"/>
            <p:cNvSpPr/>
            <p:nvPr/>
          </p:nvSpPr>
          <p:spPr>
            <a:xfrm>
              <a:off x="8382000" y="1524000"/>
              <a:ext cx="3124200" cy="571500"/>
            </a:xfrm>
            <a:prstGeom prst="roundRect">
              <a:avLst>
                <a:gd name="adj" fmla="val 26667"/>
              </a:avLst>
            </a:prstGeom>
            <a:solidFill>
              <a:srgbClr val="2E7D32"/>
            </a:solidFill>
            <a:ln>
              <a:noFill/>
            </a:ln>
          </p:spPr>
        </p:sp>
        <p:sp>
          <p:nvSpPr>
            <p:cNvPr id="30" name="Rectangle 30"/>
            <p:cNvSpPr/>
            <p:nvPr/>
          </p:nvSpPr>
          <p:spPr>
            <a:xfrm>
              <a:off x="8382000" y="1809750"/>
              <a:ext cx="3124200" cy="285750"/>
            </a:xfrm>
            <a:prstGeom prst="rect">
              <a:avLst/>
            </a:prstGeom>
            <a:solidFill>
              <a:srgbClr val="2E7D32"/>
            </a:solidFill>
            <a:ln>
              <a:noFill/>
            </a:ln>
          </p:spPr>
        </p:sp>
        <p:sp>
          <p:nvSpPr>
            <p:cNvPr id="31" name="TextBox 31"/>
            <p:cNvSpPr txBox="1"/>
            <p:nvPr/>
          </p:nvSpPr>
          <p:spPr>
            <a:xfrm>
              <a:off x="8587740" y="1710690"/>
              <a:ext cx="1016041"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③ 验证集</a:t>
              </a:r>
            </a:p>
          </p:txBody>
        </p:sp>
        <p:sp>
          <p:nvSpPr>
            <p:cNvPr id="32" name="TextBox 32"/>
            <p:cNvSpPr txBox="1"/>
            <p:nvPr/>
          </p:nvSpPr>
          <p:spPr>
            <a:xfrm>
              <a:off x="8572500" y="2266950"/>
              <a:ext cx="853297" cy="609600"/>
            </a:xfrm>
            <a:prstGeom prst="rect">
              <a:avLst/>
            </a:prstGeom>
            <a:noFill/>
            <a:ln>
              <a:noFill/>
            </a:ln>
          </p:spPr>
          <p:txBody>
            <a:bodyPr wrap="none" lIns="0" tIns="0" rIns="0" bIns="0" anchor="t" anchorCtr="0">
              <a:spAutoFit/>
            </a:bodyPr>
            <a:lstStyle/>
            <a:p>
              <a:pPr algn="l"/>
              <a:r>
                <a:rPr lang="zh-CN" sz="3000" b="1" dirty="0">
                  <a:solidFill>
                    <a:srgbClr val="2E7D32"/>
                  </a:solidFill>
                  <a:latin typeface="Arial"/>
                  <a:ea typeface="Microsoft YaHei"/>
                  <a:cs typeface="Arial"/>
                </a:rPr>
                <a:t xml:space="preserve">8 </a:t>
              </a:r>
              <a:r>
                <a:rPr lang="zh-CN" sz="1600" b="1" dirty="0">
                  <a:solidFill>
                    <a:srgbClr val="5A6472"/>
                  </a:solidFill>
                  <a:latin typeface="Arial"/>
                  <a:ea typeface="Microsoft YaHei"/>
                  <a:cs typeface="Arial"/>
                </a:rPr>
                <a:t>篇</a:t>
              </a:r>
            </a:p>
          </p:txBody>
        </p:sp>
        <p:sp>
          <p:nvSpPr>
            <p:cNvPr id="33" name="TextBox 33"/>
            <p:cNvSpPr txBox="1"/>
            <p:nvPr/>
          </p:nvSpPr>
          <p:spPr>
            <a:xfrm>
              <a:off x="8592817" y="2877793"/>
              <a:ext cx="208952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规则冻结后一次性运行，</a:t>
              </a:r>
            </a:p>
          </p:txBody>
        </p:sp>
        <p:sp>
          <p:nvSpPr>
            <p:cNvPr id="34" name="TextBox 34"/>
            <p:cNvSpPr txBox="1"/>
            <p:nvPr/>
          </p:nvSpPr>
          <p:spPr>
            <a:xfrm>
              <a:off x="8592817" y="3144493"/>
              <a:ext cx="115590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验证泛化能力</a:t>
              </a:r>
            </a:p>
          </p:txBody>
        </p:sp>
        <p:sp>
          <p:nvSpPr>
            <p:cNvPr id="35" name="TextBox 35"/>
            <p:cNvSpPr txBox="1"/>
            <p:nvPr/>
          </p:nvSpPr>
          <p:spPr>
            <a:xfrm>
              <a:off x="8595360" y="3604260"/>
              <a:ext cx="2070735" cy="243840"/>
            </a:xfrm>
            <a:prstGeom prst="rect">
              <a:avLst/>
            </a:prstGeom>
            <a:noFill/>
            <a:ln>
              <a:noFill/>
            </a:ln>
          </p:spPr>
          <p:txBody>
            <a:bodyPr wrap="none" lIns="0" tIns="0" rIns="0" bIns="0" anchor="t" anchorCtr="0">
              <a:spAutoFit/>
            </a:bodyPr>
            <a:lstStyle/>
            <a:p>
              <a:pPr algn="l"/>
              <a:r>
                <a:rPr lang="zh-CN" sz="1200" dirty="0">
                  <a:solidFill>
                    <a:srgbClr val="9AA3AE"/>
                  </a:solidFill>
                  <a:latin typeface="Arial"/>
                  <a:ea typeface="Microsoft YaHei"/>
                  <a:cs typeface="Arial"/>
                </a:rPr>
                <a:t>张凌寒 · 雷磊 · 蒋舸 等 8 篇</a:t>
              </a:r>
            </a:p>
          </p:txBody>
        </p:sp>
      </p:grpSp>
      <p:grpSp>
        <p:nvGrpSpPr>
          <p:cNvPr id="45" name="Group 45"/>
          <p:cNvGrpSpPr/>
          <p:nvPr/>
        </p:nvGrpSpPr>
        <p:grpSpPr>
          <a:xfrm>
            <a:off x="3994150" y="2749550"/>
            <a:ext cx="4203700" cy="101600"/>
            <a:chOff x="3994150" y="2749550"/>
            <a:chExt cx="4203700" cy="101600"/>
          </a:xfrm>
        </p:grpSpPr>
        <p:grpSp>
          <p:nvGrpSpPr>
            <p:cNvPr id="40" name="Group 40"/>
            <p:cNvGrpSpPr/>
            <p:nvPr/>
          </p:nvGrpSpPr>
          <p:grpSpPr>
            <a:xfrm>
              <a:off x="3994150" y="2749550"/>
              <a:ext cx="355600" cy="101600"/>
              <a:chOff x="3994150" y="2749550"/>
              <a:chExt cx="355600" cy="101600"/>
            </a:xfrm>
          </p:grpSpPr>
          <p:sp>
            <p:nvSpPr>
              <p:cNvPr id="37" name="Freeform 37"/>
              <p:cNvSpPr/>
              <p:nvPr/>
            </p:nvSpPr>
            <p:spPr>
              <a:xfrm>
                <a:off x="3994150" y="2800350"/>
                <a:ext cx="355600" cy="9525"/>
              </a:xfrm>
              <a:custGeom>
                <a:avLst/>
                <a:gdLst/>
                <a:ahLst/>
                <a:cxnLst/>
                <a:rect l="l" t="t" r="r" b="b"/>
                <a:pathLst>
                  <a:path w="355600" h="9525">
                    <a:moveTo>
                      <a:pt x="0" y="0"/>
                    </a:moveTo>
                    <a:lnTo>
                      <a:pt x="355600" y="0"/>
                    </a:lnTo>
                  </a:path>
                </a:pathLst>
              </a:custGeom>
              <a:noFill/>
              <a:ln w="19050">
                <a:solidFill>
                  <a:srgbClr val="9AA3AE"/>
                </a:solidFill>
              </a:ln>
            </p:spPr>
          </p:sp>
          <p:sp>
            <p:nvSpPr>
              <p:cNvPr id="38" name="Freeform 38"/>
              <p:cNvSpPr/>
              <p:nvPr/>
            </p:nvSpPr>
            <p:spPr>
              <a:xfrm>
                <a:off x="4248150" y="2800350"/>
                <a:ext cx="101600" cy="50800"/>
              </a:xfrm>
              <a:custGeom>
                <a:avLst/>
                <a:gdLst/>
                <a:ahLst/>
                <a:cxnLst/>
                <a:rect l="l" t="t" r="r" b="b"/>
                <a:pathLst>
                  <a:path w="101600" h="50800">
                    <a:moveTo>
                      <a:pt x="0" y="50800"/>
                    </a:moveTo>
                    <a:lnTo>
                      <a:pt x="101600" y="0"/>
                    </a:lnTo>
                  </a:path>
                </a:pathLst>
              </a:custGeom>
              <a:noFill/>
              <a:ln w="19050">
                <a:solidFill>
                  <a:srgbClr val="9AA3AE"/>
                </a:solidFill>
              </a:ln>
            </p:spPr>
          </p:sp>
          <p:sp>
            <p:nvSpPr>
              <p:cNvPr id="39" name="Freeform 39"/>
              <p:cNvSpPr/>
              <p:nvPr/>
            </p:nvSpPr>
            <p:spPr>
              <a:xfrm>
                <a:off x="4248150" y="2749550"/>
                <a:ext cx="101600" cy="50800"/>
              </a:xfrm>
              <a:custGeom>
                <a:avLst/>
                <a:gdLst/>
                <a:ahLst/>
                <a:cxnLst/>
                <a:rect l="l" t="t" r="r" b="b"/>
                <a:pathLst>
                  <a:path w="101600" h="50800">
                    <a:moveTo>
                      <a:pt x="0" y="0"/>
                    </a:moveTo>
                    <a:lnTo>
                      <a:pt x="101600" y="50800"/>
                    </a:lnTo>
                  </a:path>
                </a:pathLst>
              </a:custGeom>
              <a:noFill/>
              <a:ln w="19050">
                <a:solidFill>
                  <a:srgbClr val="9AA3AE"/>
                </a:solidFill>
              </a:ln>
            </p:spPr>
          </p:sp>
        </p:grpSp>
        <p:grpSp>
          <p:nvGrpSpPr>
            <p:cNvPr id="44" name="Group 44"/>
            <p:cNvGrpSpPr/>
            <p:nvPr/>
          </p:nvGrpSpPr>
          <p:grpSpPr>
            <a:xfrm>
              <a:off x="7842250" y="2749550"/>
              <a:ext cx="355600" cy="101600"/>
              <a:chOff x="7842250" y="2749550"/>
              <a:chExt cx="355600" cy="101600"/>
            </a:xfrm>
          </p:grpSpPr>
          <p:sp>
            <p:nvSpPr>
              <p:cNvPr id="41" name="Freeform 41"/>
              <p:cNvSpPr/>
              <p:nvPr/>
            </p:nvSpPr>
            <p:spPr>
              <a:xfrm>
                <a:off x="7842250" y="2800350"/>
                <a:ext cx="355600" cy="9525"/>
              </a:xfrm>
              <a:custGeom>
                <a:avLst/>
                <a:gdLst/>
                <a:ahLst/>
                <a:cxnLst/>
                <a:rect l="l" t="t" r="r" b="b"/>
                <a:pathLst>
                  <a:path w="355600" h="9525">
                    <a:moveTo>
                      <a:pt x="0" y="0"/>
                    </a:moveTo>
                    <a:lnTo>
                      <a:pt x="355600" y="0"/>
                    </a:lnTo>
                  </a:path>
                </a:pathLst>
              </a:custGeom>
              <a:noFill/>
              <a:ln w="19050">
                <a:solidFill>
                  <a:srgbClr val="9AA3AE"/>
                </a:solidFill>
              </a:ln>
            </p:spPr>
          </p:sp>
          <p:sp>
            <p:nvSpPr>
              <p:cNvPr id="42" name="Freeform 42"/>
              <p:cNvSpPr/>
              <p:nvPr/>
            </p:nvSpPr>
            <p:spPr>
              <a:xfrm>
                <a:off x="8096250" y="2800350"/>
                <a:ext cx="101600" cy="50800"/>
              </a:xfrm>
              <a:custGeom>
                <a:avLst/>
                <a:gdLst/>
                <a:ahLst/>
                <a:cxnLst/>
                <a:rect l="l" t="t" r="r" b="b"/>
                <a:pathLst>
                  <a:path w="101600" h="50800">
                    <a:moveTo>
                      <a:pt x="0" y="50800"/>
                    </a:moveTo>
                    <a:lnTo>
                      <a:pt x="101600" y="0"/>
                    </a:lnTo>
                  </a:path>
                </a:pathLst>
              </a:custGeom>
              <a:noFill/>
              <a:ln w="19050">
                <a:solidFill>
                  <a:srgbClr val="9AA3AE"/>
                </a:solidFill>
              </a:ln>
            </p:spPr>
          </p:sp>
          <p:sp>
            <p:nvSpPr>
              <p:cNvPr id="43" name="Freeform 43"/>
              <p:cNvSpPr/>
              <p:nvPr/>
            </p:nvSpPr>
            <p:spPr>
              <a:xfrm>
                <a:off x="8096250" y="2749550"/>
                <a:ext cx="101600" cy="50800"/>
              </a:xfrm>
              <a:custGeom>
                <a:avLst/>
                <a:gdLst/>
                <a:ahLst/>
                <a:cxnLst/>
                <a:rect l="l" t="t" r="r" b="b"/>
                <a:pathLst>
                  <a:path w="101600" h="50800">
                    <a:moveTo>
                      <a:pt x="0" y="0"/>
                    </a:moveTo>
                    <a:lnTo>
                      <a:pt x="101600" y="50800"/>
                    </a:lnTo>
                  </a:path>
                </a:pathLst>
              </a:custGeom>
              <a:noFill/>
              <a:ln w="19050">
                <a:solidFill>
                  <a:srgbClr val="9AA3AE"/>
                </a:solidFill>
              </a:ln>
            </p:spPr>
          </p:sp>
        </p:grpSp>
      </p:grpSp>
      <p:grpSp>
        <p:nvGrpSpPr>
          <p:cNvPr id="58" name="Group 58"/>
          <p:cNvGrpSpPr/>
          <p:nvPr/>
        </p:nvGrpSpPr>
        <p:grpSpPr>
          <a:xfrm>
            <a:off x="685800" y="4343400"/>
            <a:ext cx="10820400" cy="1752600"/>
            <a:chOff x="685800" y="4343400"/>
            <a:chExt cx="10820400" cy="1752600"/>
          </a:xfrm>
        </p:grpSpPr>
        <p:sp>
          <p:nvSpPr>
            <p:cNvPr id="46" name="Rectangle 46"/>
            <p:cNvSpPr/>
            <p:nvPr/>
          </p:nvSpPr>
          <p:spPr>
            <a:xfrm>
              <a:off x="685800" y="4343400"/>
              <a:ext cx="10820400" cy="1752600"/>
            </a:xfrm>
            <a:prstGeom prst="roundRect">
              <a:avLst>
                <a:gd name="adj" fmla="val 8696"/>
              </a:avLst>
            </a:prstGeom>
            <a:solidFill>
              <a:srgbClr val="E07B00">
                <a:alpha val="7000"/>
              </a:srgbClr>
            </a:solidFill>
            <a:ln w="14288">
              <a:solidFill>
                <a:srgbClr val="E07B00"/>
              </a:solidFill>
            </a:ln>
          </p:spPr>
        </p:sp>
        <p:grpSp>
          <p:nvGrpSpPr>
            <p:cNvPr id="50" name="Group 50"/>
            <p:cNvGrpSpPr/>
            <p:nvPr/>
          </p:nvGrpSpPr>
          <p:grpSpPr>
            <a:xfrm>
              <a:off x="978339" y="4646098"/>
              <a:ext cx="272162" cy="233823"/>
              <a:chOff x="978339" y="4646098"/>
              <a:chExt cx="272162" cy="233823"/>
            </a:xfrm>
          </p:grpSpPr>
          <p:sp>
            <p:nvSpPr>
              <p:cNvPr id="47" name="Freeform 47"/>
              <p:cNvSpPr/>
              <p:nvPr/>
            </p:nvSpPr>
            <p:spPr>
              <a:xfrm>
                <a:off x="1114425" y="4731544"/>
                <a:ext cx="9525" cy="53975"/>
              </a:xfrm>
              <a:custGeom>
                <a:avLst/>
                <a:gdLst/>
                <a:ahLst/>
                <a:cxnLst/>
                <a:rect l="l" t="t" r="r" b="b"/>
                <a:pathLst>
                  <a:path w="9525" h="53975">
                    <a:moveTo>
                      <a:pt x="0" y="0"/>
                    </a:moveTo>
                    <a:lnTo>
                      <a:pt x="0" y="53975"/>
                    </a:lnTo>
                  </a:path>
                </a:pathLst>
              </a:custGeom>
              <a:noFill/>
              <a:ln w="19050">
                <a:solidFill>
                  <a:srgbClr val="E07B00"/>
                </a:solidFill>
              </a:ln>
            </p:spPr>
          </p:sp>
          <p:sp>
            <p:nvSpPr>
              <p:cNvPr id="48" name="Freeform 48"/>
              <p:cNvSpPr/>
              <p:nvPr/>
            </p:nvSpPr>
            <p:spPr>
              <a:xfrm>
                <a:off x="978339" y="4646098"/>
                <a:ext cx="272162" cy="233823"/>
              </a:xfrm>
              <a:custGeom>
                <a:avLst/>
                <a:gdLst/>
                <a:ahLst/>
                <a:cxnLst/>
                <a:rect l="l" t="t" r="r" b="b"/>
                <a:pathLst>
                  <a:path w="272162" h="233823">
                    <a:moveTo>
                      <a:pt x="113997" y="12458"/>
                    </a:moveTo>
                    <a:lnTo>
                      <a:pt x="4616" y="195082"/>
                    </a:lnTo>
                    <a:cubicBezTo>
                      <a:pt x="28" y="203028"/>
                      <a:pt x="0" y="212812"/>
                      <a:pt x="4543" y="220784"/>
                    </a:cubicBezTo>
                    <a:cubicBezTo>
                      <a:pt x="9086" y="228756"/>
                      <a:pt x="17517" y="233720"/>
                      <a:pt x="26692" y="233823"/>
                    </a:cubicBezTo>
                    <a:lnTo>
                      <a:pt x="245480" y="233823"/>
                    </a:lnTo>
                    <a:cubicBezTo>
                      <a:pt x="254651" y="233717"/>
                      <a:pt x="263078" y="228755"/>
                      <a:pt x="267620" y="220788"/>
                    </a:cubicBezTo>
                    <a:cubicBezTo>
                      <a:pt x="272162" y="212820"/>
                      <a:pt x="272137" y="203041"/>
                      <a:pt x="267556" y="195096"/>
                    </a:cubicBezTo>
                    <a:lnTo>
                      <a:pt x="158175" y="12444"/>
                    </a:lnTo>
                    <a:cubicBezTo>
                      <a:pt x="153495" y="4719"/>
                      <a:pt x="145119" y="0"/>
                      <a:pt x="136086" y="0"/>
                    </a:cubicBezTo>
                    <a:cubicBezTo>
                      <a:pt x="127053" y="0"/>
                      <a:pt x="118677" y="4719"/>
                      <a:pt x="113997" y="12444"/>
                    </a:cubicBezTo>
                  </a:path>
                </a:pathLst>
              </a:custGeom>
              <a:noFill/>
              <a:ln w="19050">
                <a:solidFill>
                  <a:srgbClr val="E07B00"/>
                </a:solidFill>
              </a:ln>
            </p:spPr>
          </p:sp>
          <p:sp>
            <p:nvSpPr>
              <p:cNvPr id="49" name="Freeform 49"/>
              <p:cNvSpPr/>
              <p:nvPr/>
            </p:nvSpPr>
            <p:spPr>
              <a:xfrm>
                <a:off x="1114425" y="4826000"/>
                <a:ext cx="9525" cy="9525"/>
              </a:xfrm>
              <a:custGeom>
                <a:avLst/>
                <a:gdLst/>
                <a:ahLst/>
                <a:cxnLst/>
                <a:rect l="l" t="t" r="r" b="b"/>
                <a:pathLst>
                  <a:path w="9525" h="9525">
                    <a:moveTo>
                      <a:pt x="0" y="0"/>
                    </a:moveTo>
                    <a:lnTo>
                      <a:pt x="135" y="0"/>
                    </a:lnTo>
                  </a:path>
                </a:pathLst>
              </a:custGeom>
              <a:noFill/>
              <a:ln w="19050">
                <a:solidFill>
                  <a:srgbClr val="E07B00"/>
                </a:solidFill>
              </a:ln>
            </p:spPr>
          </p:sp>
        </p:grpSp>
        <p:sp>
          <p:nvSpPr>
            <p:cNvPr id="51" name="TextBox 51"/>
            <p:cNvSpPr txBox="1"/>
            <p:nvPr/>
          </p:nvSpPr>
          <p:spPr>
            <a:xfrm>
              <a:off x="1384297" y="4660873"/>
              <a:ext cx="2697468"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 xml:space="preserve">专家标注负样本 </a:t>
              </a:r>
              <a:r>
                <a:rPr lang="zh-CN" sz="2000" b="1" dirty="0">
                  <a:solidFill>
                    <a:srgbClr val="E07B00"/>
                  </a:solidFill>
                  <a:latin typeface="Arial"/>
                  <a:ea typeface="Microsoft YaHei"/>
                  <a:cs typeface="Arial"/>
                </a:rPr>
                <a:t>13 篇</a:t>
              </a:r>
            </a:p>
          </p:txBody>
        </p:sp>
        <p:sp>
          <p:nvSpPr>
            <p:cNvPr id="52" name="TextBox 52"/>
            <p:cNvSpPr txBox="1"/>
            <p:nvPr/>
          </p:nvSpPr>
          <p:spPr>
            <a:xfrm>
              <a:off x="972817" y="5144743"/>
              <a:ext cx="507709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每篇附专家逐维度书面意见，用于验证框架的负面识别能力。</a:t>
              </a:r>
            </a:p>
          </p:txBody>
        </p:sp>
        <p:sp>
          <p:nvSpPr>
            <p:cNvPr id="53" name="Rectangle 53"/>
            <p:cNvSpPr/>
            <p:nvPr/>
          </p:nvSpPr>
          <p:spPr>
            <a:xfrm>
              <a:off x="990600" y="5543550"/>
              <a:ext cx="4000500" cy="419100"/>
            </a:xfrm>
            <a:prstGeom prst="roundRect">
              <a:avLst>
                <a:gd name="adj" fmla="val 50000"/>
              </a:avLst>
            </a:prstGeom>
            <a:solidFill>
              <a:srgbClr val="2E7D32">
                <a:alpha val="12000"/>
              </a:srgbClr>
            </a:solidFill>
            <a:ln>
              <a:noFill/>
            </a:ln>
          </p:spPr>
        </p:sp>
        <p:sp>
          <p:nvSpPr>
            <p:cNvPr id="54" name="TextBox 54"/>
            <p:cNvSpPr txBox="1"/>
            <p:nvPr/>
          </p:nvSpPr>
          <p:spPr>
            <a:xfrm>
              <a:off x="1201417" y="5659093"/>
              <a:ext cx="2839217" cy="284531"/>
            </a:xfrm>
            <a:prstGeom prst="rect">
              <a:avLst/>
            </a:prstGeom>
            <a:noFill/>
            <a:ln>
              <a:noFill/>
            </a:ln>
          </p:spPr>
          <p:txBody>
            <a:bodyPr wrap="none" lIns="0" tIns="0" rIns="0" bIns="0" anchor="t" anchorCtr="0">
              <a:spAutoFit/>
            </a:bodyPr>
            <a:lstStyle/>
            <a:p>
              <a:pPr algn="l"/>
              <a:r>
                <a:rPr lang="zh-CN" sz="1400" b="1" dirty="0">
                  <a:solidFill>
                    <a:srgbClr val="2E7D32"/>
                  </a:solidFill>
                  <a:latin typeface="Arial"/>
                  <a:ea typeface="Microsoft YaHei"/>
                  <a:cs typeface="Arial"/>
                </a:rPr>
                <a:t>正样本蒋红珍 91.1 分（未误伤）</a:t>
              </a:r>
            </a:p>
          </p:txBody>
        </p:sp>
        <p:sp>
          <p:nvSpPr>
            <p:cNvPr id="55" name="Rectangle 55"/>
            <p:cNvSpPr/>
            <p:nvPr/>
          </p:nvSpPr>
          <p:spPr>
            <a:xfrm>
              <a:off x="5219700" y="5543550"/>
              <a:ext cx="4381500" cy="419100"/>
            </a:xfrm>
            <a:prstGeom prst="roundRect">
              <a:avLst>
                <a:gd name="adj" fmla="val 50000"/>
              </a:avLst>
            </a:prstGeom>
            <a:solidFill>
              <a:srgbClr val="C8161E">
                <a:alpha val="10000"/>
              </a:srgbClr>
            </a:solidFill>
            <a:ln>
              <a:noFill/>
            </a:ln>
          </p:spPr>
        </p:sp>
        <p:sp>
          <p:nvSpPr>
            <p:cNvPr id="56" name="TextBox 56"/>
            <p:cNvSpPr txBox="1"/>
            <p:nvPr/>
          </p:nvSpPr>
          <p:spPr>
            <a:xfrm>
              <a:off x="5430517" y="5659093"/>
              <a:ext cx="2966656" cy="284531"/>
            </a:xfrm>
            <a:prstGeom prst="rect">
              <a:avLst/>
            </a:prstGeom>
            <a:noFill/>
            <a:ln>
              <a:noFill/>
            </a:ln>
          </p:spPr>
          <p:txBody>
            <a:bodyPr wrap="none" lIns="0" tIns="0" rIns="0" bIns="0" anchor="t" anchorCtr="0">
              <a:spAutoFit/>
            </a:bodyPr>
            <a:lstStyle/>
            <a:p>
              <a:pPr algn="l"/>
              <a:r>
                <a:rPr lang="zh-CN" sz="1400" b="1" dirty="0">
                  <a:solidFill>
                    <a:srgbClr val="C8161E"/>
                  </a:solidFill>
                  <a:latin typeface="Arial"/>
                  <a:ea typeface="Microsoft YaHei"/>
                  <a:cs typeface="Arial"/>
                </a:rPr>
                <a:t>有效识别 4 篇，正负差距 22.0 分</a:t>
              </a:r>
            </a:p>
          </p:txBody>
        </p:sp>
        <p:sp>
          <p:nvSpPr>
            <p:cNvPr id="57" name="TextBox 57"/>
            <p:cNvSpPr txBox="1"/>
            <p:nvPr/>
          </p:nvSpPr>
          <p:spPr>
            <a:xfrm>
              <a:off x="10118217" y="5680710"/>
              <a:ext cx="1174623" cy="243840"/>
            </a:xfrm>
            <a:prstGeom prst="rect">
              <a:avLst/>
            </a:prstGeom>
            <a:noFill/>
            <a:ln>
              <a:noFill/>
            </a:ln>
          </p:spPr>
          <p:txBody>
            <a:bodyPr wrap="none" lIns="0" tIns="0" rIns="0" bIns="0" anchor="t" anchorCtr="0">
              <a:spAutoFit/>
            </a:bodyPr>
            <a:lstStyle/>
            <a:p>
              <a:pPr algn="r"/>
              <a:r>
                <a:rPr lang="zh-CN" sz="1200" dirty="0">
                  <a:solidFill>
                    <a:srgbClr val="9AA3AE"/>
                  </a:solidFill>
                  <a:latin typeface="Arial"/>
                  <a:ea typeface="Microsoft YaHei"/>
                  <a:cs typeface="Arial"/>
                </a:rPr>
                <a:t>初始 3 + 补充 10</a:t>
              </a:r>
            </a:p>
          </p:txBody>
        </p:sp>
      </p:grpSp>
      <p:grpSp>
        <p:nvGrpSpPr>
          <p:cNvPr id="62" name="Group 62"/>
          <p:cNvGrpSpPr/>
          <p:nvPr/>
        </p:nvGrpSpPr>
        <p:grpSpPr>
          <a:xfrm>
            <a:off x="0" y="6516343"/>
            <a:ext cx="12192000" cy="341657"/>
            <a:chOff x="0" y="6516343"/>
            <a:chExt cx="12192000" cy="341657"/>
          </a:xfrm>
        </p:grpSpPr>
        <p:sp>
          <p:nvSpPr>
            <p:cNvPr id="59" name="Rectangle 59"/>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60" name="TextBox 60"/>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61" name="TextBox 61"/>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400"/>
                                        <p:tgtEl>
                                          <p:spTgt spid="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image">
                                      <p:cBhvr>
                                        <p:cTn id="11" dur="400"/>
                                        <p:tgtEl>
                                          <p:spTgt spid="1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400"/>
                                        <p:tgtEl>
                                          <p:spTgt spid="27"/>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400"/>
                                        <p:tgtEl>
                                          <p:spTgt spid="36"/>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slide(fromBottom)">
                                      <p:cBhvr>
                                        <p:cTn id="23" dur="400"/>
                                        <p:tgtEl>
                                          <p:spTgt spid="45"/>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image">
                                      <p:cBhvr>
                                        <p:cTn id="27"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8" grpId="0"/>
      <p:bldP spid="27" grpId="0"/>
      <p:bldP spid="36" grpId="0"/>
      <p:bldP spid="45" grpId="0"/>
      <p:bldP spid="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815212"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四阶段评审流程</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2684520" y="953743"/>
            <a:ext cx="6822960"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第三阶段已更新为五轴位置归属度评价：先判断归属资格，再进入 Top50 配额排序</a:t>
            </a:r>
          </a:p>
        </p:txBody>
      </p:sp>
      <p:grpSp>
        <p:nvGrpSpPr>
          <p:cNvPr id="19" name="Group 19"/>
          <p:cNvGrpSpPr/>
          <p:nvPr/>
        </p:nvGrpSpPr>
        <p:grpSpPr>
          <a:xfrm>
            <a:off x="819150" y="1714500"/>
            <a:ext cx="2238375" cy="3143250"/>
            <a:chOff x="819150" y="1714500"/>
            <a:chExt cx="2238375" cy="3143250"/>
          </a:xfrm>
        </p:grpSpPr>
        <p:sp>
          <p:nvSpPr>
            <p:cNvPr id="9" name="Rectangle 9"/>
            <p:cNvSpPr/>
            <p:nvPr/>
          </p:nvSpPr>
          <p:spPr>
            <a:xfrm>
              <a:off x="819150" y="1714500"/>
              <a:ext cx="2238375" cy="3143250"/>
            </a:xfrm>
            <a:prstGeom prst="roundRect">
              <a:avLst>
                <a:gd name="adj" fmla="val 4255"/>
              </a:avLst>
            </a:prstGeom>
            <a:solidFill>
              <a:srgbClr val="FFFFFF"/>
            </a:solidFill>
            <a:ln w="11430">
              <a:solidFill>
                <a:srgbClr val="D9DEE5"/>
              </a:solidFill>
            </a:ln>
          </p:spPr>
        </p:sp>
        <p:sp>
          <p:nvSpPr>
            <p:cNvPr id="10" name="Rectangle 10"/>
            <p:cNvSpPr/>
            <p:nvPr/>
          </p:nvSpPr>
          <p:spPr>
            <a:xfrm>
              <a:off x="819150" y="1714500"/>
              <a:ext cx="2238375" cy="95250"/>
            </a:xfrm>
            <a:prstGeom prst="roundRect">
              <a:avLst>
                <a:gd name="adj" fmla="val 50000"/>
              </a:avLst>
            </a:prstGeom>
            <a:solidFill>
              <a:srgbClr val="44546A"/>
            </a:solidFill>
            <a:ln>
              <a:noFill/>
            </a:ln>
          </p:spPr>
        </p:sp>
        <p:sp>
          <p:nvSpPr>
            <p:cNvPr id="11" name="TextBox 11"/>
            <p:cNvSpPr txBox="1"/>
            <p:nvPr/>
          </p:nvSpPr>
          <p:spPr>
            <a:xfrm>
              <a:off x="1029967" y="2077693"/>
              <a:ext cx="623745" cy="284531"/>
            </a:xfrm>
            <a:prstGeom prst="rect">
              <a:avLst/>
            </a:prstGeom>
            <a:noFill/>
            <a:ln>
              <a:noFill/>
            </a:ln>
          </p:spPr>
          <p:txBody>
            <a:bodyPr wrap="none" lIns="0" tIns="0" rIns="0" bIns="0" anchor="t" anchorCtr="0">
              <a:spAutoFit/>
            </a:bodyPr>
            <a:lstStyle/>
            <a:p>
              <a:pPr algn="l"/>
              <a:r>
                <a:rPr lang="zh-CN" sz="1400" b="1" dirty="0">
                  <a:solidFill>
                    <a:srgbClr val="5A6472"/>
                  </a:solidFill>
                  <a:latin typeface="Arial"/>
                  <a:ea typeface="Microsoft YaHei"/>
                  <a:cs typeface="Arial"/>
                </a:rPr>
                <a:t>阶段一</a:t>
              </a:r>
            </a:p>
          </p:txBody>
        </p:sp>
        <p:sp>
          <p:nvSpPr>
            <p:cNvPr id="12" name="TextBox 12"/>
            <p:cNvSpPr txBox="1"/>
            <p:nvPr/>
          </p:nvSpPr>
          <p:spPr>
            <a:xfrm>
              <a:off x="1023938" y="2426494"/>
              <a:ext cx="1399669" cy="381000"/>
            </a:xfrm>
            <a:prstGeom prst="rect">
              <a:avLst/>
            </a:prstGeom>
            <a:noFill/>
            <a:ln>
              <a:noFill/>
            </a:ln>
          </p:spPr>
          <p:txBody>
            <a:bodyPr wrap="none" lIns="0" tIns="0" rIns="0" bIns="0" anchor="t" anchorCtr="0">
              <a:spAutoFit/>
            </a:bodyPr>
            <a:lstStyle/>
            <a:p>
              <a:pPr algn="l"/>
              <a:r>
                <a:rPr lang="zh-CN" sz="1875" b="1" dirty="0">
                  <a:solidFill>
                    <a:srgbClr val="1B1C21"/>
                  </a:solidFill>
                  <a:latin typeface="Arial"/>
                  <a:ea typeface="Microsoft YaHei"/>
                  <a:cs typeface="Arial"/>
                </a:rPr>
                <a:t>预检 · 项目</a:t>
              </a:r>
            </a:p>
          </p:txBody>
        </p:sp>
        <p:sp>
          <p:nvSpPr>
            <p:cNvPr id="13" name="TextBox 13"/>
            <p:cNvSpPr txBox="1"/>
            <p:nvPr/>
          </p:nvSpPr>
          <p:spPr>
            <a:xfrm>
              <a:off x="1023938" y="2721769"/>
              <a:ext cx="1097756" cy="381000"/>
            </a:xfrm>
            <a:prstGeom prst="rect">
              <a:avLst/>
            </a:prstGeom>
            <a:noFill/>
            <a:ln>
              <a:noFill/>
            </a:ln>
          </p:spPr>
          <p:txBody>
            <a:bodyPr wrap="none" lIns="0" tIns="0" rIns="0" bIns="0" anchor="t" anchorCtr="0">
              <a:spAutoFit/>
            </a:bodyPr>
            <a:lstStyle/>
            <a:p>
              <a:pPr algn="l"/>
              <a:r>
                <a:rPr lang="zh-CN" sz="1875" b="1" dirty="0">
                  <a:solidFill>
                    <a:srgbClr val="1B1C21"/>
                  </a:solidFill>
                  <a:latin typeface="Arial"/>
                  <a:ea typeface="Microsoft YaHei"/>
                  <a:cs typeface="Arial"/>
                </a:rPr>
                <a:t>口径判断</a:t>
              </a:r>
            </a:p>
          </p:txBody>
        </p:sp>
        <p:sp>
          <p:nvSpPr>
            <p:cNvPr id="14" name="TextBox 14"/>
            <p:cNvSpPr txBox="1"/>
            <p:nvPr/>
          </p:nvSpPr>
          <p:spPr>
            <a:xfrm>
              <a:off x="1029967" y="3201643"/>
              <a:ext cx="1183915"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进入评分 / 边</a:t>
              </a:r>
            </a:p>
          </p:txBody>
        </p:sp>
        <p:sp>
          <p:nvSpPr>
            <p:cNvPr id="15" name="TextBox 15"/>
            <p:cNvSpPr txBox="1"/>
            <p:nvPr/>
          </p:nvSpPr>
          <p:spPr>
            <a:xfrm>
              <a:off x="1029967" y="3458818"/>
              <a:ext cx="1183915"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界复核 / 明显</a:t>
              </a:r>
            </a:p>
          </p:txBody>
        </p:sp>
        <p:sp>
          <p:nvSpPr>
            <p:cNvPr id="16" name="TextBox 16"/>
            <p:cNvSpPr txBox="1"/>
            <p:nvPr/>
          </p:nvSpPr>
          <p:spPr>
            <a:xfrm>
              <a:off x="1029967" y="3715993"/>
              <a:ext cx="59573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不适格</a:t>
              </a:r>
            </a:p>
          </p:txBody>
        </p:sp>
        <p:sp>
          <p:nvSpPr>
            <p:cNvPr id="17" name="Rectangle 17"/>
            <p:cNvSpPr/>
            <p:nvPr/>
          </p:nvSpPr>
          <p:spPr>
            <a:xfrm>
              <a:off x="1047750" y="4095750"/>
              <a:ext cx="1428750" cy="419100"/>
            </a:xfrm>
            <a:prstGeom prst="roundRect">
              <a:avLst>
                <a:gd name="adj" fmla="val 50000"/>
              </a:avLst>
            </a:prstGeom>
            <a:solidFill>
              <a:srgbClr val="44546A">
                <a:alpha val="12000"/>
              </a:srgbClr>
            </a:solidFill>
            <a:ln>
              <a:noFill/>
            </a:ln>
          </p:spPr>
        </p:sp>
        <p:sp>
          <p:nvSpPr>
            <p:cNvPr id="18" name="TextBox 18"/>
            <p:cNvSpPr txBox="1"/>
            <p:nvPr/>
          </p:nvSpPr>
          <p:spPr>
            <a:xfrm>
              <a:off x="1352223" y="4220818"/>
              <a:ext cx="819804" cy="284531"/>
            </a:xfrm>
            <a:prstGeom prst="rect">
              <a:avLst/>
            </a:prstGeom>
            <a:noFill/>
            <a:ln>
              <a:noFill/>
            </a:ln>
          </p:spPr>
          <p:txBody>
            <a:bodyPr wrap="none" lIns="0" tIns="0" rIns="0" bIns="0" anchor="t" anchorCtr="0">
              <a:spAutoFit/>
            </a:bodyPr>
            <a:lstStyle/>
            <a:p>
              <a:pPr algn="ctr"/>
              <a:r>
                <a:rPr lang="zh-CN" sz="1400" b="1" dirty="0">
                  <a:solidFill>
                    <a:srgbClr val="44546A"/>
                  </a:solidFill>
                  <a:latin typeface="Arial"/>
                  <a:ea typeface="Microsoft YaHei"/>
                  <a:cs typeface="Arial"/>
                </a:rPr>
                <a:t>三类口径</a:t>
              </a:r>
            </a:p>
          </p:txBody>
        </p:sp>
      </p:grpSp>
      <p:sp>
        <p:nvSpPr>
          <p:cNvPr id="20" name="Freeform 20"/>
          <p:cNvSpPr/>
          <p:nvPr/>
        </p:nvSpPr>
        <p:spPr>
          <a:xfrm>
            <a:off x="3181350" y="3276600"/>
            <a:ext cx="323850" cy="9525"/>
          </a:xfrm>
          <a:custGeom>
            <a:avLst/>
            <a:gdLst/>
            <a:ahLst/>
            <a:cxnLst/>
            <a:rect l="l" t="t" r="r" b="b"/>
            <a:pathLst>
              <a:path w="323850" h="9525">
                <a:moveTo>
                  <a:pt x="0" y="0"/>
                </a:moveTo>
                <a:lnTo>
                  <a:pt x="323850" y="0"/>
                </a:lnTo>
              </a:path>
            </a:pathLst>
          </a:custGeom>
          <a:solidFill>
            <a:srgbClr val="000000"/>
          </a:solidFill>
          <a:ln w="28575">
            <a:solidFill>
              <a:srgbClr val="9AA3AE"/>
            </a:solidFill>
          </a:ln>
        </p:spPr>
      </p:sp>
      <p:sp>
        <p:nvSpPr>
          <p:cNvPr id="21" name="Freeform 21"/>
          <p:cNvSpPr/>
          <p:nvPr/>
        </p:nvSpPr>
        <p:spPr>
          <a:xfrm>
            <a:off x="3390900" y="3200400"/>
            <a:ext cx="114300" cy="152400"/>
          </a:xfrm>
          <a:custGeom>
            <a:avLst/>
            <a:gdLst/>
            <a:ahLst/>
            <a:cxnLst/>
            <a:rect l="l" t="t" r="r" b="b"/>
            <a:pathLst>
              <a:path w="114300" h="152400">
                <a:moveTo>
                  <a:pt x="114300" y="76200"/>
                </a:moveTo>
                <a:lnTo>
                  <a:pt x="0" y="0"/>
                </a:lnTo>
                <a:lnTo>
                  <a:pt x="0" y="152400"/>
                </a:lnTo>
                <a:close/>
              </a:path>
            </a:pathLst>
          </a:custGeom>
          <a:solidFill>
            <a:srgbClr val="9AA3AE"/>
          </a:solidFill>
          <a:ln>
            <a:noFill/>
          </a:ln>
        </p:spPr>
      </p:sp>
      <p:grpSp>
        <p:nvGrpSpPr>
          <p:cNvPr id="32" name="Group 32"/>
          <p:cNvGrpSpPr/>
          <p:nvPr/>
        </p:nvGrpSpPr>
        <p:grpSpPr>
          <a:xfrm>
            <a:off x="3590925" y="1714500"/>
            <a:ext cx="2238375" cy="3143250"/>
            <a:chOff x="3590925" y="1714500"/>
            <a:chExt cx="2238375" cy="3143250"/>
          </a:xfrm>
        </p:grpSpPr>
        <p:sp>
          <p:nvSpPr>
            <p:cNvPr id="22" name="Rectangle 22"/>
            <p:cNvSpPr/>
            <p:nvPr/>
          </p:nvSpPr>
          <p:spPr>
            <a:xfrm>
              <a:off x="3590925" y="1714500"/>
              <a:ext cx="2238375" cy="3143250"/>
            </a:xfrm>
            <a:prstGeom prst="roundRect">
              <a:avLst>
                <a:gd name="adj" fmla="val 4255"/>
              </a:avLst>
            </a:prstGeom>
            <a:solidFill>
              <a:srgbClr val="FFFFFF"/>
            </a:solidFill>
            <a:ln w="11430">
              <a:solidFill>
                <a:srgbClr val="D9DEE5"/>
              </a:solidFill>
            </a:ln>
          </p:spPr>
        </p:sp>
        <p:sp>
          <p:nvSpPr>
            <p:cNvPr id="23" name="Rectangle 23"/>
            <p:cNvSpPr/>
            <p:nvPr/>
          </p:nvSpPr>
          <p:spPr>
            <a:xfrm>
              <a:off x="3590925" y="1714500"/>
              <a:ext cx="2238375" cy="95250"/>
            </a:xfrm>
            <a:prstGeom prst="roundRect">
              <a:avLst>
                <a:gd name="adj" fmla="val 50000"/>
              </a:avLst>
            </a:prstGeom>
            <a:solidFill>
              <a:srgbClr val="1F4D78"/>
            </a:solidFill>
            <a:ln>
              <a:noFill/>
            </a:ln>
          </p:spPr>
        </p:sp>
        <p:sp>
          <p:nvSpPr>
            <p:cNvPr id="24" name="TextBox 24"/>
            <p:cNvSpPr txBox="1"/>
            <p:nvPr/>
          </p:nvSpPr>
          <p:spPr>
            <a:xfrm>
              <a:off x="3801742" y="2077693"/>
              <a:ext cx="623745" cy="284531"/>
            </a:xfrm>
            <a:prstGeom prst="rect">
              <a:avLst/>
            </a:prstGeom>
            <a:noFill/>
            <a:ln>
              <a:noFill/>
            </a:ln>
          </p:spPr>
          <p:txBody>
            <a:bodyPr wrap="none" lIns="0" tIns="0" rIns="0" bIns="0" anchor="t" anchorCtr="0">
              <a:spAutoFit/>
            </a:bodyPr>
            <a:lstStyle/>
            <a:p>
              <a:pPr algn="l"/>
              <a:r>
                <a:rPr lang="zh-CN" sz="1400" b="1" dirty="0">
                  <a:solidFill>
                    <a:srgbClr val="5A6472"/>
                  </a:solidFill>
                  <a:latin typeface="Arial"/>
                  <a:ea typeface="Microsoft YaHei"/>
                  <a:cs typeface="Arial"/>
                </a:rPr>
                <a:t>阶段二</a:t>
              </a:r>
            </a:p>
          </p:txBody>
        </p:sp>
        <p:sp>
          <p:nvSpPr>
            <p:cNvPr id="25" name="TextBox 25"/>
            <p:cNvSpPr txBox="1"/>
            <p:nvPr/>
          </p:nvSpPr>
          <p:spPr>
            <a:xfrm>
              <a:off x="3795712" y="2426494"/>
              <a:ext cx="1320909" cy="381000"/>
            </a:xfrm>
            <a:prstGeom prst="rect">
              <a:avLst/>
            </a:prstGeom>
            <a:noFill/>
            <a:ln>
              <a:noFill/>
            </a:ln>
          </p:spPr>
          <p:txBody>
            <a:bodyPr wrap="none" lIns="0" tIns="0" rIns="0" bIns="0" anchor="t" anchorCtr="0">
              <a:spAutoFit/>
            </a:bodyPr>
            <a:lstStyle/>
            <a:p>
              <a:pPr algn="l"/>
              <a:r>
                <a:rPr lang="zh-CN" sz="1875" b="1" dirty="0">
                  <a:solidFill>
                    <a:srgbClr val="1B1C21"/>
                  </a:solidFill>
                  <a:latin typeface="Arial"/>
                  <a:ea typeface="Microsoft YaHei"/>
                  <a:cs typeface="Arial"/>
                </a:rPr>
                <a:t>六维评分 ·</a:t>
              </a:r>
            </a:p>
          </p:txBody>
        </p:sp>
        <p:sp>
          <p:nvSpPr>
            <p:cNvPr id="26" name="TextBox 26"/>
            <p:cNvSpPr txBox="1"/>
            <p:nvPr/>
          </p:nvSpPr>
          <p:spPr>
            <a:xfrm>
              <a:off x="3795712" y="2721769"/>
              <a:ext cx="1622822" cy="381000"/>
            </a:xfrm>
            <a:prstGeom prst="rect">
              <a:avLst/>
            </a:prstGeom>
            <a:noFill/>
            <a:ln>
              <a:noFill/>
            </a:ln>
          </p:spPr>
          <p:txBody>
            <a:bodyPr wrap="none" lIns="0" tIns="0" rIns="0" bIns="0" anchor="t" anchorCtr="0">
              <a:spAutoFit/>
            </a:bodyPr>
            <a:lstStyle/>
            <a:p>
              <a:pPr algn="l"/>
              <a:r>
                <a:rPr lang="zh-CN" sz="1875" b="1" dirty="0">
                  <a:solidFill>
                    <a:srgbClr val="1B1C21"/>
                  </a:solidFill>
                  <a:latin typeface="Arial"/>
                  <a:ea typeface="Microsoft YaHei"/>
                  <a:cs typeface="Arial"/>
                </a:rPr>
                <a:t>学术质量评价</a:t>
              </a:r>
            </a:p>
          </p:txBody>
        </p:sp>
        <p:sp>
          <p:nvSpPr>
            <p:cNvPr id="27" name="TextBox 27"/>
            <p:cNvSpPr txBox="1"/>
            <p:nvPr/>
          </p:nvSpPr>
          <p:spPr>
            <a:xfrm>
              <a:off x="3801742" y="3201643"/>
              <a:ext cx="115590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研究创新性等</a:t>
              </a:r>
            </a:p>
          </p:txBody>
        </p:sp>
        <p:sp>
          <p:nvSpPr>
            <p:cNvPr id="28" name="TextBox 28"/>
            <p:cNvSpPr txBox="1"/>
            <p:nvPr/>
          </p:nvSpPr>
          <p:spPr>
            <a:xfrm>
              <a:off x="3801742" y="3458818"/>
              <a:ext cx="115590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六维形成加权</a:t>
              </a:r>
            </a:p>
          </p:txBody>
        </p:sp>
        <p:sp>
          <p:nvSpPr>
            <p:cNvPr id="29" name="TextBox 29"/>
            <p:cNvSpPr txBox="1"/>
            <p:nvPr/>
          </p:nvSpPr>
          <p:spPr>
            <a:xfrm>
              <a:off x="3801742" y="3715993"/>
              <a:ext cx="59573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基础分</a:t>
              </a:r>
            </a:p>
          </p:txBody>
        </p:sp>
        <p:sp>
          <p:nvSpPr>
            <p:cNvPr id="30" name="Rectangle 30"/>
            <p:cNvSpPr/>
            <p:nvPr/>
          </p:nvSpPr>
          <p:spPr>
            <a:xfrm>
              <a:off x="3819525" y="4095750"/>
              <a:ext cx="1428750" cy="419100"/>
            </a:xfrm>
            <a:prstGeom prst="roundRect">
              <a:avLst>
                <a:gd name="adj" fmla="val 50000"/>
              </a:avLst>
            </a:prstGeom>
            <a:solidFill>
              <a:srgbClr val="1F4D78">
                <a:alpha val="12000"/>
              </a:srgbClr>
            </a:solidFill>
            <a:ln>
              <a:noFill/>
            </a:ln>
          </p:spPr>
        </p:sp>
        <p:sp>
          <p:nvSpPr>
            <p:cNvPr id="31" name="TextBox 31"/>
            <p:cNvSpPr txBox="1"/>
            <p:nvPr/>
          </p:nvSpPr>
          <p:spPr>
            <a:xfrm>
              <a:off x="4143604" y="4220818"/>
              <a:ext cx="780592" cy="284531"/>
            </a:xfrm>
            <a:prstGeom prst="rect">
              <a:avLst/>
            </a:prstGeom>
            <a:noFill/>
            <a:ln>
              <a:noFill/>
            </a:ln>
          </p:spPr>
          <p:txBody>
            <a:bodyPr wrap="none" lIns="0" tIns="0" rIns="0" bIns="0" anchor="t" anchorCtr="0">
              <a:spAutoFit/>
            </a:bodyPr>
            <a:lstStyle/>
            <a:p>
              <a:pPr algn="ctr"/>
              <a:r>
                <a:rPr lang="zh-CN" sz="1400" b="1" dirty="0">
                  <a:solidFill>
                    <a:srgbClr val="1F4D78"/>
                  </a:solidFill>
                  <a:latin typeface="Arial"/>
                  <a:ea typeface="Microsoft YaHei"/>
                  <a:cs typeface="Arial"/>
                </a:rPr>
                <a:t>0–100 分</a:t>
              </a:r>
            </a:p>
          </p:txBody>
        </p:sp>
      </p:grpSp>
      <p:sp>
        <p:nvSpPr>
          <p:cNvPr id="33" name="Freeform 33"/>
          <p:cNvSpPr/>
          <p:nvPr/>
        </p:nvSpPr>
        <p:spPr>
          <a:xfrm>
            <a:off x="5953125" y="3276600"/>
            <a:ext cx="323850" cy="9525"/>
          </a:xfrm>
          <a:custGeom>
            <a:avLst/>
            <a:gdLst/>
            <a:ahLst/>
            <a:cxnLst/>
            <a:rect l="l" t="t" r="r" b="b"/>
            <a:pathLst>
              <a:path w="323850" h="9525">
                <a:moveTo>
                  <a:pt x="0" y="0"/>
                </a:moveTo>
                <a:lnTo>
                  <a:pt x="323850" y="0"/>
                </a:lnTo>
              </a:path>
            </a:pathLst>
          </a:custGeom>
          <a:solidFill>
            <a:srgbClr val="000000"/>
          </a:solidFill>
          <a:ln w="28575">
            <a:solidFill>
              <a:srgbClr val="9AA3AE"/>
            </a:solidFill>
          </a:ln>
        </p:spPr>
      </p:sp>
      <p:sp>
        <p:nvSpPr>
          <p:cNvPr id="34" name="Freeform 34"/>
          <p:cNvSpPr/>
          <p:nvPr/>
        </p:nvSpPr>
        <p:spPr>
          <a:xfrm>
            <a:off x="6162675" y="3200400"/>
            <a:ext cx="114300" cy="152400"/>
          </a:xfrm>
          <a:custGeom>
            <a:avLst/>
            <a:gdLst/>
            <a:ahLst/>
            <a:cxnLst/>
            <a:rect l="l" t="t" r="r" b="b"/>
            <a:pathLst>
              <a:path w="114300" h="152400">
                <a:moveTo>
                  <a:pt x="114300" y="76200"/>
                </a:moveTo>
                <a:lnTo>
                  <a:pt x="0" y="0"/>
                </a:lnTo>
                <a:lnTo>
                  <a:pt x="0" y="152400"/>
                </a:lnTo>
                <a:close/>
              </a:path>
            </a:pathLst>
          </a:custGeom>
          <a:solidFill>
            <a:srgbClr val="9AA3AE"/>
          </a:solidFill>
          <a:ln>
            <a:noFill/>
          </a:ln>
        </p:spPr>
      </p:sp>
      <p:grpSp>
        <p:nvGrpSpPr>
          <p:cNvPr id="45" name="Group 45"/>
          <p:cNvGrpSpPr/>
          <p:nvPr/>
        </p:nvGrpSpPr>
        <p:grpSpPr>
          <a:xfrm>
            <a:off x="6362700" y="1714500"/>
            <a:ext cx="2238375" cy="3143250"/>
            <a:chOff x="6362700" y="1714500"/>
            <a:chExt cx="2238375" cy="3143250"/>
          </a:xfrm>
        </p:grpSpPr>
        <p:sp>
          <p:nvSpPr>
            <p:cNvPr id="35" name="Rectangle 35"/>
            <p:cNvSpPr/>
            <p:nvPr/>
          </p:nvSpPr>
          <p:spPr>
            <a:xfrm>
              <a:off x="6362700" y="1714500"/>
              <a:ext cx="2238375" cy="3143250"/>
            </a:xfrm>
            <a:prstGeom prst="roundRect">
              <a:avLst>
                <a:gd name="adj" fmla="val 4255"/>
              </a:avLst>
            </a:prstGeom>
            <a:solidFill>
              <a:srgbClr val="FFFFFF"/>
            </a:solidFill>
            <a:ln w="11430">
              <a:solidFill>
                <a:srgbClr val="D9DEE5"/>
              </a:solidFill>
            </a:ln>
          </p:spPr>
        </p:sp>
        <p:sp>
          <p:nvSpPr>
            <p:cNvPr id="36" name="Rectangle 36"/>
            <p:cNvSpPr/>
            <p:nvPr/>
          </p:nvSpPr>
          <p:spPr>
            <a:xfrm>
              <a:off x="6362700" y="1714500"/>
              <a:ext cx="2238375" cy="95250"/>
            </a:xfrm>
            <a:prstGeom prst="roundRect">
              <a:avLst>
                <a:gd name="adj" fmla="val 50000"/>
              </a:avLst>
            </a:prstGeom>
            <a:solidFill>
              <a:srgbClr val="2E7D32"/>
            </a:solidFill>
            <a:ln>
              <a:noFill/>
            </a:ln>
          </p:spPr>
        </p:sp>
        <p:sp>
          <p:nvSpPr>
            <p:cNvPr id="37" name="TextBox 37"/>
            <p:cNvSpPr txBox="1"/>
            <p:nvPr/>
          </p:nvSpPr>
          <p:spPr>
            <a:xfrm>
              <a:off x="6573517" y="2077693"/>
              <a:ext cx="623745" cy="284531"/>
            </a:xfrm>
            <a:prstGeom prst="rect">
              <a:avLst/>
            </a:prstGeom>
            <a:noFill/>
            <a:ln>
              <a:noFill/>
            </a:ln>
          </p:spPr>
          <p:txBody>
            <a:bodyPr wrap="none" lIns="0" tIns="0" rIns="0" bIns="0" anchor="t" anchorCtr="0">
              <a:spAutoFit/>
            </a:bodyPr>
            <a:lstStyle/>
            <a:p>
              <a:pPr algn="l"/>
              <a:r>
                <a:rPr lang="zh-CN" sz="1400" b="1" dirty="0">
                  <a:solidFill>
                    <a:srgbClr val="5A6472"/>
                  </a:solidFill>
                  <a:latin typeface="Arial"/>
                  <a:ea typeface="Microsoft YaHei"/>
                  <a:cs typeface="Arial"/>
                </a:rPr>
                <a:t>阶段三</a:t>
              </a:r>
            </a:p>
          </p:txBody>
        </p:sp>
        <p:sp>
          <p:nvSpPr>
            <p:cNvPr id="38" name="TextBox 38"/>
            <p:cNvSpPr txBox="1"/>
            <p:nvPr/>
          </p:nvSpPr>
          <p:spPr>
            <a:xfrm>
              <a:off x="6567488" y="2426494"/>
              <a:ext cx="1622822" cy="381000"/>
            </a:xfrm>
            <a:prstGeom prst="rect">
              <a:avLst/>
            </a:prstGeom>
            <a:noFill/>
            <a:ln>
              <a:noFill/>
            </a:ln>
          </p:spPr>
          <p:txBody>
            <a:bodyPr wrap="none" lIns="0" tIns="0" rIns="0" bIns="0" anchor="t" anchorCtr="0">
              <a:spAutoFit/>
            </a:bodyPr>
            <a:lstStyle/>
            <a:p>
              <a:pPr algn="l"/>
              <a:r>
                <a:rPr lang="zh-CN" sz="1875" b="1" dirty="0">
                  <a:solidFill>
                    <a:srgbClr val="1B1C21"/>
                  </a:solidFill>
                  <a:latin typeface="Arial"/>
                  <a:ea typeface="Microsoft YaHei"/>
                  <a:cs typeface="Arial"/>
                </a:rPr>
                <a:t>五轴位置归属</a:t>
              </a:r>
            </a:p>
          </p:txBody>
        </p:sp>
        <p:sp>
          <p:nvSpPr>
            <p:cNvPr id="39" name="TextBox 39"/>
            <p:cNvSpPr txBox="1"/>
            <p:nvPr/>
          </p:nvSpPr>
          <p:spPr>
            <a:xfrm>
              <a:off x="6567488" y="2721769"/>
              <a:ext cx="835223" cy="381000"/>
            </a:xfrm>
            <a:prstGeom prst="rect">
              <a:avLst/>
            </a:prstGeom>
            <a:noFill/>
            <a:ln>
              <a:noFill/>
            </a:ln>
          </p:spPr>
          <p:txBody>
            <a:bodyPr wrap="none" lIns="0" tIns="0" rIns="0" bIns="0" anchor="t" anchorCtr="0">
              <a:spAutoFit/>
            </a:bodyPr>
            <a:lstStyle/>
            <a:p>
              <a:pPr algn="l"/>
              <a:r>
                <a:rPr lang="zh-CN" sz="1875" b="1" dirty="0">
                  <a:solidFill>
                    <a:srgbClr val="1B1C21"/>
                  </a:solidFill>
                  <a:latin typeface="Arial"/>
                  <a:ea typeface="Microsoft YaHei"/>
                  <a:cs typeface="Arial"/>
                </a:rPr>
                <a:t>度评价</a:t>
              </a:r>
            </a:p>
          </p:txBody>
        </p:sp>
        <p:sp>
          <p:nvSpPr>
            <p:cNvPr id="40" name="TextBox 40"/>
            <p:cNvSpPr txBox="1"/>
            <p:nvPr/>
          </p:nvSpPr>
          <p:spPr>
            <a:xfrm>
              <a:off x="6573517" y="3201643"/>
              <a:ext cx="115590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对象、材料、</a:t>
              </a:r>
            </a:p>
          </p:txBody>
        </p:sp>
        <p:sp>
          <p:nvSpPr>
            <p:cNvPr id="41" name="TextBox 41"/>
            <p:cNvSpPr txBox="1"/>
            <p:nvPr/>
          </p:nvSpPr>
          <p:spPr>
            <a:xfrm>
              <a:off x="6573517" y="3458818"/>
              <a:ext cx="115590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范畴、解释目</a:t>
              </a:r>
            </a:p>
          </p:txBody>
        </p:sp>
        <p:sp>
          <p:nvSpPr>
            <p:cNvPr id="42" name="TextBox 42"/>
            <p:cNvSpPr txBox="1"/>
            <p:nvPr/>
          </p:nvSpPr>
          <p:spPr>
            <a:xfrm>
              <a:off x="6573517" y="3715993"/>
              <a:ext cx="115590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标、体系映射</a:t>
              </a:r>
            </a:p>
          </p:txBody>
        </p:sp>
        <p:sp>
          <p:nvSpPr>
            <p:cNvPr id="43" name="Rectangle 43"/>
            <p:cNvSpPr/>
            <p:nvPr/>
          </p:nvSpPr>
          <p:spPr>
            <a:xfrm>
              <a:off x="6591300" y="4095750"/>
              <a:ext cx="1428750" cy="419100"/>
            </a:xfrm>
            <a:prstGeom prst="roundRect">
              <a:avLst>
                <a:gd name="adj" fmla="val 50000"/>
              </a:avLst>
            </a:prstGeom>
            <a:solidFill>
              <a:srgbClr val="2E7D32">
                <a:alpha val="12000"/>
              </a:srgbClr>
            </a:solidFill>
            <a:ln>
              <a:noFill/>
            </a:ln>
          </p:spPr>
        </p:sp>
        <p:sp>
          <p:nvSpPr>
            <p:cNvPr id="44" name="TextBox 44"/>
            <p:cNvSpPr txBox="1"/>
            <p:nvPr/>
          </p:nvSpPr>
          <p:spPr>
            <a:xfrm>
              <a:off x="6969295" y="4220818"/>
              <a:ext cx="672760" cy="284531"/>
            </a:xfrm>
            <a:prstGeom prst="rect">
              <a:avLst/>
            </a:prstGeom>
            <a:noFill/>
            <a:ln>
              <a:noFill/>
            </a:ln>
          </p:spPr>
          <p:txBody>
            <a:bodyPr wrap="none" lIns="0" tIns="0" rIns="0" bIns="0" anchor="t" anchorCtr="0">
              <a:spAutoFit/>
            </a:bodyPr>
            <a:lstStyle/>
            <a:p>
              <a:pPr algn="ctr"/>
              <a:r>
                <a:rPr lang="zh-CN" sz="1400" b="1" dirty="0">
                  <a:solidFill>
                    <a:srgbClr val="2E7D32"/>
                  </a:solidFill>
                  <a:latin typeface="Arial"/>
                  <a:ea typeface="Microsoft YaHei"/>
                  <a:cs typeface="Arial"/>
                </a:rPr>
                <a:t>0–10 分</a:t>
              </a:r>
            </a:p>
          </p:txBody>
        </p:sp>
      </p:grpSp>
      <p:sp>
        <p:nvSpPr>
          <p:cNvPr id="46" name="Freeform 46"/>
          <p:cNvSpPr/>
          <p:nvPr/>
        </p:nvSpPr>
        <p:spPr>
          <a:xfrm>
            <a:off x="8724900" y="3276600"/>
            <a:ext cx="323850" cy="9525"/>
          </a:xfrm>
          <a:custGeom>
            <a:avLst/>
            <a:gdLst/>
            <a:ahLst/>
            <a:cxnLst/>
            <a:rect l="l" t="t" r="r" b="b"/>
            <a:pathLst>
              <a:path w="323850" h="9525">
                <a:moveTo>
                  <a:pt x="0" y="0"/>
                </a:moveTo>
                <a:lnTo>
                  <a:pt x="323850" y="0"/>
                </a:lnTo>
              </a:path>
            </a:pathLst>
          </a:custGeom>
          <a:solidFill>
            <a:srgbClr val="000000"/>
          </a:solidFill>
          <a:ln w="28575">
            <a:solidFill>
              <a:srgbClr val="9AA3AE"/>
            </a:solidFill>
          </a:ln>
        </p:spPr>
      </p:sp>
      <p:sp>
        <p:nvSpPr>
          <p:cNvPr id="47" name="Freeform 47"/>
          <p:cNvSpPr/>
          <p:nvPr/>
        </p:nvSpPr>
        <p:spPr>
          <a:xfrm>
            <a:off x="8934450" y="3200400"/>
            <a:ext cx="114300" cy="152400"/>
          </a:xfrm>
          <a:custGeom>
            <a:avLst/>
            <a:gdLst/>
            <a:ahLst/>
            <a:cxnLst/>
            <a:rect l="l" t="t" r="r" b="b"/>
            <a:pathLst>
              <a:path w="114300" h="152400">
                <a:moveTo>
                  <a:pt x="114300" y="76200"/>
                </a:moveTo>
                <a:lnTo>
                  <a:pt x="0" y="0"/>
                </a:lnTo>
                <a:lnTo>
                  <a:pt x="0" y="152400"/>
                </a:lnTo>
                <a:close/>
              </a:path>
            </a:pathLst>
          </a:custGeom>
          <a:solidFill>
            <a:srgbClr val="9AA3AE"/>
          </a:solidFill>
          <a:ln>
            <a:noFill/>
          </a:ln>
        </p:spPr>
      </p:sp>
      <p:grpSp>
        <p:nvGrpSpPr>
          <p:cNvPr id="58" name="Group 58"/>
          <p:cNvGrpSpPr/>
          <p:nvPr/>
        </p:nvGrpSpPr>
        <p:grpSpPr>
          <a:xfrm>
            <a:off x="9134475" y="1714500"/>
            <a:ext cx="2238375" cy="3143250"/>
            <a:chOff x="9134475" y="1714500"/>
            <a:chExt cx="2238375" cy="3143250"/>
          </a:xfrm>
        </p:grpSpPr>
        <p:sp>
          <p:nvSpPr>
            <p:cNvPr id="48" name="Rectangle 48"/>
            <p:cNvSpPr/>
            <p:nvPr/>
          </p:nvSpPr>
          <p:spPr>
            <a:xfrm>
              <a:off x="9134475" y="1714500"/>
              <a:ext cx="2238375" cy="3143250"/>
            </a:xfrm>
            <a:prstGeom prst="roundRect">
              <a:avLst>
                <a:gd name="adj" fmla="val 4255"/>
              </a:avLst>
            </a:prstGeom>
            <a:solidFill>
              <a:srgbClr val="FFFFFF"/>
            </a:solidFill>
            <a:ln w="11430">
              <a:solidFill>
                <a:srgbClr val="D9DEE5"/>
              </a:solidFill>
            </a:ln>
          </p:spPr>
        </p:sp>
        <p:sp>
          <p:nvSpPr>
            <p:cNvPr id="49" name="Rectangle 49"/>
            <p:cNvSpPr/>
            <p:nvPr/>
          </p:nvSpPr>
          <p:spPr>
            <a:xfrm>
              <a:off x="9134475" y="1714500"/>
              <a:ext cx="2238375" cy="95250"/>
            </a:xfrm>
            <a:prstGeom prst="roundRect">
              <a:avLst>
                <a:gd name="adj" fmla="val 50000"/>
              </a:avLst>
            </a:prstGeom>
            <a:solidFill>
              <a:srgbClr val="C8161E"/>
            </a:solidFill>
            <a:ln>
              <a:noFill/>
            </a:ln>
          </p:spPr>
        </p:sp>
        <p:sp>
          <p:nvSpPr>
            <p:cNvPr id="50" name="TextBox 50"/>
            <p:cNvSpPr txBox="1"/>
            <p:nvPr/>
          </p:nvSpPr>
          <p:spPr>
            <a:xfrm>
              <a:off x="9345292" y="2077693"/>
              <a:ext cx="623745" cy="284531"/>
            </a:xfrm>
            <a:prstGeom prst="rect">
              <a:avLst/>
            </a:prstGeom>
            <a:noFill/>
            <a:ln>
              <a:noFill/>
            </a:ln>
          </p:spPr>
          <p:txBody>
            <a:bodyPr wrap="none" lIns="0" tIns="0" rIns="0" bIns="0" anchor="t" anchorCtr="0">
              <a:spAutoFit/>
            </a:bodyPr>
            <a:lstStyle/>
            <a:p>
              <a:pPr algn="l"/>
              <a:r>
                <a:rPr lang="zh-CN" sz="1400" b="1" dirty="0">
                  <a:solidFill>
                    <a:srgbClr val="5A6472"/>
                  </a:solidFill>
                  <a:latin typeface="Arial"/>
                  <a:ea typeface="Microsoft YaHei"/>
                  <a:cs typeface="Arial"/>
                </a:rPr>
                <a:t>阶段四</a:t>
              </a:r>
            </a:p>
          </p:txBody>
        </p:sp>
        <p:sp>
          <p:nvSpPr>
            <p:cNvPr id="51" name="TextBox 51"/>
            <p:cNvSpPr txBox="1"/>
            <p:nvPr/>
          </p:nvSpPr>
          <p:spPr>
            <a:xfrm>
              <a:off x="9339262" y="2426494"/>
              <a:ext cx="1583442" cy="381000"/>
            </a:xfrm>
            <a:prstGeom prst="rect">
              <a:avLst/>
            </a:prstGeom>
            <a:noFill/>
            <a:ln>
              <a:noFill/>
            </a:ln>
          </p:spPr>
          <p:txBody>
            <a:bodyPr wrap="none" lIns="0" tIns="0" rIns="0" bIns="0" anchor="t" anchorCtr="0">
              <a:spAutoFit/>
            </a:bodyPr>
            <a:lstStyle/>
            <a:p>
              <a:pPr algn="l"/>
              <a:r>
                <a:rPr lang="zh-CN" sz="1875" b="1" dirty="0">
                  <a:solidFill>
                    <a:srgbClr val="1B1C21"/>
                  </a:solidFill>
                  <a:latin typeface="Arial"/>
                  <a:ea typeface="Microsoft YaHei"/>
                  <a:cs typeface="Arial"/>
                </a:rPr>
                <a:t>评价层复核 ·</a:t>
              </a:r>
            </a:p>
          </p:txBody>
        </p:sp>
        <p:sp>
          <p:nvSpPr>
            <p:cNvPr id="52" name="TextBox 52"/>
            <p:cNvSpPr txBox="1"/>
            <p:nvPr/>
          </p:nvSpPr>
          <p:spPr>
            <a:xfrm>
              <a:off x="9339262" y="2721769"/>
              <a:ext cx="1360289" cy="381000"/>
            </a:xfrm>
            <a:prstGeom prst="rect">
              <a:avLst/>
            </a:prstGeom>
            <a:noFill/>
            <a:ln>
              <a:noFill/>
            </a:ln>
          </p:spPr>
          <p:txBody>
            <a:bodyPr wrap="none" lIns="0" tIns="0" rIns="0" bIns="0" anchor="t" anchorCtr="0">
              <a:spAutoFit/>
            </a:bodyPr>
            <a:lstStyle/>
            <a:p>
              <a:pPr algn="l"/>
              <a:r>
                <a:rPr lang="zh-CN" sz="1875" b="1" dirty="0">
                  <a:solidFill>
                    <a:srgbClr val="1B1C21"/>
                  </a:solidFill>
                  <a:latin typeface="Arial"/>
                  <a:ea typeface="Microsoft YaHei"/>
                  <a:cs typeface="Arial"/>
                </a:rPr>
                <a:t>可靠性判断</a:t>
              </a:r>
            </a:p>
          </p:txBody>
        </p:sp>
        <p:sp>
          <p:nvSpPr>
            <p:cNvPr id="53" name="TextBox 53"/>
            <p:cNvSpPr txBox="1"/>
            <p:nvPr/>
          </p:nvSpPr>
          <p:spPr>
            <a:xfrm>
              <a:off x="9345292" y="3201643"/>
              <a:ext cx="115590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依据标准差、</a:t>
              </a:r>
            </a:p>
          </p:txBody>
        </p:sp>
        <p:sp>
          <p:nvSpPr>
            <p:cNvPr id="54" name="TextBox 54"/>
            <p:cNvSpPr txBox="1"/>
            <p:nvPr/>
          </p:nvSpPr>
          <p:spPr>
            <a:xfrm>
              <a:off x="9345292" y="3458818"/>
              <a:ext cx="115590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置信度和专家</a:t>
              </a:r>
            </a:p>
          </p:txBody>
        </p:sp>
        <p:sp>
          <p:nvSpPr>
            <p:cNvPr id="55" name="TextBox 55"/>
            <p:cNvSpPr txBox="1"/>
            <p:nvPr/>
          </p:nvSpPr>
          <p:spPr>
            <a:xfrm>
              <a:off x="9345292" y="3715993"/>
              <a:ext cx="78246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判断终审</a:t>
              </a:r>
            </a:p>
          </p:txBody>
        </p:sp>
        <p:sp>
          <p:nvSpPr>
            <p:cNvPr id="56" name="Rectangle 56"/>
            <p:cNvSpPr/>
            <p:nvPr/>
          </p:nvSpPr>
          <p:spPr>
            <a:xfrm>
              <a:off x="9363075" y="4095750"/>
              <a:ext cx="1428750" cy="419100"/>
            </a:xfrm>
            <a:prstGeom prst="roundRect">
              <a:avLst>
                <a:gd name="adj" fmla="val 50000"/>
              </a:avLst>
            </a:prstGeom>
            <a:solidFill>
              <a:srgbClr val="C8161E">
                <a:alpha val="12000"/>
              </a:srgbClr>
            </a:solidFill>
            <a:ln>
              <a:noFill/>
            </a:ln>
          </p:spPr>
        </p:sp>
        <p:sp>
          <p:nvSpPr>
            <p:cNvPr id="57" name="TextBox 57"/>
            <p:cNvSpPr txBox="1"/>
            <p:nvPr/>
          </p:nvSpPr>
          <p:spPr>
            <a:xfrm>
              <a:off x="9667548" y="4220818"/>
              <a:ext cx="819804" cy="284531"/>
            </a:xfrm>
            <a:prstGeom prst="rect">
              <a:avLst/>
            </a:prstGeom>
            <a:noFill/>
            <a:ln>
              <a:noFill/>
            </a:ln>
          </p:spPr>
          <p:txBody>
            <a:bodyPr wrap="none" lIns="0" tIns="0" rIns="0" bIns="0" anchor="t" anchorCtr="0">
              <a:spAutoFit/>
            </a:bodyPr>
            <a:lstStyle/>
            <a:p>
              <a:pPr algn="ctr"/>
              <a:r>
                <a:rPr lang="zh-CN" sz="1400" b="1" dirty="0">
                  <a:solidFill>
                    <a:srgbClr val="C8161E"/>
                  </a:solidFill>
                  <a:latin typeface="Arial"/>
                  <a:ea typeface="Microsoft YaHei"/>
                  <a:cs typeface="Arial"/>
                </a:rPr>
                <a:t>复核判断</a:t>
              </a:r>
            </a:p>
          </p:txBody>
        </p:sp>
      </p:grpSp>
      <p:sp>
        <p:nvSpPr>
          <p:cNvPr id="59" name="Rectangle 59"/>
          <p:cNvSpPr/>
          <p:nvPr/>
        </p:nvSpPr>
        <p:spPr>
          <a:xfrm>
            <a:off x="914400" y="5334000"/>
            <a:ext cx="10363200" cy="571500"/>
          </a:xfrm>
          <a:prstGeom prst="roundRect">
            <a:avLst>
              <a:gd name="adj" fmla="val 13333"/>
            </a:avLst>
          </a:prstGeom>
          <a:solidFill>
            <a:srgbClr val="F0F7FF"/>
          </a:solidFill>
          <a:ln w="9525">
            <a:solidFill>
              <a:srgbClr val="D9DEE5"/>
            </a:solidFill>
          </a:ln>
        </p:spPr>
      </p:sp>
      <p:sp>
        <p:nvSpPr>
          <p:cNvPr id="60" name="TextBox 60"/>
          <p:cNvSpPr txBox="1"/>
          <p:nvPr/>
        </p:nvSpPr>
        <p:spPr>
          <a:xfrm>
            <a:off x="1119838" y="5523257"/>
            <a:ext cx="9952324" cy="325069"/>
          </a:xfrm>
          <a:prstGeom prst="rect">
            <a:avLst/>
          </a:prstGeom>
          <a:noFill/>
          <a:ln>
            <a:noFill/>
          </a:ln>
        </p:spPr>
        <p:txBody>
          <a:bodyPr wrap="none" lIns="0" tIns="0" rIns="0" bIns="0" anchor="t" anchorCtr="0">
            <a:spAutoFit/>
          </a:bodyPr>
          <a:lstStyle/>
          <a:p>
            <a:pPr algn="ctr"/>
            <a:r>
              <a:rPr lang="zh-CN" sz="1600" b="1" dirty="0">
                <a:solidFill>
                  <a:srgbClr val="1B1C21"/>
                </a:solidFill>
                <a:latin typeface="Arial"/>
                <a:ea typeface="Microsoft YaHei"/>
                <a:cs typeface="Arial"/>
              </a:rPr>
              <a:t>Top50 规则：五轴 10 分为主资格池；9 分仅用于学科配额补足；8 分及以下原则上不入正式 Top50。</a:t>
            </a:r>
          </a:p>
        </p:txBody>
      </p:sp>
      <p:grpSp>
        <p:nvGrpSpPr>
          <p:cNvPr id="64" name="Group 64"/>
          <p:cNvGrpSpPr/>
          <p:nvPr/>
        </p:nvGrpSpPr>
        <p:grpSpPr>
          <a:xfrm>
            <a:off x="0" y="6516343"/>
            <a:ext cx="12192000" cy="341657"/>
            <a:chOff x="0" y="6516343"/>
            <a:chExt cx="12192000" cy="341657"/>
          </a:xfrm>
        </p:grpSpPr>
        <p:sp>
          <p:nvSpPr>
            <p:cNvPr id="61" name="Rectangle 61"/>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62" name="TextBox 62"/>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63" name="TextBox 63"/>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slide(fromBottom)">
                                      <p:cBhvr>
                                        <p:cTn id="11" dur="400"/>
                                        <p:tgtEl>
                                          <p:spTgt spid="3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slide(fromBottom)">
                                      <p:cBhvr>
                                        <p:cTn id="15" dur="400"/>
                                        <p:tgtEl>
                                          <p:spTgt spid="4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slide(fromBottom)">
                                      <p:cBhvr>
                                        <p:cTn id="19"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2" grpId="0"/>
      <p:bldP spid="45" grpId="0"/>
      <p:bldP spid="5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423198"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六维评价框架</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9" name="Group 9"/>
          <p:cNvGrpSpPr/>
          <p:nvPr/>
        </p:nvGrpSpPr>
        <p:grpSpPr>
          <a:xfrm>
            <a:off x="660397" y="1022323"/>
            <a:ext cx="4055807" cy="406451"/>
            <a:chOff x="660397" y="1022323"/>
            <a:chExt cx="4055807" cy="406451"/>
          </a:xfrm>
        </p:grpSpPr>
        <p:sp>
          <p:nvSpPr>
            <p:cNvPr id="8" name="TextBox 8"/>
            <p:cNvSpPr txBox="1"/>
            <p:nvPr/>
          </p:nvSpPr>
          <p:spPr>
            <a:xfrm>
              <a:off x="660397" y="1022323"/>
              <a:ext cx="4055807" cy="406451"/>
            </a:xfrm>
            <a:prstGeom prst="rect">
              <a:avLst/>
            </a:prstGeom>
            <a:noFill/>
            <a:ln>
              <a:noFill/>
            </a:ln>
          </p:spPr>
          <p:txBody>
            <a:bodyPr wrap="none" lIns="0" tIns="0" rIns="0" bIns="0" anchor="t" anchorCtr="0">
              <a:spAutoFit/>
            </a:bodyPr>
            <a:lstStyle/>
            <a:p>
              <a:pPr algn="l"/>
              <a:r>
                <a:rPr lang="zh-CN" sz="2000" b="1" dirty="0">
                  <a:solidFill>
                    <a:srgbClr val="1B1C21"/>
                  </a:solidFill>
                  <a:latin typeface="Arial"/>
                  <a:ea typeface="Microsoft YaHei"/>
                  <a:cs typeface="Arial"/>
                </a:rPr>
                <a:t>三个递进层级</a:t>
              </a:r>
              <a:r>
                <a:rPr lang="zh-CN" sz="1600" dirty="0">
                  <a:solidFill>
                    <a:srgbClr val="5A6472"/>
                  </a:solidFill>
                  <a:latin typeface="Arial"/>
                  <a:ea typeface="Microsoft YaHei"/>
                  <a:cs typeface="Arial"/>
                </a:rPr>
                <a:t xml:space="preserve"> 不是六个并列指标</a:t>
              </a:r>
            </a:p>
          </p:txBody>
        </p:sp>
      </p:grpSp>
      <p:grpSp>
        <p:nvGrpSpPr>
          <p:cNvPr id="16" name="Group 16"/>
          <p:cNvGrpSpPr/>
          <p:nvPr/>
        </p:nvGrpSpPr>
        <p:grpSpPr>
          <a:xfrm>
            <a:off x="2095500" y="1504950"/>
            <a:ext cx="3429000" cy="4267200"/>
            <a:chOff x="2095500" y="1504950"/>
            <a:chExt cx="3429000" cy="4267200"/>
          </a:xfrm>
        </p:grpSpPr>
        <p:sp>
          <p:nvSpPr>
            <p:cNvPr id="10" name="Polygon 10"/>
            <p:cNvSpPr/>
            <p:nvPr/>
          </p:nvSpPr>
          <p:spPr>
            <a:xfrm>
              <a:off x="3238500" y="1504950"/>
              <a:ext cx="1143000" cy="1333500"/>
            </a:xfrm>
            <a:custGeom>
              <a:avLst/>
              <a:gdLst/>
              <a:ahLst/>
              <a:cxnLst/>
              <a:rect l="l" t="t" r="r" b="b"/>
              <a:pathLst>
                <a:path w="1143000" h="1333500">
                  <a:moveTo>
                    <a:pt x="571500" y="0"/>
                  </a:moveTo>
                  <a:lnTo>
                    <a:pt x="0" y="1333500"/>
                  </a:lnTo>
                  <a:lnTo>
                    <a:pt x="1143000" y="1333500"/>
                  </a:lnTo>
                  <a:close/>
                </a:path>
              </a:pathLst>
            </a:custGeom>
            <a:solidFill>
              <a:srgbClr val="44546A"/>
            </a:solidFill>
            <a:ln>
              <a:noFill/>
            </a:ln>
          </p:spPr>
        </p:sp>
        <p:sp>
          <p:nvSpPr>
            <p:cNvPr id="11" name="TextBox 11"/>
            <p:cNvSpPr txBox="1"/>
            <p:nvPr/>
          </p:nvSpPr>
          <p:spPr>
            <a:xfrm>
              <a:off x="3302068" y="2534893"/>
              <a:ext cx="1015864"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风险与延展</a:t>
              </a:r>
            </a:p>
          </p:txBody>
        </p:sp>
        <p:sp>
          <p:nvSpPr>
            <p:cNvPr id="12" name="Polygon 12"/>
            <p:cNvSpPr/>
            <p:nvPr/>
          </p:nvSpPr>
          <p:spPr>
            <a:xfrm>
              <a:off x="2667000" y="2952750"/>
              <a:ext cx="2286000" cy="1352550"/>
            </a:xfrm>
            <a:custGeom>
              <a:avLst/>
              <a:gdLst/>
              <a:ahLst/>
              <a:cxnLst/>
              <a:rect l="l" t="t" r="r" b="b"/>
              <a:pathLst>
                <a:path w="2286000" h="1352550">
                  <a:moveTo>
                    <a:pt x="571500" y="0"/>
                  </a:moveTo>
                  <a:lnTo>
                    <a:pt x="1714500" y="0"/>
                  </a:lnTo>
                  <a:lnTo>
                    <a:pt x="2286000" y="1352550"/>
                  </a:lnTo>
                  <a:lnTo>
                    <a:pt x="0" y="1352550"/>
                  </a:lnTo>
                  <a:close/>
                </a:path>
              </a:pathLst>
            </a:custGeom>
            <a:solidFill>
              <a:srgbClr val="1F4D78"/>
            </a:solidFill>
            <a:ln>
              <a:noFill/>
            </a:ln>
          </p:spPr>
        </p:sp>
        <p:sp>
          <p:nvSpPr>
            <p:cNvPr id="13" name="TextBox 13"/>
            <p:cNvSpPr txBox="1"/>
            <p:nvPr/>
          </p:nvSpPr>
          <p:spPr>
            <a:xfrm>
              <a:off x="3157061" y="3539490"/>
              <a:ext cx="1305878"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工具与论证</a:t>
              </a:r>
            </a:p>
          </p:txBody>
        </p:sp>
        <p:sp>
          <p:nvSpPr>
            <p:cNvPr id="14" name="Polygon 14"/>
            <p:cNvSpPr/>
            <p:nvPr/>
          </p:nvSpPr>
          <p:spPr>
            <a:xfrm>
              <a:off x="2095500" y="4419600"/>
              <a:ext cx="3429000" cy="1352550"/>
            </a:xfrm>
            <a:custGeom>
              <a:avLst/>
              <a:gdLst/>
              <a:ahLst/>
              <a:cxnLst/>
              <a:rect l="l" t="t" r="r" b="b"/>
              <a:pathLst>
                <a:path w="3429000" h="1352550">
                  <a:moveTo>
                    <a:pt x="571500" y="0"/>
                  </a:moveTo>
                  <a:lnTo>
                    <a:pt x="2857500" y="0"/>
                  </a:lnTo>
                  <a:lnTo>
                    <a:pt x="3429000" y="1352550"/>
                  </a:lnTo>
                  <a:lnTo>
                    <a:pt x="0" y="1352550"/>
                  </a:lnTo>
                  <a:close/>
                </a:path>
              </a:pathLst>
            </a:custGeom>
            <a:solidFill>
              <a:srgbClr val="C8161E"/>
            </a:solidFill>
            <a:ln>
              <a:noFill/>
            </a:ln>
          </p:spPr>
        </p:sp>
        <p:sp>
          <p:nvSpPr>
            <p:cNvPr id="15" name="TextBox 15"/>
            <p:cNvSpPr txBox="1"/>
            <p:nvPr/>
          </p:nvSpPr>
          <p:spPr>
            <a:xfrm>
              <a:off x="3157061" y="5006340"/>
              <a:ext cx="1305878" cy="365760"/>
            </a:xfrm>
            <a:prstGeom prst="rect">
              <a:avLst/>
            </a:prstGeom>
            <a:noFill/>
            <a:ln>
              <a:noFill/>
            </a:ln>
          </p:spPr>
          <p:txBody>
            <a:bodyPr wrap="none" lIns="0" tIns="0" rIns="0" bIns="0" anchor="t" anchorCtr="0">
              <a:spAutoFit/>
            </a:bodyPr>
            <a:lstStyle/>
            <a:p>
              <a:pPr algn="ctr"/>
              <a:r>
                <a:rPr lang="zh-CN" sz="1800" b="1" dirty="0">
                  <a:solidFill>
                    <a:srgbClr val="FFFFFF"/>
                  </a:solidFill>
                  <a:latin typeface="Arial"/>
                  <a:ea typeface="Microsoft YaHei"/>
                  <a:cs typeface="Arial"/>
                </a:rPr>
                <a:t>命题与定位</a:t>
              </a:r>
            </a:p>
          </p:txBody>
        </p:sp>
      </p:grpSp>
      <p:grpSp>
        <p:nvGrpSpPr>
          <p:cNvPr id="21" name="Group 21"/>
          <p:cNvGrpSpPr/>
          <p:nvPr/>
        </p:nvGrpSpPr>
        <p:grpSpPr>
          <a:xfrm>
            <a:off x="6286500" y="1485900"/>
            <a:ext cx="5219700" cy="1352550"/>
            <a:chOff x="6286500" y="1485900"/>
            <a:chExt cx="5219700" cy="1352550"/>
          </a:xfrm>
        </p:grpSpPr>
        <p:sp>
          <p:nvSpPr>
            <p:cNvPr id="17" name="Rectangle 17"/>
            <p:cNvSpPr/>
            <p:nvPr/>
          </p:nvSpPr>
          <p:spPr>
            <a:xfrm>
              <a:off x="6286500" y="1485900"/>
              <a:ext cx="5219700" cy="1352550"/>
            </a:xfrm>
            <a:prstGeom prst="roundRect">
              <a:avLst>
                <a:gd name="adj" fmla="val 11268"/>
              </a:avLst>
            </a:prstGeom>
            <a:solidFill>
              <a:srgbClr val="44546A">
                <a:alpha val="6000"/>
              </a:srgbClr>
            </a:solidFill>
            <a:ln w="14288">
              <a:solidFill>
                <a:srgbClr val="44546A"/>
              </a:solidFill>
            </a:ln>
          </p:spPr>
        </p:sp>
        <p:sp>
          <p:nvSpPr>
            <p:cNvPr id="18" name="TextBox 18"/>
            <p:cNvSpPr txBox="1"/>
            <p:nvPr/>
          </p:nvSpPr>
          <p:spPr>
            <a:xfrm>
              <a:off x="6530340" y="1672590"/>
              <a:ext cx="1305878" cy="365760"/>
            </a:xfrm>
            <a:prstGeom prst="rect">
              <a:avLst/>
            </a:prstGeom>
            <a:noFill/>
            <a:ln>
              <a:noFill/>
            </a:ln>
          </p:spPr>
          <p:txBody>
            <a:bodyPr wrap="none" lIns="0" tIns="0" rIns="0" bIns="0" anchor="t" anchorCtr="0">
              <a:spAutoFit/>
            </a:bodyPr>
            <a:lstStyle/>
            <a:p>
              <a:pPr algn="l"/>
              <a:r>
                <a:rPr lang="zh-CN" sz="1800" b="1" dirty="0">
                  <a:solidFill>
                    <a:srgbClr val="44546A"/>
                  </a:solidFill>
                  <a:latin typeface="Arial"/>
                  <a:ea typeface="Microsoft YaHei"/>
                  <a:cs typeface="Arial"/>
                </a:rPr>
                <a:t>风险与延展</a:t>
              </a:r>
            </a:p>
          </p:txBody>
        </p:sp>
        <p:sp>
          <p:nvSpPr>
            <p:cNvPr id="19" name="TextBox 19"/>
            <p:cNvSpPr txBox="1"/>
            <p:nvPr/>
          </p:nvSpPr>
          <p:spPr>
            <a:xfrm>
              <a:off x="6532883" y="2132357"/>
              <a:ext cx="1469922"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学术共识度</a:t>
              </a:r>
              <a:r>
                <a:rPr lang="zh-CN" sz="1600" b="1" dirty="0">
                  <a:solidFill>
                    <a:srgbClr val="44546A"/>
                  </a:solidFill>
                  <a:latin typeface="Arial"/>
                  <a:ea typeface="Microsoft YaHei"/>
                  <a:cs typeface="Arial"/>
                </a:rPr>
                <a:t xml:space="preserve"> 10%</a:t>
              </a:r>
            </a:p>
          </p:txBody>
        </p:sp>
        <p:sp>
          <p:nvSpPr>
            <p:cNvPr id="20" name="TextBox 20"/>
            <p:cNvSpPr txBox="1"/>
            <p:nvPr/>
          </p:nvSpPr>
          <p:spPr>
            <a:xfrm>
              <a:off x="6532883" y="2475257"/>
              <a:ext cx="1405924"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前瞻延展性</a:t>
              </a:r>
              <a:r>
                <a:rPr lang="zh-CN" sz="1600" b="1" dirty="0">
                  <a:solidFill>
                    <a:srgbClr val="44546A"/>
                  </a:solidFill>
                  <a:latin typeface="Arial"/>
                  <a:ea typeface="Microsoft YaHei"/>
                  <a:cs typeface="Arial"/>
                </a:rPr>
                <a:t xml:space="preserve"> 5%</a:t>
              </a:r>
            </a:p>
          </p:txBody>
        </p:sp>
      </p:grpSp>
      <p:grpSp>
        <p:nvGrpSpPr>
          <p:cNvPr id="26" name="Group 26"/>
          <p:cNvGrpSpPr/>
          <p:nvPr/>
        </p:nvGrpSpPr>
        <p:grpSpPr>
          <a:xfrm>
            <a:off x="6286500" y="2952750"/>
            <a:ext cx="5219700" cy="1352550"/>
            <a:chOff x="6286500" y="2952750"/>
            <a:chExt cx="5219700" cy="1352550"/>
          </a:xfrm>
        </p:grpSpPr>
        <p:sp>
          <p:nvSpPr>
            <p:cNvPr id="22" name="Rectangle 22"/>
            <p:cNvSpPr/>
            <p:nvPr/>
          </p:nvSpPr>
          <p:spPr>
            <a:xfrm>
              <a:off x="6286500" y="2952750"/>
              <a:ext cx="5219700" cy="1352550"/>
            </a:xfrm>
            <a:prstGeom prst="roundRect">
              <a:avLst>
                <a:gd name="adj" fmla="val 11268"/>
              </a:avLst>
            </a:prstGeom>
            <a:solidFill>
              <a:srgbClr val="1F4D78">
                <a:alpha val="6000"/>
              </a:srgbClr>
            </a:solidFill>
            <a:ln w="14288">
              <a:solidFill>
                <a:srgbClr val="1F4D78"/>
              </a:solidFill>
            </a:ln>
          </p:spPr>
        </p:sp>
        <p:sp>
          <p:nvSpPr>
            <p:cNvPr id="23" name="TextBox 23"/>
            <p:cNvSpPr txBox="1"/>
            <p:nvPr/>
          </p:nvSpPr>
          <p:spPr>
            <a:xfrm>
              <a:off x="6530340" y="3139440"/>
              <a:ext cx="1305878"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工具与论证</a:t>
              </a:r>
            </a:p>
          </p:txBody>
        </p:sp>
        <p:sp>
          <p:nvSpPr>
            <p:cNvPr id="24" name="TextBox 24"/>
            <p:cNvSpPr txBox="1"/>
            <p:nvPr/>
          </p:nvSpPr>
          <p:spPr>
            <a:xfrm>
              <a:off x="6532883" y="3599207"/>
              <a:ext cx="1469922"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理论建构力</a:t>
              </a:r>
              <a:r>
                <a:rPr lang="zh-CN" sz="1600" b="1" dirty="0">
                  <a:solidFill>
                    <a:srgbClr val="1F4D78"/>
                  </a:solidFill>
                  <a:latin typeface="Arial"/>
                  <a:ea typeface="Microsoft YaHei"/>
                  <a:cs typeface="Arial"/>
                </a:rPr>
                <a:t xml:space="preserve"> 15%</a:t>
              </a:r>
            </a:p>
          </p:txBody>
        </p:sp>
        <p:sp>
          <p:nvSpPr>
            <p:cNvPr id="25" name="TextBox 25"/>
            <p:cNvSpPr txBox="1"/>
            <p:nvPr/>
          </p:nvSpPr>
          <p:spPr>
            <a:xfrm>
              <a:off x="6532883" y="3942107"/>
              <a:ext cx="1523254"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逻辑连贯性</a:t>
              </a:r>
              <a:r>
                <a:rPr lang="zh-CN" sz="1600" b="1" dirty="0">
                  <a:solidFill>
                    <a:srgbClr val="1F4D78"/>
                  </a:solidFill>
                  <a:latin typeface="Arial"/>
                  <a:ea typeface="Microsoft YaHei"/>
                  <a:cs typeface="Arial"/>
                </a:rPr>
                <a:t xml:space="preserve"> 20%</a:t>
              </a:r>
            </a:p>
          </p:txBody>
        </p:sp>
      </p:grpSp>
      <p:grpSp>
        <p:nvGrpSpPr>
          <p:cNvPr id="31" name="Group 31"/>
          <p:cNvGrpSpPr/>
          <p:nvPr/>
        </p:nvGrpSpPr>
        <p:grpSpPr>
          <a:xfrm>
            <a:off x="6286500" y="4419600"/>
            <a:ext cx="5219700" cy="1352550"/>
            <a:chOff x="6286500" y="4419600"/>
            <a:chExt cx="5219700" cy="1352550"/>
          </a:xfrm>
        </p:grpSpPr>
        <p:sp>
          <p:nvSpPr>
            <p:cNvPr id="27" name="Rectangle 27"/>
            <p:cNvSpPr/>
            <p:nvPr/>
          </p:nvSpPr>
          <p:spPr>
            <a:xfrm>
              <a:off x="6286500" y="4419600"/>
              <a:ext cx="5219700" cy="1352550"/>
            </a:xfrm>
            <a:prstGeom prst="roundRect">
              <a:avLst>
                <a:gd name="adj" fmla="val 11268"/>
              </a:avLst>
            </a:prstGeom>
            <a:solidFill>
              <a:srgbClr val="C8161E">
                <a:alpha val="6000"/>
              </a:srgbClr>
            </a:solidFill>
            <a:ln w="14288">
              <a:solidFill>
                <a:srgbClr val="C8161E"/>
              </a:solidFill>
            </a:ln>
          </p:spPr>
        </p:sp>
        <p:sp>
          <p:nvSpPr>
            <p:cNvPr id="28" name="TextBox 28"/>
            <p:cNvSpPr txBox="1"/>
            <p:nvPr/>
          </p:nvSpPr>
          <p:spPr>
            <a:xfrm>
              <a:off x="6530340" y="4606290"/>
              <a:ext cx="1305878" cy="365760"/>
            </a:xfrm>
            <a:prstGeom prst="rect">
              <a:avLst/>
            </a:prstGeom>
            <a:noFill/>
            <a:ln>
              <a:noFill/>
            </a:ln>
          </p:spPr>
          <p:txBody>
            <a:bodyPr wrap="none" lIns="0" tIns="0" rIns="0" bIns="0" anchor="t" anchorCtr="0">
              <a:spAutoFit/>
            </a:bodyPr>
            <a:lstStyle/>
            <a:p>
              <a:pPr algn="l"/>
              <a:r>
                <a:rPr lang="zh-CN" sz="1800" b="1" dirty="0">
                  <a:solidFill>
                    <a:srgbClr val="C8161E"/>
                  </a:solidFill>
                  <a:latin typeface="Arial"/>
                  <a:ea typeface="Microsoft YaHei"/>
                  <a:cs typeface="Arial"/>
                </a:rPr>
                <a:t>命题与定位</a:t>
              </a:r>
            </a:p>
          </p:txBody>
        </p:sp>
        <p:sp>
          <p:nvSpPr>
            <p:cNvPr id="29" name="TextBox 29"/>
            <p:cNvSpPr txBox="1"/>
            <p:nvPr/>
          </p:nvSpPr>
          <p:spPr>
            <a:xfrm>
              <a:off x="6532883" y="5066057"/>
              <a:ext cx="1523254"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研究创新性</a:t>
              </a:r>
              <a:r>
                <a:rPr lang="zh-CN" sz="1600" b="1" dirty="0">
                  <a:solidFill>
                    <a:srgbClr val="C8161E"/>
                  </a:solidFill>
                  <a:latin typeface="Arial"/>
                  <a:ea typeface="Microsoft YaHei"/>
                  <a:cs typeface="Arial"/>
                </a:rPr>
                <a:t xml:space="preserve"> 30%</a:t>
              </a:r>
            </a:p>
          </p:txBody>
        </p:sp>
        <p:sp>
          <p:nvSpPr>
            <p:cNvPr id="30" name="TextBox 30"/>
            <p:cNvSpPr txBox="1"/>
            <p:nvPr/>
          </p:nvSpPr>
          <p:spPr>
            <a:xfrm>
              <a:off x="6532883" y="5408957"/>
              <a:ext cx="1523254"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现状洞察度</a:t>
              </a:r>
              <a:r>
                <a:rPr lang="zh-CN" sz="1600" b="1" dirty="0">
                  <a:solidFill>
                    <a:srgbClr val="C8161E"/>
                  </a:solidFill>
                  <a:latin typeface="Arial"/>
                  <a:ea typeface="Microsoft YaHei"/>
                  <a:cs typeface="Arial"/>
                </a:rPr>
                <a:t xml:space="preserve"> 20%</a:t>
              </a:r>
            </a:p>
          </p:txBody>
        </p:sp>
      </p:grpSp>
      <p:grpSp>
        <p:nvGrpSpPr>
          <p:cNvPr id="34" name="Group 34"/>
          <p:cNvGrpSpPr/>
          <p:nvPr/>
        </p:nvGrpSpPr>
        <p:grpSpPr>
          <a:xfrm>
            <a:off x="685800" y="6019800"/>
            <a:ext cx="10820400" cy="533400"/>
            <a:chOff x="685800" y="6019800"/>
            <a:chExt cx="10820400" cy="533400"/>
          </a:xfrm>
        </p:grpSpPr>
        <p:sp>
          <p:nvSpPr>
            <p:cNvPr id="32" name="Rectangle 32"/>
            <p:cNvSpPr/>
            <p:nvPr/>
          </p:nvSpPr>
          <p:spPr>
            <a:xfrm>
              <a:off x="685800" y="6019800"/>
              <a:ext cx="10820400" cy="533400"/>
            </a:xfrm>
            <a:prstGeom prst="roundRect">
              <a:avLst>
                <a:gd name="adj" fmla="val 21429"/>
              </a:avLst>
            </a:prstGeom>
            <a:solidFill>
              <a:srgbClr val="F4F5F7"/>
            </a:solidFill>
            <a:ln>
              <a:noFill/>
            </a:ln>
          </p:spPr>
        </p:sp>
        <p:sp>
          <p:nvSpPr>
            <p:cNvPr id="33" name="TextBox 33"/>
            <p:cNvSpPr txBox="1"/>
            <p:nvPr/>
          </p:nvSpPr>
          <p:spPr>
            <a:xfrm>
              <a:off x="896617" y="6202018"/>
              <a:ext cx="7336449"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关键设计原则——</a:t>
              </a:r>
              <a:r>
                <a:rPr lang="zh-CN" sz="1400" b="1" dirty="0">
                  <a:solidFill>
                    <a:srgbClr val="C8161E"/>
                  </a:solidFill>
                  <a:latin typeface="Arial"/>
                  <a:ea typeface="Microsoft YaHei"/>
                  <a:cs typeface="Arial"/>
                </a:rPr>
                <a:t>不得倒置</a:t>
              </a:r>
              <a:r>
                <a:rPr lang="zh-CN" sz="1400" dirty="0">
                  <a:solidFill>
                    <a:srgbClr val="1B1C21"/>
                  </a:solidFill>
                  <a:latin typeface="Arial"/>
                  <a:ea typeface="Microsoft YaHei"/>
                  <a:cs typeface="Arial"/>
                </a:rPr>
                <a:t>：不因结论正确补救创新不足，不因涉及中国议题自动给高分。</a:t>
              </a:r>
            </a:p>
          </p:txBody>
        </p:sp>
      </p:grpSp>
      <p:grpSp>
        <p:nvGrpSpPr>
          <p:cNvPr id="38" name="Group 38"/>
          <p:cNvGrpSpPr/>
          <p:nvPr/>
        </p:nvGrpSpPr>
        <p:grpSpPr>
          <a:xfrm>
            <a:off x="0" y="6516343"/>
            <a:ext cx="12192000" cy="341657"/>
            <a:chOff x="0" y="6516343"/>
            <a:chExt cx="12192000" cy="341657"/>
          </a:xfrm>
        </p:grpSpPr>
        <p:sp>
          <p:nvSpPr>
            <p:cNvPr id="35" name="Rectangle 35"/>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36" name="TextBox 36"/>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37" name="TextBox 37"/>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400"/>
                                        <p:tgtEl>
                                          <p:spTgt spid="16"/>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slide(fromBottom)">
                                      <p:cBhvr>
                                        <p:cTn id="15" dur="400"/>
                                        <p:tgtEl>
                                          <p:spTgt spid="21"/>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image">
                                      <p:cBhvr>
                                        <p:cTn id="19" dur="400"/>
                                        <p:tgtEl>
                                          <p:spTgt spid="26"/>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400"/>
                                        <p:tgtEl>
                                          <p:spTgt spid="31"/>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P spid="21" grpId="0"/>
      <p:bldP spid="26" grpId="0"/>
      <p:bldP spid="31" grpId="0"/>
      <p:bldP spid="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4814483"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概念操作化——把主观变客观</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370728" y="953743"/>
            <a:ext cx="5450543"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将学术质量、项目口径与五轴归属拆成可检查、可复核的评价单元</a:t>
            </a:r>
          </a:p>
        </p:txBody>
      </p:sp>
      <p:grpSp>
        <p:nvGrpSpPr>
          <p:cNvPr id="15" name="Group 15"/>
          <p:cNvGrpSpPr/>
          <p:nvPr/>
        </p:nvGrpSpPr>
        <p:grpSpPr>
          <a:xfrm>
            <a:off x="914400" y="1619250"/>
            <a:ext cx="4953000" cy="1524000"/>
            <a:chOff x="914400" y="1619250"/>
            <a:chExt cx="4953000" cy="1524000"/>
          </a:xfrm>
        </p:grpSpPr>
        <p:sp>
          <p:nvSpPr>
            <p:cNvPr id="9" name="Rectangle 9"/>
            <p:cNvSpPr/>
            <p:nvPr/>
          </p:nvSpPr>
          <p:spPr>
            <a:xfrm>
              <a:off x="914400" y="1619250"/>
              <a:ext cx="4953000" cy="1524000"/>
            </a:xfrm>
            <a:prstGeom prst="roundRect">
              <a:avLst>
                <a:gd name="adj" fmla="val 6250"/>
              </a:avLst>
            </a:prstGeom>
            <a:solidFill>
              <a:srgbClr val="FFFFFF"/>
            </a:solidFill>
            <a:ln w="11430">
              <a:solidFill>
                <a:srgbClr val="D9DEE5"/>
              </a:solidFill>
            </a:ln>
          </p:spPr>
        </p:sp>
        <p:sp>
          <p:nvSpPr>
            <p:cNvPr id="10" name="Rectangle 10"/>
            <p:cNvSpPr/>
            <p:nvPr/>
          </p:nvSpPr>
          <p:spPr>
            <a:xfrm>
              <a:off x="914400" y="1619250"/>
              <a:ext cx="76200" cy="1524000"/>
            </a:xfrm>
            <a:prstGeom prst="roundRect">
              <a:avLst>
                <a:gd name="adj" fmla="val 50000"/>
              </a:avLst>
            </a:prstGeom>
            <a:solidFill>
              <a:srgbClr val="1F4D78"/>
            </a:solidFill>
            <a:ln>
              <a:noFill/>
            </a:ln>
          </p:spPr>
        </p:sp>
        <p:sp>
          <p:nvSpPr>
            <p:cNvPr id="11" name="TextBox 11"/>
            <p:cNvSpPr txBox="1"/>
            <p:nvPr/>
          </p:nvSpPr>
          <p:spPr>
            <a:xfrm>
              <a:off x="1157288" y="1874044"/>
              <a:ext cx="1058376" cy="381000"/>
            </a:xfrm>
            <a:prstGeom prst="rect">
              <a:avLst/>
            </a:prstGeom>
            <a:noFill/>
            <a:ln>
              <a:noFill/>
            </a:ln>
          </p:spPr>
          <p:txBody>
            <a:bodyPr wrap="none" lIns="0" tIns="0" rIns="0" bIns="0" anchor="t" anchorCtr="0">
              <a:spAutoFit/>
            </a:bodyPr>
            <a:lstStyle/>
            <a:p>
              <a:pPr algn="l"/>
              <a:r>
                <a:rPr lang="zh-CN" sz="1875" b="1" dirty="0">
                  <a:solidFill>
                    <a:srgbClr val="1F4D78"/>
                  </a:solidFill>
                  <a:latin typeface="Arial"/>
                  <a:ea typeface="Microsoft YaHei"/>
                  <a:cs typeface="Arial"/>
                </a:rPr>
                <a:t>① 枢纽性</a:t>
              </a:r>
            </a:p>
          </p:txBody>
        </p:sp>
        <p:sp>
          <p:nvSpPr>
            <p:cNvPr id="12" name="TextBox 12"/>
            <p:cNvSpPr txBox="1"/>
            <p:nvPr/>
          </p:nvSpPr>
          <p:spPr>
            <a:xfrm>
              <a:off x="1163317" y="2344393"/>
              <a:ext cx="227624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影响范围、争议焦点、理论</a:t>
              </a:r>
            </a:p>
          </p:txBody>
        </p:sp>
        <p:sp>
          <p:nvSpPr>
            <p:cNvPr id="13" name="TextBox 13"/>
            <p:cNvSpPr txBox="1"/>
            <p:nvPr/>
          </p:nvSpPr>
          <p:spPr>
            <a:xfrm>
              <a:off x="1163317" y="2582518"/>
              <a:ext cx="227624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基础、制度连锁中至少满足</a:t>
              </a:r>
            </a:p>
          </p:txBody>
        </p:sp>
        <p:sp>
          <p:nvSpPr>
            <p:cNvPr id="14" name="TextBox 14"/>
            <p:cNvSpPr txBox="1"/>
            <p:nvPr/>
          </p:nvSpPr>
          <p:spPr>
            <a:xfrm>
              <a:off x="1163317" y="2820643"/>
              <a:ext cx="59573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关键项</a:t>
              </a:r>
            </a:p>
          </p:txBody>
        </p:sp>
      </p:grpSp>
      <p:grpSp>
        <p:nvGrpSpPr>
          <p:cNvPr id="22" name="Group 22"/>
          <p:cNvGrpSpPr/>
          <p:nvPr/>
        </p:nvGrpSpPr>
        <p:grpSpPr>
          <a:xfrm>
            <a:off x="6324600" y="1619250"/>
            <a:ext cx="4953000" cy="1524000"/>
            <a:chOff x="6324600" y="1619250"/>
            <a:chExt cx="4953000" cy="1524000"/>
          </a:xfrm>
        </p:grpSpPr>
        <p:sp>
          <p:nvSpPr>
            <p:cNvPr id="16" name="Rectangle 16"/>
            <p:cNvSpPr/>
            <p:nvPr/>
          </p:nvSpPr>
          <p:spPr>
            <a:xfrm>
              <a:off x="6324600" y="1619250"/>
              <a:ext cx="4953000" cy="1524000"/>
            </a:xfrm>
            <a:prstGeom prst="roundRect">
              <a:avLst>
                <a:gd name="adj" fmla="val 6250"/>
              </a:avLst>
            </a:prstGeom>
            <a:solidFill>
              <a:srgbClr val="FFFFFF"/>
            </a:solidFill>
            <a:ln w="11430">
              <a:solidFill>
                <a:srgbClr val="D9DEE5"/>
              </a:solidFill>
            </a:ln>
          </p:spPr>
        </p:sp>
        <p:sp>
          <p:nvSpPr>
            <p:cNvPr id="17" name="Rectangle 17"/>
            <p:cNvSpPr/>
            <p:nvPr/>
          </p:nvSpPr>
          <p:spPr>
            <a:xfrm>
              <a:off x="6324600" y="1619250"/>
              <a:ext cx="76200" cy="1524000"/>
            </a:xfrm>
            <a:prstGeom prst="roundRect">
              <a:avLst>
                <a:gd name="adj" fmla="val 50000"/>
              </a:avLst>
            </a:prstGeom>
            <a:solidFill>
              <a:srgbClr val="1F4D78"/>
            </a:solidFill>
            <a:ln>
              <a:noFill/>
            </a:ln>
          </p:spPr>
        </p:sp>
        <p:sp>
          <p:nvSpPr>
            <p:cNvPr id="18" name="TextBox 18"/>
            <p:cNvSpPr txBox="1"/>
            <p:nvPr/>
          </p:nvSpPr>
          <p:spPr>
            <a:xfrm>
              <a:off x="6567488" y="1874044"/>
              <a:ext cx="2371040" cy="381000"/>
            </a:xfrm>
            <a:prstGeom prst="rect">
              <a:avLst/>
            </a:prstGeom>
            <a:noFill/>
            <a:ln>
              <a:noFill/>
            </a:ln>
          </p:spPr>
          <p:txBody>
            <a:bodyPr wrap="none" lIns="0" tIns="0" rIns="0" bIns="0" anchor="t" anchorCtr="0">
              <a:spAutoFit/>
            </a:bodyPr>
            <a:lstStyle/>
            <a:p>
              <a:pPr algn="l"/>
              <a:r>
                <a:rPr lang="zh-CN" sz="1875" b="1" dirty="0">
                  <a:solidFill>
                    <a:srgbClr val="1F4D78"/>
                  </a:solidFill>
                  <a:latin typeface="Arial"/>
                  <a:ea typeface="Microsoft YaHei"/>
                  <a:cs typeface="Arial"/>
                </a:rPr>
                <a:t>② 可争辩的法学问题</a:t>
              </a:r>
            </a:p>
          </p:txBody>
        </p:sp>
        <p:sp>
          <p:nvSpPr>
            <p:cNvPr id="19" name="TextBox 19"/>
            <p:cNvSpPr txBox="1"/>
            <p:nvPr/>
          </p:nvSpPr>
          <p:spPr>
            <a:xfrm>
              <a:off x="6573517" y="2344393"/>
              <a:ext cx="227624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明确问题句、涉及法律规范</a:t>
              </a:r>
            </a:p>
          </p:txBody>
        </p:sp>
        <p:sp>
          <p:nvSpPr>
            <p:cNvPr id="20" name="TextBox 20"/>
            <p:cNvSpPr txBox="1"/>
            <p:nvPr/>
          </p:nvSpPr>
          <p:spPr>
            <a:xfrm>
              <a:off x="6573517" y="2582518"/>
              <a:ext cx="227624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、存在理论分歧、非政策倡</a:t>
              </a:r>
            </a:p>
          </p:txBody>
        </p:sp>
        <p:sp>
          <p:nvSpPr>
            <p:cNvPr id="21" name="TextBox 21"/>
            <p:cNvSpPr txBox="1"/>
            <p:nvPr/>
          </p:nvSpPr>
          <p:spPr>
            <a:xfrm>
              <a:off x="6573517" y="2820643"/>
              <a:ext cx="22229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导</a:t>
              </a:r>
            </a:p>
          </p:txBody>
        </p:sp>
      </p:grpSp>
      <p:grpSp>
        <p:nvGrpSpPr>
          <p:cNvPr id="29" name="Group 29"/>
          <p:cNvGrpSpPr/>
          <p:nvPr/>
        </p:nvGrpSpPr>
        <p:grpSpPr>
          <a:xfrm>
            <a:off x="914400" y="3619500"/>
            <a:ext cx="4953000" cy="1524000"/>
            <a:chOff x="914400" y="3619500"/>
            <a:chExt cx="4953000" cy="1524000"/>
          </a:xfrm>
        </p:grpSpPr>
        <p:sp>
          <p:nvSpPr>
            <p:cNvPr id="23" name="Rectangle 23"/>
            <p:cNvSpPr/>
            <p:nvPr/>
          </p:nvSpPr>
          <p:spPr>
            <a:xfrm>
              <a:off x="914400" y="3619500"/>
              <a:ext cx="4953000" cy="1524000"/>
            </a:xfrm>
            <a:prstGeom prst="roundRect">
              <a:avLst>
                <a:gd name="adj" fmla="val 6250"/>
              </a:avLst>
            </a:prstGeom>
            <a:solidFill>
              <a:srgbClr val="FFFFFF"/>
            </a:solidFill>
            <a:ln w="11430">
              <a:solidFill>
                <a:srgbClr val="D9DEE5"/>
              </a:solidFill>
            </a:ln>
          </p:spPr>
        </p:sp>
        <p:sp>
          <p:nvSpPr>
            <p:cNvPr id="24" name="Rectangle 24"/>
            <p:cNvSpPr/>
            <p:nvPr/>
          </p:nvSpPr>
          <p:spPr>
            <a:xfrm>
              <a:off x="914400" y="3619500"/>
              <a:ext cx="76200" cy="1524000"/>
            </a:xfrm>
            <a:prstGeom prst="roundRect">
              <a:avLst>
                <a:gd name="adj" fmla="val 50000"/>
              </a:avLst>
            </a:prstGeom>
            <a:solidFill>
              <a:srgbClr val="1F4D78"/>
            </a:solidFill>
            <a:ln>
              <a:noFill/>
            </a:ln>
          </p:spPr>
        </p:sp>
        <p:sp>
          <p:nvSpPr>
            <p:cNvPr id="25" name="TextBox 25"/>
            <p:cNvSpPr txBox="1"/>
            <p:nvPr/>
          </p:nvSpPr>
          <p:spPr>
            <a:xfrm>
              <a:off x="1157288" y="3874294"/>
              <a:ext cx="1583442" cy="381000"/>
            </a:xfrm>
            <a:prstGeom prst="rect">
              <a:avLst/>
            </a:prstGeom>
            <a:noFill/>
            <a:ln>
              <a:noFill/>
            </a:ln>
          </p:spPr>
          <p:txBody>
            <a:bodyPr wrap="none" lIns="0" tIns="0" rIns="0" bIns="0" anchor="t" anchorCtr="0">
              <a:spAutoFit/>
            </a:bodyPr>
            <a:lstStyle/>
            <a:p>
              <a:pPr algn="l"/>
              <a:r>
                <a:rPr lang="zh-CN" sz="1875" b="1" dirty="0">
                  <a:solidFill>
                    <a:srgbClr val="1F4D78"/>
                  </a:solidFill>
                  <a:latin typeface="Arial"/>
                  <a:ea typeface="Microsoft YaHei"/>
                  <a:cs typeface="Arial"/>
                </a:rPr>
                <a:t>③ 原创性理论</a:t>
              </a:r>
            </a:p>
          </p:txBody>
        </p:sp>
        <p:sp>
          <p:nvSpPr>
            <p:cNvPr id="26" name="TextBox 26"/>
            <p:cNvSpPr txBox="1"/>
            <p:nvPr/>
          </p:nvSpPr>
          <p:spPr>
            <a:xfrm>
              <a:off x="1163317" y="4344643"/>
              <a:ext cx="227624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提出新理论命题、形成系统</a:t>
              </a:r>
            </a:p>
          </p:txBody>
        </p:sp>
        <p:sp>
          <p:nvSpPr>
            <p:cNvPr id="27" name="TextBox 27"/>
            <p:cNvSpPr txBox="1"/>
            <p:nvPr/>
          </p:nvSpPr>
          <p:spPr>
            <a:xfrm>
              <a:off x="1163317" y="4582768"/>
              <a:ext cx="227624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论证框架、可定位对既有理</a:t>
              </a:r>
            </a:p>
          </p:txBody>
        </p:sp>
        <p:sp>
          <p:nvSpPr>
            <p:cNvPr id="28" name="TextBox 28"/>
            <p:cNvSpPr txBox="1"/>
            <p:nvPr/>
          </p:nvSpPr>
          <p:spPr>
            <a:xfrm>
              <a:off x="1163317" y="4820893"/>
              <a:ext cx="78246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论的突破</a:t>
              </a:r>
            </a:p>
          </p:txBody>
        </p:sp>
      </p:grpSp>
      <p:grpSp>
        <p:nvGrpSpPr>
          <p:cNvPr id="36" name="Group 36"/>
          <p:cNvGrpSpPr/>
          <p:nvPr/>
        </p:nvGrpSpPr>
        <p:grpSpPr>
          <a:xfrm>
            <a:off x="6324600" y="3619500"/>
            <a:ext cx="4953000" cy="1524000"/>
            <a:chOff x="6324600" y="3619500"/>
            <a:chExt cx="4953000" cy="1524000"/>
          </a:xfrm>
        </p:grpSpPr>
        <p:sp>
          <p:nvSpPr>
            <p:cNvPr id="30" name="Rectangle 30"/>
            <p:cNvSpPr/>
            <p:nvPr/>
          </p:nvSpPr>
          <p:spPr>
            <a:xfrm>
              <a:off x="6324600" y="3619500"/>
              <a:ext cx="4953000" cy="1524000"/>
            </a:xfrm>
            <a:prstGeom prst="roundRect">
              <a:avLst>
                <a:gd name="adj" fmla="val 6250"/>
              </a:avLst>
            </a:prstGeom>
            <a:solidFill>
              <a:srgbClr val="FFFFFF"/>
            </a:solidFill>
            <a:ln w="11430">
              <a:solidFill>
                <a:srgbClr val="D9DEE5"/>
              </a:solidFill>
            </a:ln>
          </p:spPr>
        </p:sp>
        <p:sp>
          <p:nvSpPr>
            <p:cNvPr id="31" name="Rectangle 31"/>
            <p:cNvSpPr/>
            <p:nvPr/>
          </p:nvSpPr>
          <p:spPr>
            <a:xfrm>
              <a:off x="6324600" y="3619500"/>
              <a:ext cx="76200" cy="1524000"/>
            </a:xfrm>
            <a:prstGeom prst="roundRect">
              <a:avLst>
                <a:gd name="adj" fmla="val 50000"/>
              </a:avLst>
            </a:prstGeom>
            <a:solidFill>
              <a:srgbClr val="C8161E"/>
            </a:solidFill>
            <a:ln>
              <a:noFill/>
            </a:ln>
          </p:spPr>
        </p:sp>
        <p:sp>
          <p:nvSpPr>
            <p:cNvPr id="32" name="TextBox 32"/>
            <p:cNvSpPr txBox="1"/>
            <p:nvPr/>
          </p:nvSpPr>
          <p:spPr>
            <a:xfrm>
              <a:off x="6567488" y="3874294"/>
              <a:ext cx="2108508" cy="381000"/>
            </a:xfrm>
            <a:prstGeom prst="rect">
              <a:avLst/>
            </a:prstGeom>
            <a:noFill/>
            <a:ln>
              <a:noFill/>
            </a:ln>
          </p:spPr>
          <p:txBody>
            <a:bodyPr wrap="none" lIns="0" tIns="0" rIns="0" bIns="0" anchor="t" anchorCtr="0">
              <a:spAutoFit/>
            </a:bodyPr>
            <a:lstStyle/>
            <a:p>
              <a:pPr algn="l"/>
              <a:r>
                <a:rPr lang="zh-CN" sz="1875" b="1" dirty="0">
                  <a:solidFill>
                    <a:srgbClr val="C8161E"/>
                  </a:solidFill>
                  <a:latin typeface="Arial"/>
                  <a:ea typeface="Microsoft YaHei"/>
                  <a:cs typeface="Arial"/>
                </a:rPr>
                <a:t>④ 五轴位置归属度</a:t>
              </a:r>
            </a:p>
          </p:txBody>
        </p:sp>
        <p:sp>
          <p:nvSpPr>
            <p:cNvPr id="33" name="TextBox 33"/>
            <p:cNvSpPr txBox="1"/>
            <p:nvPr/>
          </p:nvSpPr>
          <p:spPr>
            <a:xfrm>
              <a:off x="6573517" y="4344643"/>
              <a:ext cx="227624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对象、材料、范畴、解释目</a:t>
              </a:r>
            </a:p>
          </p:txBody>
        </p:sp>
        <p:sp>
          <p:nvSpPr>
            <p:cNvPr id="34" name="TextBox 34"/>
            <p:cNvSpPr txBox="1"/>
            <p:nvPr/>
          </p:nvSpPr>
          <p:spPr>
            <a:xfrm>
              <a:off x="6573517" y="4582768"/>
              <a:ext cx="2238902"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标、体系映射五轴各 0/1/2</a:t>
              </a:r>
            </a:p>
          </p:txBody>
        </p:sp>
        <p:sp>
          <p:nvSpPr>
            <p:cNvPr id="35" name="TextBox 35"/>
            <p:cNvSpPr txBox="1"/>
            <p:nvPr/>
          </p:nvSpPr>
          <p:spPr>
            <a:xfrm>
              <a:off x="6573517" y="4820893"/>
              <a:ext cx="22229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分</a:t>
              </a:r>
            </a:p>
          </p:txBody>
        </p:sp>
      </p:grpSp>
      <p:sp>
        <p:nvSpPr>
          <p:cNvPr id="37" name="Rectangle 37"/>
          <p:cNvSpPr/>
          <p:nvPr/>
        </p:nvSpPr>
        <p:spPr>
          <a:xfrm>
            <a:off x="914400" y="5791200"/>
            <a:ext cx="10363200" cy="419100"/>
          </a:xfrm>
          <a:prstGeom prst="roundRect">
            <a:avLst>
              <a:gd name="adj" fmla="val 18182"/>
            </a:avLst>
          </a:prstGeom>
          <a:solidFill>
            <a:srgbClr val="FFF8F0"/>
          </a:solidFill>
          <a:ln w="9525">
            <a:solidFill>
              <a:srgbClr val="D9DEE5"/>
            </a:solidFill>
          </a:ln>
        </p:spPr>
      </p:sp>
      <p:sp>
        <p:nvSpPr>
          <p:cNvPr id="38" name="TextBox 38"/>
          <p:cNvSpPr txBox="1"/>
          <p:nvPr/>
        </p:nvSpPr>
        <p:spPr>
          <a:xfrm>
            <a:off x="1755105" y="5916268"/>
            <a:ext cx="8681790" cy="284531"/>
          </a:xfrm>
          <a:prstGeom prst="rect">
            <a:avLst/>
          </a:prstGeom>
          <a:noFill/>
          <a:ln>
            <a:noFill/>
          </a:ln>
        </p:spPr>
        <p:txBody>
          <a:bodyPr wrap="none" lIns="0" tIns="0" rIns="0" bIns="0" anchor="t" anchorCtr="0">
            <a:spAutoFit/>
          </a:bodyPr>
          <a:lstStyle/>
          <a:p>
            <a:pPr algn="ctr"/>
            <a:r>
              <a:rPr lang="zh-CN" sz="1400" b="1" dirty="0">
                <a:solidFill>
                  <a:srgbClr val="1B1C21"/>
                </a:solidFill>
                <a:latin typeface="Arial"/>
                <a:ea typeface="Microsoft YaHei"/>
                <a:cs typeface="Arial"/>
              </a:rPr>
              <a:t>五轴归属回答“能否纳入中国法学自主知识体系”，不替代六维质量评价，也不作为第七个质量维度。</a:t>
            </a:r>
          </a:p>
        </p:txBody>
      </p:sp>
      <p:grpSp>
        <p:nvGrpSpPr>
          <p:cNvPr id="42" name="Group 42"/>
          <p:cNvGrpSpPr/>
          <p:nvPr/>
        </p:nvGrpSpPr>
        <p:grpSpPr>
          <a:xfrm>
            <a:off x="0" y="6516343"/>
            <a:ext cx="12192000" cy="341657"/>
            <a:chOff x="0" y="6516343"/>
            <a:chExt cx="12192000" cy="341657"/>
          </a:xfrm>
        </p:grpSpPr>
        <p:sp>
          <p:nvSpPr>
            <p:cNvPr id="39" name="Rectangle 39"/>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40" name="TextBox 40"/>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41" name="TextBox 41"/>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400"/>
                                        <p:tgtEl>
                                          <p:spTgt spid="15"/>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image">
                                      <p:cBhvr>
                                        <p:cTn id="11" dur="400"/>
                                        <p:tgtEl>
                                          <p:spTgt spid="22"/>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2" grpId="0"/>
      <p:bldP spid="29" grpId="0"/>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3599240"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多模型并发评审设计</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0" name="Group 10"/>
          <p:cNvGrpSpPr/>
          <p:nvPr/>
        </p:nvGrpSpPr>
        <p:grpSpPr>
          <a:xfrm>
            <a:off x="685800" y="1228725"/>
            <a:ext cx="10820400" cy="581001"/>
            <a:chOff x="685800" y="1228725"/>
            <a:chExt cx="10820400" cy="581001"/>
          </a:xfrm>
        </p:grpSpPr>
        <p:sp>
          <p:nvSpPr>
            <p:cNvPr id="8" name="Rectangle 8"/>
            <p:cNvSpPr/>
            <p:nvPr/>
          </p:nvSpPr>
          <p:spPr>
            <a:xfrm>
              <a:off x="685800" y="1228725"/>
              <a:ext cx="10820400" cy="571500"/>
            </a:xfrm>
            <a:prstGeom prst="roundRect">
              <a:avLst>
                <a:gd name="adj" fmla="val 13333"/>
              </a:avLst>
            </a:prstGeom>
            <a:solidFill>
              <a:srgbClr val="F4F5F7"/>
            </a:solidFill>
            <a:ln>
              <a:noFill/>
            </a:ln>
          </p:spPr>
        </p:sp>
        <p:sp>
          <p:nvSpPr>
            <p:cNvPr id="9" name="TextBox 9"/>
            <p:cNvSpPr txBox="1"/>
            <p:nvPr/>
          </p:nvSpPr>
          <p:spPr>
            <a:xfrm>
              <a:off x="3057329" y="1362737"/>
              <a:ext cx="6077342" cy="446989"/>
            </a:xfrm>
            <a:prstGeom prst="rect">
              <a:avLst/>
            </a:prstGeom>
            <a:noFill/>
            <a:ln>
              <a:noFill/>
            </a:ln>
          </p:spPr>
          <p:txBody>
            <a:bodyPr wrap="none" lIns="0" tIns="0" rIns="0" bIns="0" anchor="t" anchorCtr="0">
              <a:spAutoFit/>
            </a:bodyPr>
            <a:lstStyle/>
            <a:p>
              <a:pPr algn="ctr"/>
              <a:r>
                <a:rPr lang="zh-CN" sz="2200" b="1" dirty="0">
                  <a:solidFill>
                    <a:srgbClr val="1F4D78"/>
                  </a:solidFill>
                  <a:latin typeface="Arial"/>
                  <a:ea typeface="Microsoft YaHei"/>
                  <a:cs typeface="Arial"/>
                </a:rPr>
                <a:t>每篇论文 × 6 维度 × 4 模型 = 24 次 API 调用</a:t>
              </a:r>
            </a:p>
          </p:txBody>
        </p:sp>
      </p:grpSp>
      <p:grpSp>
        <p:nvGrpSpPr>
          <p:cNvPr id="23" name="Group 23"/>
          <p:cNvGrpSpPr/>
          <p:nvPr/>
        </p:nvGrpSpPr>
        <p:grpSpPr>
          <a:xfrm>
            <a:off x="685800" y="2028825"/>
            <a:ext cx="5257800" cy="1828800"/>
            <a:chOff x="685800" y="2028825"/>
            <a:chExt cx="5257800" cy="1828800"/>
          </a:xfrm>
        </p:grpSpPr>
        <p:sp>
          <p:nvSpPr>
            <p:cNvPr id="11" name="Rectangle 11"/>
            <p:cNvSpPr/>
            <p:nvPr/>
          </p:nvSpPr>
          <p:spPr>
            <a:xfrm>
              <a:off x="685800" y="2028825"/>
              <a:ext cx="5257800" cy="1828800"/>
            </a:xfrm>
            <a:prstGeom prst="roundRect">
              <a:avLst>
                <a:gd name="adj" fmla="val 4167"/>
              </a:avLst>
            </a:prstGeom>
            <a:solidFill>
              <a:srgbClr val="FFFFFF"/>
            </a:solidFill>
            <a:ln w="14288">
              <a:solidFill>
                <a:srgbClr val="D9DEE5"/>
              </a:solidFill>
            </a:ln>
          </p:spPr>
        </p:sp>
        <p:sp>
          <p:nvSpPr>
            <p:cNvPr id="12" name="Rectangle 12"/>
            <p:cNvSpPr/>
            <p:nvPr/>
          </p:nvSpPr>
          <p:spPr>
            <a:xfrm>
              <a:off x="685800" y="2028825"/>
              <a:ext cx="5257800" cy="457200"/>
            </a:xfrm>
            <a:prstGeom prst="roundRect">
              <a:avLst>
                <a:gd name="adj" fmla="val 16667"/>
              </a:avLst>
            </a:prstGeom>
            <a:solidFill>
              <a:srgbClr val="1F4D78"/>
            </a:solidFill>
            <a:ln>
              <a:noFill/>
            </a:ln>
          </p:spPr>
        </p:sp>
        <p:sp>
          <p:nvSpPr>
            <p:cNvPr id="13" name="Rectangle 13"/>
            <p:cNvSpPr/>
            <p:nvPr/>
          </p:nvSpPr>
          <p:spPr>
            <a:xfrm>
              <a:off x="685800" y="2428875"/>
              <a:ext cx="5257800" cy="57150"/>
            </a:xfrm>
            <a:prstGeom prst="rect">
              <a:avLst/>
            </a:prstGeom>
            <a:solidFill>
              <a:srgbClr val="1F4D78"/>
            </a:solidFill>
            <a:ln>
              <a:noFill/>
            </a:ln>
          </p:spPr>
        </p:sp>
        <p:sp>
          <p:nvSpPr>
            <p:cNvPr id="14" name="TextBox 14"/>
            <p:cNvSpPr txBox="1"/>
            <p:nvPr/>
          </p:nvSpPr>
          <p:spPr>
            <a:xfrm>
              <a:off x="2330057" y="2108173"/>
              <a:ext cx="1969286" cy="406451"/>
            </a:xfrm>
            <a:prstGeom prst="rect">
              <a:avLst/>
            </a:prstGeom>
            <a:noFill/>
            <a:ln>
              <a:noFill/>
            </a:ln>
          </p:spPr>
          <p:txBody>
            <a:bodyPr wrap="none" lIns="0" tIns="0" rIns="0" bIns="0" anchor="t" anchorCtr="0">
              <a:spAutoFit/>
            </a:bodyPr>
            <a:lstStyle/>
            <a:p>
              <a:pPr algn="ctr"/>
              <a:r>
                <a:rPr lang="zh-CN" sz="2000" b="1" dirty="0">
                  <a:solidFill>
                    <a:srgbClr val="FFFFFF"/>
                  </a:solidFill>
                  <a:latin typeface="Arial"/>
                  <a:ea typeface="Microsoft YaHei"/>
                  <a:cs typeface="Arial"/>
                </a:rPr>
                <a:t>A 组（宽松型）</a:t>
              </a:r>
            </a:p>
          </p:txBody>
        </p:sp>
        <p:sp>
          <p:nvSpPr>
            <p:cNvPr id="15" name="Ellipse 15"/>
            <p:cNvSpPr/>
            <p:nvPr/>
          </p:nvSpPr>
          <p:spPr>
            <a:xfrm>
              <a:off x="1752600" y="2762250"/>
              <a:ext cx="609600" cy="609600"/>
            </a:xfrm>
            <a:prstGeom prst="ellipse">
              <a:avLst/>
            </a:prstGeom>
            <a:solidFill>
              <a:srgbClr val="2E5E8C"/>
            </a:solidFill>
            <a:ln>
              <a:noFill/>
            </a:ln>
          </p:spPr>
        </p:sp>
        <p:sp>
          <p:nvSpPr>
            <p:cNvPr id="16" name="TextBox 16"/>
            <p:cNvSpPr txBox="1"/>
            <p:nvPr/>
          </p:nvSpPr>
          <p:spPr>
            <a:xfrm>
              <a:off x="1897047" y="291560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智谱</a:t>
              </a:r>
            </a:p>
          </p:txBody>
        </p:sp>
        <p:sp>
          <p:nvSpPr>
            <p:cNvPr id="17" name="TextBox 17"/>
            <p:cNvSpPr txBox="1"/>
            <p:nvPr/>
          </p:nvSpPr>
          <p:spPr>
            <a:xfrm>
              <a:off x="1918252" y="3076099"/>
              <a:ext cx="278297" cy="198120"/>
            </a:xfrm>
            <a:prstGeom prst="rect">
              <a:avLst/>
            </a:prstGeom>
            <a:noFill/>
            <a:ln>
              <a:noFill/>
            </a:ln>
          </p:spPr>
          <p:txBody>
            <a:bodyPr wrap="none" lIns="0" tIns="0" rIns="0" bIns="0" anchor="t" anchorCtr="0">
              <a:spAutoFit/>
            </a:bodyPr>
            <a:lstStyle/>
            <a:p>
              <a:pPr algn="ctr"/>
              <a:r>
                <a:rPr lang="zh-CN" sz="975" dirty="0">
                  <a:solidFill>
                    <a:srgbClr val="FFFFFF">
                      <a:alphaMod val="80000"/>
                    </a:srgbClr>
                  </a:solidFill>
                  <a:latin typeface="Arial"/>
                  <a:ea typeface="Microsoft YaHei"/>
                  <a:cs typeface="Arial"/>
                </a:rPr>
                <a:t>Z.ai</a:t>
              </a:r>
            </a:p>
          </p:txBody>
        </p:sp>
        <p:sp>
          <p:nvSpPr>
            <p:cNvPr id="18" name="TextBox 18"/>
            <p:cNvSpPr txBox="1"/>
            <p:nvPr/>
          </p:nvSpPr>
          <p:spPr>
            <a:xfrm>
              <a:off x="1684842" y="3411193"/>
              <a:ext cx="745115"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GLM-5.1</a:t>
              </a:r>
            </a:p>
          </p:txBody>
        </p:sp>
        <p:sp>
          <p:nvSpPr>
            <p:cNvPr id="19" name="Ellipse 19"/>
            <p:cNvSpPr/>
            <p:nvPr/>
          </p:nvSpPr>
          <p:spPr>
            <a:xfrm>
              <a:off x="4267200" y="2762250"/>
              <a:ext cx="609600" cy="609600"/>
            </a:xfrm>
            <a:prstGeom prst="ellipse">
              <a:avLst/>
            </a:prstGeom>
            <a:solidFill>
              <a:srgbClr val="6B48C8"/>
            </a:solidFill>
            <a:ln>
              <a:noFill/>
            </a:ln>
          </p:spPr>
        </p:sp>
        <p:sp>
          <p:nvSpPr>
            <p:cNvPr id="20" name="TextBox 20"/>
            <p:cNvSpPr txBox="1"/>
            <p:nvPr/>
          </p:nvSpPr>
          <p:spPr>
            <a:xfrm>
              <a:off x="4411647" y="291560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通义</a:t>
              </a:r>
            </a:p>
          </p:txBody>
        </p:sp>
        <p:sp>
          <p:nvSpPr>
            <p:cNvPr id="21" name="TextBox 21"/>
            <p:cNvSpPr txBox="1"/>
            <p:nvPr/>
          </p:nvSpPr>
          <p:spPr>
            <a:xfrm>
              <a:off x="4429601" y="3076099"/>
              <a:ext cx="284798" cy="198120"/>
            </a:xfrm>
            <a:prstGeom prst="rect">
              <a:avLst/>
            </a:prstGeom>
            <a:noFill/>
            <a:ln>
              <a:noFill/>
            </a:ln>
          </p:spPr>
          <p:txBody>
            <a:bodyPr wrap="none" lIns="0" tIns="0" rIns="0" bIns="0" anchor="t" anchorCtr="0">
              <a:spAutoFit/>
            </a:bodyPr>
            <a:lstStyle/>
            <a:p>
              <a:pPr algn="ctr"/>
              <a:r>
                <a:rPr lang="zh-CN" sz="975" dirty="0">
                  <a:solidFill>
                    <a:srgbClr val="FFFFFF">
                      <a:alphaMod val="80000"/>
                    </a:srgbClr>
                  </a:solidFill>
                  <a:latin typeface="Arial"/>
                  <a:ea typeface="Microsoft YaHei"/>
                  <a:cs typeface="Arial"/>
                </a:rPr>
                <a:t>千问</a:t>
              </a:r>
            </a:p>
          </p:txBody>
        </p:sp>
        <p:sp>
          <p:nvSpPr>
            <p:cNvPr id="22" name="TextBox 22"/>
            <p:cNvSpPr txBox="1"/>
            <p:nvPr/>
          </p:nvSpPr>
          <p:spPr>
            <a:xfrm>
              <a:off x="3924026" y="3411193"/>
              <a:ext cx="1295949"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Qwen3.6-Plus</a:t>
              </a:r>
            </a:p>
          </p:txBody>
        </p:sp>
      </p:grpSp>
      <p:grpSp>
        <p:nvGrpSpPr>
          <p:cNvPr id="36" name="Group 36"/>
          <p:cNvGrpSpPr/>
          <p:nvPr/>
        </p:nvGrpSpPr>
        <p:grpSpPr>
          <a:xfrm>
            <a:off x="6248400" y="2028825"/>
            <a:ext cx="5257800" cy="1828800"/>
            <a:chOff x="6248400" y="2028825"/>
            <a:chExt cx="5257800" cy="1828800"/>
          </a:xfrm>
        </p:grpSpPr>
        <p:sp>
          <p:nvSpPr>
            <p:cNvPr id="24" name="Rectangle 24"/>
            <p:cNvSpPr/>
            <p:nvPr/>
          </p:nvSpPr>
          <p:spPr>
            <a:xfrm>
              <a:off x="6248400" y="2028825"/>
              <a:ext cx="5257800" cy="1828800"/>
            </a:xfrm>
            <a:prstGeom prst="roundRect">
              <a:avLst>
                <a:gd name="adj" fmla="val 4167"/>
              </a:avLst>
            </a:prstGeom>
            <a:solidFill>
              <a:srgbClr val="FFFFFF"/>
            </a:solidFill>
            <a:ln w="14288">
              <a:solidFill>
                <a:srgbClr val="D9DEE5"/>
              </a:solidFill>
            </a:ln>
          </p:spPr>
        </p:sp>
        <p:sp>
          <p:nvSpPr>
            <p:cNvPr id="25" name="Rectangle 25"/>
            <p:cNvSpPr/>
            <p:nvPr/>
          </p:nvSpPr>
          <p:spPr>
            <a:xfrm>
              <a:off x="6248400" y="2028825"/>
              <a:ext cx="5257800" cy="457200"/>
            </a:xfrm>
            <a:prstGeom prst="roundRect">
              <a:avLst>
                <a:gd name="adj" fmla="val 16667"/>
              </a:avLst>
            </a:prstGeom>
            <a:solidFill>
              <a:srgbClr val="44546A"/>
            </a:solidFill>
            <a:ln>
              <a:noFill/>
            </a:ln>
          </p:spPr>
        </p:sp>
        <p:sp>
          <p:nvSpPr>
            <p:cNvPr id="26" name="Rectangle 26"/>
            <p:cNvSpPr/>
            <p:nvPr/>
          </p:nvSpPr>
          <p:spPr>
            <a:xfrm>
              <a:off x="6248400" y="2428875"/>
              <a:ext cx="5257800" cy="57150"/>
            </a:xfrm>
            <a:prstGeom prst="rect">
              <a:avLst/>
            </a:prstGeom>
            <a:solidFill>
              <a:srgbClr val="44546A"/>
            </a:solidFill>
            <a:ln>
              <a:noFill/>
            </a:ln>
          </p:spPr>
        </p:sp>
        <p:sp>
          <p:nvSpPr>
            <p:cNvPr id="27" name="TextBox 27"/>
            <p:cNvSpPr txBox="1"/>
            <p:nvPr/>
          </p:nvSpPr>
          <p:spPr>
            <a:xfrm>
              <a:off x="7892657" y="2108173"/>
              <a:ext cx="1969286" cy="406451"/>
            </a:xfrm>
            <a:prstGeom prst="rect">
              <a:avLst/>
            </a:prstGeom>
            <a:noFill/>
            <a:ln>
              <a:noFill/>
            </a:ln>
          </p:spPr>
          <p:txBody>
            <a:bodyPr wrap="none" lIns="0" tIns="0" rIns="0" bIns="0" anchor="t" anchorCtr="0">
              <a:spAutoFit/>
            </a:bodyPr>
            <a:lstStyle/>
            <a:p>
              <a:pPr algn="ctr"/>
              <a:r>
                <a:rPr lang="zh-CN" sz="2000" b="1" dirty="0">
                  <a:solidFill>
                    <a:srgbClr val="FFFFFF"/>
                  </a:solidFill>
                  <a:latin typeface="Arial"/>
                  <a:ea typeface="Microsoft YaHei"/>
                  <a:cs typeface="Arial"/>
                </a:rPr>
                <a:t>B 组（严格型）</a:t>
              </a:r>
            </a:p>
          </p:txBody>
        </p:sp>
        <p:sp>
          <p:nvSpPr>
            <p:cNvPr id="28" name="Ellipse 28"/>
            <p:cNvSpPr/>
            <p:nvPr/>
          </p:nvSpPr>
          <p:spPr>
            <a:xfrm>
              <a:off x="7315200" y="2762250"/>
              <a:ext cx="609600" cy="609600"/>
            </a:xfrm>
            <a:prstGeom prst="ellipse">
              <a:avLst/>
            </a:prstGeom>
            <a:solidFill>
              <a:srgbClr val="1A3A5C"/>
            </a:solidFill>
            <a:ln>
              <a:noFill/>
            </a:ln>
          </p:spPr>
        </p:sp>
        <p:sp>
          <p:nvSpPr>
            <p:cNvPr id="29" name="TextBox 29"/>
            <p:cNvSpPr txBox="1"/>
            <p:nvPr/>
          </p:nvSpPr>
          <p:spPr>
            <a:xfrm>
              <a:off x="7482554" y="2931795"/>
              <a:ext cx="27489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深度</a:t>
              </a:r>
            </a:p>
          </p:txBody>
        </p:sp>
        <p:sp>
          <p:nvSpPr>
            <p:cNvPr id="30" name="TextBox 30"/>
            <p:cNvSpPr txBox="1"/>
            <p:nvPr/>
          </p:nvSpPr>
          <p:spPr>
            <a:xfrm>
              <a:off x="7488555" y="3084195"/>
              <a:ext cx="262890" cy="182880"/>
            </a:xfrm>
            <a:prstGeom prst="rect">
              <a:avLst/>
            </a:prstGeom>
            <a:noFill/>
            <a:ln>
              <a:noFill/>
            </a:ln>
          </p:spPr>
          <p:txBody>
            <a:bodyPr wrap="none" lIns="0" tIns="0" rIns="0" bIns="0" anchor="t" anchorCtr="0">
              <a:spAutoFit/>
            </a:bodyPr>
            <a:lstStyle/>
            <a:p>
              <a:pPr algn="ctr"/>
              <a:r>
                <a:rPr lang="zh-CN" sz="900" dirty="0">
                  <a:solidFill>
                    <a:srgbClr val="FFFFFF">
                      <a:alphaMod val="80000"/>
                    </a:srgbClr>
                  </a:solidFill>
                  <a:latin typeface="Arial"/>
                  <a:ea typeface="Microsoft YaHei"/>
                  <a:cs typeface="Arial"/>
                </a:rPr>
                <a:t>求索</a:t>
              </a:r>
            </a:p>
          </p:txBody>
        </p:sp>
        <p:sp>
          <p:nvSpPr>
            <p:cNvPr id="31" name="TextBox 31"/>
            <p:cNvSpPr txBox="1"/>
            <p:nvPr/>
          </p:nvSpPr>
          <p:spPr>
            <a:xfrm>
              <a:off x="6831983" y="3411193"/>
              <a:ext cx="1576034"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DeepSeek-V4-Pro</a:t>
              </a:r>
            </a:p>
          </p:txBody>
        </p:sp>
        <p:sp>
          <p:nvSpPr>
            <p:cNvPr id="32" name="Ellipse 32"/>
            <p:cNvSpPr/>
            <p:nvPr/>
          </p:nvSpPr>
          <p:spPr>
            <a:xfrm>
              <a:off x="9829800" y="2762250"/>
              <a:ext cx="609600" cy="609600"/>
            </a:xfrm>
            <a:prstGeom prst="ellipse">
              <a:avLst/>
            </a:prstGeom>
            <a:solidFill>
              <a:srgbClr val="0D7377"/>
            </a:solidFill>
            <a:ln>
              <a:noFill/>
            </a:ln>
          </p:spPr>
        </p:sp>
        <p:sp>
          <p:nvSpPr>
            <p:cNvPr id="33" name="TextBox 33"/>
            <p:cNvSpPr txBox="1"/>
            <p:nvPr/>
          </p:nvSpPr>
          <p:spPr>
            <a:xfrm>
              <a:off x="9974247" y="291560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月之</a:t>
              </a:r>
            </a:p>
          </p:txBody>
        </p:sp>
        <p:sp>
          <p:nvSpPr>
            <p:cNvPr id="34" name="TextBox 34"/>
            <p:cNvSpPr txBox="1"/>
            <p:nvPr/>
          </p:nvSpPr>
          <p:spPr>
            <a:xfrm>
              <a:off x="9992201" y="3076099"/>
              <a:ext cx="284798" cy="198120"/>
            </a:xfrm>
            <a:prstGeom prst="rect">
              <a:avLst/>
            </a:prstGeom>
            <a:noFill/>
            <a:ln>
              <a:noFill/>
            </a:ln>
          </p:spPr>
          <p:txBody>
            <a:bodyPr wrap="none" lIns="0" tIns="0" rIns="0" bIns="0" anchor="t" anchorCtr="0">
              <a:spAutoFit/>
            </a:bodyPr>
            <a:lstStyle/>
            <a:p>
              <a:pPr algn="ctr"/>
              <a:r>
                <a:rPr lang="zh-CN" sz="975" dirty="0">
                  <a:solidFill>
                    <a:srgbClr val="FFFFFF">
                      <a:alphaMod val="80000"/>
                    </a:srgbClr>
                  </a:solidFill>
                  <a:latin typeface="Arial"/>
                  <a:ea typeface="Microsoft YaHei"/>
                  <a:cs typeface="Arial"/>
                </a:rPr>
                <a:t>暗面</a:t>
              </a:r>
            </a:p>
          </p:txBody>
        </p:sp>
        <p:sp>
          <p:nvSpPr>
            <p:cNvPr id="35" name="TextBox 35"/>
            <p:cNvSpPr txBox="1"/>
            <p:nvPr/>
          </p:nvSpPr>
          <p:spPr>
            <a:xfrm>
              <a:off x="9682685" y="3411193"/>
              <a:ext cx="903830"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Kimi-K2.6</a:t>
              </a:r>
            </a:p>
          </p:txBody>
        </p:sp>
      </p:grpSp>
      <p:grpSp>
        <p:nvGrpSpPr>
          <p:cNvPr id="40" name="Group 40"/>
          <p:cNvGrpSpPr/>
          <p:nvPr/>
        </p:nvGrpSpPr>
        <p:grpSpPr>
          <a:xfrm>
            <a:off x="685800" y="4086225"/>
            <a:ext cx="10820400" cy="762000"/>
            <a:chOff x="685800" y="4086225"/>
            <a:chExt cx="10820400" cy="762000"/>
          </a:xfrm>
        </p:grpSpPr>
        <p:sp>
          <p:nvSpPr>
            <p:cNvPr id="37" name="Rectangle 37"/>
            <p:cNvSpPr/>
            <p:nvPr/>
          </p:nvSpPr>
          <p:spPr>
            <a:xfrm>
              <a:off x="685800" y="4086225"/>
              <a:ext cx="10820400" cy="762000"/>
            </a:xfrm>
            <a:prstGeom prst="roundRect">
              <a:avLst>
                <a:gd name="adj" fmla="val 10000"/>
              </a:avLst>
            </a:prstGeom>
            <a:solidFill>
              <a:srgbClr val="FFF8F0"/>
            </a:solidFill>
            <a:ln w="14288">
              <a:solidFill>
                <a:srgbClr val="E07B00"/>
              </a:solidFill>
            </a:ln>
          </p:spPr>
        </p:sp>
        <p:sp>
          <p:nvSpPr>
            <p:cNvPr id="38" name="TextBox 38"/>
            <p:cNvSpPr txBox="1"/>
            <p:nvPr/>
          </p:nvSpPr>
          <p:spPr>
            <a:xfrm>
              <a:off x="970283" y="4227857"/>
              <a:ext cx="2056571" cy="325069"/>
            </a:xfrm>
            <a:prstGeom prst="rect">
              <a:avLst/>
            </a:prstGeom>
            <a:noFill/>
            <a:ln>
              <a:noFill/>
            </a:ln>
          </p:spPr>
          <p:txBody>
            <a:bodyPr wrap="none" lIns="0" tIns="0" rIns="0" bIns="0" anchor="t" anchorCtr="0">
              <a:spAutoFit/>
            </a:bodyPr>
            <a:lstStyle/>
            <a:p>
              <a:pPr algn="l"/>
              <a:r>
                <a:rPr lang="zh-CN" sz="1600" b="1" dirty="0">
                  <a:solidFill>
                    <a:srgbClr val="E07B00"/>
                  </a:solidFill>
                  <a:latin typeface="Arial"/>
                  <a:ea typeface="Microsoft YaHei"/>
                  <a:cs typeface="Arial"/>
                </a:rPr>
                <a:t>为什么需要多模型？</a:t>
              </a:r>
            </a:p>
          </p:txBody>
        </p:sp>
        <p:sp>
          <p:nvSpPr>
            <p:cNvPr id="39" name="TextBox 39"/>
            <p:cNvSpPr txBox="1"/>
            <p:nvPr/>
          </p:nvSpPr>
          <p:spPr>
            <a:xfrm>
              <a:off x="972817" y="4535143"/>
              <a:ext cx="6440177"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单一模型存在系统性偏见，多模型并发暴露分歧 → 交叉评审收敛 → 提高可靠性</a:t>
              </a:r>
            </a:p>
          </p:txBody>
        </p:sp>
      </p:grpSp>
      <p:grpSp>
        <p:nvGrpSpPr>
          <p:cNvPr id="48" name="Group 48"/>
          <p:cNvGrpSpPr/>
          <p:nvPr/>
        </p:nvGrpSpPr>
        <p:grpSpPr>
          <a:xfrm>
            <a:off x="665483" y="5094632"/>
            <a:ext cx="10840717" cy="791818"/>
            <a:chOff x="665483" y="5094632"/>
            <a:chExt cx="10840717" cy="791818"/>
          </a:xfrm>
        </p:grpSpPr>
        <p:sp>
          <p:nvSpPr>
            <p:cNvPr id="41" name="TextBox 41"/>
            <p:cNvSpPr txBox="1"/>
            <p:nvPr/>
          </p:nvSpPr>
          <p:spPr>
            <a:xfrm>
              <a:off x="665483" y="5094632"/>
              <a:ext cx="936606"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并发策略</a:t>
              </a:r>
            </a:p>
          </p:txBody>
        </p:sp>
        <p:sp>
          <p:nvSpPr>
            <p:cNvPr id="42" name="Rectangle 42"/>
            <p:cNvSpPr/>
            <p:nvPr/>
          </p:nvSpPr>
          <p:spPr>
            <a:xfrm>
              <a:off x="685800" y="5429250"/>
              <a:ext cx="3429000" cy="457200"/>
            </a:xfrm>
            <a:prstGeom prst="roundRect">
              <a:avLst>
                <a:gd name="adj" fmla="val 12500"/>
              </a:avLst>
            </a:prstGeom>
            <a:solidFill>
              <a:srgbClr val="F4F5F7"/>
            </a:solidFill>
            <a:ln>
              <a:noFill/>
            </a:ln>
          </p:spPr>
        </p:sp>
        <p:sp>
          <p:nvSpPr>
            <p:cNvPr id="43" name="TextBox 43"/>
            <p:cNvSpPr txBox="1"/>
            <p:nvPr/>
          </p:nvSpPr>
          <p:spPr>
            <a:xfrm>
              <a:off x="1649628" y="5563843"/>
              <a:ext cx="1501345"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论文级：3 篇并行</a:t>
              </a:r>
            </a:p>
          </p:txBody>
        </p:sp>
        <p:sp>
          <p:nvSpPr>
            <p:cNvPr id="44" name="Rectangle 44"/>
            <p:cNvSpPr/>
            <p:nvPr/>
          </p:nvSpPr>
          <p:spPr>
            <a:xfrm>
              <a:off x="4381500" y="5429250"/>
              <a:ext cx="3429000" cy="457200"/>
            </a:xfrm>
            <a:prstGeom prst="roundRect">
              <a:avLst>
                <a:gd name="adj" fmla="val 12500"/>
              </a:avLst>
            </a:prstGeom>
            <a:solidFill>
              <a:srgbClr val="F4F5F7"/>
            </a:solidFill>
            <a:ln>
              <a:noFill/>
            </a:ln>
          </p:spPr>
        </p:sp>
        <p:sp>
          <p:nvSpPr>
            <p:cNvPr id="45" name="TextBox 45"/>
            <p:cNvSpPr txBox="1"/>
            <p:nvPr/>
          </p:nvSpPr>
          <p:spPr>
            <a:xfrm>
              <a:off x="5251966" y="5563843"/>
              <a:ext cx="1688068"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维度级：6 维度并行</a:t>
              </a:r>
            </a:p>
          </p:txBody>
        </p:sp>
        <p:sp>
          <p:nvSpPr>
            <p:cNvPr id="46" name="Rectangle 46"/>
            <p:cNvSpPr/>
            <p:nvPr/>
          </p:nvSpPr>
          <p:spPr>
            <a:xfrm>
              <a:off x="8077200" y="5429250"/>
              <a:ext cx="3429000" cy="457200"/>
            </a:xfrm>
            <a:prstGeom prst="roundRect">
              <a:avLst>
                <a:gd name="adj" fmla="val 12500"/>
              </a:avLst>
            </a:prstGeom>
            <a:solidFill>
              <a:srgbClr val="F4F5F7"/>
            </a:solidFill>
            <a:ln>
              <a:noFill/>
            </a:ln>
          </p:spPr>
        </p:sp>
        <p:sp>
          <p:nvSpPr>
            <p:cNvPr id="47" name="TextBox 47"/>
            <p:cNvSpPr txBox="1"/>
            <p:nvPr/>
          </p:nvSpPr>
          <p:spPr>
            <a:xfrm>
              <a:off x="8947666" y="5563843"/>
              <a:ext cx="1688068"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模型级：4 模型并行</a:t>
              </a:r>
            </a:p>
          </p:txBody>
        </p:sp>
      </p:grpSp>
      <p:grpSp>
        <p:nvGrpSpPr>
          <p:cNvPr id="52" name="Group 52"/>
          <p:cNvGrpSpPr/>
          <p:nvPr/>
        </p:nvGrpSpPr>
        <p:grpSpPr>
          <a:xfrm>
            <a:off x="0" y="6516343"/>
            <a:ext cx="12192000" cy="341657"/>
            <a:chOff x="0" y="6516343"/>
            <a:chExt cx="12192000" cy="341657"/>
          </a:xfrm>
        </p:grpSpPr>
        <p:sp>
          <p:nvSpPr>
            <p:cNvPr id="49" name="Rectangle 49"/>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50" name="TextBox 50"/>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51" name="TextBox 51"/>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400"/>
                                        <p:tgtEl>
                                          <p:spTgt spid="10"/>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image">
                                      <p:cBhvr>
                                        <p:cTn id="11" dur="400"/>
                                        <p:tgtEl>
                                          <p:spTgt spid="2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400"/>
                                        <p:tgtEl>
                                          <p:spTgt spid="36"/>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400"/>
                                        <p:tgtEl>
                                          <p:spTgt spid="40"/>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slide(fromBottom)">
                                      <p:cBhvr>
                                        <p:cTn id="23"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3" grpId="0"/>
      <p:bldP spid="36" grpId="0"/>
      <p:bldP spid="40" grpId="0"/>
      <p:bldP spid="4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4775282"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交叉评审机制（核心创新）</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27" name="Group 27"/>
          <p:cNvGrpSpPr/>
          <p:nvPr/>
        </p:nvGrpSpPr>
        <p:grpSpPr>
          <a:xfrm>
            <a:off x="685800" y="1228725"/>
            <a:ext cx="10820400" cy="1385887"/>
            <a:chOff x="685800" y="1228725"/>
            <a:chExt cx="10820400" cy="1385887"/>
          </a:xfrm>
        </p:grpSpPr>
        <p:sp>
          <p:nvSpPr>
            <p:cNvPr id="8" name="Rectangle 8"/>
            <p:cNvSpPr/>
            <p:nvPr/>
          </p:nvSpPr>
          <p:spPr>
            <a:xfrm>
              <a:off x="685800" y="1228725"/>
              <a:ext cx="10820400" cy="1238250"/>
            </a:xfrm>
            <a:prstGeom prst="roundRect">
              <a:avLst>
                <a:gd name="adj" fmla="val 6154"/>
              </a:avLst>
            </a:prstGeom>
            <a:solidFill>
              <a:srgbClr val="F4F5F7"/>
            </a:solidFill>
            <a:ln>
              <a:noFill/>
            </a:ln>
          </p:spPr>
        </p:sp>
        <p:sp>
          <p:nvSpPr>
            <p:cNvPr id="9" name="TextBox 9"/>
            <p:cNvSpPr txBox="1"/>
            <p:nvPr/>
          </p:nvSpPr>
          <p:spPr>
            <a:xfrm>
              <a:off x="965197" y="1327123"/>
              <a:ext cx="2389391" cy="406451"/>
            </a:xfrm>
            <a:prstGeom prst="rect">
              <a:avLst/>
            </a:prstGeom>
            <a:noFill/>
            <a:ln>
              <a:noFill/>
            </a:ln>
          </p:spPr>
          <p:txBody>
            <a:bodyPr wrap="none" lIns="0" tIns="0" rIns="0" bIns="0" anchor="t" anchorCtr="0">
              <a:spAutoFit/>
            </a:bodyPr>
            <a:lstStyle/>
            <a:p>
              <a:pPr algn="l"/>
              <a:r>
                <a:rPr lang="zh-CN" sz="2000" b="1" dirty="0">
                  <a:solidFill>
                    <a:srgbClr val="1F4D78"/>
                  </a:solidFill>
                  <a:latin typeface="Arial"/>
                  <a:ea typeface="Microsoft YaHei"/>
                  <a:cs typeface="Arial"/>
                </a:rPr>
                <a:t>Round 1：独立评分</a:t>
              </a:r>
            </a:p>
          </p:txBody>
        </p:sp>
        <p:sp>
          <p:nvSpPr>
            <p:cNvPr id="10" name="TextBox 10"/>
            <p:cNvSpPr txBox="1"/>
            <p:nvPr/>
          </p:nvSpPr>
          <p:spPr>
            <a:xfrm>
              <a:off x="970283" y="1656107"/>
              <a:ext cx="2781881"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4 个模型独立评分，互不可见</a:t>
              </a:r>
            </a:p>
          </p:txBody>
        </p:sp>
        <p:sp>
          <p:nvSpPr>
            <p:cNvPr id="11" name="Ellipse 11"/>
            <p:cNvSpPr/>
            <p:nvPr/>
          </p:nvSpPr>
          <p:spPr>
            <a:xfrm>
              <a:off x="2152650" y="1981200"/>
              <a:ext cx="419100" cy="419100"/>
            </a:xfrm>
            <a:prstGeom prst="ellipse">
              <a:avLst/>
            </a:prstGeom>
            <a:solidFill>
              <a:srgbClr val="2E5E8C"/>
            </a:solidFill>
            <a:ln>
              <a:noFill/>
            </a:ln>
          </p:spPr>
        </p:sp>
        <p:sp>
          <p:nvSpPr>
            <p:cNvPr id="12" name="TextBox 12"/>
            <p:cNvSpPr txBox="1"/>
            <p:nvPr/>
          </p:nvSpPr>
          <p:spPr>
            <a:xfrm>
              <a:off x="2247662" y="2071688"/>
              <a:ext cx="229076"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智谱</a:t>
              </a:r>
            </a:p>
          </p:txBody>
        </p:sp>
        <p:sp>
          <p:nvSpPr>
            <p:cNvPr id="13" name="TextBox 13"/>
            <p:cNvSpPr txBox="1"/>
            <p:nvPr/>
          </p:nvSpPr>
          <p:spPr>
            <a:xfrm>
              <a:off x="2265867" y="2194084"/>
              <a:ext cx="192667" cy="137160"/>
            </a:xfrm>
            <a:prstGeom prst="rect">
              <a:avLst/>
            </a:prstGeom>
            <a:noFill/>
            <a:ln>
              <a:noFill/>
            </a:ln>
          </p:spPr>
          <p:txBody>
            <a:bodyPr wrap="none" lIns="0" tIns="0" rIns="0" bIns="0" anchor="t" anchorCtr="0">
              <a:spAutoFit/>
            </a:bodyPr>
            <a:lstStyle/>
            <a:p>
              <a:pPr algn="ctr"/>
              <a:r>
                <a:rPr lang="zh-CN" sz="675" dirty="0">
                  <a:solidFill>
                    <a:srgbClr val="FFFFFF">
                      <a:alphaMod val="80000"/>
                    </a:srgbClr>
                  </a:solidFill>
                  <a:latin typeface="Arial"/>
                  <a:ea typeface="Microsoft YaHei"/>
                  <a:cs typeface="Arial"/>
                </a:rPr>
                <a:t>Z.ai</a:t>
              </a:r>
            </a:p>
          </p:txBody>
        </p:sp>
        <p:sp>
          <p:nvSpPr>
            <p:cNvPr id="14" name="TextBox 14"/>
            <p:cNvSpPr txBox="1"/>
            <p:nvPr/>
          </p:nvSpPr>
          <p:spPr>
            <a:xfrm>
              <a:off x="2082832" y="2401252"/>
              <a:ext cx="558737"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GLM-5.1</a:t>
              </a:r>
            </a:p>
          </p:txBody>
        </p:sp>
        <p:sp>
          <p:nvSpPr>
            <p:cNvPr id="15" name="Ellipse 15"/>
            <p:cNvSpPr/>
            <p:nvPr/>
          </p:nvSpPr>
          <p:spPr>
            <a:xfrm>
              <a:off x="4438650" y="1981200"/>
              <a:ext cx="419100" cy="419100"/>
            </a:xfrm>
            <a:prstGeom prst="ellipse">
              <a:avLst/>
            </a:prstGeom>
            <a:solidFill>
              <a:srgbClr val="6B48C8"/>
            </a:solidFill>
            <a:ln>
              <a:noFill/>
            </a:ln>
          </p:spPr>
        </p:sp>
        <p:sp>
          <p:nvSpPr>
            <p:cNvPr id="16" name="TextBox 16"/>
            <p:cNvSpPr txBox="1"/>
            <p:nvPr/>
          </p:nvSpPr>
          <p:spPr>
            <a:xfrm>
              <a:off x="4533662" y="2071688"/>
              <a:ext cx="229076"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通义</a:t>
              </a:r>
            </a:p>
          </p:txBody>
        </p:sp>
        <p:sp>
          <p:nvSpPr>
            <p:cNvPr id="17" name="TextBox 17"/>
            <p:cNvSpPr txBox="1"/>
            <p:nvPr/>
          </p:nvSpPr>
          <p:spPr>
            <a:xfrm>
              <a:off x="4549616" y="2194084"/>
              <a:ext cx="197168" cy="137160"/>
            </a:xfrm>
            <a:prstGeom prst="rect">
              <a:avLst/>
            </a:prstGeom>
            <a:noFill/>
            <a:ln>
              <a:noFill/>
            </a:ln>
          </p:spPr>
          <p:txBody>
            <a:bodyPr wrap="none" lIns="0" tIns="0" rIns="0" bIns="0" anchor="t" anchorCtr="0">
              <a:spAutoFit/>
            </a:bodyPr>
            <a:lstStyle/>
            <a:p>
              <a:pPr algn="ctr"/>
              <a:r>
                <a:rPr lang="zh-CN" sz="675" dirty="0">
                  <a:solidFill>
                    <a:srgbClr val="FFFFFF">
                      <a:alphaMod val="80000"/>
                    </a:srgbClr>
                  </a:solidFill>
                  <a:latin typeface="Arial"/>
                  <a:ea typeface="Microsoft YaHei"/>
                  <a:cs typeface="Arial"/>
                </a:rPr>
                <a:t>千问</a:t>
              </a:r>
            </a:p>
          </p:txBody>
        </p:sp>
        <p:sp>
          <p:nvSpPr>
            <p:cNvPr id="18" name="TextBox 18"/>
            <p:cNvSpPr txBox="1"/>
            <p:nvPr/>
          </p:nvSpPr>
          <p:spPr>
            <a:xfrm>
              <a:off x="4337328" y="2401252"/>
              <a:ext cx="621744"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Qwen3.6</a:t>
              </a:r>
            </a:p>
          </p:txBody>
        </p:sp>
        <p:sp>
          <p:nvSpPr>
            <p:cNvPr id="19" name="Ellipse 19"/>
            <p:cNvSpPr/>
            <p:nvPr/>
          </p:nvSpPr>
          <p:spPr>
            <a:xfrm>
              <a:off x="6724650" y="1981200"/>
              <a:ext cx="419100" cy="419100"/>
            </a:xfrm>
            <a:prstGeom prst="ellipse">
              <a:avLst/>
            </a:prstGeom>
            <a:solidFill>
              <a:srgbClr val="1A3A5C"/>
            </a:solidFill>
            <a:ln>
              <a:noFill/>
            </a:ln>
          </p:spPr>
        </p:sp>
        <p:sp>
          <p:nvSpPr>
            <p:cNvPr id="20" name="TextBox 20"/>
            <p:cNvSpPr txBox="1"/>
            <p:nvPr/>
          </p:nvSpPr>
          <p:spPr>
            <a:xfrm>
              <a:off x="6819662" y="2071688"/>
              <a:ext cx="229076"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深度</a:t>
              </a:r>
            </a:p>
          </p:txBody>
        </p:sp>
        <p:sp>
          <p:nvSpPr>
            <p:cNvPr id="21" name="TextBox 21"/>
            <p:cNvSpPr txBox="1"/>
            <p:nvPr/>
          </p:nvSpPr>
          <p:spPr>
            <a:xfrm>
              <a:off x="6835616" y="2194084"/>
              <a:ext cx="197168" cy="137160"/>
            </a:xfrm>
            <a:prstGeom prst="rect">
              <a:avLst/>
            </a:prstGeom>
            <a:noFill/>
            <a:ln>
              <a:noFill/>
            </a:ln>
          </p:spPr>
          <p:txBody>
            <a:bodyPr wrap="none" lIns="0" tIns="0" rIns="0" bIns="0" anchor="t" anchorCtr="0">
              <a:spAutoFit/>
            </a:bodyPr>
            <a:lstStyle/>
            <a:p>
              <a:pPr algn="ctr"/>
              <a:r>
                <a:rPr lang="zh-CN" sz="675" dirty="0">
                  <a:solidFill>
                    <a:srgbClr val="FFFFFF">
                      <a:alphaMod val="80000"/>
                    </a:srgbClr>
                  </a:solidFill>
                  <a:latin typeface="Arial"/>
                  <a:ea typeface="Microsoft YaHei"/>
                  <a:cs typeface="Arial"/>
                </a:rPr>
                <a:t>求索</a:t>
              </a:r>
            </a:p>
          </p:txBody>
        </p:sp>
        <p:sp>
          <p:nvSpPr>
            <p:cNvPr id="22" name="TextBox 22"/>
            <p:cNvSpPr txBox="1"/>
            <p:nvPr/>
          </p:nvSpPr>
          <p:spPr>
            <a:xfrm>
              <a:off x="6612826" y="2401252"/>
              <a:ext cx="642747"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DeepSeek</a:t>
              </a:r>
            </a:p>
          </p:txBody>
        </p:sp>
        <p:sp>
          <p:nvSpPr>
            <p:cNvPr id="23" name="Ellipse 23"/>
            <p:cNvSpPr/>
            <p:nvPr/>
          </p:nvSpPr>
          <p:spPr>
            <a:xfrm>
              <a:off x="9010650" y="1981200"/>
              <a:ext cx="419100" cy="419100"/>
            </a:xfrm>
            <a:prstGeom prst="ellipse">
              <a:avLst/>
            </a:prstGeom>
            <a:solidFill>
              <a:srgbClr val="0D7377"/>
            </a:solidFill>
            <a:ln>
              <a:noFill/>
            </a:ln>
          </p:spPr>
        </p:sp>
        <p:sp>
          <p:nvSpPr>
            <p:cNvPr id="24" name="TextBox 24"/>
            <p:cNvSpPr txBox="1"/>
            <p:nvPr/>
          </p:nvSpPr>
          <p:spPr>
            <a:xfrm>
              <a:off x="9105662" y="2071688"/>
              <a:ext cx="229076"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月之</a:t>
              </a:r>
            </a:p>
          </p:txBody>
        </p:sp>
        <p:sp>
          <p:nvSpPr>
            <p:cNvPr id="25" name="TextBox 25"/>
            <p:cNvSpPr txBox="1"/>
            <p:nvPr/>
          </p:nvSpPr>
          <p:spPr>
            <a:xfrm>
              <a:off x="9121616" y="2194084"/>
              <a:ext cx="197168" cy="137160"/>
            </a:xfrm>
            <a:prstGeom prst="rect">
              <a:avLst/>
            </a:prstGeom>
            <a:noFill/>
            <a:ln>
              <a:noFill/>
            </a:ln>
          </p:spPr>
          <p:txBody>
            <a:bodyPr wrap="none" lIns="0" tIns="0" rIns="0" bIns="0" anchor="t" anchorCtr="0">
              <a:spAutoFit/>
            </a:bodyPr>
            <a:lstStyle/>
            <a:p>
              <a:pPr algn="ctr"/>
              <a:r>
                <a:rPr lang="zh-CN" sz="675" dirty="0">
                  <a:solidFill>
                    <a:srgbClr val="FFFFFF">
                      <a:alphaMod val="80000"/>
                    </a:srgbClr>
                  </a:solidFill>
                  <a:latin typeface="Arial"/>
                  <a:ea typeface="Microsoft YaHei"/>
                  <a:cs typeface="Arial"/>
                </a:rPr>
                <a:t>暗面</a:t>
              </a:r>
            </a:p>
          </p:txBody>
        </p:sp>
        <p:sp>
          <p:nvSpPr>
            <p:cNvPr id="26" name="TextBox 26"/>
            <p:cNvSpPr txBox="1"/>
            <p:nvPr/>
          </p:nvSpPr>
          <p:spPr>
            <a:xfrm>
              <a:off x="9073848" y="2401252"/>
              <a:ext cx="292703"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Kimi</a:t>
              </a:r>
            </a:p>
          </p:txBody>
        </p:sp>
      </p:grpSp>
      <p:grpSp>
        <p:nvGrpSpPr>
          <p:cNvPr id="32" name="Group 32"/>
          <p:cNvGrpSpPr/>
          <p:nvPr/>
        </p:nvGrpSpPr>
        <p:grpSpPr>
          <a:xfrm>
            <a:off x="6051550" y="2608262"/>
            <a:ext cx="88900" cy="155576"/>
            <a:chOff x="6051550" y="2608262"/>
            <a:chExt cx="88900" cy="155576"/>
          </a:xfrm>
        </p:grpSpPr>
        <p:grpSp>
          <p:nvGrpSpPr>
            <p:cNvPr id="31" name="Group 31"/>
            <p:cNvGrpSpPr/>
            <p:nvPr/>
          </p:nvGrpSpPr>
          <p:grpSpPr>
            <a:xfrm>
              <a:off x="6051550" y="2608262"/>
              <a:ext cx="88900" cy="155576"/>
              <a:chOff x="6051550" y="2608262"/>
              <a:chExt cx="88900" cy="155576"/>
            </a:xfrm>
          </p:grpSpPr>
          <p:sp>
            <p:nvSpPr>
              <p:cNvPr id="28" name="Freeform 28"/>
              <p:cNvSpPr/>
              <p:nvPr/>
            </p:nvSpPr>
            <p:spPr>
              <a:xfrm>
                <a:off x="6096000" y="2608262"/>
                <a:ext cx="9525" cy="155575"/>
              </a:xfrm>
              <a:custGeom>
                <a:avLst/>
                <a:gdLst/>
                <a:ahLst/>
                <a:cxnLst/>
                <a:rect l="l" t="t" r="r" b="b"/>
                <a:pathLst>
                  <a:path w="9525" h="155575">
                    <a:moveTo>
                      <a:pt x="0" y="0"/>
                    </a:moveTo>
                    <a:lnTo>
                      <a:pt x="0" y="155575"/>
                    </a:lnTo>
                  </a:path>
                </a:pathLst>
              </a:custGeom>
              <a:noFill/>
              <a:ln w="19050">
                <a:solidFill>
                  <a:srgbClr val="C8161E"/>
                </a:solidFill>
              </a:ln>
            </p:spPr>
          </p:sp>
          <p:sp>
            <p:nvSpPr>
              <p:cNvPr id="29" name="Freeform 29"/>
              <p:cNvSpPr/>
              <p:nvPr/>
            </p:nvSpPr>
            <p:spPr>
              <a:xfrm>
                <a:off x="6096000" y="2719388"/>
                <a:ext cx="44450" cy="44450"/>
              </a:xfrm>
              <a:custGeom>
                <a:avLst/>
                <a:gdLst/>
                <a:ahLst/>
                <a:cxnLst/>
                <a:rect l="l" t="t" r="r" b="b"/>
                <a:pathLst>
                  <a:path w="44450" h="44450">
                    <a:moveTo>
                      <a:pt x="44450" y="0"/>
                    </a:moveTo>
                    <a:lnTo>
                      <a:pt x="0" y="44450"/>
                    </a:lnTo>
                  </a:path>
                </a:pathLst>
              </a:custGeom>
              <a:noFill/>
              <a:ln w="19050">
                <a:solidFill>
                  <a:srgbClr val="C8161E"/>
                </a:solidFill>
              </a:ln>
            </p:spPr>
          </p:sp>
          <p:sp>
            <p:nvSpPr>
              <p:cNvPr id="30" name="Freeform 30"/>
              <p:cNvSpPr/>
              <p:nvPr/>
            </p:nvSpPr>
            <p:spPr>
              <a:xfrm>
                <a:off x="6051550" y="2719388"/>
                <a:ext cx="44450" cy="44450"/>
              </a:xfrm>
              <a:custGeom>
                <a:avLst/>
                <a:gdLst/>
                <a:ahLst/>
                <a:cxnLst/>
                <a:rect l="l" t="t" r="r" b="b"/>
                <a:pathLst>
                  <a:path w="44450" h="44450">
                    <a:moveTo>
                      <a:pt x="0" y="0"/>
                    </a:moveTo>
                    <a:lnTo>
                      <a:pt x="44450" y="44450"/>
                    </a:lnTo>
                  </a:path>
                </a:pathLst>
              </a:custGeom>
              <a:noFill/>
              <a:ln w="19050">
                <a:solidFill>
                  <a:srgbClr val="C8161E"/>
                </a:solidFill>
              </a:ln>
            </p:spPr>
          </p:sp>
        </p:grpSp>
      </p:grpSp>
      <p:grpSp>
        <p:nvGrpSpPr>
          <p:cNvPr id="45" name="Group 45"/>
          <p:cNvGrpSpPr/>
          <p:nvPr/>
        </p:nvGrpSpPr>
        <p:grpSpPr>
          <a:xfrm>
            <a:off x="685800" y="2914650"/>
            <a:ext cx="10820400" cy="2133600"/>
            <a:chOff x="685800" y="2914650"/>
            <a:chExt cx="10820400" cy="2133600"/>
          </a:xfrm>
        </p:grpSpPr>
        <p:sp>
          <p:nvSpPr>
            <p:cNvPr id="33" name="Rectangle 33"/>
            <p:cNvSpPr/>
            <p:nvPr/>
          </p:nvSpPr>
          <p:spPr>
            <a:xfrm>
              <a:off x="685800" y="2914650"/>
              <a:ext cx="10820400" cy="2133600"/>
            </a:xfrm>
            <a:prstGeom prst="roundRect">
              <a:avLst>
                <a:gd name="adj" fmla="val 3571"/>
              </a:avLst>
            </a:prstGeom>
            <a:solidFill>
              <a:srgbClr val="FFF8F0"/>
            </a:solidFill>
            <a:ln w="14288">
              <a:solidFill>
                <a:srgbClr val="E07B00"/>
              </a:solidFill>
            </a:ln>
          </p:spPr>
        </p:sp>
        <p:sp>
          <p:nvSpPr>
            <p:cNvPr id="34" name="TextBox 34"/>
            <p:cNvSpPr txBox="1"/>
            <p:nvPr/>
          </p:nvSpPr>
          <p:spPr>
            <a:xfrm>
              <a:off x="965197" y="3022573"/>
              <a:ext cx="2459408" cy="406451"/>
            </a:xfrm>
            <a:prstGeom prst="rect">
              <a:avLst/>
            </a:prstGeom>
            <a:noFill/>
            <a:ln>
              <a:noFill/>
            </a:ln>
          </p:spPr>
          <p:txBody>
            <a:bodyPr wrap="none" lIns="0" tIns="0" rIns="0" bIns="0" anchor="t" anchorCtr="0">
              <a:spAutoFit/>
            </a:bodyPr>
            <a:lstStyle/>
            <a:p>
              <a:pPr algn="l"/>
              <a:r>
                <a:rPr lang="zh-CN" sz="2000" b="1" dirty="0">
                  <a:solidFill>
                    <a:srgbClr val="E07B00"/>
                  </a:solidFill>
                  <a:latin typeface="Arial"/>
                  <a:ea typeface="Microsoft YaHei"/>
                  <a:cs typeface="Arial"/>
                </a:rPr>
                <a:t>Round 2：交叉评审</a:t>
              </a:r>
            </a:p>
          </p:txBody>
        </p:sp>
        <p:sp>
          <p:nvSpPr>
            <p:cNvPr id="35" name="Rectangle 35"/>
            <p:cNvSpPr/>
            <p:nvPr/>
          </p:nvSpPr>
          <p:spPr>
            <a:xfrm>
              <a:off x="990600" y="3429000"/>
              <a:ext cx="4953000" cy="1447800"/>
            </a:xfrm>
            <a:prstGeom prst="roundRect">
              <a:avLst>
                <a:gd name="adj" fmla="val 3947"/>
              </a:avLst>
            </a:prstGeom>
            <a:solidFill>
              <a:srgbClr val="FFFFFF"/>
            </a:solidFill>
            <a:ln w="9525">
              <a:solidFill>
                <a:srgbClr val="D9DEE5"/>
              </a:solidFill>
            </a:ln>
          </p:spPr>
        </p:sp>
        <p:sp>
          <p:nvSpPr>
            <p:cNvPr id="36" name="TextBox 36"/>
            <p:cNvSpPr txBox="1"/>
            <p:nvPr/>
          </p:nvSpPr>
          <p:spPr>
            <a:xfrm>
              <a:off x="2326818" y="3561107"/>
              <a:ext cx="2280564"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A 组看 B 组的严格评价</a:t>
              </a:r>
            </a:p>
          </p:txBody>
        </p:sp>
        <p:sp>
          <p:nvSpPr>
            <p:cNvPr id="37" name="TextBox 37"/>
            <p:cNvSpPr txBox="1"/>
            <p:nvPr/>
          </p:nvSpPr>
          <p:spPr>
            <a:xfrm>
              <a:off x="1201417" y="3887443"/>
              <a:ext cx="1856119"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GLM、Qwen 重新评分</a:t>
              </a:r>
            </a:p>
          </p:txBody>
        </p:sp>
        <p:sp>
          <p:nvSpPr>
            <p:cNvPr id="38" name="TextBox 38"/>
            <p:cNvSpPr txBox="1"/>
            <p:nvPr/>
          </p:nvSpPr>
          <p:spPr>
            <a:xfrm>
              <a:off x="1203960" y="4194810"/>
              <a:ext cx="3046857"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accepted_points：接受对方意见的理由</a:t>
              </a:r>
            </a:p>
          </p:txBody>
        </p:sp>
        <p:sp>
          <p:nvSpPr>
            <p:cNvPr id="39" name="TextBox 39"/>
            <p:cNvSpPr txBox="1"/>
            <p:nvPr/>
          </p:nvSpPr>
          <p:spPr>
            <a:xfrm>
              <a:off x="1203960" y="4461510"/>
              <a:ext cx="3006852"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rejected_points：拒绝对方意见的理由</a:t>
              </a:r>
            </a:p>
          </p:txBody>
        </p:sp>
        <p:sp>
          <p:nvSpPr>
            <p:cNvPr id="40" name="Rectangle 40"/>
            <p:cNvSpPr/>
            <p:nvPr/>
          </p:nvSpPr>
          <p:spPr>
            <a:xfrm>
              <a:off x="6248400" y="3429000"/>
              <a:ext cx="4953000" cy="1447800"/>
            </a:xfrm>
            <a:prstGeom prst="roundRect">
              <a:avLst>
                <a:gd name="adj" fmla="val 3947"/>
              </a:avLst>
            </a:prstGeom>
            <a:solidFill>
              <a:srgbClr val="FFFFFF"/>
            </a:solidFill>
            <a:ln w="9525">
              <a:solidFill>
                <a:srgbClr val="D9DEE5"/>
              </a:solidFill>
            </a:ln>
          </p:spPr>
        </p:sp>
        <p:sp>
          <p:nvSpPr>
            <p:cNvPr id="41" name="TextBox 41"/>
            <p:cNvSpPr txBox="1"/>
            <p:nvPr/>
          </p:nvSpPr>
          <p:spPr>
            <a:xfrm>
              <a:off x="7584618" y="3561107"/>
              <a:ext cx="2280564" cy="325069"/>
            </a:xfrm>
            <a:prstGeom prst="rect">
              <a:avLst/>
            </a:prstGeom>
            <a:noFill/>
            <a:ln>
              <a:noFill/>
            </a:ln>
          </p:spPr>
          <p:txBody>
            <a:bodyPr wrap="none" lIns="0" tIns="0" rIns="0" bIns="0" anchor="t" anchorCtr="0">
              <a:spAutoFit/>
            </a:bodyPr>
            <a:lstStyle/>
            <a:p>
              <a:pPr algn="ctr"/>
              <a:r>
                <a:rPr lang="zh-CN" sz="1600" b="1" dirty="0">
                  <a:solidFill>
                    <a:srgbClr val="44546A"/>
                  </a:solidFill>
                  <a:latin typeface="Arial"/>
                  <a:ea typeface="Microsoft YaHei"/>
                  <a:cs typeface="Arial"/>
                </a:rPr>
                <a:t>B 组看 A 组的宽松评价</a:t>
              </a:r>
            </a:p>
          </p:txBody>
        </p:sp>
        <p:sp>
          <p:nvSpPr>
            <p:cNvPr id="42" name="TextBox 42"/>
            <p:cNvSpPr txBox="1"/>
            <p:nvPr/>
          </p:nvSpPr>
          <p:spPr>
            <a:xfrm>
              <a:off x="6459217" y="3887443"/>
              <a:ext cx="2201557"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DeepSeek、Kimi 重新评分</a:t>
              </a:r>
            </a:p>
          </p:txBody>
        </p:sp>
        <p:sp>
          <p:nvSpPr>
            <p:cNvPr id="43" name="TextBox 43"/>
            <p:cNvSpPr txBox="1"/>
            <p:nvPr/>
          </p:nvSpPr>
          <p:spPr>
            <a:xfrm>
              <a:off x="6461760" y="4194810"/>
              <a:ext cx="3046857"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accepted_points：接受对方意见的理由</a:t>
              </a:r>
            </a:p>
          </p:txBody>
        </p:sp>
        <p:sp>
          <p:nvSpPr>
            <p:cNvPr id="44" name="TextBox 44"/>
            <p:cNvSpPr txBox="1"/>
            <p:nvPr/>
          </p:nvSpPr>
          <p:spPr>
            <a:xfrm>
              <a:off x="6461760" y="4461510"/>
              <a:ext cx="3006852"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 rejected_points：拒绝对方意见的理由</a:t>
              </a:r>
            </a:p>
          </p:txBody>
        </p:sp>
      </p:grpSp>
      <p:grpSp>
        <p:nvGrpSpPr>
          <p:cNvPr id="53" name="Group 53"/>
          <p:cNvGrpSpPr/>
          <p:nvPr/>
        </p:nvGrpSpPr>
        <p:grpSpPr>
          <a:xfrm>
            <a:off x="665483" y="5304182"/>
            <a:ext cx="9686542" cy="972817"/>
            <a:chOff x="665483" y="5304182"/>
            <a:chExt cx="9686542" cy="972817"/>
          </a:xfrm>
        </p:grpSpPr>
        <p:sp>
          <p:nvSpPr>
            <p:cNvPr id="46" name="TextBox 46"/>
            <p:cNvSpPr txBox="1"/>
            <p:nvPr/>
          </p:nvSpPr>
          <p:spPr>
            <a:xfrm>
              <a:off x="665483" y="5304182"/>
              <a:ext cx="936606" cy="325069"/>
            </a:xfrm>
            <a:prstGeom prst="rect">
              <a:avLst/>
            </a:prstGeom>
            <a:noFill/>
            <a:ln>
              <a:noFill/>
            </a:ln>
          </p:spPr>
          <p:txBody>
            <a:bodyPr wrap="none" lIns="0" tIns="0" rIns="0" bIns="0" anchor="t" anchorCtr="0">
              <a:spAutoFit/>
            </a:bodyPr>
            <a:lstStyle/>
            <a:p>
              <a:pPr algn="l"/>
              <a:r>
                <a:rPr lang="zh-CN" sz="1600" b="1" dirty="0">
                  <a:solidFill>
                    <a:srgbClr val="C8161E"/>
                  </a:solidFill>
                  <a:latin typeface="Arial"/>
                  <a:ea typeface="Microsoft YaHei"/>
                  <a:cs typeface="Arial"/>
                </a:rPr>
                <a:t>设计哲学</a:t>
              </a:r>
            </a:p>
          </p:txBody>
        </p:sp>
        <p:sp>
          <p:nvSpPr>
            <p:cNvPr id="47" name="Ellipse 47"/>
            <p:cNvSpPr/>
            <p:nvPr/>
          </p:nvSpPr>
          <p:spPr>
            <a:xfrm>
              <a:off x="781050" y="5715000"/>
              <a:ext cx="76200" cy="76200"/>
            </a:xfrm>
            <a:prstGeom prst="ellipse">
              <a:avLst/>
            </a:prstGeom>
            <a:solidFill>
              <a:srgbClr val="C8161E"/>
            </a:solidFill>
            <a:ln>
              <a:noFill/>
            </a:ln>
          </p:spPr>
        </p:sp>
        <p:sp>
          <p:nvSpPr>
            <p:cNvPr id="48" name="TextBox 48"/>
            <p:cNvSpPr txBox="1"/>
            <p:nvPr/>
          </p:nvSpPr>
          <p:spPr>
            <a:xfrm>
              <a:off x="972817" y="5649568"/>
              <a:ext cx="414348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不是取均值抹平差异，而是迫使模型审视自身偏见</a:t>
              </a:r>
            </a:p>
          </p:txBody>
        </p:sp>
        <p:sp>
          <p:nvSpPr>
            <p:cNvPr id="49" name="Ellipse 49"/>
            <p:cNvSpPr/>
            <p:nvPr/>
          </p:nvSpPr>
          <p:spPr>
            <a:xfrm>
              <a:off x="5867400" y="5715000"/>
              <a:ext cx="76200" cy="76200"/>
            </a:xfrm>
            <a:prstGeom prst="ellipse">
              <a:avLst/>
            </a:prstGeom>
            <a:solidFill>
              <a:srgbClr val="C8161E"/>
            </a:solidFill>
            <a:ln>
              <a:noFill/>
            </a:ln>
          </p:spPr>
        </p:sp>
        <p:sp>
          <p:nvSpPr>
            <p:cNvPr id="50" name="TextBox 50"/>
            <p:cNvSpPr txBox="1"/>
            <p:nvPr/>
          </p:nvSpPr>
          <p:spPr>
            <a:xfrm>
              <a:off x="6059167" y="5649568"/>
              <a:ext cx="429285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DeepSeek 的"顽固性"是设计正确行为（锚定效应）</a:t>
              </a:r>
            </a:p>
          </p:txBody>
        </p:sp>
        <p:sp>
          <p:nvSpPr>
            <p:cNvPr id="51" name="Ellipse 51"/>
            <p:cNvSpPr/>
            <p:nvPr/>
          </p:nvSpPr>
          <p:spPr>
            <a:xfrm>
              <a:off x="781050" y="6057900"/>
              <a:ext cx="76200" cy="76200"/>
            </a:xfrm>
            <a:prstGeom prst="ellipse">
              <a:avLst/>
            </a:prstGeom>
            <a:solidFill>
              <a:srgbClr val="C8161E"/>
            </a:solidFill>
            <a:ln>
              <a:noFill/>
            </a:ln>
          </p:spPr>
        </p:sp>
        <p:sp>
          <p:nvSpPr>
            <p:cNvPr id="52" name="TextBox 52"/>
            <p:cNvSpPr txBox="1"/>
            <p:nvPr/>
          </p:nvSpPr>
          <p:spPr>
            <a:xfrm>
              <a:off x="972817" y="5992468"/>
              <a:ext cx="3424595"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未收敛维度 = 真实学术分歧，交专家终审</a:t>
              </a:r>
            </a:p>
          </p:txBody>
        </p:sp>
      </p:grpSp>
      <p:grpSp>
        <p:nvGrpSpPr>
          <p:cNvPr id="57" name="Group 57"/>
          <p:cNvGrpSpPr/>
          <p:nvPr/>
        </p:nvGrpSpPr>
        <p:grpSpPr>
          <a:xfrm>
            <a:off x="0" y="6516343"/>
            <a:ext cx="12192000" cy="341657"/>
            <a:chOff x="0" y="6516343"/>
            <a:chExt cx="12192000" cy="341657"/>
          </a:xfrm>
        </p:grpSpPr>
        <p:sp>
          <p:nvSpPr>
            <p:cNvPr id="54" name="Rectangle 54"/>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55" name="TextBox 55"/>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56" name="TextBox 56"/>
            <p:cNvSpPr txBox="1"/>
            <p:nvPr/>
          </p:nvSpPr>
          <p:spPr>
            <a:xfrm>
              <a:off x="11329702" y="6516343"/>
              <a:ext cx="194281"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image">
                                      <p:cBhvr>
                                        <p:cTn id="7" dur="400"/>
                                        <p:tgtEl>
                                          <p:spTgt spid="2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400"/>
                                        <p:tgtEl>
                                          <p:spTgt spid="32"/>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left)">
                                      <p:cBhvr>
                                        <p:cTn id="15" dur="400"/>
                                        <p:tgtEl>
                                          <p:spTgt spid="4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slide(fromBottom)">
                                      <p:cBhvr>
                                        <p:cTn id="19"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2" grpId="0"/>
      <p:bldP spid="45" grpId="0"/>
      <p:bldP spid="5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7813390"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Autoresearch：与专家对齐 + 平衡模型差异</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8" name="Group 18"/>
          <p:cNvGrpSpPr/>
          <p:nvPr/>
        </p:nvGrpSpPr>
        <p:grpSpPr>
          <a:xfrm>
            <a:off x="685800" y="1228725"/>
            <a:ext cx="10820400" cy="1409700"/>
            <a:chOff x="685800" y="1228725"/>
            <a:chExt cx="10820400" cy="1409700"/>
          </a:xfrm>
        </p:grpSpPr>
        <p:sp>
          <p:nvSpPr>
            <p:cNvPr id="8" name="Rectangle 8"/>
            <p:cNvSpPr/>
            <p:nvPr/>
          </p:nvSpPr>
          <p:spPr>
            <a:xfrm>
              <a:off x="685800" y="1228725"/>
              <a:ext cx="5257800" cy="1409700"/>
            </a:xfrm>
            <a:prstGeom prst="roundRect">
              <a:avLst>
                <a:gd name="adj" fmla="val 5405"/>
              </a:avLst>
            </a:prstGeom>
            <a:solidFill>
              <a:srgbClr val="F4F5F7"/>
            </a:solidFill>
            <a:ln>
              <a:noFill/>
            </a:ln>
          </p:spPr>
        </p:sp>
        <p:sp>
          <p:nvSpPr>
            <p:cNvPr id="9" name="TextBox 9"/>
            <p:cNvSpPr txBox="1"/>
            <p:nvPr/>
          </p:nvSpPr>
          <p:spPr>
            <a:xfrm>
              <a:off x="970283" y="1360832"/>
              <a:ext cx="2414959"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目标 1：与法学专家对齐</a:t>
              </a:r>
            </a:p>
          </p:txBody>
        </p:sp>
        <p:sp>
          <p:nvSpPr>
            <p:cNvPr id="10" name="TextBox 10"/>
            <p:cNvSpPr txBox="1"/>
            <p:nvPr/>
          </p:nvSpPr>
          <p:spPr>
            <a:xfrm>
              <a:off x="972817" y="1687168"/>
              <a:ext cx="305114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正样本不被误伤（蒋红珍 91.1 分）</a:t>
              </a:r>
            </a:p>
          </p:txBody>
        </p:sp>
        <p:sp>
          <p:nvSpPr>
            <p:cNvPr id="11" name="TextBox 11"/>
            <p:cNvSpPr txBox="1"/>
            <p:nvPr/>
          </p:nvSpPr>
          <p:spPr>
            <a:xfrm>
              <a:off x="972817" y="1953868"/>
              <a:ext cx="320986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负样本被有效识别（13 篇专家标注）</a:t>
              </a:r>
            </a:p>
          </p:txBody>
        </p:sp>
        <p:sp>
          <p:nvSpPr>
            <p:cNvPr id="12" name="TextBox 12"/>
            <p:cNvSpPr txBox="1"/>
            <p:nvPr/>
          </p:nvSpPr>
          <p:spPr>
            <a:xfrm>
              <a:off x="972817" y="2220568"/>
              <a:ext cx="348994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正负差距：22.0 分（有效识别的 4 篇）</a:t>
              </a:r>
            </a:p>
          </p:txBody>
        </p:sp>
        <p:sp>
          <p:nvSpPr>
            <p:cNvPr id="13" name="Rectangle 13"/>
            <p:cNvSpPr/>
            <p:nvPr/>
          </p:nvSpPr>
          <p:spPr>
            <a:xfrm>
              <a:off x="6248400" y="1228725"/>
              <a:ext cx="5257800" cy="1409700"/>
            </a:xfrm>
            <a:prstGeom prst="roundRect">
              <a:avLst>
                <a:gd name="adj" fmla="val 5405"/>
              </a:avLst>
            </a:prstGeom>
            <a:solidFill>
              <a:srgbClr val="F4F5F7"/>
            </a:solidFill>
            <a:ln>
              <a:noFill/>
            </a:ln>
          </p:spPr>
        </p:sp>
        <p:sp>
          <p:nvSpPr>
            <p:cNvPr id="14" name="TextBox 14"/>
            <p:cNvSpPr txBox="1"/>
            <p:nvPr/>
          </p:nvSpPr>
          <p:spPr>
            <a:xfrm>
              <a:off x="6532883" y="1360832"/>
              <a:ext cx="2470958"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目标 2：平衡模型间差异</a:t>
              </a:r>
            </a:p>
          </p:txBody>
        </p:sp>
        <p:sp>
          <p:nvSpPr>
            <p:cNvPr id="15" name="TextBox 15"/>
            <p:cNvSpPr txBox="1"/>
            <p:nvPr/>
          </p:nvSpPr>
          <p:spPr>
            <a:xfrm>
              <a:off x="6535417" y="1687168"/>
              <a:ext cx="280840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降低多模型标准差，提高可靠性</a:t>
              </a:r>
            </a:p>
          </p:txBody>
        </p:sp>
        <p:sp>
          <p:nvSpPr>
            <p:cNvPr id="16" name="TextBox 16"/>
            <p:cNvSpPr txBox="1"/>
            <p:nvPr/>
          </p:nvSpPr>
          <p:spPr>
            <a:xfrm>
              <a:off x="6535417" y="1953868"/>
              <a:ext cx="339658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Kimi 评分系统性偏低（5/6 维度最低）</a:t>
              </a:r>
            </a:p>
          </p:txBody>
        </p:sp>
        <p:sp>
          <p:nvSpPr>
            <p:cNvPr id="17" name="TextBox 17"/>
            <p:cNvSpPr txBox="1"/>
            <p:nvPr/>
          </p:nvSpPr>
          <p:spPr>
            <a:xfrm>
              <a:off x="6535417" y="2220568"/>
              <a:ext cx="212686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GLM 与 Qwen 高度一致</a:t>
              </a:r>
            </a:p>
          </p:txBody>
        </p:sp>
      </p:grpSp>
      <p:sp>
        <p:nvSpPr>
          <p:cNvPr id="19" name="TextBox 19"/>
          <p:cNvSpPr txBox="1"/>
          <p:nvPr/>
        </p:nvSpPr>
        <p:spPr>
          <a:xfrm>
            <a:off x="660397" y="2813023"/>
            <a:ext cx="5428150" cy="406451"/>
          </a:xfrm>
          <a:prstGeom prst="rect">
            <a:avLst/>
          </a:prstGeom>
          <a:noFill/>
          <a:ln>
            <a:noFill/>
          </a:ln>
        </p:spPr>
        <p:txBody>
          <a:bodyPr wrap="none" lIns="0" tIns="0" rIns="0" bIns="0" anchor="t" anchorCtr="0">
            <a:spAutoFit/>
          </a:bodyPr>
          <a:lstStyle/>
          <a:p>
            <a:pPr algn="l"/>
            <a:r>
              <a:rPr lang="zh-CN" sz="2000" b="1" dirty="0">
                <a:solidFill>
                  <a:srgbClr val="C8161E"/>
                </a:solidFill>
                <a:latin typeface="Arial"/>
                <a:ea typeface="Microsoft YaHei"/>
                <a:cs typeface="Arial"/>
              </a:rPr>
              <a:t>迭代历程：v2.19 → v2.56.6（21+ 次迭代）</a:t>
            </a:r>
          </a:p>
        </p:txBody>
      </p:sp>
      <p:grpSp>
        <p:nvGrpSpPr>
          <p:cNvPr id="42" name="Group 42"/>
          <p:cNvGrpSpPr/>
          <p:nvPr/>
        </p:nvGrpSpPr>
        <p:grpSpPr>
          <a:xfrm>
            <a:off x="685800" y="3238500"/>
            <a:ext cx="10820400" cy="2495550"/>
            <a:chOff x="685800" y="3238500"/>
            <a:chExt cx="10820400" cy="2495550"/>
          </a:xfrm>
        </p:grpSpPr>
        <p:sp>
          <p:nvSpPr>
            <p:cNvPr id="20" name="Rectangle 20"/>
            <p:cNvSpPr/>
            <p:nvPr/>
          </p:nvSpPr>
          <p:spPr>
            <a:xfrm>
              <a:off x="685800" y="3238500"/>
              <a:ext cx="10820400" cy="2381250"/>
            </a:xfrm>
            <a:prstGeom prst="roundRect">
              <a:avLst>
                <a:gd name="adj" fmla="val 3200"/>
              </a:avLst>
            </a:prstGeom>
            <a:solidFill>
              <a:srgbClr val="FFFFFF"/>
            </a:solidFill>
            <a:ln w="9525">
              <a:solidFill>
                <a:srgbClr val="D9DEE5"/>
              </a:solidFill>
            </a:ln>
          </p:spPr>
        </p:sp>
        <p:sp>
          <p:nvSpPr>
            <p:cNvPr id="21" name="Line 21"/>
            <p:cNvSpPr/>
            <p:nvPr/>
          </p:nvSpPr>
          <p:spPr>
            <a:xfrm>
              <a:off x="1238250" y="3476625"/>
              <a:ext cx="9525" cy="1952625"/>
            </a:xfrm>
            <a:custGeom>
              <a:avLst/>
              <a:gdLst/>
              <a:ahLst/>
              <a:cxnLst/>
              <a:rect l="l" t="t" r="r" b="b"/>
              <a:pathLst>
                <a:path w="9525" h="1952625">
                  <a:moveTo>
                    <a:pt x="0" y="0"/>
                  </a:moveTo>
                  <a:lnTo>
                    <a:pt x="0" y="1952625"/>
                  </a:lnTo>
                </a:path>
              </a:pathLst>
            </a:custGeom>
            <a:noFill/>
            <a:ln w="9525">
              <a:solidFill>
                <a:srgbClr val="94A3B8"/>
              </a:solidFill>
            </a:ln>
          </p:spPr>
        </p:sp>
        <p:sp>
          <p:nvSpPr>
            <p:cNvPr id="22" name="TextBox 22"/>
            <p:cNvSpPr txBox="1"/>
            <p:nvPr/>
          </p:nvSpPr>
          <p:spPr>
            <a:xfrm>
              <a:off x="1012698" y="3413760"/>
              <a:ext cx="126492" cy="243840"/>
            </a:xfrm>
            <a:prstGeom prst="rect">
              <a:avLst/>
            </a:prstGeom>
            <a:noFill/>
            <a:ln>
              <a:noFill/>
            </a:ln>
          </p:spPr>
          <p:txBody>
            <a:bodyPr wrap="none" lIns="0" tIns="0" rIns="0" bIns="0" anchor="t" anchorCtr="0">
              <a:spAutoFit/>
            </a:bodyPr>
            <a:lstStyle/>
            <a:p>
              <a:pPr algn="r"/>
              <a:r>
                <a:rPr lang="zh-CN" sz="1200" dirty="0">
                  <a:solidFill>
                    <a:srgbClr val="5A6472"/>
                  </a:solidFill>
                  <a:latin typeface="Arial"/>
                  <a:ea typeface="Microsoft YaHei"/>
                  <a:cs typeface="Arial"/>
                </a:rPr>
                <a:t>11</a:t>
              </a:r>
            </a:p>
          </p:txBody>
        </p:sp>
        <p:sp>
          <p:nvSpPr>
            <p:cNvPr id="23" name="TextBox 23"/>
            <p:cNvSpPr txBox="1"/>
            <p:nvPr/>
          </p:nvSpPr>
          <p:spPr>
            <a:xfrm>
              <a:off x="1012698" y="4061460"/>
              <a:ext cx="126492" cy="243840"/>
            </a:xfrm>
            <a:prstGeom prst="rect">
              <a:avLst/>
            </a:prstGeom>
            <a:noFill/>
            <a:ln>
              <a:noFill/>
            </a:ln>
          </p:spPr>
          <p:txBody>
            <a:bodyPr wrap="none" lIns="0" tIns="0" rIns="0" bIns="0" anchor="t" anchorCtr="0">
              <a:spAutoFit/>
            </a:bodyPr>
            <a:lstStyle/>
            <a:p>
              <a:pPr algn="r"/>
              <a:r>
                <a:rPr lang="zh-CN" sz="1200" dirty="0">
                  <a:solidFill>
                    <a:srgbClr val="5A6472"/>
                  </a:solidFill>
                  <a:latin typeface="Arial"/>
                  <a:ea typeface="Microsoft YaHei"/>
                  <a:cs typeface="Arial"/>
                </a:rPr>
                <a:t>11</a:t>
              </a:r>
            </a:p>
          </p:txBody>
        </p:sp>
        <p:sp>
          <p:nvSpPr>
            <p:cNvPr id="24" name="TextBox 24"/>
            <p:cNvSpPr txBox="1"/>
            <p:nvPr/>
          </p:nvSpPr>
          <p:spPr>
            <a:xfrm>
              <a:off x="1012698" y="4709160"/>
              <a:ext cx="126492" cy="243840"/>
            </a:xfrm>
            <a:prstGeom prst="rect">
              <a:avLst/>
            </a:prstGeom>
            <a:noFill/>
            <a:ln>
              <a:noFill/>
            </a:ln>
          </p:spPr>
          <p:txBody>
            <a:bodyPr wrap="none" lIns="0" tIns="0" rIns="0" bIns="0" anchor="t" anchorCtr="0">
              <a:spAutoFit/>
            </a:bodyPr>
            <a:lstStyle/>
            <a:p>
              <a:pPr algn="r"/>
              <a:r>
                <a:rPr lang="zh-CN" sz="1200" dirty="0">
                  <a:solidFill>
                    <a:srgbClr val="5A6472"/>
                  </a:solidFill>
                  <a:latin typeface="Arial"/>
                  <a:ea typeface="Microsoft YaHei"/>
                  <a:cs typeface="Arial"/>
                </a:rPr>
                <a:t>11</a:t>
              </a:r>
            </a:p>
          </p:txBody>
        </p:sp>
        <p:sp>
          <p:nvSpPr>
            <p:cNvPr id="25" name="TextBox 25"/>
            <p:cNvSpPr txBox="1"/>
            <p:nvPr/>
          </p:nvSpPr>
          <p:spPr>
            <a:xfrm>
              <a:off x="1012698" y="5347335"/>
              <a:ext cx="126492" cy="243840"/>
            </a:xfrm>
            <a:prstGeom prst="rect">
              <a:avLst/>
            </a:prstGeom>
            <a:noFill/>
            <a:ln>
              <a:noFill/>
            </a:ln>
          </p:spPr>
          <p:txBody>
            <a:bodyPr wrap="none" lIns="0" tIns="0" rIns="0" bIns="0" anchor="t" anchorCtr="0">
              <a:spAutoFit/>
            </a:bodyPr>
            <a:lstStyle/>
            <a:p>
              <a:pPr algn="r"/>
              <a:r>
                <a:rPr lang="zh-CN" sz="1200" dirty="0">
                  <a:solidFill>
                    <a:srgbClr val="5A6472"/>
                  </a:solidFill>
                  <a:latin typeface="Arial"/>
                  <a:ea typeface="Microsoft YaHei"/>
                  <a:cs typeface="Arial"/>
                </a:rPr>
                <a:t>11</a:t>
              </a:r>
            </a:p>
          </p:txBody>
        </p:sp>
        <p:sp>
          <p:nvSpPr>
            <p:cNvPr id="26" name="Line 26"/>
            <p:cNvSpPr/>
            <p:nvPr/>
          </p:nvSpPr>
          <p:spPr>
            <a:xfrm>
              <a:off x="1238250" y="3476625"/>
              <a:ext cx="10001250" cy="9525"/>
            </a:xfrm>
            <a:custGeom>
              <a:avLst/>
              <a:gdLst/>
              <a:ahLst/>
              <a:cxnLst/>
              <a:rect l="l" t="t" r="r" b="b"/>
              <a:pathLst>
                <a:path w="10001250" h="9525">
                  <a:moveTo>
                    <a:pt x="0" y="0"/>
                  </a:moveTo>
                  <a:lnTo>
                    <a:pt x="10001250" y="0"/>
                  </a:lnTo>
                </a:path>
              </a:pathLst>
            </a:custGeom>
            <a:noFill/>
            <a:ln w="9525">
              <a:solidFill>
                <a:srgbClr val="E8ECF1"/>
              </a:solidFill>
            </a:ln>
          </p:spPr>
        </p:sp>
        <p:sp>
          <p:nvSpPr>
            <p:cNvPr id="27" name="Line 27"/>
            <p:cNvSpPr/>
            <p:nvPr/>
          </p:nvSpPr>
          <p:spPr>
            <a:xfrm>
              <a:off x="1238250" y="4124325"/>
              <a:ext cx="10001250" cy="9525"/>
            </a:xfrm>
            <a:custGeom>
              <a:avLst/>
              <a:gdLst/>
              <a:ahLst/>
              <a:cxnLst/>
              <a:rect l="l" t="t" r="r" b="b"/>
              <a:pathLst>
                <a:path w="10001250" h="9525">
                  <a:moveTo>
                    <a:pt x="0" y="0"/>
                  </a:moveTo>
                  <a:lnTo>
                    <a:pt x="10001250" y="0"/>
                  </a:lnTo>
                </a:path>
              </a:pathLst>
            </a:custGeom>
            <a:noFill/>
            <a:ln w="9525">
              <a:solidFill>
                <a:srgbClr val="E8ECF1"/>
              </a:solidFill>
            </a:ln>
          </p:spPr>
        </p:sp>
        <p:sp>
          <p:nvSpPr>
            <p:cNvPr id="28" name="Line 28"/>
            <p:cNvSpPr/>
            <p:nvPr/>
          </p:nvSpPr>
          <p:spPr>
            <a:xfrm>
              <a:off x="1238250" y="4781550"/>
              <a:ext cx="10001250" cy="9525"/>
            </a:xfrm>
            <a:custGeom>
              <a:avLst/>
              <a:gdLst/>
              <a:ahLst/>
              <a:cxnLst/>
              <a:rect l="l" t="t" r="r" b="b"/>
              <a:pathLst>
                <a:path w="10001250" h="9525">
                  <a:moveTo>
                    <a:pt x="0" y="0"/>
                  </a:moveTo>
                  <a:lnTo>
                    <a:pt x="10001250" y="0"/>
                  </a:lnTo>
                </a:path>
              </a:pathLst>
            </a:custGeom>
            <a:noFill/>
            <a:ln w="9525">
              <a:solidFill>
                <a:srgbClr val="E8ECF1"/>
              </a:solidFill>
            </a:ln>
          </p:spPr>
        </p:sp>
        <p:sp>
          <p:nvSpPr>
            <p:cNvPr id="29" name="Line 29"/>
            <p:cNvSpPr/>
            <p:nvPr/>
          </p:nvSpPr>
          <p:spPr>
            <a:xfrm>
              <a:off x="1238250" y="5429250"/>
              <a:ext cx="10001250" cy="9525"/>
            </a:xfrm>
            <a:custGeom>
              <a:avLst/>
              <a:gdLst/>
              <a:ahLst/>
              <a:cxnLst/>
              <a:rect l="l" t="t" r="r" b="b"/>
              <a:pathLst>
                <a:path w="10001250" h="9525">
                  <a:moveTo>
                    <a:pt x="0" y="0"/>
                  </a:moveTo>
                  <a:lnTo>
                    <a:pt x="10001250" y="0"/>
                  </a:lnTo>
                </a:path>
              </a:pathLst>
            </a:custGeom>
            <a:noFill/>
            <a:ln w="9525">
              <a:solidFill>
                <a:srgbClr val="94A3B8"/>
              </a:solidFill>
            </a:ln>
          </p:spPr>
        </p:sp>
        <p:sp>
          <p:nvSpPr>
            <p:cNvPr id="30" name="TextBox 30"/>
            <p:cNvSpPr txBox="1"/>
            <p:nvPr/>
          </p:nvSpPr>
          <p:spPr>
            <a:xfrm>
              <a:off x="1784985" y="5490210"/>
              <a:ext cx="43053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v2.19</a:t>
              </a:r>
            </a:p>
          </p:txBody>
        </p:sp>
        <p:sp>
          <p:nvSpPr>
            <p:cNvPr id="31" name="TextBox 31"/>
            <p:cNvSpPr txBox="1"/>
            <p:nvPr/>
          </p:nvSpPr>
          <p:spPr>
            <a:xfrm>
              <a:off x="4622482" y="5490210"/>
              <a:ext cx="470535"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v2.30</a:t>
              </a:r>
            </a:p>
          </p:txBody>
        </p:sp>
        <p:sp>
          <p:nvSpPr>
            <p:cNvPr id="32" name="TextBox 32"/>
            <p:cNvSpPr txBox="1"/>
            <p:nvPr/>
          </p:nvSpPr>
          <p:spPr>
            <a:xfrm>
              <a:off x="7479982" y="5490210"/>
              <a:ext cx="470535"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v2.40</a:t>
              </a:r>
            </a:p>
          </p:txBody>
        </p:sp>
        <p:sp>
          <p:nvSpPr>
            <p:cNvPr id="33" name="TextBox 33"/>
            <p:cNvSpPr txBox="1"/>
            <p:nvPr/>
          </p:nvSpPr>
          <p:spPr>
            <a:xfrm>
              <a:off x="10154222" y="5490210"/>
              <a:ext cx="646557"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v2.56.6</a:t>
              </a:r>
            </a:p>
          </p:txBody>
        </p:sp>
        <p:sp>
          <p:nvSpPr>
            <p:cNvPr id="34" name="Polyline 34"/>
            <p:cNvSpPr/>
            <p:nvPr/>
          </p:nvSpPr>
          <p:spPr>
            <a:xfrm>
              <a:off x="2000250" y="3581400"/>
              <a:ext cx="8477250" cy="1714500"/>
            </a:xfrm>
            <a:custGeom>
              <a:avLst/>
              <a:gdLst/>
              <a:ahLst/>
              <a:cxnLst/>
              <a:rect l="l" t="t" r="r" b="b"/>
              <a:pathLst>
                <a:path w="8477250" h="1714500">
                  <a:moveTo>
                    <a:pt x="0" y="0"/>
                  </a:moveTo>
                  <a:lnTo>
                    <a:pt x="1428750" y="285750"/>
                  </a:lnTo>
                  <a:lnTo>
                    <a:pt x="2857500" y="571500"/>
                  </a:lnTo>
                  <a:lnTo>
                    <a:pt x="4286250" y="866775"/>
                  </a:lnTo>
                  <a:lnTo>
                    <a:pt x="5715000" y="1152525"/>
                  </a:lnTo>
                  <a:lnTo>
                    <a:pt x="7143750" y="1438275"/>
                  </a:lnTo>
                  <a:lnTo>
                    <a:pt x="8477250" y="1714500"/>
                  </a:lnTo>
                </a:path>
              </a:pathLst>
            </a:custGeom>
            <a:noFill/>
            <a:ln w="28575">
              <a:solidFill>
                <a:srgbClr val="1F4D78"/>
              </a:solidFill>
            </a:ln>
          </p:spPr>
        </p:sp>
        <p:sp>
          <p:nvSpPr>
            <p:cNvPr id="35" name="Ellipse 35"/>
            <p:cNvSpPr/>
            <p:nvPr/>
          </p:nvSpPr>
          <p:spPr>
            <a:xfrm>
              <a:off x="1943100" y="3524250"/>
              <a:ext cx="114300" cy="114300"/>
            </a:xfrm>
            <a:prstGeom prst="ellipse">
              <a:avLst/>
            </a:prstGeom>
            <a:solidFill>
              <a:srgbClr val="C8161E"/>
            </a:solidFill>
            <a:ln>
              <a:noFill/>
            </a:ln>
          </p:spPr>
        </p:sp>
        <p:sp>
          <p:nvSpPr>
            <p:cNvPr id="36" name="Ellipse 36"/>
            <p:cNvSpPr/>
            <p:nvPr/>
          </p:nvSpPr>
          <p:spPr>
            <a:xfrm>
              <a:off x="4800600" y="4095750"/>
              <a:ext cx="114300" cy="114300"/>
            </a:xfrm>
            <a:prstGeom prst="ellipse">
              <a:avLst/>
            </a:prstGeom>
            <a:solidFill>
              <a:srgbClr val="1F4D78"/>
            </a:solidFill>
            <a:ln>
              <a:noFill/>
            </a:ln>
          </p:spPr>
        </p:sp>
        <p:sp>
          <p:nvSpPr>
            <p:cNvPr id="37" name="Ellipse 37"/>
            <p:cNvSpPr/>
            <p:nvPr/>
          </p:nvSpPr>
          <p:spPr>
            <a:xfrm>
              <a:off x="7658100" y="4676775"/>
              <a:ext cx="114300" cy="114300"/>
            </a:xfrm>
            <a:prstGeom prst="ellipse">
              <a:avLst/>
            </a:prstGeom>
            <a:solidFill>
              <a:srgbClr val="1F4D78"/>
            </a:solidFill>
            <a:ln>
              <a:noFill/>
            </a:ln>
          </p:spPr>
        </p:sp>
        <p:sp>
          <p:nvSpPr>
            <p:cNvPr id="38" name="Ellipse 38"/>
            <p:cNvSpPr/>
            <p:nvPr/>
          </p:nvSpPr>
          <p:spPr>
            <a:xfrm>
              <a:off x="10420350" y="5238750"/>
              <a:ext cx="114300" cy="114300"/>
            </a:xfrm>
            <a:prstGeom prst="ellipse">
              <a:avLst/>
            </a:prstGeom>
            <a:solidFill>
              <a:srgbClr val="2E7D32"/>
            </a:solidFill>
            <a:ln>
              <a:noFill/>
            </a:ln>
          </p:spPr>
        </p:sp>
        <p:sp>
          <p:nvSpPr>
            <p:cNvPr id="39" name="TextBox 39"/>
            <p:cNvSpPr txBox="1"/>
            <p:nvPr/>
          </p:nvSpPr>
          <p:spPr>
            <a:xfrm>
              <a:off x="1737392" y="3296893"/>
              <a:ext cx="525715" cy="284531"/>
            </a:xfrm>
            <a:prstGeom prst="rect">
              <a:avLst/>
            </a:prstGeom>
            <a:noFill/>
            <a:ln>
              <a:noFill/>
            </a:ln>
          </p:spPr>
          <p:txBody>
            <a:bodyPr wrap="none" lIns="0" tIns="0" rIns="0" bIns="0" anchor="t" anchorCtr="0">
              <a:spAutoFit/>
            </a:bodyPr>
            <a:lstStyle/>
            <a:p>
              <a:pPr algn="ctr"/>
              <a:r>
                <a:rPr lang="zh-CN" sz="1400" b="1" dirty="0">
                  <a:solidFill>
                    <a:srgbClr val="C8161E"/>
                  </a:solidFill>
                  <a:latin typeface="Arial"/>
                  <a:ea typeface="Microsoft YaHei"/>
                  <a:cs typeface="Arial"/>
                </a:rPr>
                <a:t>28.16</a:t>
              </a:r>
            </a:p>
          </p:txBody>
        </p:sp>
        <p:sp>
          <p:nvSpPr>
            <p:cNvPr id="40" name="TextBox 40"/>
            <p:cNvSpPr txBox="1"/>
            <p:nvPr/>
          </p:nvSpPr>
          <p:spPr>
            <a:xfrm>
              <a:off x="10244051" y="5020918"/>
              <a:ext cx="466897" cy="284531"/>
            </a:xfrm>
            <a:prstGeom prst="rect">
              <a:avLst/>
            </a:prstGeom>
            <a:noFill/>
            <a:ln>
              <a:noFill/>
            </a:ln>
          </p:spPr>
          <p:txBody>
            <a:bodyPr wrap="none" lIns="0" tIns="0" rIns="0" bIns="0" anchor="t" anchorCtr="0">
              <a:spAutoFit/>
            </a:bodyPr>
            <a:lstStyle/>
            <a:p>
              <a:pPr algn="ctr"/>
              <a:r>
                <a:rPr lang="zh-CN" sz="1400" b="1" dirty="0">
                  <a:solidFill>
                    <a:srgbClr val="2E7D32"/>
                  </a:solidFill>
                  <a:latin typeface="Arial"/>
                  <a:ea typeface="Microsoft YaHei"/>
                  <a:cs typeface="Arial"/>
                </a:rPr>
                <a:t>6.22</a:t>
              </a:r>
            </a:p>
          </p:txBody>
        </p:sp>
        <p:sp>
          <p:nvSpPr>
            <p:cNvPr id="41" name="TextBox 41"/>
            <p:cNvSpPr txBox="1"/>
            <p:nvPr/>
          </p:nvSpPr>
          <p:spPr>
            <a:xfrm>
              <a:off x="5482208" y="3827807"/>
              <a:ext cx="1608585" cy="325069"/>
            </a:xfrm>
            <a:prstGeom prst="rect">
              <a:avLst/>
            </a:prstGeom>
            <a:noFill/>
            <a:ln>
              <a:noFill/>
            </a:ln>
          </p:spPr>
          <p:txBody>
            <a:bodyPr wrap="none" lIns="0" tIns="0" rIns="0" bIns="0" anchor="t" anchorCtr="0">
              <a:spAutoFit/>
            </a:bodyPr>
            <a:lstStyle/>
            <a:p>
              <a:pPr algn="ctr"/>
              <a:r>
                <a:rPr lang="zh-CN" sz="1600" b="1" dirty="0">
                  <a:solidFill>
                    <a:srgbClr val="2E7D32"/>
                  </a:solidFill>
                  <a:latin typeface="Arial"/>
                  <a:ea typeface="Microsoft YaHei"/>
                  <a:cs typeface="Arial"/>
                </a:rPr>
                <a:t>std 降低 77.9%</a:t>
              </a:r>
            </a:p>
          </p:txBody>
        </p:sp>
      </p:grpSp>
      <p:grpSp>
        <p:nvGrpSpPr>
          <p:cNvPr id="45" name="Group 45"/>
          <p:cNvGrpSpPr/>
          <p:nvPr/>
        </p:nvGrpSpPr>
        <p:grpSpPr>
          <a:xfrm>
            <a:off x="685800" y="5829300"/>
            <a:ext cx="10820400" cy="457200"/>
            <a:chOff x="685800" y="5829300"/>
            <a:chExt cx="10820400" cy="457200"/>
          </a:xfrm>
        </p:grpSpPr>
        <p:sp>
          <p:nvSpPr>
            <p:cNvPr id="43" name="Rectangle 43"/>
            <p:cNvSpPr/>
            <p:nvPr/>
          </p:nvSpPr>
          <p:spPr>
            <a:xfrm>
              <a:off x="685800" y="5829300"/>
              <a:ext cx="10820400" cy="457200"/>
            </a:xfrm>
            <a:prstGeom prst="roundRect">
              <a:avLst>
                <a:gd name="adj" fmla="val 12500"/>
              </a:avLst>
            </a:prstGeom>
            <a:solidFill>
              <a:srgbClr val="E8F5E9"/>
            </a:solidFill>
            <a:ln>
              <a:noFill/>
            </a:ln>
          </p:spPr>
        </p:sp>
        <p:sp>
          <p:nvSpPr>
            <p:cNvPr id="44" name="TextBox 44"/>
            <p:cNvSpPr txBox="1"/>
            <p:nvPr/>
          </p:nvSpPr>
          <p:spPr>
            <a:xfrm>
              <a:off x="972817" y="5963893"/>
              <a:ext cx="618810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有效策略：放宽"部分满足"标准 + 增加【重要】提示 + 正面/反面锚点示例</a:t>
              </a:r>
            </a:p>
          </p:txBody>
        </p:sp>
      </p:grpSp>
      <p:grpSp>
        <p:nvGrpSpPr>
          <p:cNvPr id="49" name="Group 49"/>
          <p:cNvGrpSpPr/>
          <p:nvPr/>
        </p:nvGrpSpPr>
        <p:grpSpPr>
          <a:xfrm>
            <a:off x="0" y="6516343"/>
            <a:ext cx="12192000" cy="341657"/>
            <a:chOff x="0" y="6516343"/>
            <a:chExt cx="12192000" cy="341657"/>
          </a:xfrm>
        </p:grpSpPr>
        <p:sp>
          <p:nvSpPr>
            <p:cNvPr id="46" name="Rectangle 46"/>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47" name="TextBox 47"/>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48" name="TextBox 48"/>
            <p:cNvSpPr txBox="1"/>
            <p:nvPr/>
          </p:nvSpPr>
          <p:spPr>
            <a:xfrm>
              <a:off x="11376383" y="6516343"/>
              <a:ext cx="147600"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image">
                                      <p:cBhvr>
                                        <p:cTn id="7" dur="400"/>
                                        <p:tgtEl>
                                          <p:spTgt spid="1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left)">
                                      <p:cBhvr>
                                        <p:cTn id="11" dur="400"/>
                                        <p:tgtEl>
                                          <p:spTgt spid="42"/>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left)">
                                      <p:cBhvr>
                                        <p:cTn id="1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2" grpId="0"/>
      <p:bldP spid="4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4383268"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可靠性验证与分层置信度</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0" name="Group 10"/>
          <p:cNvGrpSpPr/>
          <p:nvPr/>
        </p:nvGrpSpPr>
        <p:grpSpPr>
          <a:xfrm>
            <a:off x="685800" y="1228725"/>
            <a:ext cx="10820400" cy="533400"/>
            <a:chOff x="685800" y="1228725"/>
            <a:chExt cx="10820400" cy="533400"/>
          </a:xfrm>
        </p:grpSpPr>
        <p:sp>
          <p:nvSpPr>
            <p:cNvPr id="8" name="Rectangle 8"/>
            <p:cNvSpPr/>
            <p:nvPr/>
          </p:nvSpPr>
          <p:spPr>
            <a:xfrm>
              <a:off x="685800" y="1228725"/>
              <a:ext cx="10820400" cy="533400"/>
            </a:xfrm>
            <a:prstGeom prst="roundRect">
              <a:avLst>
                <a:gd name="adj" fmla="val 14286"/>
              </a:avLst>
            </a:prstGeom>
            <a:solidFill>
              <a:srgbClr val="F4F5F7"/>
            </a:solidFill>
            <a:ln>
              <a:noFill/>
            </a:ln>
          </p:spPr>
        </p:sp>
        <p:sp>
          <p:nvSpPr>
            <p:cNvPr id="9" name="TextBox 9"/>
            <p:cNvSpPr txBox="1"/>
            <p:nvPr/>
          </p:nvSpPr>
          <p:spPr>
            <a:xfrm>
              <a:off x="2523794" y="1389407"/>
              <a:ext cx="7144412"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自动计算各维度均值、标准差 → 四级置信度分层 → 未收敛维度进入专家复核</a:t>
              </a:r>
            </a:p>
          </p:txBody>
        </p:sp>
      </p:grpSp>
      <p:grpSp>
        <p:nvGrpSpPr>
          <p:cNvPr id="51" name="Group 51"/>
          <p:cNvGrpSpPr/>
          <p:nvPr/>
        </p:nvGrpSpPr>
        <p:grpSpPr>
          <a:xfrm>
            <a:off x="685800" y="1990725"/>
            <a:ext cx="10820400" cy="3619500"/>
            <a:chOff x="685800" y="1990725"/>
            <a:chExt cx="10820400" cy="3619500"/>
          </a:xfrm>
        </p:grpSpPr>
        <p:grpSp>
          <p:nvGrpSpPr>
            <p:cNvPr id="20" name="Group 20"/>
            <p:cNvGrpSpPr/>
            <p:nvPr/>
          </p:nvGrpSpPr>
          <p:grpSpPr>
            <a:xfrm>
              <a:off x="685800" y="1990725"/>
              <a:ext cx="2495550" cy="3619500"/>
              <a:chOff x="685800" y="1990725"/>
              <a:chExt cx="2495550" cy="3619500"/>
            </a:xfrm>
          </p:grpSpPr>
          <p:sp>
            <p:nvSpPr>
              <p:cNvPr id="11" name="Rectangle 11"/>
              <p:cNvSpPr/>
              <p:nvPr/>
            </p:nvSpPr>
            <p:spPr>
              <a:xfrm>
                <a:off x="685800" y="1990725"/>
                <a:ext cx="2495550" cy="3619500"/>
              </a:xfrm>
              <a:prstGeom prst="roundRect">
                <a:avLst>
                  <a:gd name="adj" fmla="val 3053"/>
                </a:avLst>
              </a:prstGeom>
              <a:solidFill>
                <a:srgbClr val="E8F5E9"/>
              </a:solidFill>
              <a:ln w="14288">
                <a:solidFill>
                  <a:srgbClr val="2E7D32"/>
                </a:solidFill>
              </a:ln>
            </p:spPr>
          </p:sp>
          <p:sp>
            <p:nvSpPr>
              <p:cNvPr id="12" name="Rectangle 12"/>
              <p:cNvSpPr/>
              <p:nvPr/>
            </p:nvSpPr>
            <p:spPr>
              <a:xfrm>
                <a:off x="685800" y="1990725"/>
                <a:ext cx="2495550" cy="495300"/>
              </a:xfrm>
              <a:prstGeom prst="roundRect">
                <a:avLst>
                  <a:gd name="adj" fmla="val 15385"/>
                </a:avLst>
              </a:prstGeom>
              <a:solidFill>
                <a:srgbClr val="2E7D32"/>
              </a:solidFill>
              <a:ln>
                <a:noFill/>
              </a:ln>
            </p:spPr>
          </p:sp>
          <p:sp>
            <p:nvSpPr>
              <p:cNvPr id="13" name="Rectangle 13"/>
              <p:cNvSpPr/>
              <p:nvPr/>
            </p:nvSpPr>
            <p:spPr>
              <a:xfrm>
                <a:off x="685800" y="2428875"/>
                <a:ext cx="2495550" cy="57150"/>
              </a:xfrm>
              <a:prstGeom prst="rect">
                <a:avLst/>
              </a:prstGeom>
              <a:solidFill>
                <a:srgbClr val="2E7D32"/>
              </a:solidFill>
              <a:ln>
                <a:noFill/>
              </a:ln>
            </p:spPr>
          </p:sp>
          <p:sp>
            <p:nvSpPr>
              <p:cNvPr id="14" name="TextBox 14"/>
              <p:cNvSpPr txBox="1"/>
              <p:nvPr/>
            </p:nvSpPr>
            <p:spPr>
              <a:xfrm>
                <a:off x="1635104" y="2089123"/>
                <a:ext cx="596943" cy="406451"/>
              </a:xfrm>
              <a:prstGeom prst="rect">
                <a:avLst/>
              </a:prstGeom>
              <a:noFill/>
              <a:ln>
                <a:noFill/>
              </a:ln>
            </p:spPr>
            <p:txBody>
              <a:bodyPr wrap="none" lIns="0" tIns="0" rIns="0" bIns="0" anchor="t" anchorCtr="0">
                <a:spAutoFit/>
              </a:bodyPr>
              <a:lstStyle/>
              <a:p>
                <a:pPr algn="ctr"/>
                <a:r>
                  <a:rPr lang="zh-CN" sz="2000" b="1" dirty="0">
                    <a:solidFill>
                      <a:srgbClr val="FFFFFF"/>
                    </a:solidFill>
                    <a:latin typeface="Arial"/>
                    <a:ea typeface="Microsoft YaHei"/>
                    <a:cs typeface="Arial"/>
                  </a:rPr>
                  <a:t>High</a:t>
                </a:r>
              </a:p>
            </p:txBody>
          </p:sp>
          <p:sp>
            <p:nvSpPr>
              <p:cNvPr id="15" name="TextBox 15"/>
              <p:cNvSpPr txBox="1"/>
              <p:nvPr/>
            </p:nvSpPr>
            <p:spPr>
              <a:xfrm>
                <a:off x="1535011" y="2564130"/>
                <a:ext cx="797128" cy="731520"/>
              </a:xfrm>
              <a:prstGeom prst="rect">
                <a:avLst/>
              </a:prstGeom>
              <a:noFill/>
              <a:ln>
                <a:noFill/>
              </a:ln>
            </p:spPr>
            <p:txBody>
              <a:bodyPr wrap="none" lIns="0" tIns="0" rIns="0" bIns="0" anchor="t" anchorCtr="0">
                <a:spAutoFit/>
              </a:bodyPr>
              <a:lstStyle/>
              <a:p>
                <a:pPr algn="ctr"/>
                <a:r>
                  <a:rPr lang="zh-CN" sz="3600" b="1" dirty="0">
                    <a:solidFill>
                      <a:srgbClr val="2E7D32"/>
                    </a:solidFill>
                    <a:latin typeface="Arial"/>
                    <a:ea typeface="Microsoft YaHei"/>
                    <a:cs typeface="Arial"/>
                  </a:rPr>
                  <a:t>≤ 5</a:t>
                </a:r>
              </a:p>
            </p:txBody>
          </p:sp>
          <p:sp>
            <p:nvSpPr>
              <p:cNvPr id="16" name="TextBox 16"/>
              <p:cNvSpPr txBox="1"/>
              <p:nvPr/>
            </p:nvSpPr>
            <p:spPr>
              <a:xfrm>
                <a:off x="1486605" y="3218207"/>
                <a:ext cx="893940"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高置信度</a:t>
                </a:r>
              </a:p>
            </p:txBody>
          </p:sp>
          <p:sp>
            <p:nvSpPr>
              <p:cNvPr id="17" name="TextBox 17"/>
              <p:cNvSpPr txBox="1"/>
              <p:nvPr/>
            </p:nvSpPr>
            <p:spPr>
              <a:xfrm>
                <a:off x="1276264" y="3563593"/>
                <a:ext cx="1314621"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4 模型高度一致</a:t>
                </a:r>
              </a:p>
            </p:txBody>
          </p:sp>
          <p:sp>
            <p:nvSpPr>
              <p:cNvPr id="18" name="TextBox 18"/>
              <p:cNvSpPr txBox="1"/>
              <p:nvPr/>
            </p:nvSpPr>
            <p:spPr>
              <a:xfrm>
                <a:off x="1448983" y="3849343"/>
                <a:ext cx="969183"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可直接采纳</a:t>
                </a:r>
              </a:p>
            </p:txBody>
          </p:sp>
          <p:sp>
            <p:nvSpPr>
              <p:cNvPr id="19" name="TextBox 19"/>
              <p:cNvSpPr txBox="1"/>
              <p:nvPr/>
            </p:nvSpPr>
            <p:spPr>
              <a:xfrm>
                <a:off x="1355622" y="4135093"/>
                <a:ext cx="115590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无需人工复核</a:t>
                </a:r>
              </a:p>
            </p:txBody>
          </p:sp>
        </p:grpSp>
        <p:grpSp>
          <p:nvGrpSpPr>
            <p:cNvPr id="30" name="Group 30"/>
            <p:cNvGrpSpPr/>
            <p:nvPr/>
          </p:nvGrpSpPr>
          <p:grpSpPr>
            <a:xfrm>
              <a:off x="3448050" y="1990725"/>
              <a:ext cx="2495550" cy="3619500"/>
              <a:chOff x="3448050" y="1990725"/>
              <a:chExt cx="2495550" cy="3619500"/>
            </a:xfrm>
          </p:grpSpPr>
          <p:sp>
            <p:nvSpPr>
              <p:cNvPr id="21" name="Rectangle 21"/>
              <p:cNvSpPr/>
              <p:nvPr/>
            </p:nvSpPr>
            <p:spPr>
              <a:xfrm>
                <a:off x="3448050" y="1990725"/>
                <a:ext cx="2495550" cy="3619500"/>
              </a:xfrm>
              <a:prstGeom prst="roundRect">
                <a:avLst>
                  <a:gd name="adj" fmla="val 3053"/>
                </a:avLst>
              </a:prstGeom>
              <a:solidFill>
                <a:srgbClr val="F0F7FF"/>
              </a:solidFill>
              <a:ln w="14288">
                <a:solidFill>
                  <a:srgbClr val="1F4D78"/>
                </a:solidFill>
              </a:ln>
            </p:spPr>
          </p:sp>
          <p:sp>
            <p:nvSpPr>
              <p:cNvPr id="22" name="Rectangle 22"/>
              <p:cNvSpPr/>
              <p:nvPr/>
            </p:nvSpPr>
            <p:spPr>
              <a:xfrm>
                <a:off x="3448050" y="1990725"/>
                <a:ext cx="2495550" cy="495300"/>
              </a:xfrm>
              <a:prstGeom prst="roundRect">
                <a:avLst>
                  <a:gd name="adj" fmla="val 15385"/>
                </a:avLst>
              </a:prstGeom>
              <a:solidFill>
                <a:srgbClr val="1F4D78"/>
              </a:solidFill>
              <a:ln>
                <a:noFill/>
              </a:ln>
            </p:spPr>
          </p:sp>
          <p:sp>
            <p:nvSpPr>
              <p:cNvPr id="23" name="Rectangle 23"/>
              <p:cNvSpPr/>
              <p:nvPr/>
            </p:nvSpPr>
            <p:spPr>
              <a:xfrm>
                <a:off x="3448050" y="2428875"/>
                <a:ext cx="2495550" cy="57150"/>
              </a:xfrm>
              <a:prstGeom prst="rect">
                <a:avLst/>
              </a:prstGeom>
              <a:solidFill>
                <a:srgbClr val="1F4D78"/>
              </a:solidFill>
              <a:ln>
                <a:noFill/>
              </a:ln>
            </p:spPr>
          </p:sp>
          <p:sp>
            <p:nvSpPr>
              <p:cNvPr id="24" name="TextBox 24"/>
              <p:cNvSpPr txBox="1"/>
              <p:nvPr/>
            </p:nvSpPr>
            <p:spPr>
              <a:xfrm>
                <a:off x="4187301" y="2089123"/>
                <a:ext cx="1017048" cy="406451"/>
              </a:xfrm>
              <a:prstGeom prst="rect">
                <a:avLst/>
              </a:prstGeom>
              <a:noFill/>
              <a:ln>
                <a:noFill/>
              </a:ln>
            </p:spPr>
            <p:txBody>
              <a:bodyPr wrap="none" lIns="0" tIns="0" rIns="0" bIns="0" anchor="t" anchorCtr="0">
                <a:spAutoFit/>
              </a:bodyPr>
              <a:lstStyle/>
              <a:p>
                <a:pPr algn="ctr"/>
                <a:r>
                  <a:rPr lang="zh-CN" sz="2000" b="1" dirty="0">
                    <a:solidFill>
                      <a:srgbClr val="FFFFFF"/>
                    </a:solidFill>
                    <a:latin typeface="Arial"/>
                    <a:ea typeface="Microsoft YaHei"/>
                    <a:cs typeface="Arial"/>
                  </a:rPr>
                  <a:t>Medium</a:t>
                </a:r>
              </a:p>
            </p:txBody>
          </p:sp>
          <p:sp>
            <p:nvSpPr>
              <p:cNvPr id="25" name="TextBox 25"/>
              <p:cNvSpPr txBox="1"/>
              <p:nvPr/>
            </p:nvSpPr>
            <p:spPr>
              <a:xfrm>
                <a:off x="4234253" y="2564130"/>
                <a:ext cx="923144" cy="731520"/>
              </a:xfrm>
              <a:prstGeom prst="rect">
                <a:avLst/>
              </a:prstGeom>
              <a:noFill/>
              <a:ln>
                <a:noFill/>
              </a:ln>
            </p:spPr>
            <p:txBody>
              <a:bodyPr wrap="none" lIns="0" tIns="0" rIns="0" bIns="0" anchor="t" anchorCtr="0">
                <a:spAutoFit/>
              </a:bodyPr>
              <a:lstStyle/>
              <a:p>
                <a:pPr algn="ctr"/>
                <a:r>
                  <a:rPr lang="zh-CN" sz="3600" b="1" dirty="0">
                    <a:solidFill>
                      <a:srgbClr val="1F4D78"/>
                    </a:solidFill>
                    <a:latin typeface="Arial"/>
                    <a:ea typeface="Microsoft YaHei"/>
                    <a:cs typeface="Arial"/>
                  </a:rPr>
                  <a:t>5-8</a:t>
                </a:r>
              </a:p>
            </p:txBody>
          </p:sp>
          <p:sp>
            <p:nvSpPr>
              <p:cNvPr id="26" name="TextBox 26"/>
              <p:cNvSpPr txBox="1"/>
              <p:nvPr/>
            </p:nvSpPr>
            <p:spPr>
              <a:xfrm>
                <a:off x="4142192" y="32182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中等置信度</a:t>
                </a:r>
              </a:p>
            </p:txBody>
          </p:sp>
          <p:sp>
            <p:nvSpPr>
              <p:cNvPr id="27" name="TextBox 27"/>
              <p:cNvSpPr txBox="1"/>
              <p:nvPr/>
            </p:nvSpPr>
            <p:spPr>
              <a:xfrm>
                <a:off x="4117872" y="3563593"/>
                <a:ext cx="115590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模型间有分歧</a:t>
                </a:r>
              </a:p>
            </p:txBody>
          </p:sp>
          <p:sp>
            <p:nvSpPr>
              <p:cNvPr id="28" name="TextBox 28"/>
              <p:cNvSpPr txBox="1"/>
              <p:nvPr/>
            </p:nvSpPr>
            <p:spPr>
              <a:xfrm>
                <a:off x="3931148" y="3849343"/>
                <a:ext cx="1529353"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但仍在可接受范围</a:t>
                </a:r>
              </a:p>
            </p:txBody>
          </p:sp>
          <p:sp>
            <p:nvSpPr>
              <p:cNvPr id="29" name="TextBox 29"/>
              <p:cNvSpPr txBox="1"/>
              <p:nvPr/>
            </p:nvSpPr>
            <p:spPr>
              <a:xfrm>
                <a:off x="4117872" y="4135093"/>
                <a:ext cx="115590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可选择性复核</a:t>
                </a:r>
              </a:p>
            </p:txBody>
          </p:sp>
        </p:grpSp>
        <p:grpSp>
          <p:nvGrpSpPr>
            <p:cNvPr id="40" name="Group 40"/>
            <p:cNvGrpSpPr/>
            <p:nvPr/>
          </p:nvGrpSpPr>
          <p:grpSpPr>
            <a:xfrm>
              <a:off x="6210300" y="1990725"/>
              <a:ext cx="2495550" cy="3619500"/>
              <a:chOff x="6210300" y="1990725"/>
              <a:chExt cx="2495550" cy="3619500"/>
            </a:xfrm>
          </p:grpSpPr>
          <p:sp>
            <p:nvSpPr>
              <p:cNvPr id="31" name="Rectangle 31"/>
              <p:cNvSpPr/>
              <p:nvPr/>
            </p:nvSpPr>
            <p:spPr>
              <a:xfrm>
                <a:off x="6210300" y="1990725"/>
                <a:ext cx="2495550" cy="3619500"/>
              </a:xfrm>
              <a:prstGeom prst="roundRect">
                <a:avLst>
                  <a:gd name="adj" fmla="val 3053"/>
                </a:avLst>
              </a:prstGeom>
              <a:solidFill>
                <a:srgbClr val="FFF8F0"/>
              </a:solidFill>
              <a:ln w="14288">
                <a:solidFill>
                  <a:srgbClr val="E07B00"/>
                </a:solidFill>
              </a:ln>
            </p:spPr>
          </p:sp>
          <p:sp>
            <p:nvSpPr>
              <p:cNvPr id="32" name="Rectangle 32"/>
              <p:cNvSpPr/>
              <p:nvPr/>
            </p:nvSpPr>
            <p:spPr>
              <a:xfrm>
                <a:off x="6210300" y="1990725"/>
                <a:ext cx="2495550" cy="495300"/>
              </a:xfrm>
              <a:prstGeom prst="roundRect">
                <a:avLst>
                  <a:gd name="adj" fmla="val 15385"/>
                </a:avLst>
              </a:prstGeom>
              <a:solidFill>
                <a:srgbClr val="E07B00"/>
              </a:solidFill>
              <a:ln>
                <a:noFill/>
              </a:ln>
            </p:spPr>
          </p:sp>
          <p:sp>
            <p:nvSpPr>
              <p:cNvPr id="33" name="Rectangle 33"/>
              <p:cNvSpPr/>
              <p:nvPr/>
            </p:nvSpPr>
            <p:spPr>
              <a:xfrm>
                <a:off x="6210300" y="2428875"/>
                <a:ext cx="2495550" cy="57150"/>
              </a:xfrm>
              <a:prstGeom prst="rect">
                <a:avLst/>
              </a:prstGeom>
              <a:solidFill>
                <a:srgbClr val="E07B00"/>
              </a:solidFill>
              <a:ln>
                <a:noFill/>
              </a:ln>
            </p:spPr>
          </p:sp>
          <p:sp>
            <p:nvSpPr>
              <p:cNvPr id="34" name="TextBox 34"/>
              <p:cNvSpPr txBox="1"/>
              <p:nvPr/>
            </p:nvSpPr>
            <p:spPr>
              <a:xfrm>
                <a:off x="7173607" y="2089123"/>
                <a:ext cx="568936" cy="406451"/>
              </a:xfrm>
              <a:prstGeom prst="rect">
                <a:avLst/>
              </a:prstGeom>
              <a:noFill/>
              <a:ln>
                <a:noFill/>
              </a:ln>
            </p:spPr>
            <p:txBody>
              <a:bodyPr wrap="none" lIns="0" tIns="0" rIns="0" bIns="0" anchor="t" anchorCtr="0">
                <a:spAutoFit/>
              </a:bodyPr>
              <a:lstStyle/>
              <a:p>
                <a:pPr algn="ctr"/>
                <a:r>
                  <a:rPr lang="zh-CN" sz="2000" b="1" dirty="0">
                    <a:solidFill>
                      <a:srgbClr val="FFFFFF"/>
                    </a:solidFill>
                    <a:latin typeface="Arial"/>
                    <a:ea typeface="Microsoft YaHei"/>
                    <a:cs typeface="Arial"/>
                  </a:rPr>
                  <a:t>Low</a:t>
                </a:r>
              </a:p>
            </p:txBody>
          </p:sp>
          <p:sp>
            <p:nvSpPr>
              <p:cNvPr id="35" name="TextBox 35"/>
              <p:cNvSpPr txBox="1"/>
              <p:nvPr/>
            </p:nvSpPr>
            <p:spPr>
              <a:xfrm>
                <a:off x="6920894" y="2564130"/>
                <a:ext cx="1074363" cy="731520"/>
              </a:xfrm>
              <a:prstGeom prst="rect">
                <a:avLst/>
              </a:prstGeom>
              <a:noFill/>
              <a:ln>
                <a:noFill/>
              </a:ln>
            </p:spPr>
            <p:txBody>
              <a:bodyPr wrap="none" lIns="0" tIns="0" rIns="0" bIns="0" anchor="t" anchorCtr="0">
                <a:spAutoFit/>
              </a:bodyPr>
              <a:lstStyle/>
              <a:p>
                <a:pPr algn="ctr"/>
                <a:r>
                  <a:rPr lang="zh-CN" sz="3600" b="1" dirty="0">
                    <a:solidFill>
                      <a:srgbClr val="E07B00"/>
                    </a:solidFill>
                    <a:latin typeface="Arial"/>
                    <a:ea typeface="Microsoft YaHei"/>
                    <a:cs typeface="Arial"/>
                  </a:rPr>
                  <a:t>8-12</a:t>
                </a:r>
              </a:p>
            </p:txBody>
          </p:sp>
          <p:sp>
            <p:nvSpPr>
              <p:cNvPr id="36" name="TextBox 36"/>
              <p:cNvSpPr txBox="1"/>
              <p:nvPr/>
            </p:nvSpPr>
            <p:spPr>
              <a:xfrm>
                <a:off x="7011105" y="3218207"/>
                <a:ext cx="893940"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低置信度</a:t>
                </a:r>
              </a:p>
            </p:txBody>
          </p:sp>
          <p:sp>
            <p:nvSpPr>
              <p:cNvPr id="37" name="TextBox 37"/>
              <p:cNvSpPr txBox="1"/>
              <p:nvPr/>
            </p:nvSpPr>
            <p:spPr>
              <a:xfrm>
                <a:off x="6880122" y="3563593"/>
                <a:ext cx="115590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模型分歧较大</a:t>
                </a:r>
              </a:p>
            </p:txBody>
          </p:sp>
          <p:sp>
            <p:nvSpPr>
              <p:cNvPr id="38" name="TextBox 38"/>
              <p:cNvSpPr txBox="1"/>
              <p:nvPr/>
            </p:nvSpPr>
            <p:spPr>
              <a:xfrm>
                <a:off x="6880122" y="3849343"/>
                <a:ext cx="115590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建议人工复核</a:t>
                </a:r>
              </a:p>
            </p:txBody>
          </p:sp>
          <p:sp>
            <p:nvSpPr>
              <p:cNvPr id="39" name="TextBox 39"/>
              <p:cNvSpPr txBox="1"/>
              <p:nvPr/>
            </p:nvSpPr>
            <p:spPr>
              <a:xfrm>
                <a:off x="6866118" y="4135093"/>
                <a:ext cx="1183915"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或第 3 次评测</a:t>
                </a:r>
              </a:p>
            </p:txBody>
          </p:sp>
        </p:grpSp>
        <p:grpSp>
          <p:nvGrpSpPr>
            <p:cNvPr id="50" name="Group 50"/>
            <p:cNvGrpSpPr/>
            <p:nvPr/>
          </p:nvGrpSpPr>
          <p:grpSpPr>
            <a:xfrm>
              <a:off x="8972550" y="1990725"/>
              <a:ext cx="2533650" cy="3619500"/>
              <a:chOff x="8972550" y="1990725"/>
              <a:chExt cx="2533650" cy="3619500"/>
            </a:xfrm>
          </p:grpSpPr>
          <p:sp>
            <p:nvSpPr>
              <p:cNvPr id="41" name="Rectangle 41"/>
              <p:cNvSpPr/>
              <p:nvPr/>
            </p:nvSpPr>
            <p:spPr>
              <a:xfrm>
                <a:off x="8972550" y="1990725"/>
                <a:ext cx="2533650" cy="3619500"/>
              </a:xfrm>
              <a:prstGeom prst="roundRect">
                <a:avLst>
                  <a:gd name="adj" fmla="val 3008"/>
                </a:avLst>
              </a:prstGeom>
              <a:solidFill>
                <a:srgbClr val="FFEBEE"/>
              </a:solidFill>
              <a:ln w="14288">
                <a:solidFill>
                  <a:srgbClr val="C8161E"/>
                </a:solidFill>
              </a:ln>
            </p:spPr>
          </p:sp>
          <p:sp>
            <p:nvSpPr>
              <p:cNvPr id="42" name="Rectangle 42"/>
              <p:cNvSpPr/>
              <p:nvPr/>
            </p:nvSpPr>
            <p:spPr>
              <a:xfrm>
                <a:off x="8972550" y="1990725"/>
                <a:ext cx="2533650" cy="495300"/>
              </a:xfrm>
              <a:prstGeom prst="roundRect">
                <a:avLst>
                  <a:gd name="adj" fmla="val 15385"/>
                </a:avLst>
              </a:prstGeom>
              <a:solidFill>
                <a:srgbClr val="C8161E"/>
              </a:solidFill>
              <a:ln>
                <a:noFill/>
              </a:ln>
            </p:spPr>
          </p:sp>
          <p:sp>
            <p:nvSpPr>
              <p:cNvPr id="43" name="Rectangle 43"/>
              <p:cNvSpPr/>
              <p:nvPr/>
            </p:nvSpPr>
            <p:spPr>
              <a:xfrm>
                <a:off x="8972550" y="2428875"/>
                <a:ext cx="2533650" cy="57150"/>
              </a:xfrm>
              <a:prstGeom prst="rect">
                <a:avLst/>
              </a:prstGeom>
              <a:solidFill>
                <a:srgbClr val="C8161E"/>
              </a:solidFill>
              <a:ln>
                <a:noFill/>
              </a:ln>
            </p:spPr>
          </p:sp>
          <p:sp>
            <p:nvSpPr>
              <p:cNvPr id="44" name="TextBox 44"/>
              <p:cNvSpPr txBox="1"/>
              <p:nvPr/>
            </p:nvSpPr>
            <p:spPr>
              <a:xfrm>
                <a:off x="9702844" y="2089123"/>
                <a:ext cx="1073062" cy="406451"/>
              </a:xfrm>
              <a:prstGeom prst="rect">
                <a:avLst/>
              </a:prstGeom>
              <a:noFill/>
              <a:ln>
                <a:noFill/>
              </a:ln>
            </p:spPr>
            <p:txBody>
              <a:bodyPr wrap="none" lIns="0" tIns="0" rIns="0" bIns="0" anchor="t" anchorCtr="0">
                <a:spAutoFit/>
              </a:bodyPr>
              <a:lstStyle/>
              <a:p>
                <a:pPr algn="ctr"/>
                <a:r>
                  <a:rPr lang="zh-CN" sz="2000" b="1" dirty="0">
                    <a:solidFill>
                      <a:srgbClr val="FFFFFF"/>
                    </a:solidFill>
                    <a:latin typeface="Arial"/>
                    <a:ea typeface="Microsoft YaHei"/>
                    <a:cs typeface="Arial"/>
                  </a:rPr>
                  <a:t>Critical</a:t>
                </a:r>
              </a:p>
            </p:txBody>
          </p:sp>
          <p:sp>
            <p:nvSpPr>
              <p:cNvPr id="45" name="TextBox 45"/>
              <p:cNvSpPr txBox="1"/>
              <p:nvPr/>
            </p:nvSpPr>
            <p:spPr>
              <a:xfrm>
                <a:off x="9765201" y="2564130"/>
                <a:ext cx="948347" cy="731520"/>
              </a:xfrm>
              <a:prstGeom prst="rect">
                <a:avLst/>
              </a:prstGeom>
              <a:noFill/>
              <a:ln>
                <a:noFill/>
              </a:ln>
            </p:spPr>
            <p:txBody>
              <a:bodyPr wrap="none" lIns="0" tIns="0" rIns="0" bIns="0" anchor="t" anchorCtr="0">
                <a:spAutoFit/>
              </a:bodyPr>
              <a:lstStyle/>
              <a:p>
                <a:pPr algn="ctr"/>
                <a:r>
                  <a:rPr lang="zh-CN" sz="3600" b="1" dirty="0">
                    <a:solidFill>
                      <a:srgbClr val="C8161E"/>
                    </a:solidFill>
                    <a:latin typeface="Arial"/>
                    <a:ea typeface="Microsoft YaHei"/>
                    <a:cs typeface="Arial"/>
                  </a:rPr>
                  <a:t>&gt; 12</a:t>
                </a:r>
              </a:p>
            </p:txBody>
          </p:sp>
          <p:sp>
            <p:nvSpPr>
              <p:cNvPr id="46" name="TextBox 46"/>
              <p:cNvSpPr txBox="1"/>
              <p:nvPr/>
            </p:nvSpPr>
            <p:spPr>
              <a:xfrm>
                <a:off x="9685742" y="32182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极低置信度</a:t>
                </a:r>
              </a:p>
            </p:txBody>
          </p:sp>
          <p:sp>
            <p:nvSpPr>
              <p:cNvPr id="47" name="TextBox 47"/>
              <p:cNvSpPr txBox="1"/>
              <p:nvPr/>
            </p:nvSpPr>
            <p:spPr>
              <a:xfrm>
                <a:off x="9661422" y="3563593"/>
                <a:ext cx="115590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模型严重分歧</a:t>
                </a:r>
              </a:p>
            </p:txBody>
          </p:sp>
          <p:sp>
            <p:nvSpPr>
              <p:cNvPr id="48" name="TextBox 48"/>
              <p:cNvSpPr txBox="1"/>
              <p:nvPr/>
            </p:nvSpPr>
            <p:spPr>
              <a:xfrm>
                <a:off x="9661422" y="3849343"/>
                <a:ext cx="115590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必须人工复核</a:t>
                </a:r>
              </a:p>
            </p:txBody>
          </p:sp>
          <p:sp>
            <p:nvSpPr>
              <p:cNvPr id="49" name="TextBox 49"/>
              <p:cNvSpPr txBox="1"/>
              <p:nvPr/>
            </p:nvSpPr>
            <p:spPr>
              <a:xfrm>
                <a:off x="9647418" y="4135093"/>
                <a:ext cx="1183915"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AI 评分不可靠</a:t>
                </a:r>
              </a:p>
            </p:txBody>
          </p:sp>
        </p:grpSp>
      </p:grpSp>
      <p:grpSp>
        <p:nvGrpSpPr>
          <p:cNvPr id="55" name="Group 55"/>
          <p:cNvGrpSpPr/>
          <p:nvPr/>
        </p:nvGrpSpPr>
        <p:grpSpPr>
          <a:xfrm>
            <a:off x="685800" y="5838825"/>
            <a:ext cx="10820400" cy="571500"/>
            <a:chOff x="685800" y="5838825"/>
            <a:chExt cx="10820400" cy="571500"/>
          </a:xfrm>
        </p:grpSpPr>
        <p:sp>
          <p:nvSpPr>
            <p:cNvPr id="52" name="Rectangle 52"/>
            <p:cNvSpPr/>
            <p:nvPr/>
          </p:nvSpPr>
          <p:spPr>
            <a:xfrm>
              <a:off x="685800" y="5838825"/>
              <a:ext cx="10820400" cy="571500"/>
            </a:xfrm>
            <a:prstGeom prst="roundRect">
              <a:avLst>
                <a:gd name="adj" fmla="val 13333"/>
              </a:avLst>
            </a:prstGeom>
            <a:solidFill>
              <a:srgbClr val="F4F5F7"/>
            </a:solidFill>
            <a:ln>
              <a:noFill/>
            </a:ln>
          </p:spPr>
        </p:sp>
        <p:sp>
          <p:nvSpPr>
            <p:cNvPr id="53" name="TextBox 53"/>
            <p:cNvSpPr txBox="1"/>
            <p:nvPr/>
          </p:nvSpPr>
          <p:spPr>
            <a:xfrm>
              <a:off x="970283" y="5923307"/>
              <a:ext cx="936606"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核心原则</a:t>
              </a:r>
            </a:p>
          </p:txBody>
        </p:sp>
        <p:sp>
          <p:nvSpPr>
            <p:cNvPr id="54" name="TextBox 54"/>
            <p:cNvSpPr txBox="1"/>
            <p:nvPr/>
          </p:nvSpPr>
          <p:spPr>
            <a:xfrm>
              <a:off x="2001517" y="5944843"/>
              <a:ext cx="5347845"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AI 评分与专家评分并列存储，不互相覆盖 → 专家终审权威高于 AI</a:t>
              </a:r>
            </a:p>
          </p:txBody>
        </p:sp>
      </p:grpSp>
      <p:grpSp>
        <p:nvGrpSpPr>
          <p:cNvPr id="59" name="Group 59"/>
          <p:cNvGrpSpPr/>
          <p:nvPr/>
        </p:nvGrpSpPr>
        <p:grpSpPr>
          <a:xfrm>
            <a:off x="0" y="6516343"/>
            <a:ext cx="12192000" cy="341657"/>
            <a:chOff x="0" y="6516343"/>
            <a:chExt cx="12192000" cy="341657"/>
          </a:xfrm>
        </p:grpSpPr>
        <p:sp>
          <p:nvSpPr>
            <p:cNvPr id="56" name="Rectangle 56"/>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57" name="TextBox 57"/>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58" name="TextBox 58"/>
            <p:cNvSpPr txBox="1"/>
            <p:nvPr/>
          </p:nvSpPr>
          <p:spPr>
            <a:xfrm>
              <a:off x="11329702" y="6516343"/>
              <a:ext cx="194281"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400"/>
                                        <p:tgtEl>
                                          <p:spTgt spid="10"/>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image">
                                      <p:cBhvr>
                                        <p:cTn id="11" dur="400"/>
                                        <p:tgtEl>
                                          <p:spTgt spid="5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1" grpId="0"/>
      <p:bldP spid="5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3599240"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五轴位置归属度评价</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127988" y="953743"/>
            <a:ext cx="5936024"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0–10 分独立评价，用于 Top50 资格与知识体系画像，不进入六维基础分</a:t>
            </a:r>
          </a:p>
        </p:txBody>
      </p:sp>
      <p:grpSp>
        <p:nvGrpSpPr>
          <p:cNvPr id="15" name="Group 15"/>
          <p:cNvGrpSpPr/>
          <p:nvPr/>
        </p:nvGrpSpPr>
        <p:grpSpPr>
          <a:xfrm>
            <a:off x="800100" y="1619250"/>
            <a:ext cx="1943100" cy="2333625"/>
            <a:chOff x="800100" y="1619250"/>
            <a:chExt cx="1943100" cy="2333625"/>
          </a:xfrm>
        </p:grpSpPr>
        <p:sp>
          <p:nvSpPr>
            <p:cNvPr id="9" name="Rectangle 9"/>
            <p:cNvSpPr/>
            <p:nvPr/>
          </p:nvSpPr>
          <p:spPr>
            <a:xfrm>
              <a:off x="800100" y="1619250"/>
              <a:ext cx="1943100" cy="2333625"/>
            </a:xfrm>
            <a:prstGeom prst="roundRect">
              <a:avLst>
                <a:gd name="adj" fmla="val 4902"/>
              </a:avLst>
            </a:prstGeom>
            <a:solidFill>
              <a:srgbClr val="FFFFFF"/>
            </a:solidFill>
            <a:ln w="11430">
              <a:solidFill>
                <a:srgbClr val="D9DEE5"/>
              </a:solidFill>
            </a:ln>
          </p:spPr>
        </p:sp>
        <p:sp>
          <p:nvSpPr>
            <p:cNvPr id="10" name="Ellipse 10"/>
            <p:cNvSpPr/>
            <p:nvPr/>
          </p:nvSpPr>
          <p:spPr>
            <a:xfrm>
              <a:off x="1504950" y="1809750"/>
              <a:ext cx="533400" cy="533400"/>
            </a:xfrm>
            <a:prstGeom prst="ellipse">
              <a:avLst/>
            </a:prstGeom>
            <a:solidFill>
              <a:srgbClr val="C8161E"/>
            </a:solidFill>
            <a:ln>
              <a:noFill/>
            </a:ln>
          </p:spPr>
        </p:sp>
        <p:sp>
          <p:nvSpPr>
            <p:cNvPr id="11" name="TextBox 11"/>
            <p:cNvSpPr txBox="1"/>
            <p:nvPr/>
          </p:nvSpPr>
          <p:spPr>
            <a:xfrm>
              <a:off x="1700874" y="1945005"/>
              <a:ext cx="141551" cy="426720"/>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a:ea typeface="Microsoft YaHei"/>
                  <a:cs typeface="Arial"/>
                </a:rPr>
                <a:t>1</a:t>
              </a:r>
            </a:p>
          </p:txBody>
        </p:sp>
        <p:sp>
          <p:nvSpPr>
            <p:cNvPr id="12" name="TextBox 12"/>
            <p:cNvSpPr txBox="1"/>
            <p:nvPr/>
          </p:nvSpPr>
          <p:spPr>
            <a:xfrm>
              <a:off x="1173123" y="2488882"/>
              <a:ext cx="1197054" cy="335280"/>
            </a:xfrm>
            <a:prstGeom prst="rect">
              <a:avLst/>
            </a:prstGeom>
            <a:noFill/>
            <a:ln>
              <a:noFill/>
            </a:ln>
          </p:spPr>
          <p:txBody>
            <a:bodyPr wrap="none" lIns="0" tIns="0" rIns="0" bIns="0" anchor="t" anchorCtr="0">
              <a:spAutoFit/>
            </a:bodyPr>
            <a:lstStyle/>
            <a:p>
              <a:pPr algn="ctr"/>
              <a:r>
                <a:rPr lang="zh-CN" sz="1650" b="1" dirty="0">
                  <a:solidFill>
                    <a:srgbClr val="1F4D78"/>
                  </a:solidFill>
                  <a:latin typeface="Arial"/>
                  <a:ea typeface="Microsoft YaHei"/>
                  <a:cs typeface="Arial"/>
                </a:rPr>
                <a:t>对象归属度</a:t>
              </a:r>
            </a:p>
          </p:txBody>
        </p:sp>
        <p:sp>
          <p:nvSpPr>
            <p:cNvPr id="13" name="TextBox 13"/>
            <p:cNvSpPr txBox="1"/>
            <p:nvPr/>
          </p:nvSpPr>
          <p:spPr>
            <a:xfrm>
              <a:off x="1013936" y="2998708"/>
              <a:ext cx="1579721"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研究对象是否指向中国</a:t>
              </a:r>
            </a:p>
          </p:txBody>
        </p:sp>
        <p:sp>
          <p:nvSpPr>
            <p:cNvPr id="14" name="TextBox 14"/>
            <p:cNvSpPr txBox="1"/>
            <p:nvPr/>
          </p:nvSpPr>
          <p:spPr>
            <a:xfrm>
              <a:off x="1013936" y="3113008"/>
              <a:ext cx="1424702"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法治实践或制度问题</a:t>
              </a:r>
            </a:p>
          </p:txBody>
        </p:sp>
      </p:grpSp>
      <p:grpSp>
        <p:nvGrpSpPr>
          <p:cNvPr id="22" name="Group 22"/>
          <p:cNvGrpSpPr/>
          <p:nvPr/>
        </p:nvGrpSpPr>
        <p:grpSpPr>
          <a:xfrm>
            <a:off x="3009900" y="1619250"/>
            <a:ext cx="1943100" cy="2333625"/>
            <a:chOff x="3009900" y="1619250"/>
            <a:chExt cx="1943100" cy="2333625"/>
          </a:xfrm>
        </p:grpSpPr>
        <p:sp>
          <p:nvSpPr>
            <p:cNvPr id="16" name="Rectangle 16"/>
            <p:cNvSpPr/>
            <p:nvPr/>
          </p:nvSpPr>
          <p:spPr>
            <a:xfrm>
              <a:off x="3009900" y="1619250"/>
              <a:ext cx="1943100" cy="2333625"/>
            </a:xfrm>
            <a:prstGeom prst="roundRect">
              <a:avLst>
                <a:gd name="adj" fmla="val 4902"/>
              </a:avLst>
            </a:prstGeom>
            <a:solidFill>
              <a:srgbClr val="FFFFFF"/>
            </a:solidFill>
            <a:ln w="11430">
              <a:solidFill>
                <a:srgbClr val="D9DEE5"/>
              </a:solidFill>
            </a:ln>
          </p:spPr>
        </p:sp>
        <p:sp>
          <p:nvSpPr>
            <p:cNvPr id="17" name="Ellipse 17"/>
            <p:cNvSpPr/>
            <p:nvPr/>
          </p:nvSpPr>
          <p:spPr>
            <a:xfrm>
              <a:off x="3714750" y="1809750"/>
              <a:ext cx="533400" cy="533400"/>
            </a:xfrm>
            <a:prstGeom prst="ellipse">
              <a:avLst/>
            </a:prstGeom>
            <a:solidFill>
              <a:srgbClr val="C8161E"/>
            </a:solidFill>
            <a:ln>
              <a:noFill/>
            </a:ln>
          </p:spPr>
        </p:sp>
        <p:sp>
          <p:nvSpPr>
            <p:cNvPr id="18" name="TextBox 18"/>
            <p:cNvSpPr txBox="1"/>
            <p:nvPr/>
          </p:nvSpPr>
          <p:spPr>
            <a:xfrm>
              <a:off x="3873920" y="1945005"/>
              <a:ext cx="215060" cy="426720"/>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a:ea typeface="Microsoft YaHei"/>
                  <a:cs typeface="Arial"/>
                </a:rPr>
                <a:t>2</a:t>
              </a:r>
            </a:p>
          </p:txBody>
        </p:sp>
        <p:sp>
          <p:nvSpPr>
            <p:cNvPr id="19" name="TextBox 19"/>
            <p:cNvSpPr txBox="1"/>
            <p:nvPr/>
          </p:nvSpPr>
          <p:spPr>
            <a:xfrm>
              <a:off x="3382923" y="2488882"/>
              <a:ext cx="1197054" cy="335280"/>
            </a:xfrm>
            <a:prstGeom prst="rect">
              <a:avLst/>
            </a:prstGeom>
            <a:noFill/>
            <a:ln>
              <a:noFill/>
            </a:ln>
          </p:spPr>
          <p:txBody>
            <a:bodyPr wrap="none" lIns="0" tIns="0" rIns="0" bIns="0" anchor="t" anchorCtr="0">
              <a:spAutoFit/>
            </a:bodyPr>
            <a:lstStyle/>
            <a:p>
              <a:pPr algn="ctr"/>
              <a:r>
                <a:rPr lang="zh-CN" sz="1650" b="1" dirty="0">
                  <a:solidFill>
                    <a:srgbClr val="1F4D78"/>
                  </a:solidFill>
                  <a:latin typeface="Arial"/>
                  <a:ea typeface="Microsoft YaHei"/>
                  <a:cs typeface="Arial"/>
                </a:rPr>
                <a:t>材料归属度</a:t>
              </a:r>
            </a:p>
          </p:txBody>
        </p:sp>
        <p:sp>
          <p:nvSpPr>
            <p:cNvPr id="20" name="TextBox 20"/>
            <p:cNvSpPr txBox="1"/>
            <p:nvPr/>
          </p:nvSpPr>
          <p:spPr>
            <a:xfrm>
              <a:off x="3223736" y="2998708"/>
              <a:ext cx="1579721"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论证材料是否充分使用</a:t>
              </a:r>
            </a:p>
          </p:txBody>
        </p:sp>
        <p:sp>
          <p:nvSpPr>
            <p:cNvPr id="21" name="TextBox 21"/>
            <p:cNvSpPr txBox="1"/>
            <p:nvPr/>
          </p:nvSpPr>
          <p:spPr>
            <a:xfrm>
              <a:off x="3223736" y="3113008"/>
              <a:ext cx="1424702"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中国法源与实践经验</a:t>
              </a:r>
            </a:p>
          </p:txBody>
        </p:sp>
      </p:grpSp>
      <p:grpSp>
        <p:nvGrpSpPr>
          <p:cNvPr id="29" name="Group 29"/>
          <p:cNvGrpSpPr/>
          <p:nvPr/>
        </p:nvGrpSpPr>
        <p:grpSpPr>
          <a:xfrm>
            <a:off x="5219700" y="1619250"/>
            <a:ext cx="1943100" cy="2333625"/>
            <a:chOff x="5219700" y="1619250"/>
            <a:chExt cx="1943100" cy="2333625"/>
          </a:xfrm>
        </p:grpSpPr>
        <p:sp>
          <p:nvSpPr>
            <p:cNvPr id="23" name="Rectangle 23"/>
            <p:cNvSpPr/>
            <p:nvPr/>
          </p:nvSpPr>
          <p:spPr>
            <a:xfrm>
              <a:off x="5219700" y="1619250"/>
              <a:ext cx="1943100" cy="2333625"/>
            </a:xfrm>
            <a:prstGeom prst="roundRect">
              <a:avLst>
                <a:gd name="adj" fmla="val 4902"/>
              </a:avLst>
            </a:prstGeom>
            <a:solidFill>
              <a:srgbClr val="FFFFFF"/>
            </a:solidFill>
            <a:ln w="11430">
              <a:solidFill>
                <a:srgbClr val="D9DEE5"/>
              </a:solidFill>
            </a:ln>
          </p:spPr>
        </p:sp>
        <p:sp>
          <p:nvSpPr>
            <p:cNvPr id="24" name="Ellipse 24"/>
            <p:cNvSpPr/>
            <p:nvPr/>
          </p:nvSpPr>
          <p:spPr>
            <a:xfrm>
              <a:off x="5924550" y="1809750"/>
              <a:ext cx="533400" cy="533400"/>
            </a:xfrm>
            <a:prstGeom prst="ellipse">
              <a:avLst/>
            </a:prstGeom>
            <a:solidFill>
              <a:srgbClr val="C8161E"/>
            </a:solidFill>
            <a:ln>
              <a:noFill/>
            </a:ln>
          </p:spPr>
        </p:sp>
        <p:sp>
          <p:nvSpPr>
            <p:cNvPr id="25" name="TextBox 25"/>
            <p:cNvSpPr txBox="1"/>
            <p:nvPr/>
          </p:nvSpPr>
          <p:spPr>
            <a:xfrm>
              <a:off x="6083720" y="1945005"/>
              <a:ext cx="215060" cy="426720"/>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a:ea typeface="Microsoft YaHei"/>
                  <a:cs typeface="Arial"/>
                </a:rPr>
                <a:t>3</a:t>
              </a:r>
            </a:p>
          </p:txBody>
        </p:sp>
        <p:sp>
          <p:nvSpPr>
            <p:cNvPr id="26" name="TextBox 26"/>
            <p:cNvSpPr txBox="1"/>
            <p:nvPr/>
          </p:nvSpPr>
          <p:spPr>
            <a:xfrm>
              <a:off x="5592723" y="2488882"/>
              <a:ext cx="1197054" cy="335280"/>
            </a:xfrm>
            <a:prstGeom prst="rect">
              <a:avLst/>
            </a:prstGeom>
            <a:noFill/>
            <a:ln>
              <a:noFill/>
            </a:ln>
          </p:spPr>
          <p:txBody>
            <a:bodyPr wrap="none" lIns="0" tIns="0" rIns="0" bIns="0" anchor="t" anchorCtr="0">
              <a:spAutoFit/>
            </a:bodyPr>
            <a:lstStyle/>
            <a:p>
              <a:pPr algn="ctr"/>
              <a:r>
                <a:rPr lang="zh-CN" sz="1650" b="1" dirty="0">
                  <a:solidFill>
                    <a:srgbClr val="1F4D78"/>
                  </a:solidFill>
                  <a:latin typeface="Arial"/>
                  <a:ea typeface="Microsoft YaHei"/>
                  <a:cs typeface="Arial"/>
                </a:rPr>
                <a:t>范畴自主度</a:t>
              </a:r>
            </a:p>
          </p:txBody>
        </p:sp>
        <p:sp>
          <p:nvSpPr>
            <p:cNvPr id="27" name="TextBox 27"/>
            <p:cNvSpPr txBox="1"/>
            <p:nvPr/>
          </p:nvSpPr>
          <p:spPr>
            <a:xfrm>
              <a:off x="5433536" y="2998708"/>
              <a:ext cx="1579721"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核心范畴是否体现中国</a:t>
              </a:r>
            </a:p>
          </p:txBody>
        </p:sp>
        <p:sp>
          <p:nvSpPr>
            <p:cNvPr id="28" name="TextBox 28"/>
            <p:cNvSpPr txBox="1"/>
            <p:nvPr/>
          </p:nvSpPr>
          <p:spPr>
            <a:xfrm>
              <a:off x="5433536" y="3113008"/>
              <a:ext cx="1114663"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法学概念自主性</a:t>
              </a:r>
            </a:p>
          </p:txBody>
        </p:sp>
      </p:grpSp>
      <p:grpSp>
        <p:nvGrpSpPr>
          <p:cNvPr id="36" name="Group 36"/>
          <p:cNvGrpSpPr/>
          <p:nvPr/>
        </p:nvGrpSpPr>
        <p:grpSpPr>
          <a:xfrm>
            <a:off x="7429500" y="1619250"/>
            <a:ext cx="1943100" cy="2333625"/>
            <a:chOff x="7429500" y="1619250"/>
            <a:chExt cx="1943100" cy="2333625"/>
          </a:xfrm>
        </p:grpSpPr>
        <p:sp>
          <p:nvSpPr>
            <p:cNvPr id="30" name="Rectangle 30"/>
            <p:cNvSpPr/>
            <p:nvPr/>
          </p:nvSpPr>
          <p:spPr>
            <a:xfrm>
              <a:off x="7429500" y="1619250"/>
              <a:ext cx="1943100" cy="2333625"/>
            </a:xfrm>
            <a:prstGeom prst="roundRect">
              <a:avLst>
                <a:gd name="adj" fmla="val 4902"/>
              </a:avLst>
            </a:prstGeom>
            <a:solidFill>
              <a:srgbClr val="FFFFFF"/>
            </a:solidFill>
            <a:ln w="11430">
              <a:solidFill>
                <a:srgbClr val="D9DEE5"/>
              </a:solidFill>
            </a:ln>
          </p:spPr>
        </p:sp>
        <p:sp>
          <p:nvSpPr>
            <p:cNvPr id="31" name="Ellipse 31"/>
            <p:cNvSpPr/>
            <p:nvPr/>
          </p:nvSpPr>
          <p:spPr>
            <a:xfrm>
              <a:off x="8134350" y="1809750"/>
              <a:ext cx="533400" cy="533400"/>
            </a:xfrm>
            <a:prstGeom prst="ellipse">
              <a:avLst/>
            </a:prstGeom>
            <a:solidFill>
              <a:srgbClr val="C8161E"/>
            </a:solidFill>
            <a:ln>
              <a:noFill/>
            </a:ln>
          </p:spPr>
        </p:sp>
        <p:sp>
          <p:nvSpPr>
            <p:cNvPr id="32" name="TextBox 32"/>
            <p:cNvSpPr txBox="1"/>
            <p:nvPr/>
          </p:nvSpPr>
          <p:spPr>
            <a:xfrm>
              <a:off x="8293520" y="1945005"/>
              <a:ext cx="215060" cy="426720"/>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a:ea typeface="Microsoft YaHei"/>
                  <a:cs typeface="Arial"/>
                </a:rPr>
                <a:t>4</a:t>
              </a:r>
            </a:p>
          </p:txBody>
        </p:sp>
        <p:sp>
          <p:nvSpPr>
            <p:cNvPr id="33" name="TextBox 33"/>
            <p:cNvSpPr txBox="1"/>
            <p:nvPr/>
          </p:nvSpPr>
          <p:spPr>
            <a:xfrm>
              <a:off x="7571494" y="2488882"/>
              <a:ext cx="1659112" cy="335280"/>
            </a:xfrm>
            <a:prstGeom prst="rect">
              <a:avLst/>
            </a:prstGeom>
            <a:noFill/>
            <a:ln>
              <a:noFill/>
            </a:ln>
          </p:spPr>
          <p:txBody>
            <a:bodyPr wrap="none" lIns="0" tIns="0" rIns="0" bIns="0" anchor="t" anchorCtr="0">
              <a:spAutoFit/>
            </a:bodyPr>
            <a:lstStyle/>
            <a:p>
              <a:pPr algn="ctr"/>
              <a:r>
                <a:rPr lang="zh-CN" sz="1650" b="1" dirty="0">
                  <a:solidFill>
                    <a:srgbClr val="1F4D78"/>
                  </a:solidFill>
                  <a:latin typeface="Arial"/>
                  <a:ea typeface="Microsoft YaHei"/>
                  <a:cs typeface="Arial"/>
                </a:rPr>
                <a:t>解释目标归属度</a:t>
              </a:r>
            </a:p>
          </p:txBody>
        </p:sp>
        <p:sp>
          <p:nvSpPr>
            <p:cNvPr id="34" name="TextBox 34"/>
            <p:cNvSpPr txBox="1"/>
            <p:nvPr/>
          </p:nvSpPr>
          <p:spPr>
            <a:xfrm>
              <a:off x="7643336" y="2998708"/>
              <a:ext cx="1579721"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解释目标是否服务中国</a:t>
              </a:r>
            </a:p>
          </p:txBody>
        </p:sp>
        <p:sp>
          <p:nvSpPr>
            <p:cNvPr id="35" name="TextBox 35"/>
            <p:cNvSpPr txBox="1"/>
            <p:nvPr/>
          </p:nvSpPr>
          <p:spPr>
            <a:xfrm>
              <a:off x="7643336" y="3113008"/>
              <a:ext cx="1269682"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制度经验的理论化</a:t>
              </a:r>
            </a:p>
          </p:txBody>
        </p:sp>
      </p:grpSp>
      <p:grpSp>
        <p:nvGrpSpPr>
          <p:cNvPr id="43" name="Group 43"/>
          <p:cNvGrpSpPr/>
          <p:nvPr/>
        </p:nvGrpSpPr>
        <p:grpSpPr>
          <a:xfrm>
            <a:off x="9639300" y="1619250"/>
            <a:ext cx="1943100" cy="2333625"/>
            <a:chOff x="9639300" y="1619250"/>
            <a:chExt cx="1943100" cy="2333625"/>
          </a:xfrm>
        </p:grpSpPr>
        <p:sp>
          <p:nvSpPr>
            <p:cNvPr id="37" name="Rectangle 37"/>
            <p:cNvSpPr/>
            <p:nvPr/>
          </p:nvSpPr>
          <p:spPr>
            <a:xfrm>
              <a:off x="9639300" y="1619250"/>
              <a:ext cx="1943100" cy="2333625"/>
            </a:xfrm>
            <a:prstGeom prst="roundRect">
              <a:avLst>
                <a:gd name="adj" fmla="val 4902"/>
              </a:avLst>
            </a:prstGeom>
            <a:solidFill>
              <a:srgbClr val="FFFFFF"/>
            </a:solidFill>
            <a:ln w="11430">
              <a:solidFill>
                <a:srgbClr val="D9DEE5"/>
              </a:solidFill>
            </a:ln>
          </p:spPr>
        </p:sp>
        <p:sp>
          <p:nvSpPr>
            <p:cNvPr id="38" name="Ellipse 38"/>
            <p:cNvSpPr/>
            <p:nvPr/>
          </p:nvSpPr>
          <p:spPr>
            <a:xfrm>
              <a:off x="10344150" y="1809750"/>
              <a:ext cx="533400" cy="533400"/>
            </a:xfrm>
            <a:prstGeom prst="ellipse">
              <a:avLst/>
            </a:prstGeom>
            <a:solidFill>
              <a:srgbClr val="C8161E"/>
            </a:solidFill>
            <a:ln>
              <a:noFill/>
            </a:ln>
          </p:spPr>
        </p:sp>
        <p:sp>
          <p:nvSpPr>
            <p:cNvPr id="39" name="TextBox 39"/>
            <p:cNvSpPr txBox="1"/>
            <p:nvPr/>
          </p:nvSpPr>
          <p:spPr>
            <a:xfrm>
              <a:off x="10503320" y="1945005"/>
              <a:ext cx="215060" cy="426720"/>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a:ea typeface="Microsoft YaHei"/>
                  <a:cs typeface="Arial"/>
                </a:rPr>
                <a:t>5</a:t>
              </a:r>
            </a:p>
          </p:txBody>
        </p:sp>
        <p:sp>
          <p:nvSpPr>
            <p:cNvPr id="40" name="TextBox 40"/>
            <p:cNvSpPr txBox="1"/>
            <p:nvPr/>
          </p:nvSpPr>
          <p:spPr>
            <a:xfrm>
              <a:off x="10012323" y="2488882"/>
              <a:ext cx="1197054" cy="335280"/>
            </a:xfrm>
            <a:prstGeom prst="rect">
              <a:avLst/>
            </a:prstGeom>
            <a:noFill/>
            <a:ln>
              <a:noFill/>
            </a:ln>
          </p:spPr>
          <p:txBody>
            <a:bodyPr wrap="none" lIns="0" tIns="0" rIns="0" bIns="0" anchor="t" anchorCtr="0">
              <a:spAutoFit/>
            </a:bodyPr>
            <a:lstStyle/>
            <a:p>
              <a:pPr algn="ctr"/>
              <a:r>
                <a:rPr lang="zh-CN" sz="1650" b="1" dirty="0">
                  <a:solidFill>
                    <a:srgbClr val="1F4D78"/>
                  </a:solidFill>
                  <a:latin typeface="Arial"/>
                  <a:ea typeface="Microsoft YaHei"/>
                  <a:cs typeface="Arial"/>
                </a:rPr>
                <a:t>体系映射度</a:t>
              </a:r>
            </a:p>
          </p:txBody>
        </p:sp>
        <p:sp>
          <p:nvSpPr>
            <p:cNvPr id="41" name="TextBox 41"/>
            <p:cNvSpPr txBox="1"/>
            <p:nvPr/>
          </p:nvSpPr>
          <p:spPr>
            <a:xfrm>
              <a:off x="9853136" y="2998708"/>
              <a:ext cx="1579721"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成果能否映射到中国法</a:t>
              </a:r>
            </a:p>
          </p:txBody>
        </p:sp>
        <p:sp>
          <p:nvSpPr>
            <p:cNvPr id="42" name="TextBox 42"/>
            <p:cNvSpPr txBox="1"/>
            <p:nvPr/>
          </p:nvSpPr>
          <p:spPr>
            <a:xfrm>
              <a:off x="9853136" y="3113008"/>
              <a:ext cx="1114663"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学知识体系节点</a:t>
              </a:r>
            </a:p>
          </p:txBody>
        </p:sp>
      </p:grpSp>
      <p:grpSp>
        <p:nvGrpSpPr>
          <p:cNvPr id="59" name="Group 59"/>
          <p:cNvGrpSpPr/>
          <p:nvPr/>
        </p:nvGrpSpPr>
        <p:grpSpPr>
          <a:xfrm>
            <a:off x="914400" y="4400550"/>
            <a:ext cx="10363200" cy="1196578"/>
            <a:chOff x="914400" y="4400550"/>
            <a:chExt cx="10363200" cy="1196578"/>
          </a:xfrm>
        </p:grpSpPr>
        <p:sp>
          <p:nvSpPr>
            <p:cNvPr id="44" name="Rectangle 44"/>
            <p:cNvSpPr/>
            <p:nvPr/>
          </p:nvSpPr>
          <p:spPr>
            <a:xfrm>
              <a:off x="914400" y="4400550"/>
              <a:ext cx="10363200" cy="1066800"/>
            </a:xfrm>
            <a:prstGeom prst="roundRect">
              <a:avLst>
                <a:gd name="adj" fmla="val 7143"/>
              </a:avLst>
            </a:prstGeom>
            <a:solidFill>
              <a:srgbClr val="F4F5F7"/>
            </a:solidFill>
            <a:ln w="11430">
              <a:solidFill>
                <a:srgbClr val="D9DEE5"/>
              </a:solidFill>
            </a:ln>
          </p:spPr>
        </p:sp>
        <p:sp>
          <p:nvSpPr>
            <p:cNvPr id="45" name="TextBox 45"/>
            <p:cNvSpPr txBox="1"/>
            <p:nvPr/>
          </p:nvSpPr>
          <p:spPr>
            <a:xfrm>
              <a:off x="1160145" y="4565332"/>
              <a:ext cx="96602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评分锚点</a:t>
              </a:r>
            </a:p>
          </p:txBody>
        </p:sp>
        <p:sp>
          <p:nvSpPr>
            <p:cNvPr id="46" name="Rectangle 46"/>
            <p:cNvSpPr/>
            <p:nvPr/>
          </p:nvSpPr>
          <p:spPr>
            <a:xfrm>
              <a:off x="2571750" y="4591050"/>
              <a:ext cx="819150" cy="323850"/>
            </a:xfrm>
            <a:prstGeom prst="roundRect">
              <a:avLst>
                <a:gd name="adj" fmla="val 50000"/>
              </a:avLst>
            </a:prstGeom>
            <a:solidFill>
              <a:srgbClr val="1F4D78">
                <a:alpha val="14000"/>
              </a:srgbClr>
            </a:solidFill>
            <a:ln>
              <a:noFill/>
            </a:ln>
          </p:spPr>
        </p:sp>
        <p:sp>
          <p:nvSpPr>
            <p:cNvPr id="47" name="TextBox 47"/>
            <p:cNvSpPr txBox="1"/>
            <p:nvPr/>
          </p:nvSpPr>
          <p:spPr>
            <a:xfrm>
              <a:off x="2799999" y="4672489"/>
              <a:ext cx="362651" cy="259080"/>
            </a:xfrm>
            <a:prstGeom prst="rect">
              <a:avLst/>
            </a:prstGeom>
            <a:noFill/>
            <a:ln>
              <a:noFill/>
            </a:ln>
          </p:spPr>
          <p:txBody>
            <a:bodyPr wrap="none" lIns="0" tIns="0" rIns="0" bIns="0" anchor="t" anchorCtr="0">
              <a:spAutoFit/>
            </a:bodyPr>
            <a:lstStyle/>
            <a:p>
              <a:pPr algn="ctr"/>
              <a:r>
                <a:rPr lang="zh-CN" sz="1275" b="1" dirty="0">
                  <a:solidFill>
                    <a:srgbClr val="1F4D78"/>
                  </a:solidFill>
                  <a:latin typeface="Arial"/>
                  <a:ea typeface="Microsoft YaHei"/>
                  <a:cs typeface="Arial"/>
                </a:rPr>
                <a:t>0 分</a:t>
              </a:r>
            </a:p>
          </p:txBody>
        </p:sp>
        <p:sp>
          <p:nvSpPr>
            <p:cNvPr id="48" name="TextBox 48"/>
            <p:cNvSpPr txBox="1"/>
            <p:nvPr/>
          </p:nvSpPr>
          <p:spPr>
            <a:xfrm>
              <a:off x="2556986" y="5018008"/>
              <a:ext cx="1424702"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缺乏该轴归属，难以</a:t>
              </a:r>
            </a:p>
          </p:txBody>
        </p:sp>
        <p:sp>
          <p:nvSpPr>
            <p:cNvPr id="49" name="TextBox 49"/>
            <p:cNvSpPr txBox="1"/>
            <p:nvPr/>
          </p:nvSpPr>
          <p:spPr>
            <a:xfrm>
              <a:off x="2556986" y="5189458"/>
              <a:ext cx="1269682"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进入知识体系画像</a:t>
              </a:r>
            </a:p>
          </p:txBody>
        </p:sp>
        <p:sp>
          <p:nvSpPr>
            <p:cNvPr id="50" name="Rectangle 50"/>
            <p:cNvSpPr/>
            <p:nvPr/>
          </p:nvSpPr>
          <p:spPr>
            <a:xfrm>
              <a:off x="5429250" y="4591050"/>
              <a:ext cx="819150" cy="323850"/>
            </a:xfrm>
            <a:prstGeom prst="roundRect">
              <a:avLst>
                <a:gd name="adj" fmla="val 50000"/>
              </a:avLst>
            </a:prstGeom>
            <a:solidFill>
              <a:srgbClr val="1F4D78">
                <a:alpha val="14000"/>
              </a:srgbClr>
            </a:solidFill>
            <a:ln>
              <a:noFill/>
            </a:ln>
          </p:spPr>
        </p:sp>
        <p:sp>
          <p:nvSpPr>
            <p:cNvPr id="51" name="TextBox 51"/>
            <p:cNvSpPr txBox="1"/>
            <p:nvPr/>
          </p:nvSpPr>
          <p:spPr>
            <a:xfrm>
              <a:off x="5679815" y="4672489"/>
              <a:ext cx="318021" cy="259080"/>
            </a:xfrm>
            <a:prstGeom prst="rect">
              <a:avLst/>
            </a:prstGeom>
            <a:noFill/>
            <a:ln>
              <a:noFill/>
            </a:ln>
          </p:spPr>
          <p:txBody>
            <a:bodyPr wrap="none" lIns="0" tIns="0" rIns="0" bIns="0" anchor="t" anchorCtr="0">
              <a:spAutoFit/>
            </a:bodyPr>
            <a:lstStyle/>
            <a:p>
              <a:pPr algn="ctr"/>
              <a:r>
                <a:rPr lang="zh-CN" sz="1275" b="1" dirty="0">
                  <a:solidFill>
                    <a:srgbClr val="1F4D78"/>
                  </a:solidFill>
                  <a:latin typeface="Arial"/>
                  <a:ea typeface="Microsoft YaHei"/>
                  <a:cs typeface="Arial"/>
                </a:rPr>
                <a:t>1 分</a:t>
              </a:r>
            </a:p>
          </p:txBody>
        </p:sp>
        <p:sp>
          <p:nvSpPr>
            <p:cNvPr id="52" name="TextBox 52"/>
            <p:cNvSpPr txBox="1"/>
            <p:nvPr/>
          </p:nvSpPr>
          <p:spPr>
            <a:xfrm>
              <a:off x="5414486" y="5018008"/>
              <a:ext cx="1424702"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存在有限关联，但证</a:t>
              </a:r>
            </a:p>
          </p:txBody>
        </p:sp>
        <p:sp>
          <p:nvSpPr>
            <p:cNvPr id="53" name="TextBox 53"/>
            <p:cNvSpPr txBox="1"/>
            <p:nvPr/>
          </p:nvSpPr>
          <p:spPr>
            <a:xfrm>
              <a:off x="5414486" y="5189458"/>
              <a:ext cx="1269682"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据或理论转化不足</a:t>
              </a:r>
            </a:p>
          </p:txBody>
        </p:sp>
        <p:sp>
          <p:nvSpPr>
            <p:cNvPr id="54" name="Rectangle 54"/>
            <p:cNvSpPr/>
            <p:nvPr/>
          </p:nvSpPr>
          <p:spPr>
            <a:xfrm>
              <a:off x="8286750" y="4591050"/>
              <a:ext cx="819150" cy="323850"/>
            </a:xfrm>
            <a:prstGeom prst="roundRect">
              <a:avLst>
                <a:gd name="adj" fmla="val 50000"/>
              </a:avLst>
            </a:prstGeom>
            <a:solidFill>
              <a:srgbClr val="C8161E">
                <a:alpha val="14000"/>
              </a:srgbClr>
            </a:solidFill>
            <a:ln>
              <a:noFill/>
            </a:ln>
          </p:spPr>
        </p:sp>
        <p:sp>
          <p:nvSpPr>
            <p:cNvPr id="55" name="TextBox 55"/>
            <p:cNvSpPr txBox="1"/>
            <p:nvPr/>
          </p:nvSpPr>
          <p:spPr>
            <a:xfrm>
              <a:off x="8514999" y="4672489"/>
              <a:ext cx="362651" cy="259080"/>
            </a:xfrm>
            <a:prstGeom prst="rect">
              <a:avLst/>
            </a:prstGeom>
            <a:noFill/>
            <a:ln>
              <a:noFill/>
            </a:ln>
          </p:spPr>
          <p:txBody>
            <a:bodyPr wrap="none" lIns="0" tIns="0" rIns="0" bIns="0" anchor="t" anchorCtr="0">
              <a:spAutoFit/>
            </a:bodyPr>
            <a:lstStyle/>
            <a:p>
              <a:pPr algn="ctr"/>
              <a:r>
                <a:rPr lang="zh-CN" sz="1275" b="1" dirty="0">
                  <a:solidFill>
                    <a:srgbClr val="C8161E"/>
                  </a:solidFill>
                  <a:latin typeface="Arial"/>
                  <a:ea typeface="Microsoft YaHei"/>
                  <a:cs typeface="Arial"/>
                </a:rPr>
                <a:t>2 分</a:t>
              </a:r>
            </a:p>
          </p:txBody>
        </p:sp>
        <p:sp>
          <p:nvSpPr>
            <p:cNvPr id="56" name="TextBox 56"/>
            <p:cNvSpPr txBox="1"/>
            <p:nvPr/>
          </p:nvSpPr>
          <p:spPr>
            <a:xfrm>
              <a:off x="8271986" y="5018008"/>
              <a:ext cx="1424702"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归属明确，能够形成</a:t>
              </a:r>
            </a:p>
          </p:txBody>
        </p:sp>
        <p:sp>
          <p:nvSpPr>
            <p:cNvPr id="57" name="TextBox 57"/>
            <p:cNvSpPr txBox="1"/>
            <p:nvPr/>
          </p:nvSpPr>
          <p:spPr>
            <a:xfrm>
              <a:off x="8271986" y="5189458"/>
              <a:ext cx="1424702"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可复核的知识体系位</a:t>
              </a:r>
            </a:p>
          </p:txBody>
        </p:sp>
        <p:sp>
          <p:nvSpPr>
            <p:cNvPr id="58" name="TextBox 58"/>
            <p:cNvSpPr txBox="1"/>
            <p:nvPr/>
          </p:nvSpPr>
          <p:spPr>
            <a:xfrm>
              <a:off x="8271986" y="5360908"/>
              <a:ext cx="184547" cy="236220"/>
            </a:xfrm>
            <a:prstGeom prst="rect">
              <a:avLst/>
            </a:prstGeom>
            <a:noFill/>
            <a:ln>
              <a:noFill/>
            </a:ln>
          </p:spPr>
          <p:txBody>
            <a:bodyPr wrap="none" lIns="0" tIns="0" rIns="0" bIns="0" anchor="t" anchorCtr="0">
              <a:spAutoFit/>
            </a:bodyPr>
            <a:lstStyle/>
            <a:p>
              <a:pPr algn="l"/>
              <a:r>
                <a:rPr lang="zh-CN" sz="1162" dirty="0">
                  <a:solidFill>
                    <a:srgbClr val="5A6472"/>
                  </a:solidFill>
                  <a:latin typeface="Arial"/>
                  <a:ea typeface="Microsoft YaHei"/>
                  <a:cs typeface="Arial"/>
                </a:rPr>
                <a:t>置</a:t>
              </a:r>
            </a:p>
          </p:txBody>
        </p:sp>
      </p:grpSp>
      <p:sp>
        <p:nvSpPr>
          <p:cNvPr id="60" name="Rectangle 60"/>
          <p:cNvSpPr/>
          <p:nvPr/>
        </p:nvSpPr>
        <p:spPr>
          <a:xfrm>
            <a:off x="914400" y="5715000"/>
            <a:ext cx="10363200" cy="438150"/>
          </a:xfrm>
          <a:prstGeom prst="roundRect">
            <a:avLst>
              <a:gd name="adj" fmla="val 17391"/>
            </a:avLst>
          </a:prstGeom>
          <a:solidFill>
            <a:srgbClr val="E8F5E9"/>
          </a:solidFill>
          <a:ln w="9525">
            <a:solidFill>
              <a:srgbClr val="D9DEE5"/>
            </a:solidFill>
          </a:ln>
        </p:spPr>
      </p:sp>
      <p:sp>
        <p:nvSpPr>
          <p:cNvPr id="61" name="TextBox 61"/>
          <p:cNvSpPr txBox="1"/>
          <p:nvPr/>
        </p:nvSpPr>
        <p:spPr>
          <a:xfrm>
            <a:off x="2122716" y="5849593"/>
            <a:ext cx="7946567" cy="284531"/>
          </a:xfrm>
          <a:prstGeom prst="rect">
            <a:avLst/>
          </a:prstGeom>
          <a:noFill/>
          <a:ln>
            <a:noFill/>
          </a:ln>
        </p:spPr>
        <p:txBody>
          <a:bodyPr wrap="none" lIns="0" tIns="0" rIns="0" bIns="0" anchor="t" anchorCtr="0">
            <a:spAutoFit/>
          </a:bodyPr>
          <a:lstStyle/>
          <a:p>
            <a:pPr algn="ctr"/>
            <a:r>
              <a:rPr lang="zh-CN" sz="1400" b="1" dirty="0">
                <a:solidFill>
                  <a:srgbClr val="1B1C21"/>
                </a:solidFill>
                <a:latin typeface="Arial"/>
                <a:ea typeface="Microsoft YaHei"/>
                <a:cs typeface="Arial"/>
              </a:rPr>
              <a:t>Top50 先限定五轴 10 分论文；9 分仅在学科代表性、年度覆盖或专家判断需要时择优补入。</a:t>
            </a:r>
          </a:p>
        </p:txBody>
      </p:sp>
      <p:grpSp>
        <p:nvGrpSpPr>
          <p:cNvPr id="65" name="Group 65"/>
          <p:cNvGrpSpPr/>
          <p:nvPr/>
        </p:nvGrpSpPr>
        <p:grpSpPr>
          <a:xfrm>
            <a:off x="0" y="6516343"/>
            <a:ext cx="12192000" cy="341657"/>
            <a:chOff x="0" y="6516343"/>
            <a:chExt cx="12192000" cy="341657"/>
          </a:xfrm>
        </p:grpSpPr>
        <p:sp>
          <p:nvSpPr>
            <p:cNvPr id="62" name="Rectangle 62"/>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63" name="TextBox 63"/>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64" name="TextBox 64"/>
            <p:cNvSpPr txBox="1"/>
            <p:nvPr/>
          </p:nvSpPr>
          <p:spPr>
            <a:xfrm>
              <a:off x="11329702" y="6516343"/>
              <a:ext cx="194281"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slide(fromBottom)">
                                      <p:cBhvr>
                                        <p:cTn id="11" dur="400"/>
                                        <p:tgtEl>
                                          <p:spTgt spid="22"/>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image">
                                      <p:cBhvr>
                                        <p:cTn id="15" dur="400"/>
                                        <p:tgtEl>
                                          <p:spTgt spid="29"/>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400"/>
                                        <p:tgtEl>
                                          <p:spTgt spid="36"/>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wipe(left)">
                                      <p:cBhvr>
                                        <p:cTn id="23" dur="400"/>
                                        <p:tgtEl>
                                          <p:spTgt spid="43"/>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slide(fromBottom)">
                                      <p:cBhvr>
                                        <p:cTn id="27"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2" grpId="0"/>
      <p:bldP spid="29" grpId="0"/>
      <p:bldP spid="36" grpId="0"/>
      <p:bldP spid="43" grpId="0"/>
      <p:bldP spid="5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5167296"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六类典型风险标记与真实案例</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0" name="Group 10"/>
          <p:cNvGrpSpPr/>
          <p:nvPr/>
        </p:nvGrpSpPr>
        <p:grpSpPr>
          <a:xfrm>
            <a:off x="685800" y="1123950"/>
            <a:ext cx="10820400" cy="419100"/>
            <a:chOff x="685800" y="1123950"/>
            <a:chExt cx="10820400" cy="419100"/>
          </a:xfrm>
        </p:grpSpPr>
        <p:sp>
          <p:nvSpPr>
            <p:cNvPr id="8" name="Rectangle 8"/>
            <p:cNvSpPr/>
            <p:nvPr/>
          </p:nvSpPr>
          <p:spPr>
            <a:xfrm>
              <a:off x="685800" y="1123950"/>
              <a:ext cx="10820400" cy="419100"/>
            </a:xfrm>
            <a:prstGeom prst="roundRect">
              <a:avLst>
                <a:gd name="adj" fmla="val 18182"/>
              </a:avLst>
            </a:prstGeom>
            <a:solidFill>
              <a:srgbClr val="FFF8F0"/>
            </a:solidFill>
            <a:ln w="14288">
              <a:solidFill>
                <a:srgbClr val="E07B00"/>
              </a:solidFill>
            </a:ln>
          </p:spPr>
        </p:sp>
        <p:sp>
          <p:nvSpPr>
            <p:cNvPr id="9" name="TextBox 9"/>
            <p:cNvSpPr txBox="1"/>
            <p:nvPr/>
          </p:nvSpPr>
          <p:spPr>
            <a:xfrm>
              <a:off x="2208376" y="1239493"/>
              <a:ext cx="7775249"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来源：v0.16 规程 §5.4 | 不是第 7 个评分维度，而是特征提取信号——标记论文供专家优先复核</a:t>
              </a:r>
            </a:p>
          </p:txBody>
        </p:sp>
      </p:grpSp>
      <p:grpSp>
        <p:nvGrpSpPr>
          <p:cNvPr id="18" name="Group 18"/>
          <p:cNvGrpSpPr/>
          <p:nvPr/>
        </p:nvGrpSpPr>
        <p:grpSpPr>
          <a:xfrm>
            <a:off x="685800" y="1714500"/>
            <a:ext cx="5257800" cy="1409700"/>
            <a:chOff x="685800" y="1714500"/>
            <a:chExt cx="5257800" cy="1409700"/>
          </a:xfrm>
        </p:grpSpPr>
        <p:sp>
          <p:nvSpPr>
            <p:cNvPr id="11" name="Rectangle 11"/>
            <p:cNvSpPr/>
            <p:nvPr/>
          </p:nvSpPr>
          <p:spPr>
            <a:xfrm>
              <a:off x="685800" y="1714500"/>
              <a:ext cx="5257800" cy="1409700"/>
            </a:xfrm>
            <a:prstGeom prst="roundRect">
              <a:avLst>
                <a:gd name="adj" fmla="val 5405"/>
              </a:avLst>
            </a:prstGeom>
            <a:solidFill>
              <a:srgbClr val="FFFFFF"/>
            </a:solidFill>
            <a:ln w="14288">
              <a:solidFill>
                <a:srgbClr val="C8161E"/>
              </a:solidFill>
            </a:ln>
          </p:spPr>
        </p:sp>
        <p:sp>
          <p:nvSpPr>
            <p:cNvPr id="12" name="Rectangle 12"/>
            <p:cNvSpPr/>
            <p:nvPr/>
          </p:nvSpPr>
          <p:spPr>
            <a:xfrm>
              <a:off x="685800" y="1714500"/>
              <a:ext cx="57150" cy="1409700"/>
            </a:xfrm>
            <a:prstGeom prst="roundRect">
              <a:avLst>
                <a:gd name="adj" fmla="val 50000"/>
              </a:avLst>
            </a:prstGeom>
            <a:solidFill>
              <a:srgbClr val="C8161E"/>
            </a:solidFill>
            <a:ln>
              <a:noFill/>
            </a:ln>
          </p:spPr>
        </p:sp>
        <p:sp>
          <p:nvSpPr>
            <p:cNvPr id="13" name="TextBox 13"/>
            <p:cNvSpPr txBox="1"/>
            <p:nvPr/>
          </p:nvSpPr>
          <p:spPr>
            <a:xfrm>
              <a:off x="970283" y="1846607"/>
              <a:ext cx="2314163" cy="325069"/>
            </a:xfrm>
            <a:prstGeom prst="rect">
              <a:avLst/>
            </a:prstGeom>
            <a:noFill/>
            <a:ln>
              <a:noFill/>
            </a:ln>
          </p:spPr>
          <p:txBody>
            <a:bodyPr wrap="none" lIns="0" tIns="0" rIns="0" bIns="0" anchor="t" anchorCtr="0">
              <a:spAutoFit/>
            </a:bodyPr>
            <a:lstStyle/>
            <a:p>
              <a:pPr algn="l"/>
              <a:r>
                <a:rPr lang="zh-CN" sz="1600" b="1" dirty="0">
                  <a:solidFill>
                    <a:srgbClr val="C8161E"/>
                  </a:solidFill>
                  <a:latin typeface="Arial"/>
                  <a:ea typeface="Microsoft YaHei"/>
                  <a:cs typeface="Arial"/>
                </a:rPr>
                <a:t>#1 直接移植无语境转化</a:t>
              </a:r>
            </a:p>
          </p:txBody>
        </p:sp>
        <p:sp>
          <p:nvSpPr>
            <p:cNvPr id="14" name="TextBox 14"/>
            <p:cNvSpPr txBox="1"/>
            <p:nvPr/>
          </p:nvSpPr>
          <p:spPr>
            <a:xfrm>
              <a:off x="975360" y="2156460"/>
              <a:ext cx="1422654"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触发 30 次（最高）</a:t>
              </a:r>
            </a:p>
          </p:txBody>
        </p:sp>
        <p:sp>
          <p:nvSpPr>
            <p:cNvPr id="15" name="TextBox 15"/>
            <p:cNvSpPr txBox="1"/>
            <p:nvPr/>
          </p:nvSpPr>
          <p:spPr>
            <a:xfrm>
              <a:off x="975360" y="2423160"/>
              <a:ext cx="3230880"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大量借鉴外部理论但未说明如何适应中国语境</a:t>
              </a:r>
            </a:p>
          </p:txBody>
        </p:sp>
        <p:sp>
          <p:nvSpPr>
            <p:cNvPr id="16" name="TextBox 16"/>
            <p:cNvSpPr txBox="1"/>
            <p:nvPr/>
          </p:nvSpPr>
          <p:spPr>
            <a:xfrm>
              <a:off x="977265" y="2706052"/>
              <a:ext cx="3401092"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案例：陈璇《过失犯远因溯责》——借鉴德日理论但已做</a:t>
              </a:r>
            </a:p>
          </p:txBody>
        </p:sp>
        <p:sp>
          <p:nvSpPr>
            <p:cNvPr id="17" name="TextBox 17"/>
            <p:cNvSpPr txBox="1"/>
            <p:nvPr/>
          </p:nvSpPr>
          <p:spPr>
            <a:xfrm>
              <a:off x="977265" y="2896552"/>
              <a:ext cx="3058049" cy="213360"/>
            </a:xfrm>
            <a:prstGeom prst="rect">
              <a:avLst/>
            </a:prstGeom>
            <a:noFill/>
            <a:ln>
              <a:noFill/>
            </a:ln>
          </p:spPr>
          <p:txBody>
            <a:bodyPr wrap="none" lIns="0" tIns="0" rIns="0" bIns="0" anchor="t" anchorCtr="0">
              <a:spAutoFit/>
            </a:bodyPr>
            <a:lstStyle/>
            <a:p>
              <a:pPr algn="l"/>
              <a:r>
                <a:rPr lang="zh-CN" sz="1050" dirty="0">
                  <a:solidFill>
                    <a:srgbClr val="2E7D32"/>
                  </a:solidFill>
                  <a:latin typeface="Arial"/>
                  <a:ea typeface="Microsoft YaHei"/>
                  <a:cs typeface="Arial"/>
                </a:rPr>
                <a:t>本土转化，属误报验证（标记→验证→确认/排除）</a:t>
              </a:r>
            </a:p>
          </p:txBody>
        </p:sp>
      </p:grpSp>
      <p:grpSp>
        <p:nvGrpSpPr>
          <p:cNvPr id="26" name="Group 26"/>
          <p:cNvGrpSpPr/>
          <p:nvPr/>
        </p:nvGrpSpPr>
        <p:grpSpPr>
          <a:xfrm>
            <a:off x="6248400" y="1714500"/>
            <a:ext cx="5257800" cy="1409700"/>
            <a:chOff x="6248400" y="1714500"/>
            <a:chExt cx="5257800" cy="1409700"/>
          </a:xfrm>
        </p:grpSpPr>
        <p:sp>
          <p:nvSpPr>
            <p:cNvPr id="19" name="Rectangle 19"/>
            <p:cNvSpPr/>
            <p:nvPr/>
          </p:nvSpPr>
          <p:spPr>
            <a:xfrm>
              <a:off x="6248400" y="1714500"/>
              <a:ext cx="5257800" cy="1409700"/>
            </a:xfrm>
            <a:prstGeom prst="roundRect">
              <a:avLst>
                <a:gd name="adj" fmla="val 5405"/>
              </a:avLst>
            </a:prstGeom>
            <a:solidFill>
              <a:srgbClr val="FFFFFF"/>
            </a:solidFill>
            <a:ln w="14288">
              <a:solidFill>
                <a:srgbClr val="E07B00"/>
              </a:solidFill>
            </a:ln>
          </p:spPr>
        </p:sp>
        <p:sp>
          <p:nvSpPr>
            <p:cNvPr id="20" name="Rectangle 20"/>
            <p:cNvSpPr/>
            <p:nvPr/>
          </p:nvSpPr>
          <p:spPr>
            <a:xfrm>
              <a:off x="6248400" y="1714500"/>
              <a:ext cx="57150" cy="1409700"/>
            </a:xfrm>
            <a:prstGeom prst="roundRect">
              <a:avLst>
                <a:gd name="adj" fmla="val 50000"/>
              </a:avLst>
            </a:prstGeom>
            <a:solidFill>
              <a:srgbClr val="E07B00"/>
            </a:solidFill>
            <a:ln>
              <a:noFill/>
            </a:ln>
          </p:spPr>
        </p:sp>
        <p:sp>
          <p:nvSpPr>
            <p:cNvPr id="21" name="TextBox 21"/>
            <p:cNvSpPr txBox="1"/>
            <p:nvPr/>
          </p:nvSpPr>
          <p:spPr>
            <a:xfrm>
              <a:off x="6532883" y="1846607"/>
              <a:ext cx="2146168" cy="325069"/>
            </a:xfrm>
            <a:prstGeom prst="rect">
              <a:avLst/>
            </a:prstGeom>
            <a:noFill/>
            <a:ln>
              <a:noFill/>
            </a:ln>
          </p:spPr>
          <p:txBody>
            <a:bodyPr wrap="none" lIns="0" tIns="0" rIns="0" bIns="0" anchor="t" anchorCtr="0">
              <a:spAutoFit/>
            </a:bodyPr>
            <a:lstStyle/>
            <a:p>
              <a:pPr algn="l"/>
              <a:r>
                <a:rPr lang="zh-CN" sz="1600" b="1" dirty="0">
                  <a:solidFill>
                    <a:srgbClr val="E07B00"/>
                  </a:solidFill>
                  <a:latin typeface="Arial"/>
                  <a:ea typeface="Microsoft YaHei"/>
                  <a:cs typeface="Arial"/>
                </a:rPr>
                <a:t>#2 中国材料仅作背景</a:t>
              </a:r>
            </a:p>
          </p:txBody>
        </p:sp>
        <p:sp>
          <p:nvSpPr>
            <p:cNvPr id="22" name="TextBox 22"/>
            <p:cNvSpPr txBox="1"/>
            <p:nvPr/>
          </p:nvSpPr>
          <p:spPr>
            <a:xfrm>
              <a:off x="6537960" y="2156460"/>
              <a:ext cx="782574"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触发 22 次</a:t>
              </a:r>
            </a:p>
          </p:txBody>
        </p:sp>
        <p:sp>
          <p:nvSpPr>
            <p:cNvPr id="23" name="TextBox 23"/>
            <p:cNvSpPr txBox="1"/>
            <p:nvPr/>
          </p:nvSpPr>
          <p:spPr>
            <a:xfrm>
              <a:off x="6537960" y="2423160"/>
              <a:ext cx="3230880"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中国数据、案例仅作事实背景，未进入论证链</a:t>
              </a:r>
            </a:p>
          </p:txBody>
        </p:sp>
        <p:sp>
          <p:nvSpPr>
            <p:cNvPr id="24" name="TextBox 24"/>
            <p:cNvSpPr txBox="1"/>
            <p:nvPr/>
          </p:nvSpPr>
          <p:spPr>
            <a:xfrm>
              <a:off x="6539865" y="2706052"/>
              <a:ext cx="3401092"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案例：丁勇《公司决议瑕疵立法》——中国公司治理材料</a:t>
              </a:r>
            </a:p>
          </p:txBody>
        </p:sp>
        <p:sp>
          <p:nvSpPr>
            <p:cNvPr id="25" name="TextBox 25"/>
            <p:cNvSpPr txBox="1"/>
            <p:nvPr/>
          </p:nvSpPr>
          <p:spPr>
            <a:xfrm>
              <a:off x="6539865" y="2896552"/>
              <a:ext cx="866775"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仅为事实背景</a:t>
              </a:r>
            </a:p>
          </p:txBody>
        </p:sp>
      </p:grpSp>
      <p:grpSp>
        <p:nvGrpSpPr>
          <p:cNvPr id="34" name="Group 34"/>
          <p:cNvGrpSpPr/>
          <p:nvPr/>
        </p:nvGrpSpPr>
        <p:grpSpPr>
          <a:xfrm>
            <a:off x="685800" y="3276600"/>
            <a:ext cx="5257800" cy="1409700"/>
            <a:chOff x="685800" y="3276600"/>
            <a:chExt cx="5257800" cy="1409700"/>
          </a:xfrm>
        </p:grpSpPr>
        <p:sp>
          <p:nvSpPr>
            <p:cNvPr id="27" name="Rectangle 27"/>
            <p:cNvSpPr/>
            <p:nvPr/>
          </p:nvSpPr>
          <p:spPr>
            <a:xfrm>
              <a:off x="685800" y="3276600"/>
              <a:ext cx="5257800" cy="1409700"/>
            </a:xfrm>
            <a:prstGeom prst="roundRect">
              <a:avLst>
                <a:gd name="adj" fmla="val 5405"/>
              </a:avLst>
            </a:prstGeom>
            <a:solidFill>
              <a:srgbClr val="FFFFFF"/>
            </a:solidFill>
            <a:ln w="14288">
              <a:solidFill>
                <a:srgbClr val="E07B00"/>
              </a:solidFill>
            </a:ln>
          </p:spPr>
        </p:sp>
        <p:sp>
          <p:nvSpPr>
            <p:cNvPr id="28" name="Rectangle 28"/>
            <p:cNvSpPr/>
            <p:nvPr/>
          </p:nvSpPr>
          <p:spPr>
            <a:xfrm>
              <a:off x="685800" y="3276600"/>
              <a:ext cx="57150" cy="1409700"/>
            </a:xfrm>
            <a:prstGeom prst="roundRect">
              <a:avLst>
                <a:gd name="adj" fmla="val 50000"/>
              </a:avLst>
            </a:prstGeom>
            <a:solidFill>
              <a:srgbClr val="E07B00"/>
            </a:solidFill>
            <a:ln>
              <a:noFill/>
            </a:ln>
          </p:spPr>
        </p:sp>
        <p:sp>
          <p:nvSpPr>
            <p:cNvPr id="29" name="TextBox 29"/>
            <p:cNvSpPr txBox="1"/>
            <p:nvPr/>
          </p:nvSpPr>
          <p:spPr>
            <a:xfrm>
              <a:off x="970283" y="3408707"/>
              <a:ext cx="3042140" cy="325069"/>
            </a:xfrm>
            <a:prstGeom prst="rect">
              <a:avLst/>
            </a:prstGeom>
            <a:noFill/>
            <a:ln>
              <a:noFill/>
            </a:ln>
          </p:spPr>
          <p:txBody>
            <a:bodyPr wrap="none" lIns="0" tIns="0" rIns="0" bIns="0" anchor="t" anchorCtr="0">
              <a:spAutoFit/>
            </a:bodyPr>
            <a:lstStyle/>
            <a:p>
              <a:pPr algn="l"/>
              <a:r>
                <a:rPr lang="zh-CN" sz="1600" b="1" dirty="0">
                  <a:solidFill>
                    <a:srgbClr val="E07B00"/>
                  </a:solidFill>
                  <a:latin typeface="Arial"/>
                  <a:ea typeface="Microsoft YaHei"/>
                  <a:cs typeface="Arial"/>
                </a:rPr>
                <a:t>#3 标识性概念膨胀无法学论证</a:t>
              </a:r>
            </a:p>
          </p:txBody>
        </p:sp>
        <p:sp>
          <p:nvSpPr>
            <p:cNvPr id="30" name="TextBox 30"/>
            <p:cNvSpPr txBox="1"/>
            <p:nvPr/>
          </p:nvSpPr>
          <p:spPr>
            <a:xfrm>
              <a:off x="975360" y="3718560"/>
              <a:ext cx="742569"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触发 17 次</a:t>
              </a:r>
            </a:p>
          </p:txBody>
        </p:sp>
        <p:sp>
          <p:nvSpPr>
            <p:cNvPr id="31" name="TextBox 31"/>
            <p:cNvSpPr txBox="1"/>
            <p:nvPr/>
          </p:nvSpPr>
          <p:spPr>
            <a:xfrm>
              <a:off x="975360" y="3985260"/>
              <a:ext cx="4223004"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密集使用"中国特色""自主知识体系"，但无可定位法学问题</a:t>
              </a:r>
            </a:p>
          </p:txBody>
        </p:sp>
        <p:sp>
          <p:nvSpPr>
            <p:cNvPr id="32" name="TextBox 32"/>
            <p:cNvSpPr txBox="1"/>
            <p:nvPr/>
          </p:nvSpPr>
          <p:spPr>
            <a:xfrm>
              <a:off x="977265" y="4268152"/>
              <a:ext cx="3401092"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案例：马长山《数字法学的理论表达》——勾勒宏观趋势</a:t>
              </a:r>
            </a:p>
          </p:txBody>
        </p:sp>
        <p:sp>
          <p:nvSpPr>
            <p:cNvPr id="33" name="TextBox 33"/>
            <p:cNvSpPr txBox="1"/>
            <p:nvPr/>
          </p:nvSpPr>
          <p:spPr>
            <a:xfrm>
              <a:off x="977265" y="4458652"/>
              <a:ext cx="1566863"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但未产出可验证法学命题</a:t>
              </a:r>
            </a:p>
          </p:txBody>
        </p:sp>
      </p:grpSp>
      <p:grpSp>
        <p:nvGrpSpPr>
          <p:cNvPr id="42" name="Group 42"/>
          <p:cNvGrpSpPr/>
          <p:nvPr/>
        </p:nvGrpSpPr>
        <p:grpSpPr>
          <a:xfrm>
            <a:off x="6248400" y="3276600"/>
            <a:ext cx="5257800" cy="1409700"/>
            <a:chOff x="6248400" y="3276600"/>
            <a:chExt cx="5257800" cy="1409700"/>
          </a:xfrm>
        </p:grpSpPr>
        <p:sp>
          <p:nvSpPr>
            <p:cNvPr id="35" name="Rectangle 35"/>
            <p:cNvSpPr/>
            <p:nvPr/>
          </p:nvSpPr>
          <p:spPr>
            <a:xfrm>
              <a:off x="6248400" y="3276600"/>
              <a:ext cx="5257800" cy="1409700"/>
            </a:xfrm>
            <a:prstGeom prst="roundRect">
              <a:avLst>
                <a:gd name="adj" fmla="val 5405"/>
              </a:avLst>
            </a:prstGeom>
            <a:solidFill>
              <a:srgbClr val="FFFFFF"/>
            </a:solidFill>
            <a:ln w="14288">
              <a:solidFill>
                <a:srgbClr val="1F4D78"/>
              </a:solidFill>
            </a:ln>
          </p:spPr>
        </p:sp>
        <p:sp>
          <p:nvSpPr>
            <p:cNvPr id="36" name="Rectangle 36"/>
            <p:cNvSpPr/>
            <p:nvPr/>
          </p:nvSpPr>
          <p:spPr>
            <a:xfrm>
              <a:off x="6248400" y="3276600"/>
              <a:ext cx="57150" cy="1409700"/>
            </a:xfrm>
            <a:prstGeom prst="roundRect">
              <a:avLst>
                <a:gd name="adj" fmla="val 50000"/>
              </a:avLst>
            </a:prstGeom>
            <a:solidFill>
              <a:srgbClr val="1F4D78"/>
            </a:solidFill>
            <a:ln>
              <a:noFill/>
            </a:ln>
          </p:spPr>
        </p:sp>
        <p:sp>
          <p:nvSpPr>
            <p:cNvPr id="37" name="TextBox 37"/>
            <p:cNvSpPr txBox="1"/>
            <p:nvPr/>
          </p:nvSpPr>
          <p:spPr>
            <a:xfrm>
              <a:off x="6532883" y="3408707"/>
              <a:ext cx="2370161"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#4 政策复述无法学命题</a:t>
              </a:r>
            </a:p>
          </p:txBody>
        </p:sp>
        <p:sp>
          <p:nvSpPr>
            <p:cNvPr id="38" name="TextBox 38"/>
            <p:cNvSpPr txBox="1"/>
            <p:nvPr/>
          </p:nvSpPr>
          <p:spPr>
            <a:xfrm>
              <a:off x="6537960" y="3718560"/>
              <a:ext cx="742569"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触发 14 次</a:t>
              </a:r>
            </a:p>
          </p:txBody>
        </p:sp>
        <p:sp>
          <p:nvSpPr>
            <p:cNvPr id="39" name="TextBox 39"/>
            <p:cNvSpPr txBox="1"/>
            <p:nvPr/>
          </p:nvSpPr>
          <p:spPr>
            <a:xfrm>
              <a:off x="6537960" y="3985260"/>
              <a:ext cx="2590800"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复述政策但未形成可争辩的法学命题</a:t>
              </a:r>
            </a:p>
          </p:txBody>
        </p:sp>
        <p:sp>
          <p:nvSpPr>
            <p:cNvPr id="40" name="TextBox 40"/>
            <p:cNvSpPr txBox="1"/>
            <p:nvPr/>
          </p:nvSpPr>
          <p:spPr>
            <a:xfrm>
              <a:off x="6539865" y="4268152"/>
              <a:ext cx="3114056"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案例：paper-083——宏观政治叙事密集，缺乏具体</a:t>
              </a:r>
            </a:p>
          </p:txBody>
        </p:sp>
        <p:sp>
          <p:nvSpPr>
            <p:cNvPr id="41" name="TextBox 41"/>
            <p:cNvSpPr txBox="1"/>
            <p:nvPr/>
          </p:nvSpPr>
          <p:spPr>
            <a:xfrm>
              <a:off x="6539865" y="4458652"/>
              <a:ext cx="866775"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法学问题界定</a:t>
              </a:r>
            </a:p>
          </p:txBody>
        </p:sp>
      </p:grpSp>
      <p:grpSp>
        <p:nvGrpSpPr>
          <p:cNvPr id="49" name="Group 49"/>
          <p:cNvGrpSpPr/>
          <p:nvPr/>
        </p:nvGrpSpPr>
        <p:grpSpPr>
          <a:xfrm>
            <a:off x="685800" y="4838700"/>
            <a:ext cx="5257800" cy="1128712"/>
            <a:chOff x="685800" y="4838700"/>
            <a:chExt cx="5257800" cy="1128712"/>
          </a:xfrm>
        </p:grpSpPr>
        <p:sp>
          <p:nvSpPr>
            <p:cNvPr id="43" name="Rectangle 43"/>
            <p:cNvSpPr/>
            <p:nvPr/>
          </p:nvSpPr>
          <p:spPr>
            <a:xfrm>
              <a:off x="685800" y="4838700"/>
              <a:ext cx="5257800" cy="1123950"/>
            </a:xfrm>
            <a:prstGeom prst="roundRect">
              <a:avLst>
                <a:gd name="adj" fmla="val 6780"/>
              </a:avLst>
            </a:prstGeom>
            <a:solidFill>
              <a:srgbClr val="FFFFFF"/>
            </a:solidFill>
            <a:ln w="14288">
              <a:solidFill>
                <a:srgbClr val="44546A"/>
              </a:solidFill>
            </a:ln>
          </p:spPr>
        </p:sp>
        <p:sp>
          <p:nvSpPr>
            <p:cNvPr id="44" name="Rectangle 44"/>
            <p:cNvSpPr/>
            <p:nvPr/>
          </p:nvSpPr>
          <p:spPr>
            <a:xfrm>
              <a:off x="685800" y="4838700"/>
              <a:ext cx="57150" cy="1123950"/>
            </a:xfrm>
            <a:prstGeom prst="roundRect">
              <a:avLst>
                <a:gd name="adj" fmla="val 50000"/>
              </a:avLst>
            </a:prstGeom>
            <a:solidFill>
              <a:srgbClr val="44546A"/>
            </a:solidFill>
            <a:ln>
              <a:noFill/>
            </a:ln>
          </p:spPr>
        </p:sp>
        <p:sp>
          <p:nvSpPr>
            <p:cNvPr id="45" name="TextBox 45"/>
            <p:cNvSpPr txBox="1"/>
            <p:nvPr/>
          </p:nvSpPr>
          <p:spPr>
            <a:xfrm>
              <a:off x="970283" y="4970807"/>
              <a:ext cx="2370161" cy="325069"/>
            </a:xfrm>
            <a:prstGeom prst="rect">
              <a:avLst/>
            </a:prstGeom>
            <a:noFill/>
            <a:ln>
              <a:noFill/>
            </a:ln>
          </p:spPr>
          <p:txBody>
            <a:bodyPr wrap="none" lIns="0" tIns="0" rIns="0" bIns="0" anchor="t" anchorCtr="0">
              <a:spAutoFit/>
            </a:bodyPr>
            <a:lstStyle/>
            <a:p>
              <a:pPr algn="l"/>
              <a:r>
                <a:rPr lang="zh-CN" sz="1600" b="1" dirty="0">
                  <a:solidFill>
                    <a:srgbClr val="44546A"/>
                  </a:solidFill>
                  <a:latin typeface="Arial"/>
                  <a:ea typeface="Microsoft YaHei"/>
                  <a:cs typeface="Arial"/>
                </a:rPr>
                <a:t>#5 传统文化仅价值宣示</a:t>
              </a:r>
            </a:p>
          </p:txBody>
        </p:sp>
        <p:sp>
          <p:nvSpPr>
            <p:cNvPr id="46" name="TextBox 46"/>
            <p:cNvSpPr txBox="1"/>
            <p:nvPr/>
          </p:nvSpPr>
          <p:spPr>
            <a:xfrm>
              <a:off x="975360" y="5280660"/>
              <a:ext cx="742569"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触发 10 次</a:t>
              </a:r>
            </a:p>
          </p:txBody>
        </p:sp>
        <p:sp>
          <p:nvSpPr>
            <p:cNvPr id="47" name="TextBox 47"/>
            <p:cNvSpPr txBox="1"/>
            <p:nvPr/>
          </p:nvSpPr>
          <p:spPr>
            <a:xfrm>
              <a:off x="975360" y="5547360"/>
              <a:ext cx="3446907"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invoke 传统文化但未转化为法律概念或规范命题</a:t>
              </a:r>
            </a:p>
          </p:txBody>
        </p:sp>
        <p:sp>
          <p:nvSpPr>
            <p:cNvPr id="48" name="TextBox 48"/>
            <p:cNvSpPr txBox="1"/>
            <p:nvPr/>
          </p:nvSpPr>
          <p:spPr>
            <a:xfrm>
              <a:off x="977265" y="5754052"/>
              <a:ext cx="4395216" cy="213360"/>
            </a:xfrm>
            <a:prstGeom prst="rect">
              <a:avLst/>
            </a:prstGeom>
            <a:noFill/>
            <a:ln>
              <a:noFill/>
            </a:ln>
          </p:spPr>
          <p:txBody>
            <a:bodyPr wrap="none" lIns="0" tIns="0" rIns="0" bIns="0" anchor="t" anchorCtr="0">
              <a:spAutoFit/>
            </a:bodyPr>
            <a:lstStyle/>
            <a:p>
              <a:pPr algn="l"/>
              <a:r>
                <a:rPr lang="zh-CN" sz="1050" dirty="0">
                  <a:solidFill>
                    <a:srgbClr val="5A6472"/>
                  </a:solidFill>
                  <a:latin typeface="Arial"/>
                  <a:ea typeface="Microsoft YaHei"/>
                  <a:cs typeface="Arial"/>
                </a:rPr>
                <a:t>案例：周光权《法典化时代的刑法典修订》——"民为邦本"仅作价值装饰</a:t>
              </a:r>
            </a:p>
          </p:txBody>
        </p:sp>
      </p:grpSp>
      <p:grpSp>
        <p:nvGrpSpPr>
          <p:cNvPr id="56" name="Group 56"/>
          <p:cNvGrpSpPr/>
          <p:nvPr/>
        </p:nvGrpSpPr>
        <p:grpSpPr>
          <a:xfrm>
            <a:off x="6248400" y="4838700"/>
            <a:ext cx="5257800" cy="1128712"/>
            <a:chOff x="6248400" y="4838700"/>
            <a:chExt cx="5257800" cy="1128712"/>
          </a:xfrm>
        </p:grpSpPr>
        <p:sp>
          <p:nvSpPr>
            <p:cNvPr id="50" name="Rectangle 50"/>
            <p:cNvSpPr/>
            <p:nvPr/>
          </p:nvSpPr>
          <p:spPr>
            <a:xfrm>
              <a:off x="6248400" y="4838700"/>
              <a:ext cx="5257800" cy="1123950"/>
            </a:xfrm>
            <a:prstGeom prst="roundRect">
              <a:avLst>
                <a:gd name="adj" fmla="val 6780"/>
              </a:avLst>
            </a:prstGeom>
            <a:solidFill>
              <a:srgbClr val="F4F5F7"/>
            </a:solidFill>
            <a:ln w="14288">
              <a:solidFill>
                <a:srgbClr val="D9DEE5"/>
              </a:solidFill>
            </a:ln>
          </p:spPr>
        </p:sp>
        <p:sp>
          <p:nvSpPr>
            <p:cNvPr id="51" name="Rectangle 51"/>
            <p:cNvSpPr/>
            <p:nvPr/>
          </p:nvSpPr>
          <p:spPr>
            <a:xfrm>
              <a:off x="6248400" y="4838700"/>
              <a:ext cx="57150" cy="1123950"/>
            </a:xfrm>
            <a:prstGeom prst="roundRect">
              <a:avLst>
                <a:gd name="adj" fmla="val 50000"/>
              </a:avLst>
            </a:prstGeom>
            <a:solidFill>
              <a:srgbClr val="D9DEE5"/>
            </a:solidFill>
            <a:ln>
              <a:noFill/>
            </a:ln>
          </p:spPr>
        </p:sp>
        <p:sp>
          <p:nvSpPr>
            <p:cNvPr id="52" name="TextBox 52"/>
            <p:cNvSpPr txBox="1"/>
            <p:nvPr/>
          </p:nvSpPr>
          <p:spPr>
            <a:xfrm>
              <a:off x="6532883" y="4970807"/>
              <a:ext cx="2370161" cy="325069"/>
            </a:xfrm>
            <a:prstGeom prst="rect">
              <a:avLst/>
            </a:prstGeom>
            <a:noFill/>
            <a:ln>
              <a:noFill/>
            </a:ln>
          </p:spPr>
          <p:txBody>
            <a:bodyPr wrap="none" lIns="0" tIns="0" rIns="0" bIns="0" anchor="t" anchorCtr="0">
              <a:spAutoFit/>
            </a:bodyPr>
            <a:lstStyle/>
            <a:p>
              <a:pPr algn="l"/>
              <a:r>
                <a:rPr lang="zh-CN" sz="1600" b="1" dirty="0">
                  <a:solidFill>
                    <a:srgbClr val="9AA3AE"/>
                  </a:solidFill>
                  <a:latin typeface="Arial"/>
                  <a:ea typeface="Microsoft YaHei"/>
                  <a:cs typeface="Arial"/>
                </a:rPr>
                <a:t>#6 权力配置无程序控制</a:t>
              </a:r>
            </a:p>
          </p:txBody>
        </p:sp>
        <p:sp>
          <p:nvSpPr>
            <p:cNvPr id="53" name="TextBox 53"/>
            <p:cNvSpPr txBox="1"/>
            <p:nvPr/>
          </p:nvSpPr>
          <p:spPr>
            <a:xfrm>
              <a:off x="6537960" y="5280660"/>
              <a:ext cx="1494663" cy="243840"/>
            </a:xfrm>
            <a:prstGeom prst="rect">
              <a:avLst/>
            </a:prstGeom>
            <a:noFill/>
            <a:ln>
              <a:noFill/>
            </a:ln>
          </p:spPr>
          <p:txBody>
            <a:bodyPr wrap="none" lIns="0" tIns="0" rIns="0" bIns="0" anchor="t" anchorCtr="0">
              <a:spAutoFit/>
            </a:bodyPr>
            <a:lstStyle/>
            <a:p>
              <a:pPr algn="l"/>
              <a:r>
                <a:rPr lang="zh-CN" sz="1200" dirty="0">
                  <a:solidFill>
                    <a:srgbClr val="9AA3AE"/>
                  </a:solidFill>
                  <a:latin typeface="Arial"/>
                  <a:ea typeface="Microsoft YaHei"/>
                  <a:cs typeface="Arial"/>
                </a:rPr>
                <a:t>触发 0 次（未触发）</a:t>
              </a:r>
            </a:p>
          </p:txBody>
        </p:sp>
        <p:sp>
          <p:nvSpPr>
            <p:cNvPr id="54" name="TextBox 54"/>
            <p:cNvSpPr txBox="1"/>
            <p:nvPr/>
          </p:nvSpPr>
          <p:spPr>
            <a:xfrm>
              <a:off x="6537960" y="5547360"/>
              <a:ext cx="3230880" cy="243840"/>
            </a:xfrm>
            <a:prstGeom prst="rect">
              <a:avLst/>
            </a:prstGeom>
            <a:noFill/>
            <a:ln>
              <a:noFill/>
            </a:ln>
          </p:spPr>
          <p:txBody>
            <a:bodyPr wrap="none" lIns="0" tIns="0" rIns="0" bIns="0" anchor="t" anchorCtr="0">
              <a:spAutoFit/>
            </a:bodyPr>
            <a:lstStyle/>
            <a:p>
              <a:pPr algn="l"/>
              <a:r>
                <a:rPr lang="zh-CN" sz="1200" dirty="0">
                  <a:solidFill>
                    <a:srgbClr val="9AA3AE"/>
                  </a:solidFill>
                  <a:latin typeface="Arial"/>
                  <a:ea typeface="Microsoft YaHei"/>
                  <a:cs typeface="Arial"/>
                </a:rPr>
                <a:t>讨论权力配置但未涉及程序控制、问责或救济</a:t>
              </a:r>
            </a:p>
          </p:txBody>
        </p:sp>
        <p:sp>
          <p:nvSpPr>
            <p:cNvPr id="55" name="TextBox 55"/>
            <p:cNvSpPr txBox="1"/>
            <p:nvPr/>
          </p:nvSpPr>
          <p:spPr>
            <a:xfrm>
              <a:off x="6539865" y="5754052"/>
              <a:ext cx="2266950" cy="213360"/>
            </a:xfrm>
            <a:prstGeom prst="rect">
              <a:avLst/>
            </a:prstGeom>
            <a:noFill/>
            <a:ln>
              <a:noFill/>
            </a:ln>
          </p:spPr>
          <p:txBody>
            <a:bodyPr wrap="none" lIns="0" tIns="0" rIns="0" bIns="0" anchor="t" anchorCtr="0">
              <a:spAutoFit/>
            </a:bodyPr>
            <a:lstStyle/>
            <a:p>
              <a:pPr algn="l"/>
              <a:r>
                <a:rPr lang="zh-CN" sz="1050" dirty="0">
                  <a:solidFill>
                    <a:srgbClr val="9AA3AE"/>
                  </a:solidFill>
                  <a:latin typeface="Arial"/>
                  <a:ea typeface="Microsoft YaHei"/>
                  <a:cs typeface="Arial"/>
                </a:rPr>
                <a:t>预防性定义，尚未在现有数据中触发</a:t>
              </a:r>
            </a:p>
          </p:txBody>
        </p:sp>
      </p:grpSp>
      <p:grpSp>
        <p:nvGrpSpPr>
          <p:cNvPr id="59" name="Group 59"/>
          <p:cNvGrpSpPr/>
          <p:nvPr/>
        </p:nvGrpSpPr>
        <p:grpSpPr>
          <a:xfrm>
            <a:off x="685800" y="6096000"/>
            <a:ext cx="10820400" cy="457200"/>
            <a:chOff x="685800" y="6096000"/>
            <a:chExt cx="10820400" cy="457200"/>
          </a:xfrm>
        </p:grpSpPr>
        <p:sp>
          <p:nvSpPr>
            <p:cNvPr id="57" name="Rectangle 57"/>
            <p:cNvSpPr/>
            <p:nvPr/>
          </p:nvSpPr>
          <p:spPr>
            <a:xfrm>
              <a:off x="685800" y="6096000"/>
              <a:ext cx="10820400" cy="457200"/>
            </a:xfrm>
            <a:prstGeom prst="roundRect">
              <a:avLst>
                <a:gd name="adj" fmla="val 12500"/>
              </a:avLst>
            </a:prstGeom>
            <a:solidFill>
              <a:srgbClr val="E8F5E9"/>
            </a:solidFill>
            <a:ln>
              <a:noFill/>
            </a:ln>
          </p:spPr>
        </p:sp>
        <p:sp>
          <p:nvSpPr>
            <p:cNvPr id="58" name="TextBox 58"/>
            <p:cNvSpPr txBox="1"/>
            <p:nvPr/>
          </p:nvSpPr>
          <p:spPr>
            <a:xfrm>
              <a:off x="975360" y="6252210"/>
              <a:ext cx="8047482"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设计依据：① 项目口径驱动（捕捉表面高分但缺乏法学贡献的论文）② 矛盾触发（高分+弱信号时预警）③ 案例验证</a:t>
              </a:r>
            </a:p>
          </p:txBody>
        </p:sp>
      </p:grpSp>
      <p:grpSp>
        <p:nvGrpSpPr>
          <p:cNvPr id="63" name="Group 63"/>
          <p:cNvGrpSpPr/>
          <p:nvPr/>
        </p:nvGrpSpPr>
        <p:grpSpPr>
          <a:xfrm>
            <a:off x="0" y="6516343"/>
            <a:ext cx="12192000" cy="341657"/>
            <a:chOff x="0" y="6516343"/>
            <a:chExt cx="12192000" cy="341657"/>
          </a:xfrm>
        </p:grpSpPr>
        <p:sp>
          <p:nvSpPr>
            <p:cNvPr id="60" name="Rectangle 60"/>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61" name="TextBox 61"/>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62" name="TextBox 62"/>
            <p:cNvSpPr txBox="1"/>
            <p:nvPr/>
          </p:nvSpPr>
          <p:spPr>
            <a:xfrm>
              <a:off x="11329702" y="6516343"/>
              <a:ext cx="194281"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400"/>
                                        <p:tgtEl>
                                          <p:spTgt spid="2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slide(fromBottom)">
                                      <p:cBhvr>
                                        <p:cTn id="19" dur="400"/>
                                        <p:tgtEl>
                                          <p:spTgt spid="34"/>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image">
                                      <p:cBhvr>
                                        <p:cTn id="23" dur="400"/>
                                        <p:tgtEl>
                                          <p:spTgt spid="42"/>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fade">
                                      <p:cBhvr>
                                        <p:cTn id="27" dur="400"/>
                                        <p:tgtEl>
                                          <p:spTgt spid="49"/>
                                        </p:tgtEl>
                                      </p:cBhvr>
                                    </p:animEffect>
                                  </p:childTnLst>
                                </p:cTn>
                              </p:par>
                            </p:childTnLst>
                          </p:cTn>
                        </p:par>
                        <p:par>
                          <p:cTn id="28" fill="hold">
                            <p:stCondLst>
                              <p:cond delay="5400"/>
                            </p:stCondLst>
                            <p:childTnLst>
                              <p:par>
                                <p:cTn id="29" presetID="22" presetClass="entr" presetSubtype="1" fill="hold" nodeType="afterEffect">
                                  <p:stCondLst>
                                    <p:cond delay="0"/>
                                  </p:stCondLst>
                                  <p:childTnLst>
                                    <p:set>
                                      <p:cBhvr>
                                        <p:cTn id="30" dur="1" fill="hold">
                                          <p:stCondLst>
                                            <p:cond delay="0"/>
                                          </p:stCondLst>
                                        </p:cTn>
                                        <p:tgtEl>
                                          <p:spTgt spid="56"/>
                                        </p:tgtEl>
                                        <p:attrNameLst>
                                          <p:attrName>style.visibility</p:attrName>
                                        </p:attrNameLst>
                                      </p:cBhvr>
                                      <p:to>
                                        <p:strVal val="visible"/>
                                      </p:to>
                                    </p:set>
                                    <p:animEffect transition="in" filter="wipe(left)">
                                      <p:cBhvr>
                                        <p:cTn id="31" dur="400"/>
                                        <p:tgtEl>
                                          <p:spTgt spid="56"/>
                                        </p:tgtEl>
                                      </p:cBhvr>
                                    </p:animEffect>
                                  </p:childTnLst>
                                </p:cTn>
                              </p:par>
                            </p:childTnLst>
                          </p:cTn>
                        </p:par>
                        <p:par>
                          <p:cTn id="32" fill="hold">
                            <p:stCondLst>
                              <p:cond delay="6300"/>
                            </p:stCondLst>
                            <p:childTnLst>
                              <p:par>
                                <p:cTn id="33" presetID="2" presetClass="entr" presetSubtype="4" fill="hold" nodeType="afterEffect">
                                  <p:stCondLst>
                                    <p:cond delay="0"/>
                                  </p:stCondLst>
                                  <p:childTnLst>
                                    <p:set>
                                      <p:cBhvr>
                                        <p:cTn id="34" dur="1" fill="hold">
                                          <p:stCondLst>
                                            <p:cond delay="0"/>
                                          </p:stCondLst>
                                        </p:cTn>
                                        <p:tgtEl>
                                          <p:spTgt spid="59"/>
                                        </p:tgtEl>
                                        <p:attrNameLst>
                                          <p:attrName>style.visibility</p:attrName>
                                        </p:attrNameLst>
                                      </p:cBhvr>
                                      <p:to>
                                        <p:strVal val="visible"/>
                                      </p:to>
                                    </p:set>
                                    <p:animEffect transition="in" filter="slide(fromBottom)">
                                      <p:cBhvr>
                                        <p:cTn id="35"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8" grpId="0"/>
      <p:bldP spid="26" grpId="0"/>
      <p:bldP spid="34" grpId="0"/>
      <p:bldP spid="42" grpId="0"/>
      <p:bldP spid="49" grpId="0"/>
      <p:bldP spid="56" grpId="0"/>
      <p:bldP spid="5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3991254"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知识库匹配与学科手册</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2992614" y="953743"/>
            <a:ext cx="6206773"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知识库匹配服务于解释验证；Top50 正式名单先以五轴资格和学科配额固化</a:t>
            </a:r>
          </a:p>
        </p:txBody>
      </p:sp>
      <p:sp>
        <p:nvSpPr>
          <p:cNvPr id="9" name="Rectangle 9"/>
          <p:cNvSpPr/>
          <p:nvPr/>
        </p:nvSpPr>
        <p:spPr>
          <a:xfrm>
            <a:off x="685800" y="1409700"/>
            <a:ext cx="5105400" cy="3905250"/>
          </a:xfrm>
          <a:prstGeom prst="roundRect">
            <a:avLst>
              <a:gd name="adj" fmla="val 2439"/>
            </a:avLst>
          </a:prstGeom>
          <a:solidFill>
            <a:srgbClr val="FFFFFF"/>
          </a:solidFill>
          <a:ln w="11430">
            <a:solidFill>
              <a:srgbClr val="D9DEE5"/>
            </a:solidFill>
          </a:ln>
        </p:spPr>
      </p:sp>
      <p:sp>
        <p:nvSpPr>
          <p:cNvPr id="10" name="TextBox 10"/>
          <p:cNvSpPr txBox="1"/>
          <p:nvPr/>
        </p:nvSpPr>
        <p:spPr>
          <a:xfrm>
            <a:off x="965835" y="1618298"/>
            <a:ext cx="1141667" cy="396240"/>
          </a:xfrm>
          <a:prstGeom prst="rect">
            <a:avLst/>
          </a:prstGeom>
          <a:noFill/>
          <a:ln>
            <a:noFill/>
          </a:ln>
        </p:spPr>
        <p:txBody>
          <a:bodyPr wrap="none" lIns="0" tIns="0" rIns="0" bIns="0" anchor="t" anchorCtr="0">
            <a:spAutoFit/>
          </a:bodyPr>
          <a:lstStyle/>
          <a:p>
            <a:pPr algn="l"/>
            <a:r>
              <a:rPr lang="zh-CN" sz="1950" b="1" dirty="0">
                <a:solidFill>
                  <a:srgbClr val="1F4D78"/>
                </a:solidFill>
                <a:latin typeface="Arial"/>
                <a:ea typeface="Microsoft YaHei"/>
                <a:cs typeface="Arial"/>
              </a:rPr>
              <a:t>知识来源</a:t>
            </a:r>
          </a:p>
        </p:txBody>
      </p:sp>
      <p:sp>
        <p:nvSpPr>
          <p:cNvPr id="11" name="TextBox 11"/>
          <p:cNvSpPr txBox="1"/>
          <p:nvPr/>
        </p:nvSpPr>
        <p:spPr>
          <a:xfrm>
            <a:off x="972817" y="2087218"/>
            <a:ext cx="283641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《中国法学自主知识体系学科手册</a:t>
            </a:r>
          </a:p>
        </p:txBody>
      </p:sp>
      <p:sp>
        <p:nvSpPr>
          <p:cNvPr id="12" name="TextBox 12"/>
          <p:cNvSpPr txBox="1"/>
          <p:nvPr/>
        </p:nvSpPr>
        <p:spPr>
          <a:xfrm>
            <a:off x="972817" y="2372968"/>
            <a:ext cx="2752391"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》：22 个学科团队，16 个主干学</a:t>
            </a:r>
          </a:p>
        </p:txBody>
      </p:sp>
      <p:sp>
        <p:nvSpPr>
          <p:cNvPr id="13" name="TextBox 13"/>
          <p:cNvSpPr txBox="1"/>
          <p:nvPr/>
        </p:nvSpPr>
        <p:spPr>
          <a:xfrm>
            <a:off x="972817" y="2658718"/>
            <a:ext cx="264969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科 + 6 个新兴学科，梳理标识性</a:t>
            </a:r>
          </a:p>
        </p:txBody>
      </p:sp>
      <p:sp>
        <p:nvSpPr>
          <p:cNvPr id="14" name="TextBox 14"/>
          <p:cNvSpPr txBox="1"/>
          <p:nvPr/>
        </p:nvSpPr>
        <p:spPr>
          <a:xfrm>
            <a:off x="972817" y="2944468"/>
            <a:ext cx="283641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概念、原创性理论和知识体系框架</a:t>
            </a:r>
          </a:p>
        </p:txBody>
      </p:sp>
      <p:sp>
        <p:nvSpPr>
          <p:cNvPr id="15" name="TextBox 15"/>
          <p:cNvSpPr txBox="1"/>
          <p:nvPr/>
        </p:nvSpPr>
        <p:spPr>
          <a:xfrm>
            <a:off x="972817" y="3230218"/>
            <a:ext cx="22229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a:t>
            </a:r>
          </a:p>
        </p:txBody>
      </p:sp>
      <p:sp>
        <p:nvSpPr>
          <p:cNvPr id="16" name="TextBox 16"/>
          <p:cNvSpPr txBox="1"/>
          <p:nvPr/>
        </p:nvSpPr>
        <p:spPr>
          <a:xfrm>
            <a:off x="967740" y="3596640"/>
            <a:ext cx="1305878" cy="365760"/>
          </a:xfrm>
          <a:prstGeom prst="rect">
            <a:avLst/>
          </a:prstGeom>
          <a:noFill/>
          <a:ln>
            <a:noFill/>
          </a:ln>
        </p:spPr>
        <p:txBody>
          <a:bodyPr wrap="none" lIns="0" tIns="0" rIns="0" bIns="0" anchor="t" anchorCtr="0">
            <a:spAutoFit/>
          </a:bodyPr>
          <a:lstStyle/>
          <a:p>
            <a:pPr algn="l"/>
            <a:r>
              <a:rPr lang="zh-CN" sz="1800" b="1" dirty="0">
                <a:solidFill>
                  <a:srgbClr val="C8161E"/>
                </a:solidFill>
                <a:latin typeface="Arial"/>
                <a:ea typeface="Microsoft YaHei"/>
                <a:cs typeface="Arial"/>
              </a:rPr>
              <a:t>树状知识库</a:t>
            </a:r>
          </a:p>
        </p:txBody>
      </p:sp>
      <p:sp>
        <p:nvSpPr>
          <p:cNvPr id="17" name="TextBox 17"/>
          <p:cNvSpPr txBox="1"/>
          <p:nvPr/>
        </p:nvSpPr>
        <p:spPr>
          <a:xfrm>
            <a:off x="972817" y="4020793"/>
            <a:ext cx="2173549"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体系 → 学科 → 类型 → 条目</a:t>
            </a:r>
          </a:p>
        </p:txBody>
      </p:sp>
      <p:sp>
        <p:nvSpPr>
          <p:cNvPr id="18" name="TextBox 18"/>
          <p:cNvSpPr txBox="1"/>
          <p:nvPr/>
        </p:nvSpPr>
        <p:spPr>
          <a:xfrm>
            <a:off x="972817" y="4306543"/>
            <a:ext cx="2649693"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；用于判断论文贡献是否有明确</a:t>
            </a:r>
          </a:p>
        </p:txBody>
      </p:sp>
      <p:sp>
        <p:nvSpPr>
          <p:cNvPr id="19" name="TextBox 19"/>
          <p:cNvSpPr txBox="1"/>
          <p:nvPr/>
        </p:nvSpPr>
        <p:spPr>
          <a:xfrm>
            <a:off x="972817" y="4592293"/>
            <a:ext cx="227624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学科归属和理论谱系位置。</a:t>
            </a:r>
          </a:p>
        </p:txBody>
      </p:sp>
      <p:sp>
        <p:nvSpPr>
          <p:cNvPr id="20" name="Rectangle 20"/>
          <p:cNvSpPr/>
          <p:nvPr/>
        </p:nvSpPr>
        <p:spPr>
          <a:xfrm>
            <a:off x="6248400" y="1409700"/>
            <a:ext cx="5257800" cy="3905250"/>
          </a:xfrm>
          <a:prstGeom prst="roundRect">
            <a:avLst>
              <a:gd name="adj" fmla="val 2439"/>
            </a:avLst>
          </a:prstGeom>
          <a:solidFill>
            <a:srgbClr val="FFFFFF"/>
          </a:solidFill>
          <a:ln w="11430">
            <a:solidFill>
              <a:srgbClr val="D9DEE5"/>
            </a:solidFill>
          </a:ln>
        </p:spPr>
      </p:sp>
      <p:sp>
        <p:nvSpPr>
          <p:cNvPr id="21" name="TextBox 21"/>
          <p:cNvSpPr txBox="1"/>
          <p:nvPr/>
        </p:nvSpPr>
        <p:spPr>
          <a:xfrm>
            <a:off x="6528435" y="1618298"/>
            <a:ext cx="1687735" cy="396240"/>
          </a:xfrm>
          <a:prstGeom prst="rect">
            <a:avLst/>
          </a:prstGeom>
          <a:noFill/>
          <a:ln>
            <a:noFill/>
          </a:ln>
        </p:spPr>
        <p:txBody>
          <a:bodyPr wrap="none" lIns="0" tIns="0" rIns="0" bIns="0" anchor="t" anchorCtr="0">
            <a:spAutoFit/>
          </a:bodyPr>
          <a:lstStyle/>
          <a:p>
            <a:pPr algn="l"/>
            <a:r>
              <a:rPr lang="zh-CN" sz="1950" b="1" dirty="0">
                <a:solidFill>
                  <a:srgbClr val="1F4D78"/>
                </a:solidFill>
                <a:latin typeface="Arial"/>
                <a:ea typeface="Microsoft YaHei"/>
                <a:cs typeface="Arial"/>
              </a:rPr>
              <a:t>本版处理口径</a:t>
            </a:r>
          </a:p>
        </p:txBody>
      </p:sp>
      <p:sp>
        <p:nvSpPr>
          <p:cNvPr id="22" name="Ellipse 22"/>
          <p:cNvSpPr/>
          <p:nvPr/>
        </p:nvSpPr>
        <p:spPr>
          <a:xfrm>
            <a:off x="6657975" y="2219325"/>
            <a:ext cx="95250" cy="95250"/>
          </a:xfrm>
          <a:prstGeom prst="ellipse">
            <a:avLst/>
          </a:prstGeom>
          <a:solidFill>
            <a:srgbClr val="C8161E"/>
          </a:solidFill>
          <a:ln>
            <a:noFill/>
          </a:ln>
        </p:spPr>
      </p:sp>
      <p:sp>
        <p:nvSpPr>
          <p:cNvPr id="23" name="TextBox 23"/>
          <p:cNvSpPr txBox="1"/>
          <p:nvPr/>
        </p:nvSpPr>
        <p:spPr>
          <a:xfrm>
            <a:off x="6878317" y="2172943"/>
            <a:ext cx="208952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不复用旧口径解释验证数</a:t>
            </a:r>
          </a:p>
        </p:txBody>
      </p:sp>
      <p:sp>
        <p:nvSpPr>
          <p:cNvPr id="24" name="TextBox 24"/>
          <p:cNvSpPr txBox="1"/>
          <p:nvPr/>
        </p:nvSpPr>
        <p:spPr>
          <a:xfrm>
            <a:off x="6878317" y="2468218"/>
            <a:ext cx="59573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证数字</a:t>
            </a:r>
          </a:p>
        </p:txBody>
      </p:sp>
      <p:sp>
        <p:nvSpPr>
          <p:cNvPr id="25" name="Ellipse 25"/>
          <p:cNvSpPr/>
          <p:nvPr/>
        </p:nvSpPr>
        <p:spPr>
          <a:xfrm>
            <a:off x="6657975" y="2771775"/>
            <a:ext cx="95250" cy="95250"/>
          </a:xfrm>
          <a:prstGeom prst="ellipse">
            <a:avLst/>
          </a:prstGeom>
          <a:solidFill>
            <a:srgbClr val="C8161E"/>
          </a:solidFill>
          <a:ln>
            <a:noFill/>
          </a:ln>
        </p:spPr>
      </p:sp>
      <p:sp>
        <p:nvSpPr>
          <p:cNvPr id="26" name="TextBox 26"/>
          <p:cNvSpPr txBox="1"/>
          <p:nvPr/>
        </p:nvSpPr>
        <p:spPr>
          <a:xfrm>
            <a:off x="6878317" y="2725393"/>
            <a:ext cx="2173549"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Top50 匹配必须以同一 50</a:t>
            </a:r>
          </a:p>
        </p:txBody>
      </p:sp>
      <p:sp>
        <p:nvSpPr>
          <p:cNvPr id="27" name="TextBox 27"/>
          <p:cNvSpPr txBox="1"/>
          <p:nvPr/>
        </p:nvSpPr>
        <p:spPr>
          <a:xfrm>
            <a:off x="6878317" y="3020668"/>
            <a:ext cx="96918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篇 pid 重跑</a:t>
            </a:r>
          </a:p>
        </p:txBody>
      </p:sp>
      <p:sp>
        <p:nvSpPr>
          <p:cNvPr id="28" name="Ellipse 28"/>
          <p:cNvSpPr/>
          <p:nvPr/>
        </p:nvSpPr>
        <p:spPr>
          <a:xfrm>
            <a:off x="6657975" y="3324225"/>
            <a:ext cx="95250" cy="95250"/>
          </a:xfrm>
          <a:prstGeom prst="ellipse">
            <a:avLst/>
          </a:prstGeom>
          <a:solidFill>
            <a:srgbClr val="C8161E"/>
          </a:solidFill>
          <a:ln>
            <a:noFill/>
          </a:ln>
        </p:spPr>
      </p:sp>
      <p:sp>
        <p:nvSpPr>
          <p:cNvPr id="29" name="TextBox 29"/>
          <p:cNvSpPr txBox="1"/>
          <p:nvPr/>
        </p:nvSpPr>
        <p:spPr>
          <a:xfrm>
            <a:off x="6878317" y="3277843"/>
            <a:ext cx="227624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重跑结果再填入均值、条目</a:t>
            </a:r>
          </a:p>
        </p:txBody>
      </p:sp>
      <p:sp>
        <p:nvSpPr>
          <p:cNvPr id="30" name="TextBox 30"/>
          <p:cNvSpPr txBox="1"/>
          <p:nvPr/>
        </p:nvSpPr>
        <p:spPr>
          <a:xfrm>
            <a:off x="6878317" y="3573118"/>
            <a:ext cx="152935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数和高置信度比例</a:t>
            </a:r>
          </a:p>
        </p:txBody>
      </p:sp>
      <p:sp>
        <p:nvSpPr>
          <p:cNvPr id="31" name="Ellipse 31"/>
          <p:cNvSpPr/>
          <p:nvPr/>
        </p:nvSpPr>
        <p:spPr>
          <a:xfrm>
            <a:off x="6657975" y="3876675"/>
            <a:ext cx="95250" cy="95250"/>
          </a:xfrm>
          <a:prstGeom prst="ellipse">
            <a:avLst/>
          </a:prstGeom>
          <a:solidFill>
            <a:srgbClr val="C8161E"/>
          </a:solidFill>
          <a:ln>
            <a:noFill/>
          </a:ln>
        </p:spPr>
      </p:sp>
      <p:sp>
        <p:nvSpPr>
          <p:cNvPr id="32" name="TextBox 32"/>
          <p:cNvSpPr txBox="1"/>
          <p:nvPr/>
        </p:nvSpPr>
        <p:spPr>
          <a:xfrm>
            <a:off x="6878317" y="3830293"/>
            <a:ext cx="215487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五轴评分仍是 Top50 资格</a:t>
            </a:r>
          </a:p>
        </p:txBody>
      </p:sp>
      <p:sp>
        <p:nvSpPr>
          <p:cNvPr id="33" name="TextBox 33"/>
          <p:cNvSpPr txBox="1"/>
          <p:nvPr/>
        </p:nvSpPr>
        <p:spPr>
          <a:xfrm>
            <a:off x="6878317" y="4125568"/>
            <a:ext cx="78246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判断主线</a:t>
            </a:r>
          </a:p>
        </p:txBody>
      </p:sp>
      <p:sp>
        <p:nvSpPr>
          <p:cNvPr id="34" name="Rectangle 34"/>
          <p:cNvSpPr/>
          <p:nvPr/>
        </p:nvSpPr>
        <p:spPr>
          <a:xfrm>
            <a:off x="685800" y="5619750"/>
            <a:ext cx="10820400" cy="514350"/>
          </a:xfrm>
          <a:prstGeom prst="roundRect">
            <a:avLst>
              <a:gd name="adj" fmla="val 14815"/>
            </a:avLst>
          </a:prstGeom>
          <a:solidFill>
            <a:srgbClr val="F0F7FF"/>
          </a:solidFill>
          <a:ln w="9525">
            <a:solidFill>
              <a:srgbClr val="D9DEE5"/>
            </a:solidFill>
          </a:ln>
        </p:spPr>
      </p:sp>
      <p:sp>
        <p:nvSpPr>
          <p:cNvPr id="35" name="TextBox 35"/>
          <p:cNvSpPr txBox="1"/>
          <p:nvPr/>
        </p:nvSpPr>
        <p:spPr>
          <a:xfrm>
            <a:off x="1720794" y="5792443"/>
            <a:ext cx="8750411" cy="284531"/>
          </a:xfrm>
          <a:prstGeom prst="rect">
            <a:avLst/>
          </a:prstGeom>
          <a:noFill/>
          <a:ln>
            <a:noFill/>
          </a:ln>
        </p:spPr>
        <p:txBody>
          <a:bodyPr wrap="none" lIns="0" tIns="0" rIns="0" bIns="0" anchor="t" anchorCtr="0">
            <a:spAutoFit/>
          </a:bodyPr>
          <a:lstStyle/>
          <a:p>
            <a:pPr algn="ctr"/>
            <a:r>
              <a:rPr lang="zh-CN" sz="1400" b="1" dirty="0">
                <a:solidFill>
                  <a:srgbClr val="1B1C21"/>
                </a:solidFill>
                <a:latin typeface="Arial"/>
                <a:ea typeface="Microsoft YaHei"/>
                <a:cs typeface="Arial"/>
              </a:rPr>
              <a:t>结论：知识库匹配是后续解释验证，不改变“先五轴归属、再六维排序、再学科配额”的 Top50 规则。</a:t>
            </a:r>
          </a:p>
        </p:txBody>
      </p:sp>
      <p:grpSp>
        <p:nvGrpSpPr>
          <p:cNvPr id="39" name="Group 39"/>
          <p:cNvGrpSpPr/>
          <p:nvPr/>
        </p:nvGrpSpPr>
        <p:grpSpPr>
          <a:xfrm>
            <a:off x="0" y="6516343"/>
            <a:ext cx="12192000" cy="341657"/>
            <a:chOff x="0" y="6516343"/>
            <a:chExt cx="12192000" cy="341657"/>
          </a:xfrm>
        </p:grpSpPr>
        <p:sp>
          <p:nvSpPr>
            <p:cNvPr id="36" name="Rectangle 36"/>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37" name="TextBox 37"/>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38" name="TextBox 38"/>
            <p:cNvSpPr txBox="1"/>
            <p:nvPr/>
          </p:nvSpPr>
          <p:spPr>
            <a:xfrm>
              <a:off x="11329702" y="6516343"/>
              <a:ext cx="194281"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6539345"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E2 结果详细分析：Top101 稳定性复测</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sp>
        <p:nvSpPr>
          <p:cNvPr id="7" name="TextBox 7"/>
          <p:cNvSpPr txBox="1"/>
          <p:nvPr/>
        </p:nvSpPr>
        <p:spPr>
          <a:xfrm>
            <a:off x="2189703" y="953743"/>
            <a:ext cx="7812593"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入口：加权分 Top60 + 每年至少 5 篇 + 各学科至少 5 篇；稳定性看同模型同维度重复评测差值</a:t>
            </a:r>
          </a:p>
        </p:txBody>
      </p:sp>
      <p:sp>
        <p:nvSpPr>
          <p:cNvPr id="8" name="Rectangle 8"/>
          <p:cNvSpPr/>
          <p:nvPr/>
        </p:nvSpPr>
        <p:spPr>
          <a:xfrm>
            <a:off x="685800" y="1428750"/>
            <a:ext cx="2381250" cy="1123950"/>
          </a:xfrm>
          <a:prstGeom prst="roundRect">
            <a:avLst>
              <a:gd name="adj" fmla="val 8475"/>
            </a:avLst>
          </a:prstGeom>
          <a:solidFill>
            <a:srgbClr val="F0F7FF"/>
          </a:solidFill>
          <a:ln w="9525">
            <a:solidFill>
              <a:srgbClr val="1F4D78"/>
            </a:solidFill>
          </a:ln>
        </p:spPr>
      </p:sp>
      <p:sp>
        <p:nvSpPr>
          <p:cNvPr id="9" name="TextBox 9"/>
          <p:cNvSpPr txBox="1"/>
          <p:nvPr/>
        </p:nvSpPr>
        <p:spPr>
          <a:xfrm>
            <a:off x="898208" y="1624489"/>
            <a:ext cx="817883" cy="259080"/>
          </a:xfrm>
          <a:prstGeom prst="rect">
            <a:avLst/>
          </a:prstGeom>
          <a:noFill/>
          <a:ln>
            <a:noFill/>
          </a:ln>
        </p:spPr>
        <p:txBody>
          <a:bodyPr wrap="none" lIns="0" tIns="0" rIns="0" bIns="0" anchor="t" anchorCtr="0">
            <a:spAutoFit/>
          </a:bodyPr>
          <a:lstStyle/>
          <a:p>
            <a:pPr algn="l"/>
            <a:r>
              <a:rPr lang="zh-CN" sz="1275" b="1" dirty="0">
                <a:solidFill>
                  <a:srgbClr val="1F4D78"/>
                </a:solidFill>
                <a:latin typeface="Arial"/>
                <a:ea typeface="Microsoft YaHei"/>
                <a:cs typeface="Arial"/>
              </a:rPr>
              <a:t>E2 候选池</a:t>
            </a:r>
          </a:p>
        </p:txBody>
      </p:sp>
      <p:sp>
        <p:nvSpPr>
          <p:cNvPr id="10" name="TextBox 10"/>
          <p:cNvSpPr txBox="1"/>
          <p:nvPr/>
        </p:nvSpPr>
        <p:spPr>
          <a:xfrm>
            <a:off x="882015" y="1896428"/>
            <a:ext cx="939529" cy="518160"/>
          </a:xfrm>
          <a:prstGeom prst="rect">
            <a:avLst/>
          </a:prstGeom>
          <a:noFill/>
          <a:ln>
            <a:noFill/>
          </a:ln>
        </p:spPr>
        <p:txBody>
          <a:bodyPr wrap="none" lIns="0" tIns="0" rIns="0" bIns="0" anchor="t" anchorCtr="0">
            <a:spAutoFit/>
          </a:bodyPr>
          <a:lstStyle/>
          <a:p>
            <a:pPr algn="l"/>
            <a:r>
              <a:rPr lang="zh-CN" sz="2550" b="1" dirty="0">
                <a:solidFill>
                  <a:srgbClr val="C8161E"/>
                </a:solidFill>
                <a:latin typeface="Arial"/>
                <a:ea typeface="Microsoft YaHei"/>
                <a:cs typeface="Arial"/>
              </a:rPr>
              <a:t>101 篇</a:t>
            </a:r>
          </a:p>
        </p:txBody>
      </p:sp>
      <p:sp>
        <p:nvSpPr>
          <p:cNvPr id="11" name="TextBox 11"/>
          <p:cNvSpPr txBox="1"/>
          <p:nvPr/>
        </p:nvSpPr>
        <p:spPr>
          <a:xfrm>
            <a:off x="902494" y="2280047"/>
            <a:ext cx="1411486"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全部进入 E1/E2 合并排名</a:t>
            </a:r>
          </a:p>
        </p:txBody>
      </p:sp>
      <p:sp>
        <p:nvSpPr>
          <p:cNvPr id="12" name="Rectangle 12"/>
          <p:cNvSpPr/>
          <p:nvPr/>
        </p:nvSpPr>
        <p:spPr>
          <a:xfrm>
            <a:off x="3448050" y="1428750"/>
            <a:ext cx="2381250" cy="1123950"/>
          </a:xfrm>
          <a:prstGeom prst="roundRect">
            <a:avLst>
              <a:gd name="adj" fmla="val 8475"/>
            </a:avLst>
          </a:prstGeom>
          <a:solidFill>
            <a:srgbClr val="F8FAFC"/>
          </a:solidFill>
          <a:ln w="9525">
            <a:solidFill>
              <a:srgbClr val="1F4D78"/>
            </a:solidFill>
          </a:ln>
        </p:spPr>
      </p:sp>
      <p:sp>
        <p:nvSpPr>
          <p:cNvPr id="13" name="TextBox 13"/>
          <p:cNvSpPr txBox="1"/>
          <p:nvPr/>
        </p:nvSpPr>
        <p:spPr>
          <a:xfrm>
            <a:off x="3660458" y="1624489"/>
            <a:ext cx="746474" cy="259080"/>
          </a:xfrm>
          <a:prstGeom prst="rect">
            <a:avLst/>
          </a:prstGeom>
          <a:noFill/>
          <a:ln>
            <a:noFill/>
          </a:ln>
        </p:spPr>
        <p:txBody>
          <a:bodyPr wrap="none" lIns="0" tIns="0" rIns="0" bIns="0" anchor="t" anchorCtr="0">
            <a:spAutoFit/>
          </a:bodyPr>
          <a:lstStyle/>
          <a:p>
            <a:pPr algn="l"/>
            <a:r>
              <a:rPr lang="zh-CN" sz="1275" b="1" dirty="0">
                <a:solidFill>
                  <a:srgbClr val="1F4D78"/>
                </a:solidFill>
                <a:latin typeface="Arial"/>
                <a:ea typeface="Microsoft YaHei"/>
                <a:cs typeface="Arial"/>
              </a:rPr>
              <a:t>可比单元</a:t>
            </a:r>
          </a:p>
        </p:txBody>
      </p:sp>
      <p:sp>
        <p:nvSpPr>
          <p:cNvPr id="14" name="TextBox 14"/>
          <p:cNvSpPr txBox="1"/>
          <p:nvPr/>
        </p:nvSpPr>
        <p:spPr>
          <a:xfrm>
            <a:off x="3644265" y="1896428"/>
            <a:ext cx="1046643" cy="518160"/>
          </a:xfrm>
          <a:prstGeom prst="rect">
            <a:avLst/>
          </a:prstGeom>
          <a:noFill/>
          <a:ln>
            <a:noFill/>
          </a:ln>
        </p:spPr>
        <p:txBody>
          <a:bodyPr wrap="none" lIns="0" tIns="0" rIns="0" bIns="0" anchor="t" anchorCtr="0">
            <a:spAutoFit/>
          </a:bodyPr>
          <a:lstStyle/>
          <a:p>
            <a:pPr algn="l"/>
            <a:r>
              <a:rPr lang="zh-CN" sz="2550" b="1" dirty="0">
                <a:solidFill>
                  <a:srgbClr val="C8161E"/>
                </a:solidFill>
                <a:latin typeface="Arial"/>
                <a:ea typeface="Microsoft YaHei"/>
                <a:cs typeface="Arial"/>
              </a:rPr>
              <a:t>2,400</a:t>
            </a:r>
          </a:p>
        </p:txBody>
      </p:sp>
      <p:sp>
        <p:nvSpPr>
          <p:cNvPr id="15" name="TextBox 15"/>
          <p:cNvSpPr txBox="1"/>
          <p:nvPr/>
        </p:nvSpPr>
        <p:spPr>
          <a:xfrm>
            <a:off x="3664744" y="2280047"/>
            <a:ext cx="1273969"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缺失 17 个模型-维度项</a:t>
            </a:r>
          </a:p>
        </p:txBody>
      </p:sp>
      <p:sp>
        <p:nvSpPr>
          <p:cNvPr id="16" name="Rectangle 16"/>
          <p:cNvSpPr/>
          <p:nvPr/>
        </p:nvSpPr>
        <p:spPr>
          <a:xfrm>
            <a:off x="6210300" y="1428750"/>
            <a:ext cx="2381250" cy="1123950"/>
          </a:xfrm>
          <a:prstGeom prst="roundRect">
            <a:avLst>
              <a:gd name="adj" fmla="val 8475"/>
            </a:avLst>
          </a:prstGeom>
          <a:solidFill>
            <a:srgbClr val="FFF8F0"/>
          </a:solidFill>
          <a:ln w="9525">
            <a:solidFill>
              <a:srgbClr val="E07B00"/>
            </a:solidFill>
          </a:ln>
        </p:spPr>
      </p:sp>
      <p:sp>
        <p:nvSpPr>
          <p:cNvPr id="17" name="TextBox 17"/>
          <p:cNvSpPr txBox="1"/>
          <p:nvPr/>
        </p:nvSpPr>
        <p:spPr>
          <a:xfrm>
            <a:off x="6422708" y="1624489"/>
            <a:ext cx="746474" cy="259080"/>
          </a:xfrm>
          <a:prstGeom prst="rect">
            <a:avLst/>
          </a:prstGeom>
          <a:noFill/>
          <a:ln>
            <a:noFill/>
          </a:ln>
        </p:spPr>
        <p:txBody>
          <a:bodyPr wrap="none" lIns="0" tIns="0" rIns="0" bIns="0" anchor="t" anchorCtr="0">
            <a:spAutoFit/>
          </a:bodyPr>
          <a:lstStyle/>
          <a:p>
            <a:pPr algn="l"/>
            <a:r>
              <a:rPr lang="zh-CN" sz="1275" b="1" dirty="0">
                <a:solidFill>
                  <a:srgbClr val="E07B00"/>
                </a:solidFill>
                <a:latin typeface="Arial"/>
                <a:ea typeface="Microsoft YaHei"/>
                <a:cs typeface="Arial"/>
              </a:rPr>
              <a:t>平均差值</a:t>
            </a:r>
          </a:p>
        </p:txBody>
      </p:sp>
      <p:sp>
        <p:nvSpPr>
          <p:cNvPr id="18" name="TextBox 18"/>
          <p:cNvSpPr txBox="1"/>
          <p:nvPr/>
        </p:nvSpPr>
        <p:spPr>
          <a:xfrm>
            <a:off x="6406515" y="1896428"/>
            <a:ext cx="957382" cy="518160"/>
          </a:xfrm>
          <a:prstGeom prst="rect">
            <a:avLst/>
          </a:prstGeom>
          <a:noFill/>
          <a:ln>
            <a:noFill/>
          </a:ln>
        </p:spPr>
        <p:txBody>
          <a:bodyPr wrap="none" lIns="0" tIns="0" rIns="0" bIns="0" anchor="t" anchorCtr="0">
            <a:spAutoFit/>
          </a:bodyPr>
          <a:lstStyle/>
          <a:p>
            <a:pPr algn="l"/>
            <a:r>
              <a:rPr lang="zh-CN" sz="2550" b="1" dirty="0">
                <a:solidFill>
                  <a:srgbClr val="C8161E"/>
                </a:solidFill>
                <a:latin typeface="Arial"/>
                <a:ea typeface="Microsoft YaHei"/>
                <a:cs typeface="Arial"/>
              </a:rPr>
              <a:t>-0.51</a:t>
            </a:r>
          </a:p>
        </p:txBody>
      </p:sp>
      <p:sp>
        <p:nvSpPr>
          <p:cNvPr id="19" name="TextBox 19"/>
          <p:cNvSpPr txBox="1"/>
          <p:nvPr/>
        </p:nvSpPr>
        <p:spPr>
          <a:xfrm>
            <a:off x="6426994" y="2280047"/>
            <a:ext cx="1380232"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E2 相对 E1 整体略偏严格</a:t>
            </a:r>
          </a:p>
        </p:txBody>
      </p:sp>
      <p:sp>
        <p:nvSpPr>
          <p:cNvPr id="20" name="Rectangle 20"/>
          <p:cNvSpPr/>
          <p:nvPr/>
        </p:nvSpPr>
        <p:spPr>
          <a:xfrm>
            <a:off x="8972550" y="1428750"/>
            <a:ext cx="2381250" cy="1123950"/>
          </a:xfrm>
          <a:prstGeom prst="roundRect">
            <a:avLst>
              <a:gd name="adj" fmla="val 8475"/>
            </a:avLst>
          </a:prstGeom>
          <a:solidFill>
            <a:srgbClr val="E8F5E9"/>
          </a:solidFill>
          <a:ln w="9525">
            <a:solidFill>
              <a:srgbClr val="2E7D32"/>
            </a:solidFill>
          </a:ln>
        </p:spPr>
      </p:sp>
      <p:sp>
        <p:nvSpPr>
          <p:cNvPr id="21" name="TextBox 21"/>
          <p:cNvSpPr txBox="1"/>
          <p:nvPr/>
        </p:nvSpPr>
        <p:spPr>
          <a:xfrm>
            <a:off x="9184958" y="1624489"/>
            <a:ext cx="924997" cy="259080"/>
          </a:xfrm>
          <a:prstGeom prst="rect">
            <a:avLst/>
          </a:prstGeom>
          <a:noFill/>
          <a:ln>
            <a:noFill/>
          </a:ln>
        </p:spPr>
        <p:txBody>
          <a:bodyPr wrap="none" lIns="0" tIns="0" rIns="0" bIns="0" anchor="t" anchorCtr="0">
            <a:spAutoFit/>
          </a:bodyPr>
          <a:lstStyle/>
          <a:p>
            <a:pPr algn="l"/>
            <a:r>
              <a:rPr lang="zh-CN" sz="1275" b="1" dirty="0">
                <a:solidFill>
                  <a:srgbClr val="2E7D32"/>
                </a:solidFill>
                <a:latin typeface="Arial"/>
                <a:ea typeface="Microsoft YaHei"/>
                <a:cs typeface="Arial"/>
              </a:rPr>
              <a:t>平均绝对差</a:t>
            </a:r>
          </a:p>
        </p:txBody>
      </p:sp>
      <p:sp>
        <p:nvSpPr>
          <p:cNvPr id="22" name="TextBox 22"/>
          <p:cNvSpPr txBox="1"/>
          <p:nvPr/>
        </p:nvSpPr>
        <p:spPr>
          <a:xfrm>
            <a:off x="9168765" y="1896428"/>
            <a:ext cx="850268" cy="518160"/>
          </a:xfrm>
          <a:prstGeom prst="rect">
            <a:avLst/>
          </a:prstGeom>
          <a:noFill/>
          <a:ln>
            <a:noFill/>
          </a:ln>
        </p:spPr>
        <p:txBody>
          <a:bodyPr wrap="none" lIns="0" tIns="0" rIns="0" bIns="0" anchor="t" anchorCtr="0">
            <a:spAutoFit/>
          </a:bodyPr>
          <a:lstStyle/>
          <a:p>
            <a:pPr algn="l"/>
            <a:r>
              <a:rPr lang="zh-CN" sz="2550" b="1" dirty="0">
                <a:solidFill>
                  <a:srgbClr val="C8161E"/>
                </a:solidFill>
                <a:latin typeface="Arial"/>
                <a:ea typeface="Microsoft YaHei"/>
                <a:cs typeface="Arial"/>
              </a:rPr>
              <a:t>5.22</a:t>
            </a:r>
          </a:p>
        </p:txBody>
      </p:sp>
      <p:sp>
        <p:nvSpPr>
          <p:cNvPr id="23" name="TextBox 23"/>
          <p:cNvSpPr txBox="1"/>
          <p:nvPr/>
        </p:nvSpPr>
        <p:spPr>
          <a:xfrm>
            <a:off x="9189244" y="2280047"/>
            <a:ext cx="961430"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中位绝对差 3.00</a:t>
            </a:r>
          </a:p>
        </p:txBody>
      </p:sp>
      <p:sp>
        <p:nvSpPr>
          <p:cNvPr id="24" name="TextBox 24"/>
          <p:cNvSpPr txBox="1"/>
          <p:nvPr/>
        </p:nvSpPr>
        <p:spPr>
          <a:xfrm>
            <a:off x="662940" y="2910840"/>
            <a:ext cx="4292451"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方向分布：E2 与 E1 的同模型维度差值</a:t>
            </a:r>
          </a:p>
        </p:txBody>
      </p:sp>
      <p:sp>
        <p:nvSpPr>
          <p:cNvPr id="25" name="Rectangle 25"/>
          <p:cNvSpPr/>
          <p:nvPr/>
        </p:nvSpPr>
        <p:spPr>
          <a:xfrm>
            <a:off x="685800" y="3333750"/>
            <a:ext cx="10820400" cy="609600"/>
          </a:xfrm>
          <a:prstGeom prst="roundRect">
            <a:avLst>
              <a:gd name="adj" fmla="val 12500"/>
            </a:avLst>
          </a:prstGeom>
          <a:solidFill>
            <a:srgbClr val="FFFFFF"/>
          </a:solidFill>
          <a:ln w="9525">
            <a:solidFill>
              <a:srgbClr val="D9DEE5"/>
            </a:solidFill>
          </a:ln>
        </p:spPr>
      </p:sp>
      <p:sp>
        <p:nvSpPr>
          <p:cNvPr id="26" name="Rectangle 26"/>
          <p:cNvSpPr/>
          <p:nvPr/>
        </p:nvSpPr>
        <p:spPr>
          <a:xfrm>
            <a:off x="990600" y="3562350"/>
            <a:ext cx="3557588" cy="171450"/>
          </a:xfrm>
          <a:prstGeom prst="roundRect">
            <a:avLst>
              <a:gd name="adj" fmla="val 22222"/>
            </a:avLst>
          </a:prstGeom>
          <a:solidFill>
            <a:srgbClr val="2E7D32"/>
          </a:solidFill>
          <a:ln>
            <a:noFill/>
          </a:ln>
        </p:spPr>
      </p:sp>
      <p:sp>
        <p:nvSpPr>
          <p:cNvPr id="27" name="TextBox 27"/>
          <p:cNvSpPr txBox="1"/>
          <p:nvPr/>
        </p:nvSpPr>
        <p:spPr>
          <a:xfrm>
            <a:off x="2465697" y="3744278"/>
            <a:ext cx="607393"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上调 996</a:t>
            </a:r>
          </a:p>
        </p:txBody>
      </p:sp>
      <p:sp>
        <p:nvSpPr>
          <p:cNvPr id="28" name="Rectangle 28"/>
          <p:cNvSpPr/>
          <p:nvPr/>
        </p:nvSpPr>
        <p:spPr>
          <a:xfrm>
            <a:off x="4548188" y="3562350"/>
            <a:ext cx="3232547" cy="171450"/>
          </a:xfrm>
          <a:prstGeom prst="roundRect">
            <a:avLst>
              <a:gd name="adj" fmla="val 22222"/>
            </a:avLst>
          </a:prstGeom>
          <a:solidFill>
            <a:srgbClr val="C8161E"/>
          </a:solidFill>
          <a:ln>
            <a:noFill/>
          </a:ln>
        </p:spPr>
      </p:sp>
      <p:sp>
        <p:nvSpPr>
          <p:cNvPr id="29" name="TextBox 29"/>
          <p:cNvSpPr txBox="1"/>
          <p:nvPr/>
        </p:nvSpPr>
        <p:spPr>
          <a:xfrm>
            <a:off x="5860765" y="3744278"/>
            <a:ext cx="607393" cy="213360"/>
          </a:xfrm>
          <a:prstGeom prst="rect">
            <a:avLst/>
          </a:prstGeom>
          <a:noFill/>
          <a:ln>
            <a:noFill/>
          </a:ln>
        </p:spPr>
        <p:txBody>
          <a:bodyPr wrap="none" lIns="0" tIns="0" rIns="0" bIns="0" anchor="t" anchorCtr="0">
            <a:spAutoFit/>
          </a:bodyPr>
          <a:lstStyle/>
          <a:p>
            <a:pPr algn="ctr"/>
            <a:r>
              <a:rPr lang="zh-CN" sz="1050" b="1" dirty="0">
                <a:solidFill>
                  <a:srgbClr val="C8161E"/>
                </a:solidFill>
                <a:latin typeface="Arial"/>
                <a:ea typeface="Microsoft YaHei"/>
                <a:cs typeface="Arial"/>
              </a:rPr>
              <a:t>下调 905</a:t>
            </a:r>
          </a:p>
        </p:txBody>
      </p:sp>
      <p:sp>
        <p:nvSpPr>
          <p:cNvPr id="30" name="Rectangle 30"/>
          <p:cNvSpPr/>
          <p:nvPr/>
        </p:nvSpPr>
        <p:spPr>
          <a:xfrm>
            <a:off x="7780734" y="3562350"/>
            <a:ext cx="1782366" cy="171450"/>
          </a:xfrm>
          <a:prstGeom prst="roundRect">
            <a:avLst>
              <a:gd name="adj" fmla="val 22222"/>
            </a:avLst>
          </a:prstGeom>
          <a:solidFill>
            <a:srgbClr val="9AA3AE"/>
          </a:solidFill>
          <a:ln>
            <a:noFill/>
          </a:ln>
        </p:spPr>
      </p:sp>
      <p:sp>
        <p:nvSpPr>
          <p:cNvPr id="31" name="TextBox 31"/>
          <p:cNvSpPr txBox="1"/>
          <p:nvPr/>
        </p:nvSpPr>
        <p:spPr>
          <a:xfrm>
            <a:off x="8221203" y="3744278"/>
            <a:ext cx="901429" cy="213360"/>
          </a:xfrm>
          <a:prstGeom prst="rect">
            <a:avLst/>
          </a:prstGeom>
          <a:noFill/>
          <a:ln>
            <a:noFill/>
          </a:ln>
        </p:spPr>
        <p:txBody>
          <a:bodyPr wrap="none" lIns="0" tIns="0" rIns="0" bIns="0" anchor="t" anchorCtr="0">
            <a:spAutoFit/>
          </a:bodyPr>
          <a:lstStyle/>
          <a:p>
            <a:pPr algn="ctr"/>
            <a:r>
              <a:rPr lang="zh-CN" sz="1050" b="1" dirty="0">
                <a:solidFill>
                  <a:srgbClr val="9AA3AE"/>
                </a:solidFill>
                <a:latin typeface="Arial"/>
                <a:ea typeface="Microsoft YaHei"/>
                <a:cs typeface="Arial"/>
              </a:rPr>
              <a:t>基本不变 499</a:t>
            </a:r>
          </a:p>
        </p:txBody>
      </p:sp>
      <p:sp>
        <p:nvSpPr>
          <p:cNvPr id="32" name="TextBox 32"/>
          <p:cNvSpPr txBox="1"/>
          <p:nvPr/>
        </p:nvSpPr>
        <p:spPr>
          <a:xfrm>
            <a:off x="662940" y="4263390"/>
            <a:ext cx="1557909"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模型行为画像</a:t>
            </a:r>
          </a:p>
        </p:txBody>
      </p:sp>
      <p:sp>
        <p:nvSpPr>
          <p:cNvPr id="33" name="Rectangle 33"/>
          <p:cNvSpPr/>
          <p:nvPr/>
        </p:nvSpPr>
        <p:spPr>
          <a:xfrm>
            <a:off x="685800" y="4667250"/>
            <a:ext cx="2381250" cy="876300"/>
          </a:xfrm>
          <a:prstGeom prst="roundRect">
            <a:avLst>
              <a:gd name="adj" fmla="val 8696"/>
            </a:avLst>
          </a:prstGeom>
          <a:solidFill>
            <a:srgbClr val="FFFFFF"/>
          </a:solidFill>
          <a:ln w="9525">
            <a:solidFill>
              <a:srgbClr val="D9DEE5"/>
            </a:solidFill>
          </a:ln>
        </p:spPr>
      </p:sp>
      <p:sp>
        <p:nvSpPr>
          <p:cNvPr id="34" name="TextBox 34"/>
          <p:cNvSpPr txBox="1"/>
          <p:nvPr/>
        </p:nvSpPr>
        <p:spPr>
          <a:xfrm>
            <a:off x="859155" y="4826318"/>
            <a:ext cx="865994" cy="274320"/>
          </a:xfrm>
          <a:prstGeom prst="rect">
            <a:avLst/>
          </a:prstGeom>
          <a:noFill/>
          <a:ln>
            <a:noFill/>
          </a:ln>
        </p:spPr>
        <p:txBody>
          <a:bodyPr wrap="none" lIns="0" tIns="0" rIns="0" bIns="0" anchor="t" anchorCtr="0">
            <a:spAutoFit/>
          </a:bodyPr>
          <a:lstStyle/>
          <a:p>
            <a:pPr algn="l"/>
            <a:r>
              <a:rPr lang="zh-CN" sz="1350" b="1" dirty="0">
                <a:solidFill>
                  <a:srgbClr val="C8161E"/>
                </a:solidFill>
                <a:latin typeface="Arial"/>
                <a:ea typeface="Microsoft YaHei"/>
                <a:cs typeface="Arial"/>
              </a:rPr>
              <a:t>DeepSeek</a:t>
            </a:r>
          </a:p>
        </p:txBody>
      </p:sp>
      <p:sp>
        <p:nvSpPr>
          <p:cNvPr id="35" name="TextBox 35"/>
          <p:cNvSpPr txBox="1"/>
          <p:nvPr/>
        </p:nvSpPr>
        <p:spPr>
          <a:xfrm>
            <a:off x="861060" y="5128260"/>
            <a:ext cx="836981" cy="243840"/>
          </a:xfrm>
          <a:prstGeom prst="rect">
            <a:avLst/>
          </a:prstGeom>
          <a:noFill/>
          <a:ln>
            <a:noFill/>
          </a:ln>
        </p:spPr>
        <p:txBody>
          <a:bodyPr wrap="none" lIns="0" tIns="0" rIns="0" bIns="0" anchor="t" anchorCtr="0">
            <a:spAutoFit/>
          </a:bodyPr>
          <a:lstStyle/>
          <a:p>
            <a:pPr algn="l"/>
            <a:r>
              <a:rPr lang="zh-CN" sz="1200" b="1" dirty="0">
                <a:solidFill>
                  <a:srgbClr val="1B1C21"/>
                </a:solidFill>
                <a:latin typeface="Arial"/>
                <a:ea typeface="Microsoft YaHei"/>
                <a:cs typeface="Arial"/>
              </a:rPr>
              <a:t>均差 -3.41</a:t>
            </a:r>
          </a:p>
        </p:txBody>
      </p:sp>
      <p:sp>
        <p:nvSpPr>
          <p:cNvPr id="36" name="TextBox 36"/>
          <p:cNvSpPr txBox="1"/>
          <p:nvPr/>
        </p:nvSpPr>
        <p:spPr>
          <a:xfrm>
            <a:off x="864394" y="5366147"/>
            <a:ext cx="1448991"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平均绝对差 9.70 · n=602</a:t>
            </a:r>
          </a:p>
        </p:txBody>
      </p:sp>
      <p:sp>
        <p:nvSpPr>
          <p:cNvPr id="37" name="Rectangle 37"/>
          <p:cNvSpPr/>
          <p:nvPr/>
        </p:nvSpPr>
        <p:spPr>
          <a:xfrm>
            <a:off x="3448050" y="4667250"/>
            <a:ext cx="2381250" cy="876300"/>
          </a:xfrm>
          <a:prstGeom prst="roundRect">
            <a:avLst>
              <a:gd name="adj" fmla="val 8696"/>
            </a:avLst>
          </a:prstGeom>
          <a:solidFill>
            <a:srgbClr val="FFFFFF"/>
          </a:solidFill>
          <a:ln w="9525">
            <a:solidFill>
              <a:srgbClr val="D9DEE5"/>
            </a:solidFill>
          </a:ln>
        </p:spPr>
      </p:sp>
      <p:sp>
        <p:nvSpPr>
          <p:cNvPr id="38" name="TextBox 38"/>
          <p:cNvSpPr txBox="1"/>
          <p:nvPr/>
        </p:nvSpPr>
        <p:spPr>
          <a:xfrm>
            <a:off x="3621405" y="4826318"/>
            <a:ext cx="383984" cy="274320"/>
          </a:xfrm>
          <a:prstGeom prst="rect">
            <a:avLst/>
          </a:prstGeom>
          <a:noFill/>
          <a:ln>
            <a:noFill/>
          </a:ln>
        </p:spPr>
        <p:txBody>
          <a:bodyPr wrap="none" lIns="0" tIns="0" rIns="0" bIns="0" anchor="t" anchorCtr="0">
            <a:spAutoFit/>
          </a:bodyPr>
          <a:lstStyle/>
          <a:p>
            <a:pPr algn="l"/>
            <a:r>
              <a:rPr lang="zh-CN" sz="1350" b="1" dirty="0">
                <a:solidFill>
                  <a:srgbClr val="1F4D78"/>
                </a:solidFill>
                <a:latin typeface="Arial"/>
                <a:ea typeface="Microsoft YaHei"/>
                <a:cs typeface="Arial"/>
              </a:rPr>
              <a:t>GLM</a:t>
            </a:r>
          </a:p>
        </p:txBody>
      </p:sp>
      <p:sp>
        <p:nvSpPr>
          <p:cNvPr id="39" name="TextBox 39"/>
          <p:cNvSpPr txBox="1"/>
          <p:nvPr/>
        </p:nvSpPr>
        <p:spPr>
          <a:xfrm>
            <a:off x="3623310" y="5128260"/>
            <a:ext cx="878986" cy="243840"/>
          </a:xfrm>
          <a:prstGeom prst="rect">
            <a:avLst/>
          </a:prstGeom>
          <a:noFill/>
          <a:ln>
            <a:noFill/>
          </a:ln>
        </p:spPr>
        <p:txBody>
          <a:bodyPr wrap="none" lIns="0" tIns="0" rIns="0" bIns="0" anchor="t" anchorCtr="0">
            <a:spAutoFit/>
          </a:bodyPr>
          <a:lstStyle/>
          <a:p>
            <a:pPr algn="l"/>
            <a:r>
              <a:rPr lang="zh-CN" sz="1200" b="1" dirty="0">
                <a:solidFill>
                  <a:srgbClr val="1B1C21"/>
                </a:solidFill>
                <a:latin typeface="Arial"/>
                <a:ea typeface="Microsoft YaHei"/>
                <a:cs typeface="Arial"/>
              </a:rPr>
              <a:t>均差 +0.29</a:t>
            </a:r>
          </a:p>
        </p:txBody>
      </p:sp>
      <p:sp>
        <p:nvSpPr>
          <p:cNvPr id="40" name="TextBox 40"/>
          <p:cNvSpPr txBox="1"/>
          <p:nvPr/>
        </p:nvSpPr>
        <p:spPr>
          <a:xfrm>
            <a:off x="3626644" y="5366147"/>
            <a:ext cx="1417737"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平均绝对差 4.13 · n=593</a:t>
            </a:r>
          </a:p>
        </p:txBody>
      </p:sp>
      <p:sp>
        <p:nvSpPr>
          <p:cNvPr id="41" name="Rectangle 41"/>
          <p:cNvSpPr/>
          <p:nvPr/>
        </p:nvSpPr>
        <p:spPr>
          <a:xfrm>
            <a:off x="6210300" y="4667250"/>
            <a:ext cx="2381250" cy="876300"/>
          </a:xfrm>
          <a:prstGeom prst="roundRect">
            <a:avLst>
              <a:gd name="adj" fmla="val 8696"/>
            </a:avLst>
          </a:prstGeom>
          <a:solidFill>
            <a:srgbClr val="FFFFFF"/>
          </a:solidFill>
          <a:ln w="9525">
            <a:solidFill>
              <a:srgbClr val="D9DEE5"/>
            </a:solidFill>
          </a:ln>
        </p:spPr>
      </p:sp>
      <p:sp>
        <p:nvSpPr>
          <p:cNvPr id="42" name="TextBox 42"/>
          <p:cNvSpPr txBox="1"/>
          <p:nvPr/>
        </p:nvSpPr>
        <p:spPr>
          <a:xfrm>
            <a:off x="6383655" y="4826318"/>
            <a:ext cx="393435" cy="274320"/>
          </a:xfrm>
          <a:prstGeom prst="rect">
            <a:avLst/>
          </a:prstGeom>
          <a:noFill/>
          <a:ln>
            <a:noFill/>
          </a:ln>
        </p:spPr>
        <p:txBody>
          <a:bodyPr wrap="none" lIns="0" tIns="0" rIns="0" bIns="0" anchor="t" anchorCtr="0">
            <a:spAutoFit/>
          </a:bodyPr>
          <a:lstStyle/>
          <a:p>
            <a:pPr algn="l"/>
            <a:r>
              <a:rPr lang="zh-CN" sz="1350" b="1" dirty="0">
                <a:solidFill>
                  <a:srgbClr val="2E7D32"/>
                </a:solidFill>
                <a:latin typeface="Arial"/>
                <a:ea typeface="Microsoft YaHei"/>
                <a:cs typeface="Arial"/>
              </a:rPr>
              <a:t>Kimi</a:t>
            </a:r>
          </a:p>
        </p:txBody>
      </p:sp>
      <p:sp>
        <p:nvSpPr>
          <p:cNvPr id="43" name="TextBox 43"/>
          <p:cNvSpPr txBox="1"/>
          <p:nvPr/>
        </p:nvSpPr>
        <p:spPr>
          <a:xfrm>
            <a:off x="6385560" y="5128260"/>
            <a:ext cx="794976" cy="243840"/>
          </a:xfrm>
          <a:prstGeom prst="rect">
            <a:avLst/>
          </a:prstGeom>
          <a:noFill/>
          <a:ln>
            <a:noFill/>
          </a:ln>
        </p:spPr>
        <p:txBody>
          <a:bodyPr wrap="none" lIns="0" tIns="0" rIns="0" bIns="0" anchor="t" anchorCtr="0">
            <a:spAutoFit/>
          </a:bodyPr>
          <a:lstStyle/>
          <a:p>
            <a:pPr algn="l"/>
            <a:r>
              <a:rPr lang="zh-CN" sz="1200" b="1" dirty="0">
                <a:solidFill>
                  <a:srgbClr val="1B1C21"/>
                </a:solidFill>
                <a:latin typeface="Arial"/>
                <a:ea typeface="Microsoft YaHei"/>
                <a:cs typeface="Arial"/>
              </a:rPr>
              <a:t>均差 +1.10</a:t>
            </a:r>
          </a:p>
        </p:txBody>
      </p:sp>
      <p:sp>
        <p:nvSpPr>
          <p:cNvPr id="44" name="TextBox 44"/>
          <p:cNvSpPr txBox="1"/>
          <p:nvPr/>
        </p:nvSpPr>
        <p:spPr>
          <a:xfrm>
            <a:off x="6388894" y="5366147"/>
            <a:ext cx="1417737"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平均绝对差 3.28 · n=601</a:t>
            </a:r>
          </a:p>
        </p:txBody>
      </p:sp>
      <p:sp>
        <p:nvSpPr>
          <p:cNvPr id="45" name="Rectangle 45"/>
          <p:cNvSpPr/>
          <p:nvPr/>
        </p:nvSpPr>
        <p:spPr>
          <a:xfrm>
            <a:off x="8972550" y="4667250"/>
            <a:ext cx="2381250" cy="876300"/>
          </a:xfrm>
          <a:prstGeom prst="roundRect">
            <a:avLst>
              <a:gd name="adj" fmla="val 8696"/>
            </a:avLst>
          </a:prstGeom>
          <a:solidFill>
            <a:srgbClr val="FFFFFF"/>
          </a:solidFill>
          <a:ln w="9525">
            <a:solidFill>
              <a:srgbClr val="D9DEE5"/>
            </a:solidFill>
          </a:ln>
        </p:spPr>
      </p:sp>
      <p:sp>
        <p:nvSpPr>
          <p:cNvPr id="46" name="TextBox 46"/>
          <p:cNvSpPr txBox="1"/>
          <p:nvPr/>
        </p:nvSpPr>
        <p:spPr>
          <a:xfrm>
            <a:off x="9145905" y="4826318"/>
            <a:ext cx="525751" cy="274320"/>
          </a:xfrm>
          <a:prstGeom prst="rect">
            <a:avLst/>
          </a:prstGeom>
          <a:noFill/>
          <a:ln>
            <a:noFill/>
          </a:ln>
        </p:spPr>
        <p:txBody>
          <a:bodyPr wrap="none" lIns="0" tIns="0" rIns="0" bIns="0" anchor="t" anchorCtr="0">
            <a:spAutoFit/>
          </a:bodyPr>
          <a:lstStyle/>
          <a:p>
            <a:pPr algn="l"/>
            <a:r>
              <a:rPr lang="zh-CN" sz="1350" b="1" dirty="0">
                <a:solidFill>
                  <a:srgbClr val="1F4D78"/>
                </a:solidFill>
                <a:latin typeface="Arial"/>
                <a:ea typeface="Microsoft YaHei"/>
                <a:cs typeface="Arial"/>
              </a:rPr>
              <a:t>Qwen</a:t>
            </a:r>
          </a:p>
        </p:txBody>
      </p:sp>
      <p:sp>
        <p:nvSpPr>
          <p:cNvPr id="47" name="TextBox 47"/>
          <p:cNvSpPr txBox="1"/>
          <p:nvPr/>
        </p:nvSpPr>
        <p:spPr>
          <a:xfrm>
            <a:off x="9147810" y="5128260"/>
            <a:ext cx="878986" cy="243840"/>
          </a:xfrm>
          <a:prstGeom prst="rect">
            <a:avLst/>
          </a:prstGeom>
          <a:noFill/>
          <a:ln>
            <a:noFill/>
          </a:ln>
        </p:spPr>
        <p:txBody>
          <a:bodyPr wrap="none" lIns="0" tIns="0" rIns="0" bIns="0" anchor="t" anchorCtr="0">
            <a:spAutoFit/>
          </a:bodyPr>
          <a:lstStyle/>
          <a:p>
            <a:pPr algn="l"/>
            <a:r>
              <a:rPr lang="zh-CN" sz="1200" b="1" dirty="0">
                <a:solidFill>
                  <a:srgbClr val="1B1C21"/>
                </a:solidFill>
                <a:latin typeface="Arial"/>
                <a:ea typeface="Microsoft YaHei"/>
                <a:cs typeface="Arial"/>
              </a:rPr>
              <a:t>均差 +0.00</a:t>
            </a:r>
          </a:p>
        </p:txBody>
      </p:sp>
      <p:sp>
        <p:nvSpPr>
          <p:cNvPr id="48" name="TextBox 48"/>
          <p:cNvSpPr txBox="1"/>
          <p:nvPr/>
        </p:nvSpPr>
        <p:spPr>
          <a:xfrm>
            <a:off x="9151144" y="5366147"/>
            <a:ext cx="1448991"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平均绝对差 3.75 · n=604</a:t>
            </a:r>
          </a:p>
        </p:txBody>
      </p:sp>
      <p:sp>
        <p:nvSpPr>
          <p:cNvPr id="49" name="Rectangle 49"/>
          <p:cNvSpPr/>
          <p:nvPr/>
        </p:nvSpPr>
        <p:spPr>
          <a:xfrm>
            <a:off x="685800" y="5829300"/>
            <a:ext cx="10820400" cy="419100"/>
          </a:xfrm>
          <a:prstGeom prst="roundRect">
            <a:avLst>
              <a:gd name="adj" fmla="val 18182"/>
            </a:avLst>
          </a:prstGeom>
          <a:solidFill>
            <a:srgbClr val="F0F7FF"/>
          </a:solidFill>
          <a:ln w="9525">
            <a:solidFill>
              <a:srgbClr val="1F4D78"/>
            </a:solidFill>
          </a:ln>
        </p:spPr>
      </p:sp>
      <p:sp>
        <p:nvSpPr>
          <p:cNvPr id="50" name="TextBox 50"/>
          <p:cNvSpPr txBox="1"/>
          <p:nvPr/>
        </p:nvSpPr>
        <p:spPr>
          <a:xfrm>
            <a:off x="975360" y="5966460"/>
            <a:ext cx="7703439"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解读：E2 的价值不是让排名“变好”，而是把 101 篇候选的重复评测波动显性化，供 E3 和专家复核继续处理。</a:t>
            </a:r>
          </a:p>
        </p:txBody>
      </p:sp>
      <p:sp>
        <p:nvSpPr>
          <p:cNvPr id="51" name="Rectangle 51"/>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52" name="TextBox 52"/>
          <p:cNvSpPr txBox="1"/>
          <p:nvPr/>
        </p:nvSpPr>
        <p:spPr>
          <a:xfrm>
            <a:off x="668017" y="6516343"/>
            <a:ext cx="1043872"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E2 结果分析</a:t>
            </a:r>
          </a:p>
        </p:txBody>
      </p:sp>
      <p:sp>
        <p:nvSpPr>
          <p:cNvPr id="53" name="TextBox 53"/>
          <p:cNvSpPr txBox="1"/>
          <p:nvPr/>
        </p:nvSpPr>
        <p:spPr>
          <a:xfrm>
            <a:off x="11266932" y="6537960"/>
            <a:ext cx="254508" cy="243840"/>
          </a:xfrm>
          <a:prstGeom prst="rect">
            <a:avLst/>
          </a:prstGeom>
          <a:noFill/>
          <a:ln>
            <a:noFill/>
          </a:ln>
        </p:spPr>
        <p:txBody>
          <a:bodyPr wrap="none" lIns="0" tIns="0" rIns="0" bIns="0" anchor="t" anchorCtr="0">
            <a:spAutoFit/>
          </a:bodyPr>
          <a:lstStyle/>
          <a:p>
            <a:pPr algn="r"/>
            <a:r>
              <a:rPr lang="zh-CN" sz="1200" dirty="0">
                <a:solidFill>
                  <a:srgbClr val="9AA3AE"/>
                </a:solidFill>
                <a:latin typeface="Arial"/>
                <a:ea typeface="Microsoft YaHei"/>
                <a:cs typeface="Arial"/>
              </a:rPr>
              <a:t>P16</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3658042"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第 3 次评测收敛效果</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0" name="Group 10"/>
          <p:cNvGrpSpPr/>
          <p:nvPr/>
        </p:nvGrpSpPr>
        <p:grpSpPr>
          <a:xfrm>
            <a:off x="685800" y="1228725"/>
            <a:ext cx="10820400" cy="495300"/>
            <a:chOff x="685800" y="1228725"/>
            <a:chExt cx="10820400" cy="495300"/>
          </a:xfrm>
        </p:grpSpPr>
        <p:sp>
          <p:nvSpPr>
            <p:cNvPr id="8" name="Rectangle 8"/>
            <p:cNvSpPr/>
            <p:nvPr/>
          </p:nvSpPr>
          <p:spPr>
            <a:xfrm>
              <a:off x="685800" y="1228725"/>
              <a:ext cx="10820400" cy="495300"/>
            </a:xfrm>
            <a:prstGeom prst="roundRect">
              <a:avLst>
                <a:gd name="adj" fmla="val 15385"/>
              </a:avLst>
            </a:prstGeom>
            <a:solidFill>
              <a:srgbClr val="E8F5E9"/>
            </a:solidFill>
            <a:ln>
              <a:noFill/>
            </a:ln>
          </p:spPr>
        </p:sp>
        <p:sp>
          <p:nvSpPr>
            <p:cNvPr id="9" name="TextBox 9"/>
            <p:cNvSpPr txBox="1"/>
            <p:nvPr/>
          </p:nvSpPr>
          <p:spPr>
            <a:xfrm>
              <a:off x="2586992" y="1370357"/>
              <a:ext cx="7018015" cy="325069"/>
            </a:xfrm>
            <a:prstGeom prst="rect">
              <a:avLst/>
            </a:prstGeom>
            <a:noFill/>
            <a:ln>
              <a:noFill/>
            </a:ln>
          </p:spPr>
          <p:txBody>
            <a:bodyPr wrap="none" lIns="0" tIns="0" rIns="0" bIns="0" anchor="t" anchorCtr="0">
              <a:spAutoFit/>
            </a:bodyPr>
            <a:lstStyle/>
            <a:p>
              <a:pPr algn="ctr"/>
              <a:r>
                <a:rPr lang="zh-CN" sz="1600" b="1" dirty="0">
                  <a:solidFill>
                    <a:srgbClr val="2E7D32"/>
                  </a:solidFill>
                  <a:latin typeface="Arial"/>
                  <a:ea typeface="Microsoft YaHei"/>
                  <a:cs typeface="Arial"/>
                </a:rPr>
                <a:t>13 篇 × 17 个不稳定维度，136 次 API 调用，总耗时仅 9 分钟（并发 5）</a:t>
              </a:r>
            </a:p>
          </p:txBody>
        </p:sp>
      </p:grpSp>
      <p:sp>
        <p:nvSpPr>
          <p:cNvPr id="11" name="TextBox 11"/>
          <p:cNvSpPr txBox="1"/>
          <p:nvPr/>
        </p:nvSpPr>
        <p:spPr>
          <a:xfrm>
            <a:off x="660397" y="1860523"/>
            <a:ext cx="6268360" cy="406451"/>
          </a:xfrm>
          <a:prstGeom prst="rect">
            <a:avLst/>
          </a:prstGeom>
          <a:noFill/>
          <a:ln>
            <a:noFill/>
          </a:ln>
        </p:spPr>
        <p:txBody>
          <a:bodyPr wrap="none" lIns="0" tIns="0" rIns="0" bIns="0" anchor="t" anchorCtr="0">
            <a:spAutoFit/>
          </a:bodyPr>
          <a:lstStyle/>
          <a:p>
            <a:pPr algn="l"/>
            <a:r>
              <a:rPr lang="zh-CN" sz="2000" b="1" dirty="0">
                <a:solidFill>
                  <a:srgbClr val="1F4D78"/>
                </a:solidFill>
                <a:latin typeface="Arial"/>
                <a:ea typeface="Microsoft YaHei"/>
                <a:cs typeface="Arial"/>
              </a:rPr>
              <a:t>收敛率：17 个不稳定维度中 8 个收敛（std → ≤5）</a:t>
            </a:r>
          </a:p>
        </p:txBody>
      </p:sp>
      <p:grpSp>
        <p:nvGrpSpPr>
          <p:cNvPr id="66" name="Group 66"/>
          <p:cNvGrpSpPr/>
          <p:nvPr/>
        </p:nvGrpSpPr>
        <p:grpSpPr>
          <a:xfrm>
            <a:off x="685800" y="2286000"/>
            <a:ext cx="10820400" cy="2647950"/>
            <a:chOff x="685800" y="2286000"/>
            <a:chExt cx="10820400" cy="2647950"/>
          </a:xfrm>
        </p:grpSpPr>
        <p:sp>
          <p:nvSpPr>
            <p:cNvPr id="12" name="Rectangle 12"/>
            <p:cNvSpPr/>
            <p:nvPr/>
          </p:nvSpPr>
          <p:spPr>
            <a:xfrm>
              <a:off x="685800" y="2286000"/>
              <a:ext cx="10820400" cy="342900"/>
            </a:xfrm>
            <a:prstGeom prst="roundRect">
              <a:avLst>
                <a:gd name="adj" fmla="val 11111"/>
              </a:avLst>
            </a:prstGeom>
            <a:solidFill>
              <a:srgbClr val="1F4D78"/>
            </a:solidFill>
            <a:ln>
              <a:noFill/>
            </a:ln>
          </p:spPr>
        </p:sp>
        <p:sp>
          <p:nvSpPr>
            <p:cNvPr id="13" name="TextBox 13"/>
            <p:cNvSpPr txBox="1"/>
            <p:nvPr/>
          </p:nvSpPr>
          <p:spPr>
            <a:xfrm>
              <a:off x="2102739" y="2385060"/>
              <a:ext cx="36652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论文</a:t>
              </a:r>
            </a:p>
          </p:txBody>
        </p:sp>
        <p:sp>
          <p:nvSpPr>
            <p:cNvPr id="14" name="TextBox 14"/>
            <p:cNvSpPr txBox="1"/>
            <p:nvPr/>
          </p:nvSpPr>
          <p:spPr>
            <a:xfrm>
              <a:off x="4864989" y="2385060"/>
              <a:ext cx="36652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维度</a:t>
              </a:r>
            </a:p>
          </p:txBody>
        </p:sp>
        <p:sp>
          <p:nvSpPr>
            <p:cNvPr id="15" name="TextBox 15"/>
            <p:cNvSpPr txBox="1"/>
            <p:nvPr/>
          </p:nvSpPr>
          <p:spPr>
            <a:xfrm>
              <a:off x="6680416" y="2385060"/>
              <a:ext cx="73616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R3 R1 std</a:t>
              </a:r>
            </a:p>
          </p:txBody>
        </p:sp>
        <p:sp>
          <p:nvSpPr>
            <p:cNvPr id="16" name="TextBox 16"/>
            <p:cNvSpPr txBox="1"/>
            <p:nvPr/>
          </p:nvSpPr>
          <p:spPr>
            <a:xfrm>
              <a:off x="8373913" y="2385060"/>
              <a:ext cx="77817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R3 R2 std</a:t>
              </a:r>
            </a:p>
          </p:txBody>
        </p:sp>
        <p:sp>
          <p:nvSpPr>
            <p:cNvPr id="17" name="TextBox 17"/>
            <p:cNvSpPr txBox="1"/>
            <p:nvPr/>
          </p:nvSpPr>
          <p:spPr>
            <a:xfrm>
              <a:off x="10294239" y="2385060"/>
              <a:ext cx="36652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收敛</a:t>
              </a:r>
            </a:p>
          </p:txBody>
        </p:sp>
        <p:sp>
          <p:nvSpPr>
            <p:cNvPr id="18" name="Rectangle 18"/>
            <p:cNvSpPr/>
            <p:nvPr/>
          </p:nvSpPr>
          <p:spPr>
            <a:xfrm>
              <a:off x="685800" y="2628900"/>
              <a:ext cx="10820400" cy="285750"/>
            </a:xfrm>
            <a:prstGeom prst="rect">
              <a:avLst/>
            </a:prstGeom>
            <a:solidFill>
              <a:srgbClr val="E8F5E9"/>
            </a:solidFill>
            <a:ln>
              <a:noFill/>
            </a:ln>
          </p:spPr>
        </p:sp>
        <p:sp>
          <p:nvSpPr>
            <p:cNvPr id="19" name="TextBox 19"/>
            <p:cNvSpPr txBox="1"/>
            <p:nvPr/>
          </p:nvSpPr>
          <p:spPr>
            <a:xfrm>
              <a:off x="1290638" y="2689860"/>
              <a:ext cx="1990725"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1023 法益修复与功能违法论</a:t>
              </a:r>
            </a:p>
          </p:txBody>
        </p:sp>
        <p:sp>
          <p:nvSpPr>
            <p:cNvPr id="20" name="TextBox 20"/>
            <p:cNvSpPr txBox="1"/>
            <p:nvPr/>
          </p:nvSpPr>
          <p:spPr>
            <a:xfrm>
              <a:off x="4792980" y="2689860"/>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创新性</a:t>
              </a:r>
            </a:p>
          </p:txBody>
        </p:sp>
        <p:sp>
          <p:nvSpPr>
            <p:cNvPr id="21" name="TextBox 21"/>
            <p:cNvSpPr txBox="1"/>
            <p:nvPr/>
          </p:nvSpPr>
          <p:spPr>
            <a:xfrm>
              <a:off x="6877240" y="2689860"/>
              <a:ext cx="342519"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16.9</a:t>
              </a:r>
            </a:p>
          </p:txBody>
        </p:sp>
        <p:sp>
          <p:nvSpPr>
            <p:cNvPr id="22" name="TextBox 22"/>
            <p:cNvSpPr txBox="1"/>
            <p:nvPr/>
          </p:nvSpPr>
          <p:spPr>
            <a:xfrm>
              <a:off x="8609143" y="2689860"/>
              <a:ext cx="307715"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2.4</a:t>
              </a:r>
            </a:p>
          </p:txBody>
        </p:sp>
        <p:sp>
          <p:nvSpPr>
            <p:cNvPr id="23" name="TextBox 23"/>
            <p:cNvSpPr txBox="1"/>
            <p:nvPr/>
          </p:nvSpPr>
          <p:spPr>
            <a:xfrm>
              <a:off x="10416054" y="2689860"/>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t>
              </a:r>
            </a:p>
          </p:txBody>
        </p:sp>
        <p:sp>
          <p:nvSpPr>
            <p:cNvPr id="24" name="Rectangle 24"/>
            <p:cNvSpPr/>
            <p:nvPr/>
          </p:nvSpPr>
          <p:spPr>
            <a:xfrm>
              <a:off x="685800" y="2914650"/>
              <a:ext cx="10820400" cy="285750"/>
            </a:xfrm>
            <a:prstGeom prst="rect">
              <a:avLst/>
            </a:prstGeom>
            <a:solidFill>
              <a:srgbClr val="E8F5E9"/>
            </a:solidFill>
            <a:ln>
              <a:noFill/>
            </a:ln>
          </p:spPr>
        </p:sp>
        <p:sp>
          <p:nvSpPr>
            <p:cNvPr id="25" name="TextBox 25"/>
            <p:cNvSpPr txBox="1"/>
            <p:nvPr/>
          </p:nvSpPr>
          <p:spPr>
            <a:xfrm>
              <a:off x="1290638" y="2975610"/>
              <a:ext cx="1990725"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1553 正当防卫中的退避义务</a:t>
              </a:r>
            </a:p>
          </p:txBody>
        </p:sp>
        <p:sp>
          <p:nvSpPr>
            <p:cNvPr id="26" name="TextBox 26"/>
            <p:cNvSpPr txBox="1"/>
            <p:nvPr/>
          </p:nvSpPr>
          <p:spPr>
            <a:xfrm>
              <a:off x="4792980" y="2975610"/>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创新性</a:t>
              </a:r>
            </a:p>
          </p:txBody>
        </p:sp>
        <p:sp>
          <p:nvSpPr>
            <p:cNvPr id="27" name="TextBox 27"/>
            <p:cNvSpPr txBox="1"/>
            <p:nvPr/>
          </p:nvSpPr>
          <p:spPr>
            <a:xfrm>
              <a:off x="6877240" y="2975610"/>
              <a:ext cx="342519"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14.7</a:t>
              </a:r>
            </a:p>
          </p:txBody>
        </p:sp>
        <p:sp>
          <p:nvSpPr>
            <p:cNvPr id="28" name="TextBox 28"/>
            <p:cNvSpPr txBox="1"/>
            <p:nvPr/>
          </p:nvSpPr>
          <p:spPr>
            <a:xfrm>
              <a:off x="8630145" y="2975610"/>
              <a:ext cx="265709"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1.7</a:t>
              </a:r>
            </a:p>
          </p:txBody>
        </p:sp>
        <p:sp>
          <p:nvSpPr>
            <p:cNvPr id="29" name="TextBox 29"/>
            <p:cNvSpPr txBox="1"/>
            <p:nvPr/>
          </p:nvSpPr>
          <p:spPr>
            <a:xfrm>
              <a:off x="10416054" y="2975610"/>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t>
              </a:r>
            </a:p>
          </p:txBody>
        </p:sp>
        <p:sp>
          <p:nvSpPr>
            <p:cNvPr id="30" name="Rectangle 30"/>
            <p:cNvSpPr/>
            <p:nvPr/>
          </p:nvSpPr>
          <p:spPr>
            <a:xfrm>
              <a:off x="685800" y="3200400"/>
              <a:ext cx="10820400" cy="285750"/>
            </a:xfrm>
            <a:prstGeom prst="rect">
              <a:avLst/>
            </a:prstGeom>
            <a:solidFill>
              <a:srgbClr val="E8F5E9"/>
            </a:solidFill>
            <a:ln>
              <a:noFill/>
            </a:ln>
          </p:spPr>
        </p:sp>
        <p:sp>
          <p:nvSpPr>
            <p:cNvPr id="31" name="TextBox 31"/>
            <p:cNvSpPr txBox="1"/>
            <p:nvPr/>
          </p:nvSpPr>
          <p:spPr>
            <a:xfrm>
              <a:off x="1230630" y="3261360"/>
              <a:ext cx="21107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1194 从基本权理论看法律行为</a:t>
              </a:r>
            </a:p>
          </p:txBody>
        </p:sp>
        <p:sp>
          <p:nvSpPr>
            <p:cNvPr id="32" name="TextBox 32"/>
            <p:cNvSpPr txBox="1"/>
            <p:nvPr/>
          </p:nvSpPr>
          <p:spPr>
            <a:xfrm>
              <a:off x="4792980" y="3261360"/>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建构力</a:t>
              </a:r>
            </a:p>
          </p:txBody>
        </p:sp>
        <p:sp>
          <p:nvSpPr>
            <p:cNvPr id="33" name="TextBox 33"/>
            <p:cNvSpPr txBox="1"/>
            <p:nvPr/>
          </p:nvSpPr>
          <p:spPr>
            <a:xfrm>
              <a:off x="6901244" y="3261360"/>
              <a:ext cx="294513"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6.2</a:t>
              </a:r>
            </a:p>
          </p:txBody>
        </p:sp>
        <p:sp>
          <p:nvSpPr>
            <p:cNvPr id="34" name="TextBox 34"/>
            <p:cNvSpPr txBox="1"/>
            <p:nvPr/>
          </p:nvSpPr>
          <p:spPr>
            <a:xfrm>
              <a:off x="8630145" y="3261360"/>
              <a:ext cx="265709"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1.7</a:t>
              </a:r>
            </a:p>
          </p:txBody>
        </p:sp>
        <p:sp>
          <p:nvSpPr>
            <p:cNvPr id="35" name="TextBox 35"/>
            <p:cNvSpPr txBox="1"/>
            <p:nvPr/>
          </p:nvSpPr>
          <p:spPr>
            <a:xfrm>
              <a:off x="10416054" y="3261360"/>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t>
              </a:r>
            </a:p>
          </p:txBody>
        </p:sp>
        <p:sp>
          <p:nvSpPr>
            <p:cNvPr id="36" name="Rectangle 36"/>
            <p:cNvSpPr/>
            <p:nvPr/>
          </p:nvSpPr>
          <p:spPr>
            <a:xfrm>
              <a:off x="685800" y="3486150"/>
              <a:ext cx="10820400" cy="285750"/>
            </a:xfrm>
            <a:prstGeom prst="rect">
              <a:avLst/>
            </a:prstGeom>
            <a:solidFill>
              <a:srgbClr val="E8F5E9"/>
            </a:solidFill>
            <a:ln>
              <a:noFill/>
            </a:ln>
          </p:spPr>
        </p:sp>
        <p:sp>
          <p:nvSpPr>
            <p:cNvPr id="37" name="TextBox 37"/>
            <p:cNvSpPr txBox="1"/>
            <p:nvPr/>
          </p:nvSpPr>
          <p:spPr>
            <a:xfrm>
              <a:off x="1394650" y="3547110"/>
              <a:ext cx="1782699"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956 公序良俗与诚实信用</a:t>
              </a:r>
            </a:p>
          </p:txBody>
        </p:sp>
        <p:sp>
          <p:nvSpPr>
            <p:cNvPr id="38" name="TextBox 38"/>
            <p:cNvSpPr txBox="1"/>
            <p:nvPr/>
          </p:nvSpPr>
          <p:spPr>
            <a:xfrm>
              <a:off x="4792980" y="3547110"/>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延展性</a:t>
              </a:r>
            </a:p>
          </p:txBody>
        </p:sp>
        <p:sp>
          <p:nvSpPr>
            <p:cNvPr id="39" name="TextBox 39"/>
            <p:cNvSpPr txBox="1"/>
            <p:nvPr/>
          </p:nvSpPr>
          <p:spPr>
            <a:xfrm>
              <a:off x="6877240" y="3547110"/>
              <a:ext cx="342519"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15.6</a:t>
              </a:r>
            </a:p>
          </p:txBody>
        </p:sp>
        <p:sp>
          <p:nvSpPr>
            <p:cNvPr id="40" name="TextBox 40"/>
            <p:cNvSpPr txBox="1"/>
            <p:nvPr/>
          </p:nvSpPr>
          <p:spPr>
            <a:xfrm>
              <a:off x="8609143" y="3547110"/>
              <a:ext cx="307715"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3.6</a:t>
              </a:r>
            </a:p>
          </p:txBody>
        </p:sp>
        <p:sp>
          <p:nvSpPr>
            <p:cNvPr id="41" name="TextBox 41"/>
            <p:cNvSpPr txBox="1"/>
            <p:nvPr/>
          </p:nvSpPr>
          <p:spPr>
            <a:xfrm>
              <a:off x="10416054" y="3547110"/>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t>
              </a:r>
            </a:p>
          </p:txBody>
        </p:sp>
        <p:sp>
          <p:nvSpPr>
            <p:cNvPr id="42" name="Rectangle 42"/>
            <p:cNvSpPr/>
            <p:nvPr/>
          </p:nvSpPr>
          <p:spPr>
            <a:xfrm>
              <a:off x="685800" y="3771900"/>
              <a:ext cx="10820400" cy="285750"/>
            </a:xfrm>
            <a:prstGeom prst="rect">
              <a:avLst/>
            </a:prstGeom>
            <a:solidFill>
              <a:srgbClr val="E8F5E9"/>
            </a:solidFill>
            <a:ln>
              <a:noFill/>
            </a:ln>
          </p:spPr>
        </p:sp>
        <p:sp>
          <p:nvSpPr>
            <p:cNvPr id="43" name="TextBox 43"/>
            <p:cNvSpPr txBox="1"/>
            <p:nvPr/>
          </p:nvSpPr>
          <p:spPr>
            <a:xfrm>
              <a:off x="1554670" y="3832860"/>
              <a:ext cx="1462659"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882 过失犯远因溯责</a:t>
              </a:r>
            </a:p>
          </p:txBody>
        </p:sp>
        <p:sp>
          <p:nvSpPr>
            <p:cNvPr id="44" name="TextBox 44"/>
            <p:cNvSpPr txBox="1"/>
            <p:nvPr/>
          </p:nvSpPr>
          <p:spPr>
            <a:xfrm>
              <a:off x="4792980" y="3832860"/>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洞察度</a:t>
              </a:r>
            </a:p>
          </p:txBody>
        </p:sp>
        <p:sp>
          <p:nvSpPr>
            <p:cNvPr id="45" name="TextBox 45"/>
            <p:cNvSpPr txBox="1"/>
            <p:nvPr/>
          </p:nvSpPr>
          <p:spPr>
            <a:xfrm>
              <a:off x="6921246" y="3832860"/>
              <a:ext cx="254508"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7.1</a:t>
              </a:r>
            </a:p>
          </p:txBody>
        </p:sp>
        <p:sp>
          <p:nvSpPr>
            <p:cNvPr id="46" name="TextBox 46"/>
            <p:cNvSpPr txBox="1"/>
            <p:nvPr/>
          </p:nvSpPr>
          <p:spPr>
            <a:xfrm>
              <a:off x="8609143" y="3832860"/>
              <a:ext cx="307715"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4.8</a:t>
              </a:r>
            </a:p>
          </p:txBody>
        </p:sp>
        <p:sp>
          <p:nvSpPr>
            <p:cNvPr id="47" name="TextBox 47"/>
            <p:cNvSpPr txBox="1"/>
            <p:nvPr/>
          </p:nvSpPr>
          <p:spPr>
            <a:xfrm>
              <a:off x="10416054" y="3832860"/>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a:t>
              </a:r>
            </a:p>
          </p:txBody>
        </p:sp>
        <p:sp>
          <p:nvSpPr>
            <p:cNvPr id="48" name="Rectangle 48"/>
            <p:cNvSpPr/>
            <p:nvPr/>
          </p:nvSpPr>
          <p:spPr>
            <a:xfrm>
              <a:off x="685800" y="4057650"/>
              <a:ext cx="10820400" cy="285750"/>
            </a:xfrm>
            <a:prstGeom prst="rect">
              <a:avLst/>
            </a:prstGeom>
            <a:solidFill>
              <a:srgbClr val="FFF8F0"/>
            </a:solidFill>
            <a:ln>
              <a:noFill/>
            </a:ln>
          </p:spPr>
        </p:sp>
        <p:sp>
          <p:nvSpPr>
            <p:cNvPr id="49" name="TextBox 49"/>
            <p:cNvSpPr txBox="1"/>
            <p:nvPr/>
          </p:nvSpPr>
          <p:spPr>
            <a:xfrm>
              <a:off x="1230630" y="4118610"/>
              <a:ext cx="21107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1501 改革型地方立法变通机制</a:t>
              </a:r>
            </a:p>
          </p:txBody>
        </p:sp>
        <p:sp>
          <p:nvSpPr>
            <p:cNvPr id="50" name="TextBox 50"/>
            <p:cNvSpPr txBox="1"/>
            <p:nvPr/>
          </p:nvSpPr>
          <p:spPr>
            <a:xfrm>
              <a:off x="4792980" y="4118610"/>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创新性</a:t>
              </a:r>
            </a:p>
          </p:txBody>
        </p:sp>
        <p:sp>
          <p:nvSpPr>
            <p:cNvPr id="51" name="TextBox 51"/>
            <p:cNvSpPr txBox="1"/>
            <p:nvPr/>
          </p:nvSpPr>
          <p:spPr>
            <a:xfrm>
              <a:off x="6877240" y="4118610"/>
              <a:ext cx="342519"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12.7</a:t>
              </a:r>
            </a:p>
          </p:txBody>
        </p:sp>
        <p:sp>
          <p:nvSpPr>
            <p:cNvPr id="52" name="TextBox 52"/>
            <p:cNvSpPr txBox="1"/>
            <p:nvPr/>
          </p:nvSpPr>
          <p:spPr>
            <a:xfrm>
              <a:off x="8609143" y="4118610"/>
              <a:ext cx="307715"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8.3</a:t>
              </a:r>
            </a:p>
          </p:txBody>
        </p:sp>
        <p:sp>
          <p:nvSpPr>
            <p:cNvPr id="53" name="TextBox 53"/>
            <p:cNvSpPr txBox="1"/>
            <p:nvPr/>
          </p:nvSpPr>
          <p:spPr>
            <a:xfrm>
              <a:off x="10416054" y="4118610"/>
              <a:ext cx="122892"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a:t>
              </a:r>
            </a:p>
          </p:txBody>
        </p:sp>
        <p:sp>
          <p:nvSpPr>
            <p:cNvPr id="54" name="Rectangle 54"/>
            <p:cNvSpPr/>
            <p:nvPr/>
          </p:nvSpPr>
          <p:spPr>
            <a:xfrm>
              <a:off x="685800" y="4343400"/>
              <a:ext cx="10820400" cy="285750"/>
            </a:xfrm>
            <a:prstGeom prst="rect">
              <a:avLst/>
            </a:prstGeom>
            <a:solidFill>
              <a:srgbClr val="FFF8F0"/>
            </a:solidFill>
            <a:ln>
              <a:noFill/>
            </a:ln>
          </p:spPr>
        </p:sp>
        <p:sp>
          <p:nvSpPr>
            <p:cNvPr id="55" name="TextBox 55"/>
            <p:cNvSpPr txBox="1"/>
            <p:nvPr/>
          </p:nvSpPr>
          <p:spPr>
            <a:xfrm>
              <a:off x="1290638" y="4404360"/>
              <a:ext cx="1990725"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1885 论程序法上的犯罪事实</a:t>
              </a:r>
            </a:p>
          </p:txBody>
        </p:sp>
        <p:sp>
          <p:nvSpPr>
            <p:cNvPr id="56" name="TextBox 56"/>
            <p:cNvSpPr txBox="1"/>
            <p:nvPr/>
          </p:nvSpPr>
          <p:spPr>
            <a:xfrm>
              <a:off x="4792980" y="4404360"/>
              <a:ext cx="51054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创新性</a:t>
              </a:r>
            </a:p>
          </p:txBody>
        </p:sp>
        <p:sp>
          <p:nvSpPr>
            <p:cNvPr id="57" name="TextBox 57"/>
            <p:cNvSpPr txBox="1"/>
            <p:nvPr/>
          </p:nvSpPr>
          <p:spPr>
            <a:xfrm>
              <a:off x="6857238" y="4404360"/>
              <a:ext cx="382524"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26.6</a:t>
              </a:r>
            </a:p>
          </p:txBody>
        </p:sp>
        <p:sp>
          <p:nvSpPr>
            <p:cNvPr id="58" name="TextBox 58"/>
            <p:cNvSpPr txBox="1"/>
            <p:nvPr/>
          </p:nvSpPr>
          <p:spPr>
            <a:xfrm>
              <a:off x="8583940" y="4404360"/>
              <a:ext cx="358121"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15.6</a:t>
              </a:r>
            </a:p>
          </p:txBody>
        </p:sp>
        <p:sp>
          <p:nvSpPr>
            <p:cNvPr id="59" name="TextBox 59"/>
            <p:cNvSpPr txBox="1"/>
            <p:nvPr/>
          </p:nvSpPr>
          <p:spPr>
            <a:xfrm>
              <a:off x="10416054" y="4404360"/>
              <a:ext cx="122892"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a:t>
              </a:r>
            </a:p>
          </p:txBody>
        </p:sp>
        <p:sp>
          <p:nvSpPr>
            <p:cNvPr id="60" name="Rectangle 60"/>
            <p:cNvSpPr/>
            <p:nvPr/>
          </p:nvSpPr>
          <p:spPr>
            <a:xfrm>
              <a:off x="685800" y="4629150"/>
              <a:ext cx="10820400" cy="285750"/>
            </a:xfrm>
            <a:prstGeom prst="rect">
              <a:avLst/>
            </a:prstGeom>
            <a:solidFill>
              <a:srgbClr val="FFF8F0"/>
            </a:solidFill>
            <a:ln>
              <a:noFill/>
            </a:ln>
          </p:spPr>
        </p:sp>
        <p:sp>
          <p:nvSpPr>
            <p:cNvPr id="61" name="TextBox 61"/>
            <p:cNvSpPr txBox="1"/>
            <p:nvPr/>
          </p:nvSpPr>
          <p:spPr>
            <a:xfrm>
              <a:off x="1610678" y="4690110"/>
              <a:ext cx="1350645"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1852 司法人工智能</a:t>
              </a:r>
            </a:p>
          </p:txBody>
        </p:sp>
        <p:sp>
          <p:nvSpPr>
            <p:cNvPr id="62" name="TextBox 62"/>
            <p:cNvSpPr txBox="1"/>
            <p:nvPr/>
          </p:nvSpPr>
          <p:spPr>
            <a:xfrm>
              <a:off x="4508944" y="4690110"/>
              <a:ext cx="1078611"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创新性+洞察度</a:t>
              </a:r>
            </a:p>
          </p:txBody>
        </p:sp>
        <p:sp>
          <p:nvSpPr>
            <p:cNvPr id="63" name="TextBox 63"/>
            <p:cNvSpPr txBox="1"/>
            <p:nvPr/>
          </p:nvSpPr>
          <p:spPr>
            <a:xfrm>
              <a:off x="6657213" y="4690110"/>
              <a:ext cx="782574"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32.9/16.7</a:t>
              </a:r>
            </a:p>
          </p:txBody>
        </p:sp>
        <p:sp>
          <p:nvSpPr>
            <p:cNvPr id="64" name="TextBox 64"/>
            <p:cNvSpPr txBox="1"/>
            <p:nvPr/>
          </p:nvSpPr>
          <p:spPr>
            <a:xfrm>
              <a:off x="8378114" y="4690110"/>
              <a:ext cx="769772"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26.2/9.7</a:t>
              </a:r>
            </a:p>
          </p:txBody>
        </p:sp>
        <p:sp>
          <p:nvSpPr>
            <p:cNvPr id="65" name="TextBox 65"/>
            <p:cNvSpPr txBox="1"/>
            <p:nvPr/>
          </p:nvSpPr>
          <p:spPr>
            <a:xfrm>
              <a:off x="10323643" y="4690110"/>
              <a:ext cx="307715"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a:t>
              </a:r>
            </a:p>
          </p:txBody>
        </p:sp>
      </p:grpSp>
      <p:grpSp>
        <p:nvGrpSpPr>
          <p:cNvPr id="70" name="Group 70"/>
          <p:cNvGrpSpPr/>
          <p:nvPr/>
        </p:nvGrpSpPr>
        <p:grpSpPr>
          <a:xfrm>
            <a:off x="685800" y="5105400"/>
            <a:ext cx="10820400" cy="762000"/>
            <a:chOff x="685800" y="5105400"/>
            <a:chExt cx="10820400" cy="762000"/>
          </a:xfrm>
        </p:grpSpPr>
        <p:sp>
          <p:nvSpPr>
            <p:cNvPr id="67" name="Rectangle 67"/>
            <p:cNvSpPr/>
            <p:nvPr/>
          </p:nvSpPr>
          <p:spPr>
            <a:xfrm>
              <a:off x="685800" y="5105400"/>
              <a:ext cx="10820400" cy="762000"/>
            </a:xfrm>
            <a:prstGeom prst="roundRect">
              <a:avLst>
                <a:gd name="adj" fmla="val 10000"/>
              </a:avLst>
            </a:prstGeom>
            <a:solidFill>
              <a:srgbClr val="FFEBEE"/>
            </a:solidFill>
            <a:ln w="14288">
              <a:solidFill>
                <a:srgbClr val="C8161E"/>
              </a:solidFill>
            </a:ln>
          </p:spPr>
        </p:sp>
        <p:sp>
          <p:nvSpPr>
            <p:cNvPr id="68" name="TextBox 68"/>
            <p:cNvSpPr txBox="1"/>
            <p:nvPr/>
          </p:nvSpPr>
          <p:spPr>
            <a:xfrm>
              <a:off x="970283" y="5199407"/>
              <a:ext cx="5214872" cy="325069"/>
            </a:xfrm>
            <a:prstGeom prst="rect">
              <a:avLst/>
            </a:prstGeom>
            <a:noFill/>
            <a:ln>
              <a:noFill/>
            </a:ln>
          </p:spPr>
          <p:txBody>
            <a:bodyPr wrap="none" lIns="0" tIns="0" rIns="0" bIns="0" anchor="t" anchorCtr="0">
              <a:spAutoFit/>
            </a:bodyPr>
            <a:lstStyle/>
            <a:p>
              <a:pPr algn="l"/>
              <a:r>
                <a:rPr lang="zh-CN" sz="1600" b="1" dirty="0">
                  <a:solidFill>
                    <a:srgbClr val="C8161E"/>
                  </a:solidFill>
                  <a:latin typeface="Arial"/>
                  <a:ea typeface="Microsoft YaHei"/>
                  <a:cs typeface="Arial"/>
                </a:rPr>
                <a:t>仍异常的 7 个维度（三次 std 仍 &gt; 5，需专家复核）</a:t>
              </a:r>
            </a:p>
          </p:txBody>
        </p:sp>
        <p:sp>
          <p:nvSpPr>
            <p:cNvPr id="69" name="TextBox 69"/>
            <p:cNvSpPr txBox="1"/>
            <p:nvPr/>
          </p:nvSpPr>
          <p:spPr>
            <a:xfrm>
              <a:off x="975360" y="5547360"/>
              <a:ext cx="10127742"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1824 集体商标（建构力 14.0、洞察度 10.8）、1023 法益修复（创新性 9.9）、1194 基本权理论（建构力 7.6）、1337 受贿犯罪（创新性 7.4）</a:t>
              </a:r>
            </a:p>
          </p:txBody>
        </p:sp>
      </p:grpSp>
      <p:grpSp>
        <p:nvGrpSpPr>
          <p:cNvPr id="74" name="Group 74"/>
          <p:cNvGrpSpPr/>
          <p:nvPr/>
        </p:nvGrpSpPr>
        <p:grpSpPr>
          <a:xfrm>
            <a:off x="0" y="6516343"/>
            <a:ext cx="12192000" cy="341657"/>
            <a:chOff x="0" y="6516343"/>
            <a:chExt cx="12192000" cy="341657"/>
          </a:xfrm>
        </p:grpSpPr>
        <p:sp>
          <p:nvSpPr>
            <p:cNvPr id="71" name="Rectangle 71"/>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72" name="TextBox 72"/>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73" name="TextBox 73"/>
            <p:cNvSpPr txBox="1"/>
            <p:nvPr/>
          </p:nvSpPr>
          <p:spPr>
            <a:xfrm>
              <a:off x="11329702" y="6516343"/>
              <a:ext cx="194281"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17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wipe(left)">
                                      <p:cBhvr>
                                        <p:cTn id="11" dur="400"/>
                                        <p:tgtEl>
                                          <p:spTgt spid="66"/>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wipe(left)">
                                      <p:cBhvr>
                                        <p:cTn id="15"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6" grpId="0"/>
      <p:bldP spid="7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423198"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预检拒审实例</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668017" y="972793"/>
            <a:ext cx="4974399"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预检分类统计的具体案例展示，直观理解 AI 预检的判断能力</a:t>
            </a:r>
          </a:p>
        </p:txBody>
      </p:sp>
      <p:grpSp>
        <p:nvGrpSpPr>
          <p:cNvPr id="16" name="Group 16"/>
          <p:cNvGrpSpPr/>
          <p:nvPr/>
        </p:nvGrpSpPr>
        <p:grpSpPr>
          <a:xfrm>
            <a:off x="660397" y="1346173"/>
            <a:ext cx="5283203" cy="2120927"/>
            <a:chOff x="660397" y="1346173"/>
            <a:chExt cx="5283203" cy="2120927"/>
          </a:xfrm>
        </p:grpSpPr>
        <p:sp>
          <p:nvSpPr>
            <p:cNvPr id="9" name="TextBox 9"/>
            <p:cNvSpPr txBox="1"/>
            <p:nvPr/>
          </p:nvSpPr>
          <p:spPr>
            <a:xfrm>
              <a:off x="660397" y="1346173"/>
              <a:ext cx="4447905" cy="406451"/>
            </a:xfrm>
            <a:prstGeom prst="rect">
              <a:avLst/>
            </a:prstGeom>
            <a:noFill/>
            <a:ln>
              <a:noFill/>
            </a:ln>
          </p:spPr>
          <p:txBody>
            <a:bodyPr wrap="none" lIns="0" tIns="0" rIns="0" bIns="0" anchor="t" anchorCtr="0">
              <a:spAutoFit/>
            </a:bodyPr>
            <a:lstStyle/>
            <a:p>
              <a:pPr algn="l"/>
              <a:r>
                <a:rPr lang="zh-CN" sz="2000" b="1" dirty="0">
                  <a:solidFill>
                    <a:srgbClr val="C8161E"/>
                  </a:solidFill>
                  <a:latin typeface="Arial"/>
                  <a:ea typeface="Microsoft YaHei"/>
                  <a:cs typeface="Arial"/>
                </a:rPr>
                <a:t>全部拒绝（5 篇，4 模型一致排除）</a:t>
              </a:r>
            </a:p>
          </p:txBody>
        </p:sp>
        <p:sp>
          <p:nvSpPr>
            <p:cNvPr id="10" name="Rectangle 10"/>
            <p:cNvSpPr/>
            <p:nvPr/>
          </p:nvSpPr>
          <p:spPr>
            <a:xfrm>
              <a:off x="685800" y="1714500"/>
              <a:ext cx="5257800" cy="1752600"/>
            </a:xfrm>
            <a:prstGeom prst="roundRect">
              <a:avLst>
                <a:gd name="adj" fmla="val 4348"/>
              </a:avLst>
            </a:prstGeom>
            <a:solidFill>
              <a:srgbClr val="FFEBEE"/>
            </a:solidFill>
            <a:ln w="9525">
              <a:solidFill>
                <a:srgbClr val="C8161E"/>
              </a:solidFill>
            </a:ln>
          </p:spPr>
        </p:sp>
        <p:sp>
          <p:nvSpPr>
            <p:cNvPr id="11" name="TextBox 11"/>
            <p:cNvSpPr txBox="1"/>
            <p:nvPr/>
          </p:nvSpPr>
          <p:spPr>
            <a:xfrm>
              <a:off x="975360" y="1889760"/>
              <a:ext cx="4735068" cy="243840"/>
            </a:xfrm>
            <a:prstGeom prst="rect">
              <a:avLst/>
            </a:prstGeom>
            <a:noFill/>
            <a:ln>
              <a:noFill/>
            </a:ln>
          </p:spPr>
          <p:txBody>
            <a:bodyPr wrap="none" lIns="0" tIns="0" rIns="0" bIns="0" anchor="t" anchorCtr="0">
              <a:spAutoFit/>
            </a:bodyPr>
            <a:lstStyle/>
            <a:p>
              <a:pPr algn="l"/>
              <a:r>
                <a:rPr lang="zh-CN" sz="1200" b="1" dirty="0">
                  <a:solidFill>
                    <a:srgbClr val="1B1C21"/>
                  </a:solidFill>
                  <a:latin typeface="Arial"/>
                  <a:ea typeface="Microsoft YaHei"/>
                  <a:cs typeface="Arial"/>
                </a:rPr>
                <a:t>paper-117、paper-300、paper-306、paper-309、paper-331</a:t>
              </a:r>
            </a:p>
          </p:txBody>
        </p:sp>
        <p:sp>
          <p:nvSpPr>
            <p:cNvPr id="12" name="TextBox 12"/>
            <p:cNvSpPr txBox="1"/>
            <p:nvPr/>
          </p:nvSpPr>
          <p:spPr>
            <a:xfrm>
              <a:off x="975360" y="2194560"/>
              <a:ext cx="83058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典型标题：</a:t>
              </a:r>
            </a:p>
          </p:txBody>
        </p:sp>
        <p:sp>
          <p:nvSpPr>
            <p:cNvPr id="13" name="TextBox 13"/>
            <p:cNvSpPr txBox="1"/>
            <p:nvPr/>
          </p:nvSpPr>
          <p:spPr>
            <a:xfrm>
              <a:off x="975360" y="2461260"/>
              <a:ext cx="2622804"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"坚持抓住领导干部这个'关键少数'"</a:t>
              </a:r>
            </a:p>
          </p:txBody>
        </p:sp>
        <p:sp>
          <p:nvSpPr>
            <p:cNvPr id="14" name="TextBox 14"/>
            <p:cNvSpPr txBox="1"/>
            <p:nvPr/>
          </p:nvSpPr>
          <p:spPr>
            <a:xfrm>
              <a:off x="975360" y="2727960"/>
              <a:ext cx="1486662"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"奋力建设法治政府"</a:t>
              </a:r>
            </a:p>
          </p:txBody>
        </p:sp>
        <p:sp>
          <p:nvSpPr>
            <p:cNvPr id="15" name="TextBox 15"/>
            <p:cNvSpPr txBox="1"/>
            <p:nvPr/>
          </p:nvSpPr>
          <p:spPr>
            <a:xfrm>
              <a:off x="975360" y="3032760"/>
              <a:ext cx="3365697" cy="243840"/>
            </a:xfrm>
            <a:prstGeom prst="rect">
              <a:avLst/>
            </a:prstGeom>
            <a:noFill/>
            <a:ln>
              <a:noFill/>
            </a:ln>
          </p:spPr>
          <p:txBody>
            <a:bodyPr wrap="none" lIns="0" tIns="0" rIns="0" bIns="0" anchor="t" anchorCtr="0">
              <a:spAutoFit/>
            </a:bodyPr>
            <a:lstStyle/>
            <a:p>
              <a:pPr algn="l"/>
              <a:r>
                <a:rPr lang="zh-CN" sz="1200" b="1" dirty="0">
                  <a:solidFill>
                    <a:srgbClr val="C8161E"/>
                  </a:solidFill>
                  <a:latin typeface="Arial"/>
                  <a:ea typeface="Microsoft YaHei"/>
                  <a:cs typeface="Arial"/>
                </a:rPr>
                <a:t>→ 政策阐释性文本，非学术研究，可直接排除</a:t>
              </a:r>
            </a:p>
          </p:txBody>
        </p:sp>
      </p:grpSp>
      <p:grpSp>
        <p:nvGrpSpPr>
          <p:cNvPr id="24" name="Group 24"/>
          <p:cNvGrpSpPr/>
          <p:nvPr/>
        </p:nvGrpSpPr>
        <p:grpSpPr>
          <a:xfrm>
            <a:off x="6222997" y="1346173"/>
            <a:ext cx="5283203" cy="2120927"/>
            <a:chOff x="6222997" y="1346173"/>
            <a:chExt cx="5283203" cy="2120927"/>
          </a:xfrm>
        </p:grpSpPr>
        <p:sp>
          <p:nvSpPr>
            <p:cNvPr id="17" name="TextBox 17"/>
            <p:cNvSpPr txBox="1"/>
            <p:nvPr/>
          </p:nvSpPr>
          <p:spPr>
            <a:xfrm>
              <a:off x="6222997" y="1346173"/>
              <a:ext cx="2571436" cy="406451"/>
            </a:xfrm>
            <a:prstGeom prst="rect">
              <a:avLst/>
            </a:prstGeom>
            <a:noFill/>
            <a:ln>
              <a:noFill/>
            </a:ln>
          </p:spPr>
          <p:txBody>
            <a:bodyPr wrap="none" lIns="0" tIns="0" rIns="0" bIns="0" anchor="t" anchorCtr="0">
              <a:spAutoFit/>
            </a:bodyPr>
            <a:lstStyle/>
            <a:p>
              <a:pPr algn="l"/>
              <a:r>
                <a:rPr lang="zh-CN" sz="2000" b="1" dirty="0">
                  <a:solidFill>
                    <a:srgbClr val="E07B00"/>
                  </a:solidFill>
                  <a:latin typeface="Arial"/>
                  <a:ea typeface="Microsoft YaHei"/>
                  <a:cs typeface="Arial"/>
                </a:rPr>
                <a:t>单模型拒绝行为差异</a:t>
              </a:r>
            </a:p>
          </p:txBody>
        </p:sp>
        <p:sp>
          <p:nvSpPr>
            <p:cNvPr id="18" name="Rectangle 18"/>
            <p:cNvSpPr/>
            <p:nvPr/>
          </p:nvSpPr>
          <p:spPr>
            <a:xfrm>
              <a:off x="6248400" y="1714500"/>
              <a:ext cx="5257800" cy="1752600"/>
            </a:xfrm>
            <a:prstGeom prst="roundRect">
              <a:avLst>
                <a:gd name="adj" fmla="val 4348"/>
              </a:avLst>
            </a:prstGeom>
            <a:solidFill>
              <a:srgbClr val="FFF8F0"/>
            </a:solidFill>
            <a:ln w="9525">
              <a:solidFill>
                <a:srgbClr val="E07B00"/>
              </a:solidFill>
            </a:ln>
          </p:spPr>
        </p:sp>
        <p:sp>
          <p:nvSpPr>
            <p:cNvPr id="19" name="TextBox 19"/>
            <p:cNvSpPr txBox="1"/>
            <p:nvPr/>
          </p:nvSpPr>
          <p:spPr>
            <a:xfrm>
              <a:off x="6535417" y="1906243"/>
              <a:ext cx="2986262" cy="284531"/>
            </a:xfrm>
            <a:prstGeom prst="rect">
              <a:avLst/>
            </a:prstGeom>
            <a:noFill/>
            <a:ln>
              <a:noFill/>
            </a:ln>
          </p:spPr>
          <p:txBody>
            <a:bodyPr wrap="none" lIns="0" tIns="0" rIns="0" bIns="0" anchor="t" anchorCtr="0">
              <a:spAutoFit/>
            </a:bodyPr>
            <a:lstStyle/>
            <a:p>
              <a:pPr algn="l"/>
              <a:r>
                <a:rPr lang="zh-CN" sz="1400" b="1" dirty="0">
                  <a:solidFill>
                    <a:srgbClr val="44546A"/>
                  </a:solidFill>
                  <a:latin typeface="Arial"/>
                  <a:ea typeface="Microsoft YaHei"/>
                  <a:cs typeface="Arial"/>
                </a:rPr>
                <a:t>Kimi-K2.6（最严格，33 次拒绝）</a:t>
              </a:r>
            </a:p>
          </p:txBody>
        </p:sp>
        <p:sp>
          <p:nvSpPr>
            <p:cNvPr id="20" name="TextBox 20"/>
            <p:cNvSpPr txBox="1"/>
            <p:nvPr/>
          </p:nvSpPr>
          <p:spPr>
            <a:xfrm>
              <a:off x="6537960" y="2232660"/>
              <a:ext cx="2998851"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典型理由："论文缺乏可争辩的法学问题，</a:t>
              </a:r>
            </a:p>
          </p:txBody>
        </p:sp>
        <p:sp>
          <p:nvSpPr>
            <p:cNvPr id="21" name="TextBox 21"/>
            <p:cNvSpPr txBox="1"/>
            <p:nvPr/>
          </p:nvSpPr>
          <p:spPr>
            <a:xfrm>
              <a:off x="6537960" y="2461260"/>
              <a:ext cx="1078611"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属于制度介绍"</a:t>
              </a:r>
            </a:p>
          </p:txBody>
        </p:sp>
        <p:sp>
          <p:nvSpPr>
            <p:cNvPr id="22" name="TextBox 22"/>
            <p:cNvSpPr txBox="1"/>
            <p:nvPr/>
          </p:nvSpPr>
          <p:spPr>
            <a:xfrm>
              <a:off x="6535417" y="2820643"/>
              <a:ext cx="3545031" cy="284531"/>
            </a:xfrm>
            <a:prstGeom prst="rect">
              <a:avLst/>
            </a:prstGeom>
            <a:noFill/>
            <a:ln>
              <a:noFill/>
            </a:ln>
          </p:spPr>
          <p:txBody>
            <a:bodyPr wrap="none" lIns="0" tIns="0" rIns="0" bIns="0" anchor="t" anchorCtr="0">
              <a:spAutoFit/>
            </a:bodyPr>
            <a:lstStyle/>
            <a:p>
              <a:pPr algn="l"/>
              <a:r>
                <a:rPr lang="zh-CN" sz="1400" b="1" dirty="0">
                  <a:solidFill>
                    <a:srgbClr val="2E5E8C"/>
                  </a:solidFill>
                  <a:latin typeface="Arial"/>
                  <a:ea typeface="Microsoft YaHei"/>
                  <a:cs typeface="Arial"/>
                </a:rPr>
                <a:t>Qwen3.6-Plus（最宽松，仅 6 次拒绝）</a:t>
              </a:r>
            </a:p>
          </p:txBody>
        </p:sp>
        <p:sp>
          <p:nvSpPr>
            <p:cNvPr id="23" name="TextBox 23"/>
            <p:cNvSpPr txBox="1"/>
            <p:nvPr/>
          </p:nvSpPr>
          <p:spPr>
            <a:xfrm>
              <a:off x="6537960" y="3147060"/>
              <a:ext cx="227076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几乎接受所有论文进入评分阶段</a:t>
              </a:r>
            </a:p>
          </p:txBody>
        </p:sp>
      </p:grpSp>
      <p:grpSp>
        <p:nvGrpSpPr>
          <p:cNvPr id="31" name="Group 31"/>
          <p:cNvGrpSpPr/>
          <p:nvPr/>
        </p:nvGrpSpPr>
        <p:grpSpPr>
          <a:xfrm>
            <a:off x="660397" y="3689323"/>
            <a:ext cx="5283203" cy="1682777"/>
            <a:chOff x="660397" y="3689323"/>
            <a:chExt cx="5283203" cy="1682777"/>
          </a:xfrm>
        </p:grpSpPr>
        <p:sp>
          <p:nvSpPr>
            <p:cNvPr id="25" name="TextBox 25"/>
            <p:cNvSpPr txBox="1"/>
            <p:nvPr/>
          </p:nvSpPr>
          <p:spPr>
            <a:xfrm>
              <a:off x="660397" y="3689323"/>
              <a:ext cx="4083814" cy="406451"/>
            </a:xfrm>
            <a:prstGeom prst="rect">
              <a:avLst/>
            </a:prstGeom>
            <a:noFill/>
            <a:ln>
              <a:noFill/>
            </a:ln>
          </p:spPr>
          <p:txBody>
            <a:bodyPr wrap="none" lIns="0" tIns="0" rIns="0" bIns="0" anchor="t" anchorCtr="0">
              <a:spAutoFit/>
            </a:bodyPr>
            <a:lstStyle/>
            <a:p>
              <a:pPr algn="l"/>
              <a:r>
                <a:rPr lang="zh-CN" sz="2000" b="1" dirty="0">
                  <a:solidFill>
                    <a:srgbClr val="1F4D78"/>
                  </a:solidFill>
                  <a:latin typeface="Arial"/>
                  <a:ea typeface="Microsoft YaHei"/>
                  <a:cs typeface="Arial"/>
                </a:rPr>
                <a:t>边界论文（25 篇，需人工确认）</a:t>
              </a:r>
            </a:p>
          </p:txBody>
        </p:sp>
        <p:sp>
          <p:nvSpPr>
            <p:cNvPr id="26" name="Rectangle 26"/>
            <p:cNvSpPr/>
            <p:nvPr/>
          </p:nvSpPr>
          <p:spPr>
            <a:xfrm>
              <a:off x="685800" y="4057650"/>
              <a:ext cx="5257800" cy="1314450"/>
            </a:xfrm>
            <a:prstGeom prst="roundRect">
              <a:avLst>
                <a:gd name="adj" fmla="val 5797"/>
              </a:avLst>
            </a:prstGeom>
            <a:solidFill>
              <a:srgbClr val="F0F7FF"/>
            </a:solidFill>
            <a:ln w="9525">
              <a:solidFill>
                <a:srgbClr val="1F4D78"/>
              </a:solidFill>
            </a:ln>
          </p:spPr>
        </p:sp>
        <p:sp>
          <p:nvSpPr>
            <p:cNvPr id="27" name="TextBox 27"/>
            <p:cNvSpPr txBox="1"/>
            <p:nvPr/>
          </p:nvSpPr>
          <p:spPr>
            <a:xfrm>
              <a:off x="975360" y="4232910"/>
              <a:ext cx="2814828"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至少 1 个模型判定为 boundary_review</a:t>
              </a:r>
            </a:p>
          </p:txBody>
        </p:sp>
        <p:sp>
          <p:nvSpPr>
            <p:cNvPr id="28" name="TextBox 28"/>
            <p:cNvSpPr txBox="1"/>
            <p:nvPr/>
          </p:nvSpPr>
          <p:spPr>
            <a:xfrm>
              <a:off x="975360" y="4499610"/>
              <a:ext cx="83058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典型场景：</a:t>
              </a:r>
            </a:p>
          </p:txBody>
        </p:sp>
        <p:sp>
          <p:nvSpPr>
            <p:cNvPr id="29" name="TextBox 29"/>
            <p:cNvSpPr txBox="1"/>
            <p:nvPr/>
          </p:nvSpPr>
          <p:spPr>
            <a:xfrm>
              <a:off x="975360" y="4766310"/>
              <a:ext cx="2406777"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 法学历史研究（如法律思想史）</a:t>
              </a:r>
            </a:p>
          </p:txBody>
        </p:sp>
        <p:sp>
          <p:nvSpPr>
            <p:cNvPr id="30" name="TextBox 30"/>
            <p:cNvSpPr txBox="1"/>
            <p:nvPr/>
          </p:nvSpPr>
          <p:spPr>
            <a:xfrm>
              <a:off x="975360" y="5033010"/>
              <a:ext cx="2430780"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 法社会学实证研究 / 比较法综述</a:t>
              </a:r>
            </a:p>
          </p:txBody>
        </p:sp>
      </p:grpSp>
      <p:grpSp>
        <p:nvGrpSpPr>
          <p:cNvPr id="38" name="Group 38"/>
          <p:cNvGrpSpPr/>
          <p:nvPr/>
        </p:nvGrpSpPr>
        <p:grpSpPr>
          <a:xfrm>
            <a:off x="6222997" y="3689323"/>
            <a:ext cx="5283203" cy="1682777"/>
            <a:chOff x="6222997" y="3689323"/>
            <a:chExt cx="5283203" cy="1682777"/>
          </a:xfrm>
        </p:grpSpPr>
        <p:sp>
          <p:nvSpPr>
            <p:cNvPr id="32" name="TextBox 32"/>
            <p:cNvSpPr txBox="1"/>
            <p:nvPr/>
          </p:nvSpPr>
          <p:spPr>
            <a:xfrm>
              <a:off x="6222997" y="3689323"/>
              <a:ext cx="2683464" cy="406451"/>
            </a:xfrm>
            <a:prstGeom prst="rect">
              <a:avLst/>
            </a:prstGeom>
            <a:noFill/>
            <a:ln>
              <a:noFill/>
            </a:ln>
          </p:spPr>
          <p:txBody>
            <a:bodyPr wrap="none" lIns="0" tIns="0" rIns="0" bIns="0" anchor="t" anchorCtr="0">
              <a:spAutoFit/>
            </a:bodyPr>
            <a:lstStyle/>
            <a:p>
              <a:pPr algn="l"/>
              <a:r>
                <a:rPr lang="zh-CN" sz="2000" b="1" dirty="0">
                  <a:solidFill>
                    <a:srgbClr val="2E7D32"/>
                  </a:solidFill>
                  <a:latin typeface="Arial"/>
                  <a:ea typeface="Microsoft YaHei"/>
                  <a:cs typeface="Arial"/>
                </a:rPr>
                <a:t>空状态处理（90 篇）</a:t>
              </a:r>
            </a:p>
          </p:txBody>
        </p:sp>
        <p:sp>
          <p:nvSpPr>
            <p:cNvPr id="33" name="Rectangle 33"/>
            <p:cNvSpPr/>
            <p:nvPr/>
          </p:nvSpPr>
          <p:spPr>
            <a:xfrm>
              <a:off x="6248400" y="4057650"/>
              <a:ext cx="5257800" cy="1314450"/>
            </a:xfrm>
            <a:prstGeom prst="roundRect">
              <a:avLst>
                <a:gd name="adj" fmla="val 5797"/>
              </a:avLst>
            </a:prstGeom>
            <a:solidFill>
              <a:srgbClr val="E8F5E9"/>
            </a:solidFill>
            <a:ln w="9525">
              <a:solidFill>
                <a:srgbClr val="2E7D32"/>
              </a:solidFill>
            </a:ln>
          </p:spPr>
        </p:sp>
        <p:sp>
          <p:nvSpPr>
            <p:cNvPr id="34" name="TextBox 34"/>
            <p:cNvSpPr txBox="1"/>
            <p:nvPr/>
          </p:nvSpPr>
          <p:spPr>
            <a:xfrm>
              <a:off x="6537960" y="4232910"/>
              <a:ext cx="3030855"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Qwen3.6-Plus 触发阿里云内容审查 70 次</a:t>
              </a:r>
            </a:p>
          </p:txBody>
        </p:sp>
        <p:sp>
          <p:nvSpPr>
            <p:cNvPr id="35" name="TextBox 35"/>
            <p:cNvSpPr txBox="1"/>
            <p:nvPr/>
          </p:nvSpPr>
          <p:spPr>
            <a:xfrm>
              <a:off x="6537960" y="4499610"/>
              <a:ext cx="3430905"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data_inspection_failed → 自动记录到追踪文件</a:t>
              </a:r>
            </a:p>
          </p:txBody>
        </p:sp>
        <p:sp>
          <p:nvSpPr>
            <p:cNvPr id="36" name="TextBox 36"/>
            <p:cNvSpPr txBox="1"/>
            <p:nvPr/>
          </p:nvSpPr>
          <p:spPr>
            <a:xfrm>
              <a:off x="6537960" y="4766310"/>
              <a:ext cx="2646807"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其他模型少量：Kimi 15 次、GLM 9 次</a:t>
              </a:r>
            </a:p>
          </p:txBody>
        </p:sp>
        <p:sp>
          <p:nvSpPr>
            <p:cNvPr id="37" name="TextBox 37"/>
            <p:cNvSpPr txBox="1"/>
            <p:nvPr/>
          </p:nvSpPr>
          <p:spPr>
            <a:xfrm>
              <a:off x="6537960" y="5090160"/>
              <a:ext cx="2962446"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Arial"/>
                  <a:ea typeface="Microsoft YaHei"/>
                  <a:cs typeface="Arial"/>
                </a:rPr>
                <a:t>→ 已全部补测完成，结果已纳入 round2</a:t>
              </a:r>
            </a:p>
          </p:txBody>
        </p:sp>
      </p:grpSp>
      <p:grpSp>
        <p:nvGrpSpPr>
          <p:cNvPr id="41" name="Group 41"/>
          <p:cNvGrpSpPr/>
          <p:nvPr/>
        </p:nvGrpSpPr>
        <p:grpSpPr>
          <a:xfrm>
            <a:off x="685800" y="5524500"/>
            <a:ext cx="10820400" cy="457200"/>
            <a:chOff x="685800" y="5524500"/>
            <a:chExt cx="10820400" cy="457200"/>
          </a:xfrm>
        </p:grpSpPr>
        <p:sp>
          <p:nvSpPr>
            <p:cNvPr id="39" name="Rectangle 39"/>
            <p:cNvSpPr/>
            <p:nvPr/>
          </p:nvSpPr>
          <p:spPr>
            <a:xfrm>
              <a:off x="685800" y="5524500"/>
              <a:ext cx="10820400" cy="457200"/>
            </a:xfrm>
            <a:prstGeom prst="roundRect">
              <a:avLst>
                <a:gd name="adj" fmla="val 12500"/>
              </a:avLst>
            </a:prstGeom>
            <a:solidFill>
              <a:srgbClr val="F4F5F7"/>
            </a:solidFill>
            <a:ln>
              <a:noFill/>
            </a:ln>
          </p:spPr>
        </p:sp>
        <p:sp>
          <p:nvSpPr>
            <p:cNvPr id="40" name="TextBox 40"/>
            <p:cNvSpPr txBox="1"/>
            <p:nvPr/>
          </p:nvSpPr>
          <p:spPr>
            <a:xfrm>
              <a:off x="2440305" y="5680710"/>
              <a:ext cx="731139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口径说明：全量 R2 结果文件已覆盖 1920 篇；但 59 篇拒绝/边界论文仍需人工裁定项目口径与候选资格</a:t>
              </a:r>
            </a:p>
          </p:txBody>
        </p:sp>
      </p:grpSp>
      <p:grpSp>
        <p:nvGrpSpPr>
          <p:cNvPr id="45" name="Group 45"/>
          <p:cNvGrpSpPr/>
          <p:nvPr/>
        </p:nvGrpSpPr>
        <p:grpSpPr>
          <a:xfrm>
            <a:off x="0" y="6516343"/>
            <a:ext cx="12192000" cy="341657"/>
            <a:chOff x="0" y="6516343"/>
            <a:chExt cx="12192000" cy="341657"/>
          </a:xfrm>
        </p:grpSpPr>
        <p:sp>
          <p:nvSpPr>
            <p:cNvPr id="42" name="Rectangle 42"/>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43" name="TextBox 43"/>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44" name="TextBox 44"/>
            <p:cNvSpPr txBox="1"/>
            <p:nvPr/>
          </p:nvSpPr>
          <p:spPr>
            <a:xfrm>
              <a:off x="11329702" y="6516343"/>
              <a:ext cx="194281"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18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lide(fromBottom)">
                                      <p:cBhvr>
                                        <p:cTn id="7" dur="400"/>
                                        <p:tgtEl>
                                          <p:spTgt spid="16"/>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image">
                                      <p:cBhvr>
                                        <p:cTn id="11" dur="400"/>
                                        <p:tgtEl>
                                          <p:spTgt spid="2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wipe(left)">
                                      <p:cBhvr>
                                        <p:cTn id="19" dur="400"/>
                                        <p:tgtEl>
                                          <p:spTgt spid="38"/>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4" grpId="0"/>
      <p:bldP spid="31" grpId="0"/>
      <p:bldP spid="38" grpId="0"/>
      <p:bldP spid="4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7382175"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预检拒审与异常处理（Round 1 实际表现）</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0" name="Group 10"/>
          <p:cNvGrpSpPr/>
          <p:nvPr/>
        </p:nvGrpSpPr>
        <p:grpSpPr>
          <a:xfrm>
            <a:off x="685800" y="1228725"/>
            <a:ext cx="10820400" cy="542901"/>
            <a:chOff x="685800" y="1228725"/>
            <a:chExt cx="10820400" cy="542901"/>
          </a:xfrm>
        </p:grpSpPr>
        <p:sp>
          <p:nvSpPr>
            <p:cNvPr id="8" name="Rectangle 8"/>
            <p:cNvSpPr/>
            <p:nvPr/>
          </p:nvSpPr>
          <p:spPr>
            <a:xfrm>
              <a:off x="685800" y="1228725"/>
              <a:ext cx="10820400" cy="533400"/>
            </a:xfrm>
            <a:prstGeom prst="roundRect">
              <a:avLst>
                <a:gd name="adj" fmla="val 14286"/>
              </a:avLst>
            </a:prstGeom>
            <a:solidFill>
              <a:srgbClr val="F4F5F7"/>
            </a:solidFill>
            <a:ln>
              <a:noFill/>
            </a:ln>
          </p:spPr>
        </p:sp>
        <p:sp>
          <p:nvSpPr>
            <p:cNvPr id="9" name="TextBox 9"/>
            <p:cNvSpPr txBox="1"/>
            <p:nvPr/>
          </p:nvSpPr>
          <p:spPr>
            <a:xfrm>
              <a:off x="3488534" y="1324637"/>
              <a:ext cx="5214932" cy="446989"/>
            </a:xfrm>
            <a:prstGeom prst="rect">
              <a:avLst/>
            </a:prstGeom>
            <a:noFill/>
            <a:ln>
              <a:noFill/>
            </a:ln>
          </p:spPr>
          <p:txBody>
            <a:bodyPr wrap="none" lIns="0" tIns="0" rIns="0" bIns="0" anchor="t" anchorCtr="0">
              <a:spAutoFit/>
            </a:bodyPr>
            <a:lstStyle/>
            <a:p>
              <a:pPr algn="ctr"/>
              <a:r>
                <a:rPr lang="zh-CN" sz="2200" b="1" dirty="0">
                  <a:solidFill>
                    <a:srgbClr val="1F4D78"/>
                  </a:solidFill>
                  <a:latin typeface="Arial"/>
                  <a:ea typeface="Microsoft YaHei"/>
                  <a:cs typeface="Arial"/>
                </a:rPr>
                <a:t>154 篇问题论文（占 1920 篇的 8.0%）</a:t>
              </a:r>
            </a:p>
          </p:txBody>
        </p:sp>
      </p:grpSp>
      <p:grpSp>
        <p:nvGrpSpPr>
          <p:cNvPr id="47" name="Group 47"/>
          <p:cNvGrpSpPr/>
          <p:nvPr/>
        </p:nvGrpSpPr>
        <p:grpSpPr>
          <a:xfrm>
            <a:off x="685800" y="1990725"/>
            <a:ext cx="10820400" cy="2857500"/>
            <a:chOff x="685800" y="1990725"/>
            <a:chExt cx="10820400" cy="2857500"/>
          </a:xfrm>
        </p:grpSpPr>
        <p:sp>
          <p:nvSpPr>
            <p:cNvPr id="11" name="Rectangle 11"/>
            <p:cNvSpPr/>
            <p:nvPr/>
          </p:nvSpPr>
          <p:spPr>
            <a:xfrm>
              <a:off x="685800" y="1990725"/>
              <a:ext cx="10820400" cy="381000"/>
            </a:xfrm>
            <a:prstGeom prst="roundRect">
              <a:avLst>
                <a:gd name="adj" fmla="val 10000"/>
              </a:avLst>
            </a:prstGeom>
            <a:solidFill>
              <a:srgbClr val="1F4D78"/>
            </a:solidFill>
            <a:ln>
              <a:noFill/>
            </a:ln>
          </p:spPr>
        </p:sp>
        <p:sp>
          <p:nvSpPr>
            <p:cNvPr id="12" name="TextBox 12"/>
            <p:cNvSpPr txBox="1"/>
            <p:nvPr/>
          </p:nvSpPr>
          <p:spPr>
            <a:xfrm>
              <a:off x="1195857" y="2087218"/>
              <a:ext cx="427685"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类别</a:t>
              </a:r>
            </a:p>
          </p:txBody>
        </p:sp>
        <p:sp>
          <p:nvSpPr>
            <p:cNvPr id="13" name="TextBox 13"/>
            <p:cNvSpPr txBox="1"/>
            <p:nvPr/>
          </p:nvSpPr>
          <p:spPr>
            <a:xfrm>
              <a:off x="2910357" y="2087218"/>
              <a:ext cx="427685"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数量</a:t>
              </a:r>
            </a:p>
          </p:txBody>
        </p:sp>
        <p:sp>
          <p:nvSpPr>
            <p:cNvPr id="14" name="TextBox 14"/>
            <p:cNvSpPr txBox="1"/>
            <p:nvPr/>
          </p:nvSpPr>
          <p:spPr>
            <a:xfrm>
              <a:off x="4129557" y="2087218"/>
              <a:ext cx="427685"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占比</a:t>
              </a:r>
            </a:p>
          </p:txBody>
        </p:sp>
        <p:sp>
          <p:nvSpPr>
            <p:cNvPr id="15" name="TextBox 15"/>
            <p:cNvSpPr txBox="1"/>
            <p:nvPr/>
          </p:nvSpPr>
          <p:spPr>
            <a:xfrm>
              <a:off x="6739407" y="2087218"/>
              <a:ext cx="427685"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说明</a:t>
              </a:r>
            </a:p>
          </p:txBody>
        </p:sp>
        <p:sp>
          <p:nvSpPr>
            <p:cNvPr id="16" name="TextBox 16"/>
            <p:cNvSpPr txBox="1"/>
            <p:nvPr/>
          </p:nvSpPr>
          <p:spPr>
            <a:xfrm>
              <a:off x="9496098" y="2087218"/>
              <a:ext cx="819804"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处理策略</a:t>
              </a:r>
            </a:p>
          </p:txBody>
        </p:sp>
        <p:sp>
          <p:nvSpPr>
            <p:cNvPr id="17" name="Rectangle 17"/>
            <p:cNvSpPr/>
            <p:nvPr/>
          </p:nvSpPr>
          <p:spPr>
            <a:xfrm>
              <a:off x="685800" y="2371725"/>
              <a:ext cx="10820400" cy="495300"/>
            </a:xfrm>
            <a:prstGeom prst="rect">
              <a:avLst/>
            </a:prstGeom>
            <a:solidFill>
              <a:srgbClr val="E8F5E9"/>
            </a:solidFill>
            <a:ln>
              <a:noFill/>
            </a:ln>
          </p:spPr>
        </p:sp>
        <p:sp>
          <p:nvSpPr>
            <p:cNvPr id="18" name="TextBox 18"/>
            <p:cNvSpPr txBox="1"/>
            <p:nvPr/>
          </p:nvSpPr>
          <p:spPr>
            <a:xfrm>
              <a:off x="1032474" y="2525368"/>
              <a:ext cx="754451"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1-空状态</a:t>
              </a:r>
            </a:p>
          </p:txBody>
        </p:sp>
        <p:sp>
          <p:nvSpPr>
            <p:cNvPr id="19" name="TextBox 19"/>
            <p:cNvSpPr txBox="1"/>
            <p:nvPr/>
          </p:nvSpPr>
          <p:spPr>
            <a:xfrm>
              <a:off x="2871145" y="2525368"/>
              <a:ext cx="506109" cy="284531"/>
            </a:xfrm>
            <a:prstGeom prst="rect">
              <a:avLst/>
            </a:prstGeom>
            <a:noFill/>
            <a:ln>
              <a:noFill/>
            </a:ln>
          </p:spPr>
          <p:txBody>
            <a:bodyPr wrap="none" lIns="0" tIns="0" rIns="0" bIns="0" anchor="t" anchorCtr="0">
              <a:spAutoFit/>
            </a:bodyPr>
            <a:lstStyle/>
            <a:p>
              <a:pPr algn="ctr"/>
              <a:r>
                <a:rPr lang="zh-CN" sz="1400" b="1" dirty="0">
                  <a:solidFill>
                    <a:srgbClr val="1B1C21"/>
                  </a:solidFill>
                  <a:latin typeface="Arial"/>
                  <a:ea typeface="Microsoft YaHei"/>
                  <a:cs typeface="Arial"/>
                </a:rPr>
                <a:t>90 篇</a:t>
              </a:r>
            </a:p>
          </p:txBody>
        </p:sp>
        <p:sp>
          <p:nvSpPr>
            <p:cNvPr id="20" name="TextBox 20"/>
            <p:cNvSpPr txBox="1"/>
            <p:nvPr/>
          </p:nvSpPr>
          <p:spPr>
            <a:xfrm>
              <a:off x="4068872" y="2525368"/>
              <a:ext cx="54905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58.4%</a:t>
              </a:r>
            </a:p>
          </p:txBody>
        </p:sp>
        <p:sp>
          <p:nvSpPr>
            <p:cNvPr id="21" name="TextBox 21"/>
            <p:cNvSpPr txBox="1"/>
            <p:nvPr/>
          </p:nvSpPr>
          <p:spPr>
            <a:xfrm>
              <a:off x="5773864" y="2546985"/>
              <a:ext cx="2358771"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API/内容审查（Qwen 占 70 篇）</a:t>
              </a:r>
            </a:p>
          </p:txBody>
        </p:sp>
        <p:sp>
          <p:nvSpPr>
            <p:cNvPr id="22" name="TextBox 22"/>
            <p:cNvSpPr txBox="1"/>
            <p:nvPr/>
          </p:nvSpPr>
          <p:spPr>
            <a:xfrm>
              <a:off x="9399299" y="2546985"/>
              <a:ext cx="1013403"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 已补测完成</a:t>
              </a:r>
            </a:p>
          </p:txBody>
        </p:sp>
        <p:sp>
          <p:nvSpPr>
            <p:cNvPr id="23" name="Rectangle 23"/>
            <p:cNvSpPr/>
            <p:nvPr/>
          </p:nvSpPr>
          <p:spPr>
            <a:xfrm>
              <a:off x="685800" y="2867025"/>
              <a:ext cx="10820400" cy="495300"/>
            </a:xfrm>
            <a:prstGeom prst="rect">
              <a:avLst/>
            </a:prstGeom>
            <a:solidFill>
              <a:srgbClr val="FFEBEE"/>
            </a:solidFill>
            <a:ln>
              <a:noFill/>
            </a:ln>
          </p:spPr>
        </p:sp>
        <p:sp>
          <p:nvSpPr>
            <p:cNvPr id="24" name="TextBox 24"/>
            <p:cNvSpPr txBox="1"/>
            <p:nvPr/>
          </p:nvSpPr>
          <p:spPr>
            <a:xfrm>
              <a:off x="915772" y="3020668"/>
              <a:ext cx="987855"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2-全部拒绝</a:t>
              </a:r>
            </a:p>
          </p:txBody>
        </p:sp>
        <p:sp>
          <p:nvSpPr>
            <p:cNvPr id="25" name="TextBox 25"/>
            <p:cNvSpPr txBox="1"/>
            <p:nvPr/>
          </p:nvSpPr>
          <p:spPr>
            <a:xfrm>
              <a:off x="2925062" y="3020668"/>
              <a:ext cx="398276" cy="284531"/>
            </a:xfrm>
            <a:prstGeom prst="rect">
              <a:avLst/>
            </a:prstGeom>
            <a:noFill/>
            <a:ln>
              <a:noFill/>
            </a:ln>
          </p:spPr>
          <p:txBody>
            <a:bodyPr wrap="none" lIns="0" tIns="0" rIns="0" bIns="0" anchor="t" anchorCtr="0">
              <a:spAutoFit/>
            </a:bodyPr>
            <a:lstStyle/>
            <a:p>
              <a:pPr algn="ctr"/>
              <a:r>
                <a:rPr lang="zh-CN" sz="1400" b="1" dirty="0">
                  <a:solidFill>
                    <a:srgbClr val="1B1C21"/>
                  </a:solidFill>
                  <a:latin typeface="Arial"/>
                  <a:ea typeface="Microsoft YaHei"/>
                  <a:cs typeface="Arial"/>
                </a:rPr>
                <a:t>5 篇</a:t>
              </a:r>
            </a:p>
          </p:txBody>
        </p:sp>
        <p:sp>
          <p:nvSpPr>
            <p:cNvPr id="26" name="TextBox 26"/>
            <p:cNvSpPr txBox="1"/>
            <p:nvPr/>
          </p:nvSpPr>
          <p:spPr>
            <a:xfrm>
              <a:off x="4120221" y="3020668"/>
              <a:ext cx="446358"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3.2%</a:t>
              </a:r>
            </a:p>
          </p:txBody>
        </p:sp>
        <p:sp>
          <p:nvSpPr>
            <p:cNvPr id="27" name="TextBox 27"/>
            <p:cNvSpPr txBox="1"/>
            <p:nvPr/>
          </p:nvSpPr>
          <p:spPr>
            <a:xfrm>
              <a:off x="5829871" y="3042285"/>
              <a:ext cx="2246757"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4 模型一致排除（政策性论文）</a:t>
              </a:r>
            </a:p>
          </p:txBody>
        </p:sp>
        <p:sp>
          <p:nvSpPr>
            <p:cNvPr id="28" name="TextBox 28"/>
            <p:cNvSpPr txBox="1"/>
            <p:nvPr/>
          </p:nvSpPr>
          <p:spPr>
            <a:xfrm>
              <a:off x="9399299" y="3042285"/>
              <a:ext cx="1013403" cy="243840"/>
            </a:xfrm>
            <a:prstGeom prst="rect">
              <a:avLst/>
            </a:prstGeom>
            <a:noFill/>
            <a:ln>
              <a:noFill/>
            </a:ln>
          </p:spPr>
          <p:txBody>
            <a:bodyPr wrap="none" lIns="0" tIns="0" rIns="0" bIns="0" anchor="t" anchorCtr="0">
              <a:spAutoFit/>
            </a:bodyPr>
            <a:lstStyle/>
            <a:p>
              <a:pPr algn="ctr"/>
              <a:r>
                <a:rPr lang="zh-CN" sz="1200" b="1" dirty="0">
                  <a:solidFill>
                    <a:srgbClr val="C8161E"/>
                  </a:solidFill>
                  <a:latin typeface="Arial"/>
                  <a:ea typeface="Microsoft YaHei"/>
                  <a:cs typeface="Arial"/>
                </a:rPr>
                <a:t>✅ 可直接排除</a:t>
              </a:r>
            </a:p>
          </p:txBody>
        </p:sp>
        <p:sp>
          <p:nvSpPr>
            <p:cNvPr id="29" name="Rectangle 29"/>
            <p:cNvSpPr/>
            <p:nvPr/>
          </p:nvSpPr>
          <p:spPr>
            <a:xfrm>
              <a:off x="685800" y="3362325"/>
              <a:ext cx="10820400" cy="495300"/>
            </a:xfrm>
            <a:prstGeom prst="rect">
              <a:avLst/>
            </a:prstGeom>
            <a:solidFill>
              <a:srgbClr val="FFF8F0"/>
            </a:solidFill>
            <a:ln>
              <a:noFill/>
            </a:ln>
          </p:spPr>
        </p:sp>
        <p:sp>
          <p:nvSpPr>
            <p:cNvPr id="30" name="TextBox 30"/>
            <p:cNvSpPr txBox="1"/>
            <p:nvPr/>
          </p:nvSpPr>
          <p:spPr>
            <a:xfrm>
              <a:off x="915772" y="3515968"/>
              <a:ext cx="987855"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3-多数拒绝</a:t>
              </a:r>
            </a:p>
          </p:txBody>
        </p:sp>
        <p:sp>
          <p:nvSpPr>
            <p:cNvPr id="31" name="TextBox 31"/>
            <p:cNvSpPr txBox="1"/>
            <p:nvPr/>
          </p:nvSpPr>
          <p:spPr>
            <a:xfrm>
              <a:off x="2895653" y="3515968"/>
              <a:ext cx="457094" cy="284531"/>
            </a:xfrm>
            <a:prstGeom prst="rect">
              <a:avLst/>
            </a:prstGeom>
            <a:noFill/>
            <a:ln>
              <a:noFill/>
            </a:ln>
          </p:spPr>
          <p:txBody>
            <a:bodyPr wrap="none" lIns="0" tIns="0" rIns="0" bIns="0" anchor="t" anchorCtr="0">
              <a:spAutoFit/>
            </a:bodyPr>
            <a:lstStyle/>
            <a:p>
              <a:pPr algn="ctr"/>
              <a:r>
                <a:rPr lang="zh-CN" sz="1400" b="1" dirty="0">
                  <a:solidFill>
                    <a:srgbClr val="1B1C21"/>
                  </a:solidFill>
                  <a:latin typeface="Arial"/>
                  <a:ea typeface="Microsoft YaHei"/>
                  <a:cs typeface="Arial"/>
                </a:rPr>
                <a:t>19 篇</a:t>
              </a:r>
            </a:p>
          </p:txBody>
        </p:sp>
        <p:sp>
          <p:nvSpPr>
            <p:cNvPr id="32" name="TextBox 32"/>
            <p:cNvSpPr txBox="1"/>
            <p:nvPr/>
          </p:nvSpPr>
          <p:spPr>
            <a:xfrm>
              <a:off x="4092213" y="3515968"/>
              <a:ext cx="502375"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12.3%</a:t>
              </a:r>
            </a:p>
          </p:txBody>
        </p:sp>
        <p:sp>
          <p:nvSpPr>
            <p:cNvPr id="33" name="TextBox 33"/>
            <p:cNvSpPr txBox="1"/>
            <p:nvPr/>
          </p:nvSpPr>
          <p:spPr>
            <a:xfrm>
              <a:off x="6141910" y="3537585"/>
              <a:ext cx="1622679"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2-3 模型拒绝，有分歧</a:t>
              </a:r>
            </a:p>
          </p:txBody>
        </p:sp>
        <p:sp>
          <p:nvSpPr>
            <p:cNvPr id="34" name="TextBox 34"/>
            <p:cNvSpPr txBox="1"/>
            <p:nvPr/>
          </p:nvSpPr>
          <p:spPr>
            <a:xfrm>
              <a:off x="9353093" y="3537585"/>
              <a:ext cx="1105814"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 需人工复核</a:t>
              </a:r>
            </a:p>
          </p:txBody>
        </p:sp>
        <p:sp>
          <p:nvSpPr>
            <p:cNvPr id="35" name="Rectangle 35"/>
            <p:cNvSpPr/>
            <p:nvPr/>
          </p:nvSpPr>
          <p:spPr>
            <a:xfrm>
              <a:off x="685800" y="3857625"/>
              <a:ext cx="10820400" cy="495300"/>
            </a:xfrm>
            <a:prstGeom prst="rect">
              <a:avLst/>
            </a:prstGeom>
            <a:solidFill>
              <a:srgbClr val="FFF8F0"/>
            </a:solidFill>
            <a:ln>
              <a:noFill/>
            </a:ln>
          </p:spPr>
        </p:sp>
        <p:sp>
          <p:nvSpPr>
            <p:cNvPr id="36" name="TextBox 36"/>
            <p:cNvSpPr txBox="1"/>
            <p:nvPr/>
          </p:nvSpPr>
          <p:spPr>
            <a:xfrm>
              <a:off x="915772" y="4011268"/>
              <a:ext cx="987855"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4-单一拒绝</a:t>
              </a:r>
            </a:p>
          </p:txBody>
        </p:sp>
        <p:sp>
          <p:nvSpPr>
            <p:cNvPr id="37" name="TextBox 37"/>
            <p:cNvSpPr txBox="1"/>
            <p:nvPr/>
          </p:nvSpPr>
          <p:spPr>
            <a:xfrm>
              <a:off x="2895653" y="4011268"/>
              <a:ext cx="457094" cy="284531"/>
            </a:xfrm>
            <a:prstGeom prst="rect">
              <a:avLst/>
            </a:prstGeom>
            <a:noFill/>
            <a:ln>
              <a:noFill/>
            </a:ln>
          </p:spPr>
          <p:txBody>
            <a:bodyPr wrap="none" lIns="0" tIns="0" rIns="0" bIns="0" anchor="t" anchorCtr="0">
              <a:spAutoFit/>
            </a:bodyPr>
            <a:lstStyle/>
            <a:p>
              <a:pPr algn="ctr"/>
              <a:r>
                <a:rPr lang="zh-CN" sz="1400" b="1" dirty="0">
                  <a:solidFill>
                    <a:srgbClr val="1B1C21"/>
                  </a:solidFill>
                  <a:latin typeface="Arial"/>
                  <a:ea typeface="Microsoft YaHei"/>
                  <a:cs typeface="Arial"/>
                </a:rPr>
                <a:t>15 篇</a:t>
              </a:r>
            </a:p>
          </p:txBody>
        </p:sp>
        <p:sp>
          <p:nvSpPr>
            <p:cNvPr id="38" name="TextBox 38"/>
            <p:cNvSpPr txBox="1"/>
            <p:nvPr/>
          </p:nvSpPr>
          <p:spPr>
            <a:xfrm>
              <a:off x="4120221" y="4011268"/>
              <a:ext cx="446358"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9.7%</a:t>
              </a:r>
            </a:p>
          </p:txBody>
        </p:sp>
        <p:sp>
          <p:nvSpPr>
            <p:cNvPr id="39" name="TextBox 39"/>
            <p:cNvSpPr txBox="1"/>
            <p:nvPr/>
          </p:nvSpPr>
          <p:spPr>
            <a:xfrm>
              <a:off x="6569964" y="4032885"/>
              <a:ext cx="766572"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1 模型拒绝</a:t>
              </a:r>
            </a:p>
          </p:txBody>
        </p:sp>
        <p:sp>
          <p:nvSpPr>
            <p:cNvPr id="40" name="TextBox 40"/>
            <p:cNvSpPr txBox="1"/>
            <p:nvPr/>
          </p:nvSpPr>
          <p:spPr>
            <a:xfrm>
              <a:off x="9353093" y="4032885"/>
              <a:ext cx="1105814"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 需人工复核</a:t>
              </a:r>
            </a:p>
          </p:txBody>
        </p:sp>
        <p:sp>
          <p:nvSpPr>
            <p:cNvPr id="41" name="Rectangle 41"/>
            <p:cNvSpPr/>
            <p:nvPr/>
          </p:nvSpPr>
          <p:spPr>
            <a:xfrm>
              <a:off x="685800" y="4352925"/>
              <a:ext cx="10820400" cy="495300"/>
            </a:xfrm>
            <a:prstGeom prst="rect">
              <a:avLst/>
            </a:prstGeom>
            <a:solidFill>
              <a:srgbClr val="F0F7FF"/>
            </a:solidFill>
            <a:ln>
              <a:noFill/>
            </a:ln>
          </p:spPr>
        </p:sp>
        <p:sp>
          <p:nvSpPr>
            <p:cNvPr id="42" name="TextBox 42"/>
            <p:cNvSpPr txBox="1"/>
            <p:nvPr/>
          </p:nvSpPr>
          <p:spPr>
            <a:xfrm>
              <a:off x="915772" y="4506568"/>
              <a:ext cx="987855"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5-边界判断</a:t>
              </a:r>
            </a:p>
          </p:txBody>
        </p:sp>
        <p:sp>
          <p:nvSpPr>
            <p:cNvPr id="43" name="TextBox 43"/>
            <p:cNvSpPr txBox="1"/>
            <p:nvPr/>
          </p:nvSpPr>
          <p:spPr>
            <a:xfrm>
              <a:off x="2871145" y="4506568"/>
              <a:ext cx="506109" cy="284531"/>
            </a:xfrm>
            <a:prstGeom prst="rect">
              <a:avLst/>
            </a:prstGeom>
            <a:noFill/>
            <a:ln>
              <a:noFill/>
            </a:ln>
          </p:spPr>
          <p:txBody>
            <a:bodyPr wrap="none" lIns="0" tIns="0" rIns="0" bIns="0" anchor="t" anchorCtr="0">
              <a:spAutoFit/>
            </a:bodyPr>
            <a:lstStyle/>
            <a:p>
              <a:pPr algn="ctr"/>
              <a:r>
                <a:rPr lang="zh-CN" sz="1400" b="1" dirty="0">
                  <a:solidFill>
                    <a:srgbClr val="1B1C21"/>
                  </a:solidFill>
                  <a:latin typeface="Arial"/>
                  <a:ea typeface="Microsoft YaHei"/>
                  <a:cs typeface="Arial"/>
                </a:rPr>
                <a:t>25 篇</a:t>
              </a:r>
            </a:p>
          </p:txBody>
        </p:sp>
        <p:sp>
          <p:nvSpPr>
            <p:cNvPr id="44" name="TextBox 44"/>
            <p:cNvSpPr txBox="1"/>
            <p:nvPr/>
          </p:nvSpPr>
          <p:spPr>
            <a:xfrm>
              <a:off x="4092213" y="4506568"/>
              <a:ext cx="502375"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16.2%</a:t>
              </a:r>
            </a:p>
          </p:txBody>
        </p:sp>
        <p:sp>
          <p:nvSpPr>
            <p:cNvPr id="45" name="TextBox 45"/>
            <p:cNvSpPr txBox="1"/>
            <p:nvPr/>
          </p:nvSpPr>
          <p:spPr>
            <a:xfrm>
              <a:off x="6137910" y="4528185"/>
              <a:ext cx="163068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项目口径边界，无拒绝</a:t>
              </a:r>
            </a:p>
          </p:txBody>
        </p:sp>
        <p:sp>
          <p:nvSpPr>
            <p:cNvPr id="46" name="TextBox 46"/>
            <p:cNvSpPr txBox="1"/>
            <p:nvPr/>
          </p:nvSpPr>
          <p:spPr>
            <a:xfrm>
              <a:off x="9353093" y="4528185"/>
              <a:ext cx="1105814" cy="243840"/>
            </a:xfrm>
            <a:prstGeom prst="rect">
              <a:avLst/>
            </a:prstGeom>
            <a:noFill/>
            <a:ln>
              <a:noFill/>
            </a:ln>
          </p:spPr>
          <p:txBody>
            <a:bodyPr wrap="none" lIns="0" tIns="0" rIns="0" bIns="0" anchor="t" anchorCtr="0">
              <a:spAutoFit/>
            </a:bodyPr>
            <a:lstStyle/>
            <a:p>
              <a:pPr algn="ctr"/>
              <a:r>
                <a:rPr lang="zh-CN" sz="1200" b="1" dirty="0">
                  <a:solidFill>
                    <a:srgbClr val="1F4D78"/>
                  </a:solidFill>
                  <a:latin typeface="Arial"/>
                  <a:ea typeface="Microsoft YaHei"/>
                  <a:cs typeface="Arial"/>
                </a:rPr>
                <a:t>⚠️ 需人工确认</a:t>
              </a:r>
            </a:p>
          </p:txBody>
        </p:sp>
      </p:grpSp>
      <p:grpSp>
        <p:nvGrpSpPr>
          <p:cNvPr id="56" name="Group 56"/>
          <p:cNvGrpSpPr/>
          <p:nvPr/>
        </p:nvGrpSpPr>
        <p:grpSpPr>
          <a:xfrm>
            <a:off x="665483" y="5142257"/>
            <a:ext cx="10840717" cy="1258543"/>
            <a:chOff x="665483" y="5142257"/>
            <a:chExt cx="10840717" cy="1258543"/>
          </a:xfrm>
        </p:grpSpPr>
        <p:sp>
          <p:nvSpPr>
            <p:cNvPr id="48" name="TextBox 48"/>
            <p:cNvSpPr txBox="1"/>
            <p:nvPr/>
          </p:nvSpPr>
          <p:spPr>
            <a:xfrm>
              <a:off x="665483" y="5142257"/>
              <a:ext cx="1384592"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拒绝模型分布</a:t>
              </a:r>
            </a:p>
          </p:txBody>
        </p:sp>
        <p:sp>
          <p:nvSpPr>
            <p:cNvPr id="49" name="Rectangle 49"/>
            <p:cNvSpPr/>
            <p:nvPr/>
          </p:nvSpPr>
          <p:spPr>
            <a:xfrm>
              <a:off x="685800" y="5448300"/>
              <a:ext cx="10820400" cy="952500"/>
            </a:xfrm>
            <a:prstGeom prst="roundRect">
              <a:avLst>
                <a:gd name="adj" fmla="val 8000"/>
              </a:avLst>
            </a:prstGeom>
            <a:solidFill>
              <a:srgbClr val="F4F5F7"/>
            </a:solidFill>
            <a:ln>
              <a:noFill/>
            </a:ln>
          </p:spPr>
        </p:sp>
        <p:sp>
          <p:nvSpPr>
            <p:cNvPr id="50" name="TextBox 50"/>
            <p:cNvSpPr txBox="1"/>
            <p:nvPr/>
          </p:nvSpPr>
          <p:spPr>
            <a:xfrm>
              <a:off x="972817" y="5582893"/>
              <a:ext cx="8027325"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Kimi-K2.6（33 次）&gt; GLM-5.1（23 次）&gt; DeepSeek-V4-Pro（15 次）&gt; Qwen3.6-Plus（6 次）</a:t>
              </a:r>
            </a:p>
          </p:txBody>
        </p:sp>
        <p:sp>
          <p:nvSpPr>
            <p:cNvPr id="51" name="TextBox 51"/>
            <p:cNvSpPr txBox="1"/>
            <p:nvPr/>
          </p:nvSpPr>
          <p:spPr>
            <a:xfrm>
              <a:off x="975360" y="5928360"/>
              <a:ext cx="3406902"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Kimi 最严格，Qwen 最宽松（与评分行为一致）</a:t>
              </a:r>
            </a:p>
          </p:txBody>
        </p:sp>
        <p:sp>
          <p:nvSpPr>
            <p:cNvPr id="52" name="Rectangle 52"/>
            <p:cNvSpPr/>
            <p:nvPr/>
          </p:nvSpPr>
          <p:spPr>
            <a:xfrm>
              <a:off x="990600" y="6172200"/>
              <a:ext cx="3143250" cy="76200"/>
            </a:xfrm>
            <a:prstGeom prst="roundRect">
              <a:avLst>
                <a:gd name="adj" fmla="val 50000"/>
              </a:avLst>
            </a:prstGeom>
            <a:solidFill>
              <a:srgbClr val="5A6472"/>
            </a:solidFill>
            <a:ln>
              <a:noFill/>
            </a:ln>
          </p:spPr>
        </p:sp>
        <p:sp>
          <p:nvSpPr>
            <p:cNvPr id="53" name="Rectangle 53"/>
            <p:cNvSpPr/>
            <p:nvPr/>
          </p:nvSpPr>
          <p:spPr>
            <a:xfrm>
              <a:off x="990600" y="6172200"/>
              <a:ext cx="2190750" cy="76200"/>
            </a:xfrm>
            <a:prstGeom prst="roundRect">
              <a:avLst>
                <a:gd name="adj" fmla="val 50000"/>
              </a:avLst>
            </a:prstGeom>
            <a:solidFill>
              <a:srgbClr val="44546A"/>
            </a:solidFill>
            <a:ln>
              <a:noFill/>
            </a:ln>
          </p:spPr>
        </p:sp>
        <p:sp>
          <p:nvSpPr>
            <p:cNvPr id="54" name="Rectangle 54"/>
            <p:cNvSpPr/>
            <p:nvPr/>
          </p:nvSpPr>
          <p:spPr>
            <a:xfrm>
              <a:off x="990600" y="6172200"/>
              <a:ext cx="1428750" cy="76200"/>
            </a:xfrm>
            <a:prstGeom prst="roundRect">
              <a:avLst>
                <a:gd name="adj" fmla="val 50000"/>
              </a:avLst>
            </a:prstGeom>
            <a:solidFill>
              <a:srgbClr val="1F4D78"/>
            </a:solidFill>
            <a:ln>
              <a:noFill/>
            </a:ln>
          </p:spPr>
        </p:sp>
        <p:sp>
          <p:nvSpPr>
            <p:cNvPr id="55" name="Rectangle 55"/>
            <p:cNvSpPr/>
            <p:nvPr/>
          </p:nvSpPr>
          <p:spPr>
            <a:xfrm>
              <a:off x="990600" y="6172200"/>
              <a:ext cx="571500" cy="76200"/>
            </a:xfrm>
            <a:prstGeom prst="roundRect">
              <a:avLst>
                <a:gd name="adj" fmla="val 50000"/>
              </a:avLst>
            </a:prstGeom>
            <a:solidFill>
              <a:srgbClr val="2E5E8C"/>
            </a:solidFill>
            <a:ln>
              <a:noFill/>
            </a:ln>
          </p:spPr>
        </p:sp>
      </p:grpSp>
      <p:grpSp>
        <p:nvGrpSpPr>
          <p:cNvPr id="60" name="Group 60"/>
          <p:cNvGrpSpPr/>
          <p:nvPr/>
        </p:nvGrpSpPr>
        <p:grpSpPr>
          <a:xfrm>
            <a:off x="0" y="6516343"/>
            <a:ext cx="12192000" cy="341657"/>
            <a:chOff x="0" y="6516343"/>
            <a:chExt cx="12192000" cy="341657"/>
          </a:xfrm>
        </p:grpSpPr>
        <p:sp>
          <p:nvSpPr>
            <p:cNvPr id="57" name="Rectangle 57"/>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58" name="TextBox 58"/>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59" name="TextBox 59"/>
            <p:cNvSpPr txBox="1"/>
            <p:nvPr/>
          </p:nvSpPr>
          <p:spPr>
            <a:xfrm>
              <a:off x="11329702" y="6516343"/>
              <a:ext cx="194281"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19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imag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400"/>
                                        <p:tgtEl>
                                          <p:spTgt spid="47"/>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wipe(left)">
                                      <p:cBhvr>
                                        <p:cTn id="15"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7" grpId="0"/>
      <p:bldP spid="5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69267"/>
            <a:ext cx="10820400" cy="568909"/>
            <a:chOff x="685800" y="269267"/>
            <a:chExt cx="10820400" cy="568909"/>
          </a:xfrm>
        </p:grpSpPr>
        <p:pic>
          <p:nvPicPr>
            <p:cNvPr id="3" name="Image 3"/>
            <p:cNvPicPr>
              <a:picLocks noChangeAspect="1"/>
            </p:cNvPicPr>
            <p:nvPr/>
          </p:nvPicPr>
          <p:blipFill>
            <a:blip r:embed="rId2"/>
            <a:stretch>
              <a:fillRect/>
            </a:stretch>
          </p:blipFill>
          <p:spPr>
            <a:xfrm>
              <a:off x="685800" y="361950"/>
              <a:ext cx="381000" cy="381000"/>
            </a:xfrm>
            <a:prstGeom prst="rect">
              <a:avLst/>
            </a:prstGeom>
          </p:spPr>
        </p:pic>
        <p:sp>
          <p:nvSpPr>
            <p:cNvPr id="4" name="Rectangle 4"/>
            <p:cNvSpPr/>
            <p:nvPr/>
          </p:nvSpPr>
          <p:spPr>
            <a:xfrm>
              <a:off x="1219200" y="361950"/>
              <a:ext cx="57150" cy="400050"/>
            </a:xfrm>
            <a:prstGeom prst="roundRect">
              <a:avLst>
                <a:gd name="adj" fmla="val 33333"/>
              </a:avLst>
            </a:prstGeom>
            <a:solidFill>
              <a:srgbClr val="C8161E"/>
            </a:solidFill>
            <a:ln>
              <a:noFill/>
            </a:ln>
          </p:spPr>
        </p:sp>
        <p:sp>
          <p:nvSpPr>
            <p:cNvPr id="5" name="TextBox 5"/>
            <p:cNvSpPr txBox="1"/>
            <p:nvPr/>
          </p:nvSpPr>
          <p:spPr>
            <a:xfrm>
              <a:off x="1374143" y="269267"/>
              <a:ext cx="3207226"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交叉评审收敛效果</a:t>
              </a:r>
            </a:p>
          </p:txBody>
        </p:sp>
        <p:pic>
          <p:nvPicPr>
            <p:cNvPr id="6" name="Image 6"/>
            <p:cNvPicPr>
              <a:picLocks noChangeAspect="1"/>
            </p:cNvPicPr>
            <p:nvPr/>
          </p:nvPicPr>
          <p:blipFill>
            <a:blip r:embed="rId3"/>
            <a:stretch>
              <a:fillRect/>
            </a:stretch>
          </p:blipFill>
          <p:spPr>
            <a:xfrm>
              <a:off x="9805280" y="419100"/>
              <a:ext cx="1700920" cy="342900"/>
            </a:xfrm>
            <a:prstGeom prst="rect">
              <a:avLst/>
            </a:prstGeom>
          </p:spPr>
        </p:pic>
      </p:grpSp>
      <p:grpSp>
        <p:nvGrpSpPr>
          <p:cNvPr id="13" name="Group 13"/>
          <p:cNvGrpSpPr/>
          <p:nvPr/>
        </p:nvGrpSpPr>
        <p:grpSpPr>
          <a:xfrm>
            <a:off x="1143000" y="1096618"/>
            <a:ext cx="6918198" cy="284531"/>
            <a:chOff x="1143000" y="1096618"/>
            <a:chExt cx="6918198" cy="284531"/>
          </a:xfrm>
        </p:grpSpPr>
        <p:sp>
          <p:nvSpPr>
            <p:cNvPr id="8" name="Rectangle 8"/>
            <p:cNvSpPr/>
            <p:nvPr/>
          </p:nvSpPr>
          <p:spPr>
            <a:xfrm>
              <a:off x="1143000" y="1104900"/>
              <a:ext cx="171450" cy="171450"/>
            </a:xfrm>
            <a:prstGeom prst="roundRect">
              <a:avLst>
                <a:gd name="adj" fmla="val 16667"/>
              </a:avLst>
            </a:prstGeom>
            <a:gradFill>
              <a:gsLst>
                <a:gs pos="0">
                  <a:srgbClr val="D6434A"/>
                </a:gs>
                <a:gs pos="100000">
                  <a:srgbClr val="C8161E"/>
                </a:gs>
              </a:gsLst>
              <a:lin ang="5400000" scaled="1"/>
            </a:gradFill>
            <a:ln>
              <a:noFill/>
            </a:ln>
          </p:spPr>
        </p:sp>
        <p:sp>
          <p:nvSpPr>
            <p:cNvPr id="9" name="TextBox 9"/>
            <p:cNvSpPr txBox="1"/>
            <p:nvPr/>
          </p:nvSpPr>
          <p:spPr>
            <a:xfrm>
              <a:off x="1372867" y="1096618"/>
              <a:ext cx="987855"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R1 平均 std</a:t>
              </a:r>
            </a:p>
          </p:txBody>
        </p:sp>
        <p:sp>
          <p:nvSpPr>
            <p:cNvPr id="10" name="Rectangle 10"/>
            <p:cNvSpPr/>
            <p:nvPr/>
          </p:nvSpPr>
          <p:spPr>
            <a:xfrm>
              <a:off x="3238500" y="1104900"/>
              <a:ext cx="171450" cy="171450"/>
            </a:xfrm>
            <a:prstGeom prst="roundRect">
              <a:avLst>
                <a:gd name="adj" fmla="val 16667"/>
              </a:avLst>
            </a:prstGeom>
            <a:gradFill>
              <a:gsLst>
                <a:gs pos="0">
                  <a:srgbClr val="2E5E8C"/>
                </a:gs>
                <a:gs pos="100000">
                  <a:srgbClr val="1F4D78"/>
                </a:gs>
              </a:gsLst>
              <a:lin ang="5400000" scaled="1"/>
            </a:gradFill>
            <a:ln>
              <a:noFill/>
            </a:ln>
          </p:spPr>
        </p:sp>
        <p:sp>
          <p:nvSpPr>
            <p:cNvPr id="11" name="TextBox 11"/>
            <p:cNvSpPr txBox="1"/>
            <p:nvPr/>
          </p:nvSpPr>
          <p:spPr>
            <a:xfrm>
              <a:off x="3468367" y="1096618"/>
              <a:ext cx="1034536"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R2 平均 std</a:t>
              </a:r>
            </a:p>
          </p:txBody>
        </p:sp>
        <p:sp>
          <p:nvSpPr>
            <p:cNvPr id="12" name="TextBox 12"/>
            <p:cNvSpPr txBox="1"/>
            <p:nvPr/>
          </p:nvSpPr>
          <p:spPr>
            <a:xfrm>
              <a:off x="6366510" y="1118235"/>
              <a:ext cx="1694688" cy="243840"/>
            </a:xfrm>
            <a:prstGeom prst="rect">
              <a:avLst/>
            </a:prstGeom>
            <a:noFill/>
            <a:ln>
              <a:noFill/>
            </a:ln>
          </p:spPr>
          <p:txBody>
            <a:bodyPr wrap="none" lIns="0" tIns="0" rIns="0" bIns="0" anchor="t" anchorCtr="0">
              <a:spAutoFit/>
            </a:bodyPr>
            <a:lstStyle/>
            <a:p>
              <a:pPr algn="l"/>
              <a:r>
                <a:rPr lang="zh-CN" sz="1200" dirty="0">
                  <a:solidFill>
                    <a:srgbClr val="9AA3AE"/>
                  </a:solidFill>
                  <a:latin typeface="Arial"/>
                  <a:ea typeface="Microsoft YaHei"/>
                  <a:cs typeface="Arial"/>
                </a:rPr>
                <a:t>基于 11,520 个评分单元</a:t>
              </a:r>
            </a:p>
          </p:txBody>
        </p:sp>
      </p:grpSp>
      <p:grpSp>
        <p:nvGrpSpPr>
          <p:cNvPr id="61" name="Group 61"/>
          <p:cNvGrpSpPr/>
          <p:nvPr/>
        </p:nvGrpSpPr>
        <p:grpSpPr>
          <a:xfrm>
            <a:off x="744217" y="1610968"/>
            <a:ext cx="7256783" cy="4027856"/>
            <a:chOff x="744217" y="1610968"/>
            <a:chExt cx="7256783" cy="4027856"/>
          </a:xfrm>
        </p:grpSpPr>
        <p:sp>
          <p:nvSpPr>
            <p:cNvPr id="14" name="Line 14"/>
            <p:cNvSpPr/>
            <p:nvPr/>
          </p:nvSpPr>
          <p:spPr>
            <a:xfrm>
              <a:off x="1143000" y="5143500"/>
              <a:ext cx="6858000" cy="9525"/>
            </a:xfrm>
            <a:custGeom>
              <a:avLst/>
              <a:gdLst/>
              <a:ahLst/>
              <a:cxnLst/>
              <a:rect l="l" t="t" r="r" b="b"/>
              <a:pathLst>
                <a:path w="6858000" h="9525">
                  <a:moveTo>
                    <a:pt x="0" y="0"/>
                  </a:moveTo>
                  <a:lnTo>
                    <a:pt x="6858000" y="0"/>
                  </a:lnTo>
                </a:path>
              </a:pathLst>
            </a:custGeom>
            <a:noFill/>
            <a:ln w="14288">
              <a:solidFill>
                <a:srgbClr val="D9DEE5"/>
              </a:solidFill>
            </a:ln>
          </p:spPr>
        </p:sp>
        <p:sp>
          <p:nvSpPr>
            <p:cNvPr id="15" name="Line 15"/>
            <p:cNvSpPr/>
            <p:nvPr/>
          </p:nvSpPr>
          <p:spPr>
            <a:xfrm>
              <a:off x="1143000" y="4286250"/>
              <a:ext cx="6858000" cy="9525"/>
            </a:xfrm>
            <a:custGeom>
              <a:avLst/>
              <a:gdLst/>
              <a:ahLst/>
              <a:cxnLst/>
              <a:rect l="l" t="t" r="r" b="b"/>
              <a:pathLst>
                <a:path w="6858000" h="9525">
                  <a:moveTo>
                    <a:pt x="0" y="0"/>
                  </a:moveTo>
                  <a:lnTo>
                    <a:pt x="6858000" y="0"/>
                  </a:lnTo>
                </a:path>
              </a:pathLst>
            </a:custGeom>
            <a:noFill/>
            <a:ln w="9525">
              <a:solidFill>
                <a:srgbClr val="E8ECF1"/>
              </a:solidFill>
              <a:prstDash val="dash"/>
            </a:ln>
          </p:spPr>
        </p:sp>
        <p:sp>
          <p:nvSpPr>
            <p:cNvPr id="16" name="Line 16"/>
            <p:cNvSpPr/>
            <p:nvPr/>
          </p:nvSpPr>
          <p:spPr>
            <a:xfrm>
              <a:off x="1143000" y="3429000"/>
              <a:ext cx="6858000" cy="9525"/>
            </a:xfrm>
            <a:custGeom>
              <a:avLst/>
              <a:gdLst/>
              <a:ahLst/>
              <a:cxnLst/>
              <a:rect l="l" t="t" r="r" b="b"/>
              <a:pathLst>
                <a:path w="6858000" h="9525">
                  <a:moveTo>
                    <a:pt x="0" y="0"/>
                  </a:moveTo>
                  <a:lnTo>
                    <a:pt x="6858000" y="0"/>
                  </a:lnTo>
                </a:path>
              </a:pathLst>
            </a:custGeom>
            <a:noFill/>
            <a:ln w="9525">
              <a:solidFill>
                <a:srgbClr val="E8ECF1"/>
              </a:solidFill>
              <a:prstDash val="dash"/>
            </a:ln>
          </p:spPr>
        </p:sp>
        <p:sp>
          <p:nvSpPr>
            <p:cNvPr id="17" name="Line 17"/>
            <p:cNvSpPr/>
            <p:nvPr/>
          </p:nvSpPr>
          <p:spPr>
            <a:xfrm>
              <a:off x="1143000" y="2571750"/>
              <a:ext cx="6858000" cy="9525"/>
            </a:xfrm>
            <a:custGeom>
              <a:avLst/>
              <a:gdLst/>
              <a:ahLst/>
              <a:cxnLst/>
              <a:rect l="l" t="t" r="r" b="b"/>
              <a:pathLst>
                <a:path w="6858000" h="9525">
                  <a:moveTo>
                    <a:pt x="0" y="0"/>
                  </a:moveTo>
                  <a:lnTo>
                    <a:pt x="6858000" y="0"/>
                  </a:lnTo>
                </a:path>
              </a:pathLst>
            </a:custGeom>
            <a:noFill/>
            <a:ln w="9525">
              <a:solidFill>
                <a:srgbClr val="E8ECF1"/>
              </a:solidFill>
              <a:prstDash val="dash"/>
            </a:ln>
          </p:spPr>
        </p:sp>
        <p:sp>
          <p:nvSpPr>
            <p:cNvPr id="18" name="Line 18"/>
            <p:cNvSpPr/>
            <p:nvPr/>
          </p:nvSpPr>
          <p:spPr>
            <a:xfrm>
              <a:off x="1143000" y="1714500"/>
              <a:ext cx="6858000" cy="9525"/>
            </a:xfrm>
            <a:custGeom>
              <a:avLst/>
              <a:gdLst/>
              <a:ahLst/>
              <a:cxnLst/>
              <a:rect l="l" t="t" r="r" b="b"/>
              <a:pathLst>
                <a:path w="6858000" h="9525">
                  <a:moveTo>
                    <a:pt x="0" y="0"/>
                  </a:moveTo>
                  <a:lnTo>
                    <a:pt x="6858000" y="0"/>
                  </a:lnTo>
                </a:path>
              </a:pathLst>
            </a:custGeom>
            <a:noFill/>
            <a:ln w="9525">
              <a:solidFill>
                <a:srgbClr val="E8ECF1"/>
              </a:solidFill>
              <a:prstDash val="dash"/>
            </a:ln>
          </p:spPr>
        </p:sp>
        <p:sp>
          <p:nvSpPr>
            <p:cNvPr id="19" name="TextBox 19"/>
            <p:cNvSpPr txBox="1"/>
            <p:nvPr/>
          </p:nvSpPr>
          <p:spPr>
            <a:xfrm>
              <a:off x="801367" y="5039968"/>
              <a:ext cx="138264"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0</a:t>
              </a:r>
            </a:p>
          </p:txBody>
        </p:sp>
        <p:sp>
          <p:nvSpPr>
            <p:cNvPr id="20" name="TextBox 20"/>
            <p:cNvSpPr txBox="1"/>
            <p:nvPr/>
          </p:nvSpPr>
          <p:spPr>
            <a:xfrm>
              <a:off x="801367" y="4182718"/>
              <a:ext cx="138264"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5</a:t>
              </a:r>
            </a:p>
          </p:txBody>
        </p:sp>
        <p:sp>
          <p:nvSpPr>
            <p:cNvPr id="21" name="TextBox 21"/>
            <p:cNvSpPr txBox="1"/>
            <p:nvPr/>
          </p:nvSpPr>
          <p:spPr>
            <a:xfrm>
              <a:off x="744217" y="3325468"/>
              <a:ext cx="194281"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10</a:t>
              </a:r>
            </a:p>
          </p:txBody>
        </p:sp>
        <p:sp>
          <p:nvSpPr>
            <p:cNvPr id="22" name="TextBox 22"/>
            <p:cNvSpPr txBox="1"/>
            <p:nvPr/>
          </p:nvSpPr>
          <p:spPr>
            <a:xfrm>
              <a:off x="744217" y="2468218"/>
              <a:ext cx="194281"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15</a:t>
              </a:r>
            </a:p>
          </p:txBody>
        </p:sp>
        <p:sp>
          <p:nvSpPr>
            <p:cNvPr id="23" name="TextBox 23"/>
            <p:cNvSpPr txBox="1"/>
            <p:nvPr/>
          </p:nvSpPr>
          <p:spPr>
            <a:xfrm>
              <a:off x="744217" y="1610968"/>
              <a:ext cx="240962"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20</a:t>
              </a:r>
            </a:p>
          </p:txBody>
        </p:sp>
        <p:sp>
          <p:nvSpPr>
            <p:cNvPr id="24" name="Line 24"/>
            <p:cNvSpPr/>
            <p:nvPr/>
          </p:nvSpPr>
          <p:spPr>
            <a:xfrm>
              <a:off x="1143000" y="1714500"/>
              <a:ext cx="9525" cy="3429000"/>
            </a:xfrm>
            <a:custGeom>
              <a:avLst/>
              <a:gdLst/>
              <a:ahLst/>
              <a:cxnLst/>
              <a:rect l="l" t="t" r="r" b="b"/>
              <a:pathLst>
                <a:path w="9525" h="3429000">
                  <a:moveTo>
                    <a:pt x="0" y="0"/>
                  </a:moveTo>
                  <a:lnTo>
                    <a:pt x="0" y="3429000"/>
                  </a:lnTo>
                </a:path>
              </a:pathLst>
            </a:custGeom>
            <a:noFill/>
            <a:ln w="19050">
              <a:solidFill>
                <a:srgbClr val="94A3B8"/>
              </a:solidFill>
            </a:ln>
          </p:spPr>
        </p:sp>
        <p:sp>
          <p:nvSpPr>
            <p:cNvPr id="25" name="Rectangle 25"/>
            <p:cNvSpPr/>
            <p:nvPr/>
          </p:nvSpPr>
          <p:spPr>
            <a:xfrm>
              <a:off x="1314450" y="1933575"/>
              <a:ext cx="361950" cy="3209925"/>
            </a:xfrm>
            <a:prstGeom prst="roundRect">
              <a:avLst>
                <a:gd name="adj" fmla="val 7895"/>
              </a:avLst>
            </a:prstGeom>
            <a:gradFill>
              <a:gsLst>
                <a:gs pos="0">
                  <a:srgbClr val="D6434A"/>
                </a:gs>
                <a:gs pos="100000">
                  <a:srgbClr val="C8161E"/>
                </a:gs>
              </a:gsLst>
              <a:lin ang="5400000" scaled="1"/>
            </a:gradFill>
            <a:ln>
              <a:noFill/>
            </a:ln>
          </p:spPr>
        </p:sp>
        <p:sp>
          <p:nvSpPr>
            <p:cNvPr id="26" name="TextBox 26"/>
            <p:cNvSpPr txBox="1"/>
            <p:nvPr/>
          </p:nvSpPr>
          <p:spPr>
            <a:xfrm>
              <a:off x="1195117" y="1684682"/>
              <a:ext cx="600616"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18.70</a:t>
              </a:r>
            </a:p>
          </p:txBody>
        </p:sp>
        <p:sp>
          <p:nvSpPr>
            <p:cNvPr id="27" name="Rectangle 27"/>
            <p:cNvSpPr/>
            <p:nvPr/>
          </p:nvSpPr>
          <p:spPr>
            <a:xfrm>
              <a:off x="1752600" y="3267075"/>
              <a:ext cx="361950" cy="1876425"/>
            </a:xfrm>
            <a:prstGeom prst="roundRect">
              <a:avLst>
                <a:gd name="adj" fmla="val 7895"/>
              </a:avLst>
            </a:prstGeom>
            <a:gradFill>
              <a:gsLst>
                <a:gs pos="0">
                  <a:srgbClr val="2E5E8C"/>
                </a:gs>
                <a:gs pos="100000">
                  <a:srgbClr val="1F4D78"/>
                </a:gs>
              </a:gsLst>
              <a:lin ang="5400000" scaled="1"/>
            </a:gradFill>
            <a:ln>
              <a:noFill/>
            </a:ln>
          </p:spPr>
        </p:sp>
        <p:sp>
          <p:nvSpPr>
            <p:cNvPr id="28" name="TextBox 28"/>
            <p:cNvSpPr txBox="1"/>
            <p:nvPr/>
          </p:nvSpPr>
          <p:spPr>
            <a:xfrm>
              <a:off x="1633267" y="3018182"/>
              <a:ext cx="600616"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10.94</a:t>
              </a:r>
            </a:p>
          </p:txBody>
        </p:sp>
        <p:sp>
          <p:nvSpPr>
            <p:cNvPr id="29" name="TextBox 29"/>
            <p:cNvSpPr txBox="1"/>
            <p:nvPr/>
          </p:nvSpPr>
          <p:spPr>
            <a:xfrm>
              <a:off x="1160867" y="51613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研究创新性</a:t>
              </a:r>
            </a:p>
          </p:txBody>
        </p:sp>
        <p:sp>
          <p:nvSpPr>
            <p:cNvPr id="30" name="TextBox 30"/>
            <p:cNvSpPr txBox="1"/>
            <p:nvPr/>
          </p:nvSpPr>
          <p:spPr>
            <a:xfrm>
              <a:off x="1542670" y="5354293"/>
              <a:ext cx="343660" cy="284531"/>
            </a:xfrm>
            <a:prstGeom prst="rect">
              <a:avLst/>
            </a:prstGeom>
            <a:noFill/>
            <a:ln>
              <a:noFill/>
            </a:ln>
          </p:spPr>
          <p:txBody>
            <a:bodyPr wrap="none" lIns="0" tIns="0" rIns="0" bIns="0" anchor="t" anchorCtr="0">
              <a:spAutoFit/>
            </a:bodyPr>
            <a:lstStyle/>
            <a:p>
              <a:pPr algn="ctr"/>
              <a:r>
                <a:rPr lang="zh-CN" sz="1400" dirty="0">
                  <a:solidFill>
                    <a:srgbClr val="9AA3AE"/>
                  </a:solidFill>
                  <a:latin typeface="Arial"/>
                  <a:ea typeface="Microsoft YaHei"/>
                  <a:cs typeface="Arial"/>
                </a:rPr>
                <a:t>30%</a:t>
              </a:r>
            </a:p>
          </p:txBody>
        </p:sp>
        <p:sp>
          <p:nvSpPr>
            <p:cNvPr id="31" name="Rectangle 31"/>
            <p:cNvSpPr/>
            <p:nvPr/>
          </p:nvSpPr>
          <p:spPr>
            <a:xfrm>
              <a:off x="2457450" y="2276475"/>
              <a:ext cx="361950" cy="2867025"/>
            </a:xfrm>
            <a:prstGeom prst="roundRect">
              <a:avLst>
                <a:gd name="adj" fmla="val 7895"/>
              </a:avLst>
            </a:prstGeom>
            <a:gradFill>
              <a:gsLst>
                <a:gs pos="0">
                  <a:srgbClr val="D6434A"/>
                </a:gs>
                <a:gs pos="100000">
                  <a:srgbClr val="C8161E"/>
                </a:gs>
              </a:gsLst>
              <a:lin ang="5400000" scaled="1"/>
            </a:gradFill>
            <a:ln>
              <a:noFill/>
            </a:ln>
          </p:spPr>
        </p:sp>
        <p:sp>
          <p:nvSpPr>
            <p:cNvPr id="32" name="TextBox 32"/>
            <p:cNvSpPr txBox="1"/>
            <p:nvPr/>
          </p:nvSpPr>
          <p:spPr>
            <a:xfrm>
              <a:off x="2338117" y="2027582"/>
              <a:ext cx="600616"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16.72</a:t>
              </a:r>
            </a:p>
          </p:txBody>
        </p:sp>
        <p:sp>
          <p:nvSpPr>
            <p:cNvPr id="33" name="Rectangle 33"/>
            <p:cNvSpPr/>
            <p:nvPr/>
          </p:nvSpPr>
          <p:spPr>
            <a:xfrm>
              <a:off x="2895600" y="3676650"/>
              <a:ext cx="361950" cy="1466850"/>
            </a:xfrm>
            <a:prstGeom prst="roundRect">
              <a:avLst>
                <a:gd name="adj" fmla="val 7895"/>
              </a:avLst>
            </a:prstGeom>
            <a:gradFill>
              <a:gsLst>
                <a:gs pos="0">
                  <a:srgbClr val="2E5E8C"/>
                </a:gs>
                <a:gs pos="100000">
                  <a:srgbClr val="1F4D78"/>
                </a:gs>
              </a:gsLst>
              <a:lin ang="5400000" scaled="1"/>
            </a:gradFill>
            <a:ln>
              <a:noFill/>
            </a:ln>
          </p:spPr>
        </p:sp>
        <p:sp>
          <p:nvSpPr>
            <p:cNvPr id="34" name="TextBox 34"/>
            <p:cNvSpPr txBox="1"/>
            <p:nvPr/>
          </p:nvSpPr>
          <p:spPr>
            <a:xfrm>
              <a:off x="2809866" y="3427757"/>
              <a:ext cx="533418"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8.56</a:t>
              </a:r>
            </a:p>
          </p:txBody>
        </p:sp>
        <p:sp>
          <p:nvSpPr>
            <p:cNvPr id="35" name="TextBox 35"/>
            <p:cNvSpPr txBox="1"/>
            <p:nvPr/>
          </p:nvSpPr>
          <p:spPr>
            <a:xfrm>
              <a:off x="2303867" y="51613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现状洞察度</a:t>
              </a:r>
            </a:p>
          </p:txBody>
        </p:sp>
        <p:sp>
          <p:nvSpPr>
            <p:cNvPr id="36" name="TextBox 36"/>
            <p:cNvSpPr txBox="1"/>
            <p:nvPr/>
          </p:nvSpPr>
          <p:spPr>
            <a:xfrm>
              <a:off x="2685670" y="5354293"/>
              <a:ext cx="343660" cy="284531"/>
            </a:xfrm>
            <a:prstGeom prst="rect">
              <a:avLst/>
            </a:prstGeom>
            <a:noFill/>
            <a:ln>
              <a:noFill/>
            </a:ln>
          </p:spPr>
          <p:txBody>
            <a:bodyPr wrap="none" lIns="0" tIns="0" rIns="0" bIns="0" anchor="t" anchorCtr="0">
              <a:spAutoFit/>
            </a:bodyPr>
            <a:lstStyle/>
            <a:p>
              <a:pPr algn="ctr"/>
              <a:r>
                <a:rPr lang="zh-CN" sz="1400" dirty="0">
                  <a:solidFill>
                    <a:srgbClr val="9AA3AE"/>
                  </a:solidFill>
                  <a:latin typeface="Arial"/>
                  <a:ea typeface="Microsoft YaHei"/>
                  <a:cs typeface="Arial"/>
                </a:rPr>
                <a:t>20%</a:t>
              </a:r>
            </a:p>
          </p:txBody>
        </p:sp>
        <p:sp>
          <p:nvSpPr>
            <p:cNvPr id="37" name="Rectangle 37"/>
            <p:cNvSpPr/>
            <p:nvPr/>
          </p:nvSpPr>
          <p:spPr>
            <a:xfrm>
              <a:off x="3600450" y="2019300"/>
              <a:ext cx="361950" cy="3124200"/>
            </a:xfrm>
            <a:prstGeom prst="roundRect">
              <a:avLst>
                <a:gd name="adj" fmla="val 7895"/>
              </a:avLst>
            </a:prstGeom>
            <a:gradFill>
              <a:gsLst>
                <a:gs pos="0">
                  <a:srgbClr val="D6434A"/>
                </a:gs>
                <a:gs pos="100000">
                  <a:srgbClr val="C8161E"/>
                </a:gs>
              </a:gsLst>
              <a:lin ang="5400000" scaled="1"/>
            </a:gradFill>
            <a:ln>
              <a:noFill/>
            </a:ln>
          </p:spPr>
        </p:sp>
        <p:sp>
          <p:nvSpPr>
            <p:cNvPr id="38" name="TextBox 38"/>
            <p:cNvSpPr txBox="1"/>
            <p:nvPr/>
          </p:nvSpPr>
          <p:spPr>
            <a:xfrm>
              <a:off x="3481117" y="1770407"/>
              <a:ext cx="600616"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18.23</a:t>
              </a:r>
            </a:p>
          </p:txBody>
        </p:sp>
        <p:sp>
          <p:nvSpPr>
            <p:cNvPr id="39" name="Rectangle 39"/>
            <p:cNvSpPr/>
            <p:nvPr/>
          </p:nvSpPr>
          <p:spPr>
            <a:xfrm>
              <a:off x="4038600" y="3648075"/>
              <a:ext cx="361950" cy="1495425"/>
            </a:xfrm>
            <a:prstGeom prst="roundRect">
              <a:avLst>
                <a:gd name="adj" fmla="val 7895"/>
              </a:avLst>
            </a:prstGeom>
            <a:gradFill>
              <a:gsLst>
                <a:gs pos="0">
                  <a:srgbClr val="2E5E8C"/>
                </a:gs>
                <a:gs pos="100000">
                  <a:srgbClr val="1F4D78"/>
                </a:gs>
              </a:gsLst>
              <a:lin ang="5400000" scaled="1"/>
            </a:gradFill>
            <a:ln>
              <a:noFill/>
            </a:ln>
          </p:spPr>
        </p:sp>
        <p:sp>
          <p:nvSpPr>
            <p:cNvPr id="40" name="TextBox 40"/>
            <p:cNvSpPr txBox="1"/>
            <p:nvPr/>
          </p:nvSpPr>
          <p:spPr>
            <a:xfrm>
              <a:off x="3980865" y="3399182"/>
              <a:ext cx="477420"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8.71</a:t>
              </a:r>
            </a:p>
          </p:txBody>
        </p:sp>
        <p:sp>
          <p:nvSpPr>
            <p:cNvPr id="41" name="TextBox 41"/>
            <p:cNvSpPr txBox="1"/>
            <p:nvPr/>
          </p:nvSpPr>
          <p:spPr>
            <a:xfrm>
              <a:off x="3446867" y="51613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理论建构力</a:t>
              </a:r>
            </a:p>
          </p:txBody>
        </p:sp>
        <p:sp>
          <p:nvSpPr>
            <p:cNvPr id="42" name="TextBox 42"/>
            <p:cNvSpPr txBox="1"/>
            <p:nvPr/>
          </p:nvSpPr>
          <p:spPr>
            <a:xfrm>
              <a:off x="3852010" y="5354293"/>
              <a:ext cx="296979" cy="284531"/>
            </a:xfrm>
            <a:prstGeom prst="rect">
              <a:avLst/>
            </a:prstGeom>
            <a:noFill/>
            <a:ln>
              <a:noFill/>
            </a:ln>
          </p:spPr>
          <p:txBody>
            <a:bodyPr wrap="none" lIns="0" tIns="0" rIns="0" bIns="0" anchor="t" anchorCtr="0">
              <a:spAutoFit/>
            </a:bodyPr>
            <a:lstStyle/>
            <a:p>
              <a:pPr algn="ctr"/>
              <a:r>
                <a:rPr lang="zh-CN" sz="1400" dirty="0">
                  <a:solidFill>
                    <a:srgbClr val="9AA3AE"/>
                  </a:solidFill>
                  <a:latin typeface="Arial"/>
                  <a:ea typeface="Microsoft YaHei"/>
                  <a:cs typeface="Arial"/>
                </a:rPr>
                <a:t>15%</a:t>
              </a:r>
            </a:p>
          </p:txBody>
        </p:sp>
        <p:sp>
          <p:nvSpPr>
            <p:cNvPr id="43" name="Rectangle 43"/>
            <p:cNvSpPr/>
            <p:nvPr/>
          </p:nvSpPr>
          <p:spPr>
            <a:xfrm>
              <a:off x="4743450" y="3409950"/>
              <a:ext cx="361950" cy="1733550"/>
            </a:xfrm>
            <a:prstGeom prst="roundRect">
              <a:avLst>
                <a:gd name="adj" fmla="val 7895"/>
              </a:avLst>
            </a:prstGeom>
            <a:gradFill>
              <a:gsLst>
                <a:gs pos="0">
                  <a:srgbClr val="D6434A"/>
                </a:gs>
                <a:gs pos="100000">
                  <a:srgbClr val="C8161E"/>
                </a:gs>
              </a:gsLst>
              <a:lin ang="5400000" scaled="1"/>
            </a:gradFill>
            <a:ln>
              <a:noFill/>
            </a:ln>
          </p:spPr>
        </p:sp>
        <p:sp>
          <p:nvSpPr>
            <p:cNvPr id="44" name="TextBox 44"/>
            <p:cNvSpPr txBox="1"/>
            <p:nvPr/>
          </p:nvSpPr>
          <p:spPr>
            <a:xfrm>
              <a:off x="4652116" y="3161057"/>
              <a:ext cx="544618"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10.10</a:t>
              </a:r>
            </a:p>
          </p:txBody>
        </p:sp>
        <p:sp>
          <p:nvSpPr>
            <p:cNvPr id="45" name="Rectangle 45"/>
            <p:cNvSpPr/>
            <p:nvPr/>
          </p:nvSpPr>
          <p:spPr>
            <a:xfrm>
              <a:off x="5181600" y="4429125"/>
              <a:ext cx="361950" cy="714375"/>
            </a:xfrm>
            <a:prstGeom prst="roundRect">
              <a:avLst>
                <a:gd name="adj" fmla="val 7895"/>
              </a:avLst>
            </a:prstGeom>
            <a:gradFill>
              <a:gsLst>
                <a:gs pos="0">
                  <a:srgbClr val="2E5E8C"/>
                </a:gs>
                <a:gs pos="100000">
                  <a:srgbClr val="1F4D78"/>
                </a:gs>
              </a:gsLst>
              <a:lin ang="5400000" scaled="1"/>
            </a:gradFill>
            <a:ln>
              <a:noFill/>
            </a:ln>
          </p:spPr>
        </p:sp>
        <p:sp>
          <p:nvSpPr>
            <p:cNvPr id="46" name="TextBox 46"/>
            <p:cNvSpPr txBox="1"/>
            <p:nvPr/>
          </p:nvSpPr>
          <p:spPr>
            <a:xfrm>
              <a:off x="5123865" y="4180232"/>
              <a:ext cx="477420"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4.16</a:t>
              </a:r>
            </a:p>
          </p:txBody>
        </p:sp>
        <p:sp>
          <p:nvSpPr>
            <p:cNvPr id="47" name="TextBox 47"/>
            <p:cNvSpPr txBox="1"/>
            <p:nvPr/>
          </p:nvSpPr>
          <p:spPr>
            <a:xfrm>
              <a:off x="4589867" y="51613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逻辑连贯性</a:t>
              </a:r>
            </a:p>
          </p:txBody>
        </p:sp>
        <p:sp>
          <p:nvSpPr>
            <p:cNvPr id="48" name="TextBox 48"/>
            <p:cNvSpPr txBox="1"/>
            <p:nvPr/>
          </p:nvSpPr>
          <p:spPr>
            <a:xfrm>
              <a:off x="4971670" y="5354293"/>
              <a:ext cx="343660" cy="284531"/>
            </a:xfrm>
            <a:prstGeom prst="rect">
              <a:avLst/>
            </a:prstGeom>
            <a:noFill/>
            <a:ln>
              <a:noFill/>
            </a:ln>
          </p:spPr>
          <p:txBody>
            <a:bodyPr wrap="none" lIns="0" tIns="0" rIns="0" bIns="0" anchor="t" anchorCtr="0">
              <a:spAutoFit/>
            </a:bodyPr>
            <a:lstStyle/>
            <a:p>
              <a:pPr algn="ctr"/>
              <a:r>
                <a:rPr lang="zh-CN" sz="1400" dirty="0">
                  <a:solidFill>
                    <a:srgbClr val="9AA3AE"/>
                  </a:solidFill>
                  <a:latin typeface="Arial"/>
                  <a:ea typeface="Microsoft YaHei"/>
                  <a:cs typeface="Arial"/>
                </a:rPr>
                <a:t>20%</a:t>
              </a:r>
            </a:p>
          </p:txBody>
        </p:sp>
        <p:sp>
          <p:nvSpPr>
            <p:cNvPr id="49" name="Rectangle 49"/>
            <p:cNvSpPr/>
            <p:nvPr/>
          </p:nvSpPr>
          <p:spPr>
            <a:xfrm>
              <a:off x="5886450" y="3057525"/>
              <a:ext cx="361950" cy="2085975"/>
            </a:xfrm>
            <a:prstGeom prst="roundRect">
              <a:avLst>
                <a:gd name="adj" fmla="val 7895"/>
              </a:avLst>
            </a:prstGeom>
            <a:gradFill>
              <a:gsLst>
                <a:gs pos="0">
                  <a:srgbClr val="D6434A"/>
                </a:gs>
                <a:gs pos="100000">
                  <a:srgbClr val="C8161E"/>
                </a:gs>
              </a:gsLst>
              <a:lin ang="5400000" scaled="1"/>
            </a:gradFill>
            <a:ln>
              <a:noFill/>
            </a:ln>
          </p:spPr>
        </p:sp>
        <p:sp>
          <p:nvSpPr>
            <p:cNvPr id="50" name="TextBox 50"/>
            <p:cNvSpPr txBox="1"/>
            <p:nvPr/>
          </p:nvSpPr>
          <p:spPr>
            <a:xfrm>
              <a:off x="5795116" y="2808632"/>
              <a:ext cx="544618"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12.16</a:t>
              </a:r>
            </a:p>
          </p:txBody>
        </p:sp>
        <p:sp>
          <p:nvSpPr>
            <p:cNvPr id="51" name="Rectangle 51"/>
            <p:cNvSpPr/>
            <p:nvPr/>
          </p:nvSpPr>
          <p:spPr>
            <a:xfrm>
              <a:off x="6324600" y="4219575"/>
              <a:ext cx="361950" cy="923925"/>
            </a:xfrm>
            <a:prstGeom prst="roundRect">
              <a:avLst>
                <a:gd name="adj" fmla="val 7895"/>
              </a:avLst>
            </a:prstGeom>
            <a:gradFill>
              <a:gsLst>
                <a:gs pos="0">
                  <a:srgbClr val="2E5E8C"/>
                </a:gs>
                <a:gs pos="100000">
                  <a:srgbClr val="1F4D78"/>
                </a:gs>
              </a:gsLst>
              <a:lin ang="5400000" scaled="1"/>
            </a:gradFill>
            <a:ln>
              <a:noFill/>
            </a:ln>
          </p:spPr>
        </p:sp>
        <p:sp>
          <p:nvSpPr>
            <p:cNvPr id="52" name="TextBox 52"/>
            <p:cNvSpPr txBox="1"/>
            <p:nvPr/>
          </p:nvSpPr>
          <p:spPr>
            <a:xfrm>
              <a:off x="6238866" y="3970682"/>
              <a:ext cx="533418"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5.37</a:t>
              </a:r>
            </a:p>
          </p:txBody>
        </p:sp>
        <p:sp>
          <p:nvSpPr>
            <p:cNvPr id="53" name="TextBox 53"/>
            <p:cNvSpPr txBox="1"/>
            <p:nvPr/>
          </p:nvSpPr>
          <p:spPr>
            <a:xfrm>
              <a:off x="5732867" y="51613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学术共识度</a:t>
              </a:r>
            </a:p>
          </p:txBody>
        </p:sp>
        <p:sp>
          <p:nvSpPr>
            <p:cNvPr id="54" name="TextBox 54"/>
            <p:cNvSpPr txBox="1"/>
            <p:nvPr/>
          </p:nvSpPr>
          <p:spPr>
            <a:xfrm>
              <a:off x="6138010" y="5354293"/>
              <a:ext cx="296979" cy="284531"/>
            </a:xfrm>
            <a:prstGeom prst="rect">
              <a:avLst/>
            </a:prstGeom>
            <a:noFill/>
            <a:ln>
              <a:noFill/>
            </a:ln>
          </p:spPr>
          <p:txBody>
            <a:bodyPr wrap="none" lIns="0" tIns="0" rIns="0" bIns="0" anchor="t" anchorCtr="0">
              <a:spAutoFit/>
            </a:bodyPr>
            <a:lstStyle/>
            <a:p>
              <a:pPr algn="ctr"/>
              <a:r>
                <a:rPr lang="zh-CN" sz="1400" dirty="0">
                  <a:solidFill>
                    <a:srgbClr val="9AA3AE"/>
                  </a:solidFill>
                  <a:latin typeface="Arial"/>
                  <a:ea typeface="Microsoft YaHei"/>
                  <a:cs typeface="Arial"/>
                </a:rPr>
                <a:t>10%</a:t>
              </a:r>
            </a:p>
          </p:txBody>
        </p:sp>
        <p:sp>
          <p:nvSpPr>
            <p:cNvPr id="55" name="Rectangle 55"/>
            <p:cNvSpPr/>
            <p:nvPr/>
          </p:nvSpPr>
          <p:spPr>
            <a:xfrm>
              <a:off x="7029450" y="2857500"/>
              <a:ext cx="361950" cy="2286000"/>
            </a:xfrm>
            <a:prstGeom prst="roundRect">
              <a:avLst>
                <a:gd name="adj" fmla="val 7895"/>
              </a:avLst>
            </a:prstGeom>
            <a:gradFill>
              <a:gsLst>
                <a:gs pos="0">
                  <a:srgbClr val="D6434A"/>
                </a:gs>
                <a:gs pos="100000">
                  <a:srgbClr val="C8161E"/>
                </a:gs>
              </a:gsLst>
              <a:lin ang="5400000" scaled="1"/>
            </a:gradFill>
            <a:ln>
              <a:noFill/>
            </a:ln>
          </p:spPr>
        </p:sp>
        <p:sp>
          <p:nvSpPr>
            <p:cNvPr id="56" name="TextBox 56"/>
            <p:cNvSpPr txBox="1"/>
            <p:nvPr/>
          </p:nvSpPr>
          <p:spPr>
            <a:xfrm>
              <a:off x="6910117" y="2608607"/>
              <a:ext cx="600616"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13.33</a:t>
              </a:r>
            </a:p>
          </p:txBody>
        </p:sp>
        <p:sp>
          <p:nvSpPr>
            <p:cNvPr id="57" name="Rectangle 57"/>
            <p:cNvSpPr/>
            <p:nvPr/>
          </p:nvSpPr>
          <p:spPr>
            <a:xfrm>
              <a:off x="7467600" y="4171950"/>
              <a:ext cx="361950" cy="971550"/>
            </a:xfrm>
            <a:prstGeom prst="roundRect">
              <a:avLst>
                <a:gd name="adj" fmla="val 7895"/>
              </a:avLst>
            </a:prstGeom>
            <a:gradFill>
              <a:gsLst>
                <a:gs pos="0">
                  <a:srgbClr val="2E5E8C"/>
                </a:gs>
                <a:gs pos="100000">
                  <a:srgbClr val="1F4D78"/>
                </a:gs>
              </a:gsLst>
              <a:lin ang="5400000" scaled="1"/>
            </a:gradFill>
            <a:ln>
              <a:noFill/>
            </a:ln>
          </p:spPr>
        </p:sp>
        <p:sp>
          <p:nvSpPr>
            <p:cNvPr id="58" name="TextBox 58"/>
            <p:cNvSpPr txBox="1"/>
            <p:nvPr/>
          </p:nvSpPr>
          <p:spPr>
            <a:xfrm>
              <a:off x="7381866" y="3923057"/>
              <a:ext cx="533418"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5.68</a:t>
              </a:r>
            </a:p>
          </p:txBody>
        </p:sp>
        <p:sp>
          <p:nvSpPr>
            <p:cNvPr id="59" name="TextBox 59"/>
            <p:cNvSpPr txBox="1"/>
            <p:nvPr/>
          </p:nvSpPr>
          <p:spPr>
            <a:xfrm>
              <a:off x="6875867" y="5161307"/>
              <a:ext cx="1107267"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前瞻延展性</a:t>
              </a:r>
            </a:p>
          </p:txBody>
        </p:sp>
        <p:sp>
          <p:nvSpPr>
            <p:cNvPr id="60" name="TextBox 60"/>
            <p:cNvSpPr txBox="1"/>
            <p:nvPr/>
          </p:nvSpPr>
          <p:spPr>
            <a:xfrm>
              <a:off x="7309019" y="5354293"/>
              <a:ext cx="240962" cy="284531"/>
            </a:xfrm>
            <a:prstGeom prst="rect">
              <a:avLst/>
            </a:prstGeom>
            <a:noFill/>
            <a:ln>
              <a:noFill/>
            </a:ln>
          </p:spPr>
          <p:txBody>
            <a:bodyPr wrap="none" lIns="0" tIns="0" rIns="0" bIns="0" anchor="t" anchorCtr="0">
              <a:spAutoFit/>
            </a:bodyPr>
            <a:lstStyle/>
            <a:p>
              <a:pPr algn="ctr"/>
              <a:r>
                <a:rPr lang="zh-CN" sz="1400" dirty="0">
                  <a:solidFill>
                    <a:srgbClr val="9AA3AE"/>
                  </a:solidFill>
                  <a:latin typeface="Arial"/>
                  <a:ea typeface="Microsoft YaHei"/>
                  <a:cs typeface="Arial"/>
                </a:rPr>
                <a:t>5%</a:t>
              </a:r>
            </a:p>
          </p:txBody>
        </p:sp>
      </p:grpSp>
      <p:grpSp>
        <p:nvGrpSpPr>
          <p:cNvPr id="67" name="Group 67"/>
          <p:cNvGrpSpPr/>
          <p:nvPr/>
        </p:nvGrpSpPr>
        <p:grpSpPr>
          <a:xfrm>
            <a:off x="8458200" y="1428750"/>
            <a:ext cx="3048000" cy="1809750"/>
            <a:chOff x="8458200" y="1428750"/>
            <a:chExt cx="3048000" cy="1809750"/>
          </a:xfrm>
        </p:grpSpPr>
        <p:sp>
          <p:nvSpPr>
            <p:cNvPr id="62" name="Rectangle 62"/>
            <p:cNvSpPr/>
            <p:nvPr/>
          </p:nvSpPr>
          <p:spPr>
            <a:xfrm>
              <a:off x="8458200" y="1428750"/>
              <a:ext cx="3048000" cy="1809750"/>
            </a:xfrm>
            <a:prstGeom prst="roundRect">
              <a:avLst>
                <a:gd name="adj" fmla="val 8421"/>
              </a:avLst>
            </a:prstGeom>
            <a:solidFill>
              <a:srgbClr val="C8161E"/>
            </a:solidFill>
            <a:ln>
              <a:noFill/>
            </a:ln>
          </p:spPr>
        </p:sp>
        <p:sp>
          <p:nvSpPr>
            <p:cNvPr id="63" name="TextBox 63"/>
            <p:cNvSpPr txBox="1"/>
            <p:nvPr/>
          </p:nvSpPr>
          <p:spPr>
            <a:xfrm>
              <a:off x="8666483" y="1637057"/>
              <a:ext cx="1533920" cy="325069"/>
            </a:xfrm>
            <a:prstGeom prst="rect">
              <a:avLst/>
            </a:prstGeom>
            <a:noFill/>
            <a:ln>
              <a:noFill/>
            </a:ln>
          </p:spPr>
          <p:txBody>
            <a:bodyPr wrap="none" lIns="0" tIns="0" rIns="0" bIns="0" anchor="t" anchorCtr="0">
              <a:spAutoFit/>
            </a:bodyPr>
            <a:lstStyle/>
            <a:p>
              <a:pPr algn="l"/>
              <a:r>
                <a:rPr lang="zh-CN" sz="1600" dirty="0">
                  <a:solidFill>
                    <a:srgbClr val="FFFFFF">
                      <a:alphaMod val="85000"/>
                    </a:srgbClr>
                  </a:solidFill>
                  <a:latin typeface="Arial"/>
                  <a:ea typeface="Microsoft YaHei"/>
                  <a:cs typeface="Arial"/>
                </a:rPr>
                <a:t>整体标准差降幅</a:t>
              </a:r>
            </a:p>
          </p:txBody>
        </p:sp>
        <p:sp>
          <p:nvSpPr>
            <p:cNvPr id="64" name="TextBox 64"/>
            <p:cNvSpPr txBox="1"/>
            <p:nvPr/>
          </p:nvSpPr>
          <p:spPr>
            <a:xfrm>
              <a:off x="8580120" y="1969770"/>
              <a:ext cx="2027396" cy="1097280"/>
            </a:xfrm>
            <a:prstGeom prst="rect">
              <a:avLst/>
            </a:prstGeom>
            <a:noFill/>
            <a:ln>
              <a:noFill/>
            </a:ln>
          </p:spPr>
          <p:txBody>
            <a:bodyPr wrap="none" lIns="0" tIns="0" rIns="0" bIns="0" anchor="t" anchorCtr="0">
              <a:spAutoFit/>
            </a:bodyPr>
            <a:lstStyle/>
            <a:p>
              <a:pPr algn="l"/>
              <a:r>
                <a:rPr lang="zh-CN" sz="5400" b="1" dirty="0">
                  <a:solidFill>
                    <a:srgbClr val="FFFFFF"/>
                  </a:solidFill>
                  <a:latin typeface="Arial"/>
                  <a:ea typeface="Microsoft YaHei"/>
                  <a:cs typeface="Arial"/>
                </a:rPr>
                <a:t>51.3</a:t>
              </a:r>
              <a:r>
                <a:rPr lang="zh-CN" sz="3600" b="1" dirty="0">
                  <a:solidFill>
                    <a:srgbClr val="FFFFFF"/>
                  </a:solidFill>
                  <a:latin typeface="Arial"/>
                  <a:ea typeface="Microsoft YaHei"/>
                  <a:cs typeface="Arial"/>
                </a:rPr>
                <a:t>%</a:t>
              </a:r>
            </a:p>
          </p:txBody>
        </p:sp>
        <p:sp>
          <p:nvSpPr>
            <p:cNvPr id="65" name="Line 65"/>
            <p:cNvSpPr/>
            <p:nvPr/>
          </p:nvSpPr>
          <p:spPr>
            <a:xfrm>
              <a:off x="8686800" y="2743200"/>
              <a:ext cx="2590800" cy="9525"/>
            </a:xfrm>
            <a:custGeom>
              <a:avLst/>
              <a:gdLst/>
              <a:ahLst/>
              <a:cxnLst/>
              <a:rect l="l" t="t" r="r" b="b"/>
              <a:pathLst>
                <a:path w="2590800" h="9525">
                  <a:moveTo>
                    <a:pt x="0" y="0"/>
                  </a:moveTo>
                  <a:lnTo>
                    <a:pt x="2590800" y="0"/>
                  </a:lnTo>
                </a:path>
              </a:pathLst>
            </a:custGeom>
            <a:noFill/>
            <a:ln w="9525">
              <a:solidFill>
                <a:srgbClr val="FFFFFF">
                  <a:alpha val="30000"/>
                </a:srgbClr>
              </a:solidFill>
            </a:ln>
          </p:spPr>
        </p:sp>
        <p:sp>
          <p:nvSpPr>
            <p:cNvPr id="66" name="TextBox 66"/>
            <p:cNvSpPr txBox="1"/>
            <p:nvPr/>
          </p:nvSpPr>
          <p:spPr>
            <a:xfrm>
              <a:off x="8663940" y="2853690"/>
              <a:ext cx="2061972" cy="365760"/>
            </a:xfrm>
            <a:prstGeom prst="rect">
              <a:avLst/>
            </a:prstGeom>
            <a:noFill/>
            <a:ln>
              <a:noFill/>
            </a:ln>
          </p:spPr>
          <p:txBody>
            <a:bodyPr wrap="none" lIns="0" tIns="0" rIns="0" bIns="0" anchor="t" anchorCtr="0">
              <a:spAutoFit/>
            </a:bodyPr>
            <a:lstStyle/>
            <a:p>
              <a:pPr algn="l"/>
              <a:r>
                <a:rPr lang="zh-CN" sz="1800" dirty="0">
                  <a:solidFill>
                    <a:srgbClr val="FFFFFF"/>
                  </a:solidFill>
                  <a:latin typeface="Arial"/>
                  <a:ea typeface="Microsoft YaHei"/>
                  <a:cs typeface="Arial"/>
                </a:rPr>
                <a:t xml:space="preserve">R1 </a:t>
              </a:r>
              <a:r>
                <a:rPr lang="zh-CN" sz="1800" b="1" dirty="0">
                  <a:solidFill>
                    <a:srgbClr val="FFFFFF"/>
                  </a:solidFill>
                  <a:latin typeface="Arial"/>
                  <a:ea typeface="Microsoft YaHei"/>
                  <a:cs typeface="Arial"/>
                </a:rPr>
                <a:t>14.87</a:t>
              </a:r>
              <a:r>
                <a:rPr lang="zh-CN" sz="1800" dirty="0">
                  <a:solidFill>
                    <a:srgbClr val="FFFFFF"/>
                  </a:solidFill>
                  <a:latin typeface="Arial"/>
                  <a:ea typeface="Microsoft YaHei"/>
                  <a:cs typeface="Arial"/>
                </a:rPr>
                <a:t xml:space="preserve"> → R2 </a:t>
              </a:r>
              <a:r>
                <a:rPr lang="zh-CN" sz="1800" b="1" dirty="0">
                  <a:solidFill>
                    <a:srgbClr val="FFFFFF"/>
                  </a:solidFill>
                  <a:latin typeface="Arial"/>
                  <a:ea typeface="Microsoft YaHei"/>
                  <a:cs typeface="Arial"/>
                </a:rPr>
                <a:t>7.24</a:t>
              </a:r>
            </a:p>
          </p:txBody>
        </p:sp>
      </p:grpSp>
      <p:grpSp>
        <p:nvGrpSpPr>
          <p:cNvPr id="74" name="Group 74"/>
          <p:cNvGrpSpPr/>
          <p:nvPr/>
        </p:nvGrpSpPr>
        <p:grpSpPr>
          <a:xfrm>
            <a:off x="8458200" y="3429000"/>
            <a:ext cx="3048000" cy="933450"/>
            <a:chOff x="8458200" y="3429000"/>
            <a:chExt cx="3048000" cy="933450"/>
          </a:xfrm>
        </p:grpSpPr>
        <p:sp>
          <p:nvSpPr>
            <p:cNvPr id="68" name="Rectangle 68"/>
            <p:cNvSpPr/>
            <p:nvPr/>
          </p:nvSpPr>
          <p:spPr>
            <a:xfrm>
              <a:off x="8458200" y="3429000"/>
              <a:ext cx="3048000" cy="876300"/>
            </a:xfrm>
            <a:prstGeom prst="roundRect">
              <a:avLst>
                <a:gd name="adj" fmla="val 13043"/>
              </a:avLst>
            </a:prstGeom>
            <a:solidFill>
              <a:srgbClr val="FFFFFF"/>
            </a:solidFill>
            <a:ln w="14288">
              <a:solidFill>
                <a:srgbClr val="D9DEE5"/>
              </a:solidFill>
            </a:ln>
          </p:spPr>
        </p:sp>
        <p:grpSp>
          <p:nvGrpSpPr>
            <p:cNvPr id="71" name="Group 71"/>
            <p:cNvGrpSpPr/>
            <p:nvPr/>
          </p:nvGrpSpPr>
          <p:grpSpPr>
            <a:xfrm>
              <a:off x="8693944" y="3702844"/>
              <a:ext cx="271462" cy="271462"/>
              <a:chOff x="8693944" y="3702844"/>
              <a:chExt cx="271462" cy="271462"/>
            </a:xfrm>
          </p:grpSpPr>
          <p:sp>
            <p:nvSpPr>
              <p:cNvPr id="69" name="Freeform 69"/>
              <p:cNvSpPr/>
              <p:nvPr/>
            </p:nvSpPr>
            <p:spPr>
              <a:xfrm>
                <a:off x="8693944" y="3702844"/>
                <a:ext cx="271462" cy="271462"/>
              </a:xfrm>
              <a:custGeom>
                <a:avLst/>
                <a:gdLst/>
                <a:ahLst/>
                <a:cxnLst/>
                <a:rect l="l" t="t" r="r" b="b"/>
                <a:pathLst>
                  <a:path w="271462" h="271462">
                    <a:moveTo>
                      <a:pt x="0" y="135731"/>
                    </a:moveTo>
                    <a:cubicBezTo>
                      <a:pt x="0" y="210694"/>
                      <a:pt x="60769" y="271462"/>
                      <a:pt x="135731" y="271462"/>
                    </a:cubicBezTo>
                    <a:cubicBezTo>
                      <a:pt x="210694" y="271462"/>
                      <a:pt x="271462" y="210694"/>
                      <a:pt x="271462" y="135731"/>
                    </a:cubicBezTo>
                    <a:cubicBezTo>
                      <a:pt x="271462" y="60769"/>
                      <a:pt x="210694" y="0"/>
                      <a:pt x="135731" y="0"/>
                    </a:cubicBezTo>
                    <a:cubicBezTo>
                      <a:pt x="60769" y="0"/>
                      <a:pt x="0" y="60769"/>
                      <a:pt x="0" y="135731"/>
                    </a:cubicBezTo>
                  </a:path>
                </a:pathLst>
              </a:custGeom>
              <a:noFill/>
              <a:ln w="19050">
                <a:solidFill>
                  <a:srgbClr val="2E7D32"/>
                </a:solidFill>
              </a:ln>
            </p:spPr>
          </p:sp>
          <p:sp>
            <p:nvSpPr>
              <p:cNvPr id="70" name="Freeform 70"/>
              <p:cNvSpPr/>
              <p:nvPr/>
            </p:nvSpPr>
            <p:spPr>
              <a:xfrm>
                <a:off x="8784431" y="3808412"/>
                <a:ext cx="90488" cy="60325"/>
              </a:xfrm>
              <a:custGeom>
                <a:avLst/>
                <a:gdLst/>
                <a:ahLst/>
                <a:cxnLst/>
                <a:rect l="l" t="t" r="r" b="b"/>
                <a:pathLst>
                  <a:path w="90488" h="60325">
                    <a:moveTo>
                      <a:pt x="0" y="30163"/>
                    </a:moveTo>
                    <a:lnTo>
                      <a:pt x="30162" y="60325"/>
                    </a:lnTo>
                    <a:lnTo>
                      <a:pt x="90488" y="0"/>
                    </a:lnTo>
                  </a:path>
                </a:pathLst>
              </a:custGeom>
              <a:noFill/>
              <a:ln w="19050">
                <a:solidFill>
                  <a:srgbClr val="2E7D32"/>
                </a:solidFill>
              </a:ln>
            </p:spPr>
          </p:sp>
        </p:grpSp>
        <p:sp>
          <p:nvSpPr>
            <p:cNvPr id="72" name="TextBox 72"/>
            <p:cNvSpPr txBox="1"/>
            <p:nvPr/>
          </p:nvSpPr>
          <p:spPr>
            <a:xfrm>
              <a:off x="9127493" y="3631592"/>
              <a:ext cx="1610241" cy="264109"/>
            </a:xfrm>
            <a:prstGeom prst="rect">
              <a:avLst/>
            </a:prstGeom>
            <a:noFill/>
            <a:ln>
              <a:noFill/>
            </a:ln>
          </p:spPr>
          <p:txBody>
            <a:bodyPr wrap="none" lIns="0" tIns="0" rIns="0" bIns="0" anchor="t" anchorCtr="0">
              <a:spAutoFit/>
            </a:bodyPr>
            <a:lstStyle/>
            <a:p>
              <a:pPr algn="l"/>
              <a:r>
                <a:rPr lang="zh-CN" sz="1300" dirty="0">
                  <a:solidFill>
                    <a:srgbClr val="5A6472"/>
                  </a:solidFill>
                  <a:latin typeface="Arial"/>
                  <a:ea typeface="Microsoft YaHei"/>
                  <a:cs typeface="Arial"/>
                </a:rPr>
                <a:t>逻辑连贯性R2收敛率</a:t>
              </a:r>
            </a:p>
          </p:txBody>
        </p:sp>
        <p:sp>
          <p:nvSpPr>
            <p:cNvPr id="73" name="TextBox 73"/>
            <p:cNvSpPr txBox="1"/>
            <p:nvPr/>
          </p:nvSpPr>
          <p:spPr>
            <a:xfrm>
              <a:off x="9113520" y="3874770"/>
              <a:ext cx="1657160" cy="487680"/>
            </a:xfrm>
            <a:prstGeom prst="rect">
              <a:avLst/>
            </a:prstGeom>
            <a:noFill/>
            <a:ln>
              <a:noFill/>
            </a:ln>
          </p:spPr>
          <p:txBody>
            <a:bodyPr wrap="none" lIns="0" tIns="0" rIns="0" bIns="0" anchor="t" anchorCtr="0">
              <a:spAutoFit/>
            </a:bodyPr>
            <a:lstStyle/>
            <a:p>
              <a:pPr algn="l"/>
              <a:r>
                <a:rPr lang="zh-CN" sz="2400" b="1" dirty="0">
                  <a:solidFill>
                    <a:srgbClr val="2E7D32"/>
                  </a:solidFill>
                  <a:latin typeface="Arial"/>
                  <a:ea typeface="Microsoft YaHei"/>
                  <a:cs typeface="Arial"/>
                </a:rPr>
                <a:t>93.2</a:t>
              </a:r>
              <a:r>
                <a:rPr lang="zh-CN" sz="1400" b="1" dirty="0">
                  <a:solidFill>
                    <a:srgbClr val="2E7D32"/>
                  </a:solidFill>
                  <a:latin typeface="Arial"/>
                  <a:ea typeface="Microsoft YaHei"/>
                  <a:cs typeface="Arial"/>
                </a:rPr>
                <a:t>%</a:t>
              </a:r>
              <a:r>
                <a:rPr lang="zh-CN" sz="1200" dirty="0">
                  <a:solidFill>
                    <a:srgbClr val="9AA3AE"/>
                  </a:solidFill>
                  <a:latin typeface="Arial"/>
                  <a:ea typeface="Microsoft YaHei"/>
                  <a:cs typeface="Arial"/>
                </a:rPr>
                <a:t>最高</a:t>
              </a:r>
            </a:p>
          </p:txBody>
        </p:sp>
      </p:grpSp>
      <p:grpSp>
        <p:nvGrpSpPr>
          <p:cNvPr id="84" name="Group 84"/>
          <p:cNvGrpSpPr/>
          <p:nvPr/>
        </p:nvGrpSpPr>
        <p:grpSpPr>
          <a:xfrm>
            <a:off x="8458200" y="4419600"/>
            <a:ext cx="3048000" cy="1028700"/>
            <a:chOff x="8458200" y="4419600"/>
            <a:chExt cx="3048000" cy="1028700"/>
          </a:xfrm>
        </p:grpSpPr>
        <p:sp>
          <p:nvSpPr>
            <p:cNvPr id="75" name="Rectangle 75"/>
            <p:cNvSpPr/>
            <p:nvPr/>
          </p:nvSpPr>
          <p:spPr>
            <a:xfrm>
              <a:off x="8458200" y="4419600"/>
              <a:ext cx="3048000" cy="1028700"/>
            </a:xfrm>
            <a:prstGeom prst="roundRect">
              <a:avLst>
                <a:gd name="adj" fmla="val 11111"/>
              </a:avLst>
            </a:prstGeom>
            <a:solidFill>
              <a:srgbClr val="FFFFFF"/>
            </a:solidFill>
            <a:ln w="14288">
              <a:solidFill>
                <a:srgbClr val="D9DEE5"/>
              </a:solidFill>
            </a:ln>
          </p:spPr>
        </p:sp>
        <p:grpSp>
          <p:nvGrpSpPr>
            <p:cNvPr id="80" name="Group 80"/>
            <p:cNvGrpSpPr/>
            <p:nvPr/>
          </p:nvGrpSpPr>
          <p:grpSpPr>
            <a:xfrm>
              <a:off x="8693944" y="4689475"/>
              <a:ext cx="271463" cy="250825"/>
              <a:chOff x="8693944" y="4689475"/>
              <a:chExt cx="271463" cy="250825"/>
            </a:xfrm>
          </p:grpSpPr>
          <p:sp>
            <p:nvSpPr>
              <p:cNvPr id="76" name="Freeform 76"/>
              <p:cNvSpPr/>
              <p:nvPr/>
            </p:nvSpPr>
            <p:spPr>
              <a:xfrm>
                <a:off x="8693944" y="4810125"/>
                <a:ext cx="90488" cy="120650"/>
              </a:xfrm>
              <a:custGeom>
                <a:avLst/>
                <a:gdLst/>
                <a:ahLst/>
                <a:cxnLst/>
                <a:rect l="l" t="t" r="r" b="b"/>
                <a:pathLst>
                  <a:path w="90488" h="120650">
                    <a:moveTo>
                      <a:pt x="0" y="15081"/>
                    </a:moveTo>
                    <a:cubicBezTo>
                      <a:pt x="0" y="6752"/>
                      <a:pt x="6752" y="0"/>
                      <a:pt x="15081" y="0"/>
                    </a:cubicBezTo>
                    <a:lnTo>
                      <a:pt x="75406" y="0"/>
                    </a:lnTo>
                    <a:cubicBezTo>
                      <a:pt x="83735" y="0"/>
                      <a:pt x="90488" y="6752"/>
                      <a:pt x="90488" y="15081"/>
                    </a:cubicBezTo>
                    <a:lnTo>
                      <a:pt x="90488" y="105569"/>
                    </a:lnTo>
                    <a:cubicBezTo>
                      <a:pt x="90488" y="113898"/>
                      <a:pt x="83735" y="120650"/>
                      <a:pt x="75406" y="120650"/>
                    </a:cubicBezTo>
                    <a:lnTo>
                      <a:pt x="15081" y="120650"/>
                    </a:lnTo>
                    <a:cubicBezTo>
                      <a:pt x="6752" y="120650"/>
                      <a:pt x="0" y="113898"/>
                      <a:pt x="0" y="105569"/>
                    </a:cubicBezTo>
                    <a:lnTo>
                      <a:pt x="0" y="15081"/>
                    </a:lnTo>
                  </a:path>
                </a:pathLst>
              </a:custGeom>
              <a:noFill/>
              <a:ln w="19050">
                <a:solidFill>
                  <a:srgbClr val="E07B00"/>
                </a:solidFill>
              </a:ln>
            </p:spPr>
          </p:sp>
          <p:sp>
            <p:nvSpPr>
              <p:cNvPr id="77" name="Freeform 77"/>
              <p:cNvSpPr/>
              <p:nvPr/>
            </p:nvSpPr>
            <p:spPr>
              <a:xfrm>
                <a:off x="8874919" y="4749800"/>
                <a:ext cx="90488" cy="180975"/>
              </a:xfrm>
              <a:custGeom>
                <a:avLst/>
                <a:gdLst/>
                <a:ahLst/>
                <a:cxnLst/>
                <a:rect l="l" t="t" r="r" b="b"/>
                <a:pathLst>
                  <a:path w="90488" h="180975">
                    <a:moveTo>
                      <a:pt x="0" y="15081"/>
                    </a:moveTo>
                    <a:cubicBezTo>
                      <a:pt x="0" y="6752"/>
                      <a:pt x="6752" y="0"/>
                      <a:pt x="15081" y="0"/>
                    </a:cubicBezTo>
                    <a:lnTo>
                      <a:pt x="75406" y="0"/>
                    </a:lnTo>
                    <a:cubicBezTo>
                      <a:pt x="83735" y="0"/>
                      <a:pt x="90488" y="6752"/>
                      <a:pt x="90488" y="15081"/>
                    </a:cubicBezTo>
                    <a:lnTo>
                      <a:pt x="90488" y="165894"/>
                    </a:lnTo>
                    <a:cubicBezTo>
                      <a:pt x="90488" y="174223"/>
                      <a:pt x="83735" y="180975"/>
                      <a:pt x="75406" y="180975"/>
                    </a:cubicBezTo>
                    <a:lnTo>
                      <a:pt x="15081" y="180975"/>
                    </a:lnTo>
                    <a:cubicBezTo>
                      <a:pt x="6752" y="180975"/>
                      <a:pt x="0" y="174223"/>
                      <a:pt x="0" y="165894"/>
                    </a:cubicBezTo>
                    <a:lnTo>
                      <a:pt x="0" y="15081"/>
                    </a:lnTo>
                  </a:path>
                </a:pathLst>
              </a:custGeom>
              <a:noFill/>
              <a:ln w="19050">
                <a:solidFill>
                  <a:srgbClr val="E07B00"/>
                </a:solidFill>
              </a:ln>
            </p:spPr>
          </p:sp>
          <p:sp>
            <p:nvSpPr>
              <p:cNvPr id="78" name="Freeform 78"/>
              <p:cNvSpPr/>
              <p:nvPr/>
            </p:nvSpPr>
            <p:spPr>
              <a:xfrm>
                <a:off x="8784431" y="4689475"/>
                <a:ext cx="90488" cy="241300"/>
              </a:xfrm>
              <a:custGeom>
                <a:avLst/>
                <a:gdLst/>
                <a:ahLst/>
                <a:cxnLst/>
                <a:rect l="l" t="t" r="r" b="b"/>
                <a:pathLst>
                  <a:path w="90488" h="241300">
                    <a:moveTo>
                      <a:pt x="0" y="15081"/>
                    </a:moveTo>
                    <a:cubicBezTo>
                      <a:pt x="0" y="6752"/>
                      <a:pt x="6752" y="0"/>
                      <a:pt x="15081" y="0"/>
                    </a:cubicBezTo>
                    <a:lnTo>
                      <a:pt x="75406" y="0"/>
                    </a:lnTo>
                    <a:cubicBezTo>
                      <a:pt x="83735" y="0"/>
                      <a:pt x="90488" y="6752"/>
                      <a:pt x="90488" y="15081"/>
                    </a:cubicBezTo>
                    <a:lnTo>
                      <a:pt x="90488" y="226219"/>
                    </a:lnTo>
                    <a:cubicBezTo>
                      <a:pt x="90488" y="234548"/>
                      <a:pt x="83735" y="241300"/>
                      <a:pt x="75406" y="241300"/>
                    </a:cubicBezTo>
                    <a:lnTo>
                      <a:pt x="15081" y="241300"/>
                    </a:lnTo>
                    <a:cubicBezTo>
                      <a:pt x="6752" y="241300"/>
                      <a:pt x="0" y="234548"/>
                      <a:pt x="0" y="226219"/>
                    </a:cubicBezTo>
                    <a:lnTo>
                      <a:pt x="0" y="15081"/>
                    </a:lnTo>
                  </a:path>
                </a:pathLst>
              </a:custGeom>
              <a:noFill/>
              <a:ln w="19050">
                <a:solidFill>
                  <a:srgbClr val="E07B00"/>
                </a:solidFill>
              </a:ln>
            </p:spPr>
          </p:sp>
          <p:sp>
            <p:nvSpPr>
              <p:cNvPr id="79" name="Freeform 79"/>
              <p:cNvSpPr/>
              <p:nvPr/>
            </p:nvSpPr>
            <p:spPr>
              <a:xfrm>
                <a:off x="8709025" y="4930775"/>
                <a:ext cx="211137" cy="9525"/>
              </a:xfrm>
              <a:custGeom>
                <a:avLst/>
                <a:gdLst/>
                <a:ahLst/>
                <a:cxnLst/>
                <a:rect l="l" t="t" r="r" b="b"/>
                <a:pathLst>
                  <a:path w="211137" h="9525">
                    <a:moveTo>
                      <a:pt x="0" y="0"/>
                    </a:moveTo>
                    <a:lnTo>
                      <a:pt x="211137" y="0"/>
                    </a:lnTo>
                  </a:path>
                </a:pathLst>
              </a:custGeom>
              <a:noFill/>
              <a:ln w="19050">
                <a:solidFill>
                  <a:srgbClr val="E07B00"/>
                </a:solidFill>
              </a:ln>
            </p:spPr>
          </p:sp>
        </p:grpSp>
        <p:sp>
          <p:nvSpPr>
            <p:cNvPr id="81" name="TextBox 81"/>
            <p:cNvSpPr txBox="1"/>
            <p:nvPr/>
          </p:nvSpPr>
          <p:spPr>
            <a:xfrm>
              <a:off x="9127493" y="4603142"/>
              <a:ext cx="1610241" cy="264109"/>
            </a:xfrm>
            <a:prstGeom prst="rect">
              <a:avLst/>
            </a:prstGeom>
            <a:noFill/>
            <a:ln>
              <a:noFill/>
            </a:ln>
          </p:spPr>
          <p:txBody>
            <a:bodyPr wrap="none" lIns="0" tIns="0" rIns="0" bIns="0" anchor="t" anchorCtr="0">
              <a:spAutoFit/>
            </a:bodyPr>
            <a:lstStyle/>
            <a:p>
              <a:pPr algn="l"/>
              <a:r>
                <a:rPr lang="zh-CN" sz="1300" dirty="0">
                  <a:solidFill>
                    <a:srgbClr val="5A6472"/>
                  </a:solidFill>
                  <a:latin typeface="Arial"/>
                  <a:ea typeface="Microsoft YaHei"/>
                  <a:cs typeface="Arial"/>
                </a:rPr>
                <a:t>研究创新性R2收敛率</a:t>
              </a:r>
            </a:p>
          </p:txBody>
        </p:sp>
        <p:sp>
          <p:nvSpPr>
            <p:cNvPr id="82" name="TextBox 82"/>
            <p:cNvSpPr txBox="1"/>
            <p:nvPr/>
          </p:nvSpPr>
          <p:spPr>
            <a:xfrm>
              <a:off x="9113520" y="4846320"/>
              <a:ext cx="985076" cy="487680"/>
            </a:xfrm>
            <a:prstGeom prst="rect">
              <a:avLst/>
            </a:prstGeom>
            <a:noFill/>
            <a:ln>
              <a:noFill/>
            </a:ln>
          </p:spPr>
          <p:txBody>
            <a:bodyPr wrap="none" lIns="0" tIns="0" rIns="0" bIns="0" anchor="t" anchorCtr="0">
              <a:spAutoFit/>
            </a:bodyPr>
            <a:lstStyle/>
            <a:p>
              <a:pPr algn="l"/>
              <a:r>
                <a:rPr lang="zh-CN" sz="2400" b="1" dirty="0">
                  <a:solidFill>
                    <a:srgbClr val="E07B00"/>
                  </a:solidFill>
                  <a:latin typeface="Arial"/>
                  <a:ea typeface="Microsoft YaHei"/>
                  <a:cs typeface="Arial"/>
                </a:rPr>
                <a:t>44.8</a:t>
              </a:r>
              <a:r>
                <a:rPr lang="zh-CN" sz="1400" b="1" dirty="0">
                  <a:solidFill>
                    <a:srgbClr val="E07B00"/>
                  </a:solidFill>
                  <a:latin typeface="Arial"/>
                  <a:ea typeface="Microsoft YaHei"/>
                  <a:cs typeface="Arial"/>
                </a:rPr>
                <a:t>%</a:t>
              </a:r>
            </a:p>
          </p:txBody>
        </p:sp>
        <p:sp>
          <p:nvSpPr>
            <p:cNvPr id="83" name="TextBox 83"/>
            <p:cNvSpPr txBox="1"/>
            <p:nvPr/>
          </p:nvSpPr>
          <p:spPr>
            <a:xfrm>
              <a:off x="9128760" y="5204460"/>
              <a:ext cx="1494663" cy="243840"/>
            </a:xfrm>
            <a:prstGeom prst="rect">
              <a:avLst/>
            </a:prstGeom>
            <a:noFill/>
            <a:ln>
              <a:noFill/>
            </a:ln>
          </p:spPr>
          <p:txBody>
            <a:bodyPr wrap="none" lIns="0" tIns="0" rIns="0" bIns="0" anchor="t" anchorCtr="0">
              <a:spAutoFit/>
            </a:bodyPr>
            <a:lstStyle/>
            <a:p>
              <a:pPr algn="l"/>
              <a:r>
                <a:rPr lang="zh-CN" sz="1200" dirty="0">
                  <a:solidFill>
                    <a:srgbClr val="9AA3AE"/>
                  </a:solidFill>
                  <a:latin typeface="Arial"/>
                  <a:ea typeface="Microsoft YaHei"/>
                  <a:cs typeface="Arial"/>
                </a:rPr>
                <a:t>最低 · 真实学术分歧</a:t>
              </a:r>
            </a:p>
          </p:txBody>
        </p:sp>
      </p:grpSp>
      <p:grpSp>
        <p:nvGrpSpPr>
          <p:cNvPr id="88" name="Group 88"/>
          <p:cNvGrpSpPr/>
          <p:nvPr/>
        </p:nvGrpSpPr>
        <p:grpSpPr>
          <a:xfrm>
            <a:off x="0" y="6516343"/>
            <a:ext cx="12192000" cy="341657"/>
            <a:chOff x="0" y="6516343"/>
            <a:chExt cx="12192000" cy="341657"/>
          </a:xfrm>
        </p:grpSpPr>
        <p:sp>
          <p:nvSpPr>
            <p:cNvPr id="85" name="Rectangle 85"/>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86" name="TextBox 86"/>
            <p:cNvSpPr txBox="1"/>
            <p:nvPr/>
          </p:nvSpPr>
          <p:spPr>
            <a:xfrm>
              <a:off x="668017" y="6516343"/>
              <a:ext cx="489037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数据来源：results/fullevaluation/round2 全量评审统计</a:t>
              </a:r>
            </a:p>
          </p:txBody>
        </p:sp>
        <p:sp>
          <p:nvSpPr>
            <p:cNvPr id="87" name="TextBox 87"/>
            <p:cNvSpPr txBox="1"/>
            <p:nvPr/>
          </p:nvSpPr>
          <p:spPr>
            <a:xfrm>
              <a:off x="11297917" y="6516343"/>
              <a:ext cx="194281"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18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400"/>
                                        <p:tgtEl>
                                          <p:spTgt spid="1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61"/>
                                        </p:tgtEl>
                                        <p:attrNameLst>
                                          <p:attrName>style.visibility</p:attrName>
                                        </p:attrNameLst>
                                      </p:cBhvr>
                                      <p:to>
                                        <p:strVal val="visible"/>
                                      </p:to>
                                    </p:set>
                                    <p:animEffect transition="in" filter="wipe(left)">
                                      <p:cBhvr>
                                        <p:cTn id="11" dur="400"/>
                                        <p:tgtEl>
                                          <p:spTgt spid="61"/>
                                        </p:tgtEl>
                                      </p:cBhvr>
                                    </p:animEffect>
                                  </p:childTnLst>
                                </p:cTn>
                              </p:par>
                            </p:childTnLst>
                          </p:cTn>
                        </p:par>
                        <p:par>
                          <p:cTn id="12" fill="hold">
                            <p:stCondLst>
                              <p:cond delay="1800"/>
                            </p:stCondLst>
                            <p:childTnLst>
                              <p:par>
                                <p:cTn id="13" presetID="6" presetClass="entr" presetSubtype="0" fill="hold" nodeType="afterEffect">
                                  <p:stCondLst>
                                    <p:cond delay="0"/>
                                  </p:stCondLst>
                                  <p:childTnLst>
                                    <p:set>
                                      <p:cBhvr>
                                        <p:cTn id="14" dur="1" fill="hold">
                                          <p:stCondLst>
                                            <p:cond delay="0"/>
                                          </p:stCondLst>
                                        </p:cTn>
                                        <p:tgtEl>
                                          <p:spTgt spid="67"/>
                                        </p:tgtEl>
                                        <p:attrNameLst>
                                          <p:attrName>style.visibility</p:attrName>
                                        </p:attrNameLst>
                                      </p:cBhvr>
                                      <p:to>
                                        <p:strVal val="visible"/>
                                      </p:to>
                                    </p:set>
                                    <p:animEffect transition="in" filter="circle(in)">
                                      <p:cBhvr>
                                        <p:cTn id="15" dur="400"/>
                                        <p:tgtEl>
                                          <p:spTgt spid="67"/>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74"/>
                                        </p:tgtEl>
                                        <p:attrNameLst>
                                          <p:attrName>style.visibility</p:attrName>
                                        </p:attrNameLst>
                                      </p:cBhvr>
                                      <p:to>
                                        <p:strVal val="visible"/>
                                      </p:to>
                                    </p:set>
                                    <p:animEffect transition="in" filter="fade">
                                      <p:cBhvr>
                                        <p:cTn id="19" dur="400"/>
                                        <p:tgtEl>
                                          <p:spTgt spid="74"/>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84"/>
                                        </p:tgtEl>
                                        <p:attrNameLst>
                                          <p:attrName>style.visibility</p:attrName>
                                        </p:attrNameLst>
                                      </p:cBhvr>
                                      <p:to>
                                        <p:strVal val="visible"/>
                                      </p:to>
                                    </p:set>
                                    <p:animEffect transition="in" filter="fade">
                                      <p:cBhvr>
                                        <p:cTn id="23"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61" grpId="0"/>
      <p:bldP spid="67" grpId="0"/>
      <p:bldP spid="74" grpId="0"/>
      <p:bldP spid="8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3599240"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大规模评测进展概览</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sp>
        <p:nvSpPr>
          <p:cNvPr id="7" name="Rectangle 7"/>
          <p:cNvSpPr/>
          <p:nvPr/>
        </p:nvSpPr>
        <p:spPr>
          <a:xfrm>
            <a:off x="685800" y="1219200"/>
            <a:ext cx="2381250" cy="2038350"/>
          </a:xfrm>
          <a:prstGeom prst="roundRect">
            <a:avLst>
              <a:gd name="adj" fmla="val 3738"/>
            </a:avLst>
          </a:prstGeom>
          <a:solidFill>
            <a:srgbClr val="F0F7FF"/>
          </a:solidFill>
          <a:ln w="14288">
            <a:solidFill>
              <a:srgbClr val="1F4D78"/>
            </a:solidFill>
          </a:ln>
        </p:spPr>
      </p:sp>
      <p:sp>
        <p:nvSpPr>
          <p:cNvPr id="8" name="Rectangle 8"/>
          <p:cNvSpPr/>
          <p:nvPr/>
        </p:nvSpPr>
        <p:spPr>
          <a:xfrm>
            <a:off x="685800" y="1219200"/>
            <a:ext cx="2381250" cy="457200"/>
          </a:xfrm>
          <a:prstGeom prst="roundRect">
            <a:avLst>
              <a:gd name="adj" fmla="val 16667"/>
            </a:avLst>
          </a:prstGeom>
          <a:solidFill>
            <a:srgbClr val="1F4D78"/>
          </a:solidFill>
          <a:ln>
            <a:noFill/>
          </a:ln>
        </p:spPr>
      </p:sp>
      <p:sp>
        <p:nvSpPr>
          <p:cNvPr id="9" name="Rectangle 9"/>
          <p:cNvSpPr/>
          <p:nvPr/>
        </p:nvSpPr>
        <p:spPr>
          <a:xfrm>
            <a:off x="685800" y="1619250"/>
            <a:ext cx="2381250" cy="57150"/>
          </a:xfrm>
          <a:prstGeom prst="rect">
            <a:avLst/>
          </a:prstGeom>
          <a:solidFill>
            <a:srgbClr val="1F4D78"/>
          </a:solidFill>
          <a:ln>
            <a:noFill/>
          </a:ln>
        </p:spPr>
      </p:sp>
      <p:sp>
        <p:nvSpPr>
          <p:cNvPr id="10" name="TextBox 10"/>
          <p:cNvSpPr txBox="1"/>
          <p:nvPr/>
        </p:nvSpPr>
        <p:spPr>
          <a:xfrm>
            <a:off x="1288564" y="1353979"/>
            <a:ext cx="1175722"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E1 全量评审</a:t>
            </a:r>
          </a:p>
        </p:txBody>
      </p:sp>
      <p:sp>
        <p:nvSpPr>
          <p:cNvPr id="11" name="TextBox 11"/>
          <p:cNvSpPr txBox="1"/>
          <p:nvPr/>
        </p:nvSpPr>
        <p:spPr>
          <a:xfrm>
            <a:off x="1339244" y="1859280"/>
            <a:ext cx="1074363" cy="731520"/>
          </a:xfrm>
          <a:prstGeom prst="rect">
            <a:avLst/>
          </a:prstGeom>
          <a:noFill/>
          <a:ln>
            <a:noFill/>
          </a:ln>
        </p:spPr>
        <p:txBody>
          <a:bodyPr wrap="none" lIns="0" tIns="0" rIns="0" bIns="0" anchor="t" anchorCtr="0">
            <a:spAutoFit/>
          </a:bodyPr>
          <a:lstStyle/>
          <a:p>
            <a:pPr algn="ctr"/>
            <a:r>
              <a:rPr lang="zh-CN" sz="3600" b="1" dirty="0">
                <a:solidFill>
                  <a:srgbClr val="1F4D78"/>
                </a:solidFill>
                <a:latin typeface="Arial"/>
                <a:ea typeface="Microsoft YaHei"/>
                <a:cs typeface="Arial"/>
              </a:rPr>
              <a:t>1920</a:t>
            </a:r>
          </a:p>
        </p:txBody>
      </p:sp>
      <p:sp>
        <p:nvSpPr>
          <p:cNvPr id="12" name="TextBox 12"/>
          <p:cNvSpPr txBox="1"/>
          <p:nvPr/>
        </p:nvSpPr>
        <p:spPr>
          <a:xfrm>
            <a:off x="1589246" y="2406968"/>
            <a:ext cx="574358"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篇论文</a:t>
            </a:r>
          </a:p>
        </p:txBody>
      </p:sp>
      <p:sp>
        <p:nvSpPr>
          <p:cNvPr id="13" name="TextBox 13"/>
          <p:cNvSpPr txBox="1"/>
          <p:nvPr/>
        </p:nvSpPr>
        <p:spPr>
          <a:xfrm>
            <a:off x="1130272" y="2778204"/>
            <a:ext cx="1492306" cy="220980"/>
          </a:xfrm>
          <a:prstGeom prst="rect">
            <a:avLst/>
          </a:prstGeom>
          <a:noFill/>
          <a:ln>
            <a:noFill/>
          </a:ln>
        </p:spPr>
        <p:txBody>
          <a:bodyPr wrap="none" lIns="0" tIns="0" rIns="0" bIns="0" anchor="t" anchorCtr="0">
            <a:spAutoFit/>
          </a:bodyPr>
          <a:lstStyle/>
          <a:p>
            <a:pPr algn="ctr"/>
            <a:r>
              <a:rPr lang="zh-CN" sz="1088" dirty="0">
                <a:solidFill>
                  <a:srgbClr val="5A6472"/>
                </a:solidFill>
                <a:latin typeface="Arial"/>
                <a:ea typeface="Microsoft YaHei"/>
                <a:cs typeface="Arial"/>
              </a:rPr>
              <a:t>已生成 R1+R2 结果文件</a:t>
            </a:r>
          </a:p>
        </p:txBody>
      </p:sp>
      <p:sp>
        <p:nvSpPr>
          <p:cNvPr id="14" name="TextBox 14"/>
          <p:cNvSpPr txBox="1"/>
          <p:nvPr/>
        </p:nvSpPr>
        <p:spPr>
          <a:xfrm>
            <a:off x="1217283" y="2987754"/>
            <a:ext cx="1318284" cy="220980"/>
          </a:xfrm>
          <a:prstGeom prst="rect">
            <a:avLst/>
          </a:prstGeom>
          <a:noFill/>
          <a:ln>
            <a:noFill/>
          </a:ln>
        </p:spPr>
        <p:txBody>
          <a:bodyPr wrap="none" lIns="0" tIns="0" rIns="0" bIns="0" anchor="t" anchorCtr="0">
            <a:spAutoFit/>
          </a:bodyPr>
          <a:lstStyle/>
          <a:p>
            <a:pPr algn="ctr"/>
            <a:r>
              <a:rPr lang="zh-CN" sz="1088" dirty="0">
                <a:solidFill>
                  <a:srgbClr val="5A6472"/>
                </a:solidFill>
                <a:latin typeface="Arial"/>
                <a:ea typeface="Microsoft YaHei"/>
                <a:cs typeface="Arial"/>
              </a:rPr>
              <a:t>~92,160 次 API 调用</a:t>
            </a:r>
          </a:p>
        </p:txBody>
      </p:sp>
      <p:sp>
        <p:nvSpPr>
          <p:cNvPr id="15" name="Rectangle 15"/>
          <p:cNvSpPr/>
          <p:nvPr/>
        </p:nvSpPr>
        <p:spPr>
          <a:xfrm>
            <a:off x="3448050" y="1219200"/>
            <a:ext cx="2381250" cy="2038350"/>
          </a:xfrm>
          <a:prstGeom prst="roundRect">
            <a:avLst>
              <a:gd name="adj" fmla="val 3738"/>
            </a:avLst>
          </a:prstGeom>
          <a:solidFill>
            <a:srgbClr val="E8F5E9"/>
          </a:solidFill>
          <a:ln w="14288">
            <a:solidFill>
              <a:srgbClr val="2E7D32"/>
            </a:solidFill>
          </a:ln>
        </p:spPr>
      </p:sp>
      <p:sp>
        <p:nvSpPr>
          <p:cNvPr id="16" name="Rectangle 16"/>
          <p:cNvSpPr/>
          <p:nvPr/>
        </p:nvSpPr>
        <p:spPr>
          <a:xfrm>
            <a:off x="3448050" y="1219200"/>
            <a:ext cx="2381250" cy="457200"/>
          </a:xfrm>
          <a:prstGeom prst="roundRect">
            <a:avLst>
              <a:gd name="adj" fmla="val 16667"/>
            </a:avLst>
          </a:prstGeom>
          <a:solidFill>
            <a:srgbClr val="2E7D32"/>
          </a:solidFill>
          <a:ln>
            <a:noFill/>
          </a:ln>
        </p:spPr>
      </p:sp>
      <p:sp>
        <p:nvSpPr>
          <p:cNvPr id="17" name="Rectangle 17"/>
          <p:cNvSpPr/>
          <p:nvPr/>
        </p:nvSpPr>
        <p:spPr>
          <a:xfrm>
            <a:off x="3448050" y="1619250"/>
            <a:ext cx="2381250" cy="57150"/>
          </a:xfrm>
          <a:prstGeom prst="rect">
            <a:avLst/>
          </a:prstGeom>
          <a:solidFill>
            <a:srgbClr val="2E7D32"/>
          </a:solidFill>
          <a:ln>
            <a:noFill/>
          </a:ln>
        </p:spPr>
      </p:sp>
      <p:sp>
        <p:nvSpPr>
          <p:cNvPr id="18" name="TextBox 18"/>
          <p:cNvSpPr txBox="1"/>
          <p:nvPr/>
        </p:nvSpPr>
        <p:spPr>
          <a:xfrm>
            <a:off x="3901958" y="1353979"/>
            <a:ext cx="1473434"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E2 Top101 重测</a:t>
            </a:r>
          </a:p>
        </p:txBody>
      </p:sp>
      <p:sp>
        <p:nvSpPr>
          <p:cNvPr id="19" name="TextBox 19"/>
          <p:cNvSpPr txBox="1"/>
          <p:nvPr/>
        </p:nvSpPr>
        <p:spPr>
          <a:xfrm>
            <a:off x="4303119" y="1859280"/>
            <a:ext cx="671112" cy="731520"/>
          </a:xfrm>
          <a:prstGeom prst="rect">
            <a:avLst/>
          </a:prstGeom>
          <a:noFill/>
          <a:ln>
            <a:noFill/>
          </a:ln>
        </p:spPr>
        <p:txBody>
          <a:bodyPr wrap="none" lIns="0" tIns="0" rIns="0" bIns="0" anchor="t" anchorCtr="0">
            <a:spAutoFit/>
          </a:bodyPr>
          <a:lstStyle/>
          <a:p>
            <a:pPr algn="ctr"/>
            <a:r>
              <a:rPr lang="zh-CN" sz="3600" b="1" dirty="0">
                <a:solidFill>
                  <a:srgbClr val="2E7D32"/>
                </a:solidFill>
                <a:latin typeface="Arial"/>
                <a:ea typeface="Microsoft YaHei"/>
                <a:cs typeface="Arial"/>
              </a:rPr>
              <a:t>101</a:t>
            </a:r>
          </a:p>
        </p:txBody>
      </p:sp>
      <p:sp>
        <p:nvSpPr>
          <p:cNvPr id="20" name="TextBox 20"/>
          <p:cNvSpPr txBox="1"/>
          <p:nvPr/>
        </p:nvSpPr>
        <p:spPr>
          <a:xfrm>
            <a:off x="4351496" y="2406968"/>
            <a:ext cx="574358"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篇论文</a:t>
            </a:r>
          </a:p>
        </p:txBody>
      </p:sp>
      <p:sp>
        <p:nvSpPr>
          <p:cNvPr id="21" name="TextBox 21"/>
          <p:cNvSpPr txBox="1"/>
          <p:nvPr/>
        </p:nvSpPr>
        <p:spPr>
          <a:xfrm>
            <a:off x="3794635" y="2778204"/>
            <a:ext cx="1688080" cy="220980"/>
          </a:xfrm>
          <a:prstGeom prst="rect">
            <a:avLst/>
          </a:prstGeom>
          <a:noFill/>
          <a:ln>
            <a:noFill/>
          </a:ln>
        </p:spPr>
        <p:txBody>
          <a:bodyPr wrap="none" lIns="0" tIns="0" rIns="0" bIns="0" anchor="t" anchorCtr="0">
            <a:spAutoFit/>
          </a:bodyPr>
          <a:lstStyle/>
          <a:p>
            <a:pPr algn="ctr"/>
            <a:r>
              <a:rPr lang="zh-CN" sz="1088" dirty="0">
                <a:solidFill>
                  <a:srgbClr val="5A6472"/>
                </a:solidFill>
                <a:latin typeface="Arial"/>
                <a:ea typeface="Microsoft YaHei"/>
                <a:cs typeface="Arial"/>
              </a:rPr>
              <a:t>Top60 + 年份/学科双约束</a:t>
            </a:r>
          </a:p>
        </p:txBody>
      </p:sp>
      <p:sp>
        <p:nvSpPr>
          <p:cNvPr id="22" name="TextBox 22"/>
          <p:cNvSpPr txBox="1"/>
          <p:nvPr/>
        </p:nvSpPr>
        <p:spPr>
          <a:xfrm>
            <a:off x="3965031" y="2987754"/>
            <a:ext cx="1347287" cy="220980"/>
          </a:xfrm>
          <a:prstGeom prst="rect">
            <a:avLst/>
          </a:prstGeom>
          <a:noFill/>
          <a:ln>
            <a:noFill/>
          </a:ln>
        </p:spPr>
        <p:txBody>
          <a:bodyPr wrap="none" lIns="0" tIns="0" rIns="0" bIns="0" anchor="t" anchorCtr="0">
            <a:spAutoFit/>
          </a:bodyPr>
          <a:lstStyle/>
          <a:p>
            <a:pPr algn="ctr"/>
            <a:r>
              <a:rPr lang="zh-CN" sz="1088" dirty="0">
                <a:solidFill>
                  <a:srgbClr val="5A6472"/>
                </a:solidFill>
                <a:latin typeface="Arial"/>
                <a:ea typeface="Microsoft YaHei"/>
                <a:cs typeface="Arial"/>
              </a:rPr>
              <a:t>完整 R1+R2 交叉评审</a:t>
            </a:r>
          </a:p>
        </p:txBody>
      </p:sp>
      <p:sp>
        <p:nvSpPr>
          <p:cNvPr id="23" name="Rectangle 23"/>
          <p:cNvSpPr/>
          <p:nvPr/>
        </p:nvSpPr>
        <p:spPr>
          <a:xfrm>
            <a:off x="6210300" y="1219200"/>
            <a:ext cx="2381250" cy="2038350"/>
          </a:xfrm>
          <a:prstGeom prst="roundRect">
            <a:avLst>
              <a:gd name="adj" fmla="val 3738"/>
            </a:avLst>
          </a:prstGeom>
          <a:solidFill>
            <a:srgbClr val="FFF8F0"/>
          </a:solidFill>
          <a:ln w="14288">
            <a:solidFill>
              <a:srgbClr val="E07B00"/>
            </a:solidFill>
          </a:ln>
        </p:spPr>
      </p:sp>
      <p:sp>
        <p:nvSpPr>
          <p:cNvPr id="24" name="Rectangle 24"/>
          <p:cNvSpPr/>
          <p:nvPr/>
        </p:nvSpPr>
        <p:spPr>
          <a:xfrm>
            <a:off x="6210300" y="1219200"/>
            <a:ext cx="2381250" cy="457200"/>
          </a:xfrm>
          <a:prstGeom prst="roundRect">
            <a:avLst>
              <a:gd name="adj" fmla="val 16667"/>
            </a:avLst>
          </a:prstGeom>
          <a:solidFill>
            <a:srgbClr val="E07B00"/>
          </a:solidFill>
          <a:ln>
            <a:noFill/>
          </a:ln>
        </p:spPr>
      </p:sp>
      <p:sp>
        <p:nvSpPr>
          <p:cNvPr id="25" name="Rectangle 25"/>
          <p:cNvSpPr/>
          <p:nvPr/>
        </p:nvSpPr>
        <p:spPr>
          <a:xfrm>
            <a:off x="6210300" y="1619250"/>
            <a:ext cx="2381250" cy="57150"/>
          </a:xfrm>
          <a:prstGeom prst="rect">
            <a:avLst/>
          </a:prstGeom>
          <a:solidFill>
            <a:srgbClr val="E07B00"/>
          </a:solidFill>
          <a:ln>
            <a:noFill/>
          </a:ln>
        </p:spPr>
      </p:sp>
      <p:sp>
        <p:nvSpPr>
          <p:cNvPr id="26" name="TextBox 26"/>
          <p:cNvSpPr txBox="1"/>
          <p:nvPr/>
        </p:nvSpPr>
        <p:spPr>
          <a:xfrm>
            <a:off x="6785498" y="1353979"/>
            <a:ext cx="1230854"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E3 维度仲裁</a:t>
            </a:r>
          </a:p>
        </p:txBody>
      </p:sp>
      <p:sp>
        <p:nvSpPr>
          <p:cNvPr id="27" name="TextBox 27"/>
          <p:cNvSpPr txBox="1"/>
          <p:nvPr/>
        </p:nvSpPr>
        <p:spPr>
          <a:xfrm>
            <a:off x="7077970" y="1859280"/>
            <a:ext cx="645909" cy="731520"/>
          </a:xfrm>
          <a:prstGeom prst="rect">
            <a:avLst/>
          </a:prstGeom>
          <a:noFill/>
          <a:ln>
            <a:noFill/>
          </a:ln>
        </p:spPr>
        <p:txBody>
          <a:bodyPr wrap="none" lIns="0" tIns="0" rIns="0" bIns="0" anchor="t" anchorCtr="0">
            <a:spAutoFit/>
          </a:bodyPr>
          <a:lstStyle/>
          <a:p>
            <a:pPr algn="ctr"/>
            <a:r>
              <a:rPr lang="zh-CN" sz="3600" b="1" dirty="0">
                <a:solidFill>
                  <a:srgbClr val="E07B00"/>
                </a:solidFill>
                <a:latin typeface="Arial"/>
                <a:ea typeface="Microsoft YaHei"/>
                <a:cs typeface="Arial"/>
              </a:rPr>
              <a:t>45</a:t>
            </a:r>
          </a:p>
        </p:txBody>
      </p:sp>
      <p:sp>
        <p:nvSpPr>
          <p:cNvPr id="28" name="TextBox 28"/>
          <p:cNvSpPr txBox="1"/>
          <p:nvPr/>
        </p:nvSpPr>
        <p:spPr>
          <a:xfrm>
            <a:off x="7113746" y="2406968"/>
            <a:ext cx="574358"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篇论文</a:t>
            </a:r>
          </a:p>
        </p:txBody>
      </p:sp>
      <p:sp>
        <p:nvSpPr>
          <p:cNvPr id="29" name="TextBox 29"/>
          <p:cNvSpPr txBox="1"/>
          <p:nvPr/>
        </p:nvSpPr>
        <p:spPr>
          <a:xfrm>
            <a:off x="6850547" y="2778204"/>
            <a:ext cx="1100757" cy="220980"/>
          </a:xfrm>
          <a:prstGeom prst="rect">
            <a:avLst/>
          </a:prstGeom>
          <a:noFill/>
          <a:ln>
            <a:noFill/>
          </a:ln>
        </p:spPr>
        <p:txBody>
          <a:bodyPr wrap="none" lIns="0" tIns="0" rIns="0" bIns="0" anchor="t" anchorCtr="0">
            <a:spAutoFit/>
          </a:bodyPr>
          <a:lstStyle/>
          <a:p>
            <a:pPr algn="ctr"/>
            <a:r>
              <a:rPr lang="zh-CN" sz="1088" dirty="0">
                <a:solidFill>
                  <a:srgbClr val="5A6472"/>
                </a:solidFill>
                <a:latin typeface="Arial"/>
                <a:ea typeface="Microsoft YaHei"/>
                <a:cs typeface="Arial"/>
              </a:rPr>
              <a:t>63 个不稳定维度</a:t>
            </a:r>
          </a:p>
        </p:txBody>
      </p:sp>
      <p:sp>
        <p:nvSpPr>
          <p:cNvPr id="30" name="TextBox 30"/>
          <p:cNvSpPr txBox="1"/>
          <p:nvPr/>
        </p:nvSpPr>
        <p:spPr>
          <a:xfrm>
            <a:off x="6883176" y="2987754"/>
            <a:ext cx="1035498" cy="220980"/>
          </a:xfrm>
          <a:prstGeom prst="rect">
            <a:avLst/>
          </a:prstGeom>
          <a:noFill/>
          <a:ln>
            <a:noFill/>
          </a:ln>
        </p:spPr>
        <p:txBody>
          <a:bodyPr wrap="none" lIns="0" tIns="0" rIns="0" bIns="0" anchor="t" anchorCtr="0">
            <a:spAutoFit/>
          </a:bodyPr>
          <a:lstStyle/>
          <a:p>
            <a:pPr algn="ctr"/>
            <a:r>
              <a:rPr lang="zh-CN" sz="1088" dirty="0">
                <a:solidFill>
                  <a:srgbClr val="5A6472"/>
                </a:solidFill>
                <a:latin typeface="Arial"/>
                <a:ea typeface="Microsoft YaHei"/>
                <a:cs typeface="Arial"/>
              </a:rPr>
              <a:t>504 次 API 调用</a:t>
            </a:r>
          </a:p>
        </p:txBody>
      </p:sp>
      <p:sp>
        <p:nvSpPr>
          <p:cNvPr id="31" name="Rectangle 31"/>
          <p:cNvSpPr/>
          <p:nvPr/>
        </p:nvSpPr>
        <p:spPr>
          <a:xfrm>
            <a:off x="8972550" y="1219200"/>
            <a:ext cx="2381250" cy="2038350"/>
          </a:xfrm>
          <a:prstGeom prst="roundRect">
            <a:avLst>
              <a:gd name="adj" fmla="val 3738"/>
            </a:avLst>
          </a:prstGeom>
          <a:solidFill>
            <a:srgbClr val="F8FAFC"/>
          </a:solidFill>
          <a:ln w="14288">
            <a:solidFill>
              <a:srgbClr val="C8161E"/>
            </a:solidFill>
          </a:ln>
        </p:spPr>
      </p:sp>
      <p:sp>
        <p:nvSpPr>
          <p:cNvPr id="32" name="Rectangle 32"/>
          <p:cNvSpPr/>
          <p:nvPr/>
        </p:nvSpPr>
        <p:spPr>
          <a:xfrm>
            <a:off x="8972550" y="1219200"/>
            <a:ext cx="2381250" cy="457200"/>
          </a:xfrm>
          <a:prstGeom prst="roundRect">
            <a:avLst>
              <a:gd name="adj" fmla="val 16667"/>
            </a:avLst>
          </a:prstGeom>
          <a:solidFill>
            <a:srgbClr val="C8161E"/>
          </a:solidFill>
          <a:ln>
            <a:noFill/>
          </a:ln>
        </p:spPr>
      </p:sp>
      <p:sp>
        <p:nvSpPr>
          <p:cNvPr id="33" name="Rectangle 33"/>
          <p:cNvSpPr/>
          <p:nvPr/>
        </p:nvSpPr>
        <p:spPr>
          <a:xfrm>
            <a:off x="8972550" y="1619250"/>
            <a:ext cx="2381250" cy="57150"/>
          </a:xfrm>
          <a:prstGeom prst="rect">
            <a:avLst/>
          </a:prstGeom>
          <a:solidFill>
            <a:srgbClr val="C8161E"/>
          </a:solidFill>
          <a:ln>
            <a:noFill/>
          </a:ln>
        </p:spPr>
      </p:sp>
      <p:sp>
        <p:nvSpPr>
          <p:cNvPr id="34" name="TextBox 34"/>
          <p:cNvSpPr txBox="1"/>
          <p:nvPr/>
        </p:nvSpPr>
        <p:spPr>
          <a:xfrm>
            <a:off x="9365813" y="1353979"/>
            <a:ext cx="1594724"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Top50 配额展示</a:t>
            </a:r>
          </a:p>
        </p:txBody>
      </p:sp>
      <p:sp>
        <p:nvSpPr>
          <p:cNvPr id="35" name="TextBox 35"/>
          <p:cNvSpPr txBox="1"/>
          <p:nvPr/>
        </p:nvSpPr>
        <p:spPr>
          <a:xfrm>
            <a:off x="9840220" y="1859280"/>
            <a:ext cx="645909" cy="731520"/>
          </a:xfrm>
          <a:prstGeom prst="rect">
            <a:avLst/>
          </a:prstGeom>
          <a:noFill/>
          <a:ln>
            <a:noFill/>
          </a:ln>
        </p:spPr>
        <p:txBody>
          <a:bodyPr wrap="none" lIns="0" tIns="0" rIns="0" bIns="0" anchor="t" anchorCtr="0">
            <a:spAutoFit/>
          </a:bodyPr>
          <a:lstStyle/>
          <a:p>
            <a:pPr algn="ctr"/>
            <a:r>
              <a:rPr lang="zh-CN" sz="3600" b="1" dirty="0">
                <a:solidFill>
                  <a:srgbClr val="C8161E"/>
                </a:solidFill>
                <a:latin typeface="Arial"/>
                <a:ea typeface="Microsoft YaHei"/>
                <a:cs typeface="Arial"/>
              </a:rPr>
              <a:t>50</a:t>
            </a:r>
          </a:p>
        </p:txBody>
      </p:sp>
      <p:sp>
        <p:nvSpPr>
          <p:cNvPr id="36" name="TextBox 36"/>
          <p:cNvSpPr txBox="1"/>
          <p:nvPr/>
        </p:nvSpPr>
        <p:spPr>
          <a:xfrm>
            <a:off x="9875996" y="2406968"/>
            <a:ext cx="574358" cy="274320"/>
          </a:xfrm>
          <a:prstGeom prst="rect">
            <a:avLst/>
          </a:prstGeom>
          <a:noFill/>
          <a:ln>
            <a:noFill/>
          </a:ln>
        </p:spPr>
        <p:txBody>
          <a:bodyPr wrap="none" lIns="0" tIns="0" rIns="0" bIns="0" anchor="t" anchorCtr="0">
            <a:spAutoFit/>
          </a:bodyPr>
          <a:lstStyle/>
          <a:p>
            <a:pPr algn="ctr"/>
            <a:r>
              <a:rPr lang="zh-CN" sz="1350" dirty="0">
                <a:solidFill>
                  <a:srgbClr val="1B1C21"/>
                </a:solidFill>
                <a:latin typeface="Arial"/>
                <a:ea typeface="Microsoft YaHei"/>
                <a:cs typeface="Arial"/>
              </a:rPr>
              <a:t>篇论文</a:t>
            </a:r>
          </a:p>
        </p:txBody>
      </p:sp>
      <p:sp>
        <p:nvSpPr>
          <p:cNvPr id="37" name="TextBox 37"/>
          <p:cNvSpPr txBox="1"/>
          <p:nvPr/>
        </p:nvSpPr>
        <p:spPr>
          <a:xfrm>
            <a:off x="9351764" y="2778204"/>
            <a:ext cx="1622822" cy="220980"/>
          </a:xfrm>
          <a:prstGeom prst="rect">
            <a:avLst/>
          </a:prstGeom>
          <a:noFill/>
          <a:ln>
            <a:noFill/>
          </a:ln>
        </p:spPr>
        <p:txBody>
          <a:bodyPr wrap="none" lIns="0" tIns="0" rIns="0" bIns="0" anchor="t" anchorCtr="0">
            <a:spAutoFit/>
          </a:bodyPr>
          <a:lstStyle/>
          <a:p>
            <a:pPr algn="ctr"/>
            <a:r>
              <a:rPr lang="zh-CN" sz="1088" dirty="0">
                <a:solidFill>
                  <a:srgbClr val="5A6472"/>
                </a:solidFill>
                <a:latin typeface="Arial"/>
                <a:ea typeface="Microsoft YaHei"/>
                <a:cs typeface="Arial"/>
              </a:rPr>
              <a:t>按全量领域配额形成名单</a:t>
            </a:r>
          </a:p>
        </p:txBody>
      </p:sp>
      <p:sp>
        <p:nvSpPr>
          <p:cNvPr id="38" name="TextBox 38"/>
          <p:cNvSpPr txBox="1"/>
          <p:nvPr/>
        </p:nvSpPr>
        <p:spPr>
          <a:xfrm>
            <a:off x="9710684" y="2987754"/>
            <a:ext cx="904982" cy="220980"/>
          </a:xfrm>
          <a:prstGeom prst="rect">
            <a:avLst/>
          </a:prstGeom>
          <a:noFill/>
          <a:ln>
            <a:noFill/>
          </a:ln>
        </p:spPr>
        <p:txBody>
          <a:bodyPr wrap="none" lIns="0" tIns="0" rIns="0" bIns="0" anchor="t" anchorCtr="0">
            <a:spAutoFit/>
          </a:bodyPr>
          <a:lstStyle/>
          <a:p>
            <a:pPr algn="ctr"/>
            <a:r>
              <a:rPr lang="zh-CN" sz="1088" dirty="0">
                <a:solidFill>
                  <a:srgbClr val="5A6472"/>
                </a:solidFill>
                <a:latin typeface="Arial"/>
                <a:ea typeface="Microsoft YaHei"/>
                <a:cs typeface="Arial"/>
              </a:rPr>
              <a:t>最低分 82.60</a:t>
            </a:r>
          </a:p>
        </p:txBody>
      </p:sp>
      <p:sp>
        <p:nvSpPr>
          <p:cNvPr id="39" name="TextBox 39"/>
          <p:cNvSpPr txBox="1"/>
          <p:nvPr/>
        </p:nvSpPr>
        <p:spPr>
          <a:xfrm>
            <a:off x="660397" y="3575023"/>
            <a:ext cx="1451156" cy="406451"/>
          </a:xfrm>
          <a:prstGeom prst="rect">
            <a:avLst/>
          </a:prstGeom>
          <a:noFill/>
          <a:ln>
            <a:noFill/>
          </a:ln>
        </p:spPr>
        <p:txBody>
          <a:bodyPr wrap="none" lIns="0" tIns="0" rIns="0" bIns="0" anchor="t" anchorCtr="0">
            <a:spAutoFit/>
          </a:bodyPr>
          <a:lstStyle/>
          <a:p>
            <a:pPr algn="l"/>
            <a:r>
              <a:rPr lang="zh-CN" sz="2000" b="1" dirty="0">
                <a:solidFill>
                  <a:srgbClr val="C8161E"/>
                </a:solidFill>
                <a:latin typeface="Arial"/>
                <a:ea typeface="Microsoft YaHei"/>
                <a:cs typeface="Arial"/>
              </a:rPr>
              <a:t>评测时间线</a:t>
            </a:r>
          </a:p>
        </p:txBody>
      </p:sp>
      <p:sp>
        <p:nvSpPr>
          <p:cNvPr id="40" name="Line 40"/>
          <p:cNvSpPr/>
          <p:nvPr/>
        </p:nvSpPr>
        <p:spPr>
          <a:xfrm>
            <a:off x="1238250" y="4171950"/>
            <a:ext cx="9715500" cy="9525"/>
          </a:xfrm>
          <a:custGeom>
            <a:avLst/>
            <a:gdLst/>
            <a:ahLst/>
            <a:cxnLst/>
            <a:rect l="l" t="t" r="r" b="b"/>
            <a:pathLst>
              <a:path w="9715500" h="9525">
                <a:moveTo>
                  <a:pt x="0" y="0"/>
                </a:moveTo>
                <a:lnTo>
                  <a:pt x="9715500" y="0"/>
                </a:lnTo>
              </a:path>
            </a:pathLst>
          </a:custGeom>
          <a:noFill/>
          <a:ln w="38100">
            <a:solidFill>
              <a:srgbClr val="D9DEE5"/>
            </a:solidFill>
          </a:ln>
        </p:spPr>
      </p:sp>
      <p:sp>
        <p:nvSpPr>
          <p:cNvPr id="41" name="Ellipse 41"/>
          <p:cNvSpPr/>
          <p:nvPr/>
        </p:nvSpPr>
        <p:spPr>
          <a:xfrm>
            <a:off x="2362200" y="4057650"/>
            <a:ext cx="228600" cy="228600"/>
          </a:xfrm>
          <a:prstGeom prst="ellipse">
            <a:avLst/>
          </a:prstGeom>
          <a:solidFill>
            <a:srgbClr val="1F4D78"/>
          </a:solidFill>
          <a:ln>
            <a:noFill/>
          </a:ln>
        </p:spPr>
      </p:sp>
      <p:sp>
        <p:nvSpPr>
          <p:cNvPr id="42" name="TextBox 42"/>
          <p:cNvSpPr txBox="1"/>
          <p:nvPr/>
        </p:nvSpPr>
        <p:spPr>
          <a:xfrm>
            <a:off x="2389851" y="4347210"/>
            <a:ext cx="173298" cy="243840"/>
          </a:xfrm>
          <a:prstGeom prst="rect">
            <a:avLst/>
          </a:prstGeom>
          <a:noFill/>
          <a:ln>
            <a:noFill/>
          </a:ln>
        </p:spPr>
        <p:txBody>
          <a:bodyPr wrap="none" lIns="0" tIns="0" rIns="0" bIns="0" anchor="t" anchorCtr="0">
            <a:spAutoFit/>
          </a:bodyPr>
          <a:lstStyle/>
          <a:p>
            <a:pPr algn="ctr"/>
            <a:r>
              <a:rPr lang="zh-CN" sz="1200" b="1" dirty="0">
                <a:solidFill>
                  <a:srgbClr val="1F4D78"/>
                </a:solidFill>
                <a:latin typeface="Arial"/>
                <a:ea typeface="Microsoft YaHei"/>
                <a:cs typeface="Arial"/>
              </a:rPr>
              <a:t>E1</a:t>
            </a:r>
          </a:p>
        </p:txBody>
      </p:sp>
      <p:sp>
        <p:nvSpPr>
          <p:cNvPr id="43" name="TextBox 43"/>
          <p:cNvSpPr txBox="1"/>
          <p:nvPr/>
        </p:nvSpPr>
        <p:spPr>
          <a:xfrm>
            <a:off x="1802059" y="4596051"/>
            <a:ext cx="1348883" cy="205740"/>
          </a:xfrm>
          <a:prstGeom prst="rect">
            <a:avLst/>
          </a:prstGeom>
          <a:noFill/>
          <a:ln>
            <a:noFill/>
          </a:ln>
        </p:spPr>
        <p:txBody>
          <a:bodyPr wrap="none" lIns="0" tIns="0" rIns="0" bIns="0" anchor="t" anchorCtr="0">
            <a:spAutoFit/>
          </a:bodyPr>
          <a:lstStyle/>
          <a:p>
            <a:pPr algn="ctr"/>
            <a:r>
              <a:rPr lang="zh-CN" sz="1012" dirty="0">
                <a:solidFill>
                  <a:srgbClr val="5A6472"/>
                </a:solidFill>
                <a:latin typeface="Arial"/>
                <a:ea typeface="Microsoft YaHei"/>
                <a:cs typeface="Arial"/>
              </a:rPr>
              <a:t>2026-05-22 全量评审</a:t>
            </a:r>
          </a:p>
        </p:txBody>
      </p:sp>
      <p:sp>
        <p:nvSpPr>
          <p:cNvPr id="44" name="Ellipse 44"/>
          <p:cNvSpPr/>
          <p:nvPr/>
        </p:nvSpPr>
        <p:spPr>
          <a:xfrm>
            <a:off x="4838700" y="4057650"/>
            <a:ext cx="228600" cy="228600"/>
          </a:xfrm>
          <a:prstGeom prst="ellipse">
            <a:avLst/>
          </a:prstGeom>
          <a:solidFill>
            <a:srgbClr val="2E7D32"/>
          </a:solidFill>
          <a:ln>
            <a:noFill/>
          </a:ln>
        </p:spPr>
      </p:sp>
      <p:sp>
        <p:nvSpPr>
          <p:cNvPr id="45" name="TextBox 45"/>
          <p:cNvSpPr txBox="1"/>
          <p:nvPr/>
        </p:nvSpPr>
        <p:spPr>
          <a:xfrm>
            <a:off x="4845348" y="4347210"/>
            <a:ext cx="215303"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E2</a:t>
            </a:r>
          </a:p>
        </p:txBody>
      </p:sp>
      <p:sp>
        <p:nvSpPr>
          <p:cNvPr id="46" name="TextBox 46"/>
          <p:cNvSpPr txBox="1"/>
          <p:nvPr/>
        </p:nvSpPr>
        <p:spPr>
          <a:xfrm>
            <a:off x="4204299" y="4596051"/>
            <a:ext cx="1497401" cy="205740"/>
          </a:xfrm>
          <a:prstGeom prst="rect">
            <a:avLst/>
          </a:prstGeom>
          <a:noFill/>
          <a:ln>
            <a:noFill/>
          </a:ln>
        </p:spPr>
        <p:txBody>
          <a:bodyPr wrap="none" lIns="0" tIns="0" rIns="0" bIns="0" anchor="t" anchorCtr="0">
            <a:spAutoFit/>
          </a:bodyPr>
          <a:lstStyle/>
          <a:p>
            <a:pPr algn="ctr"/>
            <a:r>
              <a:rPr lang="zh-CN" sz="1012" dirty="0">
                <a:solidFill>
                  <a:srgbClr val="5A6472"/>
                </a:solidFill>
                <a:latin typeface="Arial"/>
                <a:ea typeface="Microsoft YaHei"/>
                <a:cs typeface="Arial"/>
              </a:rPr>
              <a:t>2026-05-25 Top101 重测</a:t>
            </a:r>
          </a:p>
        </p:txBody>
      </p:sp>
      <p:sp>
        <p:nvSpPr>
          <p:cNvPr id="47" name="Ellipse 47"/>
          <p:cNvSpPr/>
          <p:nvPr/>
        </p:nvSpPr>
        <p:spPr>
          <a:xfrm>
            <a:off x="7315200" y="4057650"/>
            <a:ext cx="228600" cy="228600"/>
          </a:xfrm>
          <a:prstGeom prst="ellipse">
            <a:avLst/>
          </a:prstGeom>
          <a:solidFill>
            <a:srgbClr val="E07B00"/>
          </a:solidFill>
          <a:ln>
            <a:noFill/>
          </a:ln>
        </p:spPr>
      </p:sp>
      <p:sp>
        <p:nvSpPr>
          <p:cNvPr id="48" name="TextBox 48"/>
          <p:cNvSpPr txBox="1"/>
          <p:nvPr/>
        </p:nvSpPr>
        <p:spPr>
          <a:xfrm>
            <a:off x="7321848" y="4347210"/>
            <a:ext cx="215303" cy="243840"/>
          </a:xfrm>
          <a:prstGeom prst="rect">
            <a:avLst/>
          </a:prstGeom>
          <a:noFill/>
          <a:ln>
            <a:noFill/>
          </a:ln>
        </p:spPr>
        <p:txBody>
          <a:bodyPr wrap="none" lIns="0" tIns="0" rIns="0" bIns="0" anchor="t" anchorCtr="0">
            <a:spAutoFit/>
          </a:bodyPr>
          <a:lstStyle/>
          <a:p>
            <a:pPr algn="ctr"/>
            <a:r>
              <a:rPr lang="zh-CN" sz="1200" b="1" dirty="0">
                <a:solidFill>
                  <a:srgbClr val="E07B00"/>
                </a:solidFill>
                <a:latin typeface="Arial"/>
                <a:ea typeface="Microsoft YaHei"/>
                <a:cs typeface="Arial"/>
              </a:rPr>
              <a:t>E3</a:t>
            </a:r>
          </a:p>
        </p:txBody>
      </p:sp>
      <p:sp>
        <p:nvSpPr>
          <p:cNvPr id="49" name="TextBox 49"/>
          <p:cNvSpPr txBox="1"/>
          <p:nvPr/>
        </p:nvSpPr>
        <p:spPr>
          <a:xfrm>
            <a:off x="6609915" y="4596051"/>
            <a:ext cx="1639169" cy="205740"/>
          </a:xfrm>
          <a:prstGeom prst="rect">
            <a:avLst/>
          </a:prstGeom>
          <a:noFill/>
          <a:ln>
            <a:noFill/>
          </a:ln>
        </p:spPr>
        <p:txBody>
          <a:bodyPr wrap="none" lIns="0" tIns="0" rIns="0" bIns="0" anchor="t" anchorCtr="0">
            <a:spAutoFit/>
          </a:bodyPr>
          <a:lstStyle/>
          <a:p>
            <a:pPr algn="ctr"/>
            <a:r>
              <a:rPr lang="zh-CN" sz="1012" dirty="0">
                <a:solidFill>
                  <a:srgbClr val="5A6472"/>
                </a:solidFill>
                <a:latin typeface="Arial"/>
                <a:ea typeface="Microsoft YaHei"/>
                <a:cs typeface="Arial"/>
              </a:rPr>
              <a:t>2026-05-27 选择性第 3 次</a:t>
            </a:r>
          </a:p>
        </p:txBody>
      </p:sp>
      <p:sp>
        <p:nvSpPr>
          <p:cNvPr id="50" name="Ellipse 50"/>
          <p:cNvSpPr/>
          <p:nvPr/>
        </p:nvSpPr>
        <p:spPr>
          <a:xfrm>
            <a:off x="9791700" y="4057650"/>
            <a:ext cx="228600" cy="228600"/>
          </a:xfrm>
          <a:prstGeom prst="ellipse">
            <a:avLst/>
          </a:prstGeom>
          <a:solidFill>
            <a:srgbClr val="C8161E"/>
          </a:solidFill>
          <a:ln>
            <a:noFill/>
          </a:ln>
        </p:spPr>
      </p:sp>
      <p:sp>
        <p:nvSpPr>
          <p:cNvPr id="51" name="TextBox 51"/>
          <p:cNvSpPr txBox="1"/>
          <p:nvPr/>
        </p:nvSpPr>
        <p:spPr>
          <a:xfrm>
            <a:off x="9659731" y="4347210"/>
            <a:ext cx="492538" cy="243840"/>
          </a:xfrm>
          <a:prstGeom prst="rect">
            <a:avLst/>
          </a:prstGeom>
          <a:noFill/>
          <a:ln>
            <a:noFill/>
          </a:ln>
        </p:spPr>
        <p:txBody>
          <a:bodyPr wrap="none" lIns="0" tIns="0" rIns="0" bIns="0" anchor="t" anchorCtr="0">
            <a:spAutoFit/>
          </a:bodyPr>
          <a:lstStyle/>
          <a:p>
            <a:pPr algn="ctr"/>
            <a:r>
              <a:rPr lang="zh-CN" sz="1200" b="1" dirty="0">
                <a:solidFill>
                  <a:srgbClr val="C8161E"/>
                </a:solidFill>
                <a:latin typeface="Arial"/>
                <a:ea typeface="Microsoft YaHei"/>
                <a:cs typeface="Arial"/>
              </a:rPr>
              <a:t>Top50</a:t>
            </a:r>
          </a:p>
        </p:txBody>
      </p:sp>
      <p:sp>
        <p:nvSpPr>
          <p:cNvPr id="52" name="TextBox 52"/>
          <p:cNvSpPr txBox="1"/>
          <p:nvPr/>
        </p:nvSpPr>
        <p:spPr>
          <a:xfrm>
            <a:off x="9164050" y="4596051"/>
            <a:ext cx="1483900" cy="205740"/>
          </a:xfrm>
          <a:prstGeom prst="rect">
            <a:avLst/>
          </a:prstGeom>
          <a:noFill/>
          <a:ln>
            <a:noFill/>
          </a:ln>
        </p:spPr>
        <p:txBody>
          <a:bodyPr wrap="none" lIns="0" tIns="0" rIns="0" bIns="0" anchor="t" anchorCtr="0">
            <a:spAutoFit/>
          </a:bodyPr>
          <a:lstStyle/>
          <a:p>
            <a:pPr algn="ctr"/>
            <a:r>
              <a:rPr lang="zh-CN" sz="1012" dirty="0">
                <a:solidFill>
                  <a:srgbClr val="5A6472"/>
                </a:solidFill>
                <a:latin typeface="Arial"/>
                <a:ea typeface="Microsoft YaHei"/>
                <a:cs typeface="Arial"/>
              </a:rPr>
              <a:t>2026-06-06 配额版固化</a:t>
            </a:r>
          </a:p>
        </p:txBody>
      </p:sp>
      <p:sp>
        <p:nvSpPr>
          <p:cNvPr id="53" name="Rectangle 53"/>
          <p:cNvSpPr/>
          <p:nvPr/>
        </p:nvSpPr>
        <p:spPr>
          <a:xfrm>
            <a:off x="685800" y="5143500"/>
            <a:ext cx="10820400" cy="1028700"/>
          </a:xfrm>
          <a:prstGeom prst="roundRect">
            <a:avLst>
              <a:gd name="adj" fmla="val 7407"/>
            </a:avLst>
          </a:prstGeom>
          <a:solidFill>
            <a:srgbClr val="F4F5F7"/>
          </a:solidFill>
          <a:ln>
            <a:noFill/>
          </a:ln>
        </p:spPr>
      </p:sp>
      <p:sp>
        <p:nvSpPr>
          <p:cNvPr id="54" name="TextBox 54"/>
          <p:cNvSpPr txBox="1"/>
          <p:nvPr/>
        </p:nvSpPr>
        <p:spPr>
          <a:xfrm>
            <a:off x="970283" y="5275607"/>
            <a:ext cx="936606"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关键指标</a:t>
            </a:r>
          </a:p>
        </p:txBody>
      </p:sp>
      <p:sp>
        <p:nvSpPr>
          <p:cNvPr id="55" name="TextBox 55"/>
          <p:cNvSpPr txBox="1"/>
          <p:nvPr/>
        </p:nvSpPr>
        <p:spPr>
          <a:xfrm>
            <a:off x="972817" y="5601943"/>
            <a:ext cx="4722322"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主评测 API 调用总量：E1 ~92,160 + E2 4,848 + E3 504 =</a:t>
            </a:r>
          </a:p>
        </p:txBody>
      </p:sp>
      <p:sp>
        <p:nvSpPr>
          <p:cNvPr id="56" name="TextBox 56"/>
          <p:cNvSpPr txBox="1"/>
          <p:nvPr/>
        </p:nvSpPr>
        <p:spPr>
          <a:xfrm>
            <a:off x="7049767" y="5601943"/>
            <a:ext cx="1045273" cy="284531"/>
          </a:xfrm>
          <a:prstGeom prst="rect">
            <a:avLst/>
          </a:prstGeom>
          <a:noFill/>
          <a:ln>
            <a:noFill/>
          </a:ln>
        </p:spPr>
        <p:txBody>
          <a:bodyPr wrap="none" lIns="0" tIns="0" rIns="0" bIns="0" anchor="t" anchorCtr="0">
            <a:spAutoFit/>
          </a:bodyPr>
          <a:lstStyle/>
          <a:p>
            <a:pPr algn="l"/>
            <a:r>
              <a:rPr lang="zh-CN" sz="1400" b="1" dirty="0">
                <a:solidFill>
                  <a:srgbClr val="C8161E"/>
                </a:solidFill>
                <a:latin typeface="Arial"/>
                <a:ea typeface="Microsoft YaHei"/>
                <a:cs typeface="Arial"/>
              </a:rPr>
              <a:t>~97,500 次</a:t>
            </a:r>
          </a:p>
        </p:txBody>
      </p:sp>
      <p:sp>
        <p:nvSpPr>
          <p:cNvPr id="57" name="TextBox 57"/>
          <p:cNvSpPr txBox="1"/>
          <p:nvPr/>
        </p:nvSpPr>
        <p:spPr>
          <a:xfrm>
            <a:off x="972817" y="5868643"/>
            <a:ext cx="7233751"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E2 已扩展到 Top101；Top50 配额版排名已固化，解释验证按新名单重跑后再展示数字。</a:t>
            </a:r>
          </a:p>
        </p:txBody>
      </p:sp>
      <p:sp>
        <p:nvSpPr>
          <p:cNvPr id="58" name="Rectangle 58"/>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59" name="TextBox 59"/>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60" name="TextBox 60"/>
          <p:cNvSpPr txBox="1"/>
          <p:nvPr/>
        </p:nvSpPr>
        <p:spPr>
          <a:xfrm>
            <a:off x="11266932" y="6537960"/>
            <a:ext cx="254508" cy="243840"/>
          </a:xfrm>
          <a:prstGeom prst="rect">
            <a:avLst/>
          </a:prstGeom>
          <a:noFill/>
          <a:ln>
            <a:noFill/>
          </a:ln>
        </p:spPr>
        <p:txBody>
          <a:bodyPr wrap="none" lIns="0" tIns="0" rIns="0" bIns="0" anchor="t" anchorCtr="0">
            <a:spAutoFit/>
          </a:bodyPr>
          <a:lstStyle/>
          <a:p>
            <a:pPr algn="r"/>
            <a:r>
              <a:rPr lang="zh-CN" sz="1200" dirty="0">
                <a:solidFill>
                  <a:srgbClr val="9AA3AE"/>
                </a:solidFill>
                <a:latin typeface="Arial"/>
                <a:ea typeface="Microsoft YaHei"/>
                <a:cs typeface="Arial"/>
              </a:rPr>
              <a:t>P21</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6735352"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模型行为差异与纠偏效果（亮点数据）</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Rectangle 8"/>
          <p:cNvSpPr/>
          <p:nvPr/>
        </p:nvSpPr>
        <p:spPr>
          <a:xfrm>
            <a:off x="685800" y="1228725"/>
            <a:ext cx="10820400" cy="419100"/>
          </a:xfrm>
          <a:prstGeom prst="roundRect">
            <a:avLst>
              <a:gd name="adj" fmla="val 18182"/>
            </a:avLst>
          </a:prstGeom>
          <a:solidFill>
            <a:srgbClr val="F4F5F7"/>
          </a:solidFill>
          <a:ln>
            <a:noFill/>
          </a:ln>
        </p:spPr>
      </p:sp>
      <p:sp>
        <p:nvSpPr>
          <p:cNvPr id="9" name="TextBox 9"/>
          <p:cNvSpPr txBox="1"/>
          <p:nvPr/>
        </p:nvSpPr>
        <p:spPr>
          <a:xfrm>
            <a:off x="3750423" y="1332257"/>
            <a:ext cx="4691155"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基于 1920 篇 × 6 维度 = 11,520 个评分单元的统计</a:t>
            </a:r>
          </a:p>
        </p:txBody>
      </p:sp>
      <p:sp>
        <p:nvSpPr>
          <p:cNvPr id="10" name="TextBox 10"/>
          <p:cNvSpPr txBox="1"/>
          <p:nvPr/>
        </p:nvSpPr>
        <p:spPr>
          <a:xfrm>
            <a:off x="660397" y="1822423"/>
            <a:ext cx="2389391" cy="406451"/>
          </a:xfrm>
          <a:prstGeom prst="rect">
            <a:avLst/>
          </a:prstGeom>
          <a:noFill/>
          <a:ln>
            <a:noFill/>
          </a:ln>
        </p:spPr>
        <p:txBody>
          <a:bodyPr wrap="none" lIns="0" tIns="0" rIns="0" bIns="0" anchor="t" anchorCtr="0">
            <a:spAutoFit/>
          </a:bodyPr>
          <a:lstStyle/>
          <a:p>
            <a:pPr algn="l"/>
            <a:r>
              <a:rPr lang="zh-CN" sz="2000" b="1" dirty="0">
                <a:solidFill>
                  <a:srgbClr val="C8161E"/>
                </a:solidFill>
                <a:latin typeface="Arial"/>
                <a:ea typeface="Microsoft YaHei"/>
                <a:cs typeface="Arial"/>
              </a:rPr>
              <a:t>Round 1：两极对立</a:t>
            </a:r>
          </a:p>
        </p:txBody>
      </p:sp>
      <p:sp>
        <p:nvSpPr>
          <p:cNvPr id="11" name="Rectangle 11"/>
          <p:cNvSpPr/>
          <p:nvPr/>
        </p:nvSpPr>
        <p:spPr>
          <a:xfrm>
            <a:off x="685800" y="2209800"/>
            <a:ext cx="5257800" cy="1238250"/>
          </a:xfrm>
          <a:prstGeom prst="roundRect">
            <a:avLst>
              <a:gd name="adj" fmla="val 6154"/>
            </a:avLst>
          </a:prstGeom>
          <a:solidFill>
            <a:srgbClr val="F0F7FF"/>
          </a:solidFill>
          <a:ln w="14288">
            <a:solidFill>
              <a:srgbClr val="1F4D78"/>
            </a:solidFill>
          </a:ln>
        </p:spPr>
      </p:sp>
      <p:sp>
        <p:nvSpPr>
          <p:cNvPr id="12" name="TextBox 12"/>
          <p:cNvSpPr txBox="1"/>
          <p:nvPr/>
        </p:nvSpPr>
        <p:spPr>
          <a:xfrm>
            <a:off x="2527207" y="2322857"/>
            <a:ext cx="1574986"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A 组（宽松型）</a:t>
            </a:r>
          </a:p>
        </p:txBody>
      </p:sp>
      <p:sp>
        <p:nvSpPr>
          <p:cNvPr id="13" name="TextBox 13"/>
          <p:cNvSpPr txBox="1"/>
          <p:nvPr/>
        </p:nvSpPr>
        <p:spPr>
          <a:xfrm>
            <a:off x="2638901" y="2526030"/>
            <a:ext cx="1351598" cy="731520"/>
          </a:xfrm>
          <a:prstGeom prst="rect">
            <a:avLst/>
          </a:prstGeom>
          <a:noFill/>
          <a:ln>
            <a:noFill/>
          </a:ln>
        </p:spPr>
        <p:txBody>
          <a:bodyPr wrap="none" lIns="0" tIns="0" rIns="0" bIns="0" anchor="t" anchorCtr="0">
            <a:spAutoFit/>
          </a:bodyPr>
          <a:lstStyle/>
          <a:p>
            <a:pPr algn="ctr"/>
            <a:r>
              <a:rPr lang="zh-CN" sz="3600" b="1" dirty="0">
                <a:solidFill>
                  <a:srgbClr val="1F4D78"/>
                </a:solidFill>
                <a:latin typeface="Arial"/>
                <a:ea typeface="Microsoft YaHei"/>
                <a:cs typeface="Arial"/>
              </a:rPr>
              <a:t>91.5%</a:t>
            </a:r>
          </a:p>
        </p:txBody>
      </p:sp>
      <p:sp>
        <p:nvSpPr>
          <p:cNvPr id="14" name="TextBox 14"/>
          <p:cNvSpPr txBox="1"/>
          <p:nvPr/>
        </p:nvSpPr>
        <p:spPr>
          <a:xfrm>
            <a:off x="1574394" y="3087343"/>
            <a:ext cx="3480612"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包揽最高分（GLM 51.9% + Qwen 39.6%）</a:t>
            </a:r>
          </a:p>
        </p:txBody>
      </p:sp>
      <p:sp>
        <p:nvSpPr>
          <p:cNvPr id="15" name="Rectangle 15"/>
          <p:cNvSpPr/>
          <p:nvPr/>
        </p:nvSpPr>
        <p:spPr>
          <a:xfrm>
            <a:off x="6248400" y="2209800"/>
            <a:ext cx="5257800" cy="1238250"/>
          </a:xfrm>
          <a:prstGeom prst="roundRect">
            <a:avLst>
              <a:gd name="adj" fmla="val 6154"/>
            </a:avLst>
          </a:prstGeom>
          <a:solidFill>
            <a:srgbClr val="FFEBEE"/>
          </a:solidFill>
          <a:ln w="14288">
            <a:solidFill>
              <a:srgbClr val="C8161E"/>
            </a:solidFill>
          </a:ln>
        </p:spPr>
      </p:sp>
      <p:sp>
        <p:nvSpPr>
          <p:cNvPr id="16" name="TextBox 16"/>
          <p:cNvSpPr txBox="1"/>
          <p:nvPr/>
        </p:nvSpPr>
        <p:spPr>
          <a:xfrm>
            <a:off x="8089807" y="2322857"/>
            <a:ext cx="1574986" cy="325069"/>
          </a:xfrm>
          <a:prstGeom prst="rect">
            <a:avLst/>
          </a:prstGeom>
          <a:noFill/>
          <a:ln>
            <a:noFill/>
          </a:ln>
        </p:spPr>
        <p:txBody>
          <a:bodyPr wrap="none" lIns="0" tIns="0" rIns="0" bIns="0" anchor="t" anchorCtr="0">
            <a:spAutoFit/>
          </a:bodyPr>
          <a:lstStyle/>
          <a:p>
            <a:pPr algn="ctr"/>
            <a:r>
              <a:rPr lang="zh-CN" sz="1600" b="1" dirty="0">
                <a:solidFill>
                  <a:srgbClr val="C8161E"/>
                </a:solidFill>
                <a:latin typeface="Arial"/>
                <a:ea typeface="Microsoft YaHei"/>
                <a:cs typeface="Arial"/>
              </a:rPr>
              <a:t>B 组（严格型）</a:t>
            </a:r>
          </a:p>
        </p:txBody>
      </p:sp>
      <p:sp>
        <p:nvSpPr>
          <p:cNvPr id="17" name="TextBox 17"/>
          <p:cNvSpPr txBox="1"/>
          <p:nvPr/>
        </p:nvSpPr>
        <p:spPr>
          <a:xfrm>
            <a:off x="8138493" y="2526030"/>
            <a:ext cx="1477613" cy="731520"/>
          </a:xfrm>
          <a:prstGeom prst="rect">
            <a:avLst/>
          </a:prstGeom>
          <a:noFill/>
          <a:ln>
            <a:noFill/>
          </a:ln>
        </p:spPr>
        <p:txBody>
          <a:bodyPr wrap="none" lIns="0" tIns="0" rIns="0" bIns="0" anchor="t" anchorCtr="0">
            <a:spAutoFit/>
          </a:bodyPr>
          <a:lstStyle/>
          <a:p>
            <a:pPr algn="ctr"/>
            <a:r>
              <a:rPr lang="zh-CN" sz="3600" b="1" dirty="0">
                <a:solidFill>
                  <a:srgbClr val="C8161E"/>
                </a:solidFill>
                <a:latin typeface="Arial"/>
                <a:ea typeface="Microsoft YaHei"/>
                <a:cs typeface="Arial"/>
              </a:rPr>
              <a:t>94.9%</a:t>
            </a:r>
          </a:p>
        </p:txBody>
      </p:sp>
      <p:sp>
        <p:nvSpPr>
          <p:cNvPr id="18" name="TextBox 18"/>
          <p:cNvSpPr txBox="1"/>
          <p:nvPr/>
        </p:nvSpPr>
        <p:spPr>
          <a:xfrm>
            <a:off x="7333054" y="3087343"/>
            <a:ext cx="3088493"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包揽最低分（B 组最高分仅占 8.5%）</a:t>
            </a:r>
          </a:p>
        </p:txBody>
      </p:sp>
      <p:sp>
        <p:nvSpPr>
          <p:cNvPr id="19" name="TextBox 19"/>
          <p:cNvSpPr txBox="1"/>
          <p:nvPr/>
        </p:nvSpPr>
        <p:spPr>
          <a:xfrm>
            <a:off x="660397" y="3651223"/>
            <a:ext cx="3299618" cy="406451"/>
          </a:xfrm>
          <a:prstGeom prst="rect">
            <a:avLst/>
          </a:prstGeom>
          <a:noFill/>
          <a:ln>
            <a:noFill/>
          </a:ln>
        </p:spPr>
        <p:txBody>
          <a:bodyPr wrap="none" lIns="0" tIns="0" rIns="0" bIns="0" anchor="t" anchorCtr="0">
            <a:spAutoFit/>
          </a:bodyPr>
          <a:lstStyle/>
          <a:p>
            <a:pPr algn="l"/>
            <a:r>
              <a:rPr lang="zh-CN" sz="2000" b="1" dirty="0">
                <a:solidFill>
                  <a:srgbClr val="2E7D32"/>
                </a:solidFill>
                <a:latin typeface="Arial"/>
                <a:ea typeface="Microsoft YaHei"/>
                <a:cs typeface="Arial"/>
              </a:rPr>
              <a:t>Round 2：交叉评审后纠偏</a:t>
            </a:r>
          </a:p>
        </p:txBody>
      </p:sp>
      <p:sp>
        <p:nvSpPr>
          <p:cNvPr id="20" name="Rectangle 20"/>
          <p:cNvSpPr/>
          <p:nvPr/>
        </p:nvSpPr>
        <p:spPr>
          <a:xfrm>
            <a:off x="685800" y="4038600"/>
            <a:ext cx="5257800" cy="1333500"/>
          </a:xfrm>
          <a:prstGeom prst="roundRect">
            <a:avLst>
              <a:gd name="adj" fmla="val 5714"/>
            </a:avLst>
          </a:prstGeom>
          <a:solidFill>
            <a:srgbClr val="E8F5E9"/>
          </a:solidFill>
          <a:ln w="14288">
            <a:solidFill>
              <a:srgbClr val="2E7D32"/>
            </a:solidFill>
          </a:ln>
        </p:spPr>
      </p:sp>
      <p:sp>
        <p:nvSpPr>
          <p:cNvPr id="21" name="TextBox 21"/>
          <p:cNvSpPr txBox="1"/>
          <p:nvPr/>
        </p:nvSpPr>
        <p:spPr>
          <a:xfrm>
            <a:off x="2527207" y="4170707"/>
            <a:ext cx="1574986" cy="325069"/>
          </a:xfrm>
          <a:prstGeom prst="rect">
            <a:avLst/>
          </a:prstGeom>
          <a:noFill/>
          <a:ln>
            <a:noFill/>
          </a:ln>
        </p:spPr>
        <p:txBody>
          <a:bodyPr wrap="none" lIns="0" tIns="0" rIns="0" bIns="0" anchor="t" anchorCtr="0">
            <a:spAutoFit/>
          </a:bodyPr>
          <a:lstStyle/>
          <a:p>
            <a:pPr algn="ctr"/>
            <a:r>
              <a:rPr lang="zh-CN" sz="1600" b="1" dirty="0">
                <a:solidFill>
                  <a:srgbClr val="2E7D32"/>
                </a:solidFill>
                <a:latin typeface="Arial"/>
                <a:ea typeface="Microsoft YaHei"/>
                <a:cs typeface="Arial"/>
              </a:rPr>
              <a:t>B 组最高分占比</a:t>
            </a:r>
          </a:p>
        </p:txBody>
      </p:sp>
      <p:sp>
        <p:nvSpPr>
          <p:cNvPr id="22" name="TextBox 22"/>
          <p:cNvSpPr txBox="1"/>
          <p:nvPr/>
        </p:nvSpPr>
        <p:spPr>
          <a:xfrm>
            <a:off x="1731588" y="4450080"/>
            <a:ext cx="3166224" cy="731520"/>
          </a:xfrm>
          <a:prstGeom prst="rect">
            <a:avLst/>
          </a:prstGeom>
          <a:noFill/>
          <a:ln>
            <a:noFill/>
          </a:ln>
        </p:spPr>
        <p:txBody>
          <a:bodyPr wrap="none" lIns="0" tIns="0" rIns="0" bIns="0" anchor="t" anchorCtr="0">
            <a:spAutoFit/>
          </a:bodyPr>
          <a:lstStyle/>
          <a:p>
            <a:pPr algn="ctr"/>
            <a:r>
              <a:rPr lang="zh-CN" sz="3600" b="1" dirty="0">
                <a:solidFill>
                  <a:srgbClr val="2E7D32"/>
                </a:solidFill>
                <a:latin typeface="Arial"/>
                <a:ea typeface="Microsoft YaHei"/>
                <a:cs typeface="Arial"/>
              </a:rPr>
              <a:t>8.5% → 62.2%</a:t>
            </a:r>
          </a:p>
        </p:txBody>
      </p:sp>
      <p:sp>
        <p:nvSpPr>
          <p:cNvPr id="23" name="TextBox 23"/>
          <p:cNvSpPr txBox="1"/>
          <p:nvPr/>
        </p:nvSpPr>
        <p:spPr>
          <a:xfrm>
            <a:off x="2863197" y="5027957"/>
            <a:ext cx="903007" cy="325069"/>
          </a:xfrm>
          <a:prstGeom prst="rect">
            <a:avLst/>
          </a:prstGeom>
          <a:noFill/>
          <a:ln>
            <a:noFill/>
          </a:ln>
        </p:spPr>
        <p:txBody>
          <a:bodyPr wrap="none" lIns="0" tIns="0" rIns="0" bIns="0" anchor="t" anchorCtr="0">
            <a:spAutoFit/>
          </a:bodyPr>
          <a:lstStyle/>
          <a:p>
            <a:pPr algn="ctr"/>
            <a:r>
              <a:rPr lang="zh-CN" sz="1600" b="1" dirty="0">
                <a:solidFill>
                  <a:srgbClr val="2E7D32"/>
                </a:solidFill>
                <a:latin typeface="Arial"/>
                <a:ea typeface="Microsoft YaHei"/>
                <a:cs typeface="Arial"/>
              </a:rPr>
              <a:t>+53.7pp</a:t>
            </a:r>
          </a:p>
        </p:txBody>
      </p:sp>
      <p:sp>
        <p:nvSpPr>
          <p:cNvPr id="24" name="Rectangle 24"/>
          <p:cNvSpPr/>
          <p:nvPr/>
        </p:nvSpPr>
        <p:spPr>
          <a:xfrm>
            <a:off x="6248400" y="4038600"/>
            <a:ext cx="5257800" cy="1333500"/>
          </a:xfrm>
          <a:prstGeom prst="roundRect">
            <a:avLst>
              <a:gd name="adj" fmla="val 5714"/>
            </a:avLst>
          </a:prstGeom>
          <a:solidFill>
            <a:srgbClr val="E8F5E9"/>
          </a:solidFill>
          <a:ln w="14288">
            <a:solidFill>
              <a:srgbClr val="2E7D32"/>
            </a:solidFill>
          </a:ln>
        </p:spPr>
      </p:sp>
      <p:sp>
        <p:nvSpPr>
          <p:cNvPr id="25" name="TextBox 25"/>
          <p:cNvSpPr txBox="1"/>
          <p:nvPr/>
        </p:nvSpPr>
        <p:spPr>
          <a:xfrm>
            <a:off x="8089807" y="4170707"/>
            <a:ext cx="1574986" cy="325069"/>
          </a:xfrm>
          <a:prstGeom prst="rect">
            <a:avLst/>
          </a:prstGeom>
          <a:noFill/>
          <a:ln>
            <a:noFill/>
          </a:ln>
        </p:spPr>
        <p:txBody>
          <a:bodyPr wrap="none" lIns="0" tIns="0" rIns="0" bIns="0" anchor="t" anchorCtr="0">
            <a:spAutoFit/>
          </a:bodyPr>
          <a:lstStyle/>
          <a:p>
            <a:pPr algn="ctr"/>
            <a:r>
              <a:rPr lang="zh-CN" sz="1600" b="1" dirty="0">
                <a:solidFill>
                  <a:srgbClr val="2E7D32"/>
                </a:solidFill>
                <a:latin typeface="Arial"/>
                <a:ea typeface="Microsoft YaHei"/>
                <a:cs typeface="Arial"/>
              </a:rPr>
              <a:t>A 组最低分占比</a:t>
            </a:r>
          </a:p>
        </p:txBody>
      </p:sp>
      <p:sp>
        <p:nvSpPr>
          <p:cNvPr id="26" name="TextBox 26"/>
          <p:cNvSpPr txBox="1"/>
          <p:nvPr/>
        </p:nvSpPr>
        <p:spPr>
          <a:xfrm>
            <a:off x="7420204" y="4450080"/>
            <a:ext cx="2914193" cy="731520"/>
          </a:xfrm>
          <a:prstGeom prst="rect">
            <a:avLst/>
          </a:prstGeom>
          <a:noFill/>
          <a:ln>
            <a:noFill/>
          </a:ln>
        </p:spPr>
        <p:txBody>
          <a:bodyPr wrap="none" lIns="0" tIns="0" rIns="0" bIns="0" anchor="t" anchorCtr="0">
            <a:spAutoFit/>
          </a:bodyPr>
          <a:lstStyle/>
          <a:p>
            <a:pPr algn="ctr"/>
            <a:r>
              <a:rPr lang="zh-CN" sz="3600" b="1" dirty="0">
                <a:solidFill>
                  <a:srgbClr val="2E7D32"/>
                </a:solidFill>
                <a:latin typeface="Arial"/>
                <a:ea typeface="Microsoft YaHei"/>
                <a:cs typeface="Arial"/>
              </a:rPr>
              <a:t>5.1% → 31.9%</a:t>
            </a:r>
          </a:p>
        </p:txBody>
      </p:sp>
      <p:sp>
        <p:nvSpPr>
          <p:cNvPr id="27" name="TextBox 27"/>
          <p:cNvSpPr txBox="1"/>
          <p:nvPr/>
        </p:nvSpPr>
        <p:spPr>
          <a:xfrm>
            <a:off x="8425797" y="5027957"/>
            <a:ext cx="903007" cy="325069"/>
          </a:xfrm>
          <a:prstGeom prst="rect">
            <a:avLst/>
          </a:prstGeom>
          <a:noFill/>
          <a:ln>
            <a:noFill/>
          </a:ln>
        </p:spPr>
        <p:txBody>
          <a:bodyPr wrap="none" lIns="0" tIns="0" rIns="0" bIns="0" anchor="t" anchorCtr="0">
            <a:spAutoFit/>
          </a:bodyPr>
          <a:lstStyle/>
          <a:p>
            <a:pPr algn="ctr"/>
            <a:r>
              <a:rPr lang="zh-CN" sz="1600" b="1" dirty="0">
                <a:solidFill>
                  <a:srgbClr val="2E7D32"/>
                </a:solidFill>
                <a:latin typeface="Arial"/>
                <a:ea typeface="Microsoft YaHei"/>
                <a:cs typeface="Arial"/>
              </a:rPr>
              <a:t>+26.8pp</a:t>
            </a:r>
          </a:p>
        </p:txBody>
      </p:sp>
      <p:sp>
        <p:nvSpPr>
          <p:cNvPr id="28" name="Rectangle 28"/>
          <p:cNvSpPr/>
          <p:nvPr/>
        </p:nvSpPr>
        <p:spPr>
          <a:xfrm>
            <a:off x="685800" y="5600700"/>
            <a:ext cx="10820400" cy="419100"/>
          </a:xfrm>
          <a:prstGeom prst="roundRect">
            <a:avLst>
              <a:gd name="adj" fmla="val 13636"/>
            </a:avLst>
          </a:prstGeom>
          <a:solidFill>
            <a:srgbClr val="FFF8F0"/>
          </a:solidFill>
          <a:ln>
            <a:noFill/>
          </a:ln>
        </p:spPr>
      </p:sp>
      <p:sp>
        <p:nvSpPr>
          <p:cNvPr id="29" name="TextBox 29"/>
          <p:cNvSpPr txBox="1"/>
          <p:nvPr/>
        </p:nvSpPr>
        <p:spPr>
          <a:xfrm>
            <a:off x="3566788" y="5716243"/>
            <a:ext cx="5058424"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模型间角色分工形成：B 组成为"挑刺者"，A 组成为"辩护者"</a:t>
            </a:r>
          </a:p>
        </p:txBody>
      </p:sp>
      <p:grpSp>
        <p:nvGrpSpPr>
          <p:cNvPr id="33" name="Group 33"/>
          <p:cNvGrpSpPr/>
          <p:nvPr/>
        </p:nvGrpSpPr>
        <p:grpSpPr>
          <a:xfrm>
            <a:off x="0" y="6516343"/>
            <a:ext cx="12192000" cy="341657"/>
            <a:chOff x="0" y="6516343"/>
            <a:chExt cx="12192000" cy="341657"/>
          </a:xfrm>
        </p:grpSpPr>
        <p:sp>
          <p:nvSpPr>
            <p:cNvPr id="30" name="Rectangle 30"/>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31" name="TextBox 31"/>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32" name="TextBox 32"/>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5363303"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E2 入口：Top101 稳定性复测池</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sp>
        <p:nvSpPr>
          <p:cNvPr id="7" name="TextBox 7"/>
          <p:cNvSpPr txBox="1"/>
          <p:nvPr/>
        </p:nvSpPr>
        <p:spPr>
          <a:xfrm>
            <a:off x="2404435" y="953743"/>
            <a:ext cx="7383130"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加权分 Top60 + 每年至少 5 篇 + 各学科至少 5 篇；进入 E2 后观察同模型重复评测稳定性</a:t>
            </a:r>
          </a:p>
        </p:txBody>
      </p:sp>
      <p:sp>
        <p:nvSpPr>
          <p:cNvPr id="8" name="Rectangle 8"/>
          <p:cNvSpPr/>
          <p:nvPr/>
        </p:nvSpPr>
        <p:spPr>
          <a:xfrm>
            <a:off x="685800" y="1352550"/>
            <a:ext cx="10820400" cy="685800"/>
          </a:xfrm>
          <a:prstGeom prst="roundRect">
            <a:avLst>
              <a:gd name="adj" fmla="val 11111"/>
            </a:avLst>
          </a:prstGeom>
          <a:solidFill>
            <a:srgbClr val="F4F5F7"/>
          </a:solidFill>
          <a:ln>
            <a:noFill/>
          </a:ln>
        </p:spPr>
      </p:sp>
      <p:sp>
        <p:nvSpPr>
          <p:cNvPr id="9" name="TextBox 9"/>
          <p:cNvSpPr txBox="1"/>
          <p:nvPr/>
        </p:nvSpPr>
        <p:spPr>
          <a:xfrm>
            <a:off x="969645" y="1498282"/>
            <a:ext cx="96602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入口规则</a:t>
            </a:r>
          </a:p>
        </p:txBody>
      </p:sp>
      <p:sp>
        <p:nvSpPr>
          <p:cNvPr id="10" name="TextBox 10"/>
          <p:cNvSpPr txBox="1"/>
          <p:nvPr/>
        </p:nvSpPr>
        <p:spPr>
          <a:xfrm>
            <a:off x="2174558" y="1538764"/>
            <a:ext cx="1290967"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Top60 高分基线</a:t>
            </a:r>
          </a:p>
        </p:txBody>
      </p:sp>
      <p:sp>
        <p:nvSpPr>
          <p:cNvPr id="11" name="TextBox 11"/>
          <p:cNvSpPr txBox="1"/>
          <p:nvPr/>
        </p:nvSpPr>
        <p:spPr>
          <a:xfrm>
            <a:off x="3583305" y="1530668"/>
            <a:ext cx="138253" cy="274320"/>
          </a:xfrm>
          <a:prstGeom prst="rect">
            <a:avLst/>
          </a:prstGeom>
          <a:noFill/>
          <a:ln>
            <a:noFill/>
          </a:ln>
        </p:spPr>
        <p:txBody>
          <a:bodyPr wrap="none" lIns="0" tIns="0" rIns="0" bIns="0" anchor="t" anchorCtr="0">
            <a:spAutoFit/>
          </a:bodyPr>
          <a:lstStyle/>
          <a:p>
            <a:pPr algn="l"/>
            <a:r>
              <a:rPr lang="zh-CN" sz="1350" b="1" dirty="0">
                <a:solidFill>
                  <a:srgbClr val="5A6472"/>
                </a:solidFill>
                <a:latin typeface="Arial"/>
                <a:ea typeface="Microsoft YaHei"/>
                <a:cs typeface="Arial"/>
              </a:rPr>
              <a:t>+</a:t>
            </a:r>
          </a:p>
        </p:txBody>
      </p:sp>
      <p:sp>
        <p:nvSpPr>
          <p:cNvPr id="12" name="TextBox 12"/>
          <p:cNvSpPr txBox="1"/>
          <p:nvPr/>
        </p:nvSpPr>
        <p:spPr>
          <a:xfrm>
            <a:off x="3984308" y="1538764"/>
            <a:ext cx="2022909"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年份补齐：每年至少 5 篇</a:t>
            </a:r>
          </a:p>
        </p:txBody>
      </p:sp>
      <p:sp>
        <p:nvSpPr>
          <p:cNvPr id="13" name="TextBox 13"/>
          <p:cNvSpPr txBox="1"/>
          <p:nvPr/>
        </p:nvSpPr>
        <p:spPr>
          <a:xfrm>
            <a:off x="6174105" y="1530668"/>
            <a:ext cx="138253" cy="274320"/>
          </a:xfrm>
          <a:prstGeom prst="rect">
            <a:avLst/>
          </a:prstGeom>
          <a:noFill/>
          <a:ln>
            <a:noFill/>
          </a:ln>
        </p:spPr>
        <p:txBody>
          <a:bodyPr wrap="none" lIns="0" tIns="0" rIns="0" bIns="0" anchor="t" anchorCtr="0">
            <a:spAutoFit/>
          </a:bodyPr>
          <a:lstStyle/>
          <a:p>
            <a:pPr algn="l"/>
            <a:r>
              <a:rPr lang="zh-CN" sz="1350" b="1" dirty="0">
                <a:solidFill>
                  <a:srgbClr val="5A6472"/>
                </a:solidFill>
                <a:latin typeface="Arial"/>
                <a:ea typeface="Microsoft YaHei"/>
                <a:cs typeface="Arial"/>
              </a:rPr>
              <a:t>+</a:t>
            </a:r>
          </a:p>
        </p:txBody>
      </p:sp>
      <p:sp>
        <p:nvSpPr>
          <p:cNvPr id="14" name="TextBox 14"/>
          <p:cNvSpPr txBox="1"/>
          <p:nvPr/>
        </p:nvSpPr>
        <p:spPr>
          <a:xfrm>
            <a:off x="6575108" y="1538764"/>
            <a:ext cx="2201431"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学科补齐：各学科至少 5 篇</a:t>
            </a:r>
          </a:p>
        </p:txBody>
      </p:sp>
      <p:sp>
        <p:nvSpPr>
          <p:cNvPr id="15" name="TextBox 15"/>
          <p:cNvSpPr txBox="1"/>
          <p:nvPr/>
        </p:nvSpPr>
        <p:spPr>
          <a:xfrm>
            <a:off x="8917305" y="1530668"/>
            <a:ext cx="138253" cy="274320"/>
          </a:xfrm>
          <a:prstGeom prst="rect">
            <a:avLst/>
          </a:prstGeom>
          <a:noFill/>
          <a:ln>
            <a:noFill/>
          </a:ln>
        </p:spPr>
        <p:txBody>
          <a:bodyPr wrap="none" lIns="0" tIns="0" rIns="0" bIns="0" anchor="t" anchorCtr="0">
            <a:spAutoFit/>
          </a:bodyPr>
          <a:lstStyle/>
          <a:p>
            <a:pPr algn="l"/>
            <a:r>
              <a:rPr lang="zh-CN" sz="1350" b="1" dirty="0">
                <a:solidFill>
                  <a:srgbClr val="5A6472"/>
                </a:solidFill>
                <a:latin typeface="Arial"/>
                <a:ea typeface="Microsoft YaHei"/>
                <a:cs typeface="Arial"/>
              </a:rPr>
              <a:t>=</a:t>
            </a:r>
          </a:p>
        </p:txBody>
      </p:sp>
      <p:sp>
        <p:nvSpPr>
          <p:cNvPr id="16" name="TextBox 16"/>
          <p:cNvSpPr txBox="1"/>
          <p:nvPr/>
        </p:nvSpPr>
        <p:spPr>
          <a:xfrm>
            <a:off x="9044157" y="1530668"/>
            <a:ext cx="809287" cy="274320"/>
          </a:xfrm>
          <a:prstGeom prst="rect">
            <a:avLst/>
          </a:prstGeom>
          <a:noFill/>
          <a:ln>
            <a:noFill/>
          </a:ln>
        </p:spPr>
        <p:txBody>
          <a:bodyPr wrap="none" lIns="0" tIns="0" rIns="0" bIns="0" anchor="t" anchorCtr="0">
            <a:spAutoFit/>
          </a:bodyPr>
          <a:lstStyle/>
          <a:p>
            <a:pPr algn="ctr"/>
            <a:r>
              <a:rPr lang="zh-CN" sz="1350" b="1" dirty="0">
                <a:solidFill>
                  <a:srgbClr val="C8161E"/>
                </a:solidFill>
                <a:latin typeface="Arial"/>
                <a:ea typeface="Microsoft YaHei"/>
                <a:cs typeface="Arial"/>
              </a:rPr>
              <a:t>E2候选池</a:t>
            </a:r>
          </a:p>
        </p:txBody>
      </p:sp>
      <p:sp>
        <p:nvSpPr>
          <p:cNvPr id="17" name="TextBox 17"/>
          <p:cNvSpPr txBox="1"/>
          <p:nvPr/>
        </p:nvSpPr>
        <p:spPr>
          <a:xfrm>
            <a:off x="977741" y="1814751"/>
            <a:ext cx="5338632" cy="205740"/>
          </a:xfrm>
          <a:prstGeom prst="rect">
            <a:avLst/>
          </a:prstGeom>
          <a:noFill/>
          <a:ln>
            <a:noFill/>
          </a:ln>
        </p:spPr>
        <p:txBody>
          <a:bodyPr wrap="none" lIns="0" tIns="0" rIns="0" bIns="0" anchor="t" anchorCtr="0">
            <a:spAutoFit/>
          </a:bodyPr>
          <a:lstStyle/>
          <a:p>
            <a:pPr algn="l"/>
            <a:r>
              <a:rPr lang="zh-CN" sz="1012" dirty="0">
                <a:solidFill>
                  <a:srgbClr val="5A6472"/>
                </a:solidFill>
                <a:latin typeface="Arial"/>
                <a:ea typeface="Microsoft YaHei"/>
                <a:cs typeface="Arial"/>
              </a:rPr>
              <a:t>该入口用于稳定性体检，不等同于最终展示名单；年份范围 6-12 篇，学科范围 5-20 篇。</a:t>
            </a:r>
          </a:p>
        </p:txBody>
      </p:sp>
      <p:sp>
        <p:nvSpPr>
          <p:cNvPr id="18" name="TextBox 18"/>
          <p:cNvSpPr txBox="1"/>
          <p:nvPr/>
        </p:nvSpPr>
        <p:spPr>
          <a:xfrm>
            <a:off x="664845" y="2279332"/>
            <a:ext cx="96602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年份分布</a:t>
            </a:r>
          </a:p>
        </p:txBody>
      </p:sp>
      <p:sp>
        <p:nvSpPr>
          <p:cNvPr id="19" name="TextBox 19"/>
          <p:cNvSpPr txBox="1"/>
          <p:nvPr/>
        </p:nvSpPr>
        <p:spPr>
          <a:xfrm>
            <a:off x="856631" y="2715578"/>
            <a:ext cx="299704"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2015</a:t>
            </a:r>
          </a:p>
        </p:txBody>
      </p:sp>
      <p:sp>
        <p:nvSpPr>
          <p:cNvPr id="20" name="Rectangle 20"/>
          <p:cNvSpPr/>
          <p:nvPr/>
        </p:nvSpPr>
        <p:spPr>
          <a:xfrm>
            <a:off x="1381125" y="2686050"/>
            <a:ext cx="1571625" cy="171450"/>
          </a:xfrm>
          <a:prstGeom prst="roundRect">
            <a:avLst>
              <a:gd name="adj" fmla="val 16667"/>
            </a:avLst>
          </a:prstGeom>
          <a:solidFill>
            <a:srgbClr val="1F4D78"/>
          </a:solidFill>
          <a:ln>
            <a:noFill/>
          </a:ln>
        </p:spPr>
      </p:sp>
      <p:sp>
        <p:nvSpPr>
          <p:cNvPr id="21" name="TextBox 21"/>
          <p:cNvSpPr txBox="1"/>
          <p:nvPr/>
        </p:nvSpPr>
        <p:spPr>
          <a:xfrm>
            <a:off x="856631" y="3001328"/>
            <a:ext cx="299704"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2016</a:t>
            </a:r>
          </a:p>
        </p:txBody>
      </p:sp>
      <p:sp>
        <p:nvSpPr>
          <p:cNvPr id="22" name="Rectangle 22"/>
          <p:cNvSpPr/>
          <p:nvPr/>
        </p:nvSpPr>
        <p:spPr>
          <a:xfrm>
            <a:off x="1381125" y="2971800"/>
            <a:ext cx="2095500" cy="171450"/>
          </a:xfrm>
          <a:prstGeom prst="roundRect">
            <a:avLst>
              <a:gd name="adj" fmla="val 16667"/>
            </a:avLst>
          </a:prstGeom>
          <a:solidFill>
            <a:srgbClr val="1F4D78"/>
          </a:solidFill>
          <a:ln>
            <a:noFill/>
          </a:ln>
        </p:spPr>
      </p:sp>
      <p:sp>
        <p:nvSpPr>
          <p:cNvPr id="23" name="TextBox 23"/>
          <p:cNvSpPr txBox="1"/>
          <p:nvPr/>
        </p:nvSpPr>
        <p:spPr>
          <a:xfrm>
            <a:off x="856631" y="3287078"/>
            <a:ext cx="299704"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2017</a:t>
            </a:r>
          </a:p>
        </p:txBody>
      </p:sp>
      <p:sp>
        <p:nvSpPr>
          <p:cNvPr id="24" name="Rectangle 24"/>
          <p:cNvSpPr/>
          <p:nvPr/>
        </p:nvSpPr>
        <p:spPr>
          <a:xfrm>
            <a:off x="1381125" y="3257550"/>
            <a:ext cx="1571625" cy="171450"/>
          </a:xfrm>
          <a:prstGeom prst="roundRect">
            <a:avLst>
              <a:gd name="adj" fmla="val 16667"/>
            </a:avLst>
          </a:prstGeom>
          <a:solidFill>
            <a:srgbClr val="1F4D78"/>
          </a:solidFill>
          <a:ln>
            <a:noFill/>
          </a:ln>
        </p:spPr>
      </p:sp>
      <p:sp>
        <p:nvSpPr>
          <p:cNvPr id="25" name="TextBox 25"/>
          <p:cNvSpPr txBox="1"/>
          <p:nvPr/>
        </p:nvSpPr>
        <p:spPr>
          <a:xfrm>
            <a:off x="856631" y="3572828"/>
            <a:ext cx="299704"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2018</a:t>
            </a:r>
          </a:p>
        </p:txBody>
      </p:sp>
      <p:sp>
        <p:nvSpPr>
          <p:cNvPr id="26" name="Rectangle 26"/>
          <p:cNvSpPr/>
          <p:nvPr/>
        </p:nvSpPr>
        <p:spPr>
          <a:xfrm>
            <a:off x="1381125" y="3543300"/>
            <a:ext cx="1833562" cy="171450"/>
          </a:xfrm>
          <a:prstGeom prst="roundRect">
            <a:avLst>
              <a:gd name="adj" fmla="val 16667"/>
            </a:avLst>
          </a:prstGeom>
          <a:solidFill>
            <a:srgbClr val="1F4D78"/>
          </a:solidFill>
          <a:ln>
            <a:noFill/>
          </a:ln>
        </p:spPr>
      </p:sp>
      <p:sp>
        <p:nvSpPr>
          <p:cNvPr id="27" name="TextBox 27"/>
          <p:cNvSpPr txBox="1"/>
          <p:nvPr/>
        </p:nvSpPr>
        <p:spPr>
          <a:xfrm>
            <a:off x="856631" y="3858578"/>
            <a:ext cx="299704"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2019</a:t>
            </a:r>
          </a:p>
        </p:txBody>
      </p:sp>
      <p:sp>
        <p:nvSpPr>
          <p:cNvPr id="28" name="Rectangle 28"/>
          <p:cNvSpPr/>
          <p:nvPr/>
        </p:nvSpPr>
        <p:spPr>
          <a:xfrm>
            <a:off x="1381125" y="3829050"/>
            <a:ext cx="2881312" cy="171450"/>
          </a:xfrm>
          <a:prstGeom prst="roundRect">
            <a:avLst>
              <a:gd name="adj" fmla="val 16667"/>
            </a:avLst>
          </a:prstGeom>
          <a:solidFill>
            <a:srgbClr val="1F4D78"/>
          </a:solidFill>
          <a:ln>
            <a:noFill/>
          </a:ln>
        </p:spPr>
      </p:sp>
      <p:sp>
        <p:nvSpPr>
          <p:cNvPr id="29" name="TextBox 29"/>
          <p:cNvSpPr txBox="1"/>
          <p:nvPr/>
        </p:nvSpPr>
        <p:spPr>
          <a:xfrm>
            <a:off x="821626" y="4144328"/>
            <a:ext cx="334708"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2020</a:t>
            </a:r>
          </a:p>
        </p:txBody>
      </p:sp>
      <p:sp>
        <p:nvSpPr>
          <p:cNvPr id="30" name="Rectangle 30"/>
          <p:cNvSpPr/>
          <p:nvPr/>
        </p:nvSpPr>
        <p:spPr>
          <a:xfrm>
            <a:off x="1381125" y="4114800"/>
            <a:ext cx="2357438" cy="171450"/>
          </a:xfrm>
          <a:prstGeom prst="roundRect">
            <a:avLst>
              <a:gd name="adj" fmla="val 16667"/>
            </a:avLst>
          </a:prstGeom>
          <a:solidFill>
            <a:srgbClr val="1F4D78"/>
          </a:solidFill>
          <a:ln>
            <a:noFill/>
          </a:ln>
        </p:spPr>
      </p:sp>
      <p:sp>
        <p:nvSpPr>
          <p:cNvPr id="31" name="TextBox 31"/>
          <p:cNvSpPr txBox="1"/>
          <p:nvPr/>
        </p:nvSpPr>
        <p:spPr>
          <a:xfrm>
            <a:off x="856631" y="4430078"/>
            <a:ext cx="299704"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2021</a:t>
            </a:r>
          </a:p>
        </p:txBody>
      </p:sp>
      <p:sp>
        <p:nvSpPr>
          <p:cNvPr id="32" name="Rectangle 32"/>
          <p:cNvSpPr/>
          <p:nvPr/>
        </p:nvSpPr>
        <p:spPr>
          <a:xfrm>
            <a:off x="1381125" y="4400550"/>
            <a:ext cx="2881312" cy="171450"/>
          </a:xfrm>
          <a:prstGeom prst="roundRect">
            <a:avLst>
              <a:gd name="adj" fmla="val 16667"/>
            </a:avLst>
          </a:prstGeom>
          <a:solidFill>
            <a:srgbClr val="1F4D78"/>
          </a:solidFill>
          <a:ln>
            <a:noFill/>
          </a:ln>
        </p:spPr>
      </p:sp>
      <p:sp>
        <p:nvSpPr>
          <p:cNvPr id="33" name="TextBox 33"/>
          <p:cNvSpPr txBox="1"/>
          <p:nvPr/>
        </p:nvSpPr>
        <p:spPr>
          <a:xfrm>
            <a:off x="821626" y="4715828"/>
            <a:ext cx="334708"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2022</a:t>
            </a:r>
          </a:p>
        </p:txBody>
      </p:sp>
      <p:sp>
        <p:nvSpPr>
          <p:cNvPr id="34" name="Rectangle 34"/>
          <p:cNvSpPr/>
          <p:nvPr/>
        </p:nvSpPr>
        <p:spPr>
          <a:xfrm>
            <a:off x="1381125" y="4686300"/>
            <a:ext cx="2881312" cy="171450"/>
          </a:xfrm>
          <a:prstGeom prst="roundRect">
            <a:avLst>
              <a:gd name="adj" fmla="val 16667"/>
            </a:avLst>
          </a:prstGeom>
          <a:solidFill>
            <a:srgbClr val="1F4D78"/>
          </a:solidFill>
          <a:ln>
            <a:noFill/>
          </a:ln>
        </p:spPr>
      </p:sp>
      <p:sp>
        <p:nvSpPr>
          <p:cNvPr id="35" name="TextBox 35"/>
          <p:cNvSpPr txBox="1"/>
          <p:nvPr/>
        </p:nvSpPr>
        <p:spPr>
          <a:xfrm>
            <a:off x="821626" y="5001578"/>
            <a:ext cx="334708"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2023</a:t>
            </a:r>
          </a:p>
        </p:txBody>
      </p:sp>
      <p:sp>
        <p:nvSpPr>
          <p:cNvPr id="36" name="Rectangle 36"/>
          <p:cNvSpPr/>
          <p:nvPr/>
        </p:nvSpPr>
        <p:spPr>
          <a:xfrm>
            <a:off x="1381125" y="4972050"/>
            <a:ext cx="3143250" cy="171450"/>
          </a:xfrm>
          <a:prstGeom prst="roundRect">
            <a:avLst>
              <a:gd name="adj" fmla="val 16667"/>
            </a:avLst>
          </a:prstGeom>
          <a:solidFill>
            <a:srgbClr val="1F4D78"/>
          </a:solidFill>
          <a:ln>
            <a:noFill/>
          </a:ln>
        </p:spPr>
      </p:sp>
      <p:sp>
        <p:nvSpPr>
          <p:cNvPr id="37" name="TextBox 37"/>
          <p:cNvSpPr txBox="1"/>
          <p:nvPr/>
        </p:nvSpPr>
        <p:spPr>
          <a:xfrm>
            <a:off x="821626" y="5287328"/>
            <a:ext cx="334708"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2024</a:t>
            </a:r>
          </a:p>
        </p:txBody>
      </p:sp>
      <p:sp>
        <p:nvSpPr>
          <p:cNvPr id="38" name="Rectangle 38"/>
          <p:cNvSpPr/>
          <p:nvPr/>
        </p:nvSpPr>
        <p:spPr>
          <a:xfrm>
            <a:off x="1381125" y="5257800"/>
            <a:ext cx="2619375" cy="171450"/>
          </a:xfrm>
          <a:prstGeom prst="roundRect">
            <a:avLst>
              <a:gd name="adj" fmla="val 16667"/>
            </a:avLst>
          </a:prstGeom>
          <a:solidFill>
            <a:srgbClr val="1F4D78"/>
          </a:solidFill>
          <a:ln>
            <a:noFill/>
          </a:ln>
        </p:spPr>
      </p:sp>
      <p:sp>
        <p:nvSpPr>
          <p:cNvPr id="39" name="TextBox 39"/>
          <p:cNvSpPr txBox="1"/>
          <p:nvPr/>
        </p:nvSpPr>
        <p:spPr>
          <a:xfrm>
            <a:off x="821626" y="5573078"/>
            <a:ext cx="334708" cy="213360"/>
          </a:xfrm>
          <a:prstGeom prst="rect">
            <a:avLst/>
          </a:prstGeom>
          <a:noFill/>
          <a:ln>
            <a:noFill/>
          </a:ln>
        </p:spPr>
        <p:txBody>
          <a:bodyPr wrap="none" lIns="0" tIns="0" rIns="0" bIns="0" anchor="t" anchorCtr="0">
            <a:spAutoFit/>
          </a:bodyPr>
          <a:lstStyle/>
          <a:p>
            <a:pPr algn="r"/>
            <a:r>
              <a:rPr lang="zh-CN" sz="1050" dirty="0">
                <a:solidFill>
                  <a:srgbClr val="5A6472"/>
                </a:solidFill>
                <a:latin typeface="Arial"/>
                <a:ea typeface="Microsoft YaHei"/>
                <a:cs typeface="Arial"/>
              </a:rPr>
              <a:t>2025</a:t>
            </a:r>
          </a:p>
        </p:txBody>
      </p:sp>
      <p:sp>
        <p:nvSpPr>
          <p:cNvPr id="40" name="Rectangle 40"/>
          <p:cNvSpPr/>
          <p:nvPr/>
        </p:nvSpPr>
        <p:spPr>
          <a:xfrm>
            <a:off x="1381125" y="5543550"/>
            <a:ext cx="2619375" cy="171450"/>
          </a:xfrm>
          <a:prstGeom prst="roundRect">
            <a:avLst>
              <a:gd name="adj" fmla="val 16667"/>
            </a:avLst>
          </a:prstGeom>
          <a:solidFill>
            <a:srgbClr val="1F4D78"/>
          </a:solidFill>
          <a:ln>
            <a:noFill/>
          </a:ln>
        </p:spPr>
      </p:sp>
      <p:sp>
        <p:nvSpPr>
          <p:cNvPr id="41" name="TextBox 41"/>
          <p:cNvSpPr txBox="1"/>
          <p:nvPr/>
        </p:nvSpPr>
        <p:spPr>
          <a:xfrm>
            <a:off x="5884545" y="2279332"/>
            <a:ext cx="96602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学科分布</a:t>
            </a:r>
          </a:p>
        </p:txBody>
      </p:sp>
      <p:sp>
        <p:nvSpPr>
          <p:cNvPr id="42" name="TextBox 42"/>
          <p:cNvSpPr txBox="1"/>
          <p:nvPr/>
        </p:nvSpPr>
        <p:spPr>
          <a:xfrm>
            <a:off x="6909197" y="2727722"/>
            <a:ext cx="398859" cy="190500"/>
          </a:xfrm>
          <a:prstGeom prst="rect">
            <a:avLst/>
          </a:prstGeom>
          <a:noFill/>
          <a:ln>
            <a:noFill/>
          </a:ln>
        </p:spPr>
        <p:txBody>
          <a:bodyPr wrap="none" lIns="0" tIns="0" rIns="0" bIns="0" anchor="t" anchorCtr="0">
            <a:spAutoFit/>
          </a:bodyPr>
          <a:lstStyle/>
          <a:p>
            <a:pPr algn="r"/>
            <a:r>
              <a:rPr lang="zh-CN" sz="938" dirty="0">
                <a:solidFill>
                  <a:srgbClr val="5A6472"/>
                </a:solidFill>
                <a:latin typeface="Arial"/>
                <a:ea typeface="Microsoft YaHei"/>
                <a:cs typeface="Arial"/>
              </a:rPr>
              <a:t>刑法学</a:t>
            </a:r>
          </a:p>
        </p:txBody>
      </p:sp>
      <p:sp>
        <p:nvSpPr>
          <p:cNvPr id="43" name="Rectangle 43"/>
          <p:cNvSpPr/>
          <p:nvPr/>
        </p:nvSpPr>
        <p:spPr>
          <a:xfrm>
            <a:off x="7543800" y="2686050"/>
            <a:ext cx="2619375" cy="171450"/>
          </a:xfrm>
          <a:prstGeom prst="roundRect">
            <a:avLst>
              <a:gd name="adj" fmla="val 16667"/>
            </a:avLst>
          </a:prstGeom>
          <a:solidFill>
            <a:srgbClr val="2E7D32"/>
          </a:solidFill>
          <a:ln>
            <a:noFill/>
          </a:ln>
        </p:spPr>
      </p:sp>
      <p:sp>
        <p:nvSpPr>
          <p:cNvPr id="44" name="TextBox 44"/>
          <p:cNvSpPr txBox="1"/>
          <p:nvPr/>
        </p:nvSpPr>
        <p:spPr>
          <a:xfrm>
            <a:off x="6784181" y="2956322"/>
            <a:ext cx="523875" cy="190500"/>
          </a:xfrm>
          <a:prstGeom prst="rect">
            <a:avLst/>
          </a:prstGeom>
          <a:noFill/>
          <a:ln>
            <a:noFill/>
          </a:ln>
        </p:spPr>
        <p:txBody>
          <a:bodyPr wrap="none" lIns="0" tIns="0" rIns="0" bIns="0" anchor="t" anchorCtr="0">
            <a:spAutoFit/>
          </a:bodyPr>
          <a:lstStyle/>
          <a:p>
            <a:pPr algn="r"/>
            <a:r>
              <a:rPr lang="zh-CN" sz="938" dirty="0">
                <a:solidFill>
                  <a:srgbClr val="5A6472"/>
                </a:solidFill>
                <a:latin typeface="Arial"/>
                <a:ea typeface="Microsoft YaHei"/>
                <a:cs typeface="Arial"/>
              </a:rPr>
              <a:t>民商法学</a:t>
            </a:r>
          </a:p>
        </p:txBody>
      </p:sp>
      <p:sp>
        <p:nvSpPr>
          <p:cNvPr id="45" name="Rectangle 45"/>
          <p:cNvSpPr/>
          <p:nvPr/>
        </p:nvSpPr>
        <p:spPr>
          <a:xfrm>
            <a:off x="7543800" y="2914650"/>
            <a:ext cx="2488406" cy="171450"/>
          </a:xfrm>
          <a:prstGeom prst="roundRect">
            <a:avLst>
              <a:gd name="adj" fmla="val 16667"/>
            </a:avLst>
          </a:prstGeom>
          <a:solidFill>
            <a:srgbClr val="2E7D32"/>
          </a:solidFill>
          <a:ln>
            <a:noFill/>
          </a:ln>
        </p:spPr>
      </p:sp>
      <p:sp>
        <p:nvSpPr>
          <p:cNvPr id="46" name="TextBox 46"/>
          <p:cNvSpPr txBox="1"/>
          <p:nvPr/>
        </p:nvSpPr>
        <p:spPr>
          <a:xfrm>
            <a:off x="6784181" y="3184922"/>
            <a:ext cx="523875" cy="190500"/>
          </a:xfrm>
          <a:prstGeom prst="rect">
            <a:avLst/>
          </a:prstGeom>
          <a:noFill/>
          <a:ln>
            <a:noFill/>
          </a:ln>
        </p:spPr>
        <p:txBody>
          <a:bodyPr wrap="none" lIns="0" tIns="0" rIns="0" bIns="0" anchor="t" anchorCtr="0">
            <a:spAutoFit/>
          </a:bodyPr>
          <a:lstStyle/>
          <a:p>
            <a:pPr algn="r"/>
            <a:r>
              <a:rPr lang="zh-CN" sz="938" dirty="0">
                <a:solidFill>
                  <a:srgbClr val="5A6472"/>
                </a:solidFill>
                <a:latin typeface="Arial"/>
                <a:ea typeface="Microsoft YaHei"/>
                <a:cs typeface="Arial"/>
              </a:rPr>
              <a:t>法学理论</a:t>
            </a:r>
          </a:p>
        </p:txBody>
      </p:sp>
      <p:sp>
        <p:nvSpPr>
          <p:cNvPr id="47" name="Rectangle 47"/>
          <p:cNvSpPr/>
          <p:nvPr/>
        </p:nvSpPr>
        <p:spPr>
          <a:xfrm>
            <a:off x="7543800" y="3143250"/>
            <a:ext cx="1309688" cy="171450"/>
          </a:xfrm>
          <a:prstGeom prst="roundRect">
            <a:avLst>
              <a:gd name="adj" fmla="val 16667"/>
            </a:avLst>
          </a:prstGeom>
          <a:solidFill>
            <a:srgbClr val="2E7D32"/>
          </a:solidFill>
          <a:ln>
            <a:noFill/>
          </a:ln>
        </p:spPr>
      </p:sp>
      <p:sp>
        <p:nvSpPr>
          <p:cNvPr id="48" name="TextBox 48"/>
          <p:cNvSpPr txBox="1"/>
          <p:nvPr/>
        </p:nvSpPr>
        <p:spPr>
          <a:xfrm>
            <a:off x="6784181" y="3413522"/>
            <a:ext cx="523875" cy="190500"/>
          </a:xfrm>
          <a:prstGeom prst="rect">
            <a:avLst/>
          </a:prstGeom>
          <a:noFill/>
          <a:ln>
            <a:noFill/>
          </a:ln>
        </p:spPr>
        <p:txBody>
          <a:bodyPr wrap="none" lIns="0" tIns="0" rIns="0" bIns="0" anchor="t" anchorCtr="0">
            <a:spAutoFit/>
          </a:bodyPr>
          <a:lstStyle/>
          <a:p>
            <a:pPr algn="r"/>
            <a:r>
              <a:rPr lang="zh-CN" sz="938" dirty="0">
                <a:solidFill>
                  <a:srgbClr val="5A6472"/>
                </a:solidFill>
                <a:latin typeface="Arial"/>
                <a:ea typeface="Microsoft YaHei"/>
                <a:cs typeface="Arial"/>
              </a:rPr>
              <a:t>诉讼法学</a:t>
            </a:r>
          </a:p>
        </p:txBody>
      </p:sp>
      <p:sp>
        <p:nvSpPr>
          <p:cNvPr id="49" name="Rectangle 49"/>
          <p:cNvSpPr/>
          <p:nvPr/>
        </p:nvSpPr>
        <p:spPr>
          <a:xfrm>
            <a:off x="7543800" y="3371850"/>
            <a:ext cx="1178719" cy="171450"/>
          </a:xfrm>
          <a:prstGeom prst="roundRect">
            <a:avLst>
              <a:gd name="adj" fmla="val 16667"/>
            </a:avLst>
          </a:prstGeom>
          <a:solidFill>
            <a:srgbClr val="2E7D32"/>
          </a:solidFill>
          <a:ln>
            <a:noFill/>
          </a:ln>
        </p:spPr>
      </p:sp>
      <p:sp>
        <p:nvSpPr>
          <p:cNvPr id="50" name="TextBox 50"/>
          <p:cNvSpPr txBox="1"/>
          <p:nvPr/>
        </p:nvSpPr>
        <p:spPr>
          <a:xfrm>
            <a:off x="6284119" y="3642122"/>
            <a:ext cx="1023938" cy="190500"/>
          </a:xfrm>
          <a:prstGeom prst="rect">
            <a:avLst/>
          </a:prstGeom>
          <a:noFill/>
          <a:ln>
            <a:noFill/>
          </a:ln>
        </p:spPr>
        <p:txBody>
          <a:bodyPr wrap="none" lIns="0" tIns="0" rIns="0" bIns="0" anchor="t" anchorCtr="0">
            <a:spAutoFit/>
          </a:bodyPr>
          <a:lstStyle/>
          <a:p>
            <a:pPr algn="r"/>
            <a:r>
              <a:rPr lang="zh-CN" sz="938" dirty="0">
                <a:solidFill>
                  <a:srgbClr val="5A6472"/>
                </a:solidFill>
                <a:latin typeface="Arial"/>
                <a:ea typeface="Microsoft YaHei"/>
                <a:cs typeface="Arial"/>
              </a:rPr>
              <a:t>宪法学与行政法学</a:t>
            </a:r>
          </a:p>
        </p:txBody>
      </p:sp>
      <p:sp>
        <p:nvSpPr>
          <p:cNvPr id="51" name="Rectangle 51"/>
          <p:cNvSpPr/>
          <p:nvPr/>
        </p:nvSpPr>
        <p:spPr>
          <a:xfrm>
            <a:off x="7543800" y="3600450"/>
            <a:ext cx="1047750" cy="171450"/>
          </a:xfrm>
          <a:prstGeom prst="roundRect">
            <a:avLst>
              <a:gd name="adj" fmla="val 16667"/>
            </a:avLst>
          </a:prstGeom>
          <a:solidFill>
            <a:srgbClr val="2E7D32"/>
          </a:solidFill>
          <a:ln>
            <a:noFill/>
          </a:ln>
        </p:spPr>
      </p:sp>
      <p:sp>
        <p:nvSpPr>
          <p:cNvPr id="52" name="TextBox 52"/>
          <p:cNvSpPr txBox="1"/>
          <p:nvPr/>
        </p:nvSpPr>
        <p:spPr>
          <a:xfrm>
            <a:off x="6659166" y="3870722"/>
            <a:ext cx="648891" cy="190500"/>
          </a:xfrm>
          <a:prstGeom prst="rect">
            <a:avLst/>
          </a:prstGeom>
          <a:noFill/>
          <a:ln>
            <a:noFill/>
          </a:ln>
        </p:spPr>
        <p:txBody>
          <a:bodyPr wrap="none" lIns="0" tIns="0" rIns="0" bIns="0" anchor="t" anchorCtr="0">
            <a:spAutoFit/>
          </a:bodyPr>
          <a:lstStyle/>
          <a:p>
            <a:pPr algn="r"/>
            <a:r>
              <a:rPr lang="zh-CN" sz="938" dirty="0">
                <a:solidFill>
                  <a:srgbClr val="5A6472"/>
                </a:solidFill>
                <a:latin typeface="Arial"/>
                <a:ea typeface="Microsoft YaHei"/>
                <a:cs typeface="Arial"/>
              </a:rPr>
              <a:t>党内法规学</a:t>
            </a:r>
          </a:p>
        </p:txBody>
      </p:sp>
      <p:sp>
        <p:nvSpPr>
          <p:cNvPr id="53" name="Rectangle 53"/>
          <p:cNvSpPr/>
          <p:nvPr/>
        </p:nvSpPr>
        <p:spPr>
          <a:xfrm>
            <a:off x="7543800" y="3829050"/>
            <a:ext cx="654844" cy="171450"/>
          </a:xfrm>
          <a:prstGeom prst="roundRect">
            <a:avLst>
              <a:gd name="adj" fmla="val 16667"/>
            </a:avLst>
          </a:prstGeom>
          <a:solidFill>
            <a:srgbClr val="2E7D32"/>
          </a:solidFill>
          <a:ln>
            <a:noFill/>
          </a:ln>
        </p:spPr>
      </p:sp>
      <p:sp>
        <p:nvSpPr>
          <p:cNvPr id="54" name="TextBox 54"/>
          <p:cNvSpPr txBox="1"/>
          <p:nvPr/>
        </p:nvSpPr>
        <p:spPr>
          <a:xfrm>
            <a:off x="6784181" y="4099322"/>
            <a:ext cx="523875" cy="190500"/>
          </a:xfrm>
          <a:prstGeom prst="rect">
            <a:avLst/>
          </a:prstGeom>
          <a:noFill/>
          <a:ln>
            <a:noFill/>
          </a:ln>
        </p:spPr>
        <p:txBody>
          <a:bodyPr wrap="none" lIns="0" tIns="0" rIns="0" bIns="0" anchor="t" anchorCtr="0">
            <a:spAutoFit/>
          </a:bodyPr>
          <a:lstStyle/>
          <a:p>
            <a:pPr algn="r"/>
            <a:r>
              <a:rPr lang="zh-CN" sz="938" dirty="0">
                <a:solidFill>
                  <a:srgbClr val="5A6472"/>
                </a:solidFill>
                <a:latin typeface="Arial"/>
                <a:ea typeface="Microsoft YaHei"/>
                <a:cs typeface="Arial"/>
              </a:rPr>
              <a:t>国际法学</a:t>
            </a:r>
          </a:p>
        </p:txBody>
      </p:sp>
      <p:sp>
        <p:nvSpPr>
          <p:cNvPr id="55" name="Rectangle 55"/>
          <p:cNvSpPr/>
          <p:nvPr/>
        </p:nvSpPr>
        <p:spPr>
          <a:xfrm>
            <a:off x="7543800" y="4057650"/>
            <a:ext cx="654844" cy="171450"/>
          </a:xfrm>
          <a:prstGeom prst="roundRect">
            <a:avLst>
              <a:gd name="adj" fmla="val 16667"/>
            </a:avLst>
          </a:prstGeom>
          <a:solidFill>
            <a:srgbClr val="2E7D32"/>
          </a:solidFill>
          <a:ln>
            <a:noFill/>
          </a:ln>
        </p:spPr>
      </p:sp>
      <p:sp>
        <p:nvSpPr>
          <p:cNvPr id="56" name="TextBox 56"/>
          <p:cNvSpPr txBox="1"/>
          <p:nvPr/>
        </p:nvSpPr>
        <p:spPr>
          <a:xfrm>
            <a:off x="6784181" y="4327922"/>
            <a:ext cx="523875" cy="190500"/>
          </a:xfrm>
          <a:prstGeom prst="rect">
            <a:avLst/>
          </a:prstGeom>
          <a:noFill/>
          <a:ln>
            <a:noFill/>
          </a:ln>
        </p:spPr>
        <p:txBody>
          <a:bodyPr wrap="none" lIns="0" tIns="0" rIns="0" bIns="0" anchor="t" anchorCtr="0">
            <a:spAutoFit/>
          </a:bodyPr>
          <a:lstStyle/>
          <a:p>
            <a:pPr algn="r"/>
            <a:r>
              <a:rPr lang="zh-CN" sz="938" dirty="0">
                <a:solidFill>
                  <a:srgbClr val="5A6472"/>
                </a:solidFill>
                <a:latin typeface="Arial"/>
                <a:ea typeface="Microsoft YaHei"/>
                <a:cs typeface="Arial"/>
              </a:rPr>
              <a:t>数字法学</a:t>
            </a:r>
          </a:p>
        </p:txBody>
      </p:sp>
      <p:sp>
        <p:nvSpPr>
          <p:cNvPr id="57" name="Rectangle 57"/>
          <p:cNvSpPr/>
          <p:nvPr/>
        </p:nvSpPr>
        <p:spPr>
          <a:xfrm>
            <a:off x="7543800" y="4286250"/>
            <a:ext cx="654844" cy="171450"/>
          </a:xfrm>
          <a:prstGeom prst="roundRect">
            <a:avLst>
              <a:gd name="adj" fmla="val 16667"/>
            </a:avLst>
          </a:prstGeom>
          <a:solidFill>
            <a:srgbClr val="2E7D32"/>
          </a:solidFill>
          <a:ln>
            <a:noFill/>
          </a:ln>
        </p:spPr>
      </p:sp>
      <p:sp>
        <p:nvSpPr>
          <p:cNvPr id="58" name="TextBox 58"/>
          <p:cNvSpPr txBox="1"/>
          <p:nvPr/>
        </p:nvSpPr>
        <p:spPr>
          <a:xfrm>
            <a:off x="6909197" y="4556522"/>
            <a:ext cx="398859" cy="190500"/>
          </a:xfrm>
          <a:prstGeom prst="rect">
            <a:avLst/>
          </a:prstGeom>
          <a:noFill/>
          <a:ln>
            <a:noFill/>
          </a:ln>
        </p:spPr>
        <p:txBody>
          <a:bodyPr wrap="none" lIns="0" tIns="0" rIns="0" bIns="0" anchor="t" anchorCtr="0">
            <a:spAutoFit/>
          </a:bodyPr>
          <a:lstStyle/>
          <a:p>
            <a:pPr algn="r"/>
            <a:r>
              <a:rPr lang="zh-CN" sz="938" dirty="0">
                <a:solidFill>
                  <a:srgbClr val="5A6472"/>
                </a:solidFill>
                <a:latin typeface="Arial"/>
                <a:ea typeface="Microsoft YaHei"/>
                <a:cs typeface="Arial"/>
              </a:rPr>
              <a:t>法律史</a:t>
            </a:r>
          </a:p>
        </p:txBody>
      </p:sp>
      <p:sp>
        <p:nvSpPr>
          <p:cNvPr id="59" name="Rectangle 59"/>
          <p:cNvSpPr/>
          <p:nvPr/>
        </p:nvSpPr>
        <p:spPr>
          <a:xfrm>
            <a:off x="7543800" y="4514850"/>
            <a:ext cx="654844" cy="171450"/>
          </a:xfrm>
          <a:prstGeom prst="roundRect">
            <a:avLst>
              <a:gd name="adj" fmla="val 16667"/>
            </a:avLst>
          </a:prstGeom>
          <a:solidFill>
            <a:srgbClr val="2E7D32"/>
          </a:solidFill>
          <a:ln>
            <a:noFill/>
          </a:ln>
        </p:spPr>
      </p:sp>
      <p:sp>
        <p:nvSpPr>
          <p:cNvPr id="60" name="TextBox 60"/>
          <p:cNvSpPr txBox="1"/>
          <p:nvPr/>
        </p:nvSpPr>
        <p:spPr>
          <a:xfrm>
            <a:off x="6159103" y="4785122"/>
            <a:ext cx="1148953" cy="190500"/>
          </a:xfrm>
          <a:prstGeom prst="rect">
            <a:avLst/>
          </a:prstGeom>
          <a:noFill/>
          <a:ln>
            <a:noFill/>
          </a:ln>
        </p:spPr>
        <p:txBody>
          <a:bodyPr wrap="none" lIns="0" tIns="0" rIns="0" bIns="0" anchor="t" anchorCtr="0">
            <a:spAutoFit/>
          </a:bodyPr>
          <a:lstStyle/>
          <a:p>
            <a:pPr algn="r"/>
            <a:r>
              <a:rPr lang="zh-CN" sz="938" dirty="0">
                <a:solidFill>
                  <a:srgbClr val="5A6472"/>
                </a:solidFill>
                <a:latin typeface="Arial"/>
                <a:ea typeface="Microsoft YaHei"/>
                <a:cs typeface="Arial"/>
              </a:rPr>
              <a:t>环境与资源保护法学</a:t>
            </a:r>
          </a:p>
        </p:txBody>
      </p:sp>
      <p:sp>
        <p:nvSpPr>
          <p:cNvPr id="61" name="Rectangle 61"/>
          <p:cNvSpPr/>
          <p:nvPr/>
        </p:nvSpPr>
        <p:spPr>
          <a:xfrm>
            <a:off x="7543800" y="4743450"/>
            <a:ext cx="654844" cy="171450"/>
          </a:xfrm>
          <a:prstGeom prst="roundRect">
            <a:avLst>
              <a:gd name="adj" fmla="val 16667"/>
            </a:avLst>
          </a:prstGeom>
          <a:solidFill>
            <a:srgbClr val="2E7D32"/>
          </a:solidFill>
          <a:ln>
            <a:noFill/>
          </a:ln>
        </p:spPr>
      </p:sp>
      <p:sp>
        <p:nvSpPr>
          <p:cNvPr id="62" name="TextBox 62"/>
          <p:cNvSpPr txBox="1"/>
          <p:nvPr/>
        </p:nvSpPr>
        <p:spPr>
          <a:xfrm>
            <a:off x="6534150" y="5013722"/>
            <a:ext cx="773906" cy="190500"/>
          </a:xfrm>
          <a:prstGeom prst="rect">
            <a:avLst/>
          </a:prstGeom>
          <a:noFill/>
          <a:ln>
            <a:noFill/>
          </a:ln>
        </p:spPr>
        <p:txBody>
          <a:bodyPr wrap="none" lIns="0" tIns="0" rIns="0" bIns="0" anchor="t" anchorCtr="0">
            <a:spAutoFit/>
          </a:bodyPr>
          <a:lstStyle/>
          <a:p>
            <a:pPr algn="r"/>
            <a:r>
              <a:rPr lang="zh-CN" sz="938" dirty="0">
                <a:solidFill>
                  <a:srgbClr val="5A6472"/>
                </a:solidFill>
                <a:latin typeface="Arial"/>
                <a:ea typeface="Microsoft YaHei"/>
                <a:cs typeface="Arial"/>
              </a:rPr>
              <a:t>知识产权法学</a:t>
            </a:r>
          </a:p>
        </p:txBody>
      </p:sp>
      <p:sp>
        <p:nvSpPr>
          <p:cNvPr id="63" name="Rectangle 63"/>
          <p:cNvSpPr/>
          <p:nvPr/>
        </p:nvSpPr>
        <p:spPr>
          <a:xfrm>
            <a:off x="7543800" y="4972050"/>
            <a:ext cx="654844" cy="171450"/>
          </a:xfrm>
          <a:prstGeom prst="roundRect">
            <a:avLst>
              <a:gd name="adj" fmla="val 16667"/>
            </a:avLst>
          </a:prstGeom>
          <a:solidFill>
            <a:srgbClr val="2E7D32"/>
          </a:solidFill>
          <a:ln>
            <a:noFill/>
          </a:ln>
        </p:spPr>
      </p:sp>
      <p:sp>
        <p:nvSpPr>
          <p:cNvPr id="64" name="TextBox 64"/>
          <p:cNvSpPr txBox="1"/>
          <p:nvPr/>
        </p:nvSpPr>
        <p:spPr>
          <a:xfrm>
            <a:off x="6784181" y="5242322"/>
            <a:ext cx="523875" cy="190500"/>
          </a:xfrm>
          <a:prstGeom prst="rect">
            <a:avLst/>
          </a:prstGeom>
          <a:noFill/>
          <a:ln>
            <a:noFill/>
          </a:ln>
        </p:spPr>
        <p:txBody>
          <a:bodyPr wrap="none" lIns="0" tIns="0" rIns="0" bIns="0" anchor="t" anchorCtr="0">
            <a:spAutoFit/>
          </a:bodyPr>
          <a:lstStyle/>
          <a:p>
            <a:pPr algn="r"/>
            <a:r>
              <a:rPr lang="zh-CN" sz="938" dirty="0">
                <a:solidFill>
                  <a:srgbClr val="5A6472"/>
                </a:solidFill>
                <a:latin typeface="Arial"/>
                <a:ea typeface="Microsoft YaHei"/>
                <a:cs typeface="Arial"/>
              </a:rPr>
              <a:t>经济法学</a:t>
            </a:r>
          </a:p>
        </p:txBody>
      </p:sp>
      <p:sp>
        <p:nvSpPr>
          <p:cNvPr id="65" name="Rectangle 65"/>
          <p:cNvSpPr/>
          <p:nvPr/>
        </p:nvSpPr>
        <p:spPr>
          <a:xfrm>
            <a:off x="7543800" y="5200650"/>
            <a:ext cx="654844" cy="171450"/>
          </a:xfrm>
          <a:prstGeom prst="roundRect">
            <a:avLst>
              <a:gd name="adj" fmla="val 16667"/>
            </a:avLst>
          </a:prstGeom>
          <a:solidFill>
            <a:srgbClr val="2E7D32"/>
          </a:solidFill>
          <a:ln>
            <a:noFill/>
          </a:ln>
        </p:spPr>
      </p:sp>
      <p:sp>
        <p:nvSpPr>
          <p:cNvPr id="66" name="Rectangle 66"/>
          <p:cNvSpPr/>
          <p:nvPr/>
        </p:nvSpPr>
        <p:spPr>
          <a:xfrm>
            <a:off x="5905500" y="5619750"/>
            <a:ext cx="5219700" cy="495300"/>
          </a:xfrm>
          <a:prstGeom prst="roundRect">
            <a:avLst>
              <a:gd name="adj" fmla="val 15385"/>
            </a:avLst>
          </a:prstGeom>
          <a:solidFill>
            <a:srgbClr val="F0F7FF"/>
          </a:solidFill>
          <a:ln w="9525">
            <a:solidFill>
              <a:srgbClr val="1F4D78"/>
            </a:solidFill>
          </a:ln>
        </p:spPr>
      </p:sp>
      <p:sp>
        <p:nvSpPr>
          <p:cNvPr id="67" name="TextBox 67"/>
          <p:cNvSpPr txBox="1"/>
          <p:nvPr/>
        </p:nvSpPr>
        <p:spPr>
          <a:xfrm>
            <a:off x="6156008" y="5786914"/>
            <a:ext cx="746474" cy="259080"/>
          </a:xfrm>
          <a:prstGeom prst="rect">
            <a:avLst/>
          </a:prstGeom>
          <a:noFill/>
          <a:ln>
            <a:noFill/>
          </a:ln>
        </p:spPr>
        <p:txBody>
          <a:bodyPr wrap="none" lIns="0" tIns="0" rIns="0" bIns="0" anchor="t" anchorCtr="0">
            <a:spAutoFit/>
          </a:bodyPr>
          <a:lstStyle/>
          <a:p>
            <a:pPr algn="l"/>
            <a:r>
              <a:rPr lang="zh-CN" sz="1275" b="1" dirty="0">
                <a:solidFill>
                  <a:srgbClr val="1F4D78"/>
                </a:solidFill>
                <a:latin typeface="Arial"/>
                <a:ea typeface="Microsoft YaHei"/>
                <a:cs typeface="Arial"/>
              </a:rPr>
              <a:t>刊物分布</a:t>
            </a:r>
          </a:p>
        </p:txBody>
      </p:sp>
      <p:sp>
        <p:nvSpPr>
          <p:cNvPr id="68" name="TextBox 68"/>
          <p:cNvSpPr txBox="1"/>
          <p:nvPr/>
        </p:nvSpPr>
        <p:spPr>
          <a:xfrm>
            <a:off x="7035165" y="5811202"/>
            <a:ext cx="2820019"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法学研究 69 · 中国法学 27 · 中国社会科学 5</a:t>
            </a:r>
          </a:p>
        </p:txBody>
      </p:sp>
      <p:sp>
        <p:nvSpPr>
          <p:cNvPr id="69" name="Rectangle 69"/>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70" name="TextBox 70"/>
          <p:cNvSpPr txBox="1"/>
          <p:nvPr/>
        </p:nvSpPr>
        <p:spPr>
          <a:xfrm>
            <a:off x="668017" y="6516343"/>
            <a:ext cx="1716076"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候选池与稳定性复测</a:t>
            </a:r>
          </a:p>
        </p:txBody>
      </p:sp>
      <p:sp>
        <p:nvSpPr>
          <p:cNvPr id="71" name="TextBox 71"/>
          <p:cNvSpPr txBox="1"/>
          <p:nvPr/>
        </p:nvSpPr>
        <p:spPr>
          <a:xfrm>
            <a:off x="11226927" y="6537960"/>
            <a:ext cx="294513" cy="243840"/>
          </a:xfrm>
          <a:prstGeom prst="rect">
            <a:avLst/>
          </a:prstGeom>
          <a:noFill/>
          <a:ln>
            <a:noFill/>
          </a:ln>
        </p:spPr>
        <p:txBody>
          <a:bodyPr wrap="none" lIns="0" tIns="0" rIns="0" bIns="0" anchor="t" anchorCtr="0">
            <a:spAutoFit/>
          </a:bodyPr>
          <a:lstStyle/>
          <a:p>
            <a:pPr algn="r"/>
            <a:r>
              <a:rPr lang="zh-CN" sz="1200" dirty="0">
                <a:solidFill>
                  <a:srgbClr val="9AA3AE"/>
                </a:solidFill>
                <a:latin typeface="Arial"/>
                <a:ea typeface="Microsoft YaHei"/>
                <a:cs typeface="Arial"/>
              </a:rPr>
              <a:t>P23</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7323373"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Top 50 最终排名（五轴优先 + 领域配额）</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412741" y="953743"/>
            <a:ext cx="5366518"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按 1920 篇全库学科比例分配名额；学科内按六维创新加权分排序</a:t>
            </a:r>
          </a:p>
        </p:txBody>
      </p:sp>
      <p:sp>
        <p:nvSpPr>
          <p:cNvPr id="9" name="Rectangle 9"/>
          <p:cNvSpPr/>
          <p:nvPr/>
        </p:nvSpPr>
        <p:spPr>
          <a:xfrm>
            <a:off x="685800" y="1276350"/>
            <a:ext cx="10820400" cy="514350"/>
          </a:xfrm>
          <a:prstGeom prst="roundRect">
            <a:avLst>
              <a:gd name="adj" fmla="val 14815"/>
            </a:avLst>
          </a:prstGeom>
          <a:solidFill>
            <a:srgbClr val="F0F7FF"/>
          </a:solidFill>
          <a:ln w="9525">
            <a:solidFill>
              <a:srgbClr val="D9DEE5"/>
            </a:solidFill>
          </a:ln>
        </p:spPr>
      </p:sp>
      <p:sp>
        <p:nvSpPr>
          <p:cNvPr id="10" name="TextBox 10"/>
          <p:cNvSpPr txBox="1"/>
          <p:nvPr/>
        </p:nvSpPr>
        <p:spPr>
          <a:xfrm>
            <a:off x="972817" y="1449043"/>
            <a:ext cx="6485924" cy="284531"/>
          </a:xfrm>
          <a:prstGeom prst="rect">
            <a:avLst/>
          </a:prstGeom>
          <a:noFill/>
          <a:ln>
            <a:noFill/>
          </a:ln>
        </p:spPr>
        <p:txBody>
          <a:bodyPr wrap="none" lIns="0" tIns="0" rIns="0" bIns="0" anchor="t" anchorCtr="0">
            <a:spAutoFit/>
          </a:bodyPr>
          <a:lstStyle/>
          <a:p>
            <a:pPr algn="l"/>
            <a:r>
              <a:rPr lang="zh-CN" sz="1400" b="1" dirty="0">
                <a:solidFill>
                  <a:srgbClr val="1F4D78"/>
                </a:solidFill>
                <a:latin typeface="Arial"/>
                <a:ea typeface="Microsoft YaHei"/>
                <a:cs typeface="Arial"/>
              </a:rPr>
              <a:t>唯一数据源：results/top101/top50-position-first-proportional.json</a:t>
            </a:r>
          </a:p>
        </p:txBody>
      </p:sp>
      <p:sp>
        <p:nvSpPr>
          <p:cNvPr id="11" name="TextBox 11"/>
          <p:cNvSpPr txBox="1"/>
          <p:nvPr/>
        </p:nvSpPr>
        <p:spPr>
          <a:xfrm>
            <a:off x="7221217" y="1449043"/>
            <a:ext cx="527315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分数范围 89.225–82.600；49 篇五轴 10 分，1 篇五轴 9 分补足</a:t>
            </a:r>
          </a:p>
        </p:txBody>
      </p:sp>
      <p:sp>
        <p:nvSpPr>
          <p:cNvPr id="12" name="Rectangle 12"/>
          <p:cNvSpPr/>
          <p:nvPr/>
        </p:nvSpPr>
        <p:spPr>
          <a:xfrm>
            <a:off x="685800" y="2019300"/>
            <a:ext cx="10820400" cy="323850"/>
          </a:xfrm>
          <a:prstGeom prst="rect">
            <a:avLst/>
          </a:prstGeom>
          <a:solidFill>
            <a:srgbClr val="C8161E"/>
          </a:solidFill>
          <a:ln>
            <a:noFill/>
          </a:ln>
        </p:spPr>
      </p:sp>
      <p:sp>
        <p:nvSpPr>
          <p:cNvPr id="13" name="TextBox 13"/>
          <p:cNvSpPr txBox="1"/>
          <p:nvPr/>
        </p:nvSpPr>
        <p:spPr>
          <a:xfrm>
            <a:off x="765385" y="21250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a:t>
            </a:r>
          </a:p>
        </p:txBody>
      </p:sp>
      <p:sp>
        <p:nvSpPr>
          <p:cNvPr id="14" name="TextBox 14"/>
          <p:cNvSpPr txBox="1"/>
          <p:nvPr/>
        </p:nvSpPr>
        <p:spPr>
          <a:xfrm>
            <a:off x="1282065" y="2125028"/>
            <a:ext cx="32070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领域</a:t>
            </a:r>
          </a:p>
        </p:txBody>
      </p:sp>
      <p:sp>
        <p:nvSpPr>
          <p:cNvPr id="15" name="TextBox 15"/>
          <p:cNvSpPr txBox="1"/>
          <p:nvPr/>
        </p:nvSpPr>
        <p:spPr>
          <a:xfrm>
            <a:off x="2320290" y="2125028"/>
            <a:ext cx="32070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论文</a:t>
            </a:r>
          </a:p>
        </p:txBody>
      </p:sp>
      <p:sp>
        <p:nvSpPr>
          <p:cNvPr id="16" name="TextBox 16"/>
          <p:cNvSpPr txBox="1"/>
          <p:nvPr/>
        </p:nvSpPr>
        <p:spPr>
          <a:xfrm>
            <a:off x="6558915" y="2125028"/>
            <a:ext cx="32070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期刊</a:t>
            </a:r>
          </a:p>
        </p:txBody>
      </p:sp>
      <p:sp>
        <p:nvSpPr>
          <p:cNvPr id="17" name="TextBox 17"/>
          <p:cNvSpPr txBox="1"/>
          <p:nvPr/>
        </p:nvSpPr>
        <p:spPr>
          <a:xfrm>
            <a:off x="7507272" y="2125028"/>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年份</a:t>
            </a:r>
          </a:p>
        </p:txBody>
      </p:sp>
      <p:sp>
        <p:nvSpPr>
          <p:cNvPr id="18" name="TextBox 18"/>
          <p:cNvSpPr txBox="1"/>
          <p:nvPr/>
        </p:nvSpPr>
        <p:spPr>
          <a:xfrm>
            <a:off x="8243387" y="2125028"/>
            <a:ext cx="46772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六维分</a:t>
            </a:r>
          </a:p>
        </p:txBody>
      </p:sp>
      <p:sp>
        <p:nvSpPr>
          <p:cNvPr id="19" name="TextBox 19"/>
          <p:cNvSpPr txBox="1"/>
          <p:nvPr/>
        </p:nvSpPr>
        <p:spPr>
          <a:xfrm>
            <a:off x="9174147" y="2125028"/>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五轴</a:t>
            </a:r>
          </a:p>
        </p:txBody>
      </p:sp>
      <p:sp>
        <p:nvSpPr>
          <p:cNvPr id="20" name="TextBox 20"/>
          <p:cNvSpPr txBox="1"/>
          <p:nvPr/>
        </p:nvSpPr>
        <p:spPr>
          <a:xfrm>
            <a:off x="9961875" y="2125028"/>
            <a:ext cx="26925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std</a:t>
            </a:r>
          </a:p>
        </p:txBody>
      </p:sp>
      <p:sp>
        <p:nvSpPr>
          <p:cNvPr id="21" name="Rectangle 21"/>
          <p:cNvSpPr/>
          <p:nvPr/>
        </p:nvSpPr>
        <p:spPr>
          <a:xfrm>
            <a:off x="685800" y="2428875"/>
            <a:ext cx="10820400" cy="323850"/>
          </a:xfrm>
          <a:prstGeom prst="rect">
            <a:avLst/>
          </a:prstGeom>
          <a:solidFill>
            <a:srgbClr val="FFFFFF"/>
          </a:solidFill>
          <a:ln>
            <a:noFill/>
          </a:ln>
        </p:spPr>
      </p:sp>
      <p:sp>
        <p:nvSpPr>
          <p:cNvPr id="22" name="Line 22"/>
          <p:cNvSpPr/>
          <p:nvPr/>
        </p:nvSpPr>
        <p:spPr>
          <a:xfrm>
            <a:off x="685800" y="2752725"/>
            <a:ext cx="10820400" cy="9525"/>
          </a:xfrm>
          <a:custGeom>
            <a:avLst/>
            <a:gdLst/>
            <a:ahLst/>
            <a:cxnLst/>
            <a:rect l="l" t="t" r="r" b="b"/>
            <a:pathLst>
              <a:path w="10820400" h="9525">
                <a:moveTo>
                  <a:pt x="0" y="0"/>
                </a:moveTo>
                <a:lnTo>
                  <a:pt x="10820400" y="0"/>
                </a:lnTo>
              </a:path>
            </a:pathLst>
          </a:custGeom>
          <a:noFill/>
          <a:ln w="7620">
            <a:solidFill>
              <a:srgbClr val="D9DEE5"/>
            </a:solidFill>
          </a:ln>
        </p:spPr>
      </p:sp>
      <p:sp>
        <p:nvSpPr>
          <p:cNvPr id="23" name="TextBox 23"/>
          <p:cNvSpPr txBox="1"/>
          <p:nvPr/>
        </p:nvSpPr>
        <p:spPr>
          <a:xfrm>
            <a:off x="783762" y="2553652"/>
            <a:ext cx="70776"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1</a:t>
            </a:r>
          </a:p>
        </p:txBody>
      </p:sp>
      <p:sp>
        <p:nvSpPr>
          <p:cNvPr id="24" name="TextBox 24"/>
          <p:cNvSpPr txBox="1"/>
          <p:nvPr/>
        </p:nvSpPr>
        <p:spPr>
          <a:xfrm>
            <a:off x="1282065" y="2553652"/>
            <a:ext cx="586740" cy="213360"/>
          </a:xfrm>
          <a:prstGeom prst="rect">
            <a:avLst/>
          </a:prstGeom>
          <a:noFill/>
          <a:ln>
            <a:noFill/>
          </a:ln>
        </p:spPr>
        <p:txBody>
          <a:bodyPr wrap="none" lIns="0" tIns="0" rIns="0" bIns="0" anchor="t" anchorCtr="0">
            <a:spAutoFit/>
          </a:bodyPr>
          <a:lstStyle/>
          <a:p>
            <a:pPr algn="l"/>
            <a:r>
              <a:rPr lang="zh-CN" sz="1050" dirty="0">
                <a:solidFill>
                  <a:srgbClr val="1F4D78"/>
                </a:solidFill>
                <a:latin typeface="Arial"/>
                <a:ea typeface="Microsoft YaHei"/>
                <a:cs typeface="Arial"/>
              </a:rPr>
              <a:t>民商法学</a:t>
            </a:r>
          </a:p>
        </p:txBody>
      </p:sp>
      <p:sp>
        <p:nvSpPr>
          <p:cNvPr id="25" name="TextBox 25"/>
          <p:cNvSpPr txBox="1"/>
          <p:nvPr/>
        </p:nvSpPr>
        <p:spPr>
          <a:xfrm>
            <a:off x="2321242" y="2561749"/>
            <a:ext cx="2768108"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数字私力救济——基于远程控制网联物的权利实现</a:t>
            </a:r>
          </a:p>
        </p:txBody>
      </p:sp>
      <p:sp>
        <p:nvSpPr>
          <p:cNvPr id="26" name="TextBox 26"/>
          <p:cNvSpPr txBox="1"/>
          <p:nvPr/>
        </p:nvSpPr>
        <p:spPr>
          <a:xfrm>
            <a:off x="6558915" y="2553652"/>
            <a:ext cx="586740"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法学研究</a:t>
            </a:r>
          </a:p>
        </p:txBody>
      </p:sp>
      <p:sp>
        <p:nvSpPr>
          <p:cNvPr id="27" name="TextBox 27"/>
          <p:cNvSpPr txBox="1"/>
          <p:nvPr/>
        </p:nvSpPr>
        <p:spPr>
          <a:xfrm>
            <a:off x="7500271" y="255365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2023</a:t>
            </a:r>
          </a:p>
        </p:txBody>
      </p:sp>
      <p:sp>
        <p:nvSpPr>
          <p:cNvPr id="28" name="TextBox 28"/>
          <p:cNvSpPr txBox="1"/>
          <p:nvPr/>
        </p:nvSpPr>
        <p:spPr>
          <a:xfrm>
            <a:off x="8261765" y="2553652"/>
            <a:ext cx="430971"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89.22</a:t>
            </a:r>
          </a:p>
        </p:txBody>
      </p:sp>
      <p:sp>
        <p:nvSpPr>
          <p:cNvPr id="29" name="TextBox 29"/>
          <p:cNvSpPr txBox="1"/>
          <p:nvPr/>
        </p:nvSpPr>
        <p:spPr>
          <a:xfrm>
            <a:off x="9258682" y="2553652"/>
            <a:ext cx="151636" cy="213360"/>
          </a:xfrm>
          <a:prstGeom prst="rect">
            <a:avLst/>
          </a:prstGeom>
          <a:noFill/>
          <a:ln>
            <a:noFill/>
          </a:ln>
        </p:spPr>
        <p:txBody>
          <a:bodyPr wrap="none" lIns="0" tIns="0" rIns="0" bIns="0" anchor="t" anchorCtr="0">
            <a:spAutoFit/>
          </a:bodyPr>
          <a:lstStyle/>
          <a:p>
            <a:pPr algn="ctr"/>
            <a:r>
              <a:rPr lang="zh-CN" sz="1050" b="1" dirty="0">
                <a:solidFill>
                  <a:srgbClr val="C8161E"/>
                </a:solidFill>
                <a:latin typeface="Arial"/>
                <a:ea typeface="Microsoft YaHei"/>
                <a:cs typeface="Arial"/>
              </a:rPr>
              <a:t>10</a:t>
            </a:r>
          </a:p>
        </p:txBody>
      </p:sp>
      <p:sp>
        <p:nvSpPr>
          <p:cNvPr id="30" name="TextBox 30"/>
          <p:cNvSpPr txBox="1"/>
          <p:nvPr/>
        </p:nvSpPr>
        <p:spPr>
          <a:xfrm>
            <a:off x="9929146" y="255365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6.54</a:t>
            </a:r>
          </a:p>
        </p:txBody>
      </p:sp>
      <p:sp>
        <p:nvSpPr>
          <p:cNvPr id="31" name="Rectangle 31"/>
          <p:cNvSpPr/>
          <p:nvPr/>
        </p:nvSpPr>
        <p:spPr>
          <a:xfrm>
            <a:off x="685800" y="2752725"/>
            <a:ext cx="10820400" cy="323850"/>
          </a:xfrm>
          <a:prstGeom prst="rect">
            <a:avLst/>
          </a:prstGeom>
          <a:solidFill>
            <a:srgbClr val="F8FAFC"/>
          </a:solidFill>
          <a:ln>
            <a:noFill/>
          </a:ln>
        </p:spPr>
      </p:sp>
      <p:sp>
        <p:nvSpPr>
          <p:cNvPr id="32" name="Line 32"/>
          <p:cNvSpPr/>
          <p:nvPr/>
        </p:nvSpPr>
        <p:spPr>
          <a:xfrm>
            <a:off x="685800" y="3076575"/>
            <a:ext cx="10820400" cy="9525"/>
          </a:xfrm>
          <a:custGeom>
            <a:avLst/>
            <a:gdLst/>
            <a:ahLst/>
            <a:cxnLst/>
            <a:rect l="l" t="t" r="r" b="b"/>
            <a:pathLst>
              <a:path w="10820400" h="9525">
                <a:moveTo>
                  <a:pt x="0" y="0"/>
                </a:moveTo>
                <a:lnTo>
                  <a:pt x="10820400" y="0"/>
                </a:lnTo>
              </a:path>
            </a:pathLst>
          </a:custGeom>
          <a:noFill/>
          <a:ln w="7620">
            <a:solidFill>
              <a:srgbClr val="D9DEE5"/>
            </a:solidFill>
          </a:ln>
        </p:spPr>
      </p:sp>
      <p:sp>
        <p:nvSpPr>
          <p:cNvPr id="33" name="TextBox 33"/>
          <p:cNvSpPr txBox="1"/>
          <p:nvPr/>
        </p:nvSpPr>
        <p:spPr>
          <a:xfrm>
            <a:off x="765385" y="2877502"/>
            <a:ext cx="107530"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2</a:t>
            </a:r>
          </a:p>
        </p:txBody>
      </p:sp>
      <p:sp>
        <p:nvSpPr>
          <p:cNvPr id="34" name="TextBox 34"/>
          <p:cNvSpPr txBox="1"/>
          <p:nvPr/>
        </p:nvSpPr>
        <p:spPr>
          <a:xfrm>
            <a:off x="1282065" y="2877502"/>
            <a:ext cx="586740" cy="213360"/>
          </a:xfrm>
          <a:prstGeom prst="rect">
            <a:avLst/>
          </a:prstGeom>
          <a:noFill/>
          <a:ln>
            <a:noFill/>
          </a:ln>
        </p:spPr>
        <p:txBody>
          <a:bodyPr wrap="none" lIns="0" tIns="0" rIns="0" bIns="0" anchor="t" anchorCtr="0">
            <a:spAutoFit/>
          </a:bodyPr>
          <a:lstStyle/>
          <a:p>
            <a:pPr algn="l"/>
            <a:r>
              <a:rPr lang="zh-CN" sz="1050" dirty="0">
                <a:solidFill>
                  <a:srgbClr val="1F4D78"/>
                </a:solidFill>
                <a:latin typeface="Arial"/>
                <a:ea typeface="Microsoft YaHei"/>
                <a:cs typeface="Arial"/>
              </a:rPr>
              <a:t>民商法学</a:t>
            </a:r>
          </a:p>
        </p:txBody>
      </p:sp>
      <p:sp>
        <p:nvSpPr>
          <p:cNvPr id="35" name="TextBox 35"/>
          <p:cNvSpPr txBox="1"/>
          <p:nvPr/>
        </p:nvSpPr>
        <p:spPr>
          <a:xfrm>
            <a:off x="2321242" y="2885599"/>
            <a:ext cx="2365058"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公司决议瑕疵立法的范式转换与体系重构</a:t>
            </a:r>
          </a:p>
        </p:txBody>
      </p:sp>
      <p:sp>
        <p:nvSpPr>
          <p:cNvPr id="36" name="TextBox 36"/>
          <p:cNvSpPr txBox="1"/>
          <p:nvPr/>
        </p:nvSpPr>
        <p:spPr>
          <a:xfrm>
            <a:off x="6558915" y="2877502"/>
            <a:ext cx="586740"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法学研究</a:t>
            </a:r>
          </a:p>
        </p:txBody>
      </p:sp>
      <p:sp>
        <p:nvSpPr>
          <p:cNvPr id="37" name="TextBox 37"/>
          <p:cNvSpPr txBox="1"/>
          <p:nvPr/>
        </p:nvSpPr>
        <p:spPr>
          <a:xfrm>
            <a:off x="7500271" y="287750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2020</a:t>
            </a:r>
          </a:p>
        </p:txBody>
      </p:sp>
      <p:sp>
        <p:nvSpPr>
          <p:cNvPr id="38" name="TextBox 38"/>
          <p:cNvSpPr txBox="1"/>
          <p:nvPr/>
        </p:nvSpPr>
        <p:spPr>
          <a:xfrm>
            <a:off x="8261765" y="2877502"/>
            <a:ext cx="430971"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88.62</a:t>
            </a:r>
          </a:p>
        </p:txBody>
      </p:sp>
      <p:sp>
        <p:nvSpPr>
          <p:cNvPr id="39" name="TextBox 39"/>
          <p:cNvSpPr txBox="1"/>
          <p:nvPr/>
        </p:nvSpPr>
        <p:spPr>
          <a:xfrm>
            <a:off x="9258682" y="2877502"/>
            <a:ext cx="151636" cy="213360"/>
          </a:xfrm>
          <a:prstGeom prst="rect">
            <a:avLst/>
          </a:prstGeom>
          <a:noFill/>
          <a:ln>
            <a:noFill/>
          </a:ln>
        </p:spPr>
        <p:txBody>
          <a:bodyPr wrap="none" lIns="0" tIns="0" rIns="0" bIns="0" anchor="t" anchorCtr="0">
            <a:spAutoFit/>
          </a:bodyPr>
          <a:lstStyle/>
          <a:p>
            <a:pPr algn="ctr"/>
            <a:r>
              <a:rPr lang="zh-CN" sz="1050" b="1" dirty="0">
                <a:solidFill>
                  <a:srgbClr val="C8161E"/>
                </a:solidFill>
                <a:latin typeface="Arial"/>
                <a:ea typeface="Microsoft YaHei"/>
                <a:cs typeface="Arial"/>
              </a:rPr>
              <a:t>10</a:t>
            </a:r>
          </a:p>
        </p:txBody>
      </p:sp>
      <p:sp>
        <p:nvSpPr>
          <p:cNvPr id="40" name="TextBox 40"/>
          <p:cNvSpPr txBox="1"/>
          <p:nvPr/>
        </p:nvSpPr>
        <p:spPr>
          <a:xfrm>
            <a:off x="9929146" y="287750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2.78</a:t>
            </a:r>
          </a:p>
        </p:txBody>
      </p:sp>
      <p:sp>
        <p:nvSpPr>
          <p:cNvPr id="41" name="Rectangle 41"/>
          <p:cNvSpPr/>
          <p:nvPr/>
        </p:nvSpPr>
        <p:spPr>
          <a:xfrm>
            <a:off x="685800" y="3076575"/>
            <a:ext cx="10820400" cy="323850"/>
          </a:xfrm>
          <a:prstGeom prst="rect">
            <a:avLst/>
          </a:prstGeom>
          <a:solidFill>
            <a:srgbClr val="FFFFFF"/>
          </a:solidFill>
          <a:ln>
            <a:noFill/>
          </a:ln>
        </p:spPr>
      </p:sp>
      <p:sp>
        <p:nvSpPr>
          <p:cNvPr id="42" name="Line 42"/>
          <p:cNvSpPr/>
          <p:nvPr/>
        </p:nvSpPr>
        <p:spPr>
          <a:xfrm>
            <a:off x="685800" y="3400425"/>
            <a:ext cx="10820400" cy="9525"/>
          </a:xfrm>
          <a:custGeom>
            <a:avLst/>
            <a:gdLst/>
            <a:ahLst/>
            <a:cxnLst/>
            <a:rect l="l" t="t" r="r" b="b"/>
            <a:pathLst>
              <a:path w="10820400" h="9525">
                <a:moveTo>
                  <a:pt x="0" y="0"/>
                </a:moveTo>
                <a:lnTo>
                  <a:pt x="10820400" y="0"/>
                </a:lnTo>
              </a:path>
            </a:pathLst>
          </a:custGeom>
          <a:noFill/>
          <a:ln w="7620">
            <a:solidFill>
              <a:srgbClr val="D9DEE5"/>
            </a:solidFill>
          </a:ln>
        </p:spPr>
      </p:sp>
      <p:sp>
        <p:nvSpPr>
          <p:cNvPr id="43" name="TextBox 43"/>
          <p:cNvSpPr txBox="1"/>
          <p:nvPr/>
        </p:nvSpPr>
        <p:spPr>
          <a:xfrm>
            <a:off x="765385" y="3201352"/>
            <a:ext cx="107530"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3</a:t>
            </a:r>
          </a:p>
        </p:txBody>
      </p:sp>
      <p:sp>
        <p:nvSpPr>
          <p:cNvPr id="44" name="TextBox 44"/>
          <p:cNvSpPr txBox="1"/>
          <p:nvPr/>
        </p:nvSpPr>
        <p:spPr>
          <a:xfrm>
            <a:off x="1282065" y="3201352"/>
            <a:ext cx="586740" cy="213360"/>
          </a:xfrm>
          <a:prstGeom prst="rect">
            <a:avLst/>
          </a:prstGeom>
          <a:noFill/>
          <a:ln>
            <a:noFill/>
          </a:ln>
        </p:spPr>
        <p:txBody>
          <a:bodyPr wrap="none" lIns="0" tIns="0" rIns="0" bIns="0" anchor="t" anchorCtr="0">
            <a:spAutoFit/>
          </a:bodyPr>
          <a:lstStyle/>
          <a:p>
            <a:pPr algn="l"/>
            <a:r>
              <a:rPr lang="zh-CN" sz="1050" dirty="0">
                <a:solidFill>
                  <a:srgbClr val="1F4D78"/>
                </a:solidFill>
                <a:latin typeface="Arial"/>
                <a:ea typeface="Microsoft YaHei"/>
                <a:cs typeface="Arial"/>
              </a:rPr>
              <a:t>民商法学</a:t>
            </a:r>
          </a:p>
        </p:txBody>
      </p:sp>
      <p:sp>
        <p:nvSpPr>
          <p:cNvPr id="45" name="TextBox 45"/>
          <p:cNvSpPr txBox="1"/>
          <p:nvPr/>
        </p:nvSpPr>
        <p:spPr>
          <a:xfrm>
            <a:off x="2321242" y="3209449"/>
            <a:ext cx="3418189"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股权转让中的出资义务承担——以组织法与行为法融贯为视角</a:t>
            </a:r>
          </a:p>
        </p:txBody>
      </p:sp>
      <p:sp>
        <p:nvSpPr>
          <p:cNvPr id="46" name="TextBox 46"/>
          <p:cNvSpPr txBox="1"/>
          <p:nvPr/>
        </p:nvSpPr>
        <p:spPr>
          <a:xfrm>
            <a:off x="6558915" y="3201352"/>
            <a:ext cx="586740"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法学研究</a:t>
            </a:r>
          </a:p>
        </p:txBody>
      </p:sp>
      <p:sp>
        <p:nvSpPr>
          <p:cNvPr id="47" name="TextBox 47"/>
          <p:cNvSpPr txBox="1"/>
          <p:nvPr/>
        </p:nvSpPr>
        <p:spPr>
          <a:xfrm>
            <a:off x="7500271" y="320135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2025</a:t>
            </a:r>
          </a:p>
        </p:txBody>
      </p:sp>
      <p:sp>
        <p:nvSpPr>
          <p:cNvPr id="48" name="TextBox 48"/>
          <p:cNvSpPr txBox="1"/>
          <p:nvPr/>
        </p:nvSpPr>
        <p:spPr>
          <a:xfrm>
            <a:off x="8261765" y="3201352"/>
            <a:ext cx="430971"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88.62</a:t>
            </a:r>
          </a:p>
        </p:txBody>
      </p:sp>
      <p:sp>
        <p:nvSpPr>
          <p:cNvPr id="49" name="TextBox 49"/>
          <p:cNvSpPr txBox="1"/>
          <p:nvPr/>
        </p:nvSpPr>
        <p:spPr>
          <a:xfrm>
            <a:off x="9258682" y="3201352"/>
            <a:ext cx="151636" cy="213360"/>
          </a:xfrm>
          <a:prstGeom prst="rect">
            <a:avLst/>
          </a:prstGeom>
          <a:noFill/>
          <a:ln>
            <a:noFill/>
          </a:ln>
        </p:spPr>
        <p:txBody>
          <a:bodyPr wrap="none" lIns="0" tIns="0" rIns="0" bIns="0" anchor="t" anchorCtr="0">
            <a:spAutoFit/>
          </a:bodyPr>
          <a:lstStyle/>
          <a:p>
            <a:pPr algn="ctr"/>
            <a:r>
              <a:rPr lang="zh-CN" sz="1050" b="1" dirty="0">
                <a:solidFill>
                  <a:srgbClr val="C8161E"/>
                </a:solidFill>
                <a:latin typeface="Arial"/>
                <a:ea typeface="Microsoft YaHei"/>
                <a:cs typeface="Arial"/>
              </a:rPr>
              <a:t>10</a:t>
            </a:r>
          </a:p>
        </p:txBody>
      </p:sp>
      <p:sp>
        <p:nvSpPr>
          <p:cNvPr id="50" name="TextBox 50"/>
          <p:cNvSpPr txBox="1"/>
          <p:nvPr/>
        </p:nvSpPr>
        <p:spPr>
          <a:xfrm>
            <a:off x="9929146" y="320135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4.85</a:t>
            </a:r>
          </a:p>
        </p:txBody>
      </p:sp>
      <p:sp>
        <p:nvSpPr>
          <p:cNvPr id="51" name="Rectangle 51"/>
          <p:cNvSpPr/>
          <p:nvPr/>
        </p:nvSpPr>
        <p:spPr>
          <a:xfrm>
            <a:off x="685800" y="3400425"/>
            <a:ext cx="10820400" cy="323850"/>
          </a:xfrm>
          <a:prstGeom prst="rect">
            <a:avLst/>
          </a:prstGeom>
          <a:solidFill>
            <a:srgbClr val="F8FAFC"/>
          </a:solidFill>
          <a:ln>
            <a:noFill/>
          </a:ln>
        </p:spPr>
      </p:sp>
      <p:sp>
        <p:nvSpPr>
          <p:cNvPr id="52" name="Line 52"/>
          <p:cNvSpPr/>
          <p:nvPr/>
        </p:nvSpPr>
        <p:spPr>
          <a:xfrm>
            <a:off x="685800" y="3724275"/>
            <a:ext cx="10820400" cy="9525"/>
          </a:xfrm>
          <a:custGeom>
            <a:avLst/>
            <a:gdLst/>
            <a:ahLst/>
            <a:cxnLst/>
            <a:rect l="l" t="t" r="r" b="b"/>
            <a:pathLst>
              <a:path w="10820400" h="9525">
                <a:moveTo>
                  <a:pt x="0" y="0"/>
                </a:moveTo>
                <a:lnTo>
                  <a:pt x="10820400" y="0"/>
                </a:lnTo>
              </a:path>
            </a:pathLst>
          </a:custGeom>
          <a:noFill/>
          <a:ln w="7620">
            <a:solidFill>
              <a:srgbClr val="D9DEE5"/>
            </a:solidFill>
          </a:ln>
        </p:spPr>
      </p:sp>
      <p:sp>
        <p:nvSpPr>
          <p:cNvPr id="53" name="TextBox 53"/>
          <p:cNvSpPr txBox="1"/>
          <p:nvPr/>
        </p:nvSpPr>
        <p:spPr>
          <a:xfrm>
            <a:off x="765385" y="3525202"/>
            <a:ext cx="107530"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4</a:t>
            </a:r>
          </a:p>
        </p:txBody>
      </p:sp>
      <p:sp>
        <p:nvSpPr>
          <p:cNvPr id="54" name="TextBox 54"/>
          <p:cNvSpPr txBox="1"/>
          <p:nvPr/>
        </p:nvSpPr>
        <p:spPr>
          <a:xfrm>
            <a:off x="1282065" y="3525202"/>
            <a:ext cx="586740" cy="213360"/>
          </a:xfrm>
          <a:prstGeom prst="rect">
            <a:avLst/>
          </a:prstGeom>
          <a:noFill/>
          <a:ln>
            <a:noFill/>
          </a:ln>
        </p:spPr>
        <p:txBody>
          <a:bodyPr wrap="none" lIns="0" tIns="0" rIns="0" bIns="0" anchor="t" anchorCtr="0">
            <a:spAutoFit/>
          </a:bodyPr>
          <a:lstStyle/>
          <a:p>
            <a:pPr algn="l"/>
            <a:r>
              <a:rPr lang="zh-CN" sz="1050" dirty="0">
                <a:solidFill>
                  <a:srgbClr val="1F4D78"/>
                </a:solidFill>
                <a:latin typeface="Arial"/>
                <a:ea typeface="Microsoft YaHei"/>
                <a:cs typeface="Arial"/>
              </a:rPr>
              <a:t>民商法学</a:t>
            </a:r>
          </a:p>
        </p:txBody>
      </p:sp>
      <p:sp>
        <p:nvSpPr>
          <p:cNvPr id="55" name="TextBox 55"/>
          <p:cNvSpPr txBox="1"/>
          <p:nvPr/>
        </p:nvSpPr>
        <p:spPr>
          <a:xfrm>
            <a:off x="2321242" y="3533299"/>
            <a:ext cx="1584960"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债权人代位权的类型化构造</a:t>
            </a:r>
          </a:p>
        </p:txBody>
      </p:sp>
      <p:sp>
        <p:nvSpPr>
          <p:cNvPr id="56" name="TextBox 56"/>
          <p:cNvSpPr txBox="1"/>
          <p:nvPr/>
        </p:nvSpPr>
        <p:spPr>
          <a:xfrm>
            <a:off x="6558915" y="3525202"/>
            <a:ext cx="586740"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法学研究</a:t>
            </a:r>
          </a:p>
        </p:txBody>
      </p:sp>
      <p:sp>
        <p:nvSpPr>
          <p:cNvPr id="57" name="TextBox 57"/>
          <p:cNvSpPr txBox="1"/>
          <p:nvPr/>
        </p:nvSpPr>
        <p:spPr>
          <a:xfrm>
            <a:off x="7500271" y="352520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2024</a:t>
            </a:r>
          </a:p>
        </p:txBody>
      </p:sp>
      <p:sp>
        <p:nvSpPr>
          <p:cNvPr id="58" name="TextBox 58"/>
          <p:cNvSpPr txBox="1"/>
          <p:nvPr/>
        </p:nvSpPr>
        <p:spPr>
          <a:xfrm>
            <a:off x="8261765" y="3525202"/>
            <a:ext cx="430971"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88.45</a:t>
            </a:r>
          </a:p>
        </p:txBody>
      </p:sp>
      <p:sp>
        <p:nvSpPr>
          <p:cNvPr id="59" name="TextBox 59"/>
          <p:cNvSpPr txBox="1"/>
          <p:nvPr/>
        </p:nvSpPr>
        <p:spPr>
          <a:xfrm>
            <a:off x="9258682" y="3525202"/>
            <a:ext cx="151636" cy="213360"/>
          </a:xfrm>
          <a:prstGeom prst="rect">
            <a:avLst/>
          </a:prstGeom>
          <a:noFill/>
          <a:ln>
            <a:noFill/>
          </a:ln>
        </p:spPr>
        <p:txBody>
          <a:bodyPr wrap="none" lIns="0" tIns="0" rIns="0" bIns="0" anchor="t" anchorCtr="0">
            <a:spAutoFit/>
          </a:bodyPr>
          <a:lstStyle/>
          <a:p>
            <a:pPr algn="ctr"/>
            <a:r>
              <a:rPr lang="zh-CN" sz="1050" b="1" dirty="0">
                <a:solidFill>
                  <a:srgbClr val="C8161E"/>
                </a:solidFill>
                <a:latin typeface="Arial"/>
                <a:ea typeface="Microsoft YaHei"/>
                <a:cs typeface="Arial"/>
              </a:rPr>
              <a:t>10</a:t>
            </a:r>
          </a:p>
        </p:txBody>
      </p:sp>
      <p:sp>
        <p:nvSpPr>
          <p:cNvPr id="60" name="TextBox 60"/>
          <p:cNvSpPr txBox="1"/>
          <p:nvPr/>
        </p:nvSpPr>
        <p:spPr>
          <a:xfrm>
            <a:off x="9946648" y="3525202"/>
            <a:ext cx="299704"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3.31</a:t>
            </a:r>
          </a:p>
        </p:txBody>
      </p:sp>
      <p:sp>
        <p:nvSpPr>
          <p:cNvPr id="61" name="Rectangle 61"/>
          <p:cNvSpPr/>
          <p:nvPr/>
        </p:nvSpPr>
        <p:spPr>
          <a:xfrm>
            <a:off x="685800" y="3724275"/>
            <a:ext cx="10820400" cy="323850"/>
          </a:xfrm>
          <a:prstGeom prst="rect">
            <a:avLst/>
          </a:prstGeom>
          <a:solidFill>
            <a:srgbClr val="FFFFFF"/>
          </a:solidFill>
          <a:ln>
            <a:noFill/>
          </a:ln>
        </p:spPr>
      </p:sp>
      <p:sp>
        <p:nvSpPr>
          <p:cNvPr id="62" name="Line 62"/>
          <p:cNvSpPr/>
          <p:nvPr/>
        </p:nvSpPr>
        <p:spPr>
          <a:xfrm>
            <a:off x="685800" y="4048125"/>
            <a:ext cx="10820400" cy="9525"/>
          </a:xfrm>
          <a:custGeom>
            <a:avLst/>
            <a:gdLst/>
            <a:ahLst/>
            <a:cxnLst/>
            <a:rect l="l" t="t" r="r" b="b"/>
            <a:pathLst>
              <a:path w="10820400" h="9525">
                <a:moveTo>
                  <a:pt x="0" y="0"/>
                </a:moveTo>
                <a:lnTo>
                  <a:pt x="10820400" y="0"/>
                </a:lnTo>
              </a:path>
            </a:pathLst>
          </a:custGeom>
          <a:noFill/>
          <a:ln w="7620">
            <a:solidFill>
              <a:srgbClr val="D9DEE5"/>
            </a:solidFill>
          </a:ln>
        </p:spPr>
      </p:sp>
      <p:sp>
        <p:nvSpPr>
          <p:cNvPr id="63" name="TextBox 63"/>
          <p:cNvSpPr txBox="1"/>
          <p:nvPr/>
        </p:nvSpPr>
        <p:spPr>
          <a:xfrm>
            <a:off x="765385" y="3849052"/>
            <a:ext cx="107530"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5</a:t>
            </a:r>
          </a:p>
        </p:txBody>
      </p:sp>
      <p:sp>
        <p:nvSpPr>
          <p:cNvPr id="64" name="TextBox 64"/>
          <p:cNvSpPr txBox="1"/>
          <p:nvPr/>
        </p:nvSpPr>
        <p:spPr>
          <a:xfrm>
            <a:off x="1282065" y="3849052"/>
            <a:ext cx="446722" cy="213360"/>
          </a:xfrm>
          <a:prstGeom prst="rect">
            <a:avLst/>
          </a:prstGeom>
          <a:noFill/>
          <a:ln>
            <a:noFill/>
          </a:ln>
        </p:spPr>
        <p:txBody>
          <a:bodyPr wrap="none" lIns="0" tIns="0" rIns="0" bIns="0" anchor="t" anchorCtr="0">
            <a:spAutoFit/>
          </a:bodyPr>
          <a:lstStyle/>
          <a:p>
            <a:pPr algn="l"/>
            <a:r>
              <a:rPr lang="zh-CN" sz="1050" dirty="0">
                <a:solidFill>
                  <a:srgbClr val="1F4D78"/>
                </a:solidFill>
                <a:latin typeface="Arial"/>
                <a:ea typeface="Microsoft YaHei"/>
                <a:cs typeface="Arial"/>
              </a:rPr>
              <a:t>刑法学</a:t>
            </a:r>
          </a:p>
        </p:txBody>
      </p:sp>
      <p:sp>
        <p:nvSpPr>
          <p:cNvPr id="65" name="TextBox 65"/>
          <p:cNvSpPr txBox="1"/>
          <p:nvPr/>
        </p:nvSpPr>
        <p:spPr>
          <a:xfrm>
            <a:off x="2321242" y="3857149"/>
            <a:ext cx="1584960"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法条竞合与想象竞合的区分</a:t>
            </a:r>
          </a:p>
        </p:txBody>
      </p:sp>
      <p:sp>
        <p:nvSpPr>
          <p:cNvPr id="66" name="TextBox 66"/>
          <p:cNvSpPr txBox="1"/>
          <p:nvPr/>
        </p:nvSpPr>
        <p:spPr>
          <a:xfrm>
            <a:off x="6558915" y="3849052"/>
            <a:ext cx="586740"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法学研究</a:t>
            </a:r>
          </a:p>
        </p:txBody>
      </p:sp>
      <p:sp>
        <p:nvSpPr>
          <p:cNvPr id="67" name="TextBox 67"/>
          <p:cNvSpPr txBox="1"/>
          <p:nvPr/>
        </p:nvSpPr>
        <p:spPr>
          <a:xfrm>
            <a:off x="7517773" y="3849052"/>
            <a:ext cx="299704"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2016</a:t>
            </a:r>
          </a:p>
        </p:txBody>
      </p:sp>
      <p:sp>
        <p:nvSpPr>
          <p:cNvPr id="68" name="TextBox 68"/>
          <p:cNvSpPr txBox="1"/>
          <p:nvPr/>
        </p:nvSpPr>
        <p:spPr>
          <a:xfrm>
            <a:off x="8261765" y="3849052"/>
            <a:ext cx="430971"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88.20</a:t>
            </a:r>
          </a:p>
        </p:txBody>
      </p:sp>
      <p:sp>
        <p:nvSpPr>
          <p:cNvPr id="69" name="TextBox 69"/>
          <p:cNvSpPr txBox="1"/>
          <p:nvPr/>
        </p:nvSpPr>
        <p:spPr>
          <a:xfrm>
            <a:off x="9258682" y="3849052"/>
            <a:ext cx="151636" cy="213360"/>
          </a:xfrm>
          <a:prstGeom prst="rect">
            <a:avLst/>
          </a:prstGeom>
          <a:noFill/>
          <a:ln>
            <a:noFill/>
          </a:ln>
        </p:spPr>
        <p:txBody>
          <a:bodyPr wrap="none" lIns="0" tIns="0" rIns="0" bIns="0" anchor="t" anchorCtr="0">
            <a:spAutoFit/>
          </a:bodyPr>
          <a:lstStyle/>
          <a:p>
            <a:pPr algn="ctr"/>
            <a:r>
              <a:rPr lang="zh-CN" sz="1050" b="1" dirty="0">
                <a:solidFill>
                  <a:srgbClr val="C8161E"/>
                </a:solidFill>
                <a:latin typeface="Arial"/>
                <a:ea typeface="Microsoft YaHei"/>
                <a:cs typeface="Arial"/>
              </a:rPr>
              <a:t>10</a:t>
            </a:r>
          </a:p>
        </p:txBody>
      </p:sp>
      <p:sp>
        <p:nvSpPr>
          <p:cNvPr id="70" name="TextBox 70"/>
          <p:cNvSpPr txBox="1"/>
          <p:nvPr/>
        </p:nvSpPr>
        <p:spPr>
          <a:xfrm>
            <a:off x="9946648" y="3849052"/>
            <a:ext cx="299704"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3.13</a:t>
            </a:r>
          </a:p>
        </p:txBody>
      </p:sp>
      <p:sp>
        <p:nvSpPr>
          <p:cNvPr id="71" name="Rectangle 71"/>
          <p:cNvSpPr/>
          <p:nvPr/>
        </p:nvSpPr>
        <p:spPr>
          <a:xfrm>
            <a:off x="685800" y="4048125"/>
            <a:ext cx="10820400" cy="323850"/>
          </a:xfrm>
          <a:prstGeom prst="rect">
            <a:avLst/>
          </a:prstGeom>
          <a:solidFill>
            <a:srgbClr val="F8FAFC"/>
          </a:solidFill>
          <a:ln>
            <a:noFill/>
          </a:ln>
        </p:spPr>
      </p:sp>
      <p:sp>
        <p:nvSpPr>
          <p:cNvPr id="72" name="Line 72"/>
          <p:cNvSpPr/>
          <p:nvPr/>
        </p:nvSpPr>
        <p:spPr>
          <a:xfrm>
            <a:off x="685800" y="4371975"/>
            <a:ext cx="10820400" cy="9525"/>
          </a:xfrm>
          <a:custGeom>
            <a:avLst/>
            <a:gdLst/>
            <a:ahLst/>
            <a:cxnLst/>
            <a:rect l="l" t="t" r="r" b="b"/>
            <a:pathLst>
              <a:path w="10820400" h="9525">
                <a:moveTo>
                  <a:pt x="0" y="0"/>
                </a:moveTo>
                <a:lnTo>
                  <a:pt x="10820400" y="0"/>
                </a:lnTo>
              </a:path>
            </a:pathLst>
          </a:custGeom>
          <a:noFill/>
          <a:ln w="7620">
            <a:solidFill>
              <a:srgbClr val="D9DEE5"/>
            </a:solidFill>
          </a:ln>
        </p:spPr>
      </p:sp>
      <p:sp>
        <p:nvSpPr>
          <p:cNvPr id="73" name="TextBox 73"/>
          <p:cNvSpPr txBox="1"/>
          <p:nvPr/>
        </p:nvSpPr>
        <p:spPr>
          <a:xfrm>
            <a:off x="765385" y="4172902"/>
            <a:ext cx="107530"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6</a:t>
            </a:r>
          </a:p>
        </p:txBody>
      </p:sp>
      <p:sp>
        <p:nvSpPr>
          <p:cNvPr id="74" name="TextBox 74"/>
          <p:cNvSpPr txBox="1"/>
          <p:nvPr/>
        </p:nvSpPr>
        <p:spPr>
          <a:xfrm>
            <a:off x="1282065" y="4172902"/>
            <a:ext cx="446722" cy="213360"/>
          </a:xfrm>
          <a:prstGeom prst="rect">
            <a:avLst/>
          </a:prstGeom>
          <a:noFill/>
          <a:ln>
            <a:noFill/>
          </a:ln>
        </p:spPr>
        <p:txBody>
          <a:bodyPr wrap="none" lIns="0" tIns="0" rIns="0" bIns="0" anchor="t" anchorCtr="0">
            <a:spAutoFit/>
          </a:bodyPr>
          <a:lstStyle/>
          <a:p>
            <a:pPr algn="l"/>
            <a:r>
              <a:rPr lang="zh-CN" sz="1050" dirty="0">
                <a:solidFill>
                  <a:srgbClr val="1F4D78"/>
                </a:solidFill>
                <a:latin typeface="Arial"/>
                <a:ea typeface="Microsoft YaHei"/>
                <a:cs typeface="Arial"/>
              </a:rPr>
              <a:t>刑法学</a:t>
            </a:r>
          </a:p>
        </p:txBody>
      </p:sp>
      <p:sp>
        <p:nvSpPr>
          <p:cNvPr id="75" name="TextBox 75"/>
          <p:cNvSpPr txBox="1"/>
          <p:nvPr/>
        </p:nvSpPr>
        <p:spPr>
          <a:xfrm>
            <a:off x="2321242" y="4180999"/>
            <a:ext cx="1454944"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论选择性要素的认识错误</a:t>
            </a:r>
          </a:p>
        </p:txBody>
      </p:sp>
      <p:sp>
        <p:nvSpPr>
          <p:cNvPr id="76" name="TextBox 76"/>
          <p:cNvSpPr txBox="1"/>
          <p:nvPr/>
        </p:nvSpPr>
        <p:spPr>
          <a:xfrm>
            <a:off x="6558915" y="4172902"/>
            <a:ext cx="586740"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法学研究</a:t>
            </a:r>
          </a:p>
        </p:txBody>
      </p:sp>
      <p:sp>
        <p:nvSpPr>
          <p:cNvPr id="77" name="TextBox 77"/>
          <p:cNvSpPr txBox="1"/>
          <p:nvPr/>
        </p:nvSpPr>
        <p:spPr>
          <a:xfrm>
            <a:off x="7500271" y="417290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2022</a:t>
            </a:r>
          </a:p>
        </p:txBody>
      </p:sp>
      <p:sp>
        <p:nvSpPr>
          <p:cNvPr id="78" name="TextBox 78"/>
          <p:cNvSpPr txBox="1"/>
          <p:nvPr/>
        </p:nvSpPr>
        <p:spPr>
          <a:xfrm>
            <a:off x="8261765" y="4172902"/>
            <a:ext cx="430971"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88.08</a:t>
            </a:r>
          </a:p>
        </p:txBody>
      </p:sp>
      <p:sp>
        <p:nvSpPr>
          <p:cNvPr id="79" name="TextBox 79"/>
          <p:cNvSpPr txBox="1"/>
          <p:nvPr/>
        </p:nvSpPr>
        <p:spPr>
          <a:xfrm>
            <a:off x="9258682" y="4172902"/>
            <a:ext cx="151636" cy="213360"/>
          </a:xfrm>
          <a:prstGeom prst="rect">
            <a:avLst/>
          </a:prstGeom>
          <a:noFill/>
          <a:ln>
            <a:noFill/>
          </a:ln>
        </p:spPr>
        <p:txBody>
          <a:bodyPr wrap="none" lIns="0" tIns="0" rIns="0" bIns="0" anchor="t" anchorCtr="0">
            <a:spAutoFit/>
          </a:bodyPr>
          <a:lstStyle/>
          <a:p>
            <a:pPr algn="ctr"/>
            <a:r>
              <a:rPr lang="zh-CN" sz="1050" b="1" dirty="0">
                <a:solidFill>
                  <a:srgbClr val="C8161E"/>
                </a:solidFill>
                <a:latin typeface="Arial"/>
                <a:ea typeface="Microsoft YaHei"/>
                <a:cs typeface="Arial"/>
              </a:rPr>
              <a:t>10</a:t>
            </a:r>
          </a:p>
        </p:txBody>
      </p:sp>
      <p:sp>
        <p:nvSpPr>
          <p:cNvPr id="80" name="TextBox 80"/>
          <p:cNvSpPr txBox="1"/>
          <p:nvPr/>
        </p:nvSpPr>
        <p:spPr>
          <a:xfrm>
            <a:off x="9929146" y="417290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2.87</a:t>
            </a:r>
          </a:p>
        </p:txBody>
      </p:sp>
      <p:sp>
        <p:nvSpPr>
          <p:cNvPr id="81" name="Rectangle 81"/>
          <p:cNvSpPr/>
          <p:nvPr/>
        </p:nvSpPr>
        <p:spPr>
          <a:xfrm>
            <a:off x="685800" y="4371975"/>
            <a:ext cx="10820400" cy="323850"/>
          </a:xfrm>
          <a:prstGeom prst="rect">
            <a:avLst/>
          </a:prstGeom>
          <a:solidFill>
            <a:srgbClr val="FFFFFF"/>
          </a:solidFill>
          <a:ln>
            <a:noFill/>
          </a:ln>
        </p:spPr>
      </p:sp>
      <p:sp>
        <p:nvSpPr>
          <p:cNvPr id="82" name="Line 82"/>
          <p:cNvSpPr/>
          <p:nvPr/>
        </p:nvSpPr>
        <p:spPr>
          <a:xfrm>
            <a:off x="685800" y="4695825"/>
            <a:ext cx="10820400" cy="9525"/>
          </a:xfrm>
          <a:custGeom>
            <a:avLst/>
            <a:gdLst/>
            <a:ahLst/>
            <a:cxnLst/>
            <a:rect l="l" t="t" r="r" b="b"/>
            <a:pathLst>
              <a:path w="10820400" h="9525">
                <a:moveTo>
                  <a:pt x="0" y="0"/>
                </a:moveTo>
                <a:lnTo>
                  <a:pt x="10820400" y="0"/>
                </a:lnTo>
              </a:path>
            </a:pathLst>
          </a:custGeom>
          <a:noFill/>
          <a:ln w="7620">
            <a:solidFill>
              <a:srgbClr val="D9DEE5"/>
            </a:solidFill>
          </a:ln>
        </p:spPr>
      </p:sp>
      <p:sp>
        <p:nvSpPr>
          <p:cNvPr id="83" name="TextBox 83"/>
          <p:cNvSpPr txBox="1"/>
          <p:nvPr/>
        </p:nvSpPr>
        <p:spPr>
          <a:xfrm>
            <a:off x="765385" y="4496752"/>
            <a:ext cx="107530"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7</a:t>
            </a:r>
          </a:p>
        </p:txBody>
      </p:sp>
      <p:sp>
        <p:nvSpPr>
          <p:cNvPr id="84" name="TextBox 84"/>
          <p:cNvSpPr txBox="1"/>
          <p:nvPr/>
        </p:nvSpPr>
        <p:spPr>
          <a:xfrm>
            <a:off x="1282065" y="4496752"/>
            <a:ext cx="446722" cy="213360"/>
          </a:xfrm>
          <a:prstGeom prst="rect">
            <a:avLst/>
          </a:prstGeom>
          <a:noFill/>
          <a:ln>
            <a:noFill/>
          </a:ln>
        </p:spPr>
        <p:txBody>
          <a:bodyPr wrap="none" lIns="0" tIns="0" rIns="0" bIns="0" anchor="t" anchorCtr="0">
            <a:spAutoFit/>
          </a:bodyPr>
          <a:lstStyle/>
          <a:p>
            <a:pPr algn="l"/>
            <a:r>
              <a:rPr lang="zh-CN" sz="1050" dirty="0">
                <a:solidFill>
                  <a:srgbClr val="1F4D78"/>
                </a:solidFill>
                <a:latin typeface="Arial"/>
                <a:ea typeface="Microsoft YaHei"/>
                <a:cs typeface="Arial"/>
              </a:rPr>
              <a:t>刑法学</a:t>
            </a:r>
          </a:p>
        </p:txBody>
      </p:sp>
      <p:sp>
        <p:nvSpPr>
          <p:cNvPr id="85" name="TextBox 85"/>
          <p:cNvSpPr txBox="1"/>
          <p:nvPr/>
        </p:nvSpPr>
        <p:spPr>
          <a:xfrm>
            <a:off x="2321242" y="4504849"/>
            <a:ext cx="1194911"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受贿犯罪的保护法益</a:t>
            </a:r>
          </a:p>
        </p:txBody>
      </p:sp>
      <p:sp>
        <p:nvSpPr>
          <p:cNvPr id="86" name="TextBox 86"/>
          <p:cNvSpPr txBox="1"/>
          <p:nvPr/>
        </p:nvSpPr>
        <p:spPr>
          <a:xfrm>
            <a:off x="6558915" y="4496752"/>
            <a:ext cx="586740"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法学研究</a:t>
            </a:r>
          </a:p>
        </p:txBody>
      </p:sp>
      <p:sp>
        <p:nvSpPr>
          <p:cNvPr id="87" name="TextBox 87"/>
          <p:cNvSpPr txBox="1"/>
          <p:nvPr/>
        </p:nvSpPr>
        <p:spPr>
          <a:xfrm>
            <a:off x="7517773" y="4496752"/>
            <a:ext cx="299704"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2018</a:t>
            </a:r>
          </a:p>
        </p:txBody>
      </p:sp>
      <p:sp>
        <p:nvSpPr>
          <p:cNvPr id="88" name="TextBox 88"/>
          <p:cNvSpPr txBox="1"/>
          <p:nvPr/>
        </p:nvSpPr>
        <p:spPr>
          <a:xfrm>
            <a:off x="8261765" y="4496752"/>
            <a:ext cx="430971"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88.03</a:t>
            </a:r>
          </a:p>
        </p:txBody>
      </p:sp>
      <p:sp>
        <p:nvSpPr>
          <p:cNvPr id="89" name="TextBox 89"/>
          <p:cNvSpPr txBox="1"/>
          <p:nvPr/>
        </p:nvSpPr>
        <p:spPr>
          <a:xfrm>
            <a:off x="9258682" y="4496752"/>
            <a:ext cx="151636" cy="213360"/>
          </a:xfrm>
          <a:prstGeom prst="rect">
            <a:avLst/>
          </a:prstGeom>
          <a:noFill/>
          <a:ln>
            <a:noFill/>
          </a:ln>
        </p:spPr>
        <p:txBody>
          <a:bodyPr wrap="none" lIns="0" tIns="0" rIns="0" bIns="0" anchor="t" anchorCtr="0">
            <a:spAutoFit/>
          </a:bodyPr>
          <a:lstStyle/>
          <a:p>
            <a:pPr algn="ctr"/>
            <a:r>
              <a:rPr lang="zh-CN" sz="1050" b="1" dirty="0">
                <a:solidFill>
                  <a:srgbClr val="C8161E"/>
                </a:solidFill>
                <a:latin typeface="Arial"/>
                <a:ea typeface="Microsoft YaHei"/>
                <a:cs typeface="Arial"/>
              </a:rPr>
              <a:t>10</a:t>
            </a:r>
          </a:p>
        </p:txBody>
      </p:sp>
      <p:sp>
        <p:nvSpPr>
          <p:cNvPr id="90" name="TextBox 90"/>
          <p:cNvSpPr txBox="1"/>
          <p:nvPr/>
        </p:nvSpPr>
        <p:spPr>
          <a:xfrm>
            <a:off x="9929146" y="449675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3.45</a:t>
            </a:r>
          </a:p>
        </p:txBody>
      </p:sp>
      <p:sp>
        <p:nvSpPr>
          <p:cNvPr id="91" name="Rectangle 91"/>
          <p:cNvSpPr/>
          <p:nvPr/>
        </p:nvSpPr>
        <p:spPr>
          <a:xfrm>
            <a:off x="685800" y="4695825"/>
            <a:ext cx="10820400" cy="323850"/>
          </a:xfrm>
          <a:prstGeom prst="rect">
            <a:avLst/>
          </a:prstGeom>
          <a:solidFill>
            <a:srgbClr val="F8FAFC"/>
          </a:solidFill>
          <a:ln>
            <a:noFill/>
          </a:ln>
        </p:spPr>
      </p:sp>
      <p:sp>
        <p:nvSpPr>
          <p:cNvPr id="92" name="Line 92"/>
          <p:cNvSpPr/>
          <p:nvPr/>
        </p:nvSpPr>
        <p:spPr>
          <a:xfrm>
            <a:off x="685800" y="5019675"/>
            <a:ext cx="10820400" cy="9525"/>
          </a:xfrm>
          <a:custGeom>
            <a:avLst/>
            <a:gdLst/>
            <a:ahLst/>
            <a:cxnLst/>
            <a:rect l="l" t="t" r="r" b="b"/>
            <a:pathLst>
              <a:path w="10820400" h="9525">
                <a:moveTo>
                  <a:pt x="0" y="0"/>
                </a:moveTo>
                <a:lnTo>
                  <a:pt x="10820400" y="0"/>
                </a:lnTo>
              </a:path>
            </a:pathLst>
          </a:custGeom>
          <a:noFill/>
          <a:ln w="7620">
            <a:solidFill>
              <a:srgbClr val="D9DEE5"/>
            </a:solidFill>
          </a:ln>
        </p:spPr>
      </p:sp>
      <p:sp>
        <p:nvSpPr>
          <p:cNvPr id="93" name="TextBox 93"/>
          <p:cNvSpPr txBox="1"/>
          <p:nvPr/>
        </p:nvSpPr>
        <p:spPr>
          <a:xfrm>
            <a:off x="765385" y="4820602"/>
            <a:ext cx="107530"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8</a:t>
            </a:r>
          </a:p>
        </p:txBody>
      </p:sp>
      <p:sp>
        <p:nvSpPr>
          <p:cNvPr id="94" name="TextBox 94"/>
          <p:cNvSpPr txBox="1"/>
          <p:nvPr/>
        </p:nvSpPr>
        <p:spPr>
          <a:xfrm>
            <a:off x="1282065" y="4820602"/>
            <a:ext cx="586740" cy="213360"/>
          </a:xfrm>
          <a:prstGeom prst="rect">
            <a:avLst/>
          </a:prstGeom>
          <a:noFill/>
          <a:ln>
            <a:noFill/>
          </a:ln>
        </p:spPr>
        <p:txBody>
          <a:bodyPr wrap="none" lIns="0" tIns="0" rIns="0" bIns="0" anchor="t" anchorCtr="0">
            <a:spAutoFit/>
          </a:bodyPr>
          <a:lstStyle/>
          <a:p>
            <a:pPr algn="l"/>
            <a:r>
              <a:rPr lang="zh-CN" sz="1050" dirty="0">
                <a:solidFill>
                  <a:srgbClr val="1F4D78"/>
                </a:solidFill>
                <a:latin typeface="Arial"/>
                <a:ea typeface="Microsoft YaHei"/>
                <a:cs typeface="Arial"/>
              </a:rPr>
              <a:t>民商法学</a:t>
            </a:r>
          </a:p>
        </p:txBody>
      </p:sp>
      <p:sp>
        <p:nvSpPr>
          <p:cNvPr id="95" name="TextBox 95"/>
          <p:cNvSpPr txBox="1"/>
          <p:nvPr/>
        </p:nvSpPr>
        <p:spPr>
          <a:xfrm>
            <a:off x="2321242" y="4828699"/>
            <a:ext cx="1844992"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民法典所有权保留之担保权构成</a:t>
            </a:r>
          </a:p>
        </p:txBody>
      </p:sp>
      <p:sp>
        <p:nvSpPr>
          <p:cNvPr id="96" name="TextBox 96"/>
          <p:cNvSpPr txBox="1"/>
          <p:nvPr/>
        </p:nvSpPr>
        <p:spPr>
          <a:xfrm>
            <a:off x="6558915" y="4820602"/>
            <a:ext cx="586740"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法学研究</a:t>
            </a:r>
          </a:p>
        </p:txBody>
      </p:sp>
      <p:sp>
        <p:nvSpPr>
          <p:cNvPr id="97" name="TextBox 97"/>
          <p:cNvSpPr txBox="1"/>
          <p:nvPr/>
        </p:nvSpPr>
        <p:spPr>
          <a:xfrm>
            <a:off x="7500271" y="482060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2022</a:t>
            </a:r>
          </a:p>
        </p:txBody>
      </p:sp>
      <p:sp>
        <p:nvSpPr>
          <p:cNvPr id="98" name="TextBox 98"/>
          <p:cNvSpPr txBox="1"/>
          <p:nvPr/>
        </p:nvSpPr>
        <p:spPr>
          <a:xfrm>
            <a:off x="8261765" y="4820602"/>
            <a:ext cx="430971"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87.97</a:t>
            </a:r>
          </a:p>
        </p:txBody>
      </p:sp>
      <p:sp>
        <p:nvSpPr>
          <p:cNvPr id="99" name="TextBox 99"/>
          <p:cNvSpPr txBox="1"/>
          <p:nvPr/>
        </p:nvSpPr>
        <p:spPr>
          <a:xfrm>
            <a:off x="9258682" y="4820602"/>
            <a:ext cx="151636" cy="213360"/>
          </a:xfrm>
          <a:prstGeom prst="rect">
            <a:avLst/>
          </a:prstGeom>
          <a:noFill/>
          <a:ln>
            <a:noFill/>
          </a:ln>
        </p:spPr>
        <p:txBody>
          <a:bodyPr wrap="none" lIns="0" tIns="0" rIns="0" bIns="0" anchor="t" anchorCtr="0">
            <a:spAutoFit/>
          </a:bodyPr>
          <a:lstStyle/>
          <a:p>
            <a:pPr algn="ctr"/>
            <a:r>
              <a:rPr lang="zh-CN" sz="1050" b="1" dirty="0">
                <a:solidFill>
                  <a:srgbClr val="C8161E"/>
                </a:solidFill>
                <a:latin typeface="Arial"/>
                <a:ea typeface="Microsoft YaHei"/>
                <a:cs typeface="Arial"/>
              </a:rPr>
              <a:t>10</a:t>
            </a:r>
          </a:p>
        </p:txBody>
      </p:sp>
      <p:sp>
        <p:nvSpPr>
          <p:cNvPr id="100" name="TextBox 100"/>
          <p:cNvSpPr txBox="1"/>
          <p:nvPr/>
        </p:nvSpPr>
        <p:spPr>
          <a:xfrm>
            <a:off x="9929146" y="482060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5.86</a:t>
            </a:r>
          </a:p>
        </p:txBody>
      </p:sp>
      <p:sp>
        <p:nvSpPr>
          <p:cNvPr id="101" name="Rectangle 101"/>
          <p:cNvSpPr/>
          <p:nvPr/>
        </p:nvSpPr>
        <p:spPr>
          <a:xfrm>
            <a:off x="685800" y="5019675"/>
            <a:ext cx="10820400" cy="323850"/>
          </a:xfrm>
          <a:prstGeom prst="rect">
            <a:avLst/>
          </a:prstGeom>
          <a:solidFill>
            <a:srgbClr val="FFFFFF"/>
          </a:solidFill>
          <a:ln>
            <a:noFill/>
          </a:ln>
        </p:spPr>
      </p:sp>
      <p:sp>
        <p:nvSpPr>
          <p:cNvPr id="102" name="Line 102"/>
          <p:cNvSpPr/>
          <p:nvPr/>
        </p:nvSpPr>
        <p:spPr>
          <a:xfrm>
            <a:off x="685800" y="5343525"/>
            <a:ext cx="10820400" cy="9525"/>
          </a:xfrm>
          <a:custGeom>
            <a:avLst/>
            <a:gdLst/>
            <a:ahLst/>
            <a:cxnLst/>
            <a:rect l="l" t="t" r="r" b="b"/>
            <a:pathLst>
              <a:path w="10820400" h="9525">
                <a:moveTo>
                  <a:pt x="0" y="0"/>
                </a:moveTo>
                <a:lnTo>
                  <a:pt x="10820400" y="0"/>
                </a:lnTo>
              </a:path>
            </a:pathLst>
          </a:custGeom>
          <a:noFill/>
          <a:ln w="7620">
            <a:solidFill>
              <a:srgbClr val="D9DEE5"/>
            </a:solidFill>
          </a:ln>
        </p:spPr>
      </p:sp>
      <p:sp>
        <p:nvSpPr>
          <p:cNvPr id="103" name="TextBox 103"/>
          <p:cNvSpPr txBox="1"/>
          <p:nvPr/>
        </p:nvSpPr>
        <p:spPr>
          <a:xfrm>
            <a:off x="765385" y="5144452"/>
            <a:ext cx="107530"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9</a:t>
            </a:r>
          </a:p>
        </p:txBody>
      </p:sp>
      <p:sp>
        <p:nvSpPr>
          <p:cNvPr id="104" name="TextBox 104"/>
          <p:cNvSpPr txBox="1"/>
          <p:nvPr/>
        </p:nvSpPr>
        <p:spPr>
          <a:xfrm>
            <a:off x="1282065" y="5144452"/>
            <a:ext cx="866775" cy="213360"/>
          </a:xfrm>
          <a:prstGeom prst="rect">
            <a:avLst/>
          </a:prstGeom>
          <a:noFill/>
          <a:ln>
            <a:noFill/>
          </a:ln>
        </p:spPr>
        <p:txBody>
          <a:bodyPr wrap="none" lIns="0" tIns="0" rIns="0" bIns="0" anchor="t" anchorCtr="0">
            <a:spAutoFit/>
          </a:bodyPr>
          <a:lstStyle/>
          <a:p>
            <a:pPr algn="l"/>
            <a:r>
              <a:rPr lang="zh-CN" sz="1050" dirty="0">
                <a:solidFill>
                  <a:srgbClr val="1F4D78"/>
                </a:solidFill>
                <a:latin typeface="Arial"/>
                <a:ea typeface="Microsoft YaHei"/>
                <a:cs typeface="Arial"/>
              </a:rPr>
              <a:t>知识产权法学</a:t>
            </a:r>
          </a:p>
        </p:txBody>
      </p:sp>
      <p:sp>
        <p:nvSpPr>
          <p:cNvPr id="105" name="TextBox 105"/>
          <p:cNvSpPr txBox="1"/>
          <p:nvPr/>
        </p:nvSpPr>
        <p:spPr>
          <a:xfrm>
            <a:off x="2321242" y="5152549"/>
            <a:ext cx="2105025"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集体商标和证明商标保护体系的重构</a:t>
            </a:r>
          </a:p>
        </p:txBody>
      </p:sp>
      <p:sp>
        <p:nvSpPr>
          <p:cNvPr id="106" name="TextBox 106"/>
          <p:cNvSpPr txBox="1"/>
          <p:nvPr/>
        </p:nvSpPr>
        <p:spPr>
          <a:xfrm>
            <a:off x="6558915" y="5144452"/>
            <a:ext cx="586740"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法学研究</a:t>
            </a:r>
          </a:p>
        </p:txBody>
      </p:sp>
      <p:sp>
        <p:nvSpPr>
          <p:cNvPr id="107" name="TextBox 107"/>
          <p:cNvSpPr txBox="1"/>
          <p:nvPr/>
        </p:nvSpPr>
        <p:spPr>
          <a:xfrm>
            <a:off x="7500271" y="514445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2025</a:t>
            </a:r>
          </a:p>
        </p:txBody>
      </p:sp>
      <p:sp>
        <p:nvSpPr>
          <p:cNvPr id="108" name="TextBox 108"/>
          <p:cNvSpPr txBox="1"/>
          <p:nvPr/>
        </p:nvSpPr>
        <p:spPr>
          <a:xfrm>
            <a:off x="8261765" y="5144452"/>
            <a:ext cx="430971"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87.80</a:t>
            </a:r>
          </a:p>
        </p:txBody>
      </p:sp>
      <p:sp>
        <p:nvSpPr>
          <p:cNvPr id="109" name="TextBox 109"/>
          <p:cNvSpPr txBox="1"/>
          <p:nvPr/>
        </p:nvSpPr>
        <p:spPr>
          <a:xfrm>
            <a:off x="9258682" y="5144452"/>
            <a:ext cx="151636" cy="213360"/>
          </a:xfrm>
          <a:prstGeom prst="rect">
            <a:avLst/>
          </a:prstGeom>
          <a:noFill/>
          <a:ln>
            <a:noFill/>
          </a:ln>
        </p:spPr>
        <p:txBody>
          <a:bodyPr wrap="none" lIns="0" tIns="0" rIns="0" bIns="0" anchor="t" anchorCtr="0">
            <a:spAutoFit/>
          </a:bodyPr>
          <a:lstStyle/>
          <a:p>
            <a:pPr algn="ctr"/>
            <a:r>
              <a:rPr lang="zh-CN" sz="1050" b="1" dirty="0">
                <a:solidFill>
                  <a:srgbClr val="C8161E"/>
                </a:solidFill>
                <a:latin typeface="Arial"/>
                <a:ea typeface="Microsoft YaHei"/>
                <a:cs typeface="Arial"/>
              </a:rPr>
              <a:t>10</a:t>
            </a:r>
          </a:p>
        </p:txBody>
      </p:sp>
      <p:sp>
        <p:nvSpPr>
          <p:cNvPr id="110" name="TextBox 110"/>
          <p:cNvSpPr txBox="1"/>
          <p:nvPr/>
        </p:nvSpPr>
        <p:spPr>
          <a:xfrm>
            <a:off x="9929146" y="514445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2.94</a:t>
            </a:r>
          </a:p>
        </p:txBody>
      </p:sp>
      <p:sp>
        <p:nvSpPr>
          <p:cNvPr id="111" name="Rectangle 111"/>
          <p:cNvSpPr/>
          <p:nvPr/>
        </p:nvSpPr>
        <p:spPr>
          <a:xfrm>
            <a:off x="685800" y="5343525"/>
            <a:ext cx="10820400" cy="323850"/>
          </a:xfrm>
          <a:prstGeom prst="rect">
            <a:avLst/>
          </a:prstGeom>
          <a:solidFill>
            <a:srgbClr val="F8FAFC"/>
          </a:solidFill>
          <a:ln>
            <a:noFill/>
          </a:ln>
        </p:spPr>
      </p:sp>
      <p:sp>
        <p:nvSpPr>
          <p:cNvPr id="112" name="Line 112"/>
          <p:cNvSpPr/>
          <p:nvPr/>
        </p:nvSpPr>
        <p:spPr>
          <a:xfrm>
            <a:off x="685800" y="5667375"/>
            <a:ext cx="10820400" cy="9525"/>
          </a:xfrm>
          <a:custGeom>
            <a:avLst/>
            <a:gdLst/>
            <a:ahLst/>
            <a:cxnLst/>
            <a:rect l="l" t="t" r="r" b="b"/>
            <a:pathLst>
              <a:path w="10820400" h="9525">
                <a:moveTo>
                  <a:pt x="0" y="0"/>
                </a:moveTo>
                <a:lnTo>
                  <a:pt x="10820400" y="0"/>
                </a:lnTo>
              </a:path>
            </a:pathLst>
          </a:custGeom>
          <a:noFill/>
          <a:ln w="7620">
            <a:solidFill>
              <a:srgbClr val="D9DEE5"/>
            </a:solidFill>
          </a:ln>
        </p:spPr>
      </p:sp>
      <p:sp>
        <p:nvSpPr>
          <p:cNvPr id="113" name="TextBox 113"/>
          <p:cNvSpPr txBox="1"/>
          <p:nvPr/>
        </p:nvSpPr>
        <p:spPr>
          <a:xfrm>
            <a:off x="743332" y="5468302"/>
            <a:ext cx="151636"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10</a:t>
            </a:r>
          </a:p>
        </p:txBody>
      </p:sp>
      <p:sp>
        <p:nvSpPr>
          <p:cNvPr id="114" name="TextBox 114"/>
          <p:cNvSpPr txBox="1"/>
          <p:nvPr/>
        </p:nvSpPr>
        <p:spPr>
          <a:xfrm>
            <a:off x="1282065" y="5468302"/>
            <a:ext cx="586740" cy="213360"/>
          </a:xfrm>
          <a:prstGeom prst="rect">
            <a:avLst/>
          </a:prstGeom>
          <a:noFill/>
          <a:ln>
            <a:noFill/>
          </a:ln>
        </p:spPr>
        <p:txBody>
          <a:bodyPr wrap="none" lIns="0" tIns="0" rIns="0" bIns="0" anchor="t" anchorCtr="0">
            <a:spAutoFit/>
          </a:bodyPr>
          <a:lstStyle/>
          <a:p>
            <a:pPr algn="l"/>
            <a:r>
              <a:rPr lang="zh-CN" sz="1050" dirty="0">
                <a:solidFill>
                  <a:srgbClr val="1F4D78"/>
                </a:solidFill>
                <a:latin typeface="Arial"/>
                <a:ea typeface="Microsoft YaHei"/>
                <a:cs typeface="Arial"/>
              </a:rPr>
              <a:t>民商法学</a:t>
            </a:r>
          </a:p>
        </p:txBody>
      </p:sp>
      <p:sp>
        <p:nvSpPr>
          <p:cNvPr id="115" name="TextBox 115"/>
          <p:cNvSpPr txBox="1"/>
          <p:nvPr/>
        </p:nvSpPr>
        <p:spPr>
          <a:xfrm>
            <a:off x="2321242" y="5476399"/>
            <a:ext cx="1584960"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董事间披露义务的法律构造</a:t>
            </a:r>
          </a:p>
        </p:txBody>
      </p:sp>
      <p:sp>
        <p:nvSpPr>
          <p:cNvPr id="116" name="TextBox 116"/>
          <p:cNvSpPr txBox="1"/>
          <p:nvPr/>
        </p:nvSpPr>
        <p:spPr>
          <a:xfrm>
            <a:off x="6558915" y="5468302"/>
            <a:ext cx="586740"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法学研究</a:t>
            </a:r>
          </a:p>
        </p:txBody>
      </p:sp>
      <p:sp>
        <p:nvSpPr>
          <p:cNvPr id="117" name="TextBox 117"/>
          <p:cNvSpPr txBox="1"/>
          <p:nvPr/>
        </p:nvSpPr>
        <p:spPr>
          <a:xfrm>
            <a:off x="7500271" y="546830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2024</a:t>
            </a:r>
          </a:p>
        </p:txBody>
      </p:sp>
      <p:sp>
        <p:nvSpPr>
          <p:cNvPr id="118" name="TextBox 118"/>
          <p:cNvSpPr txBox="1"/>
          <p:nvPr/>
        </p:nvSpPr>
        <p:spPr>
          <a:xfrm>
            <a:off x="8261765" y="5468302"/>
            <a:ext cx="430971" cy="213360"/>
          </a:xfrm>
          <a:prstGeom prst="rect">
            <a:avLst/>
          </a:prstGeom>
          <a:noFill/>
          <a:ln>
            <a:noFill/>
          </a:ln>
        </p:spPr>
        <p:txBody>
          <a:bodyPr wrap="none" lIns="0" tIns="0" rIns="0" bIns="0" anchor="t" anchorCtr="0">
            <a:spAutoFit/>
          </a:bodyPr>
          <a:lstStyle/>
          <a:p>
            <a:pPr algn="ctr"/>
            <a:r>
              <a:rPr lang="zh-CN" sz="1050" b="1" dirty="0">
                <a:solidFill>
                  <a:srgbClr val="1B1C21"/>
                </a:solidFill>
                <a:latin typeface="Arial"/>
                <a:ea typeface="Microsoft YaHei"/>
                <a:cs typeface="Arial"/>
              </a:rPr>
              <a:t>87.75</a:t>
            </a:r>
          </a:p>
        </p:txBody>
      </p:sp>
      <p:sp>
        <p:nvSpPr>
          <p:cNvPr id="119" name="TextBox 119"/>
          <p:cNvSpPr txBox="1"/>
          <p:nvPr/>
        </p:nvSpPr>
        <p:spPr>
          <a:xfrm>
            <a:off x="9258682" y="5468302"/>
            <a:ext cx="151636" cy="213360"/>
          </a:xfrm>
          <a:prstGeom prst="rect">
            <a:avLst/>
          </a:prstGeom>
          <a:noFill/>
          <a:ln>
            <a:noFill/>
          </a:ln>
        </p:spPr>
        <p:txBody>
          <a:bodyPr wrap="none" lIns="0" tIns="0" rIns="0" bIns="0" anchor="t" anchorCtr="0">
            <a:spAutoFit/>
          </a:bodyPr>
          <a:lstStyle/>
          <a:p>
            <a:pPr algn="ctr"/>
            <a:r>
              <a:rPr lang="zh-CN" sz="1050" b="1" dirty="0">
                <a:solidFill>
                  <a:srgbClr val="C8161E"/>
                </a:solidFill>
                <a:latin typeface="Arial"/>
                <a:ea typeface="Microsoft YaHei"/>
                <a:cs typeface="Arial"/>
              </a:rPr>
              <a:t>10</a:t>
            </a:r>
          </a:p>
        </p:txBody>
      </p:sp>
      <p:sp>
        <p:nvSpPr>
          <p:cNvPr id="120" name="TextBox 120"/>
          <p:cNvSpPr txBox="1"/>
          <p:nvPr/>
        </p:nvSpPr>
        <p:spPr>
          <a:xfrm>
            <a:off x="9929146" y="5468302"/>
            <a:ext cx="334708" cy="213360"/>
          </a:xfrm>
          <a:prstGeom prst="rect">
            <a:avLst/>
          </a:prstGeom>
          <a:noFill/>
          <a:ln>
            <a:noFill/>
          </a:ln>
        </p:spPr>
        <p:txBody>
          <a:bodyPr wrap="none" lIns="0" tIns="0" rIns="0" bIns="0" anchor="t" anchorCtr="0">
            <a:spAutoFit/>
          </a:bodyPr>
          <a:lstStyle/>
          <a:p>
            <a:pPr algn="ctr"/>
            <a:r>
              <a:rPr lang="zh-CN" sz="1050" dirty="0">
                <a:solidFill>
                  <a:srgbClr val="1B1C21"/>
                </a:solidFill>
                <a:latin typeface="Arial"/>
                <a:ea typeface="Microsoft YaHei"/>
                <a:cs typeface="Arial"/>
              </a:rPr>
              <a:t>3.55</a:t>
            </a:r>
          </a:p>
        </p:txBody>
      </p:sp>
      <p:sp>
        <p:nvSpPr>
          <p:cNvPr id="121" name="Rectangle 121"/>
          <p:cNvSpPr/>
          <p:nvPr/>
        </p:nvSpPr>
        <p:spPr>
          <a:xfrm>
            <a:off x="1066800" y="5829300"/>
            <a:ext cx="2857500" cy="533400"/>
          </a:xfrm>
          <a:prstGeom prst="roundRect">
            <a:avLst>
              <a:gd name="adj" fmla="val 14286"/>
            </a:avLst>
          </a:prstGeom>
          <a:solidFill>
            <a:srgbClr val="F4F5F7"/>
          </a:solidFill>
          <a:ln w="11430">
            <a:solidFill>
              <a:srgbClr val="D9DEE5"/>
            </a:solidFill>
          </a:ln>
        </p:spPr>
      </p:sp>
      <p:sp>
        <p:nvSpPr>
          <p:cNvPr id="122" name="TextBox 122"/>
          <p:cNvSpPr txBox="1"/>
          <p:nvPr/>
        </p:nvSpPr>
        <p:spPr>
          <a:xfrm>
            <a:off x="1224915" y="5944552"/>
            <a:ext cx="614744" cy="213360"/>
          </a:xfrm>
          <a:prstGeom prst="rect">
            <a:avLst/>
          </a:prstGeom>
          <a:noFill/>
          <a:ln>
            <a:noFill/>
          </a:ln>
        </p:spPr>
        <p:txBody>
          <a:bodyPr wrap="none" lIns="0" tIns="0" rIns="0" bIns="0" anchor="t" anchorCtr="0">
            <a:spAutoFit/>
          </a:bodyPr>
          <a:lstStyle/>
          <a:p>
            <a:pPr algn="l"/>
            <a:r>
              <a:rPr lang="zh-CN" sz="1050" b="1" dirty="0">
                <a:solidFill>
                  <a:srgbClr val="5A6472"/>
                </a:solidFill>
                <a:latin typeface="Arial"/>
                <a:ea typeface="Microsoft YaHei"/>
                <a:cs typeface="Arial"/>
              </a:rPr>
              <a:t>领域覆盖</a:t>
            </a:r>
          </a:p>
        </p:txBody>
      </p:sp>
      <p:sp>
        <p:nvSpPr>
          <p:cNvPr id="123" name="TextBox 123"/>
          <p:cNvSpPr txBox="1"/>
          <p:nvPr/>
        </p:nvSpPr>
        <p:spPr>
          <a:xfrm>
            <a:off x="2188845" y="5898832"/>
            <a:ext cx="942923" cy="335280"/>
          </a:xfrm>
          <a:prstGeom prst="rect">
            <a:avLst/>
          </a:prstGeom>
          <a:noFill/>
          <a:ln>
            <a:noFill/>
          </a:ln>
        </p:spPr>
        <p:txBody>
          <a:bodyPr wrap="none" lIns="0" tIns="0" rIns="0" bIns="0" anchor="t" anchorCtr="0">
            <a:spAutoFit/>
          </a:bodyPr>
          <a:lstStyle/>
          <a:p>
            <a:pPr algn="l"/>
            <a:r>
              <a:rPr lang="zh-CN" sz="1650" b="1" dirty="0">
                <a:solidFill>
                  <a:srgbClr val="C8161E"/>
                </a:solidFill>
                <a:latin typeface="Arial"/>
                <a:ea typeface="Microsoft YaHei"/>
                <a:cs typeface="Arial"/>
              </a:rPr>
              <a:t>11 个领域</a:t>
            </a:r>
          </a:p>
        </p:txBody>
      </p:sp>
      <p:sp>
        <p:nvSpPr>
          <p:cNvPr id="124" name="TextBox 124"/>
          <p:cNvSpPr txBox="1"/>
          <p:nvPr/>
        </p:nvSpPr>
        <p:spPr>
          <a:xfrm>
            <a:off x="1226344" y="6185297"/>
            <a:ext cx="1755279"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民商法学 12；刑法学 9；三类 6</a:t>
            </a:r>
          </a:p>
        </p:txBody>
      </p:sp>
      <p:sp>
        <p:nvSpPr>
          <p:cNvPr id="125" name="Rectangle 125"/>
          <p:cNvSpPr/>
          <p:nvPr/>
        </p:nvSpPr>
        <p:spPr>
          <a:xfrm>
            <a:off x="4495800" y="5829300"/>
            <a:ext cx="2857500" cy="533400"/>
          </a:xfrm>
          <a:prstGeom prst="roundRect">
            <a:avLst>
              <a:gd name="adj" fmla="val 14286"/>
            </a:avLst>
          </a:prstGeom>
          <a:solidFill>
            <a:srgbClr val="F4F5F7"/>
          </a:solidFill>
          <a:ln w="11430">
            <a:solidFill>
              <a:srgbClr val="D9DEE5"/>
            </a:solidFill>
          </a:ln>
        </p:spPr>
      </p:sp>
      <p:sp>
        <p:nvSpPr>
          <p:cNvPr id="126" name="TextBox 126"/>
          <p:cNvSpPr txBox="1"/>
          <p:nvPr/>
        </p:nvSpPr>
        <p:spPr>
          <a:xfrm>
            <a:off x="4653915" y="5944552"/>
            <a:ext cx="614744" cy="213360"/>
          </a:xfrm>
          <a:prstGeom prst="rect">
            <a:avLst/>
          </a:prstGeom>
          <a:noFill/>
          <a:ln>
            <a:noFill/>
          </a:ln>
        </p:spPr>
        <p:txBody>
          <a:bodyPr wrap="none" lIns="0" tIns="0" rIns="0" bIns="0" anchor="t" anchorCtr="0">
            <a:spAutoFit/>
          </a:bodyPr>
          <a:lstStyle/>
          <a:p>
            <a:pPr algn="l"/>
            <a:r>
              <a:rPr lang="zh-CN" sz="1050" b="1" dirty="0">
                <a:solidFill>
                  <a:srgbClr val="5A6472"/>
                </a:solidFill>
                <a:latin typeface="Arial"/>
                <a:ea typeface="Microsoft YaHei"/>
                <a:cs typeface="Arial"/>
              </a:rPr>
              <a:t>入选资格</a:t>
            </a:r>
          </a:p>
        </p:txBody>
      </p:sp>
      <p:sp>
        <p:nvSpPr>
          <p:cNvPr id="127" name="TextBox 127"/>
          <p:cNvSpPr txBox="1"/>
          <p:nvPr/>
        </p:nvSpPr>
        <p:spPr>
          <a:xfrm>
            <a:off x="5617845" y="5898832"/>
            <a:ext cx="631034" cy="335280"/>
          </a:xfrm>
          <a:prstGeom prst="rect">
            <a:avLst/>
          </a:prstGeom>
          <a:noFill/>
          <a:ln>
            <a:noFill/>
          </a:ln>
        </p:spPr>
        <p:txBody>
          <a:bodyPr wrap="none" lIns="0" tIns="0" rIns="0" bIns="0" anchor="t" anchorCtr="0">
            <a:spAutoFit/>
          </a:bodyPr>
          <a:lstStyle/>
          <a:p>
            <a:pPr algn="l"/>
            <a:r>
              <a:rPr lang="zh-CN" sz="1650" b="1" dirty="0">
                <a:solidFill>
                  <a:srgbClr val="C8161E"/>
                </a:solidFill>
                <a:latin typeface="Arial"/>
                <a:ea typeface="Microsoft YaHei"/>
                <a:cs typeface="Arial"/>
              </a:rPr>
              <a:t>49 + 1</a:t>
            </a:r>
          </a:p>
        </p:txBody>
      </p:sp>
      <p:sp>
        <p:nvSpPr>
          <p:cNvPr id="128" name="TextBox 128"/>
          <p:cNvSpPr txBox="1"/>
          <p:nvPr/>
        </p:nvSpPr>
        <p:spPr>
          <a:xfrm>
            <a:off x="4655344" y="6185297"/>
            <a:ext cx="1974056"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49 篇五轴 10 分；1 篇五轴 9 分补足</a:t>
            </a:r>
          </a:p>
        </p:txBody>
      </p:sp>
      <p:sp>
        <p:nvSpPr>
          <p:cNvPr id="129" name="Rectangle 129"/>
          <p:cNvSpPr/>
          <p:nvPr/>
        </p:nvSpPr>
        <p:spPr>
          <a:xfrm>
            <a:off x="7924800" y="5829300"/>
            <a:ext cx="2857500" cy="533400"/>
          </a:xfrm>
          <a:prstGeom prst="roundRect">
            <a:avLst>
              <a:gd name="adj" fmla="val 14286"/>
            </a:avLst>
          </a:prstGeom>
          <a:solidFill>
            <a:srgbClr val="F4F5F7"/>
          </a:solidFill>
          <a:ln w="11430">
            <a:solidFill>
              <a:srgbClr val="D9DEE5"/>
            </a:solidFill>
          </a:ln>
        </p:spPr>
      </p:sp>
      <p:sp>
        <p:nvSpPr>
          <p:cNvPr id="130" name="TextBox 130"/>
          <p:cNvSpPr txBox="1"/>
          <p:nvPr/>
        </p:nvSpPr>
        <p:spPr>
          <a:xfrm>
            <a:off x="8082915" y="5944552"/>
            <a:ext cx="614744" cy="213360"/>
          </a:xfrm>
          <a:prstGeom prst="rect">
            <a:avLst/>
          </a:prstGeom>
          <a:noFill/>
          <a:ln>
            <a:noFill/>
          </a:ln>
        </p:spPr>
        <p:txBody>
          <a:bodyPr wrap="none" lIns="0" tIns="0" rIns="0" bIns="0" anchor="t" anchorCtr="0">
            <a:spAutoFit/>
          </a:bodyPr>
          <a:lstStyle/>
          <a:p>
            <a:pPr algn="l"/>
            <a:r>
              <a:rPr lang="zh-CN" sz="1050" b="1" dirty="0">
                <a:solidFill>
                  <a:srgbClr val="5A6472"/>
                </a:solidFill>
                <a:latin typeface="Arial"/>
                <a:ea typeface="Microsoft YaHei"/>
                <a:cs typeface="Arial"/>
              </a:rPr>
              <a:t>复核线索</a:t>
            </a:r>
          </a:p>
        </p:txBody>
      </p:sp>
      <p:sp>
        <p:nvSpPr>
          <p:cNvPr id="131" name="TextBox 131"/>
          <p:cNvSpPr txBox="1"/>
          <p:nvPr/>
        </p:nvSpPr>
        <p:spPr>
          <a:xfrm>
            <a:off x="9046845" y="5898832"/>
            <a:ext cx="1335672" cy="335280"/>
          </a:xfrm>
          <a:prstGeom prst="rect">
            <a:avLst/>
          </a:prstGeom>
          <a:noFill/>
          <a:ln>
            <a:noFill/>
          </a:ln>
        </p:spPr>
        <p:txBody>
          <a:bodyPr wrap="none" lIns="0" tIns="0" rIns="0" bIns="0" anchor="t" anchorCtr="0">
            <a:spAutoFit/>
          </a:bodyPr>
          <a:lstStyle/>
          <a:p>
            <a:pPr algn="l"/>
            <a:r>
              <a:rPr lang="zh-CN" sz="1650" b="1" dirty="0">
                <a:solidFill>
                  <a:srgbClr val="C8161E"/>
                </a:solidFill>
                <a:latin typeface="Arial"/>
                <a:ea typeface="Microsoft YaHei"/>
                <a:cs typeface="Arial"/>
              </a:rPr>
              <a:t>std&gt;8：3 篇</a:t>
            </a:r>
          </a:p>
        </p:txBody>
      </p:sp>
      <p:sp>
        <p:nvSpPr>
          <p:cNvPr id="132" name="TextBox 132"/>
          <p:cNvSpPr txBox="1"/>
          <p:nvPr/>
        </p:nvSpPr>
        <p:spPr>
          <a:xfrm>
            <a:off x="8084344" y="6185297"/>
            <a:ext cx="1649016"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不影响入选，但进入专家说明</a:t>
            </a:r>
          </a:p>
        </p:txBody>
      </p:sp>
      <p:grpSp>
        <p:nvGrpSpPr>
          <p:cNvPr id="136" name="Group 136"/>
          <p:cNvGrpSpPr/>
          <p:nvPr/>
        </p:nvGrpSpPr>
        <p:grpSpPr>
          <a:xfrm>
            <a:off x="0" y="6516343"/>
            <a:ext cx="12192000" cy="341657"/>
            <a:chOff x="0" y="6516343"/>
            <a:chExt cx="12192000" cy="341657"/>
          </a:xfrm>
        </p:grpSpPr>
        <p:sp>
          <p:nvSpPr>
            <p:cNvPr id="133" name="Rectangle 133"/>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134" name="TextBox 134"/>
            <p:cNvSpPr txBox="1"/>
            <p:nvPr/>
          </p:nvSpPr>
          <p:spPr>
            <a:xfrm>
              <a:off x="668017" y="6516343"/>
              <a:ext cx="2659029"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Top50 归属优先配额版最终排名</a:t>
              </a:r>
            </a:p>
          </p:txBody>
        </p:sp>
        <p:sp>
          <p:nvSpPr>
            <p:cNvPr id="135" name="TextBox 135"/>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5578910"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Top50 入选规则与解释验证口径</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678822" y="953743"/>
            <a:ext cx="483435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正式名单已经固化；解释验证必须围绕同一 50 篇论文重跑</a:t>
            </a:r>
          </a:p>
        </p:txBody>
      </p:sp>
      <p:grpSp>
        <p:nvGrpSpPr>
          <p:cNvPr id="16" name="Group 16"/>
          <p:cNvGrpSpPr/>
          <p:nvPr/>
        </p:nvGrpSpPr>
        <p:grpSpPr>
          <a:xfrm>
            <a:off x="952500" y="1676400"/>
            <a:ext cx="2286000" cy="2381250"/>
            <a:chOff x="952500" y="1676400"/>
            <a:chExt cx="2286000" cy="2381250"/>
          </a:xfrm>
        </p:grpSpPr>
        <p:sp>
          <p:nvSpPr>
            <p:cNvPr id="9" name="Rectangle 9"/>
            <p:cNvSpPr/>
            <p:nvPr/>
          </p:nvSpPr>
          <p:spPr>
            <a:xfrm>
              <a:off x="952500" y="1676400"/>
              <a:ext cx="2286000" cy="2381250"/>
            </a:xfrm>
            <a:prstGeom prst="roundRect">
              <a:avLst>
                <a:gd name="adj" fmla="val 4167"/>
              </a:avLst>
            </a:prstGeom>
            <a:solidFill>
              <a:srgbClr val="FFFFFF"/>
            </a:solidFill>
            <a:ln w="11430">
              <a:solidFill>
                <a:srgbClr val="D9DEE5"/>
              </a:solidFill>
            </a:ln>
          </p:spPr>
        </p:sp>
        <p:sp>
          <p:nvSpPr>
            <p:cNvPr id="10" name="Ellipse 10"/>
            <p:cNvSpPr/>
            <p:nvPr/>
          </p:nvSpPr>
          <p:spPr>
            <a:xfrm>
              <a:off x="1809750" y="1885950"/>
              <a:ext cx="571500" cy="571500"/>
            </a:xfrm>
            <a:prstGeom prst="ellipse">
              <a:avLst/>
            </a:prstGeom>
            <a:solidFill>
              <a:srgbClr val="C8161E"/>
            </a:solidFill>
            <a:ln>
              <a:noFill/>
            </a:ln>
          </p:spPr>
        </p:sp>
        <p:sp>
          <p:nvSpPr>
            <p:cNvPr id="11" name="TextBox 11"/>
            <p:cNvSpPr txBox="1"/>
            <p:nvPr/>
          </p:nvSpPr>
          <p:spPr>
            <a:xfrm>
              <a:off x="2024724" y="2040255"/>
              <a:ext cx="141551" cy="426720"/>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a:ea typeface="Microsoft YaHei"/>
                  <a:cs typeface="Arial"/>
                </a:rPr>
                <a:t>1</a:t>
              </a:r>
            </a:p>
          </p:txBody>
        </p:sp>
        <p:sp>
          <p:nvSpPr>
            <p:cNvPr id="12" name="TextBox 12"/>
            <p:cNvSpPr txBox="1"/>
            <p:nvPr/>
          </p:nvSpPr>
          <p:spPr>
            <a:xfrm>
              <a:off x="1568577" y="2701290"/>
              <a:ext cx="1053846" cy="365760"/>
            </a:xfrm>
            <a:prstGeom prst="rect">
              <a:avLst/>
            </a:prstGeom>
            <a:noFill/>
            <a:ln>
              <a:noFill/>
            </a:ln>
          </p:spPr>
          <p:txBody>
            <a:bodyPr wrap="none" lIns="0" tIns="0" rIns="0" bIns="0" anchor="t" anchorCtr="0">
              <a:spAutoFit/>
            </a:bodyPr>
            <a:lstStyle/>
            <a:p>
              <a:pPr algn="ctr"/>
              <a:r>
                <a:rPr lang="zh-CN" sz="1800" b="1" dirty="0">
                  <a:solidFill>
                    <a:srgbClr val="1B1C21"/>
                  </a:solidFill>
                  <a:latin typeface="Arial"/>
                  <a:ea typeface="Microsoft YaHei"/>
                  <a:cs typeface="Arial"/>
                </a:rPr>
                <a:t>五轴资格</a:t>
              </a:r>
            </a:p>
          </p:txBody>
        </p:sp>
        <p:sp>
          <p:nvSpPr>
            <p:cNvPr id="13" name="TextBox 13"/>
            <p:cNvSpPr txBox="1"/>
            <p:nvPr/>
          </p:nvSpPr>
          <p:spPr>
            <a:xfrm>
              <a:off x="1203960" y="3223260"/>
              <a:ext cx="163068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10 分为主池；9 分仅补</a:t>
              </a:r>
            </a:p>
          </p:txBody>
        </p:sp>
        <p:sp>
          <p:nvSpPr>
            <p:cNvPr id="14" name="TextBox 14"/>
            <p:cNvSpPr txBox="1"/>
            <p:nvPr/>
          </p:nvSpPr>
          <p:spPr>
            <a:xfrm>
              <a:off x="1203960" y="3356610"/>
              <a:ext cx="1766697"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足；8 分及以下不入正式</a:t>
              </a:r>
            </a:p>
          </p:txBody>
        </p:sp>
        <p:sp>
          <p:nvSpPr>
            <p:cNvPr id="15" name="TextBox 15"/>
            <p:cNvSpPr txBox="1"/>
            <p:nvPr/>
          </p:nvSpPr>
          <p:spPr>
            <a:xfrm>
              <a:off x="1203960" y="3489960"/>
              <a:ext cx="470535"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Top50</a:t>
              </a:r>
            </a:p>
          </p:txBody>
        </p:sp>
      </p:grpSp>
      <p:grpSp>
        <p:nvGrpSpPr>
          <p:cNvPr id="23" name="Group 23"/>
          <p:cNvGrpSpPr/>
          <p:nvPr/>
        </p:nvGrpSpPr>
        <p:grpSpPr>
          <a:xfrm>
            <a:off x="3762375" y="1676400"/>
            <a:ext cx="2286000" cy="2381250"/>
            <a:chOff x="3762375" y="1676400"/>
            <a:chExt cx="2286000" cy="2381250"/>
          </a:xfrm>
        </p:grpSpPr>
        <p:sp>
          <p:nvSpPr>
            <p:cNvPr id="17" name="Rectangle 17"/>
            <p:cNvSpPr/>
            <p:nvPr/>
          </p:nvSpPr>
          <p:spPr>
            <a:xfrm>
              <a:off x="3762375" y="1676400"/>
              <a:ext cx="2286000" cy="2381250"/>
            </a:xfrm>
            <a:prstGeom prst="roundRect">
              <a:avLst>
                <a:gd name="adj" fmla="val 4167"/>
              </a:avLst>
            </a:prstGeom>
            <a:solidFill>
              <a:srgbClr val="FFFFFF"/>
            </a:solidFill>
            <a:ln w="11430">
              <a:solidFill>
                <a:srgbClr val="D9DEE5"/>
              </a:solidFill>
            </a:ln>
          </p:spPr>
        </p:sp>
        <p:sp>
          <p:nvSpPr>
            <p:cNvPr id="18" name="Ellipse 18"/>
            <p:cNvSpPr/>
            <p:nvPr/>
          </p:nvSpPr>
          <p:spPr>
            <a:xfrm>
              <a:off x="4619625" y="1885950"/>
              <a:ext cx="571500" cy="571500"/>
            </a:xfrm>
            <a:prstGeom prst="ellipse">
              <a:avLst/>
            </a:prstGeom>
            <a:solidFill>
              <a:srgbClr val="1F4D78"/>
            </a:solidFill>
            <a:ln>
              <a:noFill/>
            </a:ln>
          </p:spPr>
        </p:sp>
        <p:sp>
          <p:nvSpPr>
            <p:cNvPr id="19" name="TextBox 19"/>
            <p:cNvSpPr txBox="1"/>
            <p:nvPr/>
          </p:nvSpPr>
          <p:spPr>
            <a:xfrm>
              <a:off x="4797845" y="2040255"/>
              <a:ext cx="215060" cy="426720"/>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a:ea typeface="Microsoft YaHei"/>
                  <a:cs typeface="Arial"/>
                </a:rPr>
                <a:t>2</a:t>
              </a:r>
            </a:p>
          </p:txBody>
        </p:sp>
        <p:sp>
          <p:nvSpPr>
            <p:cNvPr id="20" name="TextBox 20"/>
            <p:cNvSpPr txBox="1"/>
            <p:nvPr/>
          </p:nvSpPr>
          <p:spPr>
            <a:xfrm>
              <a:off x="4378452" y="2701290"/>
              <a:ext cx="1053846" cy="365760"/>
            </a:xfrm>
            <a:prstGeom prst="rect">
              <a:avLst/>
            </a:prstGeom>
            <a:noFill/>
            <a:ln>
              <a:noFill/>
            </a:ln>
          </p:spPr>
          <p:txBody>
            <a:bodyPr wrap="none" lIns="0" tIns="0" rIns="0" bIns="0" anchor="t" anchorCtr="0">
              <a:spAutoFit/>
            </a:bodyPr>
            <a:lstStyle/>
            <a:p>
              <a:pPr algn="ctr"/>
              <a:r>
                <a:rPr lang="zh-CN" sz="1800" b="1" dirty="0">
                  <a:solidFill>
                    <a:srgbClr val="1B1C21"/>
                  </a:solidFill>
                  <a:latin typeface="Arial"/>
                  <a:ea typeface="Microsoft YaHei"/>
                  <a:cs typeface="Arial"/>
                </a:rPr>
                <a:t>学科配额</a:t>
              </a:r>
            </a:p>
          </p:txBody>
        </p:sp>
        <p:sp>
          <p:nvSpPr>
            <p:cNvPr id="21" name="TextBox 21"/>
            <p:cNvSpPr txBox="1"/>
            <p:nvPr/>
          </p:nvSpPr>
          <p:spPr>
            <a:xfrm>
              <a:off x="4013835" y="3223260"/>
              <a:ext cx="1718691"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按 1920 篇全库学科比例</a:t>
              </a:r>
            </a:p>
          </p:txBody>
        </p:sp>
        <p:sp>
          <p:nvSpPr>
            <p:cNvPr id="22" name="TextBox 22"/>
            <p:cNvSpPr txBox="1"/>
            <p:nvPr/>
          </p:nvSpPr>
          <p:spPr>
            <a:xfrm>
              <a:off x="4013835" y="3356610"/>
              <a:ext cx="1102614"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确定 50 个名额</a:t>
              </a:r>
            </a:p>
          </p:txBody>
        </p:sp>
      </p:grpSp>
      <p:grpSp>
        <p:nvGrpSpPr>
          <p:cNvPr id="30" name="Group 30"/>
          <p:cNvGrpSpPr/>
          <p:nvPr/>
        </p:nvGrpSpPr>
        <p:grpSpPr>
          <a:xfrm>
            <a:off x="6572250" y="1676400"/>
            <a:ext cx="2286000" cy="2381250"/>
            <a:chOff x="6572250" y="1676400"/>
            <a:chExt cx="2286000" cy="2381250"/>
          </a:xfrm>
        </p:grpSpPr>
        <p:sp>
          <p:nvSpPr>
            <p:cNvPr id="24" name="Rectangle 24"/>
            <p:cNvSpPr/>
            <p:nvPr/>
          </p:nvSpPr>
          <p:spPr>
            <a:xfrm>
              <a:off x="6572250" y="1676400"/>
              <a:ext cx="2286000" cy="2381250"/>
            </a:xfrm>
            <a:prstGeom prst="roundRect">
              <a:avLst>
                <a:gd name="adj" fmla="val 4167"/>
              </a:avLst>
            </a:prstGeom>
            <a:solidFill>
              <a:srgbClr val="FFFFFF"/>
            </a:solidFill>
            <a:ln w="11430">
              <a:solidFill>
                <a:srgbClr val="D9DEE5"/>
              </a:solidFill>
            </a:ln>
          </p:spPr>
        </p:sp>
        <p:sp>
          <p:nvSpPr>
            <p:cNvPr id="25" name="Ellipse 25"/>
            <p:cNvSpPr/>
            <p:nvPr/>
          </p:nvSpPr>
          <p:spPr>
            <a:xfrm>
              <a:off x="7429500" y="1885950"/>
              <a:ext cx="571500" cy="571500"/>
            </a:xfrm>
            <a:prstGeom prst="ellipse">
              <a:avLst/>
            </a:prstGeom>
            <a:solidFill>
              <a:srgbClr val="1F4D78"/>
            </a:solidFill>
            <a:ln>
              <a:noFill/>
            </a:ln>
          </p:spPr>
        </p:sp>
        <p:sp>
          <p:nvSpPr>
            <p:cNvPr id="26" name="TextBox 26"/>
            <p:cNvSpPr txBox="1"/>
            <p:nvPr/>
          </p:nvSpPr>
          <p:spPr>
            <a:xfrm>
              <a:off x="7607720" y="2040255"/>
              <a:ext cx="215060" cy="426720"/>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a:ea typeface="Microsoft YaHei"/>
                  <a:cs typeface="Arial"/>
                </a:rPr>
                <a:t>3</a:t>
              </a:r>
            </a:p>
          </p:txBody>
        </p:sp>
        <p:sp>
          <p:nvSpPr>
            <p:cNvPr id="27" name="TextBox 27"/>
            <p:cNvSpPr txBox="1"/>
            <p:nvPr/>
          </p:nvSpPr>
          <p:spPr>
            <a:xfrm>
              <a:off x="7188327" y="2701290"/>
              <a:ext cx="1053846" cy="365760"/>
            </a:xfrm>
            <a:prstGeom prst="rect">
              <a:avLst/>
            </a:prstGeom>
            <a:noFill/>
            <a:ln>
              <a:noFill/>
            </a:ln>
          </p:spPr>
          <p:txBody>
            <a:bodyPr wrap="none" lIns="0" tIns="0" rIns="0" bIns="0" anchor="t" anchorCtr="0">
              <a:spAutoFit/>
            </a:bodyPr>
            <a:lstStyle/>
            <a:p>
              <a:pPr algn="ctr"/>
              <a:r>
                <a:rPr lang="zh-CN" sz="1800" b="1" dirty="0">
                  <a:solidFill>
                    <a:srgbClr val="1B1C21"/>
                  </a:solidFill>
                  <a:latin typeface="Arial"/>
                  <a:ea typeface="Microsoft YaHei"/>
                  <a:cs typeface="Arial"/>
                </a:rPr>
                <a:t>六维排序</a:t>
              </a:r>
            </a:p>
          </p:txBody>
        </p:sp>
        <p:sp>
          <p:nvSpPr>
            <p:cNvPr id="28" name="TextBox 28"/>
            <p:cNvSpPr txBox="1"/>
            <p:nvPr/>
          </p:nvSpPr>
          <p:spPr>
            <a:xfrm>
              <a:off x="6823710" y="3223260"/>
              <a:ext cx="179070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同一学科配额内按六维创</a:t>
              </a:r>
            </a:p>
          </p:txBody>
        </p:sp>
        <p:sp>
          <p:nvSpPr>
            <p:cNvPr id="29" name="TextBox 29"/>
            <p:cNvSpPr txBox="1"/>
            <p:nvPr/>
          </p:nvSpPr>
          <p:spPr>
            <a:xfrm>
              <a:off x="6823710" y="3356610"/>
              <a:ext cx="99060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新加权分排序</a:t>
              </a:r>
            </a:p>
          </p:txBody>
        </p:sp>
      </p:grpSp>
      <p:grpSp>
        <p:nvGrpSpPr>
          <p:cNvPr id="37" name="Group 37"/>
          <p:cNvGrpSpPr/>
          <p:nvPr/>
        </p:nvGrpSpPr>
        <p:grpSpPr>
          <a:xfrm>
            <a:off x="9382125" y="1676400"/>
            <a:ext cx="2286000" cy="2381250"/>
            <a:chOff x="9382125" y="1676400"/>
            <a:chExt cx="2286000" cy="2381250"/>
          </a:xfrm>
        </p:grpSpPr>
        <p:sp>
          <p:nvSpPr>
            <p:cNvPr id="31" name="Rectangle 31"/>
            <p:cNvSpPr/>
            <p:nvPr/>
          </p:nvSpPr>
          <p:spPr>
            <a:xfrm>
              <a:off x="9382125" y="1676400"/>
              <a:ext cx="2286000" cy="2381250"/>
            </a:xfrm>
            <a:prstGeom prst="roundRect">
              <a:avLst>
                <a:gd name="adj" fmla="val 4167"/>
              </a:avLst>
            </a:prstGeom>
            <a:solidFill>
              <a:srgbClr val="FFFFFF"/>
            </a:solidFill>
            <a:ln w="11430">
              <a:solidFill>
                <a:srgbClr val="D9DEE5"/>
              </a:solidFill>
            </a:ln>
          </p:spPr>
        </p:sp>
        <p:sp>
          <p:nvSpPr>
            <p:cNvPr id="32" name="Ellipse 32"/>
            <p:cNvSpPr/>
            <p:nvPr/>
          </p:nvSpPr>
          <p:spPr>
            <a:xfrm>
              <a:off x="10239375" y="1885950"/>
              <a:ext cx="571500" cy="571500"/>
            </a:xfrm>
            <a:prstGeom prst="ellipse">
              <a:avLst/>
            </a:prstGeom>
            <a:solidFill>
              <a:srgbClr val="1F4D78"/>
            </a:solidFill>
            <a:ln>
              <a:noFill/>
            </a:ln>
          </p:spPr>
        </p:sp>
        <p:sp>
          <p:nvSpPr>
            <p:cNvPr id="33" name="TextBox 33"/>
            <p:cNvSpPr txBox="1"/>
            <p:nvPr/>
          </p:nvSpPr>
          <p:spPr>
            <a:xfrm>
              <a:off x="10417595" y="2040255"/>
              <a:ext cx="215060" cy="426720"/>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a:ea typeface="Microsoft YaHei"/>
                  <a:cs typeface="Arial"/>
                </a:rPr>
                <a:t>4</a:t>
              </a:r>
            </a:p>
          </p:txBody>
        </p:sp>
        <p:sp>
          <p:nvSpPr>
            <p:cNvPr id="34" name="TextBox 34"/>
            <p:cNvSpPr txBox="1"/>
            <p:nvPr/>
          </p:nvSpPr>
          <p:spPr>
            <a:xfrm>
              <a:off x="9998202" y="2701290"/>
              <a:ext cx="1053846" cy="365760"/>
            </a:xfrm>
            <a:prstGeom prst="rect">
              <a:avLst/>
            </a:prstGeom>
            <a:noFill/>
            <a:ln>
              <a:noFill/>
            </a:ln>
          </p:spPr>
          <p:txBody>
            <a:bodyPr wrap="none" lIns="0" tIns="0" rIns="0" bIns="0" anchor="t" anchorCtr="0">
              <a:spAutoFit/>
            </a:bodyPr>
            <a:lstStyle/>
            <a:p>
              <a:pPr algn="ctr"/>
              <a:r>
                <a:rPr lang="zh-CN" sz="1800" b="1" dirty="0">
                  <a:solidFill>
                    <a:srgbClr val="1B1C21"/>
                  </a:solidFill>
                  <a:latin typeface="Arial"/>
                  <a:ea typeface="Microsoft YaHei"/>
                  <a:cs typeface="Arial"/>
                </a:rPr>
                <a:t>专家复核</a:t>
              </a:r>
            </a:p>
          </p:txBody>
        </p:sp>
        <p:sp>
          <p:nvSpPr>
            <p:cNvPr id="35" name="TextBox 35"/>
            <p:cNvSpPr txBox="1"/>
            <p:nvPr/>
          </p:nvSpPr>
          <p:spPr>
            <a:xfrm>
              <a:off x="9633585" y="3223260"/>
              <a:ext cx="1798701"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保留 std&gt;8、边界归属和</a:t>
              </a:r>
            </a:p>
          </p:txBody>
        </p:sp>
        <p:sp>
          <p:nvSpPr>
            <p:cNvPr id="36" name="TextBox 36"/>
            <p:cNvSpPr txBox="1"/>
            <p:nvPr/>
          </p:nvSpPr>
          <p:spPr>
            <a:xfrm>
              <a:off x="9633585" y="3356610"/>
              <a:ext cx="115062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代表性判断线索</a:t>
              </a:r>
            </a:p>
          </p:txBody>
        </p:sp>
      </p:grpSp>
      <p:sp>
        <p:nvSpPr>
          <p:cNvPr id="38" name="Rectangle 38"/>
          <p:cNvSpPr/>
          <p:nvPr/>
        </p:nvSpPr>
        <p:spPr>
          <a:xfrm>
            <a:off x="914400" y="4610100"/>
            <a:ext cx="4876800" cy="1104900"/>
          </a:xfrm>
          <a:prstGeom prst="roundRect">
            <a:avLst>
              <a:gd name="adj" fmla="val 6897"/>
            </a:avLst>
          </a:prstGeom>
          <a:solidFill>
            <a:srgbClr val="F0F7FF"/>
          </a:solidFill>
          <a:ln w="11430">
            <a:solidFill>
              <a:srgbClr val="D9DEE5"/>
            </a:solidFill>
          </a:ln>
        </p:spPr>
      </p:sp>
      <p:sp>
        <p:nvSpPr>
          <p:cNvPr id="39" name="TextBox 39"/>
          <p:cNvSpPr txBox="1"/>
          <p:nvPr/>
        </p:nvSpPr>
        <p:spPr>
          <a:xfrm>
            <a:off x="1198245" y="4774882"/>
            <a:ext cx="1197054"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当前可展示</a:t>
            </a:r>
          </a:p>
        </p:txBody>
      </p:sp>
      <p:sp>
        <p:nvSpPr>
          <p:cNvPr id="40" name="TextBox 40"/>
          <p:cNvSpPr txBox="1"/>
          <p:nvPr/>
        </p:nvSpPr>
        <p:spPr>
          <a:xfrm>
            <a:off x="1203008" y="5139214"/>
            <a:ext cx="2081141"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Top50 排名、学科配额、六</a:t>
            </a:r>
          </a:p>
        </p:txBody>
      </p:sp>
      <p:sp>
        <p:nvSpPr>
          <p:cNvPr id="41" name="TextBox 41"/>
          <p:cNvSpPr txBox="1"/>
          <p:nvPr/>
        </p:nvSpPr>
        <p:spPr>
          <a:xfrm>
            <a:off x="1203008" y="5405914"/>
            <a:ext cx="2072640"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维分、标准差和五轴分均来</a:t>
            </a:r>
          </a:p>
        </p:txBody>
      </p:sp>
      <p:sp>
        <p:nvSpPr>
          <p:cNvPr id="42" name="TextBox 42"/>
          <p:cNvSpPr txBox="1"/>
          <p:nvPr/>
        </p:nvSpPr>
        <p:spPr>
          <a:xfrm>
            <a:off x="1203008" y="5672614"/>
            <a:ext cx="1571077"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自 canonical 数据。</a:t>
            </a:r>
          </a:p>
        </p:txBody>
      </p:sp>
      <p:sp>
        <p:nvSpPr>
          <p:cNvPr id="43" name="Rectangle 43"/>
          <p:cNvSpPr/>
          <p:nvPr/>
        </p:nvSpPr>
        <p:spPr>
          <a:xfrm>
            <a:off x="6400800" y="4610100"/>
            <a:ext cx="4876800" cy="1104900"/>
          </a:xfrm>
          <a:prstGeom prst="roundRect">
            <a:avLst>
              <a:gd name="adj" fmla="val 6897"/>
            </a:avLst>
          </a:prstGeom>
          <a:solidFill>
            <a:srgbClr val="FFF8F0"/>
          </a:solidFill>
          <a:ln w="11430">
            <a:solidFill>
              <a:srgbClr val="D9DEE5"/>
            </a:solidFill>
          </a:ln>
        </p:spPr>
      </p:sp>
      <p:sp>
        <p:nvSpPr>
          <p:cNvPr id="44" name="TextBox 44"/>
          <p:cNvSpPr txBox="1"/>
          <p:nvPr/>
        </p:nvSpPr>
        <p:spPr>
          <a:xfrm>
            <a:off x="6684645" y="4774882"/>
            <a:ext cx="966026" cy="335280"/>
          </a:xfrm>
          <a:prstGeom prst="rect">
            <a:avLst/>
          </a:prstGeom>
          <a:noFill/>
          <a:ln>
            <a:noFill/>
          </a:ln>
        </p:spPr>
        <p:txBody>
          <a:bodyPr wrap="none" lIns="0" tIns="0" rIns="0" bIns="0" anchor="t" anchorCtr="0">
            <a:spAutoFit/>
          </a:bodyPr>
          <a:lstStyle/>
          <a:p>
            <a:pPr algn="l"/>
            <a:r>
              <a:rPr lang="zh-CN" sz="1650" b="1" dirty="0">
                <a:solidFill>
                  <a:srgbClr val="E07B00"/>
                </a:solidFill>
                <a:latin typeface="Arial"/>
                <a:ea typeface="Microsoft YaHei"/>
                <a:cs typeface="Arial"/>
              </a:rPr>
              <a:t>暂不展示</a:t>
            </a:r>
          </a:p>
        </p:txBody>
      </p:sp>
      <p:sp>
        <p:nvSpPr>
          <p:cNvPr id="45" name="TextBox 45"/>
          <p:cNvSpPr txBox="1"/>
          <p:nvPr/>
        </p:nvSpPr>
        <p:spPr>
          <a:xfrm>
            <a:off x="6689408" y="5139214"/>
            <a:ext cx="2072640"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旧解释验证均值、旧知识库</a:t>
            </a:r>
          </a:p>
        </p:txBody>
      </p:sp>
      <p:sp>
        <p:nvSpPr>
          <p:cNvPr id="46" name="TextBox 46"/>
          <p:cNvSpPr txBox="1"/>
          <p:nvPr/>
        </p:nvSpPr>
        <p:spPr>
          <a:xfrm>
            <a:off x="6689408" y="5405914"/>
            <a:ext cx="2072640"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条目数、高置信度篇数；待</a:t>
            </a:r>
          </a:p>
        </p:txBody>
      </p:sp>
      <p:sp>
        <p:nvSpPr>
          <p:cNvPr id="47" name="TextBox 47"/>
          <p:cNvSpPr txBox="1"/>
          <p:nvPr/>
        </p:nvSpPr>
        <p:spPr>
          <a:xfrm>
            <a:off x="6689408" y="5672614"/>
            <a:ext cx="1902619"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按同一名单重跑后补入。</a:t>
            </a:r>
          </a:p>
        </p:txBody>
      </p:sp>
      <p:grpSp>
        <p:nvGrpSpPr>
          <p:cNvPr id="51" name="Group 51"/>
          <p:cNvGrpSpPr/>
          <p:nvPr/>
        </p:nvGrpSpPr>
        <p:grpSpPr>
          <a:xfrm>
            <a:off x="0" y="6516343"/>
            <a:ext cx="12192000" cy="341657"/>
            <a:chOff x="0" y="6516343"/>
            <a:chExt cx="12192000" cy="341657"/>
          </a:xfrm>
        </p:grpSpPr>
        <p:sp>
          <p:nvSpPr>
            <p:cNvPr id="48" name="Rectangle 48"/>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49" name="TextBox 49"/>
            <p:cNvSpPr txBox="1"/>
            <p:nvPr/>
          </p:nvSpPr>
          <p:spPr>
            <a:xfrm>
              <a:off x="668017" y="6516343"/>
              <a:ext cx="172541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Top50 解释验证口径</a:t>
              </a:r>
            </a:p>
          </p:txBody>
        </p:sp>
        <p:sp>
          <p:nvSpPr>
            <p:cNvPr id="50" name="TextBox 50"/>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423198"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论文分数分布</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4625329" y="1046507"/>
            <a:ext cx="2941343" cy="325069"/>
          </a:xfrm>
          <a:prstGeom prst="rect">
            <a:avLst/>
          </a:prstGeom>
          <a:noFill/>
          <a:ln>
            <a:noFill/>
          </a:ln>
        </p:spPr>
        <p:txBody>
          <a:bodyPr wrap="none" lIns="0" tIns="0" rIns="0" bIns="0" anchor="t" anchorCtr="0">
            <a:spAutoFit/>
          </a:bodyPr>
          <a:lstStyle/>
          <a:p>
            <a:pPr algn="ctr"/>
            <a:r>
              <a:rPr lang="zh-CN" sz="1600" b="1" dirty="0">
                <a:solidFill>
                  <a:srgbClr val="1B1C21"/>
                </a:solidFill>
                <a:latin typeface="Arial"/>
                <a:ea typeface="Microsoft YaHei"/>
                <a:cs typeface="Arial"/>
              </a:rPr>
              <a:t>1920 篇论文 R2 加权总分分布</a:t>
            </a:r>
          </a:p>
        </p:txBody>
      </p:sp>
      <p:grpSp>
        <p:nvGrpSpPr>
          <p:cNvPr id="41" name="Group 41"/>
          <p:cNvGrpSpPr/>
          <p:nvPr/>
        </p:nvGrpSpPr>
        <p:grpSpPr>
          <a:xfrm>
            <a:off x="1104138" y="1470660"/>
            <a:ext cx="9754362" cy="3006090"/>
            <a:chOff x="1104138" y="1470660"/>
            <a:chExt cx="9754362" cy="3006090"/>
          </a:xfrm>
        </p:grpSpPr>
        <p:sp>
          <p:nvSpPr>
            <p:cNvPr id="9" name="Line 9"/>
            <p:cNvSpPr/>
            <p:nvPr/>
          </p:nvSpPr>
          <p:spPr>
            <a:xfrm>
              <a:off x="1409700" y="1524000"/>
              <a:ext cx="9525" cy="2667000"/>
            </a:xfrm>
            <a:custGeom>
              <a:avLst/>
              <a:gdLst/>
              <a:ahLst/>
              <a:cxnLst/>
              <a:rect l="l" t="t" r="r" b="b"/>
              <a:pathLst>
                <a:path w="9525" h="2667000">
                  <a:moveTo>
                    <a:pt x="0" y="0"/>
                  </a:moveTo>
                  <a:lnTo>
                    <a:pt x="0" y="2667000"/>
                  </a:lnTo>
                </a:path>
              </a:pathLst>
            </a:custGeom>
            <a:noFill/>
            <a:ln w="14288">
              <a:solidFill>
                <a:srgbClr val="94A3B8"/>
              </a:solidFill>
            </a:ln>
          </p:spPr>
        </p:sp>
        <p:sp>
          <p:nvSpPr>
            <p:cNvPr id="10" name="TextBox 10"/>
            <p:cNvSpPr txBox="1"/>
            <p:nvPr/>
          </p:nvSpPr>
          <p:spPr>
            <a:xfrm>
              <a:off x="1104138" y="1470660"/>
              <a:ext cx="206502" cy="243840"/>
            </a:xfrm>
            <a:prstGeom prst="rect">
              <a:avLst/>
            </a:prstGeom>
            <a:noFill/>
            <a:ln>
              <a:noFill/>
            </a:ln>
          </p:spPr>
          <p:txBody>
            <a:bodyPr wrap="none" lIns="0" tIns="0" rIns="0" bIns="0" anchor="t" anchorCtr="0">
              <a:spAutoFit/>
            </a:bodyPr>
            <a:lstStyle/>
            <a:p>
              <a:pPr algn="r"/>
              <a:r>
                <a:rPr lang="zh-CN" sz="1200" dirty="0">
                  <a:solidFill>
                    <a:srgbClr val="5A6472"/>
                  </a:solidFill>
                  <a:latin typeface="Arial"/>
                  <a:ea typeface="Microsoft YaHei"/>
                  <a:cs typeface="Arial"/>
                </a:rPr>
                <a:t>26</a:t>
              </a:r>
            </a:p>
          </p:txBody>
        </p:sp>
        <p:sp>
          <p:nvSpPr>
            <p:cNvPr id="11" name="TextBox 11"/>
            <p:cNvSpPr txBox="1"/>
            <p:nvPr/>
          </p:nvSpPr>
          <p:spPr>
            <a:xfrm>
              <a:off x="1104138" y="2137410"/>
              <a:ext cx="206502" cy="243840"/>
            </a:xfrm>
            <a:prstGeom prst="rect">
              <a:avLst/>
            </a:prstGeom>
            <a:noFill/>
            <a:ln>
              <a:noFill/>
            </a:ln>
          </p:spPr>
          <p:txBody>
            <a:bodyPr wrap="none" lIns="0" tIns="0" rIns="0" bIns="0" anchor="t" anchorCtr="0">
              <a:spAutoFit/>
            </a:bodyPr>
            <a:lstStyle/>
            <a:p>
              <a:pPr algn="r"/>
              <a:r>
                <a:rPr lang="zh-CN" sz="1200" dirty="0">
                  <a:solidFill>
                    <a:srgbClr val="5A6472"/>
                  </a:solidFill>
                  <a:latin typeface="Arial"/>
                  <a:ea typeface="Microsoft YaHei"/>
                  <a:cs typeface="Arial"/>
                </a:rPr>
                <a:t>26</a:t>
              </a:r>
            </a:p>
          </p:txBody>
        </p:sp>
        <p:sp>
          <p:nvSpPr>
            <p:cNvPr id="12" name="TextBox 12"/>
            <p:cNvSpPr txBox="1"/>
            <p:nvPr/>
          </p:nvSpPr>
          <p:spPr>
            <a:xfrm>
              <a:off x="1104138" y="2804160"/>
              <a:ext cx="206502" cy="243840"/>
            </a:xfrm>
            <a:prstGeom prst="rect">
              <a:avLst/>
            </a:prstGeom>
            <a:noFill/>
            <a:ln>
              <a:noFill/>
            </a:ln>
          </p:spPr>
          <p:txBody>
            <a:bodyPr wrap="none" lIns="0" tIns="0" rIns="0" bIns="0" anchor="t" anchorCtr="0">
              <a:spAutoFit/>
            </a:bodyPr>
            <a:lstStyle/>
            <a:p>
              <a:pPr algn="r"/>
              <a:r>
                <a:rPr lang="zh-CN" sz="1200" dirty="0">
                  <a:solidFill>
                    <a:srgbClr val="5A6472"/>
                  </a:solidFill>
                  <a:latin typeface="Arial"/>
                  <a:ea typeface="Microsoft YaHei"/>
                  <a:cs typeface="Arial"/>
                </a:rPr>
                <a:t>26</a:t>
              </a:r>
            </a:p>
          </p:txBody>
        </p:sp>
        <p:sp>
          <p:nvSpPr>
            <p:cNvPr id="13" name="TextBox 13"/>
            <p:cNvSpPr txBox="1"/>
            <p:nvPr/>
          </p:nvSpPr>
          <p:spPr>
            <a:xfrm>
              <a:off x="1104138" y="3470910"/>
              <a:ext cx="206502" cy="243840"/>
            </a:xfrm>
            <a:prstGeom prst="rect">
              <a:avLst/>
            </a:prstGeom>
            <a:noFill/>
            <a:ln>
              <a:noFill/>
            </a:ln>
          </p:spPr>
          <p:txBody>
            <a:bodyPr wrap="none" lIns="0" tIns="0" rIns="0" bIns="0" anchor="t" anchorCtr="0">
              <a:spAutoFit/>
            </a:bodyPr>
            <a:lstStyle/>
            <a:p>
              <a:pPr algn="r"/>
              <a:r>
                <a:rPr lang="zh-CN" sz="1200" dirty="0">
                  <a:solidFill>
                    <a:srgbClr val="5A6472"/>
                  </a:solidFill>
                  <a:latin typeface="Arial"/>
                  <a:ea typeface="Microsoft YaHei"/>
                  <a:cs typeface="Arial"/>
                </a:rPr>
                <a:t>26</a:t>
              </a:r>
            </a:p>
          </p:txBody>
        </p:sp>
        <p:sp>
          <p:nvSpPr>
            <p:cNvPr id="14" name="TextBox 14"/>
            <p:cNvSpPr txBox="1"/>
            <p:nvPr/>
          </p:nvSpPr>
          <p:spPr>
            <a:xfrm>
              <a:off x="1104138" y="4137660"/>
              <a:ext cx="206502" cy="243840"/>
            </a:xfrm>
            <a:prstGeom prst="rect">
              <a:avLst/>
            </a:prstGeom>
            <a:noFill/>
            <a:ln>
              <a:noFill/>
            </a:ln>
          </p:spPr>
          <p:txBody>
            <a:bodyPr wrap="none" lIns="0" tIns="0" rIns="0" bIns="0" anchor="t" anchorCtr="0">
              <a:spAutoFit/>
            </a:bodyPr>
            <a:lstStyle/>
            <a:p>
              <a:pPr algn="r"/>
              <a:r>
                <a:rPr lang="zh-CN" sz="1200" dirty="0">
                  <a:solidFill>
                    <a:srgbClr val="5A6472"/>
                  </a:solidFill>
                  <a:latin typeface="Arial"/>
                  <a:ea typeface="Microsoft YaHei"/>
                  <a:cs typeface="Arial"/>
                </a:rPr>
                <a:t>26</a:t>
              </a:r>
            </a:p>
          </p:txBody>
        </p:sp>
        <p:sp>
          <p:nvSpPr>
            <p:cNvPr id="15" name="Line 15"/>
            <p:cNvSpPr/>
            <p:nvPr/>
          </p:nvSpPr>
          <p:spPr>
            <a:xfrm>
              <a:off x="1409700" y="1524000"/>
              <a:ext cx="9448800" cy="9525"/>
            </a:xfrm>
            <a:custGeom>
              <a:avLst/>
              <a:gdLst/>
              <a:ahLst/>
              <a:cxnLst/>
              <a:rect l="l" t="t" r="r" b="b"/>
              <a:pathLst>
                <a:path w="9448800" h="9525">
                  <a:moveTo>
                    <a:pt x="0" y="0"/>
                  </a:moveTo>
                  <a:lnTo>
                    <a:pt x="9448800" y="0"/>
                  </a:lnTo>
                </a:path>
              </a:pathLst>
            </a:custGeom>
            <a:noFill/>
            <a:ln w="9525">
              <a:solidFill>
                <a:srgbClr val="E8ECF1"/>
              </a:solidFill>
            </a:ln>
          </p:spPr>
        </p:sp>
        <p:sp>
          <p:nvSpPr>
            <p:cNvPr id="16" name="Line 16"/>
            <p:cNvSpPr/>
            <p:nvPr/>
          </p:nvSpPr>
          <p:spPr>
            <a:xfrm>
              <a:off x="1409700" y="2190750"/>
              <a:ext cx="9448800" cy="9525"/>
            </a:xfrm>
            <a:custGeom>
              <a:avLst/>
              <a:gdLst/>
              <a:ahLst/>
              <a:cxnLst/>
              <a:rect l="l" t="t" r="r" b="b"/>
              <a:pathLst>
                <a:path w="9448800" h="9525">
                  <a:moveTo>
                    <a:pt x="0" y="0"/>
                  </a:moveTo>
                  <a:lnTo>
                    <a:pt x="9448800" y="0"/>
                  </a:lnTo>
                </a:path>
              </a:pathLst>
            </a:custGeom>
            <a:noFill/>
            <a:ln w="9525">
              <a:solidFill>
                <a:srgbClr val="E8ECF1"/>
              </a:solidFill>
            </a:ln>
          </p:spPr>
        </p:sp>
        <p:sp>
          <p:nvSpPr>
            <p:cNvPr id="17" name="Line 17"/>
            <p:cNvSpPr/>
            <p:nvPr/>
          </p:nvSpPr>
          <p:spPr>
            <a:xfrm>
              <a:off x="1409700" y="2857500"/>
              <a:ext cx="9448800" cy="9525"/>
            </a:xfrm>
            <a:custGeom>
              <a:avLst/>
              <a:gdLst/>
              <a:ahLst/>
              <a:cxnLst/>
              <a:rect l="l" t="t" r="r" b="b"/>
              <a:pathLst>
                <a:path w="9448800" h="9525">
                  <a:moveTo>
                    <a:pt x="0" y="0"/>
                  </a:moveTo>
                  <a:lnTo>
                    <a:pt x="9448800" y="0"/>
                  </a:lnTo>
                </a:path>
              </a:pathLst>
            </a:custGeom>
            <a:noFill/>
            <a:ln w="9525">
              <a:solidFill>
                <a:srgbClr val="E8ECF1"/>
              </a:solidFill>
            </a:ln>
          </p:spPr>
        </p:sp>
        <p:sp>
          <p:nvSpPr>
            <p:cNvPr id="18" name="Line 18"/>
            <p:cNvSpPr/>
            <p:nvPr/>
          </p:nvSpPr>
          <p:spPr>
            <a:xfrm>
              <a:off x="1409700" y="3524250"/>
              <a:ext cx="9448800" cy="9525"/>
            </a:xfrm>
            <a:custGeom>
              <a:avLst/>
              <a:gdLst/>
              <a:ahLst/>
              <a:cxnLst/>
              <a:rect l="l" t="t" r="r" b="b"/>
              <a:pathLst>
                <a:path w="9448800" h="9525">
                  <a:moveTo>
                    <a:pt x="0" y="0"/>
                  </a:moveTo>
                  <a:lnTo>
                    <a:pt x="9448800" y="0"/>
                  </a:lnTo>
                </a:path>
              </a:pathLst>
            </a:custGeom>
            <a:noFill/>
            <a:ln w="9525">
              <a:solidFill>
                <a:srgbClr val="E8ECF1"/>
              </a:solidFill>
            </a:ln>
          </p:spPr>
        </p:sp>
        <p:sp>
          <p:nvSpPr>
            <p:cNvPr id="19" name="Line 19"/>
            <p:cNvSpPr/>
            <p:nvPr/>
          </p:nvSpPr>
          <p:spPr>
            <a:xfrm>
              <a:off x="1409700" y="4191000"/>
              <a:ext cx="9448800" cy="9525"/>
            </a:xfrm>
            <a:custGeom>
              <a:avLst/>
              <a:gdLst/>
              <a:ahLst/>
              <a:cxnLst/>
              <a:rect l="l" t="t" r="r" b="b"/>
              <a:pathLst>
                <a:path w="9448800" h="9525">
                  <a:moveTo>
                    <a:pt x="0" y="0"/>
                  </a:moveTo>
                  <a:lnTo>
                    <a:pt x="9448800" y="0"/>
                  </a:lnTo>
                </a:path>
              </a:pathLst>
            </a:custGeom>
            <a:noFill/>
            <a:ln w="14288">
              <a:solidFill>
                <a:srgbClr val="94A3B8"/>
              </a:solidFill>
            </a:ln>
          </p:spPr>
        </p:sp>
        <p:sp>
          <p:nvSpPr>
            <p:cNvPr id="20" name="Rectangle 20"/>
            <p:cNvSpPr/>
            <p:nvPr/>
          </p:nvSpPr>
          <p:spPr>
            <a:xfrm>
              <a:off x="1600200" y="2428875"/>
              <a:ext cx="1143000" cy="1762125"/>
            </a:xfrm>
            <a:prstGeom prst="roundRect">
              <a:avLst>
                <a:gd name="adj" fmla="val 1667"/>
              </a:avLst>
            </a:prstGeom>
            <a:solidFill>
              <a:srgbClr val="44546A">
                <a:alpha val="70000"/>
              </a:srgbClr>
            </a:solidFill>
            <a:ln>
              <a:noFill/>
            </a:ln>
          </p:spPr>
        </p:sp>
        <p:sp>
          <p:nvSpPr>
            <p:cNvPr id="21" name="TextBox 21"/>
            <p:cNvSpPr txBox="1"/>
            <p:nvPr/>
          </p:nvSpPr>
          <p:spPr>
            <a:xfrm>
              <a:off x="2038845" y="2204085"/>
              <a:ext cx="265709" cy="243840"/>
            </a:xfrm>
            <a:prstGeom prst="rect">
              <a:avLst/>
            </a:prstGeom>
            <a:noFill/>
            <a:ln>
              <a:noFill/>
            </a:ln>
          </p:spPr>
          <p:txBody>
            <a:bodyPr wrap="none" lIns="0" tIns="0" rIns="0" bIns="0" anchor="t" anchorCtr="0">
              <a:spAutoFit/>
            </a:bodyPr>
            <a:lstStyle/>
            <a:p>
              <a:pPr algn="ctr"/>
              <a:r>
                <a:rPr lang="zh-CN" sz="1200" b="1" dirty="0">
                  <a:solidFill>
                    <a:srgbClr val="1B1C21"/>
                  </a:solidFill>
                  <a:latin typeface="Arial"/>
                  <a:ea typeface="Microsoft YaHei"/>
                  <a:cs typeface="Arial"/>
                </a:rPr>
                <a:t>331</a:t>
              </a:r>
            </a:p>
          </p:txBody>
        </p:sp>
        <p:sp>
          <p:nvSpPr>
            <p:cNvPr id="22" name="TextBox 22"/>
            <p:cNvSpPr txBox="1"/>
            <p:nvPr/>
          </p:nvSpPr>
          <p:spPr>
            <a:xfrm>
              <a:off x="1892427" y="4232910"/>
              <a:ext cx="558546"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[0-60)</a:t>
              </a:r>
            </a:p>
          </p:txBody>
        </p:sp>
        <p:sp>
          <p:nvSpPr>
            <p:cNvPr id="23" name="Rectangle 23"/>
            <p:cNvSpPr/>
            <p:nvPr/>
          </p:nvSpPr>
          <p:spPr>
            <a:xfrm>
              <a:off x="2933700" y="3381375"/>
              <a:ext cx="1143000" cy="809625"/>
            </a:xfrm>
            <a:prstGeom prst="roundRect">
              <a:avLst>
                <a:gd name="adj" fmla="val 2353"/>
              </a:avLst>
            </a:prstGeom>
            <a:solidFill>
              <a:srgbClr val="44546A">
                <a:alpha val="70000"/>
              </a:srgbClr>
            </a:solidFill>
            <a:ln>
              <a:noFill/>
            </a:ln>
          </p:spPr>
        </p:sp>
        <p:sp>
          <p:nvSpPr>
            <p:cNvPr id="24" name="TextBox 24"/>
            <p:cNvSpPr txBox="1"/>
            <p:nvPr/>
          </p:nvSpPr>
          <p:spPr>
            <a:xfrm>
              <a:off x="3372345" y="3156585"/>
              <a:ext cx="265709" cy="243840"/>
            </a:xfrm>
            <a:prstGeom prst="rect">
              <a:avLst/>
            </a:prstGeom>
            <a:noFill/>
            <a:ln>
              <a:noFill/>
            </a:ln>
          </p:spPr>
          <p:txBody>
            <a:bodyPr wrap="none" lIns="0" tIns="0" rIns="0" bIns="0" anchor="t" anchorCtr="0">
              <a:spAutoFit/>
            </a:bodyPr>
            <a:lstStyle/>
            <a:p>
              <a:pPr algn="ctr"/>
              <a:r>
                <a:rPr lang="zh-CN" sz="1200" b="1" dirty="0">
                  <a:solidFill>
                    <a:srgbClr val="1B1C21"/>
                  </a:solidFill>
                  <a:latin typeface="Arial"/>
                  <a:ea typeface="Microsoft YaHei"/>
                  <a:cs typeface="Arial"/>
                </a:rPr>
                <a:t>152</a:t>
              </a:r>
            </a:p>
          </p:txBody>
        </p:sp>
        <p:sp>
          <p:nvSpPr>
            <p:cNvPr id="25" name="TextBox 25"/>
            <p:cNvSpPr txBox="1"/>
            <p:nvPr/>
          </p:nvSpPr>
          <p:spPr>
            <a:xfrm>
              <a:off x="3181922" y="4232910"/>
              <a:ext cx="646557"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[60-65)</a:t>
              </a:r>
            </a:p>
          </p:txBody>
        </p:sp>
        <p:sp>
          <p:nvSpPr>
            <p:cNvPr id="26" name="Rectangle 26"/>
            <p:cNvSpPr/>
            <p:nvPr/>
          </p:nvSpPr>
          <p:spPr>
            <a:xfrm>
              <a:off x="4267200" y="3105150"/>
              <a:ext cx="1143000" cy="1085850"/>
            </a:xfrm>
            <a:prstGeom prst="roundRect">
              <a:avLst>
                <a:gd name="adj" fmla="val 1754"/>
              </a:avLst>
            </a:prstGeom>
            <a:solidFill>
              <a:srgbClr val="44546A">
                <a:alpha val="70000"/>
              </a:srgbClr>
            </a:solidFill>
            <a:ln>
              <a:noFill/>
            </a:ln>
          </p:spPr>
        </p:sp>
        <p:sp>
          <p:nvSpPr>
            <p:cNvPr id="27" name="TextBox 27"/>
            <p:cNvSpPr txBox="1"/>
            <p:nvPr/>
          </p:nvSpPr>
          <p:spPr>
            <a:xfrm>
              <a:off x="4684843" y="2880360"/>
              <a:ext cx="307715" cy="243840"/>
            </a:xfrm>
            <a:prstGeom prst="rect">
              <a:avLst/>
            </a:prstGeom>
            <a:noFill/>
            <a:ln>
              <a:noFill/>
            </a:ln>
          </p:spPr>
          <p:txBody>
            <a:bodyPr wrap="none" lIns="0" tIns="0" rIns="0" bIns="0" anchor="t" anchorCtr="0">
              <a:spAutoFit/>
            </a:bodyPr>
            <a:lstStyle/>
            <a:p>
              <a:pPr algn="ctr"/>
              <a:r>
                <a:rPr lang="zh-CN" sz="1200" b="1" dirty="0">
                  <a:solidFill>
                    <a:srgbClr val="1B1C21"/>
                  </a:solidFill>
                  <a:latin typeface="Arial"/>
                  <a:ea typeface="Microsoft YaHei"/>
                  <a:cs typeface="Arial"/>
                </a:rPr>
                <a:t>204</a:t>
              </a:r>
            </a:p>
          </p:txBody>
        </p:sp>
        <p:sp>
          <p:nvSpPr>
            <p:cNvPr id="28" name="TextBox 28"/>
            <p:cNvSpPr txBox="1"/>
            <p:nvPr/>
          </p:nvSpPr>
          <p:spPr>
            <a:xfrm>
              <a:off x="4515422" y="4232910"/>
              <a:ext cx="646557"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[65-70)</a:t>
              </a:r>
            </a:p>
          </p:txBody>
        </p:sp>
        <p:sp>
          <p:nvSpPr>
            <p:cNvPr id="29" name="Rectangle 29"/>
            <p:cNvSpPr/>
            <p:nvPr/>
          </p:nvSpPr>
          <p:spPr>
            <a:xfrm>
              <a:off x="5600700" y="2476500"/>
              <a:ext cx="1143000" cy="1714500"/>
            </a:xfrm>
            <a:prstGeom prst="roundRect">
              <a:avLst>
                <a:gd name="adj" fmla="val 1667"/>
              </a:avLst>
            </a:prstGeom>
            <a:solidFill>
              <a:srgbClr val="1F4D78"/>
            </a:solidFill>
            <a:ln>
              <a:noFill/>
            </a:ln>
          </p:spPr>
        </p:sp>
        <p:sp>
          <p:nvSpPr>
            <p:cNvPr id="30" name="TextBox 30"/>
            <p:cNvSpPr txBox="1"/>
            <p:nvPr/>
          </p:nvSpPr>
          <p:spPr>
            <a:xfrm>
              <a:off x="6039345" y="2251710"/>
              <a:ext cx="265709" cy="243840"/>
            </a:xfrm>
            <a:prstGeom prst="rect">
              <a:avLst/>
            </a:prstGeom>
            <a:noFill/>
            <a:ln>
              <a:noFill/>
            </a:ln>
          </p:spPr>
          <p:txBody>
            <a:bodyPr wrap="none" lIns="0" tIns="0" rIns="0" bIns="0" anchor="t" anchorCtr="0">
              <a:spAutoFit/>
            </a:bodyPr>
            <a:lstStyle/>
            <a:p>
              <a:pPr algn="ctr"/>
              <a:r>
                <a:rPr lang="zh-CN" sz="1200" b="1" dirty="0">
                  <a:solidFill>
                    <a:srgbClr val="1B1C21"/>
                  </a:solidFill>
                  <a:latin typeface="Arial"/>
                  <a:ea typeface="Microsoft YaHei"/>
                  <a:cs typeface="Arial"/>
                </a:rPr>
                <a:t>321</a:t>
              </a:r>
            </a:p>
          </p:txBody>
        </p:sp>
        <p:sp>
          <p:nvSpPr>
            <p:cNvPr id="31" name="TextBox 31"/>
            <p:cNvSpPr txBox="1"/>
            <p:nvPr/>
          </p:nvSpPr>
          <p:spPr>
            <a:xfrm>
              <a:off x="5848921" y="4232910"/>
              <a:ext cx="646557"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[70-75)</a:t>
              </a:r>
            </a:p>
          </p:txBody>
        </p:sp>
        <p:sp>
          <p:nvSpPr>
            <p:cNvPr id="32" name="Rectangle 32"/>
            <p:cNvSpPr/>
            <p:nvPr/>
          </p:nvSpPr>
          <p:spPr>
            <a:xfrm>
              <a:off x="6934200" y="1781175"/>
              <a:ext cx="1143000" cy="2409825"/>
            </a:xfrm>
            <a:prstGeom prst="roundRect">
              <a:avLst>
                <a:gd name="adj" fmla="val 1667"/>
              </a:avLst>
            </a:prstGeom>
            <a:solidFill>
              <a:srgbClr val="C8161E"/>
            </a:solidFill>
            <a:ln>
              <a:noFill/>
            </a:ln>
          </p:spPr>
        </p:sp>
        <p:sp>
          <p:nvSpPr>
            <p:cNvPr id="33" name="TextBox 33"/>
            <p:cNvSpPr txBox="1"/>
            <p:nvPr/>
          </p:nvSpPr>
          <p:spPr>
            <a:xfrm>
              <a:off x="7372845" y="1556385"/>
              <a:ext cx="265709" cy="243840"/>
            </a:xfrm>
            <a:prstGeom prst="rect">
              <a:avLst/>
            </a:prstGeom>
            <a:noFill/>
            <a:ln>
              <a:noFill/>
            </a:ln>
          </p:spPr>
          <p:txBody>
            <a:bodyPr wrap="none" lIns="0" tIns="0" rIns="0" bIns="0" anchor="t" anchorCtr="0">
              <a:spAutoFit/>
            </a:bodyPr>
            <a:lstStyle/>
            <a:p>
              <a:pPr algn="ctr"/>
              <a:r>
                <a:rPr lang="zh-CN" sz="1200" b="1" dirty="0">
                  <a:solidFill>
                    <a:srgbClr val="1B1C21"/>
                  </a:solidFill>
                  <a:latin typeface="Arial"/>
                  <a:ea typeface="Microsoft YaHei"/>
                  <a:cs typeface="Arial"/>
                </a:rPr>
                <a:t>451</a:t>
              </a:r>
            </a:p>
          </p:txBody>
        </p:sp>
        <p:sp>
          <p:nvSpPr>
            <p:cNvPr id="34" name="TextBox 34"/>
            <p:cNvSpPr txBox="1"/>
            <p:nvPr/>
          </p:nvSpPr>
          <p:spPr>
            <a:xfrm>
              <a:off x="7167020" y="4232910"/>
              <a:ext cx="677361" cy="243840"/>
            </a:xfrm>
            <a:prstGeom prst="rect">
              <a:avLst/>
            </a:prstGeom>
            <a:noFill/>
            <a:ln>
              <a:noFill/>
            </a:ln>
          </p:spPr>
          <p:txBody>
            <a:bodyPr wrap="none" lIns="0" tIns="0" rIns="0" bIns="0" anchor="t" anchorCtr="0">
              <a:spAutoFit/>
            </a:bodyPr>
            <a:lstStyle/>
            <a:p>
              <a:pPr algn="ctr"/>
              <a:r>
                <a:rPr lang="zh-CN" sz="1200" b="1" dirty="0">
                  <a:solidFill>
                    <a:srgbClr val="C8161E"/>
                  </a:solidFill>
                  <a:latin typeface="Arial"/>
                  <a:ea typeface="Microsoft YaHei"/>
                  <a:cs typeface="Arial"/>
                </a:rPr>
                <a:t>[75-80)</a:t>
              </a:r>
            </a:p>
          </p:txBody>
        </p:sp>
        <p:sp>
          <p:nvSpPr>
            <p:cNvPr id="35" name="Rectangle 35"/>
            <p:cNvSpPr/>
            <p:nvPr/>
          </p:nvSpPr>
          <p:spPr>
            <a:xfrm>
              <a:off x="8267700" y="2162175"/>
              <a:ext cx="1143000" cy="2028825"/>
            </a:xfrm>
            <a:prstGeom prst="roundRect">
              <a:avLst>
                <a:gd name="adj" fmla="val 1667"/>
              </a:avLst>
            </a:prstGeom>
            <a:solidFill>
              <a:srgbClr val="1F4D78"/>
            </a:solidFill>
            <a:ln>
              <a:noFill/>
            </a:ln>
          </p:spPr>
        </p:sp>
        <p:sp>
          <p:nvSpPr>
            <p:cNvPr id="36" name="TextBox 36"/>
            <p:cNvSpPr txBox="1"/>
            <p:nvPr/>
          </p:nvSpPr>
          <p:spPr>
            <a:xfrm>
              <a:off x="8685343" y="1937385"/>
              <a:ext cx="307715" cy="243840"/>
            </a:xfrm>
            <a:prstGeom prst="rect">
              <a:avLst/>
            </a:prstGeom>
            <a:noFill/>
            <a:ln>
              <a:noFill/>
            </a:ln>
          </p:spPr>
          <p:txBody>
            <a:bodyPr wrap="none" lIns="0" tIns="0" rIns="0" bIns="0" anchor="t" anchorCtr="0">
              <a:spAutoFit/>
            </a:bodyPr>
            <a:lstStyle/>
            <a:p>
              <a:pPr algn="ctr"/>
              <a:r>
                <a:rPr lang="zh-CN" sz="1200" b="1" dirty="0">
                  <a:solidFill>
                    <a:srgbClr val="1B1C21"/>
                  </a:solidFill>
                  <a:latin typeface="Arial"/>
                  <a:ea typeface="Microsoft YaHei"/>
                  <a:cs typeface="Arial"/>
                </a:rPr>
                <a:t>380</a:t>
              </a:r>
            </a:p>
          </p:txBody>
        </p:sp>
        <p:sp>
          <p:nvSpPr>
            <p:cNvPr id="37" name="TextBox 37"/>
            <p:cNvSpPr txBox="1"/>
            <p:nvPr/>
          </p:nvSpPr>
          <p:spPr>
            <a:xfrm>
              <a:off x="8515922" y="4232910"/>
              <a:ext cx="646557"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[80-85)</a:t>
              </a:r>
            </a:p>
          </p:txBody>
        </p:sp>
        <p:sp>
          <p:nvSpPr>
            <p:cNvPr id="38" name="Rectangle 38"/>
            <p:cNvSpPr/>
            <p:nvPr/>
          </p:nvSpPr>
          <p:spPr>
            <a:xfrm>
              <a:off x="9601200" y="3762375"/>
              <a:ext cx="1143000" cy="428625"/>
            </a:xfrm>
            <a:prstGeom prst="roundRect">
              <a:avLst>
                <a:gd name="adj" fmla="val 4444"/>
              </a:avLst>
            </a:prstGeom>
            <a:solidFill>
              <a:srgbClr val="44546A">
                <a:alpha val="70000"/>
              </a:srgbClr>
            </a:solidFill>
            <a:ln>
              <a:noFill/>
            </a:ln>
          </p:spPr>
        </p:sp>
        <p:sp>
          <p:nvSpPr>
            <p:cNvPr id="39" name="TextBox 39"/>
            <p:cNvSpPr txBox="1"/>
            <p:nvPr/>
          </p:nvSpPr>
          <p:spPr>
            <a:xfrm>
              <a:off x="10086051" y="3537585"/>
              <a:ext cx="173298" cy="243840"/>
            </a:xfrm>
            <a:prstGeom prst="rect">
              <a:avLst/>
            </a:prstGeom>
            <a:noFill/>
            <a:ln>
              <a:noFill/>
            </a:ln>
          </p:spPr>
          <p:txBody>
            <a:bodyPr wrap="none" lIns="0" tIns="0" rIns="0" bIns="0" anchor="t" anchorCtr="0">
              <a:spAutoFit/>
            </a:bodyPr>
            <a:lstStyle/>
            <a:p>
              <a:pPr algn="ctr"/>
              <a:r>
                <a:rPr lang="zh-CN" sz="1200" b="1" dirty="0">
                  <a:solidFill>
                    <a:srgbClr val="1B1C21"/>
                  </a:solidFill>
                  <a:latin typeface="Arial"/>
                  <a:ea typeface="Microsoft YaHei"/>
                  <a:cs typeface="Arial"/>
                </a:rPr>
                <a:t>81</a:t>
              </a:r>
            </a:p>
          </p:txBody>
        </p:sp>
        <p:sp>
          <p:nvSpPr>
            <p:cNvPr id="40" name="TextBox 40"/>
            <p:cNvSpPr txBox="1"/>
            <p:nvPr/>
          </p:nvSpPr>
          <p:spPr>
            <a:xfrm>
              <a:off x="9849422" y="4232910"/>
              <a:ext cx="646557"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[85-90)</a:t>
              </a:r>
            </a:p>
          </p:txBody>
        </p:sp>
      </p:grpSp>
      <p:grpSp>
        <p:nvGrpSpPr>
          <p:cNvPr id="57" name="Group 57"/>
          <p:cNvGrpSpPr/>
          <p:nvPr/>
        </p:nvGrpSpPr>
        <p:grpSpPr>
          <a:xfrm>
            <a:off x="685800" y="4667250"/>
            <a:ext cx="10820400" cy="1047750"/>
            <a:chOff x="685800" y="4667250"/>
            <a:chExt cx="10820400" cy="1047750"/>
          </a:xfrm>
        </p:grpSpPr>
        <p:sp>
          <p:nvSpPr>
            <p:cNvPr id="42" name="Rectangle 42"/>
            <p:cNvSpPr/>
            <p:nvPr/>
          </p:nvSpPr>
          <p:spPr>
            <a:xfrm>
              <a:off x="685800" y="4667250"/>
              <a:ext cx="10820400" cy="1047750"/>
            </a:xfrm>
            <a:prstGeom prst="roundRect">
              <a:avLst>
                <a:gd name="adj" fmla="val 7273"/>
              </a:avLst>
            </a:prstGeom>
            <a:solidFill>
              <a:srgbClr val="F4F5F7"/>
            </a:solidFill>
            <a:ln>
              <a:noFill/>
            </a:ln>
          </p:spPr>
        </p:sp>
        <p:sp>
          <p:nvSpPr>
            <p:cNvPr id="43" name="TextBox 43"/>
            <p:cNvSpPr txBox="1"/>
            <p:nvPr/>
          </p:nvSpPr>
          <p:spPr>
            <a:xfrm>
              <a:off x="1013460" y="4823460"/>
              <a:ext cx="35052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均值</a:t>
              </a:r>
            </a:p>
          </p:txBody>
        </p:sp>
        <p:sp>
          <p:nvSpPr>
            <p:cNvPr id="44" name="TextBox 44"/>
            <p:cNvSpPr txBox="1"/>
            <p:nvPr/>
          </p:nvSpPr>
          <p:spPr>
            <a:xfrm>
              <a:off x="1000763" y="4982237"/>
              <a:ext cx="656480" cy="446989"/>
            </a:xfrm>
            <a:prstGeom prst="rect">
              <a:avLst/>
            </a:prstGeom>
            <a:noFill/>
            <a:ln>
              <a:noFill/>
            </a:ln>
          </p:spPr>
          <p:txBody>
            <a:bodyPr wrap="none" lIns="0" tIns="0" rIns="0" bIns="0" anchor="t" anchorCtr="0">
              <a:spAutoFit/>
            </a:bodyPr>
            <a:lstStyle/>
            <a:p>
              <a:pPr algn="l"/>
              <a:r>
                <a:rPr lang="zh-CN" sz="2200" b="1" dirty="0">
                  <a:solidFill>
                    <a:srgbClr val="1F4D78"/>
                  </a:solidFill>
                  <a:latin typeface="Arial"/>
                  <a:ea typeface="Microsoft YaHei"/>
                  <a:cs typeface="Arial"/>
                </a:rPr>
                <a:t>71.0</a:t>
              </a:r>
            </a:p>
          </p:txBody>
        </p:sp>
        <p:sp>
          <p:nvSpPr>
            <p:cNvPr id="45" name="TextBox 45"/>
            <p:cNvSpPr txBox="1"/>
            <p:nvPr/>
          </p:nvSpPr>
          <p:spPr>
            <a:xfrm>
              <a:off x="2346960" y="4823460"/>
              <a:ext cx="51054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中位数</a:t>
              </a:r>
            </a:p>
          </p:txBody>
        </p:sp>
        <p:sp>
          <p:nvSpPr>
            <p:cNvPr id="46" name="TextBox 46"/>
            <p:cNvSpPr txBox="1"/>
            <p:nvPr/>
          </p:nvSpPr>
          <p:spPr>
            <a:xfrm>
              <a:off x="2334263" y="4982237"/>
              <a:ext cx="733481" cy="446989"/>
            </a:xfrm>
            <a:prstGeom prst="rect">
              <a:avLst/>
            </a:prstGeom>
            <a:noFill/>
            <a:ln>
              <a:noFill/>
            </a:ln>
          </p:spPr>
          <p:txBody>
            <a:bodyPr wrap="none" lIns="0" tIns="0" rIns="0" bIns="0" anchor="t" anchorCtr="0">
              <a:spAutoFit/>
            </a:bodyPr>
            <a:lstStyle/>
            <a:p>
              <a:pPr algn="l"/>
              <a:r>
                <a:rPr lang="zh-CN" sz="2200" b="1" dirty="0">
                  <a:solidFill>
                    <a:srgbClr val="1F4D78"/>
                  </a:solidFill>
                  <a:latin typeface="Arial"/>
                  <a:ea typeface="Microsoft YaHei"/>
                  <a:cs typeface="Arial"/>
                </a:rPr>
                <a:t>74.5</a:t>
              </a:r>
            </a:p>
          </p:txBody>
        </p:sp>
        <p:sp>
          <p:nvSpPr>
            <p:cNvPr id="47" name="TextBox 47"/>
            <p:cNvSpPr txBox="1"/>
            <p:nvPr/>
          </p:nvSpPr>
          <p:spPr>
            <a:xfrm>
              <a:off x="3870960" y="4823460"/>
              <a:ext cx="67056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峰值区间</a:t>
              </a:r>
            </a:p>
          </p:txBody>
        </p:sp>
        <p:sp>
          <p:nvSpPr>
            <p:cNvPr id="48" name="TextBox 48"/>
            <p:cNvSpPr txBox="1"/>
            <p:nvPr/>
          </p:nvSpPr>
          <p:spPr>
            <a:xfrm>
              <a:off x="3858263" y="4982237"/>
              <a:ext cx="902883" cy="446989"/>
            </a:xfrm>
            <a:prstGeom prst="rect">
              <a:avLst/>
            </a:prstGeom>
            <a:noFill/>
            <a:ln>
              <a:noFill/>
            </a:ln>
          </p:spPr>
          <p:txBody>
            <a:bodyPr wrap="none" lIns="0" tIns="0" rIns="0" bIns="0" anchor="t" anchorCtr="0">
              <a:spAutoFit/>
            </a:bodyPr>
            <a:lstStyle/>
            <a:p>
              <a:pPr algn="l"/>
              <a:r>
                <a:rPr lang="zh-CN" sz="2200" b="1" dirty="0">
                  <a:solidFill>
                    <a:srgbClr val="C8161E"/>
                  </a:solidFill>
                  <a:latin typeface="Arial"/>
                  <a:ea typeface="Microsoft YaHei"/>
                  <a:cs typeface="Arial"/>
                </a:rPr>
                <a:t>75-80</a:t>
              </a:r>
            </a:p>
          </p:txBody>
        </p:sp>
        <p:sp>
          <p:nvSpPr>
            <p:cNvPr id="49" name="TextBox 49"/>
            <p:cNvSpPr txBox="1"/>
            <p:nvPr/>
          </p:nvSpPr>
          <p:spPr>
            <a:xfrm>
              <a:off x="4820917" y="5068543"/>
              <a:ext cx="754451"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(23.5%)</a:t>
              </a:r>
            </a:p>
          </p:txBody>
        </p:sp>
        <p:sp>
          <p:nvSpPr>
            <p:cNvPr id="50" name="TextBox 50"/>
            <p:cNvSpPr txBox="1"/>
            <p:nvPr/>
          </p:nvSpPr>
          <p:spPr>
            <a:xfrm>
              <a:off x="5890260" y="4823460"/>
              <a:ext cx="51054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标准差</a:t>
              </a:r>
            </a:p>
          </p:txBody>
        </p:sp>
        <p:sp>
          <p:nvSpPr>
            <p:cNvPr id="51" name="TextBox 51"/>
            <p:cNvSpPr txBox="1"/>
            <p:nvPr/>
          </p:nvSpPr>
          <p:spPr>
            <a:xfrm>
              <a:off x="5877563" y="4982237"/>
              <a:ext cx="579480" cy="446989"/>
            </a:xfrm>
            <a:prstGeom prst="rect">
              <a:avLst/>
            </a:prstGeom>
            <a:noFill/>
            <a:ln>
              <a:noFill/>
            </a:ln>
          </p:spPr>
          <p:txBody>
            <a:bodyPr wrap="none" lIns="0" tIns="0" rIns="0" bIns="0" anchor="t" anchorCtr="0">
              <a:spAutoFit/>
            </a:bodyPr>
            <a:lstStyle/>
            <a:p>
              <a:pPr algn="l"/>
              <a:r>
                <a:rPr lang="zh-CN" sz="2200" b="1" dirty="0">
                  <a:solidFill>
                    <a:srgbClr val="1F4D78"/>
                  </a:solidFill>
                  <a:latin typeface="Arial"/>
                  <a:ea typeface="Microsoft YaHei"/>
                  <a:cs typeface="Arial"/>
                </a:rPr>
                <a:t>12.1</a:t>
              </a:r>
            </a:p>
          </p:txBody>
        </p:sp>
        <p:sp>
          <p:nvSpPr>
            <p:cNvPr id="52" name="TextBox 52"/>
            <p:cNvSpPr txBox="1"/>
            <p:nvPr/>
          </p:nvSpPr>
          <p:spPr>
            <a:xfrm>
              <a:off x="7223760" y="4823460"/>
              <a:ext cx="1158621"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70-85 区间占比</a:t>
              </a:r>
            </a:p>
          </p:txBody>
        </p:sp>
        <p:sp>
          <p:nvSpPr>
            <p:cNvPr id="53" name="TextBox 53"/>
            <p:cNvSpPr txBox="1"/>
            <p:nvPr/>
          </p:nvSpPr>
          <p:spPr>
            <a:xfrm>
              <a:off x="7211063" y="4982237"/>
              <a:ext cx="902883" cy="446989"/>
            </a:xfrm>
            <a:prstGeom prst="rect">
              <a:avLst/>
            </a:prstGeom>
            <a:noFill/>
            <a:ln>
              <a:noFill/>
            </a:ln>
          </p:spPr>
          <p:txBody>
            <a:bodyPr wrap="none" lIns="0" tIns="0" rIns="0" bIns="0" anchor="t" anchorCtr="0">
              <a:spAutoFit/>
            </a:bodyPr>
            <a:lstStyle/>
            <a:p>
              <a:pPr algn="l"/>
              <a:r>
                <a:rPr lang="zh-CN" sz="2200" b="1" dirty="0">
                  <a:solidFill>
                    <a:srgbClr val="2E7D32"/>
                  </a:solidFill>
                  <a:latin typeface="Arial"/>
                  <a:ea typeface="Microsoft YaHei"/>
                  <a:cs typeface="Arial"/>
                </a:rPr>
                <a:t>60.0%</a:t>
              </a:r>
            </a:p>
          </p:txBody>
        </p:sp>
        <p:sp>
          <p:nvSpPr>
            <p:cNvPr id="54" name="TextBox 54"/>
            <p:cNvSpPr txBox="1"/>
            <p:nvPr/>
          </p:nvSpPr>
          <p:spPr>
            <a:xfrm>
              <a:off x="9128760" y="4823460"/>
              <a:ext cx="1118616"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R1→R2 均分变化</a:t>
              </a:r>
            </a:p>
          </p:txBody>
        </p:sp>
        <p:sp>
          <p:nvSpPr>
            <p:cNvPr id="55" name="TextBox 55"/>
            <p:cNvSpPr txBox="1"/>
            <p:nvPr/>
          </p:nvSpPr>
          <p:spPr>
            <a:xfrm>
              <a:off x="9116063" y="4982237"/>
              <a:ext cx="1349488" cy="446989"/>
            </a:xfrm>
            <a:prstGeom prst="rect">
              <a:avLst/>
            </a:prstGeom>
            <a:noFill/>
            <a:ln>
              <a:noFill/>
            </a:ln>
          </p:spPr>
          <p:txBody>
            <a:bodyPr wrap="none" lIns="0" tIns="0" rIns="0" bIns="0" anchor="t" anchorCtr="0">
              <a:spAutoFit/>
            </a:bodyPr>
            <a:lstStyle/>
            <a:p>
              <a:pPr algn="l"/>
              <a:r>
                <a:rPr lang="zh-CN" sz="2200" b="1" dirty="0">
                  <a:solidFill>
                    <a:srgbClr val="2E7D32"/>
                  </a:solidFill>
                  <a:latin typeface="Arial"/>
                  <a:ea typeface="Microsoft YaHei"/>
                  <a:cs typeface="Arial"/>
                </a:rPr>
                <a:t>71.1→71.0</a:t>
              </a:r>
            </a:p>
          </p:txBody>
        </p:sp>
        <p:sp>
          <p:nvSpPr>
            <p:cNvPr id="56" name="TextBox 56"/>
            <p:cNvSpPr txBox="1"/>
            <p:nvPr/>
          </p:nvSpPr>
          <p:spPr>
            <a:xfrm>
              <a:off x="1013460" y="5414010"/>
              <a:ext cx="6599301"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加权总分 = 创新性×30% + 洞察度×20% + 建构力×15% + 连贯性×20% + 共识度×10% + 延展性×5%</a:t>
              </a:r>
            </a:p>
          </p:txBody>
        </p:sp>
      </p:grpSp>
      <p:grpSp>
        <p:nvGrpSpPr>
          <p:cNvPr id="61" name="Group 61"/>
          <p:cNvGrpSpPr/>
          <p:nvPr/>
        </p:nvGrpSpPr>
        <p:grpSpPr>
          <a:xfrm>
            <a:off x="0" y="6516343"/>
            <a:ext cx="12192000" cy="341657"/>
            <a:chOff x="0" y="6516343"/>
            <a:chExt cx="12192000" cy="341657"/>
          </a:xfrm>
        </p:grpSpPr>
        <p:sp>
          <p:nvSpPr>
            <p:cNvPr id="58" name="Rectangle 58"/>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59" name="TextBox 59"/>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60" name="TextBox 60"/>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26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image">
                                      <p:cBhvr>
                                        <p:cTn id="7" dur="400"/>
                                        <p:tgtEl>
                                          <p:spTgt spid="41"/>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fade">
                                      <p:cBhvr>
                                        <p:cTn id="11"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3599240"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各模型评分特征画像</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800192" y="1068043"/>
            <a:ext cx="459161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基于 1920 篇 R2 评分统计（46,080 个模型-维度评分）</a:t>
            </a:r>
          </a:p>
        </p:txBody>
      </p:sp>
      <p:grpSp>
        <p:nvGrpSpPr>
          <p:cNvPr id="49" name="Group 49"/>
          <p:cNvGrpSpPr/>
          <p:nvPr/>
        </p:nvGrpSpPr>
        <p:grpSpPr>
          <a:xfrm>
            <a:off x="685800" y="1409700"/>
            <a:ext cx="11437620" cy="2362200"/>
            <a:chOff x="685800" y="1409700"/>
            <a:chExt cx="11437620" cy="2362200"/>
          </a:xfrm>
        </p:grpSpPr>
        <p:sp>
          <p:nvSpPr>
            <p:cNvPr id="9" name="Rectangle 9"/>
            <p:cNvSpPr/>
            <p:nvPr/>
          </p:nvSpPr>
          <p:spPr>
            <a:xfrm>
              <a:off x="685800" y="1409700"/>
              <a:ext cx="10820400" cy="381000"/>
            </a:xfrm>
            <a:prstGeom prst="roundRect">
              <a:avLst>
                <a:gd name="adj" fmla="val 10000"/>
              </a:avLst>
            </a:prstGeom>
            <a:solidFill>
              <a:srgbClr val="1F4D78"/>
            </a:solidFill>
            <a:ln>
              <a:noFill/>
            </a:ln>
          </p:spPr>
        </p:sp>
        <p:sp>
          <p:nvSpPr>
            <p:cNvPr id="10" name="TextBox 10"/>
            <p:cNvSpPr txBox="1"/>
            <p:nvPr/>
          </p:nvSpPr>
          <p:spPr>
            <a:xfrm>
              <a:off x="1391917" y="1506193"/>
              <a:ext cx="427685" cy="284531"/>
            </a:xfrm>
            <a:prstGeom prst="rect">
              <a:avLst/>
            </a:prstGeom>
            <a:noFill/>
            <a:ln>
              <a:noFill/>
            </a:ln>
          </p:spPr>
          <p:txBody>
            <a:bodyPr wrap="none" lIns="0" tIns="0" rIns="0" bIns="0" anchor="t" anchorCtr="0">
              <a:spAutoFit/>
            </a:bodyPr>
            <a:lstStyle/>
            <a:p>
              <a:pPr algn="l"/>
              <a:r>
                <a:rPr lang="zh-CN" sz="1400" b="1" dirty="0">
                  <a:solidFill>
                    <a:srgbClr val="FFFFFF"/>
                  </a:solidFill>
                  <a:latin typeface="Arial"/>
                  <a:ea typeface="Microsoft YaHei"/>
                  <a:cs typeface="Arial"/>
                </a:rPr>
                <a:t>模型</a:t>
              </a:r>
            </a:p>
          </p:txBody>
        </p:sp>
        <p:sp>
          <p:nvSpPr>
            <p:cNvPr id="11" name="TextBox 11"/>
            <p:cNvSpPr txBox="1"/>
            <p:nvPr/>
          </p:nvSpPr>
          <p:spPr>
            <a:xfrm>
              <a:off x="3411217" y="1506193"/>
              <a:ext cx="427685" cy="284531"/>
            </a:xfrm>
            <a:prstGeom prst="rect">
              <a:avLst/>
            </a:prstGeom>
            <a:noFill/>
            <a:ln>
              <a:noFill/>
            </a:ln>
          </p:spPr>
          <p:txBody>
            <a:bodyPr wrap="none" lIns="0" tIns="0" rIns="0" bIns="0" anchor="t" anchorCtr="0">
              <a:spAutoFit/>
            </a:bodyPr>
            <a:lstStyle/>
            <a:p>
              <a:pPr algn="l"/>
              <a:r>
                <a:rPr lang="zh-CN" sz="1400" b="1" dirty="0">
                  <a:solidFill>
                    <a:srgbClr val="FFFFFF"/>
                  </a:solidFill>
                  <a:latin typeface="Arial"/>
                  <a:ea typeface="Microsoft YaHei"/>
                  <a:cs typeface="Arial"/>
                </a:rPr>
                <a:t>组别</a:t>
              </a:r>
            </a:p>
          </p:txBody>
        </p:sp>
        <p:sp>
          <p:nvSpPr>
            <p:cNvPr id="12" name="TextBox 12"/>
            <p:cNvSpPr txBox="1"/>
            <p:nvPr/>
          </p:nvSpPr>
          <p:spPr>
            <a:xfrm>
              <a:off x="4744717" y="1506193"/>
              <a:ext cx="427685" cy="284531"/>
            </a:xfrm>
            <a:prstGeom prst="rect">
              <a:avLst/>
            </a:prstGeom>
            <a:noFill/>
            <a:ln>
              <a:noFill/>
            </a:ln>
          </p:spPr>
          <p:txBody>
            <a:bodyPr wrap="none" lIns="0" tIns="0" rIns="0" bIns="0" anchor="t" anchorCtr="0">
              <a:spAutoFit/>
            </a:bodyPr>
            <a:lstStyle/>
            <a:p>
              <a:pPr algn="l"/>
              <a:r>
                <a:rPr lang="zh-CN" sz="1400" b="1" dirty="0">
                  <a:solidFill>
                    <a:srgbClr val="FFFFFF"/>
                  </a:solidFill>
                  <a:latin typeface="Arial"/>
                  <a:ea typeface="Microsoft YaHei"/>
                  <a:cs typeface="Arial"/>
                </a:rPr>
                <a:t>均值</a:t>
              </a:r>
            </a:p>
          </p:txBody>
        </p:sp>
        <p:sp>
          <p:nvSpPr>
            <p:cNvPr id="13" name="TextBox 13"/>
            <p:cNvSpPr txBox="1"/>
            <p:nvPr/>
          </p:nvSpPr>
          <p:spPr>
            <a:xfrm>
              <a:off x="5887717" y="1506193"/>
              <a:ext cx="359065" cy="284531"/>
            </a:xfrm>
            <a:prstGeom prst="rect">
              <a:avLst/>
            </a:prstGeom>
            <a:noFill/>
            <a:ln>
              <a:noFill/>
            </a:ln>
          </p:spPr>
          <p:txBody>
            <a:bodyPr wrap="none" lIns="0" tIns="0" rIns="0" bIns="0" anchor="t" anchorCtr="0">
              <a:spAutoFit/>
            </a:bodyPr>
            <a:lstStyle/>
            <a:p>
              <a:pPr algn="l"/>
              <a:r>
                <a:rPr lang="zh-CN" sz="1400" b="1" dirty="0">
                  <a:solidFill>
                    <a:srgbClr val="FFFFFF"/>
                  </a:solidFill>
                  <a:latin typeface="Arial"/>
                  <a:ea typeface="Microsoft YaHei"/>
                  <a:cs typeface="Arial"/>
                </a:rPr>
                <a:t>std</a:t>
              </a:r>
            </a:p>
          </p:txBody>
        </p:sp>
        <p:sp>
          <p:nvSpPr>
            <p:cNvPr id="14" name="TextBox 14"/>
            <p:cNvSpPr txBox="1"/>
            <p:nvPr/>
          </p:nvSpPr>
          <p:spPr>
            <a:xfrm>
              <a:off x="7221217" y="1506193"/>
              <a:ext cx="1015864" cy="284531"/>
            </a:xfrm>
            <a:prstGeom prst="rect">
              <a:avLst/>
            </a:prstGeom>
            <a:noFill/>
            <a:ln>
              <a:noFill/>
            </a:ln>
          </p:spPr>
          <p:txBody>
            <a:bodyPr wrap="none" lIns="0" tIns="0" rIns="0" bIns="0" anchor="t" anchorCtr="0">
              <a:spAutoFit/>
            </a:bodyPr>
            <a:lstStyle/>
            <a:p>
              <a:pPr algn="l"/>
              <a:r>
                <a:rPr lang="zh-CN" sz="1400" b="1" dirty="0">
                  <a:solidFill>
                    <a:srgbClr val="FFFFFF"/>
                  </a:solidFill>
                  <a:latin typeface="Arial"/>
                  <a:ea typeface="Microsoft YaHei"/>
                  <a:cs typeface="Arial"/>
                </a:rPr>
                <a:t>最高分占比</a:t>
              </a:r>
            </a:p>
          </p:txBody>
        </p:sp>
        <p:sp>
          <p:nvSpPr>
            <p:cNvPr id="15" name="TextBox 15"/>
            <p:cNvSpPr txBox="1"/>
            <p:nvPr/>
          </p:nvSpPr>
          <p:spPr>
            <a:xfrm>
              <a:off x="8935717" y="1506193"/>
              <a:ext cx="1015864" cy="284531"/>
            </a:xfrm>
            <a:prstGeom prst="rect">
              <a:avLst/>
            </a:prstGeom>
            <a:noFill/>
            <a:ln>
              <a:noFill/>
            </a:ln>
          </p:spPr>
          <p:txBody>
            <a:bodyPr wrap="none" lIns="0" tIns="0" rIns="0" bIns="0" anchor="t" anchorCtr="0">
              <a:spAutoFit/>
            </a:bodyPr>
            <a:lstStyle/>
            <a:p>
              <a:pPr algn="l"/>
              <a:r>
                <a:rPr lang="zh-CN" sz="1400" b="1" dirty="0">
                  <a:solidFill>
                    <a:srgbClr val="FFFFFF"/>
                  </a:solidFill>
                  <a:latin typeface="Arial"/>
                  <a:ea typeface="Microsoft YaHei"/>
                  <a:cs typeface="Arial"/>
                </a:rPr>
                <a:t>最低分占比</a:t>
              </a:r>
            </a:p>
          </p:txBody>
        </p:sp>
        <p:sp>
          <p:nvSpPr>
            <p:cNvPr id="16" name="TextBox 16"/>
            <p:cNvSpPr txBox="1"/>
            <p:nvPr/>
          </p:nvSpPr>
          <p:spPr>
            <a:xfrm>
              <a:off x="10650217" y="1506193"/>
              <a:ext cx="427685" cy="284531"/>
            </a:xfrm>
            <a:prstGeom prst="rect">
              <a:avLst/>
            </a:prstGeom>
            <a:noFill/>
            <a:ln>
              <a:noFill/>
            </a:ln>
          </p:spPr>
          <p:txBody>
            <a:bodyPr wrap="none" lIns="0" tIns="0" rIns="0" bIns="0" anchor="t" anchorCtr="0">
              <a:spAutoFit/>
            </a:bodyPr>
            <a:lstStyle/>
            <a:p>
              <a:pPr algn="l"/>
              <a:r>
                <a:rPr lang="zh-CN" sz="1400" b="1" dirty="0">
                  <a:solidFill>
                    <a:srgbClr val="FFFFFF"/>
                  </a:solidFill>
                  <a:latin typeface="Arial"/>
                  <a:ea typeface="Microsoft YaHei"/>
                  <a:cs typeface="Arial"/>
                </a:rPr>
                <a:t>特征</a:t>
              </a:r>
            </a:p>
          </p:txBody>
        </p:sp>
        <p:sp>
          <p:nvSpPr>
            <p:cNvPr id="17" name="Rectangle 17"/>
            <p:cNvSpPr/>
            <p:nvPr/>
          </p:nvSpPr>
          <p:spPr>
            <a:xfrm>
              <a:off x="685800" y="1790700"/>
              <a:ext cx="10820400" cy="495300"/>
            </a:xfrm>
            <a:prstGeom prst="rect">
              <a:avLst/>
            </a:prstGeom>
            <a:solidFill>
              <a:srgbClr val="F4F5F7"/>
            </a:solidFill>
            <a:ln>
              <a:noFill/>
            </a:ln>
          </p:spPr>
        </p:sp>
        <p:sp>
          <p:nvSpPr>
            <p:cNvPr id="18" name="TextBox 18"/>
            <p:cNvSpPr txBox="1"/>
            <p:nvPr/>
          </p:nvSpPr>
          <p:spPr>
            <a:xfrm>
              <a:off x="1391917" y="1944343"/>
              <a:ext cx="1653057" cy="284531"/>
            </a:xfrm>
            <a:prstGeom prst="rect">
              <a:avLst/>
            </a:prstGeom>
            <a:noFill/>
            <a:ln>
              <a:noFill/>
            </a:ln>
          </p:spPr>
          <p:txBody>
            <a:bodyPr wrap="none" lIns="0" tIns="0" rIns="0" bIns="0" anchor="t" anchorCtr="0">
              <a:spAutoFit/>
            </a:bodyPr>
            <a:lstStyle/>
            <a:p>
              <a:pPr algn="l"/>
              <a:r>
                <a:rPr lang="zh-CN" sz="1400" b="1" dirty="0">
                  <a:solidFill>
                    <a:srgbClr val="1B1C21"/>
                  </a:solidFill>
                  <a:latin typeface="Arial"/>
                  <a:ea typeface="Microsoft YaHei"/>
                  <a:cs typeface="Arial"/>
                </a:rPr>
                <a:t>DeepSeek-V4-Pro</a:t>
              </a:r>
            </a:p>
          </p:txBody>
        </p:sp>
        <p:sp>
          <p:nvSpPr>
            <p:cNvPr id="19" name="TextBox 19"/>
            <p:cNvSpPr txBox="1"/>
            <p:nvPr/>
          </p:nvSpPr>
          <p:spPr>
            <a:xfrm>
              <a:off x="3411217" y="1944343"/>
              <a:ext cx="88515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B（严格）</a:t>
              </a:r>
            </a:p>
          </p:txBody>
        </p:sp>
        <p:sp>
          <p:nvSpPr>
            <p:cNvPr id="20" name="TextBox 20"/>
            <p:cNvSpPr txBox="1"/>
            <p:nvPr/>
          </p:nvSpPr>
          <p:spPr>
            <a:xfrm>
              <a:off x="4744717" y="1944343"/>
              <a:ext cx="466897" cy="284531"/>
            </a:xfrm>
            <a:prstGeom prst="rect">
              <a:avLst/>
            </a:prstGeom>
            <a:noFill/>
            <a:ln>
              <a:noFill/>
            </a:ln>
          </p:spPr>
          <p:txBody>
            <a:bodyPr wrap="none" lIns="0" tIns="0" rIns="0" bIns="0" anchor="t" anchorCtr="0">
              <a:spAutoFit/>
            </a:bodyPr>
            <a:lstStyle/>
            <a:p>
              <a:pPr algn="l"/>
              <a:r>
                <a:rPr lang="zh-CN" sz="1400" b="1" dirty="0">
                  <a:solidFill>
                    <a:srgbClr val="C8161E"/>
                  </a:solidFill>
                  <a:latin typeface="Arial"/>
                  <a:ea typeface="Microsoft YaHei"/>
                  <a:cs typeface="Arial"/>
                </a:rPr>
                <a:t>68.3</a:t>
              </a:r>
            </a:p>
          </p:txBody>
        </p:sp>
        <p:sp>
          <p:nvSpPr>
            <p:cNvPr id="21" name="TextBox 21"/>
            <p:cNvSpPr txBox="1"/>
            <p:nvPr/>
          </p:nvSpPr>
          <p:spPr>
            <a:xfrm>
              <a:off x="5887717" y="1944343"/>
              <a:ext cx="399677"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21.8</a:t>
              </a:r>
            </a:p>
          </p:txBody>
        </p:sp>
        <p:sp>
          <p:nvSpPr>
            <p:cNvPr id="22" name="TextBox 22"/>
            <p:cNvSpPr txBox="1"/>
            <p:nvPr/>
          </p:nvSpPr>
          <p:spPr>
            <a:xfrm>
              <a:off x="7221217" y="1944343"/>
              <a:ext cx="502375"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12.6%</a:t>
              </a:r>
            </a:p>
          </p:txBody>
        </p:sp>
        <p:sp>
          <p:nvSpPr>
            <p:cNvPr id="23" name="TextBox 23"/>
            <p:cNvSpPr txBox="1"/>
            <p:nvPr/>
          </p:nvSpPr>
          <p:spPr>
            <a:xfrm>
              <a:off x="8935717" y="1944343"/>
              <a:ext cx="574730" cy="284531"/>
            </a:xfrm>
            <a:prstGeom prst="rect">
              <a:avLst/>
            </a:prstGeom>
            <a:noFill/>
            <a:ln>
              <a:noFill/>
            </a:ln>
          </p:spPr>
          <p:txBody>
            <a:bodyPr wrap="none" lIns="0" tIns="0" rIns="0" bIns="0" anchor="t" anchorCtr="0">
              <a:spAutoFit/>
            </a:bodyPr>
            <a:lstStyle/>
            <a:p>
              <a:pPr algn="l"/>
              <a:r>
                <a:rPr lang="zh-CN" sz="1400" b="1" dirty="0">
                  <a:solidFill>
                    <a:srgbClr val="C8161E"/>
                  </a:solidFill>
                  <a:latin typeface="Arial"/>
                  <a:ea typeface="Microsoft YaHei"/>
                  <a:cs typeface="Arial"/>
                </a:rPr>
                <a:t>62.3%</a:t>
              </a:r>
            </a:p>
          </p:txBody>
        </p:sp>
        <p:sp>
          <p:nvSpPr>
            <p:cNvPr id="24" name="TextBox 24"/>
            <p:cNvSpPr txBox="1"/>
            <p:nvPr/>
          </p:nvSpPr>
          <p:spPr>
            <a:xfrm>
              <a:off x="10652760" y="1965960"/>
              <a:ext cx="131064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最严格，波动最大</a:t>
              </a:r>
            </a:p>
          </p:txBody>
        </p:sp>
        <p:sp>
          <p:nvSpPr>
            <p:cNvPr id="25" name="Rectangle 25"/>
            <p:cNvSpPr/>
            <p:nvPr/>
          </p:nvSpPr>
          <p:spPr>
            <a:xfrm>
              <a:off x="685800" y="2286000"/>
              <a:ext cx="10820400" cy="495300"/>
            </a:xfrm>
            <a:prstGeom prst="rect">
              <a:avLst/>
            </a:prstGeom>
            <a:solidFill>
              <a:srgbClr val="FFFFFF"/>
            </a:solidFill>
            <a:ln>
              <a:noFill/>
            </a:ln>
          </p:spPr>
        </p:sp>
        <p:sp>
          <p:nvSpPr>
            <p:cNvPr id="26" name="TextBox 26"/>
            <p:cNvSpPr txBox="1"/>
            <p:nvPr/>
          </p:nvSpPr>
          <p:spPr>
            <a:xfrm>
              <a:off x="1391917" y="2439643"/>
              <a:ext cx="780592" cy="284531"/>
            </a:xfrm>
            <a:prstGeom prst="rect">
              <a:avLst/>
            </a:prstGeom>
            <a:noFill/>
            <a:ln>
              <a:noFill/>
            </a:ln>
          </p:spPr>
          <p:txBody>
            <a:bodyPr wrap="none" lIns="0" tIns="0" rIns="0" bIns="0" anchor="t" anchorCtr="0">
              <a:spAutoFit/>
            </a:bodyPr>
            <a:lstStyle/>
            <a:p>
              <a:pPr algn="l"/>
              <a:r>
                <a:rPr lang="zh-CN" sz="1400" b="1" dirty="0">
                  <a:solidFill>
                    <a:srgbClr val="1B1C21"/>
                  </a:solidFill>
                  <a:latin typeface="Arial"/>
                  <a:ea typeface="Microsoft YaHei"/>
                  <a:cs typeface="Arial"/>
                </a:rPr>
                <a:t>GLM-5.1</a:t>
              </a:r>
            </a:p>
          </p:txBody>
        </p:sp>
        <p:sp>
          <p:nvSpPr>
            <p:cNvPr id="27" name="TextBox 27"/>
            <p:cNvSpPr txBox="1"/>
            <p:nvPr/>
          </p:nvSpPr>
          <p:spPr>
            <a:xfrm>
              <a:off x="3411217" y="2439643"/>
              <a:ext cx="88515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A（宽松）</a:t>
              </a:r>
            </a:p>
          </p:txBody>
        </p:sp>
        <p:sp>
          <p:nvSpPr>
            <p:cNvPr id="28" name="TextBox 28"/>
            <p:cNvSpPr txBox="1"/>
            <p:nvPr/>
          </p:nvSpPr>
          <p:spPr>
            <a:xfrm>
              <a:off x="4744717" y="2439643"/>
              <a:ext cx="399677"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71.5</a:t>
              </a:r>
            </a:p>
          </p:txBody>
        </p:sp>
        <p:sp>
          <p:nvSpPr>
            <p:cNvPr id="29" name="TextBox 29"/>
            <p:cNvSpPr txBox="1"/>
            <p:nvPr/>
          </p:nvSpPr>
          <p:spPr>
            <a:xfrm>
              <a:off x="5887717" y="2439643"/>
              <a:ext cx="35299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17.1</a:t>
              </a:r>
            </a:p>
          </p:txBody>
        </p:sp>
        <p:sp>
          <p:nvSpPr>
            <p:cNvPr id="30" name="TextBox 30"/>
            <p:cNvSpPr txBox="1"/>
            <p:nvPr/>
          </p:nvSpPr>
          <p:spPr>
            <a:xfrm>
              <a:off x="7221217" y="2439643"/>
              <a:ext cx="44635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8.6%</a:t>
              </a:r>
            </a:p>
          </p:txBody>
        </p:sp>
        <p:sp>
          <p:nvSpPr>
            <p:cNvPr id="31" name="TextBox 31"/>
            <p:cNvSpPr txBox="1"/>
            <p:nvPr/>
          </p:nvSpPr>
          <p:spPr>
            <a:xfrm>
              <a:off x="8935717" y="2439643"/>
              <a:ext cx="54905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22.7%</a:t>
              </a:r>
            </a:p>
          </p:txBody>
        </p:sp>
        <p:sp>
          <p:nvSpPr>
            <p:cNvPr id="32" name="TextBox 32"/>
            <p:cNvSpPr txBox="1"/>
            <p:nvPr/>
          </p:nvSpPr>
          <p:spPr>
            <a:xfrm>
              <a:off x="10652760" y="2461260"/>
              <a:ext cx="83058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居中偏宽松</a:t>
              </a:r>
            </a:p>
          </p:txBody>
        </p:sp>
        <p:sp>
          <p:nvSpPr>
            <p:cNvPr id="33" name="Rectangle 33"/>
            <p:cNvSpPr/>
            <p:nvPr/>
          </p:nvSpPr>
          <p:spPr>
            <a:xfrm>
              <a:off x="685800" y="2781300"/>
              <a:ext cx="10820400" cy="495300"/>
            </a:xfrm>
            <a:prstGeom prst="rect">
              <a:avLst/>
            </a:prstGeom>
            <a:solidFill>
              <a:srgbClr val="F4F5F7"/>
            </a:solidFill>
            <a:ln>
              <a:noFill/>
            </a:ln>
          </p:spPr>
        </p:sp>
        <p:sp>
          <p:nvSpPr>
            <p:cNvPr id="34" name="TextBox 34"/>
            <p:cNvSpPr txBox="1"/>
            <p:nvPr/>
          </p:nvSpPr>
          <p:spPr>
            <a:xfrm>
              <a:off x="1391917" y="2934943"/>
              <a:ext cx="947243" cy="284531"/>
            </a:xfrm>
            <a:prstGeom prst="rect">
              <a:avLst/>
            </a:prstGeom>
            <a:noFill/>
            <a:ln>
              <a:noFill/>
            </a:ln>
          </p:spPr>
          <p:txBody>
            <a:bodyPr wrap="none" lIns="0" tIns="0" rIns="0" bIns="0" anchor="t" anchorCtr="0">
              <a:spAutoFit/>
            </a:bodyPr>
            <a:lstStyle/>
            <a:p>
              <a:pPr algn="l"/>
              <a:r>
                <a:rPr lang="zh-CN" sz="1400" b="1" dirty="0">
                  <a:solidFill>
                    <a:srgbClr val="1B1C21"/>
                  </a:solidFill>
                  <a:latin typeface="Arial"/>
                  <a:ea typeface="Microsoft YaHei"/>
                  <a:cs typeface="Arial"/>
                </a:rPr>
                <a:t>Kimi-K2.6</a:t>
              </a:r>
            </a:p>
          </p:txBody>
        </p:sp>
        <p:sp>
          <p:nvSpPr>
            <p:cNvPr id="35" name="TextBox 35"/>
            <p:cNvSpPr txBox="1"/>
            <p:nvPr/>
          </p:nvSpPr>
          <p:spPr>
            <a:xfrm>
              <a:off x="3411217" y="2934943"/>
              <a:ext cx="88515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B（严格）</a:t>
              </a:r>
            </a:p>
          </p:txBody>
        </p:sp>
        <p:sp>
          <p:nvSpPr>
            <p:cNvPr id="36" name="TextBox 36"/>
            <p:cNvSpPr txBox="1"/>
            <p:nvPr/>
          </p:nvSpPr>
          <p:spPr>
            <a:xfrm>
              <a:off x="4744717" y="2934943"/>
              <a:ext cx="44635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73.2</a:t>
              </a:r>
            </a:p>
          </p:txBody>
        </p:sp>
        <p:sp>
          <p:nvSpPr>
            <p:cNvPr id="37" name="TextBox 37"/>
            <p:cNvSpPr txBox="1"/>
            <p:nvPr/>
          </p:nvSpPr>
          <p:spPr>
            <a:xfrm>
              <a:off x="5887717" y="2934943"/>
              <a:ext cx="417882" cy="284531"/>
            </a:xfrm>
            <a:prstGeom prst="rect">
              <a:avLst/>
            </a:prstGeom>
            <a:noFill/>
            <a:ln>
              <a:noFill/>
            </a:ln>
          </p:spPr>
          <p:txBody>
            <a:bodyPr wrap="none" lIns="0" tIns="0" rIns="0" bIns="0" anchor="t" anchorCtr="0">
              <a:spAutoFit/>
            </a:bodyPr>
            <a:lstStyle/>
            <a:p>
              <a:pPr algn="l"/>
              <a:r>
                <a:rPr lang="zh-CN" sz="1400" b="1" dirty="0">
                  <a:solidFill>
                    <a:srgbClr val="2E7D32"/>
                  </a:solidFill>
                  <a:latin typeface="Arial"/>
                  <a:ea typeface="Microsoft YaHei"/>
                  <a:cs typeface="Arial"/>
                </a:rPr>
                <a:t>13.4</a:t>
              </a:r>
            </a:p>
          </p:txBody>
        </p:sp>
        <p:sp>
          <p:nvSpPr>
            <p:cNvPr id="38" name="TextBox 38"/>
            <p:cNvSpPr txBox="1"/>
            <p:nvPr/>
          </p:nvSpPr>
          <p:spPr>
            <a:xfrm>
              <a:off x="7221217" y="2934943"/>
              <a:ext cx="54905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22.2%</a:t>
              </a:r>
            </a:p>
          </p:txBody>
        </p:sp>
        <p:sp>
          <p:nvSpPr>
            <p:cNvPr id="39" name="TextBox 39"/>
            <p:cNvSpPr txBox="1"/>
            <p:nvPr/>
          </p:nvSpPr>
          <p:spPr>
            <a:xfrm>
              <a:off x="8935717" y="2934943"/>
              <a:ext cx="502375"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13.0%</a:t>
              </a:r>
            </a:p>
          </p:txBody>
        </p:sp>
        <p:sp>
          <p:nvSpPr>
            <p:cNvPr id="40" name="TextBox 40"/>
            <p:cNvSpPr txBox="1"/>
            <p:nvPr/>
          </p:nvSpPr>
          <p:spPr>
            <a:xfrm>
              <a:off x="10652760" y="2956560"/>
              <a:ext cx="99060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居中，最稳定</a:t>
              </a:r>
            </a:p>
          </p:txBody>
        </p:sp>
        <p:sp>
          <p:nvSpPr>
            <p:cNvPr id="41" name="Rectangle 41"/>
            <p:cNvSpPr/>
            <p:nvPr/>
          </p:nvSpPr>
          <p:spPr>
            <a:xfrm>
              <a:off x="685800" y="3276600"/>
              <a:ext cx="10820400" cy="495300"/>
            </a:xfrm>
            <a:prstGeom prst="rect">
              <a:avLst/>
            </a:prstGeom>
            <a:solidFill>
              <a:srgbClr val="FFFFFF"/>
            </a:solidFill>
            <a:ln>
              <a:noFill/>
            </a:ln>
          </p:spPr>
        </p:sp>
        <p:sp>
          <p:nvSpPr>
            <p:cNvPr id="42" name="TextBox 42"/>
            <p:cNvSpPr txBox="1"/>
            <p:nvPr/>
          </p:nvSpPr>
          <p:spPr>
            <a:xfrm>
              <a:off x="1391917" y="3430243"/>
              <a:ext cx="1358968" cy="284531"/>
            </a:xfrm>
            <a:prstGeom prst="rect">
              <a:avLst/>
            </a:prstGeom>
            <a:noFill/>
            <a:ln>
              <a:noFill/>
            </a:ln>
          </p:spPr>
          <p:txBody>
            <a:bodyPr wrap="none" lIns="0" tIns="0" rIns="0" bIns="0" anchor="t" anchorCtr="0">
              <a:spAutoFit/>
            </a:bodyPr>
            <a:lstStyle/>
            <a:p>
              <a:pPr algn="l"/>
              <a:r>
                <a:rPr lang="zh-CN" sz="1400" b="1" dirty="0">
                  <a:solidFill>
                    <a:srgbClr val="1B1C21"/>
                  </a:solidFill>
                  <a:latin typeface="Arial"/>
                  <a:ea typeface="Microsoft YaHei"/>
                  <a:cs typeface="Arial"/>
                </a:rPr>
                <a:t>Qwen3.6-Plus</a:t>
              </a:r>
            </a:p>
          </p:txBody>
        </p:sp>
        <p:sp>
          <p:nvSpPr>
            <p:cNvPr id="43" name="TextBox 43"/>
            <p:cNvSpPr txBox="1"/>
            <p:nvPr/>
          </p:nvSpPr>
          <p:spPr>
            <a:xfrm>
              <a:off x="3411217" y="3430243"/>
              <a:ext cx="88515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A（宽松）</a:t>
              </a:r>
            </a:p>
          </p:txBody>
        </p:sp>
        <p:sp>
          <p:nvSpPr>
            <p:cNvPr id="44" name="TextBox 44"/>
            <p:cNvSpPr txBox="1"/>
            <p:nvPr/>
          </p:nvSpPr>
          <p:spPr>
            <a:xfrm>
              <a:off x="4744717" y="3430243"/>
              <a:ext cx="417882" cy="284531"/>
            </a:xfrm>
            <a:prstGeom prst="rect">
              <a:avLst/>
            </a:prstGeom>
            <a:noFill/>
            <a:ln>
              <a:noFill/>
            </a:ln>
          </p:spPr>
          <p:txBody>
            <a:bodyPr wrap="none" lIns="0" tIns="0" rIns="0" bIns="0" anchor="t" anchorCtr="0">
              <a:spAutoFit/>
            </a:bodyPr>
            <a:lstStyle/>
            <a:p>
              <a:pPr algn="l"/>
              <a:r>
                <a:rPr lang="zh-CN" sz="1400" b="1" dirty="0">
                  <a:solidFill>
                    <a:srgbClr val="2E7D32"/>
                  </a:solidFill>
                  <a:latin typeface="Arial"/>
                  <a:ea typeface="Microsoft YaHei"/>
                  <a:cs typeface="Arial"/>
                </a:rPr>
                <a:t>75.1</a:t>
              </a:r>
            </a:p>
          </p:txBody>
        </p:sp>
        <p:sp>
          <p:nvSpPr>
            <p:cNvPr id="45" name="TextBox 45"/>
            <p:cNvSpPr txBox="1"/>
            <p:nvPr/>
          </p:nvSpPr>
          <p:spPr>
            <a:xfrm>
              <a:off x="5887717" y="3430243"/>
              <a:ext cx="399677"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15.6</a:t>
              </a:r>
            </a:p>
          </p:txBody>
        </p:sp>
        <p:sp>
          <p:nvSpPr>
            <p:cNvPr id="46" name="TextBox 46"/>
            <p:cNvSpPr txBox="1"/>
            <p:nvPr/>
          </p:nvSpPr>
          <p:spPr>
            <a:xfrm>
              <a:off x="7221217" y="3430243"/>
              <a:ext cx="574730" cy="284531"/>
            </a:xfrm>
            <a:prstGeom prst="rect">
              <a:avLst/>
            </a:prstGeom>
            <a:noFill/>
            <a:ln>
              <a:noFill/>
            </a:ln>
          </p:spPr>
          <p:txBody>
            <a:bodyPr wrap="none" lIns="0" tIns="0" rIns="0" bIns="0" anchor="t" anchorCtr="0">
              <a:spAutoFit/>
            </a:bodyPr>
            <a:lstStyle/>
            <a:p>
              <a:pPr algn="l"/>
              <a:r>
                <a:rPr lang="zh-CN" sz="1400" b="1" dirty="0">
                  <a:solidFill>
                    <a:srgbClr val="2E7D32"/>
                  </a:solidFill>
                  <a:latin typeface="Arial"/>
                  <a:ea typeface="Microsoft YaHei"/>
                  <a:cs typeface="Arial"/>
                </a:rPr>
                <a:t>56.6%</a:t>
              </a:r>
            </a:p>
          </p:txBody>
        </p:sp>
        <p:sp>
          <p:nvSpPr>
            <p:cNvPr id="47" name="TextBox 47"/>
            <p:cNvSpPr txBox="1"/>
            <p:nvPr/>
          </p:nvSpPr>
          <p:spPr>
            <a:xfrm>
              <a:off x="8935717" y="3430243"/>
              <a:ext cx="44635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2.0%</a:t>
              </a:r>
            </a:p>
          </p:txBody>
        </p:sp>
        <p:sp>
          <p:nvSpPr>
            <p:cNvPr id="48" name="TextBox 48"/>
            <p:cNvSpPr txBox="1"/>
            <p:nvPr/>
          </p:nvSpPr>
          <p:spPr>
            <a:xfrm>
              <a:off x="10652760" y="3451860"/>
              <a:ext cx="147066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最宽松，最常给高分</a:t>
              </a:r>
            </a:p>
          </p:txBody>
        </p:sp>
      </p:grpSp>
      <p:grpSp>
        <p:nvGrpSpPr>
          <p:cNvPr id="60" name="Group 60"/>
          <p:cNvGrpSpPr/>
          <p:nvPr/>
        </p:nvGrpSpPr>
        <p:grpSpPr>
          <a:xfrm>
            <a:off x="685800" y="4076700"/>
            <a:ext cx="10820400" cy="1905000"/>
            <a:chOff x="685800" y="4076700"/>
            <a:chExt cx="10820400" cy="1905000"/>
          </a:xfrm>
        </p:grpSpPr>
        <p:sp>
          <p:nvSpPr>
            <p:cNvPr id="50" name="Rectangle 50"/>
            <p:cNvSpPr/>
            <p:nvPr/>
          </p:nvSpPr>
          <p:spPr>
            <a:xfrm>
              <a:off x="685800" y="4076700"/>
              <a:ext cx="10820400" cy="1905000"/>
            </a:xfrm>
            <a:prstGeom prst="roundRect">
              <a:avLst>
                <a:gd name="adj" fmla="val 4000"/>
              </a:avLst>
            </a:prstGeom>
            <a:solidFill>
              <a:srgbClr val="F4F5F7"/>
            </a:solidFill>
            <a:ln>
              <a:noFill/>
            </a:ln>
          </p:spPr>
        </p:sp>
        <p:sp>
          <p:nvSpPr>
            <p:cNvPr id="51" name="TextBox 51"/>
            <p:cNvSpPr txBox="1"/>
            <p:nvPr/>
          </p:nvSpPr>
          <p:spPr>
            <a:xfrm>
              <a:off x="1008383" y="4227857"/>
              <a:ext cx="936606"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关键发现</a:t>
              </a:r>
            </a:p>
          </p:txBody>
        </p:sp>
        <p:sp>
          <p:nvSpPr>
            <p:cNvPr id="52" name="Ellipse 52"/>
            <p:cNvSpPr/>
            <p:nvPr/>
          </p:nvSpPr>
          <p:spPr>
            <a:xfrm>
              <a:off x="990600" y="4705350"/>
              <a:ext cx="76200" cy="76200"/>
            </a:xfrm>
            <a:prstGeom prst="ellipse">
              <a:avLst/>
            </a:prstGeom>
            <a:solidFill>
              <a:srgbClr val="C8161E"/>
            </a:solidFill>
            <a:ln>
              <a:noFill/>
            </a:ln>
          </p:spPr>
        </p:sp>
        <p:sp>
          <p:nvSpPr>
            <p:cNvPr id="53" name="TextBox 53"/>
            <p:cNvSpPr txBox="1"/>
            <p:nvPr/>
          </p:nvSpPr>
          <p:spPr>
            <a:xfrm>
              <a:off x="1201417" y="4639918"/>
              <a:ext cx="6234781"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xml:space="preserve">宽松-严格差距：Qwen（75.1）vs DeepSeek（68.3）= </a:t>
              </a:r>
              <a:r>
                <a:rPr lang="zh-CN" sz="1400" b="1" dirty="0">
                  <a:solidFill>
                    <a:srgbClr val="C8161E"/>
                  </a:solidFill>
                  <a:latin typeface="Arial"/>
                  <a:ea typeface="Microsoft YaHei"/>
                  <a:cs typeface="Arial"/>
                </a:rPr>
                <a:t>6.8 分</a:t>
              </a:r>
              <a:r>
                <a:rPr lang="zh-CN" sz="1400" dirty="0">
                  <a:solidFill>
                    <a:srgbClr val="1B1C21"/>
                  </a:solidFill>
                  <a:latin typeface="Arial"/>
                  <a:ea typeface="Microsoft YaHei"/>
                  <a:cs typeface="Arial"/>
                </a:rPr>
                <a:t xml:space="preserve"> 系统性偏差</a:t>
              </a:r>
            </a:p>
          </p:txBody>
        </p:sp>
        <p:sp>
          <p:nvSpPr>
            <p:cNvPr id="54" name="Ellipse 54"/>
            <p:cNvSpPr/>
            <p:nvPr/>
          </p:nvSpPr>
          <p:spPr>
            <a:xfrm>
              <a:off x="990600" y="5067300"/>
              <a:ext cx="76200" cy="76200"/>
            </a:xfrm>
            <a:prstGeom prst="ellipse">
              <a:avLst/>
            </a:prstGeom>
            <a:solidFill>
              <a:srgbClr val="C8161E"/>
            </a:solidFill>
            <a:ln>
              <a:noFill/>
            </a:ln>
          </p:spPr>
        </p:sp>
        <p:sp>
          <p:nvSpPr>
            <p:cNvPr id="55" name="TextBox 55"/>
            <p:cNvSpPr txBox="1"/>
            <p:nvPr/>
          </p:nvSpPr>
          <p:spPr>
            <a:xfrm>
              <a:off x="1201417" y="5001868"/>
              <a:ext cx="6776279"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R2 后 B 组最高分占比从 8.5% → 62.2%，说明交叉评审迫使 B 组在认可时主动上调</a:t>
              </a:r>
            </a:p>
          </p:txBody>
        </p:sp>
        <p:sp>
          <p:nvSpPr>
            <p:cNvPr id="56" name="Ellipse 56"/>
            <p:cNvSpPr/>
            <p:nvPr/>
          </p:nvSpPr>
          <p:spPr>
            <a:xfrm>
              <a:off x="990600" y="5429250"/>
              <a:ext cx="76200" cy="76200"/>
            </a:xfrm>
            <a:prstGeom prst="ellipse">
              <a:avLst/>
            </a:prstGeom>
            <a:solidFill>
              <a:srgbClr val="C8161E"/>
            </a:solidFill>
            <a:ln>
              <a:noFill/>
            </a:ln>
          </p:spPr>
        </p:sp>
        <p:sp>
          <p:nvSpPr>
            <p:cNvPr id="57" name="TextBox 57"/>
            <p:cNvSpPr txBox="1"/>
            <p:nvPr/>
          </p:nvSpPr>
          <p:spPr>
            <a:xfrm>
              <a:off x="1201417" y="5363818"/>
              <a:ext cx="5114441"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Kimi 最稳定（std=13.4），DeepSeek 波动最大（std=21.8）</a:t>
              </a:r>
            </a:p>
          </p:txBody>
        </p:sp>
        <p:sp>
          <p:nvSpPr>
            <p:cNvPr id="58" name="Ellipse 58"/>
            <p:cNvSpPr/>
            <p:nvPr/>
          </p:nvSpPr>
          <p:spPr>
            <a:xfrm>
              <a:off x="990600" y="5753100"/>
              <a:ext cx="76200" cy="76200"/>
            </a:xfrm>
            <a:prstGeom prst="ellipse">
              <a:avLst/>
            </a:prstGeom>
            <a:solidFill>
              <a:srgbClr val="C8161E"/>
            </a:solidFill>
            <a:ln>
              <a:noFill/>
            </a:ln>
          </p:spPr>
        </p:sp>
        <p:sp>
          <p:nvSpPr>
            <p:cNvPr id="59" name="TextBox 59"/>
            <p:cNvSpPr txBox="1"/>
            <p:nvPr/>
          </p:nvSpPr>
          <p:spPr>
            <a:xfrm>
              <a:off x="1201417" y="5687668"/>
              <a:ext cx="6524202"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A 组（GLM + Qwen）内部一致性高；B 组（DeepSeek + Kimi）评分策略差异大</a:t>
              </a:r>
            </a:p>
          </p:txBody>
        </p:sp>
      </p:grpSp>
      <p:grpSp>
        <p:nvGrpSpPr>
          <p:cNvPr id="64" name="Group 64"/>
          <p:cNvGrpSpPr/>
          <p:nvPr/>
        </p:nvGrpSpPr>
        <p:grpSpPr>
          <a:xfrm>
            <a:off x="0" y="6516343"/>
            <a:ext cx="12192000" cy="341657"/>
            <a:chOff x="0" y="6516343"/>
            <a:chExt cx="12192000" cy="341657"/>
          </a:xfrm>
        </p:grpSpPr>
        <p:sp>
          <p:nvSpPr>
            <p:cNvPr id="61" name="Rectangle 61"/>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62" name="TextBox 62"/>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63" name="TextBox 63"/>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27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400"/>
                                        <p:tgtEl>
                                          <p:spTgt spid="49"/>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slide(fromBottom)">
                                      <p:cBhvr>
                                        <p:cTn id="11"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6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423198"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框架迭代历程</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4565758" y="1068043"/>
            <a:ext cx="3060484"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v1.0 → v2.56.6，经历 56+ 版本迭代</a:t>
            </a:r>
          </a:p>
        </p:txBody>
      </p:sp>
      <p:grpSp>
        <p:nvGrpSpPr>
          <p:cNvPr id="40" name="Group 40"/>
          <p:cNvGrpSpPr/>
          <p:nvPr/>
        </p:nvGrpSpPr>
        <p:grpSpPr>
          <a:xfrm>
            <a:off x="1409700" y="1447800"/>
            <a:ext cx="9372600" cy="2743224"/>
            <a:chOff x="1409700" y="1447800"/>
            <a:chExt cx="9372600" cy="2743224"/>
          </a:xfrm>
        </p:grpSpPr>
        <p:sp>
          <p:nvSpPr>
            <p:cNvPr id="9" name="Line 9"/>
            <p:cNvSpPr/>
            <p:nvPr/>
          </p:nvSpPr>
          <p:spPr>
            <a:xfrm>
              <a:off x="1409700" y="2819400"/>
              <a:ext cx="9372600" cy="9525"/>
            </a:xfrm>
            <a:custGeom>
              <a:avLst/>
              <a:gdLst/>
              <a:ahLst/>
              <a:cxnLst/>
              <a:rect l="l" t="t" r="r" b="b"/>
              <a:pathLst>
                <a:path w="9372600" h="9525">
                  <a:moveTo>
                    <a:pt x="0" y="0"/>
                  </a:moveTo>
                  <a:lnTo>
                    <a:pt x="9372600" y="0"/>
                  </a:lnTo>
                </a:path>
              </a:pathLst>
            </a:custGeom>
            <a:noFill/>
            <a:ln w="28575">
              <a:solidFill>
                <a:srgbClr val="D9DEE5"/>
              </a:solidFill>
            </a:ln>
          </p:spPr>
        </p:sp>
        <p:sp>
          <p:nvSpPr>
            <p:cNvPr id="10" name="Ellipse 10"/>
            <p:cNvSpPr/>
            <p:nvPr/>
          </p:nvSpPr>
          <p:spPr>
            <a:xfrm>
              <a:off x="1981200" y="2705100"/>
              <a:ext cx="228600" cy="228600"/>
            </a:xfrm>
            <a:prstGeom prst="ellipse">
              <a:avLst/>
            </a:prstGeom>
            <a:solidFill>
              <a:srgbClr val="1F4D78"/>
            </a:solidFill>
            <a:ln>
              <a:noFill/>
            </a:ln>
          </p:spPr>
        </p:sp>
        <p:sp>
          <p:nvSpPr>
            <p:cNvPr id="11" name="Line 11"/>
            <p:cNvSpPr/>
            <p:nvPr/>
          </p:nvSpPr>
          <p:spPr>
            <a:xfrm>
              <a:off x="2095500" y="1866900"/>
              <a:ext cx="9525" cy="952500"/>
            </a:xfrm>
            <a:custGeom>
              <a:avLst/>
              <a:gdLst/>
              <a:ahLst/>
              <a:cxnLst/>
              <a:rect l="l" t="t" r="r" b="b"/>
              <a:pathLst>
                <a:path w="9525" h="952500">
                  <a:moveTo>
                    <a:pt x="0" y="952500"/>
                  </a:moveTo>
                  <a:lnTo>
                    <a:pt x="0" y="0"/>
                  </a:lnTo>
                </a:path>
              </a:pathLst>
            </a:custGeom>
            <a:noFill/>
            <a:ln w="19050">
              <a:solidFill>
                <a:srgbClr val="D9DEE5"/>
              </a:solidFill>
            </a:ln>
          </p:spPr>
        </p:sp>
        <p:sp>
          <p:nvSpPr>
            <p:cNvPr id="12" name="Rectangle 12"/>
            <p:cNvSpPr/>
            <p:nvPr/>
          </p:nvSpPr>
          <p:spPr>
            <a:xfrm>
              <a:off x="1524000" y="1447800"/>
              <a:ext cx="1143000" cy="381000"/>
            </a:xfrm>
            <a:prstGeom prst="roundRect">
              <a:avLst>
                <a:gd name="adj" fmla="val 10000"/>
              </a:avLst>
            </a:prstGeom>
            <a:solidFill>
              <a:srgbClr val="1F4D78"/>
            </a:solidFill>
            <a:ln>
              <a:noFill/>
            </a:ln>
          </p:spPr>
        </p:sp>
        <p:sp>
          <p:nvSpPr>
            <p:cNvPr id="13" name="TextBox 13"/>
            <p:cNvSpPr txBox="1"/>
            <p:nvPr/>
          </p:nvSpPr>
          <p:spPr>
            <a:xfrm>
              <a:off x="1862051" y="1544293"/>
              <a:ext cx="466897"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v2.0</a:t>
              </a:r>
            </a:p>
          </p:txBody>
        </p:sp>
        <p:sp>
          <p:nvSpPr>
            <p:cNvPr id="14" name="TextBox 14"/>
            <p:cNvSpPr txBox="1"/>
            <p:nvPr/>
          </p:nvSpPr>
          <p:spPr>
            <a:xfrm>
              <a:off x="1600200" y="2080260"/>
              <a:ext cx="99060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新增准入筛选</a:t>
              </a:r>
            </a:p>
          </p:txBody>
        </p:sp>
        <p:sp>
          <p:nvSpPr>
            <p:cNvPr id="15" name="TextBox 15"/>
            <p:cNvSpPr txBox="1"/>
            <p:nvPr/>
          </p:nvSpPr>
          <p:spPr>
            <a:xfrm>
              <a:off x="1760220" y="2289810"/>
              <a:ext cx="67056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调整权重</a:t>
              </a:r>
            </a:p>
          </p:txBody>
        </p:sp>
        <p:sp>
          <p:nvSpPr>
            <p:cNvPr id="16" name="Ellipse 16"/>
            <p:cNvSpPr/>
            <p:nvPr/>
          </p:nvSpPr>
          <p:spPr>
            <a:xfrm>
              <a:off x="4076700" y="2705100"/>
              <a:ext cx="228600" cy="228600"/>
            </a:xfrm>
            <a:prstGeom prst="ellipse">
              <a:avLst/>
            </a:prstGeom>
            <a:solidFill>
              <a:srgbClr val="2E7D32"/>
            </a:solidFill>
            <a:ln>
              <a:noFill/>
            </a:ln>
          </p:spPr>
        </p:sp>
        <p:sp>
          <p:nvSpPr>
            <p:cNvPr id="17" name="Line 17"/>
            <p:cNvSpPr/>
            <p:nvPr/>
          </p:nvSpPr>
          <p:spPr>
            <a:xfrm>
              <a:off x="4191000" y="2819400"/>
              <a:ext cx="9525" cy="952500"/>
            </a:xfrm>
            <a:custGeom>
              <a:avLst/>
              <a:gdLst/>
              <a:ahLst/>
              <a:cxnLst/>
              <a:rect l="l" t="t" r="r" b="b"/>
              <a:pathLst>
                <a:path w="9525" h="952500">
                  <a:moveTo>
                    <a:pt x="0" y="0"/>
                  </a:moveTo>
                  <a:lnTo>
                    <a:pt x="0" y="952500"/>
                  </a:lnTo>
                </a:path>
              </a:pathLst>
            </a:custGeom>
            <a:noFill/>
            <a:ln w="19050">
              <a:solidFill>
                <a:srgbClr val="D9DEE5"/>
              </a:solidFill>
            </a:ln>
          </p:spPr>
        </p:sp>
        <p:sp>
          <p:nvSpPr>
            <p:cNvPr id="18" name="Rectangle 18"/>
            <p:cNvSpPr/>
            <p:nvPr/>
          </p:nvSpPr>
          <p:spPr>
            <a:xfrm>
              <a:off x="3619500" y="3810000"/>
              <a:ext cx="1143000" cy="381000"/>
            </a:xfrm>
            <a:prstGeom prst="roundRect">
              <a:avLst>
                <a:gd name="adj" fmla="val 10000"/>
              </a:avLst>
            </a:prstGeom>
            <a:solidFill>
              <a:srgbClr val="2E7D32"/>
            </a:solidFill>
            <a:ln>
              <a:noFill/>
            </a:ln>
          </p:spPr>
        </p:sp>
        <p:sp>
          <p:nvSpPr>
            <p:cNvPr id="19" name="TextBox 19"/>
            <p:cNvSpPr txBox="1"/>
            <p:nvPr/>
          </p:nvSpPr>
          <p:spPr>
            <a:xfrm>
              <a:off x="3903635" y="3906493"/>
              <a:ext cx="574730"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v2.47</a:t>
              </a:r>
            </a:p>
          </p:txBody>
        </p:sp>
        <p:sp>
          <p:nvSpPr>
            <p:cNvPr id="20" name="TextBox 20"/>
            <p:cNvSpPr txBox="1"/>
            <p:nvPr/>
          </p:nvSpPr>
          <p:spPr>
            <a:xfrm>
              <a:off x="3695700" y="3337560"/>
              <a:ext cx="99060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生产稳定版本</a:t>
              </a:r>
            </a:p>
          </p:txBody>
        </p:sp>
        <p:sp>
          <p:nvSpPr>
            <p:cNvPr id="21" name="TextBox 21"/>
            <p:cNvSpPr txBox="1"/>
            <p:nvPr/>
          </p:nvSpPr>
          <p:spPr>
            <a:xfrm>
              <a:off x="3683698" y="3547110"/>
              <a:ext cx="1014603"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14 篇验证通过</a:t>
              </a:r>
            </a:p>
          </p:txBody>
        </p:sp>
        <p:sp>
          <p:nvSpPr>
            <p:cNvPr id="22" name="Ellipse 22"/>
            <p:cNvSpPr/>
            <p:nvPr/>
          </p:nvSpPr>
          <p:spPr>
            <a:xfrm>
              <a:off x="6172200" y="2705100"/>
              <a:ext cx="228600" cy="228600"/>
            </a:xfrm>
            <a:prstGeom prst="ellipse">
              <a:avLst/>
            </a:prstGeom>
            <a:solidFill>
              <a:srgbClr val="E07B00"/>
            </a:solidFill>
            <a:ln>
              <a:noFill/>
            </a:ln>
          </p:spPr>
        </p:sp>
        <p:sp>
          <p:nvSpPr>
            <p:cNvPr id="23" name="Line 23"/>
            <p:cNvSpPr/>
            <p:nvPr/>
          </p:nvSpPr>
          <p:spPr>
            <a:xfrm>
              <a:off x="6286500" y="1866900"/>
              <a:ext cx="9525" cy="952500"/>
            </a:xfrm>
            <a:custGeom>
              <a:avLst/>
              <a:gdLst/>
              <a:ahLst/>
              <a:cxnLst/>
              <a:rect l="l" t="t" r="r" b="b"/>
              <a:pathLst>
                <a:path w="9525" h="952500">
                  <a:moveTo>
                    <a:pt x="0" y="952500"/>
                  </a:moveTo>
                  <a:lnTo>
                    <a:pt x="0" y="0"/>
                  </a:lnTo>
                </a:path>
              </a:pathLst>
            </a:custGeom>
            <a:noFill/>
            <a:ln w="19050">
              <a:solidFill>
                <a:srgbClr val="D9DEE5"/>
              </a:solidFill>
            </a:ln>
          </p:spPr>
        </p:sp>
        <p:sp>
          <p:nvSpPr>
            <p:cNvPr id="24" name="Rectangle 24"/>
            <p:cNvSpPr/>
            <p:nvPr/>
          </p:nvSpPr>
          <p:spPr>
            <a:xfrm>
              <a:off x="5715000" y="1447800"/>
              <a:ext cx="1143000" cy="381000"/>
            </a:xfrm>
            <a:prstGeom prst="roundRect">
              <a:avLst>
                <a:gd name="adj" fmla="val 10000"/>
              </a:avLst>
            </a:prstGeom>
            <a:solidFill>
              <a:srgbClr val="E07B00"/>
            </a:solidFill>
            <a:ln>
              <a:noFill/>
            </a:ln>
          </p:spPr>
        </p:sp>
        <p:sp>
          <p:nvSpPr>
            <p:cNvPr id="25" name="TextBox 25"/>
            <p:cNvSpPr txBox="1"/>
            <p:nvPr/>
          </p:nvSpPr>
          <p:spPr>
            <a:xfrm>
              <a:off x="6023642" y="1544293"/>
              <a:ext cx="525715"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v2.51</a:t>
              </a:r>
            </a:p>
          </p:txBody>
        </p:sp>
        <p:sp>
          <p:nvSpPr>
            <p:cNvPr id="26" name="TextBox 26"/>
            <p:cNvSpPr txBox="1"/>
            <p:nvPr/>
          </p:nvSpPr>
          <p:spPr>
            <a:xfrm>
              <a:off x="5799201" y="2080260"/>
              <a:ext cx="974598"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Phase 0 失败</a:t>
              </a:r>
            </a:p>
          </p:txBody>
        </p:sp>
        <p:sp>
          <p:nvSpPr>
            <p:cNvPr id="27" name="TextBox 27"/>
            <p:cNvSpPr txBox="1"/>
            <p:nvPr/>
          </p:nvSpPr>
          <p:spPr>
            <a:xfrm>
              <a:off x="5607177" y="2289810"/>
              <a:ext cx="1358646"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命中率 22% vs 70%</a:t>
              </a:r>
            </a:p>
          </p:txBody>
        </p:sp>
        <p:sp>
          <p:nvSpPr>
            <p:cNvPr id="28" name="Ellipse 28"/>
            <p:cNvSpPr/>
            <p:nvPr/>
          </p:nvSpPr>
          <p:spPr>
            <a:xfrm>
              <a:off x="8267700" y="2705100"/>
              <a:ext cx="228600" cy="228600"/>
            </a:xfrm>
            <a:prstGeom prst="ellipse">
              <a:avLst/>
            </a:prstGeom>
            <a:solidFill>
              <a:srgbClr val="1F4D78"/>
            </a:solidFill>
            <a:ln>
              <a:noFill/>
            </a:ln>
          </p:spPr>
        </p:sp>
        <p:sp>
          <p:nvSpPr>
            <p:cNvPr id="29" name="Line 29"/>
            <p:cNvSpPr/>
            <p:nvPr/>
          </p:nvSpPr>
          <p:spPr>
            <a:xfrm>
              <a:off x="8382000" y="2819400"/>
              <a:ext cx="9525" cy="952500"/>
            </a:xfrm>
            <a:custGeom>
              <a:avLst/>
              <a:gdLst/>
              <a:ahLst/>
              <a:cxnLst/>
              <a:rect l="l" t="t" r="r" b="b"/>
              <a:pathLst>
                <a:path w="9525" h="952500">
                  <a:moveTo>
                    <a:pt x="0" y="0"/>
                  </a:moveTo>
                  <a:lnTo>
                    <a:pt x="0" y="952500"/>
                  </a:lnTo>
                </a:path>
              </a:pathLst>
            </a:custGeom>
            <a:noFill/>
            <a:ln w="19050">
              <a:solidFill>
                <a:srgbClr val="D9DEE5"/>
              </a:solidFill>
            </a:ln>
          </p:spPr>
        </p:sp>
        <p:sp>
          <p:nvSpPr>
            <p:cNvPr id="30" name="Rectangle 30"/>
            <p:cNvSpPr/>
            <p:nvPr/>
          </p:nvSpPr>
          <p:spPr>
            <a:xfrm>
              <a:off x="7810500" y="3810000"/>
              <a:ext cx="1143000" cy="381000"/>
            </a:xfrm>
            <a:prstGeom prst="roundRect">
              <a:avLst>
                <a:gd name="adj" fmla="val 10000"/>
              </a:avLst>
            </a:prstGeom>
            <a:solidFill>
              <a:srgbClr val="1F4D78"/>
            </a:solidFill>
            <a:ln>
              <a:noFill/>
            </a:ln>
          </p:spPr>
        </p:sp>
        <p:sp>
          <p:nvSpPr>
            <p:cNvPr id="31" name="TextBox 31"/>
            <p:cNvSpPr txBox="1"/>
            <p:nvPr/>
          </p:nvSpPr>
          <p:spPr>
            <a:xfrm>
              <a:off x="8094635" y="3906493"/>
              <a:ext cx="574730"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v2.55</a:t>
              </a:r>
            </a:p>
          </p:txBody>
        </p:sp>
        <p:sp>
          <p:nvSpPr>
            <p:cNvPr id="32" name="TextBox 32"/>
            <p:cNvSpPr txBox="1"/>
            <p:nvPr/>
          </p:nvSpPr>
          <p:spPr>
            <a:xfrm>
              <a:off x="7886700" y="3337560"/>
              <a:ext cx="99060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交叉评审版本</a:t>
              </a:r>
            </a:p>
          </p:txBody>
        </p:sp>
        <p:sp>
          <p:nvSpPr>
            <p:cNvPr id="33" name="TextBox 33"/>
            <p:cNvSpPr txBox="1"/>
            <p:nvPr/>
          </p:nvSpPr>
          <p:spPr>
            <a:xfrm>
              <a:off x="7894701" y="3547110"/>
              <a:ext cx="974598"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Round 2 专用</a:t>
              </a:r>
            </a:p>
          </p:txBody>
        </p:sp>
        <p:sp>
          <p:nvSpPr>
            <p:cNvPr id="34" name="Ellipse 34"/>
            <p:cNvSpPr/>
            <p:nvPr/>
          </p:nvSpPr>
          <p:spPr>
            <a:xfrm>
              <a:off x="9982200" y="2705100"/>
              <a:ext cx="228600" cy="228600"/>
            </a:xfrm>
            <a:prstGeom prst="ellipse">
              <a:avLst/>
            </a:prstGeom>
            <a:solidFill>
              <a:srgbClr val="C8161E"/>
            </a:solidFill>
            <a:ln>
              <a:noFill/>
            </a:ln>
          </p:spPr>
        </p:sp>
        <p:sp>
          <p:nvSpPr>
            <p:cNvPr id="35" name="Line 35"/>
            <p:cNvSpPr/>
            <p:nvPr/>
          </p:nvSpPr>
          <p:spPr>
            <a:xfrm>
              <a:off x="10096500" y="1866900"/>
              <a:ext cx="9525" cy="952500"/>
            </a:xfrm>
            <a:custGeom>
              <a:avLst/>
              <a:gdLst/>
              <a:ahLst/>
              <a:cxnLst/>
              <a:rect l="l" t="t" r="r" b="b"/>
              <a:pathLst>
                <a:path w="9525" h="952500">
                  <a:moveTo>
                    <a:pt x="0" y="952500"/>
                  </a:moveTo>
                  <a:lnTo>
                    <a:pt x="0" y="0"/>
                  </a:lnTo>
                </a:path>
              </a:pathLst>
            </a:custGeom>
            <a:noFill/>
            <a:ln w="19050">
              <a:solidFill>
                <a:srgbClr val="D9DEE5"/>
              </a:solidFill>
            </a:ln>
          </p:spPr>
        </p:sp>
        <p:sp>
          <p:nvSpPr>
            <p:cNvPr id="36" name="Rectangle 36"/>
            <p:cNvSpPr/>
            <p:nvPr/>
          </p:nvSpPr>
          <p:spPr>
            <a:xfrm>
              <a:off x="9525000" y="1447800"/>
              <a:ext cx="1143000" cy="381000"/>
            </a:xfrm>
            <a:prstGeom prst="roundRect">
              <a:avLst>
                <a:gd name="adj" fmla="val 10000"/>
              </a:avLst>
            </a:prstGeom>
            <a:solidFill>
              <a:srgbClr val="C8161E"/>
            </a:solidFill>
            <a:ln>
              <a:noFill/>
            </a:ln>
          </p:spPr>
        </p:sp>
        <p:sp>
          <p:nvSpPr>
            <p:cNvPr id="37" name="TextBox 37"/>
            <p:cNvSpPr txBox="1"/>
            <p:nvPr/>
          </p:nvSpPr>
          <p:spPr>
            <a:xfrm>
              <a:off x="9701302" y="1544293"/>
              <a:ext cx="790395"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v2.56.6</a:t>
              </a:r>
            </a:p>
          </p:txBody>
        </p:sp>
        <p:sp>
          <p:nvSpPr>
            <p:cNvPr id="38" name="TextBox 38"/>
            <p:cNvSpPr txBox="1"/>
            <p:nvPr/>
          </p:nvSpPr>
          <p:spPr>
            <a:xfrm>
              <a:off x="9601200" y="2080260"/>
              <a:ext cx="990600" cy="243840"/>
            </a:xfrm>
            <a:prstGeom prst="rect">
              <a:avLst/>
            </a:prstGeom>
            <a:noFill/>
            <a:ln>
              <a:noFill/>
            </a:ln>
          </p:spPr>
          <p:txBody>
            <a:bodyPr wrap="none" lIns="0" tIns="0" rIns="0" bIns="0" anchor="t" anchorCtr="0">
              <a:spAutoFit/>
            </a:bodyPr>
            <a:lstStyle/>
            <a:p>
              <a:pPr algn="ctr"/>
              <a:r>
                <a:rPr lang="zh-CN" sz="1200" dirty="0">
                  <a:solidFill>
                    <a:srgbClr val="1B1C21"/>
                  </a:solidFill>
                  <a:latin typeface="Arial"/>
                  <a:ea typeface="Microsoft YaHei"/>
                  <a:cs typeface="Arial"/>
                </a:rPr>
                <a:t>锚定规则优化</a:t>
              </a:r>
            </a:p>
          </p:txBody>
        </p:sp>
        <p:sp>
          <p:nvSpPr>
            <p:cNvPr id="39" name="TextBox 39"/>
            <p:cNvSpPr txBox="1"/>
            <p:nvPr/>
          </p:nvSpPr>
          <p:spPr>
            <a:xfrm>
              <a:off x="9640205" y="2289810"/>
              <a:ext cx="91259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Arial"/>
                  <a:ea typeface="Microsoft YaHei"/>
                  <a:cs typeface="Arial"/>
                </a:rPr>
                <a:t>std -77.9%</a:t>
              </a:r>
            </a:p>
          </p:txBody>
        </p:sp>
      </p:grpSp>
      <p:grpSp>
        <p:nvGrpSpPr>
          <p:cNvPr id="51" name="Group 51"/>
          <p:cNvGrpSpPr/>
          <p:nvPr/>
        </p:nvGrpSpPr>
        <p:grpSpPr>
          <a:xfrm>
            <a:off x="685800" y="4495800"/>
            <a:ext cx="10820400" cy="1409700"/>
            <a:chOff x="685800" y="4495800"/>
            <a:chExt cx="10820400" cy="1409700"/>
          </a:xfrm>
        </p:grpSpPr>
        <p:sp>
          <p:nvSpPr>
            <p:cNvPr id="41" name="Rectangle 41"/>
            <p:cNvSpPr/>
            <p:nvPr/>
          </p:nvSpPr>
          <p:spPr>
            <a:xfrm>
              <a:off x="685800" y="4495800"/>
              <a:ext cx="5257800" cy="1409700"/>
            </a:xfrm>
            <a:prstGeom prst="roundRect">
              <a:avLst>
                <a:gd name="adj" fmla="val 5405"/>
              </a:avLst>
            </a:prstGeom>
            <a:solidFill>
              <a:srgbClr val="F4F5F7"/>
            </a:solidFill>
            <a:ln>
              <a:noFill/>
            </a:ln>
          </p:spPr>
        </p:sp>
        <p:sp>
          <p:nvSpPr>
            <p:cNvPr id="42" name="TextBox 42"/>
            <p:cNvSpPr txBox="1"/>
            <p:nvPr/>
          </p:nvSpPr>
          <p:spPr>
            <a:xfrm>
              <a:off x="1008383" y="4627907"/>
              <a:ext cx="1866177"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v2.56.6 核心成果</a:t>
              </a:r>
            </a:p>
          </p:txBody>
        </p:sp>
        <p:sp>
          <p:nvSpPr>
            <p:cNvPr id="43" name="TextBox 43"/>
            <p:cNvSpPr txBox="1"/>
            <p:nvPr/>
          </p:nvSpPr>
          <p:spPr>
            <a:xfrm>
              <a:off x="1010917" y="4954243"/>
              <a:ext cx="395675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6 轮逐维度优化：AF → PO → LI → LC → CC → FE</a:t>
              </a:r>
            </a:p>
          </p:txBody>
        </p:sp>
        <p:sp>
          <p:nvSpPr>
            <p:cNvPr id="44" name="TextBox 44"/>
            <p:cNvSpPr txBox="1"/>
            <p:nvPr/>
          </p:nvSpPr>
          <p:spPr>
            <a:xfrm>
              <a:off x="1010917" y="5220943"/>
              <a:ext cx="296712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xml:space="preserve">• std 28.16 → 6.22（降幅 </a:t>
              </a:r>
              <a:r>
                <a:rPr lang="zh-CN" sz="1400" b="1" dirty="0">
                  <a:solidFill>
                    <a:srgbClr val="2E7D32"/>
                  </a:solidFill>
                  <a:latin typeface="Arial"/>
                  <a:ea typeface="Microsoft YaHei"/>
                  <a:cs typeface="Arial"/>
                </a:rPr>
                <a:t>77.9%</a:t>
              </a:r>
              <a:r>
                <a:rPr lang="zh-CN" sz="1400" dirty="0">
                  <a:solidFill>
                    <a:srgbClr val="1B1C21"/>
                  </a:solidFill>
                  <a:latin typeface="Arial"/>
                  <a:ea typeface="Microsoft YaHei"/>
                  <a:cs typeface="Arial"/>
                </a:rPr>
                <a:t>）</a:t>
              </a:r>
            </a:p>
          </p:txBody>
        </p:sp>
        <p:sp>
          <p:nvSpPr>
            <p:cNvPr id="45" name="TextBox 45"/>
            <p:cNvSpPr txBox="1"/>
            <p:nvPr/>
          </p:nvSpPr>
          <p:spPr>
            <a:xfrm>
              <a:off x="1010917" y="5487643"/>
              <a:ext cx="278973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Holdout 验证通过（无过拟合）</a:t>
              </a:r>
            </a:p>
          </p:txBody>
        </p:sp>
        <p:sp>
          <p:nvSpPr>
            <p:cNvPr id="46" name="Rectangle 46"/>
            <p:cNvSpPr/>
            <p:nvPr/>
          </p:nvSpPr>
          <p:spPr>
            <a:xfrm>
              <a:off x="6248400" y="4495800"/>
              <a:ext cx="5257800" cy="1409700"/>
            </a:xfrm>
            <a:prstGeom prst="roundRect">
              <a:avLst>
                <a:gd name="adj" fmla="val 5405"/>
              </a:avLst>
            </a:prstGeom>
            <a:solidFill>
              <a:srgbClr val="F4F5F7"/>
            </a:solidFill>
            <a:ln>
              <a:noFill/>
            </a:ln>
          </p:spPr>
        </p:sp>
        <p:sp>
          <p:nvSpPr>
            <p:cNvPr id="47" name="TextBox 47"/>
            <p:cNvSpPr txBox="1"/>
            <p:nvPr/>
          </p:nvSpPr>
          <p:spPr>
            <a:xfrm>
              <a:off x="6570983" y="4627907"/>
              <a:ext cx="1563786" cy="325069"/>
            </a:xfrm>
            <a:prstGeom prst="rect">
              <a:avLst/>
            </a:prstGeom>
            <a:noFill/>
            <a:ln>
              <a:noFill/>
            </a:ln>
          </p:spPr>
          <p:txBody>
            <a:bodyPr wrap="none" lIns="0" tIns="0" rIns="0" bIns="0" anchor="t" anchorCtr="0">
              <a:spAutoFit/>
            </a:bodyPr>
            <a:lstStyle/>
            <a:p>
              <a:pPr algn="l"/>
              <a:r>
                <a:rPr lang="zh-CN" sz="1600" b="1" dirty="0">
                  <a:solidFill>
                    <a:srgbClr val="E07B00"/>
                  </a:solidFill>
                  <a:latin typeface="Arial"/>
                  <a:ea typeface="Microsoft YaHei"/>
                  <a:cs typeface="Arial"/>
                </a:rPr>
                <a:t>v2.51 失败教训</a:t>
              </a:r>
            </a:p>
          </p:txBody>
        </p:sp>
        <p:sp>
          <p:nvSpPr>
            <p:cNvPr id="48" name="TextBox 48"/>
            <p:cNvSpPr txBox="1"/>
            <p:nvPr/>
          </p:nvSpPr>
          <p:spPr>
            <a:xfrm>
              <a:off x="6573517" y="4954243"/>
              <a:ext cx="2640357"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短 prompt 无法判断论证质量</a:t>
              </a:r>
            </a:p>
          </p:txBody>
        </p:sp>
        <p:sp>
          <p:nvSpPr>
            <p:cNvPr id="49" name="TextBox 49"/>
            <p:cNvSpPr txBox="1"/>
            <p:nvPr/>
          </p:nvSpPr>
          <p:spPr>
            <a:xfrm>
              <a:off x="6573517" y="5220943"/>
              <a:ext cx="3620654"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AI 无法区分"正常学术表述"和"空泛表述"</a:t>
              </a:r>
            </a:p>
          </p:txBody>
        </p:sp>
        <p:sp>
          <p:nvSpPr>
            <p:cNvPr id="50" name="TextBox 50"/>
            <p:cNvSpPr txBox="1"/>
            <p:nvPr/>
          </p:nvSpPr>
          <p:spPr>
            <a:xfrm>
              <a:off x="6573517" y="5487643"/>
              <a:ext cx="302314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Pattern 定义必须基于可观察指标</a:t>
              </a:r>
            </a:p>
          </p:txBody>
        </p:sp>
      </p:grpSp>
      <p:grpSp>
        <p:nvGrpSpPr>
          <p:cNvPr id="55" name="Group 55"/>
          <p:cNvGrpSpPr/>
          <p:nvPr/>
        </p:nvGrpSpPr>
        <p:grpSpPr>
          <a:xfrm>
            <a:off x="0" y="6516343"/>
            <a:ext cx="12192000" cy="341657"/>
            <a:chOff x="0" y="6516343"/>
            <a:chExt cx="12192000" cy="341657"/>
          </a:xfrm>
        </p:grpSpPr>
        <p:sp>
          <p:nvSpPr>
            <p:cNvPr id="52" name="Rectangle 52"/>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53" name="TextBox 53"/>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54" name="TextBox 54"/>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28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400"/>
                                        <p:tgtEl>
                                          <p:spTgt spid="4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5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423198"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技术架构概览</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6" name="Group 16"/>
          <p:cNvGrpSpPr/>
          <p:nvPr/>
        </p:nvGrpSpPr>
        <p:grpSpPr>
          <a:xfrm>
            <a:off x="685800" y="1228725"/>
            <a:ext cx="3364992" cy="2095500"/>
            <a:chOff x="685800" y="1228725"/>
            <a:chExt cx="3364992" cy="2095500"/>
          </a:xfrm>
        </p:grpSpPr>
        <p:sp>
          <p:nvSpPr>
            <p:cNvPr id="8" name="Rectangle 8"/>
            <p:cNvSpPr/>
            <p:nvPr/>
          </p:nvSpPr>
          <p:spPr>
            <a:xfrm>
              <a:off x="685800" y="1228725"/>
              <a:ext cx="3048000" cy="2095500"/>
            </a:xfrm>
            <a:prstGeom prst="roundRect">
              <a:avLst>
                <a:gd name="adj" fmla="val 3636"/>
              </a:avLst>
            </a:prstGeom>
            <a:solidFill>
              <a:srgbClr val="F4F5F7"/>
            </a:solidFill>
            <a:ln>
              <a:noFill/>
            </a:ln>
          </p:spPr>
        </p:sp>
        <p:sp>
          <p:nvSpPr>
            <p:cNvPr id="9" name="TextBox 9"/>
            <p:cNvSpPr txBox="1"/>
            <p:nvPr/>
          </p:nvSpPr>
          <p:spPr>
            <a:xfrm>
              <a:off x="1008383" y="1370357"/>
              <a:ext cx="936606"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核心特性</a:t>
              </a:r>
            </a:p>
          </p:txBody>
        </p:sp>
        <p:sp>
          <p:nvSpPr>
            <p:cNvPr id="10" name="TextBox 10"/>
            <p:cNvSpPr txBox="1"/>
            <p:nvPr/>
          </p:nvSpPr>
          <p:spPr>
            <a:xfrm>
              <a:off x="1010917" y="1715743"/>
              <a:ext cx="1501345"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配置化评价框架</a:t>
              </a:r>
            </a:p>
          </p:txBody>
        </p:sp>
        <p:sp>
          <p:nvSpPr>
            <p:cNvPr id="11" name="TextBox 11"/>
            <p:cNvSpPr txBox="1"/>
            <p:nvPr/>
          </p:nvSpPr>
          <p:spPr>
            <a:xfrm>
              <a:off x="1203960" y="1965960"/>
              <a:ext cx="2846832"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Prompt/契约/量化映射以 YAML 为真源</a:t>
              </a:r>
            </a:p>
          </p:txBody>
        </p:sp>
        <p:sp>
          <p:nvSpPr>
            <p:cNvPr id="12" name="TextBox 12"/>
            <p:cNvSpPr txBox="1"/>
            <p:nvPr/>
          </p:nvSpPr>
          <p:spPr>
            <a:xfrm>
              <a:off x="1010917" y="2249143"/>
              <a:ext cx="112789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全链路审计</a:t>
              </a:r>
            </a:p>
          </p:txBody>
        </p:sp>
        <p:sp>
          <p:nvSpPr>
            <p:cNvPr id="13" name="TextBox 13"/>
            <p:cNvSpPr txBox="1"/>
            <p:nvPr/>
          </p:nvSpPr>
          <p:spPr>
            <a:xfrm>
              <a:off x="1203960" y="2499360"/>
              <a:ext cx="1702689"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所有 AI 调用记录持久化</a:t>
              </a:r>
            </a:p>
          </p:txBody>
        </p:sp>
        <p:sp>
          <p:nvSpPr>
            <p:cNvPr id="14" name="TextBox 14"/>
            <p:cNvSpPr txBox="1"/>
            <p:nvPr/>
          </p:nvSpPr>
          <p:spPr>
            <a:xfrm>
              <a:off x="1010917" y="2782543"/>
              <a:ext cx="112789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模块化设计</a:t>
              </a:r>
            </a:p>
          </p:txBody>
        </p:sp>
        <p:sp>
          <p:nvSpPr>
            <p:cNvPr id="15" name="TextBox 15"/>
            <p:cNvSpPr txBox="1"/>
            <p:nvPr/>
          </p:nvSpPr>
          <p:spPr>
            <a:xfrm>
              <a:off x="1203960" y="3032760"/>
              <a:ext cx="2694813"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评价引擎/知识体系/可靠性/复核解耦</a:t>
              </a:r>
            </a:p>
          </p:txBody>
        </p:sp>
      </p:grpSp>
      <p:grpSp>
        <p:nvGrpSpPr>
          <p:cNvPr id="48" name="Group 48"/>
          <p:cNvGrpSpPr/>
          <p:nvPr/>
        </p:nvGrpSpPr>
        <p:grpSpPr>
          <a:xfrm>
            <a:off x="4191000" y="1228725"/>
            <a:ext cx="7315200" cy="3952875"/>
            <a:chOff x="4191000" y="1228725"/>
            <a:chExt cx="7315200" cy="3952875"/>
          </a:xfrm>
        </p:grpSpPr>
        <p:sp>
          <p:nvSpPr>
            <p:cNvPr id="17" name="Rectangle 17"/>
            <p:cNvSpPr/>
            <p:nvPr/>
          </p:nvSpPr>
          <p:spPr>
            <a:xfrm>
              <a:off x="4191000" y="1228725"/>
              <a:ext cx="7315200" cy="495300"/>
            </a:xfrm>
            <a:prstGeom prst="roundRect">
              <a:avLst>
                <a:gd name="adj" fmla="val 15385"/>
              </a:avLst>
            </a:prstGeom>
            <a:solidFill>
              <a:srgbClr val="F4F5F7"/>
            </a:solidFill>
            <a:ln w="14288">
              <a:solidFill>
                <a:srgbClr val="1F4D78"/>
              </a:solidFill>
            </a:ln>
          </p:spPr>
        </p:sp>
        <p:sp>
          <p:nvSpPr>
            <p:cNvPr id="18" name="TextBox 18"/>
            <p:cNvSpPr txBox="1"/>
            <p:nvPr/>
          </p:nvSpPr>
          <p:spPr>
            <a:xfrm>
              <a:off x="6114737" y="1370357"/>
              <a:ext cx="3467726"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Web 前端（React + TypeScript）</a:t>
              </a:r>
            </a:p>
          </p:txBody>
        </p:sp>
        <p:sp>
          <p:nvSpPr>
            <p:cNvPr id="19" name="Line 19"/>
            <p:cNvSpPr/>
            <p:nvPr/>
          </p:nvSpPr>
          <p:spPr>
            <a:xfrm>
              <a:off x="7848600" y="1724025"/>
              <a:ext cx="1" cy="228600"/>
            </a:xfrm>
            <a:prstGeom prst="line">
              <a:avLst/>
            </a:prstGeom>
            <a:noFill/>
            <a:ln w="19050">
              <a:solidFill>
                <a:srgbClr val="94A3B8"/>
              </a:solidFill>
              <a:tailEnd type="triangle" w="lg" len="lg"/>
            </a:ln>
          </p:spPr>
        </p:sp>
        <p:sp>
          <p:nvSpPr>
            <p:cNvPr id="20" name="Rectangle 20"/>
            <p:cNvSpPr/>
            <p:nvPr/>
          </p:nvSpPr>
          <p:spPr>
            <a:xfrm>
              <a:off x="4191000" y="2000250"/>
              <a:ext cx="7315200" cy="495300"/>
            </a:xfrm>
            <a:prstGeom prst="roundRect">
              <a:avLst>
                <a:gd name="adj" fmla="val 15385"/>
              </a:avLst>
            </a:prstGeom>
            <a:solidFill>
              <a:srgbClr val="1F4D78"/>
            </a:solidFill>
            <a:ln>
              <a:noFill/>
            </a:ln>
          </p:spPr>
        </p:sp>
        <p:sp>
          <p:nvSpPr>
            <p:cNvPr id="21" name="TextBox 21"/>
            <p:cNvSpPr txBox="1"/>
            <p:nvPr/>
          </p:nvSpPr>
          <p:spPr>
            <a:xfrm>
              <a:off x="6898712" y="2141882"/>
              <a:ext cx="1899776" cy="325069"/>
            </a:xfrm>
            <a:prstGeom prst="rect">
              <a:avLst/>
            </a:prstGeom>
            <a:noFill/>
            <a:ln>
              <a:noFill/>
            </a:ln>
          </p:spPr>
          <p:txBody>
            <a:bodyPr wrap="none" lIns="0" tIns="0" rIns="0" bIns="0" anchor="t" anchorCtr="0">
              <a:spAutoFit/>
            </a:bodyPr>
            <a:lstStyle/>
            <a:p>
              <a:pPr algn="ctr"/>
              <a:r>
                <a:rPr lang="zh-CN" sz="1600" b="1" dirty="0">
                  <a:solidFill>
                    <a:srgbClr val="FFFFFF"/>
                  </a:solidFill>
                  <a:latin typeface="Arial"/>
                  <a:ea typeface="Microsoft YaHei"/>
                  <a:cs typeface="Arial"/>
                </a:rPr>
                <a:t>API 层（FastAPI）</a:t>
              </a:r>
            </a:p>
          </p:txBody>
        </p:sp>
        <p:sp>
          <p:nvSpPr>
            <p:cNvPr id="22" name="Line 22"/>
            <p:cNvSpPr/>
            <p:nvPr/>
          </p:nvSpPr>
          <p:spPr>
            <a:xfrm>
              <a:off x="7848600" y="2495550"/>
              <a:ext cx="1" cy="228600"/>
            </a:xfrm>
            <a:prstGeom prst="line">
              <a:avLst/>
            </a:prstGeom>
            <a:noFill/>
            <a:ln w="19050">
              <a:solidFill>
                <a:srgbClr val="94A3B8"/>
              </a:solidFill>
              <a:tailEnd type="triangle" w="lg" len="lg"/>
            </a:ln>
          </p:spPr>
        </p:sp>
        <p:grpSp>
          <p:nvGrpSpPr>
            <p:cNvPr id="39" name="Group 39"/>
            <p:cNvGrpSpPr/>
            <p:nvPr/>
          </p:nvGrpSpPr>
          <p:grpSpPr>
            <a:xfrm>
              <a:off x="4191000" y="2781300"/>
              <a:ext cx="7315200" cy="819150"/>
              <a:chOff x="4191000" y="2781300"/>
              <a:chExt cx="7315200" cy="819150"/>
            </a:xfrm>
          </p:grpSpPr>
          <p:sp>
            <p:nvSpPr>
              <p:cNvPr id="23" name="Rectangle 23"/>
              <p:cNvSpPr/>
              <p:nvPr/>
            </p:nvSpPr>
            <p:spPr>
              <a:xfrm>
                <a:off x="4191000" y="2781300"/>
                <a:ext cx="1714500" cy="762000"/>
              </a:xfrm>
              <a:prstGeom prst="roundRect">
                <a:avLst>
                  <a:gd name="adj" fmla="val 10000"/>
                </a:avLst>
              </a:prstGeom>
              <a:solidFill>
                <a:srgbClr val="F4F5F7"/>
              </a:solidFill>
              <a:ln w="14288">
                <a:solidFill>
                  <a:srgbClr val="1F4D78"/>
                </a:solidFill>
              </a:ln>
            </p:spPr>
          </p:sp>
          <p:sp>
            <p:nvSpPr>
              <p:cNvPr id="24" name="TextBox 24"/>
              <p:cNvSpPr txBox="1"/>
              <p:nvPr/>
            </p:nvSpPr>
            <p:spPr>
              <a:xfrm>
                <a:off x="4638348" y="2915893"/>
                <a:ext cx="819804" cy="284531"/>
              </a:xfrm>
              <a:prstGeom prst="rect">
                <a:avLst/>
              </a:prstGeom>
              <a:noFill/>
              <a:ln>
                <a:noFill/>
              </a:ln>
            </p:spPr>
            <p:txBody>
              <a:bodyPr wrap="none" lIns="0" tIns="0" rIns="0" bIns="0" anchor="t" anchorCtr="0">
                <a:spAutoFit/>
              </a:bodyPr>
              <a:lstStyle/>
              <a:p>
                <a:pPr algn="ctr"/>
                <a:r>
                  <a:rPr lang="zh-CN" sz="1400" b="1" dirty="0">
                    <a:solidFill>
                      <a:srgbClr val="1F4D78"/>
                    </a:solidFill>
                    <a:latin typeface="Arial"/>
                    <a:ea typeface="Microsoft YaHei"/>
                    <a:cs typeface="Arial"/>
                  </a:rPr>
                  <a:t>评价引擎</a:t>
                </a:r>
              </a:p>
            </p:txBody>
          </p:sp>
          <p:sp>
            <p:nvSpPr>
              <p:cNvPr id="25" name="TextBox 25"/>
              <p:cNvSpPr txBox="1"/>
              <p:nvPr/>
            </p:nvSpPr>
            <p:spPr>
              <a:xfrm>
                <a:off x="4632960" y="3185160"/>
                <a:ext cx="83058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多模型并发</a:t>
                </a:r>
              </a:p>
            </p:txBody>
          </p:sp>
          <p:sp>
            <p:nvSpPr>
              <p:cNvPr id="26" name="TextBox 26"/>
              <p:cNvSpPr txBox="1"/>
              <p:nvPr/>
            </p:nvSpPr>
            <p:spPr>
              <a:xfrm>
                <a:off x="4712970" y="3356610"/>
                <a:ext cx="67056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交叉评审</a:t>
                </a:r>
              </a:p>
            </p:txBody>
          </p:sp>
          <p:sp>
            <p:nvSpPr>
              <p:cNvPr id="27" name="Rectangle 27"/>
              <p:cNvSpPr/>
              <p:nvPr/>
            </p:nvSpPr>
            <p:spPr>
              <a:xfrm>
                <a:off x="6057900" y="2781300"/>
                <a:ext cx="1714500" cy="762000"/>
              </a:xfrm>
              <a:prstGeom prst="roundRect">
                <a:avLst>
                  <a:gd name="adj" fmla="val 10000"/>
                </a:avLst>
              </a:prstGeom>
              <a:solidFill>
                <a:srgbClr val="F4F5F7"/>
              </a:solidFill>
              <a:ln w="14288">
                <a:solidFill>
                  <a:srgbClr val="1F4D78"/>
                </a:solidFill>
              </a:ln>
            </p:spPr>
          </p:sp>
          <p:sp>
            <p:nvSpPr>
              <p:cNvPr id="28" name="TextBox 28"/>
              <p:cNvSpPr txBox="1"/>
              <p:nvPr/>
            </p:nvSpPr>
            <p:spPr>
              <a:xfrm>
                <a:off x="6505248" y="2915893"/>
                <a:ext cx="819804" cy="284531"/>
              </a:xfrm>
              <a:prstGeom prst="rect">
                <a:avLst/>
              </a:prstGeom>
              <a:noFill/>
              <a:ln>
                <a:noFill/>
              </a:ln>
            </p:spPr>
            <p:txBody>
              <a:bodyPr wrap="none" lIns="0" tIns="0" rIns="0" bIns="0" anchor="t" anchorCtr="0">
                <a:spAutoFit/>
              </a:bodyPr>
              <a:lstStyle/>
              <a:p>
                <a:pPr algn="ctr"/>
                <a:r>
                  <a:rPr lang="zh-CN" sz="1400" b="1" dirty="0">
                    <a:solidFill>
                      <a:srgbClr val="1F4D78"/>
                    </a:solidFill>
                    <a:latin typeface="Arial"/>
                    <a:ea typeface="Microsoft YaHei"/>
                    <a:cs typeface="Arial"/>
                  </a:rPr>
                  <a:t>知识体系</a:t>
                </a:r>
              </a:p>
            </p:txBody>
          </p:sp>
          <p:sp>
            <p:nvSpPr>
              <p:cNvPr id="29" name="TextBox 29"/>
              <p:cNvSpPr txBox="1"/>
              <p:nvPr/>
            </p:nvSpPr>
            <p:spPr>
              <a:xfrm>
                <a:off x="6443853" y="3185160"/>
                <a:ext cx="942594"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YAML 配置化</a:t>
                </a:r>
              </a:p>
            </p:txBody>
          </p:sp>
          <p:sp>
            <p:nvSpPr>
              <p:cNvPr id="30" name="TextBox 30"/>
              <p:cNvSpPr txBox="1"/>
              <p:nvPr/>
            </p:nvSpPr>
            <p:spPr>
              <a:xfrm>
                <a:off x="6579870" y="3356610"/>
                <a:ext cx="67056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动态加载</a:t>
                </a:r>
              </a:p>
            </p:txBody>
          </p:sp>
          <p:sp>
            <p:nvSpPr>
              <p:cNvPr id="31" name="Rectangle 31"/>
              <p:cNvSpPr/>
              <p:nvPr/>
            </p:nvSpPr>
            <p:spPr>
              <a:xfrm>
                <a:off x="7924800" y="2781300"/>
                <a:ext cx="1714500" cy="762000"/>
              </a:xfrm>
              <a:prstGeom prst="roundRect">
                <a:avLst>
                  <a:gd name="adj" fmla="val 10000"/>
                </a:avLst>
              </a:prstGeom>
              <a:solidFill>
                <a:srgbClr val="F4F5F7"/>
              </a:solidFill>
              <a:ln w="14288">
                <a:solidFill>
                  <a:srgbClr val="1F4D78"/>
                </a:solidFill>
              </a:ln>
            </p:spPr>
          </p:sp>
          <p:sp>
            <p:nvSpPr>
              <p:cNvPr id="32" name="TextBox 32"/>
              <p:cNvSpPr txBox="1"/>
              <p:nvPr/>
            </p:nvSpPr>
            <p:spPr>
              <a:xfrm>
                <a:off x="8274118" y="2915893"/>
                <a:ext cx="1015864" cy="284531"/>
              </a:xfrm>
              <a:prstGeom prst="rect">
                <a:avLst/>
              </a:prstGeom>
              <a:noFill/>
              <a:ln>
                <a:noFill/>
              </a:ln>
            </p:spPr>
            <p:txBody>
              <a:bodyPr wrap="none" lIns="0" tIns="0" rIns="0" bIns="0" anchor="t" anchorCtr="0">
                <a:spAutoFit/>
              </a:bodyPr>
              <a:lstStyle/>
              <a:p>
                <a:pPr algn="ctr"/>
                <a:r>
                  <a:rPr lang="zh-CN" sz="1400" b="1" dirty="0">
                    <a:solidFill>
                      <a:srgbClr val="1F4D78"/>
                    </a:solidFill>
                    <a:latin typeface="Arial"/>
                    <a:ea typeface="Microsoft YaHei"/>
                    <a:cs typeface="Arial"/>
                  </a:rPr>
                  <a:t>可靠性验证</a:t>
                </a:r>
              </a:p>
            </p:txBody>
          </p:sp>
          <p:sp>
            <p:nvSpPr>
              <p:cNvPr id="33" name="TextBox 33"/>
              <p:cNvSpPr txBox="1"/>
              <p:nvPr/>
            </p:nvSpPr>
            <p:spPr>
              <a:xfrm>
                <a:off x="8450770" y="3185160"/>
                <a:ext cx="662559"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std 计算</a:t>
                </a:r>
              </a:p>
            </p:txBody>
          </p:sp>
          <p:sp>
            <p:nvSpPr>
              <p:cNvPr id="34" name="TextBox 34"/>
              <p:cNvSpPr txBox="1"/>
              <p:nvPr/>
            </p:nvSpPr>
            <p:spPr>
              <a:xfrm>
                <a:off x="8366760" y="3356610"/>
                <a:ext cx="83058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分层置信度</a:t>
                </a:r>
              </a:p>
            </p:txBody>
          </p:sp>
          <p:sp>
            <p:nvSpPr>
              <p:cNvPr id="35" name="Rectangle 35"/>
              <p:cNvSpPr/>
              <p:nvPr/>
            </p:nvSpPr>
            <p:spPr>
              <a:xfrm>
                <a:off x="9791700" y="2781300"/>
                <a:ext cx="1714500" cy="762000"/>
              </a:xfrm>
              <a:prstGeom prst="roundRect">
                <a:avLst>
                  <a:gd name="adj" fmla="val 10000"/>
                </a:avLst>
              </a:prstGeom>
              <a:solidFill>
                <a:srgbClr val="F4F5F7"/>
              </a:solidFill>
              <a:ln w="14288">
                <a:solidFill>
                  <a:srgbClr val="1F4D78"/>
                </a:solidFill>
              </a:ln>
            </p:spPr>
          </p:sp>
          <p:sp>
            <p:nvSpPr>
              <p:cNvPr id="36" name="TextBox 36"/>
              <p:cNvSpPr txBox="1"/>
              <p:nvPr/>
            </p:nvSpPr>
            <p:spPr>
              <a:xfrm>
                <a:off x="10239048" y="2915893"/>
                <a:ext cx="819804" cy="284531"/>
              </a:xfrm>
              <a:prstGeom prst="rect">
                <a:avLst/>
              </a:prstGeom>
              <a:noFill/>
              <a:ln>
                <a:noFill/>
              </a:ln>
            </p:spPr>
            <p:txBody>
              <a:bodyPr wrap="none" lIns="0" tIns="0" rIns="0" bIns="0" anchor="t" anchorCtr="0">
                <a:spAutoFit/>
              </a:bodyPr>
              <a:lstStyle/>
              <a:p>
                <a:pPr algn="ctr"/>
                <a:r>
                  <a:rPr lang="zh-CN" sz="1400" b="1" dirty="0">
                    <a:solidFill>
                      <a:srgbClr val="1F4D78"/>
                    </a:solidFill>
                    <a:latin typeface="Arial"/>
                    <a:ea typeface="Microsoft YaHei"/>
                    <a:cs typeface="Arial"/>
                  </a:rPr>
                  <a:t>专家复核</a:t>
                </a:r>
              </a:p>
            </p:txBody>
          </p:sp>
          <p:sp>
            <p:nvSpPr>
              <p:cNvPr id="37" name="TextBox 37"/>
              <p:cNvSpPr txBox="1"/>
              <p:nvPr/>
            </p:nvSpPr>
            <p:spPr>
              <a:xfrm>
                <a:off x="10233660" y="3185160"/>
                <a:ext cx="83058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工作流引擎</a:t>
                </a:r>
              </a:p>
            </p:txBody>
          </p:sp>
          <p:sp>
            <p:nvSpPr>
              <p:cNvPr id="38" name="TextBox 38"/>
              <p:cNvSpPr txBox="1"/>
              <p:nvPr/>
            </p:nvSpPr>
            <p:spPr>
              <a:xfrm>
                <a:off x="10313670" y="3356610"/>
                <a:ext cx="670560" cy="243840"/>
              </a:xfrm>
              <a:prstGeom prst="rect">
                <a:avLst/>
              </a:prstGeom>
              <a:noFill/>
              <a:ln>
                <a:noFill/>
              </a:ln>
            </p:spPr>
            <p:txBody>
              <a:bodyPr wrap="none" lIns="0" tIns="0" rIns="0" bIns="0" anchor="t" anchorCtr="0">
                <a:spAutoFit/>
              </a:bodyPr>
              <a:lstStyle/>
              <a:p>
                <a:pPr algn="ctr"/>
                <a:r>
                  <a:rPr lang="zh-CN" sz="1200" dirty="0">
                    <a:solidFill>
                      <a:srgbClr val="5A6472"/>
                    </a:solidFill>
                    <a:latin typeface="Arial"/>
                    <a:ea typeface="Microsoft YaHei"/>
                    <a:cs typeface="Arial"/>
                  </a:rPr>
                  <a:t>邮件通知</a:t>
                </a:r>
              </a:p>
            </p:txBody>
          </p:sp>
        </p:grpSp>
        <p:sp>
          <p:nvSpPr>
            <p:cNvPr id="40" name="Line 40"/>
            <p:cNvSpPr/>
            <p:nvPr/>
          </p:nvSpPr>
          <p:spPr>
            <a:xfrm>
              <a:off x="7848600" y="3543300"/>
              <a:ext cx="1" cy="266700"/>
            </a:xfrm>
            <a:prstGeom prst="line">
              <a:avLst/>
            </a:prstGeom>
            <a:noFill/>
            <a:ln w="19050">
              <a:solidFill>
                <a:srgbClr val="94A3B8"/>
              </a:solidFill>
              <a:tailEnd type="triangle" w="lg" len="lg"/>
            </a:ln>
          </p:spPr>
        </p:sp>
        <p:sp>
          <p:nvSpPr>
            <p:cNvPr id="41" name="Rectangle 41"/>
            <p:cNvSpPr/>
            <p:nvPr/>
          </p:nvSpPr>
          <p:spPr>
            <a:xfrm>
              <a:off x="4191000" y="3867150"/>
              <a:ext cx="7315200" cy="495300"/>
            </a:xfrm>
            <a:prstGeom prst="roundRect">
              <a:avLst>
                <a:gd name="adj" fmla="val 15385"/>
              </a:avLst>
            </a:prstGeom>
            <a:solidFill>
              <a:srgbClr val="C8161E"/>
            </a:solidFill>
            <a:ln>
              <a:noFill/>
            </a:ln>
          </p:spPr>
        </p:sp>
        <p:sp>
          <p:nvSpPr>
            <p:cNvPr id="42" name="TextBox 42"/>
            <p:cNvSpPr txBox="1"/>
            <p:nvPr/>
          </p:nvSpPr>
          <p:spPr>
            <a:xfrm>
              <a:off x="5481957" y="4008782"/>
              <a:ext cx="4733287" cy="325069"/>
            </a:xfrm>
            <a:prstGeom prst="rect">
              <a:avLst/>
            </a:prstGeom>
            <a:noFill/>
            <a:ln>
              <a:noFill/>
            </a:ln>
          </p:spPr>
          <p:txBody>
            <a:bodyPr wrap="none" lIns="0" tIns="0" rIns="0" bIns="0" anchor="t" anchorCtr="0">
              <a:spAutoFit/>
            </a:bodyPr>
            <a:lstStyle/>
            <a:p>
              <a:pPr algn="ctr"/>
              <a:r>
                <a:rPr lang="zh-CN" sz="1600" b="1" dirty="0">
                  <a:solidFill>
                    <a:srgbClr val="FFFFFF"/>
                  </a:solidFill>
                  <a:latin typeface="Arial"/>
                  <a:ea typeface="Microsoft YaHei"/>
                  <a:cs typeface="Arial"/>
                </a:rPr>
                <a:t>AI 统一抽象层（DashScope 百炼 + Fucheers）</a:t>
              </a:r>
            </a:p>
          </p:txBody>
        </p:sp>
        <p:sp>
          <p:nvSpPr>
            <p:cNvPr id="43" name="Line 43"/>
            <p:cNvSpPr/>
            <p:nvPr/>
          </p:nvSpPr>
          <p:spPr>
            <a:xfrm>
              <a:off x="7848600" y="4362450"/>
              <a:ext cx="1" cy="266700"/>
            </a:xfrm>
            <a:prstGeom prst="line">
              <a:avLst/>
            </a:prstGeom>
            <a:noFill/>
            <a:ln w="19050">
              <a:solidFill>
                <a:srgbClr val="94A3B8"/>
              </a:solidFill>
              <a:tailEnd type="triangle" w="lg" len="lg"/>
            </a:ln>
          </p:spPr>
        </p:sp>
        <p:sp>
          <p:nvSpPr>
            <p:cNvPr id="44" name="Rectangle 44"/>
            <p:cNvSpPr/>
            <p:nvPr/>
          </p:nvSpPr>
          <p:spPr>
            <a:xfrm>
              <a:off x="4191000" y="4686300"/>
              <a:ext cx="3543300" cy="495300"/>
            </a:xfrm>
            <a:prstGeom prst="roundRect">
              <a:avLst>
                <a:gd name="adj" fmla="val 15385"/>
              </a:avLst>
            </a:prstGeom>
            <a:solidFill>
              <a:srgbClr val="F4F5F7"/>
            </a:solidFill>
            <a:ln w="14288">
              <a:solidFill>
                <a:srgbClr val="1F4D78"/>
              </a:solidFill>
            </a:ln>
          </p:spPr>
        </p:sp>
        <p:sp>
          <p:nvSpPr>
            <p:cNvPr id="45" name="TextBox 45"/>
            <p:cNvSpPr txBox="1"/>
            <p:nvPr/>
          </p:nvSpPr>
          <p:spPr>
            <a:xfrm>
              <a:off x="5028289" y="4849468"/>
              <a:ext cx="1868723" cy="284531"/>
            </a:xfrm>
            <a:prstGeom prst="rect">
              <a:avLst/>
            </a:prstGeom>
            <a:noFill/>
            <a:ln>
              <a:noFill/>
            </a:ln>
          </p:spPr>
          <p:txBody>
            <a:bodyPr wrap="none" lIns="0" tIns="0" rIns="0" bIns="0" anchor="t" anchorCtr="0">
              <a:spAutoFit/>
            </a:bodyPr>
            <a:lstStyle/>
            <a:p>
              <a:pPr algn="ctr"/>
              <a:r>
                <a:rPr lang="zh-CN" sz="1400" b="1" dirty="0">
                  <a:solidFill>
                    <a:srgbClr val="1F4D78"/>
                  </a:solidFill>
                  <a:latin typeface="Arial"/>
                  <a:ea typeface="Microsoft YaHei"/>
                  <a:cs typeface="Arial"/>
                </a:rPr>
                <a:t>PostgreSQL + Redis</a:t>
              </a:r>
            </a:p>
          </p:txBody>
        </p:sp>
        <p:sp>
          <p:nvSpPr>
            <p:cNvPr id="46" name="Rectangle 46"/>
            <p:cNvSpPr/>
            <p:nvPr/>
          </p:nvSpPr>
          <p:spPr>
            <a:xfrm>
              <a:off x="7962900" y="4686300"/>
              <a:ext cx="3543300" cy="495300"/>
            </a:xfrm>
            <a:prstGeom prst="roundRect">
              <a:avLst>
                <a:gd name="adj" fmla="val 15385"/>
              </a:avLst>
            </a:prstGeom>
            <a:solidFill>
              <a:srgbClr val="F4F5F7"/>
            </a:solidFill>
            <a:ln w="14288">
              <a:solidFill>
                <a:srgbClr val="1F4D78"/>
              </a:solidFill>
            </a:ln>
          </p:spPr>
        </p:sp>
        <p:sp>
          <p:nvSpPr>
            <p:cNvPr id="47" name="TextBox 47"/>
            <p:cNvSpPr txBox="1"/>
            <p:nvPr/>
          </p:nvSpPr>
          <p:spPr>
            <a:xfrm>
              <a:off x="9030559" y="4849468"/>
              <a:ext cx="1407983" cy="284531"/>
            </a:xfrm>
            <a:prstGeom prst="rect">
              <a:avLst/>
            </a:prstGeom>
            <a:noFill/>
            <a:ln>
              <a:noFill/>
            </a:ln>
          </p:spPr>
          <p:txBody>
            <a:bodyPr wrap="none" lIns="0" tIns="0" rIns="0" bIns="0" anchor="t" anchorCtr="0">
              <a:spAutoFit/>
            </a:bodyPr>
            <a:lstStyle/>
            <a:p>
              <a:pPr algn="ctr"/>
              <a:r>
                <a:rPr lang="zh-CN" sz="1400" b="1" dirty="0">
                  <a:solidFill>
                    <a:srgbClr val="1F4D78"/>
                  </a:solidFill>
                  <a:latin typeface="Arial"/>
                  <a:ea typeface="Microsoft YaHei"/>
                  <a:cs typeface="Arial"/>
                </a:rPr>
                <a:t>全链路审计日志</a:t>
              </a:r>
            </a:p>
          </p:txBody>
        </p:sp>
      </p:grpSp>
      <p:sp>
        <p:nvSpPr>
          <p:cNvPr id="49" name="Rectangle 49"/>
          <p:cNvSpPr/>
          <p:nvPr/>
        </p:nvSpPr>
        <p:spPr>
          <a:xfrm>
            <a:off x="685800" y="5524500"/>
            <a:ext cx="10820400" cy="571500"/>
          </a:xfrm>
          <a:prstGeom prst="roundRect">
            <a:avLst>
              <a:gd name="adj" fmla="val 13333"/>
            </a:avLst>
          </a:prstGeom>
          <a:solidFill>
            <a:srgbClr val="F4F5F7"/>
          </a:solidFill>
          <a:ln>
            <a:noFill/>
          </a:ln>
        </p:spPr>
      </p:sp>
      <p:sp>
        <p:nvSpPr>
          <p:cNvPr id="50" name="TextBox 50"/>
          <p:cNvSpPr txBox="1"/>
          <p:nvPr/>
        </p:nvSpPr>
        <p:spPr>
          <a:xfrm>
            <a:off x="1010917" y="5678143"/>
            <a:ext cx="11201622" cy="284531"/>
          </a:xfrm>
          <a:prstGeom prst="rect">
            <a:avLst/>
          </a:prstGeom>
          <a:noFill/>
          <a:ln>
            <a:noFill/>
          </a:ln>
        </p:spPr>
        <p:txBody>
          <a:bodyPr wrap="none" lIns="0" tIns="0" rIns="0" bIns="0" anchor="t" anchorCtr="0">
            <a:spAutoFit/>
          </a:bodyPr>
          <a:lstStyle/>
          <a:p>
            <a:pPr algn="l"/>
            <a:r>
              <a:rPr lang="zh-CN" sz="1400" b="1" dirty="0">
                <a:solidFill>
                  <a:srgbClr val="1F4D78"/>
                </a:solidFill>
                <a:latin typeface="Arial"/>
                <a:ea typeface="Microsoft YaHei"/>
                <a:cs typeface="Arial"/>
              </a:rPr>
              <a:t>技术栈</a:t>
            </a:r>
            <a:r>
              <a:rPr lang="zh-CN" sz="1400" dirty="0">
                <a:solidFill>
                  <a:srgbClr val="1B1C21"/>
                </a:solidFill>
                <a:latin typeface="Arial"/>
                <a:ea typeface="Microsoft YaHei"/>
                <a:cs typeface="Arial"/>
              </a:rPr>
              <a:t>：Python 3.10+ (FastAPI) · PostgreSQL + Redis · DashScope 百炼（国内模型）+ Fucheers（仲裁模型）· YAML 配置化框架</a:t>
            </a:r>
          </a:p>
        </p:txBody>
      </p:sp>
      <p:grpSp>
        <p:nvGrpSpPr>
          <p:cNvPr id="54" name="Group 54"/>
          <p:cNvGrpSpPr/>
          <p:nvPr/>
        </p:nvGrpSpPr>
        <p:grpSpPr>
          <a:xfrm>
            <a:off x="0" y="6516343"/>
            <a:ext cx="12192000" cy="341657"/>
            <a:chOff x="0" y="6516343"/>
            <a:chExt cx="12192000" cy="341657"/>
          </a:xfrm>
        </p:grpSpPr>
        <p:sp>
          <p:nvSpPr>
            <p:cNvPr id="51" name="Rectangle 51"/>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52" name="TextBox 52"/>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53" name="TextBox 53"/>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29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400"/>
                                        <p:tgtEl>
                                          <p:spTgt spid="1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slide(fromBottom)">
                                      <p:cBhvr>
                                        <p:cTn id="11"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4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3991254"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失败经验与方法论沉淀</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28" name="Group 28"/>
          <p:cNvGrpSpPr/>
          <p:nvPr/>
        </p:nvGrpSpPr>
        <p:grpSpPr>
          <a:xfrm>
            <a:off x="685800" y="1228725"/>
            <a:ext cx="5257800" cy="4762500"/>
            <a:chOff x="685800" y="1228725"/>
            <a:chExt cx="5257800" cy="4762500"/>
          </a:xfrm>
        </p:grpSpPr>
        <p:sp>
          <p:nvSpPr>
            <p:cNvPr id="8" name="Rectangle 8"/>
            <p:cNvSpPr/>
            <p:nvPr/>
          </p:nvSpPr>
          <p:spPr>
            <a:xfrm>
              <a:off x="685800" y="1228725"/>
              <a:ext cx="5257800" cy="4762500"/>
            </a:xfrm>
            <a:prstGeom prst="roundRect">
              <a:avLst>
                <a:gd name="adj" fmla="val 1600"/>
              </a:avLst>
            </a:prstGeom>
            <a:solidFill>
              <a:srgbClr val="FFF8F0"/>
            </a:solidFill>
            <a:ln w="14288">
              <a:solidFill>
                <a:srgbClr val="E07B00"/>
              </a:solidFill>
            </a:ln>
          </p:spPr>
        </p:sp>
        <p:sp>
          <p:nvSpPr>
            <p:cNvPr id="9" name="TextBox 9"/>
            <p:cNvSpPr txBox="1"/>
            <p:nvPr/>
          </p:nvSpPr>
          <p:spPr>
            <a:xfrm>
              <a:off x="1790922" y="1384273"/>
              <a:ext cx="3047555" cy="406451"/>
            </a:xfrm>
            <a:prstGeom prst="rect">
              <a:avLst/>
            </a:prstGeom>
            <a:noFill/>
            <a:ln>
              <a:noFill/>
            </a:ln>
          </p:spPr>
          <p:txBody>
            <a:bodyPr wrap="none" lIns="0" tIns="0" rIns="0" bIns="0" anchor="t" anchorCtr="0">
              <a:spAutoFit/>
            </a:bodyPr>
            <a:lstStyle/>
            <a:p>
              <a:pPr algn="ctr"/>
              <a:r>
                <a:rPr lang="zh-CN" sz="2000" b="1" dirty="0">
                  <a:solidFill>
                    <a:srgbClr val="E07B00"/>
                  </a:solidFill>
                  <a:latin typeface="Arial"/>
                  <a:ea typeface="Microsoft YaHei"/>
                  <a:cs typeface="Arial"/>
                </a:rPr>
                <a:t>v2.51 Phase 0 失败案例</a:t>
              </a:r>
            </a:p>
          </p:txBody>
        </p:sp>
        <p:sp>
          <p:nvSpPr>
            <p:cNvPr id="10" name="TextBox 10"/>
            <p:cNvSpPr txBox="1"/>
            <p:nvPr/>
          </p:nvSpPr>
          <p:spPr>
            <a:xfrm>
              <a:off x="1008383" y="1827557"/>
              <a:ext cx="936606"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问题诊断</a:t>
              </a:r>
            </a:p>
          </p:txBody>
        </p:sp>
        <p:sp>
          <p:nvSpPr>
            <p:cNvPr id="11" name="Ellipse 11"/>
            <p:cNvSpPr/>
            <p:nvPr/>
          </p:nvSpPr>
          <p:spPr>
            <a:xfrm>
              <a:off x="990600" y="2266950"/>
              <a:ext cx="76200" cy="76200"/>
            </a:xfrm>
            <a:prstGeom prst="ellipse">
              <a:avLst/>
            </a:prstGeom>
            <a:solidFill>
              <a:srgbClr val="E07B00"/>
            </a:solidFill>
            <a:ln>
              <a:noFill/>
            </a:ln>
          </p:spPr>
        </p:sp>
        <p:sp>
          <p:nvSpPr>
            <p:cNvPr id="12" name="TextBox 12"/>
            <p:cNvSpPr txBox="1"/>
            <p:nvPr/>
          </p:nvSpPr>
          <p:spPr>
            <a:xfrm>
              <a:off x="1201417" y="2201518"/>
              <a:ext cx="3321897"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xml:space="preserve">负面模式检测器命中率 </a:t>
              </a:r>
              <a:r>
                <a:rPr lang="zh-CN" sz="1400" b="1" dirty="0">
                  <a:solidFill>
                    <a:srgbClr val="E07B00"/>
                  </a:solidFill>
                  <a:latin typeface="Arial"/>
                  <a:ea typeface="Microsoft YaHei"/>
                  <a:cs typeface="Arial"/>
                </a:rPr>
                <a:t>22%</a:t>
              </a:r>
              <a:r>
                <a:rPr lang="zh-CN" sz="1400" dirty="0">
                  <a:solidFill>
                    <a:srgbClr val="1B1C21"/>
                  </a:solidFill>
                  <a:latin typeface="Arial"/>
                  <a:ea typeface="Microsoft YaHei"/>
                  <a:cs typeface="Arial"/>
                </a:rPr>
                <a:t xml:space="preserve"> vs 目标 70%</a:t>
              </a:r>
            </a:p>
          </p:txBody>
        </p:sp>
        <p:sp>
          <p:nvSpPr>
            <p:cNvPr id="13" name="Ellipse 13"/>
            <p:cNvSpPr/>
            <p:nvPr/>
          </p:nvSpPr>
          <p:spPr>
            <a:xfrm>
              <a:off x="990600" y="2571750"/>
              <a:ext cx="76200" cy="76200"/>
            </a:xfrm>
            <a:prstGeom prst="ellipse">
              <a:avLst/>
            </a:prstGeom>
            <a:solidFill>
              <a:srgbClr val="E07B00"/>
            </a:solidFill>
            <a:ln>
              <a:noFill/>
            </a:ln>
          </p:spPr>
        </p:sp>
        <p:sp>
          <p:nvSpPr>
            <p:cNvPr id="14" name="TextBox 14"/>
            <p:cNvSpPr txBox="1"/>
            <p:nvPr/>
          </p:nvSpPr>
          <p:spPr>
            <a:xfrm>
              <a:off x="1201417" y="2506318"/>
              <a:ext cx="196815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 xml:space="preserve">误报率 </a:t>
              </a:r>
              <a:r>
                <a:rPr lang="zh-CN" sz="1400" b="1" dirty="0">
                  <a:solidFill>
                    <a:srgbClr val="E07B00"/>
                  </a:solidFill>
                  <a:latin typeface="Arial"/>
                  <a:ea typeface="Microsoft YaHei"/>
                  <a:cs typeface="Arial"/>
                </a:rPr>
                <a:t>50%</a:t>
              </a:r>
              <a:r>
                <a:rPr lang="zh-CN" sz="1400" dirty="0">
                  <a:solidFill>
                    <a:srgbClr val="1B1C21"/>
                  </a:solidFill>
                  <a:latin typeface="Arial"/>
                  <a:ea typeface="Microsoft YaHei"/>
                  <a:cs typeface="Arial"/>
                </a:rPr>
                <a:t xml:space="preserve"> vs 目标 10%</a:t>
              </a:r>
            </a:p>
          </p:txBody>
        </p:sp>
        <p:sp>
          <p:nvSpPr>
            <p:cNvPr id="15" name="Ellipse 15"/>
            <p:cNvSpPr/>
            <p:nvPr/>
          </p:nvSpPr>
          <p:spPr>
            <a:xfrm>
              <a:off x="990600" y="2876550"/>
              <a:ext cx="76200" cy="76200"/>
            </a:xfrm>
            <a:prstGeom prst="ellipse">
              <a:avLst/>
            </a:prstGeom>
            <a:solidFill>
              <a:srgbClr val="E07B00"/>
            </a:solidFill>
            <a:ln>
              <a:noFill/>
            </a:ln>
          </p:spPr>
        </p:sp>
        <p:sp>
          <p:nvSpPr>
            <p:cNvPr id="16" name="TextBox 16"/>
            <p:cNvSpPr txBox="1"/>
            <p:nvPr/>
          </p:nvSpPr>
          <p:spPr>
            <a:xfrm>
              <a:off x="1201417" y="2811118"/>
              <a:ext cx="193080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Pattern 定义过于抽象</a:t>
              </a:r>
            </a:p>
          </p:txBody>
        </p:sp>
        <p:sp>
          <p:nvSpPr>
            <p:cNvPr id="17" name="Ellipse 17"/>
            <p:cNvSpPr/>
            <p:nvPr/>
          </p:nvSpPr>
          <p:spPr>
            <a:xfrm>
              <a:off x="990600" y="3181350"/>
              <a:ext cx="76200" cy="76200"/>
            </a:xfrm>
            <a:prstGeom prst="ellipse">
              <a:avLst/>
            </a:prstGeom>
            <a:solidFill>
              <a:srgbClr val="E07B00"/>
            </a:solidFill>
            <a:ln>
              <a:noFill/>
            </a:ln>
          </p:spPr>
        </p:sp>
        <p:sp>
          <p:nvSpPr>
            <p:cNvPr id="18" name="TextBox 18"/>
            <p:cNvSpPr txBox="1"/>
            <p:nvPr/>
          </p:nvSpPr>
          <p:spPr>
            <a:xfrm>
              <a:off x="1201417" y="3115918"/>
              <a:ext cx="346194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AI 无法区分"正常学术表述"和"空泛表述"</a:t>
              </a:r>
            </a:p>
          </p:txBody>
        </p:sp>
        <p:sp>
          <p:nvSpPr>
            <p:cNvPr id="19" name="TextBox 19"/>
            <p:cNvSpPr txBox="1"/>
            <p:nvPr/>
          </p:nvSpPr>
          <p:spPr>
            <a:xfrm>
              <a:off x="1008383" y="3523007"/>
              <a:ext cx="936606"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根本原因</a:t>
              </a:r>
            </a:p>
          </p:txBody>
        </p:sp>
        <p:sp>
          <p:nvSpPr>
            <p:cNvPr id="20" name="Rectangle 20"/>
            <p:cNvSpPr/>
            <p:nvPr/>
          </p:nvSpPr>
          <p:spPr>
            <a:xfrm>
              <a:off x="1028700" y="3810000"/>
              <a:ext cx="4572000" cy="647700"/>
            </a:xfrm>
            <a:prstGeom prst="roundRect">
              <a:avLst>
                <a:gd name="adj" fmla="val 8824"/>
              </a:avLst>
            </a:prstGeom>
            <a:solidFill>
              <a:srgbClr val="FFFFFF"/>
            </a:solidFill>
            <a:ln w="9525">
              <a:solidFill>
                <a:srgbClr val="E07B00"/>
              </a:solidFill>
            </a:ln>
          </p:spPr>
        </p:sp>
        <p:sp>
          <p:nvSpPr>
            <p:cNvPr id="21" name="TextBox 21"/>
            <p:cNvSpPr txBox="1"/>
            <p:nvPr/>
          </p:nvSpPr>
          <p:spPr>
            <a:xfrm>
              <a:off x="1420347" y="3925543"/>
              <a:ext cx="3788705"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短 prompt 无法提供足够上下文判断论证质量</a:t>
              </a:r>
            </a:p>
          </p:txBody>
        </p:sp>
        <p:sp>
          <p:nvSpPr>
            <p:cNvPr id="22" name="TextBox 22"/>
            <p:cNvSpPr txBox="1"/>
            <p:nvPr/>
          </p:nvSpPr>
          <p:spPr>
            <a:xfrm>
              <a:off x="1415679" y="4192243"/>
              <a:ext cx="3798042"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Pattern 依赖论证质量判断，而非可观察指标</a:t>
              </a:r>
            </a:p>
          </p:txBody>
        </p:sp>
        <p:sp>
          <p:nvSpPr>
            <p:cNvPr id="23" name="TextBox 23"/>
            <p:cNvSpPr txBox="1"/>
            <p:nvPr/>
          </p:nvSpPr>
          <p:spPr>
            <a:xfrm>
              <a:off x="1008383" y="4627907"/>
              <a:ext cx="488620"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决策</a:t>
              </a:r>
            </a:p>
          </p:txBody>
        </p:sp>
        <p:sp>
          <p:nvSpPr>
            <p:cNvPr id="24" name="Rectangle 24"/>
            <p:cNvSpPr/>
            <p:nvPr/>
          </p:nvSpPr>
          <p:spPr>
            <a:xfrm>
              <a:off x="1028700" y="4914900"/>
              <a:ext cx="4572000" cy="342900"/>
            </a:xfrm>
            <a:prstGeom prst="roundRect">
              <a:avLst>
                <a:gd name="adj" fmla="val 11111"/>
              </a:avLst>
            </a:prstGeom>
            <a:solidFill>
              <a:srgbClr val="E07B00"/>
            </a:solidFill>
            <a:ln>
              <a:noFill/>
            </a:ln>
          </p:spPr>
        </p:sp>
        <p:sp>
          <p:nvSpPr>
            <p:cNvPr id="25" name="TextBox 25"/>
            <p:cNvSpPr txBox="1"/>
            <p:nvPr/>
          </p:nvSpPr>
          <p:spPr>
            <a:xfrm>
              <a:off x="1596101" y="4992343"/>
              <a:ext cx="3437199" cy="284531"/>
            </a:xfrm>
            <a:prstGeom prst="rect">
              <a:avLst/>
            </a:prstGeom>
            <a:noFill/>
            <a:ln>
              <a:noFill/>
            </a:ln>
          </p:spPr>
          <p:txBody>
            <a:bodyPr wrap="none" lIns="0" tIns="0" rIns="0" bIns="0" anchor="t" anchorCtr="0">
              <a:spAutoFit/>
            </a:bodyPr>
            <a:lstStyle/>
            <a:p>
              <a:pPr algn="ctr"/>
              <a:r>
                <a:rPr lang="zh-CN" sz="1400" b="1" dirty="0">
                  <a:solidFill>
                    <a:srgbClr val="FFFFFF"/>
                  </a:solidFill>
                  <a:latin typeface="Arial"/>
                  <a:ea typeface="Microsoft YaHei"/>
                  <a:cs typeface="Arial"/>
                </a:rPr>
                <a:t>暂停 Phase 0，重新设计 pattern 定义</a:t>
              </a:r>
            </a:p>
          </p:txBody>
        </p:sp>
        <p:sp>
          <p:nvSpPr>
            <p:cNvPr id="26" name="Rectangle 26"/>
            <p:cNvSpPr/>
            <p:nvPr/>
          </p:nvSpPr>
          <p:spPr>
            <a:xfrm>
              <a:off x="1028700" y="5410200"/>
              <a:ext cx="4572000" cy="381000"/>
            </a:xfrm>
            <a:prstGeom prst="roundRect">
              <a:avLst>
                <a:gd name="adj" fmla="val 15000"/>
              </a:avLst>
            </a:prstGeom>
            <a:solidFill>
              <a:srgbClr val="FFEBEE"/>
            </a:solidFill>
            <a:ln>
              <a:noFill/>
            </a:ln>
          </p:spPr>
        </p:sp>
        <p:sp>
          <p:nvSpPr>
            <p:cNvPr id="27" name="TextBox 27"/>
            <p:cNvSpPr txBox="1"/>
            <p:nvPr/>
          </p:nvSpPr>
          <p:spPr>
            <a:xfrm>
              <a:off x="1924500" y="5506693"/>
              <a:ext cx="2780399" cy="284531"/>
            </a:xfrm>
            <a:prstGeom prst="rect">
              <a:avLst/>
            </a:prstGeom>
            <a:noFill/>
            <a:ln>
              <a:noFill/>
            </a:ln>
          </p:spPr>
          <p:txBody>
            <a:bodyPr wrap="none" lIns="0" tIns="0" rIns="0" bIns="0" anchor="t" anchorCtr="0">
              <a:spAutoFit/>
            </a:bodyPr>
            <a:lstStyle/>
            <a:p>
              <a:pPr algn="ctr"/>
              <a:r>
                <a:rPr lang="zh-CN" sz="1400" b="1" dirty="0">
                  <a:solidFill>
                    <a:srgbClr val="C8161E"/>
                  </a:solidFill>
                  <a:latin typeface="Arial"/>
                  <a:ea typeface="Microsoft YaHei"/>
                  <a:cs typeface="Arial"/>
                </a:rPr>
                <a:t>公开记录失败，不隐藏负面结果</a:t>
              </a:r>
            </a:p>
          </p:txBody>
        </p:sp>
      </p:grpSp>
      <p:grpSp>
        <p:nvGrpSpPr>
          <p:cNvPr id="47" name="Group 47"/>
          <p:cNvGrpSpPr/>
          <p:nvPr/>
        </p:nvGrpSpPr>
        <p:grpSpPr>
          <a:xfrm>
            <a:off x="6248400" y="1228725"/>
            <a:ext cx="5257800" cy="4762500"/>
            <a:chOff x="6248400" y="1228725"/>
            <a:chExt cx="5257800" cy="4762500"/>
          </a:xfrm>
        </p:grpSpPr>
        <p:sp>
          <p:nvSpPr>
            <p:cNvPr id="29" name="Rectangle 29"/>
            <p:cNvSpPr/>
            <p:nvPr/>
          </p:nvSpPr>
          <p:spPr>
            <a:xfrm>
              <a:off x="6248400" y="1228725"/>
              <a:ext cx="5257800" cy="4762500"/>
            </a:xfrm>
            <a:prstGeom prst="roundRect">
              <a:avLst>
                <a:gd name="adj" fmla="val 1600"/>
              </a:avLst>
            </a:prstGeom>
            <a:solidFill>
              <a:srgbClr val="F0F7FF"/>
            </a:solidFill>
            <a:ln w="14288">
              <a:solidFill>
                <a:srgbClr val="1F4D78"/>
              </a:solidFill>
            </a:ln>
          </p:spPr>
        </p:sp>
        <p:sp>
          <p:nvSpPr>
            <p:cNvPr id="30" name="TextBox 30"/>
            <p:cNvSpPr txBox="1"/>
            <p:nvPr/>
          </p:nvSpPr>
          <p:spPr>
            <a:xfrm>
              <a:off x="8151722" y="1384273"/>
              <a:ext cx="1451156" cy="406451"/>
            </a:xfrm>
            <a:prstGeom prst="rect">
              <a:avLst/>
            </a:prstGeom>
            <a:noFill/>
            <a:ln>
              <a:noFill/>
            </a:ln>
          </p:spPr>
          <p:txBody>
            <a:bodyPr wrap="none" lIns="0" tIns="0" rIns="0" bIns="0" anchor="t" anchorCtr="0">
              <a:spAutoFit/>
            </a:bodyPr>
            <a:lstStyle/>
            <a:p>
              <a:pPr algn="ctr"/>
              <a:r>
                <a:rPr lang="zh-CN" sz="2000" b="1" dirty="0">
                  <a:solidFill>
                    <a:srgbClr val="1F4D78"/>
                  </a:solidFill>
                  <a:latin typeface="Arial"/>
                  <a:ea typeface="Microsoft YaHei"/>
                  <a:cs typeface="Arial"/>
                </a:rPr>
                <a:t>方法论沉淀</a:t>
              </a:r>
            </a:p>
          </p:txBody>
        </p:sp>
        <p:sp>
          <p:nvSpPr>
            <p:cNvPr id="31" name="TextBox 31"/>
            <p:cNvSpPr txBox="1"/>
            <p:nvPr/>
          </p:nvSpPr>
          <p:spPr>
            <a:xfrm>
              <a:off x="6570983" y="1827557"/>
              <a:ext cx="2672551"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教训 1：Pattern 设计原则</a:t>
              </a:r>
            </a:p>
          </p:txBody>
        </p:sp>
        <p:sp>
          <p:nvSpPr>
            <p:cNvPr id="32" name="Ellipse 32"/>
            <p:cNvSpPr/>
            <p:nvPr/>
          </p:nvSpPr>
          <p:spPr>
            <a:xfrm>
              <a:off x="6553200" y="2266950"/>
              <a:ext cx="76200" cy="76200"/>
            </a:xfrm>
            <a:prstGeom prst="ellipse">
              <a:avLst/>
            </a:prstGeom>
            <a:solidFill>
              <a:srgbClr val="1F4D78"/>
            </a:solidFill>
            <a:ln>
              <a:noFill/>
            </a:ln>
          </p:spPr>
        </p:sp>
        <p:sp>
          <p:nvSpPr>
            <p:cNvPr id="33" name="TextBox 33"/>
            <p:cNvSpPr txBox="1"/>
            <p:nvPr/>
          </p:nvSpPr>
          <p:spPr>
            <a:xfrm>
              <a:off x="6764017" y="2201518"/>
              <a:ext cx="377003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必须基于可观察指标，避免依赖论证质量判断</a:t>
              </a:r>
            </a:p>
          </p:txBody>
        </p:sp>
        <p:sp>
          <p:nvSpPr>
            <p:cNvPr id="34" name="Ellipse 34"/>
            <p:cNvSpPr/>
            <p:nvPr/>
          </p:nvSpPr>
          <p:spPr>
            <a:xfrm>
              <a:off x="6553200" y="2571750"/>
              <a:ext cx="76200" cy="76200"/>
            </a:xfrm>
            <a:prstGeom prst="ellipse">
              <a:avLst/>
            </a:prstGeom>
            <a:solidFill>
              <a:srgbClr val="1F4D78"/>
            </a:solidFill>
            <a:ln>
              <a:noFill/>
            </a:ln>
          </p:spPr>
        </p:sp>
        <p:sp>
          <p:nvSpPr>
            <p:cNvPr id="35" name="TextBox 35"/>
            <p:cNvSpPr txBox="1"/>
            <p:nvPr/>
          </p:nvSpPr>
          <p:spPr>
            <a:xfrm>
              <a:off x="6764017" y="2506318"/>
              <a:ext cx="2864425"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可观察 = 可计数、可定位、可引用</a:t>
              </a:r>
            </a:p>
          </p:txBody>
        </p:sp>
        <p:sp>
          <p:nvSpPr>
            <p:cNvPr id="36" name="TextBox 36"/>
            <p:cNvSpPr txBox="1"/>
            <p:nvPr/>
          </p:nvSpPr>
          <p:spPr>
            <a:xfrm>
              <a:off x="6570983" y="2913407"/>
              <a:ext cx="2896544"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教训 2：Autoresearch 策略</a:t>
              </a:r>
            </a:p>
          </p:txBody>
        </p:sp>
        <p:sp>
          <p:nvSpPr>
            <p:cNvPr id="37" name="Ellipse 37"/>
            <p:cNvSpPr/>
            <p:nvPr/>
          </p:nvSpPr>
          <p:spPr>
            <a:xfrm>
              <a:off x="6553200" y="3352800"/>
              <a:ext cx="76200" cy="76200"/>
            </a:xfrm>
            <a:prstGeom prst="ellipse">
              <a:avLst/>
            </a:prstGeom>
            <a:solidFill>
              <a:srgbClr val="1F4D78"/>
            </a:solidFill>
            <a:ln>
              <a:noFill/>
            </a:ln>
          </p:spPr>
        </p:sp>
        <p:sp>
          <p:nvSpPr>
            <p:cNvPr id="38" name="TextBox 38"/>
            <p:cNvSpPr txBox="1"/>
            <p:nvPr/>
          </p:nvSpPr>
          <p:spPr>
            <a:xfrm>
              <a:off x="6764017" y="3287368"/>
              <a:ext cx="2817744"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逐维度优化，6 轮迭代收敛 77.9%</a:t>
              </a:r>
            </a:p>
          </p:txBody>
        </p:sp>
        <p:sp>
          <p:nvSpPr>
            <p:cNvPr id="39" name="Ellipse 39"/>
            <p:cNvSpPr/>
            <p:nvPr/>
          </p:nvSpPr>
          <p:spPr>
            <a:xfrm>
              <a:off x="6553200" y="3657600"/>
              <a:ext cx="76200" cy="76200"/>
            </a:xfrm>
            <a:prstGeom prst="ellipse">
              <a:avLst/>
            </a:prstGeom>
            <a:solidFill>
              <a:srgbClr val="1F4D78"/>
            </a:solidFill>
            <a:ln>
              <a:noFill/>
            </a:ln>
          </p:spPr>
        </p:sp>
        <p:sp>
          <p:nvSpPr>
            <p:cNvPr id="40" name="TextBox 40"/>
            <p:cNvSpPr txBox="1"/>
            <p:nvPr/>
          </p:nvSpPr>
          <p:spPr>
            <a:xfrm>
              <a:off x="6764017" y="3592168"/>
              <a:ext cx="3041812"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放宽"部分满足"标准，不降低高标准</a:t>
              </a:r>
            </a:p>
          </p:txBody>
        </p:sp>
        <p:sp>
          <p:nvSpPr>
            <p:cNvPr id="41" name="Ellipse 41"/>
            <p:cNvSpPr/>
            <p:nvPr/>
          </p:nvSpPr>
          <p:spPr>
            <a:xfrm>
              <a:off x="6553200" y="3962400"/>
              <a:ext cx="76200" cy="76200"/>
            </a:xfrm>
            <a:prstGeom prst="ellipse">
              <a:avLst/>
            </a:prstGeom>
            <a:solidFill>
              <a:srgbClr val="1F4D78"/>
            </a:solidFill>
            <a:ln>
              <a:noFill/>
            </a:ln>
          </p:spPr>
        </p:sp>
        <p:sp>
          <p:nvSpPr>
            <p:cNvPr id="42" name="TextBox 42"/>
            <p:cNvSpPr txBox="1"/>
            <p:nvPr/>
          </p:nvSpPr>
          <p:spPr>
            <a:xfrm>
              <a:off x="6764017" y="3896968"/>
              <a:ext cx="3340569"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增加【重要】提示 + 正面/反面锚点示例</a:t>
              </a:r>
            </a:p>
          </p:txBody>
        </p:sp>
        <p:sp>
          <p:nvSpPr>
            <p:cNvPr id="43" name="TextBox 43"/>
            <p:cNvSpPr txBox="1"/>
            <p:nvPr/>
          </p:nvSpPr>
          <p:spPr>
            <a:xfrm>
              <a:off x="6570983" y="4304057"/>
              <a:ext cx="1798979"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教训 3：科学态度</a:t>
              </a:r>
            </a:p>
          </p:txBody>
        </p:sp>
        <p:sp>
          <p:nvSpPr>
            <p:cNvPr id="44" name="Rectangle 44"/>
            <p:cNvSpPr/>
            <p:nvPr/>
          </p:nvSpPr>
          <p:spPr>
            <a:xfrm>
              <a:off x="6591300" y="4629150"/>
              <a:ext cx="4572000" cy="762000"/>
            </a:xfrm>
            <a:prstGeom prst="roundRect">
              <a:avLst>
                <a:gd name="adj" fmla="val 7500"/>
              </a:avLst>
            </a:prstGeom>
            <a:solidFill>
              <a:srgbClr val="FFFFFF"/>
            </a:solidFill>
            <a:ln w="14288">
              <a:solidFill>
                <a:srgbClr val="2E7D32"/>
              </a:solidFill>
            </a:ln>
          </p:spPr>
        </p:sp>
        <p:sp>
          <p:nvSpPr>
            <p:cNvPr id="45" name="TextBox 45"/>
            <p:cNvSpPr txBox="1"/>
            <p:nvPr/>
          </p:nvSpPr>
          <p:spPr>
            <a:xfrm>
              <a:off x="7552453" y="4782793"/>
              <a:ext cx="2649693" cy="284531"/>
            </a:xfrm>
            <a:prstGeom prst="rect">
              <a:avLst/>
            </a:prstGeom>
            <a:noFill/>
            <a:ln>
              <a:noFill/>
            </a:ln>
          </p:spPr>
          <p:txBody>
            <a:bodyPr wrap="none" lIns="0" tIns="0" rIns="0" bIns="0" anchor="t" anchorCtr="0">
              <a:spAutoFit/>
            </a:bodyPr>
            <a:lstStyle/>
            <a:p>
              <a:pPr algn="ctr"/>
              <a:r>
                <a:rPr lang="zh-CN" sz="1400" dirty="0">
                  <a:solidFill>
                    <a:srgbClr val="1B1C21"/>
                  </a:solidFill>
                  <a:latin typeface="Arial"/>
                  <a:ea typeface="Microsoft YaHei"/>
                  <a:cs typeface="Arial"/>
                </a:rPr>
                <a:t>公开记录失败，不隐藏负面结果</a:t>
              </a:r>
            </a:p>
          </p:txBody>
        </p:sp>
        <p:sp>
          <p:nvSpPr>
            <p:cNvPr id="46" name="TextBox 46"/>
            <p:cNvSpPr txBox="1"/>
            <p:nvPr/>
          </p:nvSpPr>
          <p:spPr>
            <a:xfrm>
              <a:off x="7585130" y="5068543"/>
              <a:ext cx="2584340" cy="284531"/>
            </a:xfrm>
            <a:prstGeom prst="rect">
              <a:avLst/>
            </a:prstGeom>
            <a:noFill/>
            <a:ln>
              <a:noFill/>
            </a:ln>
          </p:spPr>
          <p:txBody>
            <a:bodyPr wrap="none" lIns="0" tIns="0" rIns="0" bIns="0" anchor="t" anchorCtr="0">
              <a:spAutoFit/>
            </a:bodyPr>
            <a:lstStyle/>
            <a:p>
              <a:pPr algn="ctr"/>
              <a:r>
                <a:rPr lang="zh-CN" sz="1400" b="1" dirty="0">
                  <a:solidFill>
                    <a:srgbClr val="2E7D32"/>
                  </a:solidFill>
                  <a:latin typeface="Arial"/>
                  <a:ea typeface="Microsoft YaHei"/>
                  <a:cs typeface="Arial"/>
                </a:rPr>
                <a:t>失败是方法论迭代的必经之路</a:t>
              </a:r>
            </a:p>
          </p:txBody>
        </p:sp>
      </p:grpSp>
      <p:grpSp>
        <p:nvGrpSpPr>
          <p:cNvPr id="51" name="Group 51"/>
          <p:cNvGrpSpPr/>
          <p:nvPr/>
        </p:nvGrpSpPr>
        <p:grpSpPr>
          <a:xfrm>
            <a:off x="0" y="6516343"/>
            <a:ext cx="12192000" cy="341657"/>
            <a:chOff x="0" y="6516343"/>
            <a:chExt cx="12192000" cy="341657"/>
          </a:xfrm>
        </p:grpSpPr>
        <p:sp>
          <p:nvSpPr>
            <p:cNvPr id="48" name="Rectangle 48"/>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49" name="TextBox 49"/>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50" name="TextBox 50"/>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30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image">
                                      <p:cBhvr>
                                        <p:cTn id="7" dur="400"/>
                                        <p:tgtEl>
                                          <p:spTgt spid="2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815212"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评测流程全景图</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263363" y="953743"/>
            <a:ext cx="5665275"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候选识别 → Top101 稳定性复测 → E3 仲裁 → 五轴归属 → Top50 配额榜</a:t>
            </a:r>
          </a:p>
        </p:txBody>
      </p:sp>
      <p:grpSp>
        <p:nvGrpSpPr>
          <p:cNvPr id="12" name="Group 12"/>
          <p:cNvGrpSpPr/>
          <p:nvPr/>
        </p:nvGrpSpPr>
        <p:grpSpPr>
          <a:xfrm>
            <a:off x="1600200" y="1428750"/>
            <a:ext cx="8991600" cy="560784"/>
            <a:chOff x="1600200" y="1428750"/>
            <a:chExt cx="8991600" cy="560784"/>
          </a:xfrm>
        </p:grpSpPr>
        <p:sp>
          <p:nvSpPr>
            <p:cNvPr id="9" name="Rectangle 9"/>
            <p:cNvSpPr/>
            <p:nvPr/>
          </p:nvSpPr>
          <p:spPr>
            <a:xfrm>
              <a:off x="1600200" y="1428750"/>
              <a:ext cx="8991600" cy="552450"/>
            </a:xfrm>
            <a:prstGeom prst="roundRect">
              <a:avLst>
                <a:gd name="adj" fmla="val 13793"/>
              </a:avLst>
            </a:prstGeom>
            <a:solidFill>
              <a:srgbClr val="1F4D78"/>
            </a:solidFill>
            <a:ln>
              <a:noFill/>
            </a:ln>
          </p:spPr>
        </p:sp>
        <p:sp>
          <p:nvSpPr>
            <p:cNvPr id="10" name="TextBox 10"/>
            <p:cNvSpPr txBox="1"/>
            <p:nvPr/>
          </p:nvSpPr>
          <p:spPr>
            <a:xfrm>
              <a:off x="5320691" y="1487329"/>
              <a:ext cx="1550619"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全量评审（E1）</a:t>
              </a:r>
            </a:p>
          </p:txBody>
        </p:sp>
        <p:sp>
          <p:nvSpPr>
            <p:cNvPr id="11" name="TextBox 11"/>
            <p:cNvSpPr txBox="1"/>
            <p:nvPr/>
          </p:nvSpPr>
          <p:spPr>
            <a:xfrm>
              <a:off x="4845909" y="1768554"/>
              <a:ext cx="2500182" cy="220980"/>
            </a:xfrm>
            <a:prstGeom prst="rect">
              <a:avLst/>
            </a:prstGeom>
            <a:noFill/>
            <a:ln>
              <a:noFill/>
            </a:ln>
          </p:spPr>
          <p:txBody>
            <a:bodyPr wrap="none" lIns="0" tIns="0" rIns="0" bIns="0" anchor="t" anchorCtr="0">
              <a:spAutoFit/>
            </a:bodyPr>
            <a:lstStyle/>
            <a:p>
              <a:pPr algn="ctr"/>
              <a:r>
                <a:rPr lang="zh-CN" sz="1088" dirty="0">
                  <a:solidFill>
                    <a:srgbClr val="FFFFFF">
                      <a:alphaMod val="88000"/>
                    </a:srgbClr>
                  </a:solidFill>
                  <a:latin typeface="Arial"/>
                  <a:ea typeface="Microsoft YaHei"/>
                  <a:cs typeface="Arial"/>
                </a:rPr>
                <a:t>1920 篇生成 R1+R2，形成六维基线分数</a:t>
              </a:r>
            </a:p>
          </p:txBody>
        </p:sp>
      </p:grpSp>
      <p:sp>
        <p:nvSpPr>
          <p:cNvPr id="13" name="TextBox 13"/>
          <p:cNvSpPr txBox="1"/>
          <p:nvPr/>
        </p:nvSpPr>
        <p:spPr>
          <a:xfrm>
            <a:off x="5988470" y="1983105"/>
            <a:ext cx="215060" cy="426720"/>
          </a:xfrm>
          <a:prstGeom prst="rect">
            <a:avLst/>
          </a:prstGeom>
          <a:noFill/>
          <a:ln>
            <a:noFill/>
          </a:ln>
        </p:spPr>
        <p:txBody>
          <a:bodyPr wrap="none" lIns="0" tIns="0" rIns="0" bIns="0" anchor="t" anchorCtr="0">
            <a:spAutoFit/>
          </a:bodyPr>
          <a:lstStyle/>
          <a:p>
            <a:pPr algn="ctr"/>
            <a:r>
              <a:rPr lang="zh-CN" sz="2100" b="1" dirty="0">
                <a:solidFill>
                  <a:srgbClr val="9AA3AE"/>
                </a:solidFill>
                <a:latin typeface="Arial"/>
                <a:ea typeface="Microsoft YaHei"/>
                <a:cs typeface="Arial"/>
              </a:rPr>
              <a:t>↓</a:t>
            </a:r>
          </a:p>
        </p:txBody>
      </p:sp>
      <p:grpSp>
        <p:nvGrpSpPr>
          <p:cNvPr id="17" name="Group 17"/>
          <p:cNvGrpSpPr/>
          <p:nvPr/>
        </p:nvGrpSpPr>
        <p:grpSpPr>
          <a:xfrm>
            <a:off x="1600200" y="2247900"/>
            <a:ext cx="8991600" cy="560784"/>
            <a:chOff x="1600200" y="2247900"/>
            <a:chExt cx="8991600" cy="560784"/>
          </a:xfrm>
        </p:grpSpPr>
        <p:sp>
          <p:nvSpPr>
            <p:cNvPr id="14" name="Rectangle 14"/>
            <p:cNvSpPr/>
            <p:nvPr/>
          </p:nvSpPr>
          <p:spPr>
            <a:xfrm>
              <a:off x="1600200" y="2247900"/>
              <a:ext cx="8991600" cy="552450"/>
            </a:xfrm>
            <a:prstGeom prst="roundRect">
              <a:avLst>
                <a:gd name="adj" fmla="val 13793"/>
              </a:avLst>
            </a:prstGeom>
            <a:solidFill>
              <a:srgbClr val="1F4D78"/>
            </a:solidFill>
            <a:ln>
              <a:noFill/>
            </a:ln>
          </p:spPr>
        </p:sp>
        <p:sp>
          <p:nvSpPr>
            <p:cNvPr id="15" name="TextBox 15"/>
            <p:cNvSpPr txBox="1"/>
            <p:nvPr/>
          </p:nvSpPr>
          <p:spPr>
            <a:xfrm>
              <a:off x="4841043" y="2306479"/>
              <a:ext cx="2509914"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Top101 稳定性复测（E2）</a:t>
              </a:r>
            </a:p>
          </p:txBody>
        </p:sp>
        <p:sp>
          <p:nvSpPr>
            <p:cNvPr id="16" name="TextBox 16"/>
            <p:cNvSpPr txBox="1"/>
            <p:nvPr/>
          </p:nvSpPr>
          <p:spPr>
            <a:xfrm>
              <a:off x="4824157" y="2587704"/>
              <a:ext cx="2543687" cy="220980"/>
            </a:xfrm>
            <a:prstGeom prst="rect">
              <a:avLst/>
            </a:prstGeom>
            <a:noFill/>
            <a:ln>
              <a:noFill/>
            </a:ln>
          </p:spPr>
          <p:txBody>
            <a:bodyPr wrap="none" lIns="0" tIns="0" rIns="0" bIns="0" anchor="t" anchorCtr="0">
              <a:spAutoFit/>
            </a:bodyPr>
            <a:lstStyle/>
            <a:p>
              <a:pPr algn="ctr"/>
              <a:r>
                <a:rPr lang="zh-CN" sz="1088" dirty="0">
                  <a:solidFill>
                    <a:srgbClr val="FFFFFF">
                      <a:alphaMod val="88000"/>
                    </a:srgbClr>
                  </a:solidFill>
                  <a:latin typeface="Arial"/>
                  <a:ea typeface="Microsoft YaHei"/>
                  <a:cs typeface="Arial"/>
                </a:rPr>
                <a:t>Top60 + 年份至少 5 篇 + 学科至少 5 篇</a:t>
              </a:r>
            </a:p>
          </p:txBody>
        </p:sp>
      </p:grpSp>
      <p:sp>
        <p:nvSpPr>
          <p:cNvPr id="18" name="TextBox 18"/>
          <p:cNvSpPr txBox="1"/>
          <p:nvPr/>
        </p:nvSpPr>
        <p:spPr>
          <a:xfrm>
            <a:off x="5988470" y="2802255"/>
            <a:ext cx="215060" cy="426720"/>
          </a:xfrm>
          <a:prstGeom prst="rect">
            <a:avLst/>
          </a:prstGeom>
          <a:noFill/>
          <a:ln>
            <a:noFill/>
          </a:ln>
        </p:spPr>
        <p:txBody>
          <a:bodyPr wrap="none" lIns="0" tIns="0" rIns="0" bIns="0" anchor="t" anchorCtr="0">
            <a:spAutoFit/>
          </a:bodyPr>
          <a:lstStyle/>
          <a:p>
            <a:pPr algn="ctr"/>
            <a:r>
              <a:rPr lang="zh-CN" sz="2100" b="1" dirty="0">
                <a:solidFill>
                  <a:srgbClr val="9AA3AE"/>
                </a:solidFill>
                <a:latin typeface="Arial"/>
                <a:ea typeface="Microsoft YaHei"/>
                <a:cs typeface="Arial"/>
              </a:rPr>
              <a:t>↓</a:t>
            </a:r>
          </a:p>
        </p:txBody>
      </p:sp>
      <p:grpSp>
        <p:nvGrpSpPr>
          <p:cNvPr id="22" name="Group 22"/>
          <p:cNvGrpSpPr/>
          <p:nvPr/>
        </p:nvGrpSpPr>
        <p:grpSpPr>
          <a:xfrm>
            <a:off x="1600200" y="3067050"/>
            <a:ext cx="8991600" cy="560784"/>
            <a:chOff x="1600200" y="3067050"/>
            <a:chExt cx="8991600" cy="560784"/>
          </a:xfrm>
        </p:grpSpPr>
        <p:sp>
          <p:nvSpPr>
            <p:cNvPr id="19" name="Rectangle 19"/>
            <p:cNvSpPr/>
            <p:nvPr/>
          </p:nvSpPr>
          <p:spPr>
            <a:xfrm>
              <a:off x="1600200" y="3067050"/>
              <a:ext cx="8991600" cy="552450"/>
            </a:xfrm>
            <a:prstGeom prst="roundRect">
              <a:avLst>
                <a:gd name="adj" fmla="val 13793"/>
              </a:avLst>
            </a:prstGeom>
            <a:solidFill>
              <a:srgbClr val="1F4D78"/>
            </a:solidFill>
            <a:ln>
              <a:noFill/>
            </a:ln>
          </p:spPr>
        </p:sp>
        <p:sp>
          <p:nvSpPr>
            <p:cNvPr id="20" name="TextBox 20"/>
            <p:cNvSpPr txBox="1"/>
            <p:nvPr/>
          </p:nvSpPr>
          <p:spPr>
            <a:xfrm>
              <a:off x="5056058" y="3125629"/>
              <a:ext cx="2079885"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选择性第 3 次（E3）</a:t>
              </a:r>
            </a:p>
          </p:txBody>
        </p:sp>
        <p:sp>
          <p:nvSpPr>
            <p:cNvPr id="21" name="TextBox 21"/>
            <p:cNvSpPr txBox="1"/>
            <p:nvPr/>
          </p:nvSpPr>
          <p:spPr>
            <a:xfrm>
              <a:off x="5009055" y="3406854"/>
              <a:ext cx="2173891" cy="220980"/>
            </a:xfrm>
            <a:prstGeom prst="rect">
              <a:avLst/>
            </a:prstGeom>
            <a:noFill/>
            <a:ln>
              <a:noFill/>
            </a:ln>
          </p:spPr>
          <p:txBody>
            <a:bodyPr wrap="none" lIns="0" tIns="0" rIns="0" bIns="0" anchor="t" anchorCtr="0">
              <a:spAutoFit/>
            </a:bodyPr>
            <a:lstStyle/>
            <a:p>
              <a:pPr algn="ctr"/>
              <a:r>
                <a:rPr lang="zh-CN" sz="1088" dirty="0">
                  <a:solidFill>
                    <a:srgbClr val="FFFFFF">
                      <a:alphaMod val="88000"/>
                    </a:srgbClr>
                  </a:solidFill>
                  <a:latin typeface="Arial"/>
                  <a:ea typeface="Microsoft YaHei"/>
                  <a:cs typeface="Arial"/>
                </a:rPr>
                <a:t>45 篇、63 个不稳定维度进入仲裁</a:t>
              </a:r>
            </a:p>
          </p:txBody>
        </p:sp>
      </p:grpSp>
      <p:sp>
        <p:nvSpPr>
          <p:cNvPr id="23" name="TextBox 23"/>
          <p:cNvSpPr txBox="1"/>
          <p:nvPr/>
        </p:nvSpPr>
        <p:spPr>
          <a:xfrm>
            <a:off x="5988470" y="3621405"/>
            <a:ext cx="215060" cy="426720"/>
          </a:xfrm>
          <a:prstGeom prst="rect">
            <a:avLst/>
          </a:prstGeom>
          <a:noFill/>
          <a:ln>
            <a:noFill/>
          </a:ln>
        </p:spPr>
        <p:txBody>
          <a:bodyPr wrap="none" lIns="0" tIns="0" rIns="0" bIns="0" anchor="t" anchorCtr="0">
            <a:spAutoFit/>
          </a:bodyPr>
          <a:lstStyle/>
          <a:p>
            <a:pPr algn="ctr"/>
            <a:r>
              <a:rPr lang="zh-CN" sz="2100" b="1" dirty="0">
                <a:solidFill>
                  <a:srgbClr val="9AA3AE"/>
                </a:solidFill>
                <a:latin typeface="Arial"/>
                <a:ea typeface="Microsoft YaHei"/>
                <a:cs typeface="Arial"/>
              </a:rPr>
              <a:t>↓</a:t>
            </a:r>
          </a:p>
        </p:txBody>
      </p:sp>
      <p:grpSp>
        <p:nvGrpSpPr>
          <p:cNvPr id="27" name="Group 27"/>
          <p:cNvGrpSpPr/>
          <p:nvPr/>
        </p:nvGrpSpPr>
        <p:grpSpPr>
          <a:xfrm>
            <a:off x="1600200" y="3886200"/>
            <a:ext cx="8991600" cy="560784"/>
            <a:chOff x="1600200" y="3886200"/>
            <a:chExt cx="8991600" cy="560784"/>
          </a:xfrm>
        </p:grpSpPr>
        <p:sp>
          <p:nvSpPr>
            <p:cNvPr id="24" name="Rectangle 24"/>
            <p:cNvSpPr/>
            <p:nvPr/>
          </p:nvSpPr>
          <p:spPr>
            <a:xfrm>
              <a:off x="1600200" y="3886200"/>
              <a:ext cx="8991600" cy="552450"/>
            </a:xfrm>
            <a:prstGeom prst="roundRect">
              <a:avLst>
                <a:gd name="adj" fmla="val 13793"/>
              </a:avLst>
            </a:prstGeom>
            <a:solidFill>
              <a:srgbClr val="C8161E"/>
            </a:solidFill>
            <a:ln>
              <a:noFill/>
            </a:ln>
          </p:spPr>
        </p:sp>
        <p:sp>
          <p:nvSpPr>
            <p:cNvPr id="25" name="TextBox 25"/>
            <p:cNvSpPr txBox="1"/>
            <p:nvPr/>
          </p:nvSpPr>
          <p:spPr>
            <a:xfrm>
              <a:off x="5414415" y="3944779"/>
              <a:ext cx="1363170"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五轴归属评价</a:t>
              </a:r>
            </a:p>
          </p:txBody>
        </p:sp>
        <p:sp>
          <p:nvSpPr>
            <p:cNvPr id="26" name="TextBox 26"/>
            <p:cNvSpPr txBox="1"/>
            <p:nvPr/>
          </p:nvSpPr>
          <p:spPr>
            <a:xfrm>
              <a:off x="4309342" y="4226004"/>
              <a:ext cx="3573316" cy="220980"/>
            </a:xfrm>
            <a:prstGeom prst="rect">
              <a:avLst/>
            </a:prstGeom>
            <a:noFill/>
            <a:ln>
              <a:noFill/>
            </a:ln>
          </p:spPr>
          <p:txBody>
            <a:bodyPr wrap="none" lIns="0" tIns="0" rIns="0" bIns="0" anchor="t" anchorCtr="0">
              <a:spAutoFit/>
            </a:bodyPr>
            <a:lstStyle/>
            <a:p>
              <a:pPr algn="ctr"/>
              <a:r>
                <a:rPr lang="zh-CN" sz="1088" dirty="0">
                  <a:solidFill>
                    <a:srgbClr val="FFFFFF">
                      <a:alphaMod val="88000"/>
                    </a:srgbClr>
                  </a:solidFill>
                  <a:latin typeface="Arial"/>
                  <a:ea typeface="Microsoft YaHei"/>
                  <a:cs typeface="Arial"/>
                </a:rPr>
                <a:t>101 篇完成对象、材料、范畴、解释目标、体系映射评分</a:t>
              </a:r>
            </a:p>
          </p:txBody>
        </p:sp>
      </p:grpSp>
      <p:sp>
        <p:nvSpPr>
          <p:cNvPr id="28" name="TextBox 28"/>
          <p:cNvSpPr txBox="1"/>
          <p:nvPr/>
        </p:nvSpPr>
        <p:spPr>
          <a:xfrm>
            <a:off x="5988470" y="4440555"/>
            <a:ext cx="215060" cy="426720"/>
          </a:xfrm>
          <a:prstGeom prst="rect">
            <a:avLst/>
          </a:prstGeom>
          <a:noFill/>
          <a:ln>
            <a:noFill/>
          </a:ln>
        </p:spPr>
        <p:txBody>
          <a:bodyPr wrap="none" lIns="0" tIns="0" rIns="0" bIns="0" anchor="t" anchorCtr="0">
            <a:spAutoFit/>
          </a:bodyPr>
          <a:lstStyle/>
          <a:p>
            <a:pPr algn="ctr"/>
            <a:r>
              <a:rPr lang="zh-CN" sz="2100" b="1" dirty="0">
                <a:solidFill>
                  <a:srgbClr val="9AA3AE"/>
                </a:solidFill>
                <a:latin typeface="Arial"/>
                <a:ea typeface="Microsoft YaHei"/>
                <a:cs typeface="Arial"/>
              </a:rPr>
              <a:t>↓</a:t>
            </a:r>
          </a:p>
        </p:txBody>
      </p:sp>
      <p:grpSp>
        <p:nvGrpSpPr>
          <p:cNvPr id="32" name="Group 32"/>
          <p:cNvGrpSpPr/>
          <p:nvPr/>
        </p:nvGrpSpPr>
        <p:grpSpPr>
          <a:xfrm>
            <a:off x="1600200" y="4705350"/>
            <a:ext cx="8991600" cy="560784"/>
            <a:chOff x="1600200" y="4705350"/>
            <a:chExt cx="8991600" cy="560784"/>
          </a:xfrm>
        </p:grpSpPr>
        <p:sp>
          <p:nvSpPr>
            <p:cNvPr id="29" name="Rectangle 29"/>
            <p:cNvSpPr/>
            <p:nvPr/>
          </p:nvSpPr>
          <p:spPr>
            <a:xfrm>
              <a:off x="1600200" y="4705350"/>
              <a:ext cx="8991600" cy="552450"/>
            </a:xfrm>
            <a:prstGeom prst="roundRect">
              <a:avLst>
                <a:gd name="adj" fmla="val 13793"/>
              </a:avLst>
            </a:prstGeom>
            <a:solidFill>
              <a:srgbClr val="C8161E"/>
            </a:solidFill>
            <a:ln>
              <a:noFill/>
            </a:ln>
          </p:spPr>
        </p:sp>
        <p:sp>
          <p:nvSpPr>
            <p:cNvPr id="30" name="TextBox 30"/>
            <p:cNvSpPr txBox="1"/>
            <p:nvPr/>
          </p:nvSpPr>
          <p:spPr>
            <a:xfrm>
              <a:off x="5155295" y="4763929"/>
              <a:ext cx="1881410"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最终 Top50 配额榜</a:t>
              </a:r>
            </a:p>
          </p:txBody>
        </p:sp>
        <p:sp>
          <p:nvSpPr>
            <p:cNvPr id="31" name="TextBox 31"/>
            <p:cNvSpPr txBox="1"/>
            <p:nvPr/>
          </p:nvSpPr>
          <p:spPr>
            <a:xfrm>
              <a:off x="4515993" y="5045154"/>
              <a:ext cx="3160014" cy="220980"/>
            </a:xfrm>
            <a:prstGeom prst="rect">
              <a:avLst/>
            </a:prstGeom>
            <a:noFill/>
            <a:ln>
              <a:noFill/>
            </a:ln>
          </p:spPr>
          <p:txBody>
            <a:bodyPr wrap="none" lIns="0" tIns="0" rIns="0" bIns="0" anchor="t" anchorCtr="0">
              <a:spAutoFit/>
            </a:bodyPr>
            <a:lstStyle/>
            <a:p>
              <a:pPr algn="ctr"/>
              <a:r>
                <a:rPr lang="zh-CN" sz="1088" dirty="0">
                  <a:solidFill>
                    <a:srgbClr val="FFFFFF">
                      <a:alphaMod val="88000"/>
                    </a:srgbClr>
                  </a:solidFill>
                  <a:latin typeface="Arial"/>
                  <a:ea typeface="Microsoft YaHei"/>
                  <a:cs typeface="Arial"/>
                </a:rPr>
                <a:t>按全库学科比例配额；49 篇 10 分，1 篇 9 分补足</a:t>
              </a:r>
            </a:p>
          </p:txBody>
        </p:sp>
      </p:grpSp>
      <p:sp>
        <p:nvSpPr>
          <p:cNvPr id="33" name="Rectangle 33"/>
          <p:cNvSpPr/>
          <p:nvPr/>
        </p:nvSpPr>
        <p:spPr>
          <a:xfrm>
            <a:off x="914400" y="5734050"/>
            <a:ext cx="10363200" cy="457200"/>
          </a:xfrm>
          <a:prstGeom prst="roundRect">
            <a:avLst>
              <a:gd name="adj" fmla="val 16667"/>
            </a:avLst>
          </a:prstGeom>
          <a:solidFill>
            <a:srgbClr val="E8F5E9"/>
          </a:solidFill>
          <a:ln w="9525">
            <a:solidFill>
              <a:srgbClr val="D9DEE5"/>
            </a:solidFill>
          </a:ln>
        </p:spPr>
      </p:sp>
      <p:sp>
        <p:nvSpPr>
          <p:cNvPr id="34" name="TextBox 34"/>
          <p:cNvSpPr txBox="1"/>
          <p:nvPr/>
        </p:nvSpPr>
        <p:spPr>
          <a:xfrm>
            <a:off x="2157027" y="5878168"/>
            <a:ext cx="7877947" cy="284531"/>
          </a:xfrm>
          <a:prstGeom prst="rect">
            <a:avLst/>
          </a:prstGeom>
          <a:noFill/>
          <a:ln>
            <a:noFill/>
          </a:ln>
        </p:spPr>
        <p:txBody>
          <a:bodyPr wrap="none" lIns="0" tIns="0" rIns="0" bIns="0" anchor="t" anchorCtr="0">
            <a:spAutoFit/>
          </a:bodyPr>
          <a:lstStyle/>
          <a:p>
            <a:pPr algn="ctr"/>
            <a:r>
              <a:rPr lang="zh-CN" sz="1400" b="1" dirty="0">
                <a:solidFill>
                  <a:srgbClr val="1B1C21"/>
                </a:solidFill>
                <a:latin typeface="Arial"/>
                <a:ea typeface="Microsoft YaHei"/>
                <a:cs typeface="Arial"/>
              </a:rPr>
              <a:t>流程含义：六维分解决质量排序，五轴解决自主知识体系归属，学科配额解决代表性覆盖。</a:t>
            </a:r>
          </a:p>
        </p:txBody>
      </p:sp>
      <p:grpSp>
        <p:nvGrpSpPr>
          <p:cNvPr id="38" name="Group 38"/>
          <p:cNvGrpSpPr/>
          <p:nvPr/>
        </p:nvGrpSpPr>
        <p:grpSpPr>
          <a:xfrm>
            <a:off x="0" y="6516343"/>
            <a:ext cx="12192000" cy="341657"/>
            <a:chOff x="0" y="6516343"/>
            <a:chExt cx="12192000" cy="341657"/>
          </a:xfrm>
        </p:grpSpPr>
        <p:sp>
          <p:nvSpPr>
            <p:cNvPr id="35" name="Rectangle 35"/>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36" name="TextBox 36"/>
            <p:cNvSpPr txBox="1"/>
            <p:nvPr/>
          </p:nvSpPr>
          <p:spPr>
            <a:xfrm>
              <a:off x="668017" y="6516343"/>
              <a:ext cx="1155906"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评测流程全景</a:t>
              </a:r>
            </a:p>
          </p:txBody>
        </p:sp>
        <p:sp>
          <p:nvSpPr>
            <p:cNvPr id="37" name="TextBox 37"/>
            <p:cNvSpPr txBox="1"/>
            <p:nvPr/>
          </p:nvSpPr>
          <p:spPr>
            <a:xfrm>
              <a:off x="11329702" y="6516343"/>
              <a:ext cx="194281"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31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400"/>
                                        <p:tgtEl>
                                          <p:spTgt spid="1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slide(fromBottom)">
                                      <p:cBhvr>
                                        <p:cTn id="11" dur="400"/>
                                        <p:tgtEl>
                                          <p:spTgt spid="17"/>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image">
                                      <p:cBhvr>
                                        <p:cTn id="15" dur="400"/>
                                        <p:tgtEl>
                                          <p:spTgt spid="22"/>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left)">
                                      <p:cBhvr>
                                        <p:cTn id="23"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22" grpId="0"/>
      <p:bldP spid="27" grpId="0"/>
      <p:bldP spid="3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423198"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核心成果总结</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sp>
        <p:nvSpPr>
          <p:cNvPr id="7" name="TextBox 7"/>
          <p:cNvSpPr txBox="1"/>
          <p:nvPr/>
        </p:nvSpPr>
        <p:spPr>
          <a:xfrm>
            <a:off x="2703192" y="953743"/>
            <a:ext cx="6785615"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方法论流程保持不变；候选池更新为 Top101，最终展示名单为全量领域配额 Top50</a:t>
            </a:r>
          </a:p>
        </p:txBody>
      </p:sp>
      <p:sp>
        <p:nvSpPr>
          <p:cNvPr id="8" name="Rectangle 8"/>
          <p:cNvSpPr/>
          <p:nvPr/>
        </p:nvSpPr>
        <p:spPr>
          <a:xfrm>
            <a:off x="685800" y="1447800"/>
            <a:ext cx="2228850" cy="1381125"/>
          </a:xfrm>
          <a:prstGeom prst="roundRect">
            <a:avLst>
              <a:gd name="adj" fmla="val 6897"/>
            </a:avLst>
          </a:prstGeom>
          <a:solidFill>
            <a:srgbClr val="F0F7FF"/>
          </a:solidFill>
          <a:ln w="9525">
            <a:solidFill>
              <a:srgbClr val="1F4D78"/>
            </a:solidFill>
          </a:ln>
        </p:spPr>
      </p:sp>
      <p:sp>
        <p:nvSpPr>
          <p:cNvPr id="9" name="TextBox 9"/>
          <p:cNvSpPr txBox="1"/>
          <p:nvPr/>
        </p:nvSpPr>
        <p:spPr>
          <a:xfrm>
            <a:off x="898208" y="1643539"/>
            <a:ext cx="746474" cy="259080"/>
          </a:xfrm>
          <a:prstGeom prst="rect">
            <a:avLst/>
          </a:prstGeom>
          <a:noFill/>
          <a:ln>
            <a:noFill/>
          </a:ln>
        </p:spPr>
        <p:txBody>
          <a:bodyPr wrap="none" lIns="0" tIns="0" rIns="0" bIns="0" anchor="t" anchorCtr="0">
            <a:spAutoFit/>
          </a:bodyPr>
          <a:lstStyle/>
          <a:p>
            <a:pPr algn="l"/>
            <a:r>
              <a:rPr lang="zh-CN" sz="1275" b="1" dirty="0">
                <a:solidFill>
                  <a:srgbClr val="1F4D78"/>
                </a:solidFill>
                <a:latin typeface="Arial"/>
                <a:ea typeface="Microsoft YaHei"/>
                <a:cs typeface="Arial"/>
              </a:rPr>
              <a:t>全量评审</a:t>
            </a:r>
          </a:p>
        </p:txBody>
      </p:sp>
      <p:sp>
        <p:nvSpPr>
          <p:cNvPr id="10" name="TextBox 10"/>
          <p:cNvSpPr txBox="1"/>
          <p:nvPr/>
        </p:nvSpPr>
        <p:spPr>
          <a:xfrm>
            <a:off x="882015" y="1963102"/>
            <a:ext cx="761007" cy="518160"/>
          </a:xfrm>
          <a:prstGeom prst="rect">
            <a:avLst/>
          </a:prstGeom>
          <a:noFill/>
          <a:ln>
            <a:noFill/>
          </a:ln>
        </p:spPr>
        <p:txBody>
          <a:bodyPr wrap="none" lIns="0" tIns="0" rIns="0" bIns="0" anchor="t" anchorCtr="0">
            <a:spAutoFit/>
          </a:bodyPr>
          <a:lstStyle/>
          <a:p>
            <a:pPr algn="l"/>
            <a:r>
              <a:rPr lang="zh-CN" sz="2550" b="1" dirty="0">
                <a:solidFill>
                  <a:srgbClr val="C8161E"/>
                </a:solidFill>
                <a:latin typeface="Arial"/>
                <a:ea typeface="Microsoft YaHei"/>
                <a:cs typeface="Arial"/>
              </a:rPr>
              <a:t>1920</a:t>
            </a:r>
          </a:p>
        </p:txBody>
      </p:sp>
      <p:sp>
        <p:nvSpPr>
          <p:cNvPr id="11" name="TextBox 11"/>
          <p:cNvSpPr txBox="1"/>
          <p:nvPr/>
        </p:nvSpPr>
        <p:spPr>
          <a:xfrm>
            <a:off x="902494" y="2489597"/>
            <a:ext cx="1805285"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E1 全量 R1+R2 结果形成候选基线</a:t>
            </a:r>
          </a:p>
        </p:txBody>
      </p:sp>
      <p:sp>
        <p:nvSpPr>
          <p:cNvPr id="12" name="Rectangle 12"/>
          <p:cNvSpPr/>
          <p:nvPr/>
        </p:nvSpPr>
        <p:spPr>
          <a:xfrm>
            <a:off x="3448050" y="1447800"/>
            <a:ext cx="2228850" cy="1381125"/>
          </a:xfrm>
          <a:prstGeom prst="roundRect">
            <a:avLst>
              <a:gd name="adj" fmla="val 6897"/>
            </a:avLst>
          </a:prstGeom>
          <a:solidFill>
            <a:srgbClr val="F8FAFC"/>
          </a:solidFill>
          <a:ln w="9525">
            <a:solidFill>
              <a:srgbClr val="1F4D78"/>
            </a:solidFill>
          </a:ln>
        </p:spPr>
      </p:sp>
      <p:sp>
        <p:nvSpPr>
          <p:cNvPr id="13" name="TextBox 13"/>
          <p:cNvSpPr txBox="1"/>
          <p:nvPr/>
        </p:nvSpPr>
        <p:spPr>
          <a:xfrm>
            <a:off x="3660458" y="1643539"/>
            <a:ext cx="924997" cy="259080"/>
          </a:xfrm>
          <a:prstGeom prst="rect">
            <a:avLst/>
          </a:prstGeom>
          <a:noFill/>
          <a:ln>
            <a:noFill/>
          </a:ln>
        </p:spPr>
        <p:txBody>
          <a:bodyPr wrap="none" lIns="0" tIns="0" rIns="0" bIns="0" anchor="t" anchorCtr="0">
            <a:spAutoFit/>
          </a:bodyPr>
          <a:lstStyle/>
          <a:p>
            <a:pPr algn="l"/>
            <a:r>
              <a:rPr lang="zh-CN" sz="1275" b="1" dirty="0">
                <a:solidFill>
                  <a:srgbClr val="1F4D78"/>
                </a:solidFill>
                <a:latin typeface="Arial"/>
                <a:ea typeface="Microsoft YaHei"/>
                <a:cs typeface="Arial"/>
              </a:rPr>
              <a:t>稳定性复测</a:t>
            </a:r>
          </a:p>
        </p:txBody>
      </p:sp>
      <p:sp>
        <p:nvSpPr>
          <p:cNvPr id="14" name="TextBox 14"/>
          <p:cNvSpPr txBox="1"/>
          <p:nvPr/>
        </p:nvSpPr>
        <p:spPr>
          <a:xfrm>
            <a:off x="3646170" y="1979295"/>
            <a:ext cx="1001878" cy="487680"/>
          </a:xfrm>
          <a:prstGeom prst="rect">
            <a:avLst/>
          </a:prstGeom>
          <a:noFill/>
          <a:ln>
            <a:noFill/>
          </a:ln>
        </p:spPr>
        <p:txBody>
          <a:bodyPr wrap="none" lIns="0" tIns="0" rIns="0" bIns="0" anchor="t" anchorCtr="0">
            <a:spAutoFit/>
          </a:bodyPr>
          <a:lstStyle/>
          <a:p>
            <a:pPr algn="l"/>
            <a:r>
              <a:rPr lang="zh-CN" sz="2400" b="1" dirty="0">
                <a:solidFill>
                  <a:srgbClr val="C8161E"/>
                </a:solidFill>
                <a:latin typeface="Arial"/>
                <a:ea typeface="Microsoft YaHei"/>
                <a:cs typeface="Arial"/>
              </a:rPr>
              <a:t>Top101</a:t>
            </a:r>
          </a:p>
        </p:txBody>
      </p:sp>
      <p:sp>
        <p:nvSpPr>
          <p:cNvPr id="15" name="TextBox 15"/>
          <p:cNvSpPr txBox="1"/>
          <p:nvPr/>
        </p:nvSpPr>
        <p:spPr>
          <a:xfrm>
            <a:off x="3664744" y="2489597"/>
            <a:ext cx="1699022"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E2 候选池含年份与学科双约束</a:t>
            </a:r>
          </a:p>
        </p:txBody>
      </p:sp>
      <p:sp>
        <p:nvSpPr>
          <p:cNvPr id="16" name="Rectangle 16"/>
          <p:cNvSpPr/>
          <p:nvPr/>
        </p:nvSpPr>
        <p:spPr>
          <a:xfrm>
            <a:off x="6210300" y="1447800"/>
            <a:ext cx="2228850" cy="1381125"/>
          </a:xfrm>
          <a:prstGeom prst="roundRect">
            <a:avLst>
              <a:gd name="adj" fmla="val 6897"/>
            </a:avLst>
          </a:prstGeom>
          <a:solidFill>
            <a:srgbClr val="FFF8F0"/>
          </a:solidFill>
          <a:ln w="9525">
            <a:solidFill>
              <a:srgbClr val="E07B00"/>
            </a:solidFill>
          </a:ln>
        </p:spPr>
      </p:sp>
      <p:sp>
        <p:nvSpPr>
          <p:cNvPr id="17" name="TextBox 17"/>
          <p:cNvSpPr txBox="1"/>
          <p:nvPr/>
        </p:nvSpPr>
        <p:spPr>
          <a:xfrm>
            <a:off x="6422708" y="1643539"/>
            <a:ext cx="746474" cy="259080"/>
          </a:xfrm>
          <a:prstGeom prst="rect">
            <a:avLst/>
          </a:prstGeom>
          <a:noFill/>
          <a:ln>
            <a:noFill/>
          </a:ln>
        </p:spPr>
        <p:txBody>
          <a:bodyPr wrap="none" lIns="0" tIns="0" rIns="0" bIns="0" anchor="t" anchorCtr="0">
            <a:spAutoFit/>
          </a:bodyPr>
          <a:lstStyle/>
          <a:p>
            <a:pPr algn="l"/>
            <a:r>
              <a:rPr lang="zh-CN" sz="1275" b="1" dirty="0">
                <a:solidFill>
                  <a:srgbClr val="E07B00"/>
                </a:solidFill>
                <a:latin typeface="Arial"/>
                <a:ea typeface="Microsoft YaHei"/>
                <a:cs typeface="Arial"/>
              </a:rPr>
              <a:t>维度仲裁</a:t>
            </a:r>
          </a:p>
        </p:txBody>
      </p:sp>
      <p:sp>
        <p:nvSpPr>
          <p:cNvPr id="18" name="TextBox 18"/>
          <p:cNvSpPr txBox="1"/>
          <p:nvPr/>
        </p:nvSpPr>
        <p:spPr>
          <a:xfrm>
            <a:off x="6406515" y="1963102"/>
            <a:ext cx="814564" cy="518160"/>
          </a:xfrm>
          <a:prstGeom prst="rect">
            <a:avLst/>
          </a:prstGeom>
          <a:noFill/>
          <a:ln>
            <a:noFill/>
          </a:ln>
        </p:spPr>
        <p:txBody>
          <a:bodyPr wrap="none" lIns="0" tIns="0" rIns="0" bIns="0" anchor="t" anchorCtr="0">
            <a:spAutoFit/>
          </a:bodyPr>
          <a:lstStyle/>
          <a:p>
            <a:pPr algn="l"/>
            <a:r>
              <a:rPr lang="zh-CN" sz="2550" b="1" dirty="0">
                <a:solidFill>
                  <a:srgbClr val="C8161E"/>
                </a:solidFill>
                <a:latin typeface="Arial"/>
                <a:ea typeface="Microsoft YaHei"/>
                <a:cs typeface="Arial"/>
              </a:rPr>
              <a:t>63维</a:t>
            </a:r>
          </a:p>
        </p:txBody>
      </p:sp>
      <p:sp>
        <p:nvSpPr>
          <p:cNvPr id="19" name="TextBox 19"/>
          <p:cNvSpPr txBox="1"/>
          <p:nvPr/>
        </p:nvSpPr>
        <p:spPr>
          <a:xfrm>
            <a:off x="6426994" y="2489597"/>
            <a:ext cx="1911548"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E3 覆盖 45 篇，只处理不稳定维度</a:t>
            </a:r>
          </a:p>
        </p:txBody>
      </p:sp>
      <p:sp>
        <p:nvSpPr>
          <p:cNvPr id="20" name="Rectangle 20"/>
          <p:cNvSpPr/>
          <p:nvPr/>
        </p:nvSpPr>
        <p:spPr>
          <a:xfrm>
            <a:off x="8972550" y="1447800"/>
            <a:ext cx="2228850" cy="1381125"/>
          </a:xfrm>
          <a:prstGeom prst="roundRect">
            <a:avLst>
              <a:gd name="adj" fmla="val 6897"/>
            </a:avLst>
          </a:prstGeom>
          <a:solidFill>
            <a:srgbClr val="E8F5E9"/>
          </a:solidFill>
          <a:ln w="9525">
            <a:solidFill>
              <a:srgbClr val="2E7D32"/>
            </a:solidFill>
          </a:ln>
        </p:spPr>
      </p:sp>
      <p:sp>
        <p:nvSpPr>
          <p:cNvPr id="21" name="TextBox 21"/>
          <p:cNvSpPr txBox="1"/>
          <p:nvPr/>
        </p:nvSpPr>
        <p:spPr>
          <a:xfrm>
            <a:off x="9184958" y="1643539"/>
            <a:ext cx="746474" cy="259080"/>
          </a:xfrm>
          <a:prstGeom prst="rect">
            <a:avLst/>
          </a:prstGeom>
          <a:noFill/>
          <a:ln>
            <a:noFill/>
          </a:ln>
        </p:spPr>
        <p:txBody>
          <a:bodyPr wrap="none" lIns="0" tIns="0" rIns="0" bIns="0" anchor="t" anchorCtr="0">
            <a:spAutoFit/>
          </a:bodyPr>
          <a:lstStyle/>
          <a:p>
            <a:pPr algn="l"/>
            <a:r>
              <a:rPr lang="zh-CN" sz="1275" b="1" dirty="0">
                <a:solidFill>
                  <a:srgbClr val="2E7D32"/>
                </a:solidFill>
                <a:latin typeface="Arial"/>
                <a:ea typeface="Microsoft YaHei"/>
                <a:cs typeface="Arial"/>
              </a:rPr>
              <a:t>最终展示</a:t>
            </a:r>
          </a:p>
        </p:txBody>
      </p:sp>
      <p:sp>
        <p:nvSpPr>
          <p:cNvPr id="22" name="TextBox 22"/>
          <p:cNvSpPr txBox="1"/>
          <p:nvPr/>
        </p:nvSpPr>
        <p:spPr>
          <a:xfrm>
            <a:off x="9168765" y="1963102"/>
            <a:ext cx="1046643" cy="518160"/>
          </a:xfrm>
          <a:prstGeom prst="rect">
            <a:avLst/>
          </a:prstGeom>
          <a:noFill/>
          <a:ln>
            <a:noFill/>
          </a:ln>
        </p:spPr>
        <p:txBody>
          <a:bodyPr wrap="none" lIns="0" tIns="0" rIns="0" bIns="0" anchor="t" anchorCtr="0">
            <a:spAutoFit/>
          </a:bodyPr>
          <a:lstStyle/>
          <a:p>
            <a:pPr algn="l"/>
            <a:r>
              <a:rPr lang="zh-CN" sz="2550" b="1" dirty="0">
                <a:solidFill>
                  <a:srgbClr val="C8161E"/>
                </a:solidFill>
                <a:latin typeface="Arial"/>
                <a:ea typeface="Microsoft YaHei"/>
                <a:cs typeface="Arial"/>
              </a:rPr>
              <a:t>Top50</a:t>
            </a:r>
          </a:p>
        </p:txBody>
      </p:sp>
      <p:sp>
        <p:nvSpPr>
          <p:cNvPr id="23" name="TextBox 23"/>
          <p:cNvSpPr txBox="1"/>
          <p:nvPr/>
        </p:nvSpPr>
        <p:spPr>
          <a:xfrm>
            <a:off x="9189244" y="2489597"/>
            <a:ext cx="2011561" cy="190500"/>
          </a:xfrm>
          <a:prstGeom prst="rect">
            <a:avLst/>
          </a:prstGeom>
          <a:noFill/>
          <a:ln>
            <a:noFill/>
          </a:ln>
        </p:spPr>
        <p:txBody>
          <a:bodyPr wrap="none" lIns="0" tIns="0" rIns="0" bIns="0" anchor="t" anchorCtr="0">
            <a:spAutoFit/>
          </a:bodyPr>
          <a:lstStyle/>
          <a:p>
            <a:pPr algn="l"/>
            <a:r>
              <a:rPr lang="zh-CN" sz="938" dirty="0">
                <a:solidFill>
                  <a:srgbClr val="5A6472"/>
                </a:solidFill>
                <a:latin typeface="Arial"/>
                <a:ea typeface="Microsoft YaHei"/>
                <a:cs typeface="Arial"/>
              </a:rPr>
              <a:t>按全量领域配额，11 个领域全部覆盖</a:t>
            </a:r>
          </a:p>
        </p:txBody>
      </p:sp>
      <p:sp>
        <p:nvSpPr>
          <p:cNvPr id="24" name="TextBox 24"/>
          <p:cNvSpPr txBox="1"/>
          <p:nvPr/>
        </p:nvSpPr>
        <p:spPr>
          <a:xfrm>
            <a:off x="662940" y="3139440"/>
            <a:ext cx="2578637"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Top50 配额版关键指标</a:t>
            </a:r>
          </a:p>
        </p:txBody>
      </p:sp>
      <p:sp>
        <p:nvSpPr>
          <p:cNvPr id="25" name="Rectangle 25"/>
          <p:cNvSpPr/>
          <p:nvPr/>
        </p:nvSpPr>
        <p:spPr>
          <a:xfrm>
            <a:off x="685800" y="3543300"/>
            <a:ext cx="10820400" cy="1238250"/>
          </a:xfrm>
          <a:prstGeom prst="roundRect">
            <a:avLst>
              <a:gd name="adj" fmla="val 7692"/>
            </a:avLst>
          </a:prstGeom>
          <a:solidFill>
            <a:srgbClr val="FFFFFF"/>
          </a:solidFill>
          <a:ln w="9525">
            <a:solidFill>
              <a:srgbClr val="D9DEE5"/>
            </a:solidFill>
          </a:ln>
        </p:spPr>
      </p:sp>
      <p:sp>
        <p:nvSpPr>
          <p:cNvPr id="26" name="TextBox 26"/>
          <p:cNvSpPr txBox="1"/>
          <p:nvPr/>
        </p:nvSpPr>
        <p:spPr>
          <a:xfrm>
            <a:off x="1045845" y="3822382"/>
            <a:ext cx="2594779" cy="335280"/>
          </a:xfrm>
          <a:prstGeom prst="rect">
            <a:avLst/>
          </a:prstGeom>
          <a:noFill/>
          <a:ln>
            <a:noFill/>
          </a:ln>
        </p:spPr>
        <p:txBody>
          <a:bodyPr wrap="none" lIns="0" tIns="0" rIns="0" bIns="0" anchor="t" anchorCtr="0">
            <a:spAutoFit/>
          </a:bodyPr>
          <a:lstStyle/>
          <a:p>
            <a:pPr algn="l"/>
            <a:r>
              <a:rPr lang="zh-CN" sz="1650" b="1" dirty="0">
                <a:solidFill>
                  <a:srgbClr val="C8161E"/>
                </a:solidFill>
                <a:latin typeface="Arial"/>
                <a:ea typeface="Microsoft YaHei"/>
                <a:cs typeface="Arial"/>
              </a:rPr>
              <a:t>分数范围：89.22-82.60</a:t>
            </a:r>
          </a:p>
        </p:txBody>
      </p:sp>
      <p:sp>
        <p:nvSpPr>
          <p:cNvPr id="27" name="TextBox 27"/>
          <p:cNvSpPr txBox="1"/>
          <p:nvPr/>
        </p:nvSpPr>
        <p:spPr>
          <a:xfrm>
            <a:off x="3741420" y="3822382"/>
            <a:ext cx="1601355" cy="335280"/>
          </a:xfrm>
          <a:prstGeom prst="rect">
            <a:avLst/>
          </a:prstGeom>
          <a:noFill/>
          <a:ln>
            <a:noFill/>
          </a:ln>
        </p:spPr>
        <p:txBody>
          <a:bodyPr wrap="none" lIns="0" tIns="0" rIns="0" bIns="0" anchor="t" anchorCtr="0">
            <a:spAutoFit/>
          </a:bodyPr>
          <a:lstStyle/>
          <a:p>
            <a:pPr algn="l"/>
            <a:r>
              <a:rPr lang="zh-CN" sz="1650" b="1" dirty="0">
                <a:solidFill>
                  <a:srgbClr val="1B1C21"/>
                </a:solidFill>
                <a:latin typeface="Arial"/>
                <a:ea typeface="Microsoft YaHei"/>
                <a:cs typeface="Arial"/>
              </a:rPr>
              <a:t>平均分：86.80</a:t>
            </a:r>
          </a:p>
        </p:txBody>
      </p:sp>
      <p:sp>
        <p:nvSpPr>
          <p:cNvPr id="28" name="TextBox 28"/>
          <p:cNvSpPr txBox="1"/>
          <p:nvPr/>
        </p:nvSpPr>
        <p:spPr>
          <a:xfrm>
            <a:off x="5884545" y="3822382"/>
            <a:ext cx="1693766" cy="335280"/>
          </a:xfrm>
          <a:prstGeom prst="rect">
            <a:avLst/>
          </a:prstGeom>
          <a:noFill/>
          <a:ln>
            <a:noFill/>
          </a:ln>
        </p:spPr>
        <p:txBody>
          <a:bodyPr wrap="none" lIns="0" tIns="0" rIns="0" bIns="0" anchor="t" anchorCtr="0">
            <a:spAutoFit/>
          </a:bodyPr>
          <a:lstStyle/>
          <a:p>
            <a:pPr algn="l"/>
            <a:r>
              <a:rPr lang="zh-CN" sz="1650" b="1" dirty="0">
                <a:solidFill>
                  <a:srgbClr val="1B1C21"/>
                </a:solidFill>
                <a:latin typeface="Arial"/>
                <a:ea typeface="Microsoft YaHei"/>
                <a:cs typeface="Arial"/>
              </a:rPr>
              <a:t>平均 std：4.86</a:t>
            </a:r>
          </a:p>
        </p:txBody>
      </p:sp>
      <p:sp>
        <p:nvSpPr>
          <p:cNvPr id="29" name="TextBox 29"/>
          <p:cNvSpPr txBox="1"/>
          <p:nvPr/>
        </p:nvSpPr>
        <p:spPr>
          <a:xfrm>
            <a:off x="8122920" y="3822382"/>
            <a:ext cx="320700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第 50 名：党内法规的概念分析</a:t>
            </a:r>
          </a:p>
        </p:txBody>
      </p:sp>
      <p:sp>
        <p:nvSpPr>
          <p:cNvPr id="30" name="TextBox 30"/>
          <p:cNvSpPr txBox="1"/>
          <p:nvPr/>
        </p:nvSpPr>
        <p:spPr>
          <a:xfrm>
            <a:off x="1051560" y="4347210"/>
            <a:ext cx="4607052"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刊物分布：法学研究 35 篇 · 中国法学 13 篇 · 中国社会科学 2 篇</a:t>
            </a:r>
          </a:p>
        </p:txBody>
      </p:sp>
      <p:sp>
        <p:nvSpPr>
          <p:cNvPr id="31" name="TextBox 31"/>
          <p:cNvSpPr txBox="1"/>
          <p:nvPr/>
        </p:nvSpPr>
        <p:spPr>
          <a:xfrm>
            <a:off x="6271260" y="4347210"/>
            <a:ext cx="4719066"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年份覆盖：2015-2025；2024/2025 各 8 篇，2021 与 2023 各 7 篇</a:t>
            </a:r>
          </a:p>
        </p:txBody>
      </p:sp>
      <p:sp>
        <p:nvSpPr>
          <p:cNvPr id="32" name="Rectangle 32"/>
          <p:cNvSpPr/>
          <p:nvPr/>
        </p:nvSpPr>
        <p:spPr>
          <a:xfrm>
            <a:off x="685800" y="5219700"/>
            <a:ext cx="10820400" cy="647700"/>
          </a:xfrm>
          <a:prstGeom prst="roundRect">
            <a:avLst>
              <a:gd name="adj" fmla="val 11765"/>
            </a:avLst>
          </a:prstGeom>
          <a:solidFill>
            <a:srgbClr val="F4F5F7"/>
          </a:solidFill>
          <a:ln>
            <a:noFill/>
          </a:ln>
        </p:spPr>
      </p:sp>
      <p:sp>
        <p:nvSpPr>
          <p:cNvPr id="33" name="TextBox 33"/>
          <p:cNvSpPr txBox="1"/>
          <p:nvPr/>
        </p:nvSpPr>
        <p:spPr>
          <a:xfrm>
            <a:off x="973455" y="5340668"/>
            <a:ext cx="790384" cy="274320"/>
          </a:xfrm>
          <a:prstGeom prst="rect">
            <a:avLst/>
          </a:prstGeom>
          <a:noFill/>
          <a:ln>
            <a:noFill/>
          </a:ln>
        </p:spPr>
        <p:txBody>
          <a:bodyPr wrap="none" lIns="0" tIns="0" rIns="0" bIns="0" anchor="t" anchorCtr="0">
            <a:spAutoFit/>
          </a:bodyPr>
          <a:lstStyle/>
          <a:p>
            <a:pPr algn="l"/>
            <a:r>
              <a:rPr lang="zh-CN" sz="1350" b="1" dirty="0">
                <a:solidFill>
                  <a:srgbClr val="1F4D78"/>
                </a:solidFill>
                <a:latin typeface="Arial"/>
                <a:ea typeface="Microsoft YaHei"/>
                <a:cs typeface="Arial"/>
              </a:rPr>
              <a:t>当前真源</a:t>
            </a:r>
          </a:p>
        </p:txBody>
      </p:sp>
      <p:sp>
        <p:nvSpPr>
          <p:cNvPr id="34" name="TextBox 34"/>
          <p:cNvSpPr txBox="1"/>
          <p:nvPr/>
        </p:nvSpPr>
        <p:spPr>
          <a:xfrm>
            <a:off x="1928812" y="5364956"/>
            <a:ext cx="7754541"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候选池：results/top101/ranking.json；展示名单：results/top101/top50-position-first-proportional.json。</a:t>
            </a:r>
          </a:p>
        </p:txBody>
      </p:sp>
      <p:sp>
        <p:nvSpPr>
          <p:cNvPr id="35" name="Rectangle 35"/>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36" name="TextBox 36"/>
          <p:cNvSpPr txBox="1"/>
          <p:nvPr/>
        </p:nvSpPr>
        <p:spPr>
          <a:xfrm>
            <a:off x="668017" y="6516343"/>
            <a:ext cx="1155906"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核心成果总结</a:t>
            </a:r>
          </a:p>
        </p:txBody>
      </p:sp>
      <p:sp>
        <p:nvSpPr>
          <p:cNvPr id="37" name="TextBox 37"/>
          <p:cNvSpPr txBox="1"/>
          <p:nvPr/>
        </p:nvSpPr>
        <p:spPr>
          <a:xfrm>
            <a:off x="11226927" y="6537960"/>
            <a:ext cx="294513" cy="243840"/>
          </a:xfrm>
          <a:prstGeom prst="rect">
            <a:avLst/>
          </a:prstGeom>
          <a:noFill/>
          <a:ln>
            <a:noFill/>
          </a:ln>
        </p:spPr>
        <p:txBody>
          <a:bodyPr wrap="none" lIns="0" tIns="0" rIns="0" bIns="0" anchor="t" anchorCtr="0">
            <a:spAutoFit/>
          </a:bodyPr>
          <a:lstStyle/>
          <a:p>
            <a:pPr algn="r"/>
            <a:r>
              <a:rPr lang="zh-CN" sz="1200" dirty="0">
                <a:solidFill>
                  <a:srgbClr val="9AA3AE"/>
                </a:solidFill>
                <a:latin typeface="Arial"/>
                <a:ea typeface="Microsoft YaHei"/>
                <a:cs typeface="Arial"/>
              </a:rPr>
              <a:t>P32</a:t>
            </a:r>
          </a:p>
        </p:txBody>
      </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423198"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局限与下一步</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29" name="Group 29"/>
          <p:cNvGrpSpPr/>
          <p:nvPr/>
        </p:nvGrpSpPr>
        <p:grpSpPr>
          <a:xfrm>
            <a:off x="685800" y="1228725"/>
            <a:ext cx="5257800" cy="4953000"/>
            <a:chOff x="685800" y="1228725"/>
            <a:chExt cx="5257800" cy="4953000"/>
          </a:xfrm>
        </p:grpSpPr>
        <p:sp>
          <p:nvSpPr>
            <p:cNvPr id="8" name="Rectangle 8"/>
            <p:cNvSpPr/>
            <p:nvPr/>
          </p:nvSpPr>
          <p:spPr>
            <a:xfrm>
              <a:off x="685800" y="1228725"/>
              <a:ext cx="5257800" cy="4953000"/>
            </a:xfrm>
            <a:prstGeom prst="roundRect">
              <a:avLst>
                <a:gd name="adj" fmla="val 1538"/>
              </a:avLst>
            </a:prstGeom>
            <a:solidFill>
              <a:srgbClr val="FFF8F0"/>
            </a:solidFill>
            <a:ln w="14288">
              <a:solidFill>
                <a:srgbClr val="E07B00"/>
              </a:solidFill>
            </a:ln>
          </p:spPr>
        </p:sp>
        <p:sp>
          <p:nvSpPr>
            <p:cNvPr id="9" name="TextBox 9"/>
            <p:cNvSpPr txBox="1"/>
            <p:nvPr/>
          </p:nvSpPr>
          <p:spPr>
            <a:xfrm>
              <a:off x="2729157" y="1384273"/>
              <a:ext cx="1171086" cy="406451"/>
            </a:xfrm>
            <a:prstGeom prst="rect">
              <a:avLst/>
            </a:prstGeom>
            <a:noFill/>
            <a:ln>
              <a:noFill/>
            </a:ln>
          </p:spPr>
          <p:txBody>
            <a:bodyPr wrap="none" lIns="0" tIns="0" rIns="0" bIns="0" anchor="t" anchorCtr="0">
              <a:spAutoFit/>
            </a:bodyPr>
            <a:lstStyle/>
            <a:p>
              <a:pPr algn="ctr"/>
              <a:r>
                <a:rPr lang="zh-CN" sz="2000" b="1" dirty="0">
                  <a:solidFill>
                    <a:srgbClr val="E07B00"/>
                  </a:solidFill>
                  <a:latin typeface="Arial"/>
                  <a:ea typeface="Microsoft YaHei"/>
                  <a:cs typeface="Arial"/>
                </a:rPr>
                <a:t>当前局限</a:t>
              </a:r>
            </a:p>
          </p:txBody>
        </p:sp>
        <p:sp>
          <p:nvSpPr>
            <p:cNvPr id="10" name="TextBox 10"/>
            <p:cNvSpPr txBox="1"/>
            <p:nvPr/>
          </p:nvSpPr>
          <p:spPr>
            <a:xfrm>
              <a:off x="1008383" y="1827557"/>
              <a:ext cx="1418191"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1. 未收敛维度</a:t>
              </a:r>
            </a:p>
          </p:txBody>
        </p:sp>
        <p:sp>
          <p:nvSpPr>
            <p:cNvPr id="11" name="Ellipse 11"/>
            <p:cNvSpPr/>
            <p:nvPr/>
          </p:nvSpPr>
          <p:spPr>
            <a:xfrm>
              <a:off x="990600" y="2266950"/>
              <a:ext cx="76200" cy="76200"/>
            </a:xfrm>
            <a:prstGeom prst="ellipse">
              <a:avLst/>
            </a:prstGeom>
            <a:solidFill>
              <a:srgbClr val="E07B00"/>
            </a:solidFill>
            <a:ln>
              <a:noFill/>
            </a:ln>
          </p:spPr>
        </p:sp>
        <p:sp>
          <p:nvSpPr>
            <p:cNvPr id="12" name="TextBox 12"/>
            <p:cNvSpPr txBox="1"/>
            <p:nvPr/>
          </p:nvSpPr>
          <p:spPr>
            <a:xfrm>
              <a:off x="1201417" y="2201518"/>
              <a:ext cx="317251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7 个维度三次 std 仍 &gt; 5，需专家终审</a:t>
              </a:r>
            </a:p>
          </p:txBody>
        </p:sp>
        <p:sp>
          <p:nvSpPr>
            <p:cNvPr id="13" name="Ellipse 13"/>
            <p:cNvSpPr/>
            <p:nvPr/>
          </p:nvSpPr>
          <p:spPr>
            <a:xfrm>
              <a:off x="990600" y="2571750"/>
              <a:ext cx="76200" cy="76200"/>
            </a:xfrm>
            <a:prstGeom prst="ellipse">
              <a:avLst/>
            </a:prstGeom>
            <a:solidFill>
              <a:srgbClr val="E07B00"/>
            </a:solidFill>
            <a:ln>
              <a:noFill/>
            </a:ln>
          </p:spPr>
        </p:sp>
        <p:sp>
          <p:nvSpPr>
            <p:cNvPr id="14" name="TextBox 14"/>
            <p:cNvSpPr txBox="1"/>
            <p:nvPr/>
          </p:nvSpPr>
          <p:spPr>
            <a:xfrm>
              <a:off x="1201417" y="2506318"/>
              <a:ext cx="302314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主要集中在研究创新性与理论建构力</a:t>
              </a:r>
            </a:p>
          </p:txBody>
        </p:sp>
        <p:sp>
          <p:nvSpPr>
            <p:cNvPr id="15" name="Ellipse 15"/>
            <p:cNvSpPr/>
            <p:nvPr/>
          </p:nvSpPr>
          <p:spPr>
            <a:xfrm>
              <a:off x="990600" y="2876550"/>
              <a:ext cx="76200" cy="76200"/>
            </a:xfrm>
            <a:prstGeom prst="ellipse">
              <a:avLst/>
            </a:prstGeom>
            <a:solidFill>
              <a:srgbClr val="E07B00"/>
            </a:solidFill>
            <a:ln>
              <a:noFill/>
            </a:ln>
          </p:spPr>
        </p:sp>
        <p:sp>
          <p:nvSpPr>
            <p:cNvPr id="16" name="TextBox 16"/>
            <p:cNvSpPr txBox="1"/>
            <p:nvPr/>
          </p:nvSpPr>
          <p:spPr>
            <a:xfrm>
              <a:off x="1201417" y="2811118"/>
              <a:ext cx="3900739"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1824 集体商标：洞察度 std 10.8、建构力 14.0</a:t>
              </a:r>
            </a:p>
          </p:txBody>
        </p:sp>
        <p:sp>
          <p:nvSpPr>
            <p:cNvPr id="17" name="TextBox 17"/>
            <p:cNvSpPr txBox="1"/>
            <p:nvPr/>
          </p:nvSpPr>
          <p:spPr>
            <a:xfrm>
              <a:off x="1008383" y="3218207"/>
              <a:ext cx="2370161"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2. 预检问题论文待处理</a:t>
              </a:r>
            </a:p>
          </p:txBody>
        </p:sp>
        <p:sp>
          <p:nvSpPr>
            <p:cNvPr id="18" name="Ellipse 18"/>
            <p:cNvSpPr/>
            <p:nvPr/>
          </p:nvSpPr>
          <p:spPr>
            <a:xfrm>
              <a:off x="990600" y="3657600"/>
              <a:ext cx="76200" cy="76200"/>
            </a:xfrm>
            <a:prstGeom prst="ellipse">
              <a:avLst/>
            </a:prstGeom>
            <a:solidFill>
              <a:srgbClr val="E07B00"/>
            </a:solidFill>
            <a:ln>
              <a:noFill/>
            </a:ln>
          </p:spPr>
        </p:sp>
        <p:sp>
          <p:nvSpPr>
            <p:cNvPr id="19" name="TextBox 19"/>
            <p:cNvSpPr txBox="1"/>
            <p:nvPr/>
          </p:nvSpPr>
          <p:spPr>
            <a:xfrm>
              <a:off x="1201417" y="3592168"/>
              <a:ext cx="3013804"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34 篇（多数/单一拒绝）需人工复核</a:t>
              </a:r>
            </a:p>
          </p:txBody>
        </p:sp>
        <p:sp>
          <p:nvSpPr>
            <p:cNvPr id="20" name="Ellipse 20"/>
            <p:cNvSpPr/>
            <p:nvPr/>
          </p:nvSpPr>
          <p:spPr>
            <a:xfrm>
              <a:off x="990600" y="3962400"/>
              <a:ext cx="76200" cy="76200"/>
            </a:xfrm>
            <a:prstGeom prst="ellipse">
              <a:avLst/>
            </a:prstGeom>
            <a:solidFill>
              <a:srgbClr val="E07B00"/>
            </a:solidFill>
            <a:ln>
              <a:noFill/>
            </a:ln>
          </p:spPr>
        </p:sp>
        <p:sp>
          <p:nvSpPr>
            <p:cNvPr id="21" name="TextBox 21"/>
            <p:cNvSpPr txBox="1"/>
            <p:nvPr/>
          </p:nvSpPr>
          <p:spPr>
            <a:xfrm>
              <a:off x="1201417" y="3896968"/>
              <a:ext cx="291110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25 篇（边界判断）需确认项目口径</a:t>
              </a:r>
            </a:p>
          </p:txBody>
        </p:sp>
        <p:sp>
          <p:nvSpPr>
            <p:cNvPr id="22" name="Ellipse 22"/>
            <p:cNvSpPr/>
            <p:nvPr/>
          </p:nvSpPr>
          <p:spPr>
            <a:xfrm>
              <a:off x="990600" y="4267200"/>
              <a:ext cx="76200" cy="76200"/>
            </a:xfrm>
            <a:prstGeom prst="ellipse">
              <a:avLst/>
            </a:prstGeom>
            <a:solidFill>
              <a:srgbClr val="E07B00"/>
            </a:solidFill>
            <a:ln>
              <a:noFill/>
            </a:ln>
          </p:spPr>
        </p:sp>
        <p:sp>
          <p:nvSpPr>
            <p:cNvPr id="23" name="TextBox 23"/>
            <p:cNvSpPr txBox="1"/>
            <p:nvPr/>
          </p:nvSpPr>
          <p:spPr>
            <a:xfrm>
              <a:off x="1201417" y="4201768"/>
              <a:ext cx="282708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合计 59 篇待人工决策（占 3.1%）</a:t>
              </a:r>
            </a:p>
          </p:txBody>
        </p:sp>
        <p:sp>
          <p:nvSpPr>
            <p:cNvPr id="24" name="TextBox 24"/>
            <p:cNvSpPr txBox="1"/>
            <p:nvPr/>
          </p:nvSpPr>
          <p:spPr>
            <a:xfrm>
              <a:off x="1008383" y="4608857"/>
              <a:ext cx="2594154"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3. 研究创新性收敛率最低</a:t>
              </a:r>
            </a:p>
          </p:txBody>
        </p:sp>
        <p:sp>
          <p:nvSpPr>
            <p:cNvPr id="25" name="Ellipse 25"/>
            <p:cNvSpPr/>
            <p:nvPr/>
          </p:nvSpPr>
          <p:spPr>
            <a:xfrm>
              <a:off x="990600" y="5048250"/>
              <a:ext cx="76200" cy="76200"/>
            </a:xfrm>
            <a:prstGeom prst="ellipse">
              <a:avLst/>
            </a:prstGeom>
            <a:solidFill>
              <a:srgbClr val="E07B00"/>
            </a:solidFill>
            <a:ln>
              <a:noFill/>
            </a:ln>
          </p:spPr>
        </p:sp>
        <p:sp>
          <p:nvSpPr>
            <p:cNvPr id="26" name="TextBox 26"/>
            <p:cNvSpPr txBox="1"/>
            <p:nvPr/>
          </p:nvSpPr>
          <p:spPr>
            <a:xfrm>
              <a:off x="1201417" y="4982818"/>
              <a:ext cx="2659029"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收敛率 44.8%，属真实学术分歧</a:t>
              </a:r>
            </a:p>
          </p:txBody>
        </p:sp>
        <p:sp>
          <p:nvSpPr>
            <p:cNvPr id="27" name="Ellipse 27"/>
            <p:cNvSpPr/>
            <p:nvPr/>
          </p:nvSpPr>
          <p:spPr>
            <a:xfrm>
              <a:off x="990600" y="5353050"/>
              <a:ext cx="76200" cy="76200"/>
            </a:xfrm>
            <a:prstGeom prst="ellipse">
              <a:avLst/>
            </a:prstGeom>
            <a:solidFill>
              <a:srgbClr val="E07B00"/>
            </a:solidFill>
            <a:ln>
              <a:noFill/>
            </a:ln>
          </p:spPr>
        </p:sp>
        <p:sp>
          <p:nvSpPr>
            <p:cNvPr id="28" name="TextBox 28"/>
            <p:cNvSpPr txBox="1"/>
            <p:nvPr/>
          </p:nvSpPr>
          <p:spPr>
            <a:xfrm>
              <a:off x="1201417" y="5287618"/>
              <a:ext cx="2855089"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如"论文是否提出可争辩理论问题"</a:t>
              </a:r>
            </a:p>
          </p:txBody>
        </p:sp>
      </p:grpSp>
      <p:grpSp>
        <p:nvGrpSpPr>
          <p:cNvPr id="51" name="Group 51"/>
          <p:cNvGrpSpPr/>
          <p:nvPr/>
        </p:nvGrpSpPr>
        <p:grpSpPr>
          <a:xfrm>
            <a:off x="6248400" y="1228725"/>
            <a:ext cx="5257800" cy="4953000"/>
            <a:chOff x="6248400" y="1228725"/>
            <a:chExt cx="5257800" cy="4953000"/>
          </a:xfrm>
        </p:grpSpPr>
        <p:sp>
          <p:nvSpPr>
            <p:cNvPr id="30" name="Rectangle 30"/>
            <p:cNvSpPr/>
            <p:nvPr/>
          </p:nvSpPr>
          <p:spPr>
            <a:xfrm>
              <a:off x="6248400" y="1228725"/>
              <a:ext cx="5257800" cy="4953000"/>
            </a:xfrm>
            <a:prstGeom prst="roundRect">
              <a:avLst>
                <a:gd name="adj" fmla="val 1538"/>
              </a:avLst>
            </a:prstGeom>
            <a:solidFill>
              <a:srgbClr val="F0F7FF"/>
            </a:solidFill>
            <a:ln w="14288">
              <a:solidFill>
                <a:srgbClr val="1F4D78"/>
              </a:solidFill>
            </a:ln>
          </p:spPr>
        </p:sp>
        <p:sp>
          <p:nvSpPr>
            <p:cNvPr id="31" name="TextBox 31"/>
            <p:cNvSpPr txBox="1"/>
            <p:nvPr/>
          </p:nvSpPr>
          <p:spPr>
            <a:xfrm>
              <a:off x="8151722" y="1384273"/>
              <a:ext cx="1451156" cy="406451"/>
            </a:xfrm>
            <a:prstGeom prst="rect">
              <a:avLst/>
            </a:prstGeom>
            <a:noFill/>
            <a:ln>
              <a:noFill/>
            </a:ln>
          </p:spPr>
          <p:txBody>
            <a:bodyPr wrap="none" lIns="0" tIns="0" rIns="0" bIns="0" anchor="t" anchorCtr="0">
              <a:spAutoFit/>
            </a:bodyPr>
            <a:lstStyle/>
            <a:p>
              <a:pPr algn="ctr"/>
              <a:r>
                <a:rPr lang="zh-CN" sz="2000" b="1" dirty="0">
                  <a:solidFill>
                    <a:srgbClr val="1F4D78"/>
                  </a:solidFill>
                  <a:latin typeface="Arial"/>
                  <a:ea typeface="Microsoft YaHei"/>
                  <a:cs typeface="Arial"/>
                </a:rPr>
                <a:t>下一步工作</a:t>
              </a:r>
            </a:p>
          </p:txBody>
        </p:sp>
        <p:sp>
          <p:nvSpPr>
            <p:cNvPr id="32" name="TextBox 32"/>
            <p:cNvSpPr txBox="1"/>
            <p:nvPr/>
          </p:nvSpPr>
          <p:spPr>
            <a:xfrm>
              <a:off x="6570983" y="1827557"/>
              <a:ext cx="1642184"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1. 专家复核流程</a:t>
              </a:r>
            </a:p>
          </p:txBody>
        </p:sp>
        <p:sp>
          <p:nvSpPr>
            <p:cNvPr id="33" name="Ellipse 33"/>
            <p:cNvSpPr/>
            <p:nvPr/>
          </p:nvSpPr>
          <p:spPr>
            <a:xfrm>
              <a:off x="6553200" y="2266950"/>
              <a:ext cx="76200" cy="76200"/>
            </a:xfrm>
            <a:prstGeom prst="ellipse">
              <a:avLst/>
            </a:prstGeom>
            <a:solidFill>
              <a:srgbClr val="1F4D78"/>
            </a:solidFill>
            <a:ln>
              <a:noFill/>
            </a:ln>
          </p:spPr>
        </p:sp>
        <p:sp>
          <p:nvSpPr>
            <p:cNvPr id="34" name="TextBox 34"/>
            <p:cNvSpPr txBox="1"/>
            <p:nvPr/>
          </p:nvSpPr>
          <p:spPr>
            <a:xfrm>
              <a:off x="6764017" y="2201518"/>
              <a:ext cx="208952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完整执行评价层复核流程</a:t>
              </a:r>
            </a:p>
          </p:txBody>
        </p:sp>
        <p:sp>
          <p:nvSpPr>
            <p:cNvPr id="35" name="Ellipse 35"/>
            <p:cNvSpPr/>
            <p:nvPr/>
          </p:nvSpPr>
          <p:spPr>
            <a:xfrm>
              <a:off x="6553200" y="2571750"/>
              <a:ext cx="76200" cy="76200"/>
            </a:xfrm>
            <a:prstGeom prst="ellipse">
              <a:avLst/>
            </a:prstGeom>
            <a:solidFill>
              <a:srgbClr val="1F4D78"/>
            </a:solidFill>
            <a:ln>
              <a:noFill/>
            </a:ln>
          </p:spPr>
        </p:sp>
        <p:sp>
          <p:nvSpPr>
            <p:cNvPr id="36" name="TextBox 36"/>
            <p:cNvSpPr txBox="1"/>
            <p:nvPr/>
          </p:nvSpPr>
          <p:spPr>
            <a:xfrm>
              <a:off x="6764017" y="2506318"/>
              <a:ext cx="240695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人工处理 59 篇预检问题论文</a:t>
              </a:r>
            </a:p>
          </p:txBody>
        </p:sp>
        <p:sp>
          <p:nvSpPr>
            <p:cNvPr id="37" name="Ellipse 37"/>
            <p:cNvSpPr/>
            <p:nvPr/>
          </p:nvSpPr>
          <p:spPr>
            <a:xfrm>
              <a:off x="6553200" y="2876550"/>
              <a:ext cx="76200" cy="76200"/>
            </a:xfrm>
            <a:prstGeom prst="ellipse">
              <a:avLst/>
            </a:prstGeom>
            <a:solidFill>
              <a:srgbClr val="1F4D78"/>
            </a:solidFill>
            <a:ln>
              <a:noFill/>
            </a:ln>
          </p:spPr>
        </p:sp>
        <p:sp>
          <p:nvSpPr>
            <p:cNvPr id="38" name="TextBox 38"/>
            <p:cNvSpPr txBox="1"/>
            <p:nvPr/>
          </p:nvSpPr>
          <p:spPr>
            <a:xfrm>
              <a:off x="6764017" y="2811118"/>
              <a:ext cx="2117532"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专家终审 7 个未收敛维度</a:t>
              </a:r>
            </a:p>
          </p:txBody>
        </p:sp>
        <p:sp>
          <p:nvSpPr>
            <p:cNvPr id="39" name="TextBox 39"/>
            <p:cNvSpPr txBox="1"/>
            <p:nvPr/>
          </p:nvSpPr>
          <p:spPr>
            <a:xfrm>
              <a:off x="6570983" y="3218207"/>
              <a:ext cx="2146168"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2. 五轴归属分歧处理</a:t>
              </a:r>
            </a:p>
          </p:txBody>
        </p:sp>
        <p:sp>
          <p:nvSpPr>
            <p:cNvPr id="40" name="Ellipse 40"/>
            <p:cNvSpPr/>
            <p:nvPr/>
          </p:nvSpPr>
          <p:spPr>
            <a:xfrm>
              <a:off x="6553200" y="3657600"/>
              <a:ext cx="76200" cy="76200"/>
            </a:xfrm>
            <a:prstGeom prst="ellipse">
              <a:avLst/>
            </a:prstGeom>
            <a:solidFill>
              <a:srgbClr val="1F4D78"/>
            </a:solidFill>
            <a:ln>
              <a:noFill/>
            </a:ln>
          </p:spPr>
        </p:sp>
        <p:sp>
          <p:nvSpPr>
            <p:cNvPr id="41" name="TextBox 41"/>
            <p:cNvSpPr txBox="1"/>
            <p:nvPr/>
          </p:nvSpPr>
          <p:spPr>
            <a:xfrm>
              <a:off x="6764017" y="3592168"/>
              <a:ext cx="2042842"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3 篇论文两模型 std=1.5</a:t>
              </a:r>
            </a:p>
          </p:txBody>
        </p:sp>
        <p:sp>
          <p:nvSpPr>
            <p:cNvPr id="42" name="Ellipse 42"/>
            <p:cNvSpPr/>
            <p:nvPr/>
          </p:nvSpPr>
          <p:spPr>
            <a:xfrm>
              <a:off x="6553200" y="3962400"/>
              <a:ext cx="76200" cy="76200"/>
            </a:xfrm>
            <a:prstGeom prst="ellipse">
              <a:avLst/>
            </a:prstGeom>
            <a:solidFill>
              <a:srgbClr val="1F4D78"/>
            </a:solidFill>
            <a:ln>
              <a:noFill/>
            </a:ln>
          </p:spPr>
        </p:sp>
        <p:sp>
          <p:nvSpPr>
            <p:cNvPr id="43" name="TextBox 43"/>
            <p:cNvSpPr txBox="1"/>
            <p:nvPr/>
          </p:nvSpPr>
          <p:spPr>
            <a:xfrm>
              <a:off x="6764017" y="3896968"/>
              <a:ext cx="339658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主要围绕对象与解释目标归属的宽严判断</a:t>
              </a:r>
            </a:p>
          </p:txBody>
        </p:sp>
        <p:sp>
          <p:nvSpPr>
            <p:cNvPr id="44" name="Ellipse 44"/>
            <p:cNvSpPr/>
            <p:nvPr/>
          </p:nvSpPr>
          <p:spPr>
            <a:xfrm>
              <a:off x="6553200" y="4267200"/>
              <a:ext cx="76200" cy="76200"/>
            </a:xfrm>
            <a:prstGeom prst="ellipse">
              <a:avLst/>
            </a:prstGeom>
            <a:solidFill>
              <a:srgbClr val="1F4D78"/>
            </a:solidFill>
            <a:ln>
              <a:noFill/>
            </a:ln>
          </p:spPr>
        </p:sp>
        <p:sp>
          <p:nvSpPr>
            <p:cNvPr id="45" name="TextBox 45"/>
            <p:cNvSpPr txBox="1"/>
            <p:nvPr/>
          </p:nvSpPr>
          <p:spPr>
            <a:xfrm>
              <a:off x="6764017" y="4201768"/>
              <a:ext cx="227624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在专家说明中保留分歧解释</a:t>
              </a:r>
            </a:p>
          </p:txBody>
        </p:sp>
        <p:sp>
          <p:nvSpPr>
            <p:cNvPr id="46" name="TextBox 46"/>
            <p:cNvSpPr txBox="1"/>
            <p:nvPr/>
          </p:nvSpPr>
          <p:spPr>
            <a:xfrm>
              <a:off x="6570983" y="4608857"/>
              <a:ext cx="1250196" cy="325069"/>
            </a:xfrm>
            <a:prstGeom prst="rect">
              <a:avLst/>
            </a:prstGeom>
            <a:noFill/>
            <a:ln>
              <a:noFill/>
            </a:ln>
          </p:spPr>
          <p:txBody>
            <a:bodyPr wrap="none" lIns="0" tIns="0" rIns="0" bIns="0" anchor="t" anchorCtr="0">
              <a:spAutoFit/>
            </a:bodyPr>
            <a:lstStyle/>
            <a:p>
              <a:pPr algn="l"/>
              <a:r>
                <a:rPr lang="zh-CN" sz="1600" b="1" dirty="0">
                  <a:solidFill>
                    <a:srgbClr val="1B1C21"/>
                  </a:solidFill>
                  <a:latin typeface="Arial"/>
                  <a:ea typeface="Microsoft YaHei"/>
                  <a:cs typeface="Arial"/>
                </a:rPr>
                <a:t>3. 拓展方向</a:t>
              </a:r>
            </a:p>
          </p:txBody>
        </p:sp>
        <p:sp>
          <p:nvSpPr>
            <p:cNvPr id="47" name="Ellipse 47"/>
            <p:cNvSpPr/>
            <p:nvPr/>
          </p:nvSpPr>
          <p:spPr>
            <a:xfrm>
              <a:off x="6553200" y="5048250"/>
              <a:ext cx="76200" cy="76200"/>
            </a:xfrm>
            <a:prstGeom prst="ellipse">
              <a:avLst/>
            </a:prstGeom>
            <a:solidFill>
              <a:srgbClr val="1F4D78"/>
            </a:solidFill>
            <a:ln>
              <a:noFill/>
            </a:ln>
          </p:spPr>
        </p:sp>
        <p:sp>
          <p:nvSpPr>
            <p:cNvPr id="48" name="TextBox 48"/>
            <p:cNvSpPr txBox="1"/>
            <p:nvPr/>
          </p:nvSpPr>
          <p:spPr>
            <a:xfrm>
              <a:off x="6764017" y="4982818"/>
              <a:ext cx="264969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从法学拓展至人文社科其他学科</a:t>
              </a:r>
            </a:p>
          </p:txBody>
        </p:sp>
        <p:sp>
          <p:nvSpPr>
            <p:cNvPr id="49" name="Ellipse 49"/>
            <p:cNvSpPr/>
            <p:nvPr/>
          </p:nvSpPr>
          <p:spPr>
            <a:xfrm>
              <a:off x="6553200" y="5353050"/>
              <a:ext cx="76200" cy="76200"/>
            </a:xfrm>
            <a:prstGeom prst="ellipse">
              <a:avLst/>
            </a:prstGeom>
            <a:solidFill>
              <a:srgbClr val="1F4D78"/>
            </a:solidFill>
            <a:ln>
              <a:noFill/>
            </a:ln>
          </p:spPr>
        </p:sp>
        <p:sp>
          <p:nvSpPr>
            <p:cNvPr id="50" name="TextBox 50"/>
            <p:cNvSpPr txBox="1"/>
            <p:nvPr/>
          </p:nvSpPr>
          <p:spPr>
            <a:xfrm>
              <a:off x="6764017" y="5287618"/>
              <a:ext cx="227624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完善知识库匹配与谱系定位</a:t>
              </a:r>
            </a:p>
          </p:txBody>
        </p:sp>
      </p:grpSp>
      <p:grpSp>
        <p:nvGrpSpPr>
          <p:cNvPr id="55" name="Group 55"/>
          <p:cNvGrpSpPr/>
          <p:nvPr/>
        </p:nvGrpSpPr>
        <p:grpSpPr>
          <a:xfrm>
            <a:off x="0" y="6516343"/>
            <a:ext cx="12192000" cy="341657"/>
            <a:chOff x="0" y="6516343"/>
            <a:chExt cx="12192000" cy="341657"/>
          </a:xfrm>
        </p:grpSpPr>
        <p:sp>
          <p:nvSpPr>
            <p:cNvPr id="52" name="Rectangle 52"/>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53" name="TextBox 53"/>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54" name="TextBox 54"/>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33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slide(fromBottom)">
                                      <p:cBhvr>
                                        <p:cTn id="7" dur="400"/>
                                        <p:tgtEl>
                                          <p:spTgt spid="2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image">
                                      <p:cBhvr>
                                        <p:cTn id="11"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5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2031184"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致谢与讨论</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grpSp>
        <p:nvGrpSpPr>
          <p:cNvPr id="13" name="Group 13"/>
          <p:cNvGrpSpPr/>
          <p:nvPr/>
        </p:nvGrpSpPr>
        <p:grpSpPr>
          <a:xfrm>
            <a:off x="685800" y="1228725"/>
            <a:ext cx="10820400" cy="1714500"/>
            <a:chOff x="685800" y="1228725"/>
            <a:chExt cx="10820400" cy="1714500"/>
          </a:xfrm>
        </p:grpSpPr>
        <p:sp>
          <p:nvSpPr>
            <p:cNvPr id="8" name="Rectangle 8"/>
            <p:cNvSpPr/>
            <p:nvPr/>
          </p:nvSpPr>
          <p:spPr>
            <a:xfrm>
              <a:off x="685800" y="1228725"/>
              <a:ext cx="10820400" cy="1714500"/>
            </a:xfrm>
            <a:prstGeom prst="roundRect">
              <a:avLst>
                <a:gd name="adj" fmla="val 4444"/>
              </a:avLst>
            </a:prstGeom>
            <a:solidFill>
              <a:srgbClr val="F4F5F7"/>
            </a:solidFill>
            <a:ln>
              <a:noFill/>
            </a:ln>
          </p:spPr>
        </p:sp>
        <p:sp>
          <p:nvSpPr>
            <p:cNvPr id="9" name="TextBox 9"/>
            <p:cNvSpPr txBox="1"/>
            <p:nvPr/>
          </p:nvSpPr>
          <p:spPr>
            <a:xfrm>
              <a:off x="5760060" y="1438937"/>
              <a:ext cx="671881" cy="446989"/>
            </a:xfrm>
            <a:prstGeom prst="rect">
              <a:avLst/>
            </a:prstGeom>
            <a:noFill/>
            <a:ln>
              <a:noFill/>
            </a:ln>
          </p:spPr>
          <p:txBody>
            <a:bodyPr wrap="none" lIns="0" tIns="0" rIns="0" bIns="0" anchor="t" anchorCtr="0">
              <a:spAutoFit/>
            </a:bodyPr>
            <a:lstStyle/>
            <a:p>
              <a:pPr algn="ctr"/>
              <a:r>
                <a:rPr lang="zh-CN" sz="2200" b="1" dirty="0">
                  <a:solidFill>
                    <a:srgbClr val="1F4D78"/>
                  </a:solidFill>
                  <a:latin typeface="Arial"/>
                  <a:ea typeface="Microsoft YaHei"/>
                  <a:cs typeface="Arial"/>
                </a:rPr>
                <a:t>致谢</a:t>
              </a:r>
            </a:p>
          </p:txBody>
        </p:sp>
        <p:sp>
          <p:nvSpPr>
            <p:cNvPr id="10" name="TextBox 10"/>
            <p:cNvSpPr txBox="1"/>
            <p:nvPr/>
          </p:nvSpPr>
          <p:spPr>
            <a:xfrm>
              <a:off x="4155743" y="1941857"/>
              <a:ext cx="3880514"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感谢上海交通大学人工智能研究院的支持</a:t>
              </a:r>
            </a:p>
          </p:txBody>
        </p:sp>
        <p:sp>
          <p:nvSpPr>
            <p:cNvPr id="11" name="TextBox 11"/>
            <p:cNvSpPr txBox="1"/>
            <p:nvPr/>
          </p:nvSpPr>
          <p:spPr>
            <a:xfrm>
              <a:off x="4155743" y="2265707"/>
              <a:ext cx="3880514"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感谢特邀法学专家团队的指导与标注工作</a:t>
              </a:r>
            </a:p>
          </p:txBody>
        </p:sp>
        <p:sp>
          <p:nvSpPr>
            <p:cNvPr id="12" name="TextBox 12"/>
            <p:cNvSpPr txBox="1"/>
            <p:nvPr/>
          </p:nvSpPr>
          <p:spPr>
            <a:xfrm>
              <a:off x="4689060" y="2589557"/>
              <a:ext cx="2813880" cy="325069"/>
            </a:xfrm>
            <a:prstGeom prst="rect">
              <a:avLst/>
            </a:prstGeom>
            <a:noFill/>
            <a:ln>
              <a:noFill/>
            </a:ln>
          </p:spPr>
          <p:txBody>
            <a:bodyPr wrap="none" lIns="0" tIns="0" rIns="0" bIns="0" anchor="t" anchorCtr="0">
              <a:spAutoFit/>
            </a:bodyPr>
            <a:lstStyle/>
            <a:p>
              <a:pPr algn="ctr"/>
              <a:r>
                <a:rPr lang="zh-CN" sz="1600" dirty="0">
                  <a:solidFill>
                    <a:srgbClr val="1B1C21"/>
                  </a:solidFill>
                  <a:latin typeface="Arial"/>
                  <a:ea typeface="Microsoft YaHei"/>
                  <a:cs typeface="Arial"/>
                </a:rPr>
                <a:t>感谢项目团队成员的辛勤付出</a:t>
              </a:r>
            </a:p>
          </p:txBody>
        </p:sp>
      </p:grpSp>
      <p:grpSp>
        <p:nvGrpSpPr>
          <p:cNvPr id="19" name="Group 19"/>
          <p:cNvGrpSpPr/>
          <p:nvPr/>
        </p:nvGrpSpPr>
        <p:grpSpPr>
          <a:xfrm>
            <a:off x="685800" y="3171825"/>
            <a:ext cx="10820400" cy="2476500"/>
            <a:chOff x="685800" y="3171825"/>
            <a:chExt cx="10820400" cy="2476500"/>
          </a:xfrm>
        </p:grpSpPr>
        <p:sp>
          <p:nvSpPr>
            <p:cNvPr id="14" name="Rectangle 14"/>
            <p:cNvSpPr/>
            <p:nvPr/>
          </p:nvSpPr>
          <p:spPr>
            <a:xfrm>
              <a:off x="685800" y="3171825"/>
              <a:ext cx="10820400" cy="2476500"/>
            </a:xfrm>
            <a:prstGeom prst="roundRect">
              <a:avLst>
                <a:gd name="adj" fmla="val 3077"/>
              </a:avLst>
            </a:prstGeom>
            <a:gradFill>
              <a:gsLst>
                <a:gs pos="0">
                  <a:srgbClr val="C8161E"/>
                </a:gs>
                <a:gs pos="100000">
                  <a:srgbClr val="8E0F15"/>
                </a:gs>
              </a:gsLst>
              <a:lin ang="2700000" scaled="1"/>
            </a:gradFill>
            <a:ln>
              <a:noFill/>
            </a:ln>
          </p:spPr>
        </p:sp>
        <p:sp>
          <p:nvSpPr>
            <p:cNvPr id="15" name="TextBox 15"/>
            <p:cNvSpPr txBox="1"/>
            <p:nvPr/>
          </p:nvSpPr>
          <p:spPr>
            <a:xfrm>
              <a:off x="5042154" y="3421380"/>
              <a:ext cx="2107692"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Arial"/>
                  <a:ea typeface="Microsoft YaHei"/>
                  <a:cs typeface="Arial"/>
                </a:rPr>
                <a:t>开放讨论</a:t>
              </a:r>
            </a:p>
          </p:txBody>
        </p:sp>
        <p:sp>
          <p:nvSpPr>
            <p:cNvPr id="16" name="TextBox 16"/>
            <p:cNvSpPr txBox="1"/>
            <p:nvPr/>
          </p:nvSpPr>
          <p:spPr>
            <a:xfrm>
              <a:off x="5137030" y="4127473"/>
              <a:ext cx="1917940" cy="406451"/>
            </a:xfrm>
            <a:prstGeom prst="rect">
              <a:avLst/>
            </a:prstGeom>
            <a:noFill/>
            <a:ln>
              <a:noFill/>
            </a:ln>
          </p:spPr>
          <p:txBody>
            <a:bodyPr wrap="none" lIns="0" tIns="0" rIns="0" bIns="0" anchor="t" anchorCtr="0">
              <a:spAutoFit/>
            </a:bodyPr>
            <a:lstStyle/>
            <a:p>
              <a:pPr algn="ctr"/>
              <a:r>
                <a:rPr lang="zh-CN" sz="2000" dirty="0">
                  <a:solidFill>
                    <a:srgbClr val="FFFFFF"/>
                  </a:solidFill>
                  <a:latin typeface="Arial"/>
                  <a:ea typeface="Microsoft YaHei"/>
                  <a:cs typeface="Arial"/>
                </a:rPr>
                <a:t>欢迎提问与交流</a:t>
              </a:r>
            </a:p>
          </p:txBody>
        </p:sp>
        <p:sp>
          <p:nvSpPr>
            <p:cNvPr id="17" name="TextBox 17"/>
            <p:cNvSpPr txBox="1"/>
            <p:nvPr/>
          </p:nvSpPr>
          <p:spPr>
            <a:xfrm>
              <a:off x="4182409" y="4666007"/>
              <a:ext cx="3827182" cy="325069"/>
            </a:xfrm>
            <a:prstGeom prst="rect">
              <a:avLst/>
            </a:prstGeom>
            <a:noFill/>
            <a:ln>
              <a:noFill/>
            </a:ln>
          </p:spPr>
          <p:txBody>
            <a:bodyPr wrap="none" lIns="0" tIns="0" rIns="0" bIns="0" anchor="t" anchorCtr="0">
              <a:spAutoFit/>
            </a:bodyPr>
            <a:lstStyle/>
            <a:p>
              <a:pPr algn="ctr"/>
              <a:r>
                <a:rPr lang="zh-CN" sz="1600" dirty="0">
                  <a:solidFill>
                    <a:srgbClr val="FFFFFF"/>
                  </a:solidFill>
                  <a:latin typeface="Arial"/>
                  <a:ea typeface="Microsoft YaHei"/>
                  <a:cs typeface="Arial"/>
                </a:rPr>
                <a:t>联系方式：金耀辉 · jinyh@sjtu.edu.cn</a:t>
              </a:r>
            </a:p>
          </p:txBody>
        </p:sp>
        <p:sp>
          <p:nvSpPr>
            <p:cNvPr id="18" name="TextBox 18"/>
            <p:cNvSpPr txBox="1"/>
            <p:nvPr/>
          </p:nvSpPr>
          <p:spPr>
            <a:xfrm>
              <a:off x="4097078" y="5047007"/>
              <a:ext cx="3997843" cy="325069"/>
            </a:xfrm>
            <a:prstGeom prst="rect">
              <a:avLst/>
            </a:prstGeom>
            <a:noFill/>
            <a:ln>
              <a:noFill/>
            </a:ln>
          </p:spPr>
          <p:txBody>
            <a:bodyPr wrap="none" lIns="0" tIns="0" rIns="0" bIns="0" anchor="t" anchorCtr="0">
              <a:spAutoFit/>
            </a:bodyPr>
            <a:lstStyle/>
            <a:p>
              <a:pPr algn="ctr"/>
              <a:r>
                <a:rPr lang="zh-CN" sz="1600" dirty="0">
                  <a:solidFill>
                    <a:srgbClr val="FFFFFF"/>
                  </a:solidFill>
                  <a:latin typeface="Arial"/>
                  <a:ea typeface="Microsoft YaHei"/>
                  <a:cs typeface="Arial"/>
                </a:rPr>
                <a:t>项目地址：github.com/jinyh/SocialEval</a:t>
              </a:r>
            </a:p>
          </p:txBody>
        </p:sp>
      </p:grpSp>
      <p:grpSp>
        <p:nvGrpSpPr>
          <p:cNvPr id="23" name="Group 23"/>
          <p:cNvGrpSpPr/>
          <p:nvPr/>
        </p:nvGrpSpPr>
        <p:grpSpPr>
          <a:xfrm>
            <a:off x="0" y="6516343"/>
            <a:ext cx="12192000" cy="341657"/>
            <a:chOff x="0" y="6516343"/>
            <a:chExt cx="12192000" cy="341657"/>
          </a:xfrm>
        </p:grpSpPr>
        <p:sp>
          <p:nvSpPr>
            <p:cNvPr id="20" name="Rectangle 20"/>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21" name="TextBox 21"/>
            <p:cNvSpPr txBox="1"/>
            <p:nvPr/>
          </p:nvSpPr>
          <p:spPr>
            <a:xfrm>
              <a:off x="668017" y="6516343"/>
              <a:ext cx="345260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中国法学自主知识体系创新 · AI 辅助评价</a:t>
              </a:r>
            </a:p>
          </p:txBody>
        </p:sp>
        <p:sp>
          <p:nvSpPr>
            <p:cNvPr id="22" name="TextBox 22"/>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34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5226098"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附录 A1：评分公式与五轴资格</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431414" y="953743"/>
            <a:ext cx="5329173"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六维加权分是质量排序主体；五轴位置归属度是 Top50 资格门槛</a:t>
            </a:r>
          </a:p>
        </p:txBody>
      </p:sp>
      <p:sp>
        <p:nvSpPr>
          <p:cNvPr id="9" name="Rectangle 9"/>
          <p:cNvSpPr/>
          <p:nvPr/>
        </p:nvSpPr>
        <p:spPr>
          <a:xfrm>
            <a:off x="914400" y="1428750"/>
            <a:ext cx="10363200" cy="876300"/>
          </a:xfrm>
          <a:prstGeom prst="roundRect">
            <a:avLst>
              <a:gd name="adj" fmla="val 10870"/>
            </a:avLst>
          </a:prstGeom>
          <a:solidFill>
            <a:srgbClr val="F4F5F7"/>
          </a:solidFill>
          <a:ln w="11430">
            <a:solidFill>
              <a:srgbClr val="D9DEE5"/>
            </a:solidFill>
          </a:ln>
        </p:spPr>
      </p:sp>
      <p:sp>
        <p:nvSpPr>
          <p:cNvPr id="10" name="TextBox 10"/>
          <p:cNvSpPr txBox="1"/>
          <p:nvPr/>
        </p:nvSpPr>
        <p:spPr>
          <a:xfrm>
            <a:off x="1194435" y="1580198"/>
            <a:ext cx="1551218" cy="396240"/>
          </a:xfrm>
          <a:prstGeom prst="rect">
            <a:avLst/>
          </a:prstGeom>
          <a:noFill/>
          <a:ln>
            <a:noFill/>
          </a:ln>
        </p:spPr>
        <p:txBody>
          <a:bodyPr wrap="none" lIns="0" tIns="0" rIns="0" bIns="0" anchor="t" anchorCtr="0">
            <a:spAutoFit/>
          </a:bodyPr>
          <a:lstStyle/>
          <a:p>
            <a:pPr algn="l"/>
            <a:r>
              <a:rPr lang="zh-CN" sz="1950" b="1" dirty="0">
                <a:solidFill>
                  <a:srgbClr val="C8161E"/>
                </a:solidFill>
                <a:latin typeface="Arial"/>
                <a:ea typeface="Microsoft YaHei"/>
                <a:cs typeface="Arial"/>
              </a:rPr>
              <a:t>base_score</a:t>
            </a:r>
          </a:p>
        </p:txBody>
      </p:sp>
      <p:sp>
        <p:nvSpPr>
          <p:cNvPr id="11" name="TextBox 11"/>
          <p:cNvSpPr txBox="1"/>
          <p:nvPr/>
        </p:nvSpPr>
        <p:spPr>
          <a:xfrm>
            <a:off x="2761298" y="1620679"/>
            <a:ext cx="8144393" cy="320040"/>
          </a:xfrm>
          <a:prstGeom prst="rect">
            <a:avLst/>
          </a:prstGeom>
          <a:noFill/>
          <a:ln>
            <a:noFill/>
          </a:ln>
        </p:spPr>
        <p:txBody>
          <a:bodyPr wrap="none" lIns="0" tIns="0" rIns="0" bIns="0" anchor="t" anchorCtr="0">
            <a:spAutoFit/>
          </a:bodyPr>
          <a:lstStyle/>
          <a:p>
            <a:pPr algn="l"/>
            <a:r>
              <a:rPr lang="zh-CN" sz="1575" b="1" dirty="0">
                <a:solidFill>
                  <a:srgbClr val="1B1C21"/>
                </a:solidFill>
                <a:latin typeface="Arial"/>
                <a:ea typeface="Microsoft YaHei"/>
                <a:cs typeface="Arial"/>
              </a:rPr>
              <a:t>= 创新性×30% + 洞察度×20% + 建构力×15% + 连贯性×20% + 共识度×10% + 延展性×5%</a:t>
            </a:r>
          </a:p>
        </p:txBody>
      </p:sp>
      <p:sp>
        <p:nvSpPr>
          <p:cNvPr id="12" name="Rectangle 12"/>
          <p:cNvSpPr/>
          <p:nvPr/>
        </p:nvSpPr>
        <p:spPr>
          <a:xfrm>
            <a:off x="914400" y="2724150"/>
            <a:ext cx="4762500" cy="2381250"/>
          </a:xfrm>
          <a:prstGeom prst="roundRect">
            <a:avLst>
              <a:gd name="adj" fmla="val 4000"/>
            </a:avLst>
          </a:prstGeom>
          <a:solidFill>
            <a:srgbClr val="FFFFFF"/>
          </a:solidFill>
          <a:ln w="11430">
            <a:solidFill>
              <a:srgbClr val="D9DEE5"/>
            </a:solidFill>
          </a:ln>
        </p:spPr>
      </p:sp>
      <p:sp>
        <p:nvSpPr>
          <p:cNvPr id="13" name="TextBox 13"/>
          <p:cNvSpPr txBox="1"/>
          <p:nvPr/>
        </p:nvSpPr>
        <p:spPr>
          <a:xfrm>
            <a:off x="1195388" y="2940844"/>
            <a:ext cx="1360289" cy="381000"/>
          </a:xfrm>
          <a:prstGeom prst="rect">
            <a:avLst/>
          </a:prstGeom>
          <a:noFill/>
          <a:ln>
            <a:noFill/>
          </a:ln>
        </p:spPr>
        <p:txBody>
          <a:bodyPr wrap="none" lIns="0" tIns="0" rIns="0" bIns="0" anchor="t" anchorCtr="0">
            <a:spAutoFit/>
          </a:bodyPr>
          <a:lstStyle/>
          <a:p>
            <a:pPr algn="l"/>
            <a:r>
              <a:rPr lang="zh-CN" sz="1875" b="1" dirty="0">
                <a:solidFill>
                  <a:srgbClr val="1F4D78"/>
                </a:solidFill>
                <a:latin typeface="Arial"/>
                <a:ea typeface="Microsoft YaHei"/>
                <a:cs typeface="Arial"/>
              </a:rPr>
              <a:t>六维质量分</a:t>
            </a:r>
          </a:p>
        </p:txBody>
      </p:sp>
      <p:sp>
        <p:nvSpPr>
          <p:cNvPr id="14" name="Ellipse 14"/>
          <p:cNvSpPr/>
          <p:nvPr/>
        </p:nvSpPr>
        <p:spPr>
          <a:xfrm>
            <a:off x="1219200" y="3524250"/>
            <a:ext cx="76200" cy="76200"/>
          </a:xfrm>
          <a:prstGeom prst="ellipse">
            <a:avLst/>
          </a:prstGeom>
          <a:solidFill>
            <a:srgbClr val="C8161E"/>
          </a:solidFill>
          <a:ln>
            <a:noFill/>
          </a:ln>
        </p:spPr>
      </p:sp>
      <p:sp>
        <p:nvSpPr>
          <p:cNvPr id="15" name="TextBox 15"/>
          <p:cNvSpPr txBox="1"/>
          <p:nvPr/>
        </p:nvSpPr>
        <p:spPr>
          <a:xfrm>
            <a:off x="1410967" y="3468343"/>
            <a:ext cx="2052178"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0–100 分，构成总分主体</a:t>
            </a:r>
          </a:p>
        </p:txBody>
      </p:sp>
      <p:sp>
        <p:nvSpPr>
          <p:cNvPr id="16" name="Ellipse 16"/>
          <p:cNvSpPr/>
          <p:nvPr/>
        </p:nvSpPr>
        <p:spPr>
          <a:xfrm>
            <a:off x="1219200" y="3886200"/>
            <a:ext cx="76200" cy="76200"/>
          </a:xfrm>
          <a:prstGeom prst="ellipse">
            <a:avLst/>
          </a:prstGeom>
          <a:solidFill>
            <a:srgbClr val="C8161E"/>
          </a:solidFill>
          <a:ln>
            <a:noFill/>
          </a:ln>
        </p:spPr>
      </p:sp>
      <p:sp>
        <p:nvSpPr>
          <p:cNvPr id="17" name="TextBox 17"/>
          <p:cNvSpPr txBox="1"/>
          <p:nvPr/>
        </p:nvSpPr>
        <p:spPr>
          <a:xfrm>
            <a:off x="1410967" y="3830293"/>
            <a:ext cx="208952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用于候选池与学科内排序</a:t>
            </a:r>
          </a:p>
        </p:txBody>
      </p:sp>
      <p:sp>
        <p:nvSpPr>
          <p:cNvPr id="18" name="Ellipse 18"/>
          <p:cNvSpPr/>
          <p:nvPr/>
        </p:nvSpPr>
        <p:spPr>
          <a:xfrm>
            <a:off x="1219200" y="4248150"/>
            <a:ext cx="76200" cy="76200"/>
          </a:xfrm>
          <a:prstGeom prst="ellipse">
            <a:avLst/>
          </a:prstGeom>
          <a:solidFill>
            <a:srgbClr val="C8161E"/>
          </a:solidFill>
          <a:ln>
            <a:noFill/>
          </a:ln>
        </p:spPr>
      </p:sp>
      <p:sp>
        <p:nvSpPr>
          <p:cNvPr id="19" name="TextBox 19"/>
          <p:cNvSpPr txBox="1"/>
          <p:nvPr/>
        </p:nvSpPr>
        <p:spPr>
          <a:xfrm>
            <a:off x="1410967" y="4192243"/>
            <a:ext cx="2509651"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高 std 维度保留专家复核线索</a:t>
            </a:r>
          </a:p>
        </p:txBody>
      </p:sp>
      <p:sp>
        <p:nvSpPr>
          <p:cNvPr id="20" name="Ellipse 20"/>
          <p:cNvSpPr/>
          <p:nvPr/>
        </p:nvSpPr>
        <p:spPr>
          <a:xfrm>
            <a:off x="1219200" y="4610100"/>
            <a:ext cx="76200" cy="76200"/>
          </a:xfrm>
          <a:prstGeom prst="ellipse">
            <a:avLst/>
          </a:prstGeom>
          <a:solidFill>
            <a:srgbClr val="C8161E"/>
          </a:solidFill>
          <a:ln>
            <a:noFill/>
          </a:ln>
        </p:spPr>
      </p:sp>
      <p:sp>
        <p:nvSpPr>
          <p:cNvPr id="21" name="TextBox 21"/>
          <p:cNvSpPr txBox="1"/>
          <p:nvPr/>
        </p:nvSpPr>
        <p:spPr>
          <a:xfrm>
            <a:off x="1410967" y="4554193"/>
            <a:ext cx="190280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不被五轴分直接加减分</a:t>
            </a:r>
          </a:p>
        </p:txBody>
      </p:sp>
      <p:sp>
        <p:nvSpPr>
          <p:cNvPr id="22" name="Rectangle 22"/>
          <p:cNvSpPr/>
          <p:nvPr/>
        </p:nvSpPr>
        <p:spPr>
          <a:xfrm>
            <a:off x="6515100" y="2724150"/>
            <a:ext cx="4762500" cy="2381250"/>
          </a:xfrm>
          <a:prstGeom prst="roundRect">
            <a:avLst>
              <a:gd name="adj" fmla="val 4000"/>
            </a:avLst>
          </a:prstGeom>
          <a:solidFill>
            <a:srgbClr val="FFFFFF"/>
          </a:solidFill>
          <a:ln w="11430">
            <a:solidFill>
              <a:srgbClr val="D9DEE5"/>
            </a:solidFill>
          </a:ln>
        </p:spPr>
      </p:sp>
      <p:sp>
        <p:nvSpPr>
          <p:cNvPr id="23" name="TextBox 23"/>
          <p:cNvSpPr txBox="1"/>
          <p:nvPr/>
        </p:nvSpPr>
        <p:spPr>
          <a:xfrm>
            <a:off x="6796088" y="2940844"/>
            <a:ext cx="1885355" cy="381000"/>
          </a:xfrm>
          <a:prstGeom prst="rect">
            <a:avLst/>
          </a:prstGeom>
          <a:noFill/>
          <a:ln>
            <a:noFill/>
          </a:ln>
        </p:spPr>
        <p:txBody>
          <a:bodyPr wrap="none" lIns="0" tIns="0" rIns="0" bIns="0" anchor="t" anchorCtr="0">
            <a:spAutoFit/>
          </a:bodyPr>
          <a:lstStyle/>
          <a:p>
            <a:pPr algn="l"/>
            <a:r>
              <a:rPr lang="zh-CN" sz="1875" b="1" dirty="0">
                <a:solidFill>
                  <a:srgbClr val="C8161E"/>
                </a:solidFill>
                <a:latin typeface="Arial"/>
                <a:ea typeface="Microsoft YaHei"/>
                <a:cs typeface="Arial"/>
              </a:rPr>
              <a:t>五轴位置归属度</a:t>
            </a:r>
          </a:p>
        </p:txBody>
      </p:sp>
      <p:sp>
        <p:nvSpPr>
          <p:cNvPr id="24" name="Ellipse 24"/>
          <p:cNvSpPr/>
          <p:nvPr/>
        </p:nvSpPr>
        <p:spPr>
          <a:xfrm>
            <a:off x="6819900" y="3524250"/>
            <a:ext cx="76200" cy="76200"/>
          </a:xfrm>
          <a:prstGeom prst="ellipse">
            <a:avLst/>
          </a:prstGeom>
          <a:solidFill>
            <a:srgbClr val="1F4D78"/>
          </a:solidFill>
          <a:ln>
            <a:noFill/>
          </a:ln>
        </p:spPr>
      </p:sp>
      <p:sp>
        <p:nvSpPr>
          <p:cNvPr id="25" name="TextBox 25"/>
          <p:cNvSpPr txBox="1"/>
          <p:nvPr/>
        </p:nvSpPr>
        <p:spPr>
          <a:xfrm>
            <a:off x="7011667" y="3468343"/>
            <a:ext cx="191213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0–10 分，五轴各 0/1/2</a:t>
            </a:r>
          </a:p>
        </p:txBody>
      </p:sp>
      <p:sp>
        <p:nvSpPr>
          <p:cNvPr id="26" name="Ellipse 26"/>
          <p:cNvSpPr/>
          <p:nvPr/>
        </p:nvSpPr>
        <p:spPr>
          <a:xfrm>
            <a:off x="6819900" y="3886200"/>
            <a:ext cx="76200" cy="76200"/>
          </a:xfrm>
          <a:prstGeom prst="ellipse">
            <a:avLst/>
          </a:prstGeom>
          <a:solidFill>
            <a:srgbClr val="1F4D78"/>
          </a:solidFill>
          <a:ln>
            <a:noFill/>
          </a:ln>
        </p:spPr>
      </p:sp>
      <p:sp>
        <p:nvSpPr>
          <p:cNvPr id="27" name="TextBox 27"/>
          <p:cNvSpPr txBox="1"/>
          <p:nvPr/>
        </p:nvSpPr>
        <p:spPr>
          <a:xfrm>
            <a:off x="7011667" y="3830293"/>
            <a:ext cx="227624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回答能否纳入自主知识体系</a:t>
            </a:r>
          </a:p>
        </p:txBody>
      </p:sp>
      <p:sp>
        <p:nvSpPr>
          <p:cNvPr id="28" name="Ellipse 28"/>
          <p:cNvSpPr/>
          <p:nvPr/>
        </p:nvSpPr>
        <p:spPr>
          <a:xfrm>
            <a:off x="6819900" y="4248150"/>
            <a:ext cx="76200" cy="76200"/>
          </a:xfrm>
          <a:prstGeom prst="ellipse">
            <a:avLst/>
          </a:prstGeom>
          <a:solidFill>
            <a:srgbClr val="1F4D78"/>
          </a:solidFill>
          <a:ln>
            <a:noFill/>
          </a:ln>
        </p:spPr>
      </p:sp>
      <p:sp>
        <p:nvSpPr>
          <p:cNvPr id="29" name="TextBox 29"/>
          <p:cNvSpPr txBox="1"/>
          <p:nvPr/>
        </p:nvSpPr>
        <p:spPr>
          <a:xfrm>
            <a:off x="7011667" y="4192243"/>
            <a:ext cx="1996161"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10 分为 Top50 主资格池</a:t>
            </a:r>
          </a:p>
        </p:txBody>
      </p:sp>
      <p:sp>
        <p:nvSpPr>
          <p:cNvPr id="30" name="Ellipse 30"/>
          <p:cNvSpPr/>
          <p:nvPr/>
        </p:nvSpPr>
        <p:spPr>
          <a:xfrm>
            <a:off x="6819900" y="4610100"/>
            <a:ext cx="76200" cy="76200"/>
          </a:xfrm>
          <a:prstGeom prst="ellipse">
            <a:avLst/>
          </a:prstGeom>
          <a:solidFill>
            <a:srgbClr val="1F4D78"/>
          </a:solidFill>
          <a:ln>
            <a:noFill/>
          </a:ln>
        </p:spPr>
      </p:sp>
      <p:sp>
        <p:nvSpPr>
          <p:cNvPr id="31" name="TextBox 31"/>
          <p:cNvSpPr txBox="1"/>
          <p:nvPr/>
        </p:nvSpPr>
        <p:spPr>
          <a:xfrm>
            <a:off x="7011667" y="4554193"/>
            <a:ext cx="315384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9 分只作配额补足，8 分及以下不入选</a:t>
            </a:r>
          </a:p>
        </p:txBody>
      </p:sp>
      <p:sp>
        <p:nvSpPr>
          <p:cNvPr id="32" name="Rectangle 32"/>
          <p:cNvSpPr/>
          <p:nvPr/>
        </p:nvSpPr>
        <p:spPr>
          <a:xfrm>
            <a:off x="914400" y="5543550"/>
            <a:ext cx="10363200" cy="533400"/>
          </a:xfrm>
          <a:prstGeom prst="roundRect">
            <a:avLst>
              <a:gd name="adj" fmla="val 14286"/>
            </a:avLst>
          </a:prstGeom>
          <a:solidFill>
            <a:srgbClr val="F0F7FF"/>
          </a:solidFill>
          <a:ln w="9525">
            <a:solidFill>
              <a:srgbClr val="D9DEE5"/>
            </a:solidFill>
          </a:ln>
        </p:spPr>
      </p:sp>
      <p:sp>
        <p:nvSpPr>
          <p:cNvPr id="33" name="TextBox 33"/>
          <p:cNvSpPr txBox="1"/>
          <p:nvPr/>
        </p:nvSpPr>
        <p:spPr>
          <a:xfrm>
            <a:off x="2000179" y="5725768"/>
            <a:ext cx="8191642" cy="284531"/>
          </a:xfrm>
          <a:prstGeom prst="rect">
            <a:avLst/>
          </a:prstGeom>
          <a:noFill/>
          <a:ln>
            <a:noFill/>
          </a:ln>
        </p:spPr>
        <p:txBody>
          <a:bodyPr wrap="none" lIns="0" tIns="0" rIns="0" bIns="0" anchor="t" anchorCtr="0">
            <a:spAutoFit/>
          </a:bodyPr>
          <a:lstStyle/>
          <a:p>
            <a:pPr algn="ctr"/>
            <a:r>
              <a:rPr lang="zh-CN" sz="1400" b="1" dirty="0">
                <a:solidFill>
                  <a:srgbClr val="1B1C21"/>
                </a:solidFill>
                <a:latin typeface="Arial"/>
                <a:ea typeface="Microsoft YaHei"/>
                <a:cs typeface="Arial"/>
              </a:rPr>
              <a:t>最终展示名单 = 五轴资格过滤 + 全库学科比例配额 + 学科内六维加权分排序 + 专家复核说明。</a:t>
            </a:r>
          </a:p>
        </p:txBody>
      </p:sp>
      <p:grpSp>
        <p:nvGrpSpPr>
          <p:cNvPr id="37" name="Group 37"/>
          <p:cNvGrpSpPr/>
          <p:nvPr/>
        </p:nvGrpSpPr>
        <p:grpSpPr>
          <a:xfrm>
            <a:off x="0" y="6516343"/>
            <a:ext cx="12192000" cy="341657"/>
            <a:chOff x="0" y="6516343"/>
            <a:chExt cx="12192000" cy="341657"/>
          </a:xfrm>
        </p:grpSpPr>
        <p:sp>
          <p:nvSpPr>
            <p:cNvPr id="34" name="Rectangle 34"/>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35" name="TextBox 35"/>
            <p:cNvSpPr txBox="1"/>
            <p:nvPr/>
          </p:nvSpPr>
          <p:spPr>
            <a:xfrm>
              <a:off x="668017" y="6516343"/>
              <a:ext cx="1342630"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附录：评分公式</a:t>
              </a:r>
            </a:p>
          </p:txBody>
        </p:sp>
        <p:sp>
          <p:nvSpPr>
            <p:cNvPr id="36" name="TextBox 36"/>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35</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5716115"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附录 A2：典型论文评审报告示例</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930898" y="1068043"/>
            <a:ext cx="4330203"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单篇报告由评分、证据、分歧和复核建议四部分构成</a:t>
            </a:r>
          </a:p>
        </p:txBody>
      </p:sp>
      <p:sp>
        <p:nvSpPr>
          <p:cNvPr id="9" name="Rectangle 9"/>
          <p:cNvSpPr/>
          <p:nvPr/>
        </p:nvSpPr>
        <p:spPr>
          <a:xfrm>
            <a:off x="685800" y="1485900"/>
            <a:ext cx="2857500" cy="4381500"/>
          </a:xfrm>
          <a:prstGeom prst="roundRect">
            <a:avLst>
              <a:gd name="adj" fmla="val 3333"/>
            </a:avLst>
          </a:prstGeom>
          <a:solidFill>
            <a:srgbClr val="F4F5F7"/>
          </a:solidFill>
          <a:ln w="9525">
            <a:solidFill>
              <a:srgbClr val="D9DEE5"/>
            </a:solidFill>
          </a:ln>
        </p:spPr>
      </p:sp>
      <p:sp>
        <p:nvSpPr>
          <p:cNvPr id="10" name="TextBox 10"/>
          <p:cNvSpPr txBox="1"/>
          <p:nvPr/>
        </p:nvSpPr>
        <p:spPr>
          <a:xfrm>
            <a:off x="894083" y="1694207"/>
            <a:ext cx="936606"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论文信息</a:t>
            </a:r>
          </a:p>
        </p:txBody>
      </p:sp>
      <p:sp>
        <p:nvSpPr>
          <p:cNvPr id="11" name="TextBox 11"/>
          <p:cNvSpPr txBox="1"/>
          <p:nvPr/>
        </p:nvSpPr>
        <p:spPr>
          <a:xfrm>
            <a:off x="896617" y="2096743"/>
            <a:ext cx="208952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题名：示例高分候选论文</a:t>
            </a:r>
          </a:p>
        </p:txBody>
      </p:sp>
      <p:sp>
        <p:nvSpPr>
          <p:cNvPr id="12" name="TextBox 12"/>
          <p:cNvSpPr txBox="1"/>
          <p:nvPr/>
        </p:nvSpPr>
        <p:spPr>
          <a:xfrm>
            <a:off x="896617" y="2401543"/>
            <a:ext cx="2304255"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刊物：法学研究 / 中国法学</a:t>
            </a:r>
          </a:p>
        </p:txBody>
      </p:sp>
      <p:sp>
        <p:nvSpPr>
          <p:cNvPr id="13" name="TextBox 13"/>
          <p:cNvSpPr txBox="1"/>
          <p:nvPr/>
        </p:nvSpPr>
        <p:spPr>
          <a:xfrm>
            <a:off x="896617" y="2706343"/>
            <a:ext cx="152935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年份：近十年样本</a:t>
            </a:r>
          </a:p>
        </p:txBody>
      </p:sp>
      <p:sp>
        <p:nvSpPr>
          <p:cNvPr id="14" name="TextBox 14"/>
          <p:cNvSpPr txBox="1"/>
          <p:nvPr/>
        </p:nvSpPr>
        <p:spPr>
          <a:xfrm>
            <a:off x="896617" y="3239743"/>
            <a:ext cx="969183"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输出内容：</a:t>
            </a:r>
          </a:p>
        </p:txBody>
      </p:sp>
      <p:sp>
        <p:nvSpPr>
          <p:cNvPr id="15" name="TextBox 15"/>
          <p:cNvSpPr txBox="1"/>
          <p:nvPr/>
        </p:nvSpPr>
        <p:spPr>
          <a:xfrm>
            <a:off x="1087117" y="3544543"/>
            <a:ext cx="152935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六维均分与标准差</a:t>
            </a:r>
          </a:p>
        </p:txBody>
      </p:sp>
      <p:sp>
        <p:nvSpPr>
          <p:cNvPr id="16" name="TextBox 16"/>
          <p:cNvSpPr txBox="1"/>
          <p:nvPr/>
        </p:nvSpPr>
        <p:spPr>
          <a:xfrm>
            <a:off x="1087117" y="3830293"/>
            <a:ext cx="290177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模型 accepted / rejected points</a:t>
            </a:r>
          </a:p>
        </p:txBody>
      </p:sp>
      <p:sp>
        <p:nvSpPr>
          <p:cNvPr id="17" name="TextBox 17"/>
          <p:cNvSpPr txBox="1"/>
          <p:nvPr/>
        </p:nvSpPr>
        <p:spPr>
          <a:xfrm>
            <a:off x="1087117" y="4116043"/>
            <a:ext cx="1155906"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五轴归属证据</a:t>
            </a:r>
          </a:p>
        </p:txBody>
      </p:sp>
      <p:sp>
        <p:nvSpPr>
          <p:cNvPr id="18" name="Rectangle 18"/>
          <p:cNvSpPr/>
          <p:nvPr/>
        </p:nvSpPr>
        <p:spPr>
          <a:xfrm>
            <a:off x="3886200" y="1485900"/>
            <a:ext cx="3429000" cy="4381500"/>
          </a:xfrm>
          <a:prstGeom prst="roundRect">
            <a:avLst>
              <a:gd name="adj" fmla="val 2778"/>
            </a:avLst>
          </a:prstGeom>
          <a:solidFill>
            <a:srgbClr val="FFFFFF"/>
          </a:solidFill>
          <a:ln w="9525">
            <a:solidFill>
              <a:srgbClr val="D9DEE5"/>
            </a:solidFill>
          </a:ln>
        </p:spPr>
      </p:sp>
      <p:sp>
        <p:nvSpPr>
          <p:cNvPr id="19" name="TextBox 19"/>
          <p:cNvSpPr txBox="1"/>
          <p:nvPr/>
        </p:nvSpPr>
        <p:spPr>
          <a:xfrm>
            <a:off x="4094483" y="1694207"/>
            <a:ext cx="1384592" cy="325069"/>
          </a:xfrm>
          <a:prstGeom prst="rect">
            <a:avLst/>
          </a:prstGeom>
          <a:noFill/>
          <a:ln>
            <a:noFill/>
          </a:ln>
        </p:spPr>
        <p:txBody>
          <a:bodyPr wrap="none" lIns="0" tIns="0" rIns="0" bIns="0" anchor="t" anchorCtr="0">
            <a:spAutoFit/>
          </a:bodyPr>
          <a:lstStyle/>
          <a:p>
            <a:pPr algn="l"/>
            <a:r>
              <a:rPr lang="zh-CN" sz="1600" b="1" dirty="0">
                <a:solidFill>
                  <a:srgbClr val="C8161E"/>
                </a:solidFill>
                <a:latin typeface="Arial"/>
                <a:ea typeface="Microsoft YaHei"/>
                <a:cs typeface="Arial"/>
              </a:rPr>
              <a:t>六维评分快照</a:t>
            </a:r>
          </a:p>
        </p:txBody>
      </p:sp>
      <p:sp>
        <p:nvSpPr>
          <p:cNvPr id="20" name="TextBox 20"/>
          <p:cNvSpPr txBox="1"/>
          <p:nvPr/>
        </p:nvSpPr>
        <p:spPr>
          <a:xfrm>
            <a:off x="4097017" y="2172943"/>
            <a:ext cx="2453634"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研究创新性：88.5 / std 4.2</a:t>
            </a:r>
          </a:p>
        </p:txBody>
      </p:sp>
      <p:sp>
        <p:nvSpPr>
          <p:cNvPr id="21" name="Rectangle 21"/>
          <p:cNvSpPr/>
          <p:nvPr/>
        </p:nvSpPr>
        <p:spPr>
          <a:xfrm>
            <a:off x="4114800" y="2457450"/>
            <a:ext cx="2571750" cy="95250"/>
          </a:xfrm>
          <a:prstGeom prst="roundRect">
            <a:avLst>
              <a:gd name="adj" fmla="val 50000"/>
            </a:avLst>
          </a:prstGeom>
          <a:solidFill>
            <a:srgbClr val="F4F5F7"/>
          </a:solidFill>
          <a:ln>
            <a:noFill/>
          </a:ln>
        </p:spPr>
      </p:sp>
      <p:sp>
        <p:nvSpPr>
          <p:cNvPr id="22" name="Rectangle 22"/>
          <p:cNvSpPr/>
          <p:nvPr/>
        </p:nvSpPr>
        <p:spPr>
          <a:xfrm>
            <a:off x="4114800" y="2457450"/>
            <a:ext cx="2276475" cy="95250"/>
          </a:xfrm>
          <a:prstGeom prst="roundRect">
            <a:avLst>
              <a:gd name="adj" fmla="val 50000"/>
            </a:avLst>
          </a:prstGeom>
          <a:solidFill>
            <a:srgbClr val="C8161E"/>
          </a:solidFill>
          <a:ln>
            <a:noFill/>
          </a:ln>
        </p:spPr>
      </p:sp>
      <p:sp>
        <p:nvSpPr>
          <p:cNvPr id="23" name="TextBox 23"/>
          <p:cNvSpPr txBox="1"/>
          <p:nvPr/>
        </p:nvSpPr>
        <p:spPr>
          <a:xfrm>
            <a:off x="4097017" y="2725393"/>
            <a:ext cx="2406953"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理论建构力：86.0 / std 5.1</a:t>
            </a:r>
          </a:p>
        </p:txBody>
      </p:sp>
      <p:sp>
        <p:nvSpPr>
          <p:cNvPr id="24" name="Rectangle 24"/>
          <p:cNvSpPr/>
          <p:nvPr/>
        </p:nvSpPr>
        <p:spPr>
          <a:xfrm>
            <a:off x="4114800" y="3009900"/>
            <a:ext cx="2571750" cy="95250"/>
          </a:xfrm>
          <a:prstGeom prst="roundRect">
            <a:avLst>
              <a:gd name="adj" fmla="val 50000"/>
            </a:avLst>
          </a:prstGeom>
          <a:solidFill>
            <a:srgbClr val="F4F5F7"/>
          </a:solidFill>
          <a:ln>
            <a:noFill/>
          </a:ln>
        </p:spPr>
      </p:sp>
      <p:sp>
        <p:nvSpPr>
          <p:cNvPr id="25" name="Rectangle 25"/>
          <p:cNvSpPr/>
          <p:nvPr/>
        </p:nvSpPr>
        <p:spPr>
          <a:xfrm>
            <a:off x="4114800" y="3009900"/>
            <a:ext cx="2209800" cy="95250"/>
          </a:xfrm>
          <a:prstGeom prst="roundRect">
            <a:avLst>
              <a:gd name="adj" fmla="val 50000"/>
            </a:avLst>
          </a:prstGeom>
          <a:solidFill>
            <a:srgbClr val="1F4D78"/>
          </a:solidFill>
          <a:ln>
            <a:noFill/>
          </a:ln>
        </p:spPr>
      </p:sp>
      <p:sp>
        <p:nvSpPr>
          <p:cNvPr id="26" name="TextBox 26"/>
          <p:cNvSpPr txBox="1"/>
          <p:nvPr/>
        </p:nvSpPr>
        <p:spPr>
          <a:xfrm>
            <a:off x="4097017" y="3277843"/>
            <a:ext cx="2453634"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逻辑连贯性：90.2 / std 3.0</a:t>
            </a:r>
          </a:p>
        </p:txBody>
      </p:sp>
      <p:sp>
        <p:nvSpPr>
          <p:cNvPr id="27" name="Rectangle 27"/>
          <p:cNvSpPr/>
          <p:nvPr/>
        </p:nvSpPr>
        <p:spPr>
          <a:xfrm>
            <a:off x="4114800" y="3562350"/>
            <a:ext cx="2571750" cy="95250"/>
          </a:xfrm>
          <a:prstGeom prst="roundRect">
            <a:avLst>
              <a:gd name="adj" fmla="val 50000"/>
            </a:avLst>
          </a:prstGeom>
          <a:solidFill>
            <a:srgbClr val="F4F5F7"/>
          </a:solidFill>
          <a:ln>
            <a:noFill/>
          </a:ln>
        </p:spPr>
      </p:sp>
      <p:sp>
        <p:nvSpPr>
          <p:cNvPr id="28" name="Rectangle 28"/>
          <p:cNvSpPr/>
          <p:nvPr/>
        </p:nvSpPr>
        <p:spPr>
          <a:xfrm>
            <a:off x="4114800" y="3562350"/>
            <a:ext cx="2324100" cy="95250"/>
          </a:xfrm>
          <a:prstGeom prst="roundRect">
            <a:avLst>
              <a:gd name="adj" fmla="val 50000"/>
            </a:avLst>
          </a:prstGeom>
          <a:solidFill>
            <a:srgbClr val="2E7D32"/>
          </a:solidFill>
          <a:ln>
            <a:noFill/>
          </a:ln>
        </p:spPr>
      </p:sp>
      <p:sp>
        <p:nvSpPr>
          <p:cNvPr id="29" name="TextBox 29"/>
          <p:cNvSpPr txBox="1"/>
          <p:nvPr/>
        </p:nvSpPr>
        <p:spPr>
          <a:xfrm>
            <a:off x="4097017" y="4001743"/>
            <a:ext cx="302314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报告保留模型差异，不只给单一均值</a:t>
            </a:r>
          </a:p>
        </p:txBody>
      </p:sp>
      <p:sp>
        <p:nvSpPr>
          <p:cNvPr id="30" name="Rectangle 30"/>
          <p:cNvSpPr/>
          <p:nvPr/>
        </p:nvSpPr>
        <p:spPr>
          <a:xfrm>
            <a:off x="7658100" y="1485900"/>
            <a:ext cx="3848100" cy="4381500"/>
          </a:xfrm>
          <a:prstGeom prst="roundRect">
            <a:avLst>
              <a:gd name="adj" fmla="val 2475"/>
            </a:avLst>
          </a:prstGeom>
          <a:solidFill>
            <a:srgbClr val="FFFFFF"/>
          </a:solidFill>
          <a:ln w="9525">
            <a:solidFill>
              <a:srgbClr val="D9DEE5"/>
            </a:solidFill>
          </a:ln>
        </p:spPr>
      </p:sp>
      <p:sp>
        <p:nvSpPr>
          <p:cNvPr id="31" name="TextBox 31"/>
          <p:cNvSpPr txBox="1"/>
          <p:nvPr/>
        </p:nvSpPr>
        <p:spPr>
          <a:xfrm>
            <a:off x="7866383" y="1694207"/>
            <a:ext cx="1384592"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专家复核入口</a:t>
            </a:r>
          </a:p>
        </p:txBody>
      </p:sp>
      <p:sp>
        <p:nvSpPr>
          <p:cNvPr id="32" name="TextBox 32"/>
          <p:cNvSpPr txBox="1"/>
          <p:nvPr/>
        </p:nvSpPr>
        <p:spPr>
          <a:xfrm>
            <a:off x="7868917" y="2172943"/>
            <a:ext cx="2397617"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触发条件：任一维度 std &gt; 8</a:t>
            </a:r>
          </a:p>
        </p:txBody>
      </p:sp>
      <p:sp>
        <p:nvSpPr>
          <p:cNvPr id="33" name="TextBox 33"/>
          <p:cNvSpPr txBox="1"/>
          <p:nvPr/>
        </p:nvSpPr>
        <p:spPr>
          <a:xfrm>
            <a:off x="7868917" y="2515843"/>
            <a:ext cx="2677702"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复核材料：原文证据 + 模型分歧</a:t>
            </a:r>
          </a:p>
        </p:txBody>
      </p:sp>
      <p:sp>
        <p:nvSpPr>
          <p:cNvPr id="34" name="TextBox 34"/>
          <p:cNvSpPr txBox="1"/>
          <p:nvPr/>
        </p:nvSpPr>
        <p:spPr>
          <a:xfrm>
            <a:off x="7868917" y="2858743"/>
            <a:ext cx="2462970"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处理方式：专家评分并列存储</a:t>
            </a:r>
          </a:p>
        </p:txBody>
      </p:sp>
      <p:sp>
        <p:nvSpPr>
          <p:cNvPr id="35" name="Rectangle 35"/>
          <p:cNvSpPr/>
          <p:nvPr/>
        </p:nvSpPr>
        <p:spPr>
          <a:xfrm>
            <a:off x="7886700" y="3524250"/>
            <a:ext cx="3238500" cy="685800"/>
          </a:xfrm>
          <a:prstGeom prst="roundRect">
            <a:avLst>
              <a:gd name="adj" fmla="val 11111"/>
            </a:avLst>
          </a:prstGeom>
          <a:solidFill>
            <a:srgbClr val="C8161E">
              <a:alpha val="8000"/>
            </a:srgbClr>
          </a:solidFill>
          <a:ln w="9525">
            <a:solidFill>
              <a:srgbClr val="C8161E"/>
            </a:solidFill>
          </a:ln>
        </p:spPr>
      </p:sp>
      <p:sp>
        <p:nvSpPr>
          <p:cNvPr id="36" name="TextBox 36"/>
          <p:cNvSpPr txBox="1"/>
          <p:nvPr/>
        </p:nvSpPr>
        <p:spPr>
          <a:xfrm>
            <a:off x="8097517" y="3677893"/>
            <a:ext cx="2800005" cy="284531"/>
          </a:xfrm>
          <a:prstGeom prst="rect">
            <a:avLst/>
          </a:prstGeom>
          <a:noFill/>
          <a:ln>
            <a:noFill/>
          </a:ln>
        </p:spPr>
        <p:txBody>
          <a:bodyPr wrap="none" lIns="0" tIns="0" rIns="0" bIns="0" anchor="t" anchorCtr="0">
            <a:spAutoFit/>
          </a:bodyPr>
          <a:lstStyle/>
          <a:p>
            <a:pPr algn="l"/>
            <a:r>
              <a:rPr lang="zh-CN" sz="1400" b="1" dirty="0">
                <a:solidFill>
                  <a:srgbClr val="C8161E"/>
                </a:solidFill>
                <a:latin typeface="Arial"/>
                <a:ea typeface="Microsoft YaHei"/>
                <a:cs typeface="Arial"/>
              </a:rPr>
              <a:t>目标：让专家看见"为什么分歧"</a:t>
            </a:r>
          </a:p>
        </p:txBody>
      </p:sp>
      <p:sp>
        <p:nvSpPr>
          <p:cNvPr id="37" name="TextBox 37"/>
          <p:cNvSpPr txBox="1"/>
          <p:nvPr/>
        </p:nvSpPr>
        <p:spPr>
          <a:xfrm>
            <a:off x="8100060" y="3966210"/>
            <a:ext cx="227076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而不是只看一个难以解释的总分</a:t>
            </a:r>
          </a:p>
        </p:txBody>
      </p:sp>
      <p:grpSp>
        <p:nvGrpSpPr>
          <p:cNvPr id="41" name="Group 41"/>
          <p:cNvGrpSpPr/>
          <p:nvPr/>
        </p:nvGrpSpPr>
        <p:grpSpPr>
          <a:xfrm>
            <a:off x="0" y="6516343"/>
            <a:ext cx="12192000" cy="341657"/>
            <a:chOff x="0" y="6516343"/>
            <a:chExt cx="12192000" cy="341657"/>
          </a:xfrm>
        </p:grpSpPr>
        <p:sp>
          <p:nvSpPr>
            <p:cNvPr id="38" name="Rectangle 38"/>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39" name="TextBox 39"/>
            <p:cNvSpPr txBox="1"/>
            <p:nvPr/>
          </p:nvSpPr>
          <p:spPr>
            <a:xfrm>
              <a:off x="668017" y="6516343"/>
              <a:ext cx="1716076"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附录：典型评审报告</a:t>
              </a:r>
            </a:p>
          </p:txBody>
        </p:sp>
        <p:sp>
          <p:nvSpPr>
            <p:cNvPr id="40" name="TextBox 40"/>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36</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5716115"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附录 A3：各维度收敛率详细分析</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650813" y="1068043"/>
            <a:ext cx="4890373"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客观性越强，模型越容易收敛；高阶创新判断保留专家空间</a:t>
            </a:r>
          </a:p>
        </p:txBody>
      </p:sp>
      <p:sp>
        <p:nvSpPr>
          <p:cNvPr id="9" name="Rectangle 9"/>
          <p:cNvSpPr/>
          <p:nvPr/>
        </p:nvSpPr>
        <p:spPr>
          <a:xfrm>
            <a:off x="857250" y="1524000"/>
            <a:ext cx="4953000" cy="3619500"/>
          </a:xfrm>
          <a:prstGeom prst="roundRect">
            <a:avLst>
              <a:gd name="adj" fmla="val 3158"/>
            </a:avLst>
          </a:prstGeom>
          <a:solidFill>
            <a:srgbClr val="FFFFFF"/>
          </a:solidFill>
          <a:ln w="9525">
            <a:solidFill>
              <a:srgbClr val="D9DEE5"/>
            </a:solidFill>
          </a:ln>
        </p:spPr>
      </p:sp>
      <p:sp>
        <p:nvSpPr>
          <p:cNvPr id="10" name="TextBox 10"/>
          <p:cNvSpPr txBox="1"/>
          <p:nvPr/>
        </p:nvSpPr>
        <p:spPr>
          <a:xfrm>
            <a:off x="1117597" y="1727173"/>
            <a:ext cx="1451156" cy="406451"/>
          </a:xfrm>
          <a:prstGeom prst="rect">
            <a:avLst/>
          </a:prstGeom>
          <a:noFill/>
          <a:ln>
            <a:noFill/>
          </a:ln>
        </p:spPr>
        <p:txBody>
          <a:bodyPr wrap="none" lIns="0" tIns="0" rIns="0" bIns="0" anchor="t" anchorCtr="0">
            <a:spAutoFit/>
          </a:bodyPr>
          <a:lstStyle/>
          <a:p>
            <a:pPr algn="l"/>
            <a:r>
              <a:rPr lang="zh-CN" sz="2000" b="1" dirty="0">
                <a:solidFill>
                  <a:srgbClr val="2E7D32"/>
                </a:solidFill>
                <a:latin typeface="Arial"/>
                <a:ea typeface="Microsoft YaHei"/>
                <a:cs typeface="Arial"/>
              </a:rPr>
              <a:t>高收敛维度</a:t>
            </a:r>
          </a:p>
        </p:txBody>
      </p:sp>
      <p:sp>
        <p:nvSpPr>
          <p:cNvPr id="11" name="TextBox 11"/>
          <p:cNvSpPr txBox="1"/>
          <p:nvPr/>
        </p:nvSpPr>
        <p:spPr>
          <a:xfrm>
            <a:off x="1122683" y="2227607"/>
            <a:ext cx="1907242"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逻辑连贯性：93.2%</a:t>
            </a:r>
          </a:p>
        </p:txBody>
      </p:sp>
      <p:sp>
        <p:nvSpPr>
          <p:cNvPr id="12" name="Rectangle 12"/>
          <p:cNvSpPr/>
          <p:nvPr/>
        </p:nvSpPr>
        <p:spPr>
          <a:xfrm>
            <a:off x="1143000" y="2552700"/>
            <a:ext cx="3619500" cy="152400"/>
          </a:xfrm>
          <a:prstGeom prst="roundRect">
            <a:avLst>
              <a:gd name="adj" fmla="val 50000"/>
            </a:avLst>
          </a:prstGeom>
          <a:solidFill>
            <a:srgbClr val="F4F5F7"/>
          </a:solidFill>
          <a:ln>
            <a:noFill/>
          </a:ln>
        </p:spPr>
      </p:sp>
      <p:sp>
        <p:nvSpPr>
          <p:cNvPr id="13" name="Rectangle 13"/>
          <p:cNvSpPr/>
          <p:nvPr/>
        </p:nvSpPr>
        <p:spPr>
          <a:xfrm>
            <a:off x="1143000" y="2552700"/>
            <a:ext cx="3371850" cy="152400"/>
          </a:xfrm>
          <a:prstGeom prst="roundRect">
            <a:avLst>
              <a:gd name="adj" fmla="val 50000"/>
            </a:avLst>
          </a:prstGeom>
          <a:solidFill>
            <a:srgbClr val="2E7D32"/>
          </a:solidFill>
          <a:ln>
            <a:noFill/>
          </a:ln>
        </p:spPr>
      </p:sp>
      <p:sp>
        <p:nvSpPr>
          <p:cNvPr id="14" name="TextBox 14"/>
          <p:cNvSpPr txBox="1"/>
          <p:nvPr/>
        </p:nvSpPr>
        <p:spPr>
          <a:xfrm>
            <a:off x="1125217" y="2934943"/>
            <a:ext cx="526382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原因：文本内部一致性、论证断裂、概念混用等线索较可观察。</a:t>
            </a:r>
          </a:p>
        </p:txBody>
      </p:sp>
      <p:sp>
        <p:nvSpPr>
          <p:cNvPr id="15" name="TextBox 15"/>
          <p:cNvSpPr txBox="1"/>
          <p:nvPr/>
        </p:nvSpPr>
        <p:spPr>
          <a:xfrm>
            <a:off x="1122683" y="3408707"/>
            <a:ext cx="1800579"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前瞻延展性：81.1%</a:t>
            </a:r>
          </a:p>
        </p:txBody>
      </p:sp>
      <p:sp>
        <p:nvSpPr>
          <p:cNvPr id="16" name="Rectangle 16"/>
          <p:cNvSpPr/>
          <p:nvPr/>
        </p:nvSpPr>
        <p:spPr>
          <a:xfrm>
            <a:off x="1143000" y="3733800"/>
            <a:ext cx="3619500" cy="152400"/>
          </a:xfrm>
          <a:prstGeom prst="roundRect">
            <a:avLst>
              <a:gd name="adj" fmla="val 50000"/>
            </a:avLst>
          </a:prstGeom>
          <a:solidFill>
            <a:srgbClr val="F4F5F7"/>
          </a:solidFill>
          <a:ln>
            <a:noFill/>
          </a:ln>
        </p:spPr>
      </p:sp>
      <p:sp>
        <p:nvSpPr>
          <p:cNvPr id="17" name="Rectangle 17"/>
          <p:cNvSpPr/>
          <p:nvPr/>
        </p:nvSpPr>
        <p:spPr>
          <a:xfrm>
            <a:off x="1143000" y="3733800"/>
            <a:ext cx="2933700" cy="152400"/>
          </a:xfrm>
          <a:prstGeom prst="roundRect">
            <a:avLst>
              <a:gd name="adj" fmla="val 50000"/>
            </a:avLst>
          </a:prstGeom>
          <a:solidFill>
            <a:srgbClr val="1F4D78"/>
          </a:solidFill>
          <a:ln>
            <a:noFill/>
          </a:ln>
        </p:spPr>
      </p:sp>
      <p:sp>
        <p:nvSpPr>
          <p:cNvPr id="18" name="TextBox 18"/>
          <p:cNvSpPr txBox="1"/>
          <p:nvPr/>
        </p:nvSpPr>
        <p:spPr>
          <a:xfrm>
            <a:off x="1125217" y="4116043"/>
            <a:ext cx="470365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原因：学术影响力预判相对客观，模型间容易达成共识。</a:t>
            </a:r>
          </a:p>
        </p:txBody>
      </p:sp>
      <p:sp>
        <p:nvSpPr>
          <p:cNvPr id="19" name="Rectangle 19"/>
          <p:cNvSpPr/>
          <p:nvPr/>
        </p:nvSpPr>
        <p:spPr>
          <a:xfrm>
            <a:off x="6381750" y="1524000"/>
            <a:ext cx="4953000" cy="3619500"/>
          </a:xfrm>
          <a:prstGeom prst="roundRect">
            <a:avLst>
              <a:gd name="adj" fmla="val 3158"/>
            </a:avLst>
          </a:prstGeom>
          <a:solidFill>
            <a:srgbClr val="FFFFFF"/>
          </a:solidFill>
          <a:ln w="9525">
            <a:solidFill>
              <a:srgbClr val="D9DEE5"/>
            </a:solidFill>
          </a:ln>
        </p:spPr>
      </p:sp>
      <p:sp>
        <p:nvSpPr>
          <p:cNvPr id="20" name="TextBox 20"/>
          <p:cNvSpPr txBox="1"/>
          <p:nvPr/>
        </p:nvSpPr>
        <p:spPr>
          <a:xfrm>
            <a:off x="6642097" y="1727173"/>
            <a:ext cx="1451156" cy="406451"/>
          </a:xfrm>
          <a:prstGeom prst="rect">
            <a:avLst/>
          </a:prstGeom>
          <a:noFill/>
          <a:ln>
            <a:noFill/>
          </a:ln>
        </p:spPr>
        <p:txBody>
          <a:bodyPr wrap="none" lIns="0" tIns="0" rIns="0" bIns="0" anchor="t" anchorCtr="0">
            <a:spAutoFit/>
          </a:bodyPr>
          <a:lstStyle/>
          <a:p>
            <a:pPr algn="l"/>
            <a:r>
              <a:rPr lang="zh-CN" sz="2000" b="1" dirty="0">
                <a:solidFill>
                  <a:srgbClr val="E07B00"/>
                </a:solidFill>
                <a:latin typeface="Arial"/>
                <a:ea typeface="Microsoft YaHei"/>
                <a:cs typeface="Arial"/>
              </a:rPr>
              <a:t>低收敛维度</a:t>
            </a:r>
          </a:p>
        </p:txBody>
      </p:sp>
      <p:sp>
        <p:nvSpPr>
          <p:cNvPr id="21" name="TextBox 21"/>
          <p:cNvSpPr txBox="1"/>
          <p:nvPr/>
        </p:nvSpPr>
        <p:spPr>
          <a:xfrm>
            <a:off x="6647183" y="2227607"/>
            <a:ext cx="1907242"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研究创新性：44.8%</a:t>
            </a:r>
          </a:p>
        </p:txBody>
      </p:sp>
      <p:sp>
        <p:nvSpPr>
          <p:cNvPr id="22" name="Rectangle 22"/>
          <p:cNvSpPr/>
          <p:nvPr/>
        </p:nvSpPr>
        <p:spPr>
          <a:xfrm>
            <a:off x="6667500" y="2552700"/>
            <a:ext cx="3619500" cy="152400"/>
          </a:xfrm>
          <a:prstGeom prst="roundRect">
            <a:avLst>
              <a:gd name="adj" fmla="val 50000"/>
            </a:avLst>
          </a:prstGeom>
          <a:solidFill>
            <a:srgbClr val="F4F5F7"/>
          </a:solidFill>
          <a:ln>
            <a:noFill/>
          </a:ln>
        </p:spPr>
      </p:sp>
      <p:sp>
        <p:nvSpPr>
          <p:cNvPr id="23" name="Rectangle 23"/>
          <p:cNvSpPr/>
          <p:nvPr/>
        </p:nvSpPr>
        <p:spPr>
          <a:xfrm>
            <a:off x="6667500" y="2552700"/>
            <a:ext cx="1619250" cy="152400"/>
          </a:xfrm>
          <a:prstGeom prst="roundRect">
            <a:avLst>
              <a:gd name="adj" fmla="val 50000"/>
            </a:avLst>
          </a:prstGeom>
          <a:solidFill>
            <a:srgbClr val="E07B00"/>
          </a:solidFill>
          <a:ln>
            <a:noFill/>
          </a:ln>
        </p:spPr>
      </p:sp>
      <p:sp>
        <p:nvSpPr>
          <p:cNvPr id="24" name="TextBox 24"/>
          <p:cNvSpPr txBox="1"/>
          <p:nvPr/>
        </p:nvSpPr>
        <p:spPr>
          <a:xfrm>
            <a:off x="6649717" y="2934943"/>
            <a:ext cx="5282492"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原因：是否"真正提出可争辩理论问题"本身存在学术判断差异。</a:t>
            </a:r>
          </a:p>
        </p:txBody>
      </p:sp>
      <p:sp>
        <p:nvSpPr>
          <p:cNvPr id="25" name="TextBox 25"/>
          <p:cNvSpPr txBox="1"/>
          <p:nvPr/>
        </p:nvSpPr>
        <p:spPr>
          <a:xfrm>
            <a:off x="6647183" y="3408707"/>
            <a:ext cx="1907242"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理论建构力：56.0%</a:t>
            </a:r>
          </a:p>
        </p:txBody>
      </p:sp>
      <p:sp>
        <p:nvSpPr>
          <p:cNvPr id="26" name="Rectangle 26"/>
          <p:cNvSpPr/>
          <p:nvPr/>
        </p:nvSpPr>
        <p:spPr>
          <a:xfrm>
            <a:off x="6667500" y="3733800"/>
            <a:ext cx="3619500" cy="152400"/>
          </a:xfrm>
          <a:prstGeom prst="roundRect">
            <a:avLst>
              <a:gd name="adj" fmla="val 50000"/>
            </a:avLst>
          </a:prstGeom>
          <a:solidFill>
            <a:srgbClr val="F4F5F7"/>
          </a:solidFill>
          <a:ln>
            <a:noFill/>
          </a:ln>
        </p:spPr>
      </p:sp>
      <p:sp>
        <p:nvSpPr>
          <p:cNvPr id="27" name="Rectangle 27"/>
          <p:cNvSpPr/>
          <p:nvPr/>
        </p:nvSpPr>
        <p:spPr>
          <a:xfrm>
            <a:off x="6667500" y="3733800"/>
            <a:ext cx="2028825" cy="152400"/>
          </a:xfrm>
          <a:prstGeom prst="roundRect">
            <a:avLst>
              <a:gd name="adj" fmla="val 50000"/>
            </a:avLst>
          </a:prstGeom>
          <a:solidFill>
            <a:srgbClr val="C8161E"/>
          </a:solidFill>
          <a:ln>
            <a:noFill/>
          </a:ln>
        </p:spPr>
      </p:sp>
      <p:sp>
        <p:nvSpPr>
          <p:cNvPr id="28" name="TextBox 28"/>
          <p:cNvSpPr txBox="1"/>
          <p:nvPr/>
        </p:nvSpPr>
        <p:spPr>
          <a:xfrm>
            <a:off x="6649717" y="4116043"/>
            <a:ext cx="4731658"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原因：框架原创性评价依赖学科专业知识，AI 难以替代。</a:t>
            </a:r>
          </a:p>
        </p:txBody>
      </p:sp>
      <p:sp>
        <p:nvSpPr>
          <p:cNvPr id="29" name="TextBox 29"/>
          <p:cNvSpPr txBox="1"/>
          <p:nvPr/>
        </p:nvSpPr>
        <p:spPr>
          <a:xfrm>
            <a:off x="3275771" y="5542307"/>
            <a:ext cx="5640459"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结论：不把所有分歧压成均值，未收敛维度进入专家终审</a:t>
            </a:r>
          </a:p>
        </p:txBody>
      </p:sp>
      <p:grpSp>
        <p:nvGrpSpPr>
          <p:cNvPr id="33" name="Group 33"/>
          <p:cNvGrpSpPr/>
          <p:nvPr/>
        </p:nvGrpSpPr>
        <p:grpSpPr>
          <a:xfrm>
            <a:off x="0" y="6516343"/>
            <a:ext cx="12192000" cy="341657"/>
            <a:chOff x="0" y="6516343"/>
            <a:chExt cx="12192000" cy="341657"/>
          </a:xfrm>
        </p:grpSpPr>
        <p:sp>
          <p:nvSpPr>
            <p:cNvPr id="30" name="Rectangle 30"/>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31" name="TextBox 31"/>
            <p:cNvSpPr txBox="1"/>
            <p:nvPr/>
          </p:nvSpPr>
          <p:spPr>
            <a:xfrm>
              <a:off x="668017" y="6516343"/>
              <a:ext cx="1529353"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附录：收敛率分析</a:t>
              </a:r>
            </a:p>
          </p:txBody>
        </p:sp>
        <p:sp>
          <p:nvSpPr>
            <p:cNvPr id="32" name="TextBox 32"/>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37</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4932087"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附录 A4：与人工评审的对比</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730171" y="1068043"/>
            <a:ext cx="4731658"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AI 辅助系统解决规模化初筛问题，专家保留最终学术裁断</a:t>
            </a:r>
          </a:p>
        </p:txBody>
      </p:sp>
      <p:sp>
        <p:nvSpPr>
          <p:cNvPr id="9" name="Rectangle 9"/>
          <p:cNvSpPr/>
          <p:nvPr/>
        </p:nvSpPr>
        <p:spPr>
          <a:xfrm>
            <a:off x="914400" y="1524000"/>
            <a:ext cx="4762500" cy="3619500"/>
          </a:xfrm>
          <a:prstGeom prst="roundRect">
            <a:avLst>
              <a:gd name="adj" fmla="val 3158"/>
            </a:avLst>
          </a:prstGeom>
          <a:solidFill>
            <a:srgbClr val="F4F5F7"/>
          </a:solidFill>
          <a:ln w="9525">
            <a:solidFill>
              <a:srgbClr val="D9DEE5"/>
            </a:solidFill>
          </a:ln>
        </p:spPr>
      </p:sp>
      <p:sp>
        <p:nvSpPr>
          <p:cNvPr id="10" name="TextBox 10"/>
          <p:cNvSpPr txBox="1"/>
          <p:nvPr/>
        </p:nvSpPr>
        <p:spPr>
          <a:xfrm>
            <a:off x="1193797" y="1765273"/>
            <a:ext cx="1731226" cy="406451"/>
          </a:xfrm>
          <a:prstGeom prst="rect">
            <a:avLst/>
          </a:prstGeom>
          <a:noFill/>
          <a:ln>
            <a:noFill/>
          </a:ln>
        </p:spPr>
        <p:txBody>
          <a:bodyPr wrap="none" lIns="0" tIns="0" rIns="0" bIns="0" anchor="t" anchorCtr="0">
            <a:spAutoFit/>
          </a:bodyPr>
          <a:lstStyle/>
          <a:p>
            <a:pPr algn="l"/>
            <a:r>
              <a:rPr lang="zh-CN" sz="2000" b="1" dirty="0">
                <a:solidFill>
                  <a:srgbClr val="C8161E"/>
                </a:solidFill>
                <a:latin typeface="Arial"/>
                <a:ea typeface="Microsoft YaHei"/>
                <a:cs typeface="Arial"/>
              </a:rPr>
              <a:t>传统人工评审</a:t>
            </a:r>
          </a:p>
        </p:txBody>
      </p:sp>
      <p:sp>
        <p:nvSpPr>
          <p:cNvPr id="11" name="TextBox 11"/>
          <p:cNvSpPr txBox="1"/>
          <p:nvPr/>
        </p:nvSpPr>
        <p:spPr>
          <a:xfrm>
            <a:off x="1198883" y="2303807"/>
            <a:ext cx="3667187"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优势：学术经验深、能判断真实首创性</a:t>
            </a:r>
          </a:p>
        </p:txBody>
      </p:sp>
      <p:sp>
        <p:nvSpPr>
          <p:cNvPr id="12" name="TextBox 12"/>
          <p:cNvSpPr txBox="1"/>
          <p:nvPr/>
        </p:nvSpPr>
        <p:spPr>
          <a:xfrm>
            <a:off x="1198883" y="2684807"/>
            <a:ext cx="4424497"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限制：周期长、尺度差异大、难以覆盖 1920 篇</a:t>
            </a:r>
          </a:p>
        </p:txBody>
      </p:sp>
      <p:sp>
        <p:nvSpPr>
          <p:cNvPr id="13" name="TextBox 13"/>
          <p:cNvSpPr txBox="1"/>
          <p:nvPr/>
        </p:nvSpPr>
        <p:spPr>
          <a:xfrm>
            <a:off x="1201417" y="3354043"/>
            <a:ext cx="3209863"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适合承担：终审、价值判断、争议裁断</a:t>
            </a:r>
          </a:p>
        </p:txBody>
      </p:sp>
      <p:sp>
        <p:nvSpPr>
          <p:cNvPr id="14" name="Rectangle 14"/>
          <p:cNvSpPr/>
          <p:nvPr/>
        </p:nvSpPr>
        <p:spPr>
          <a:xfrm>
            <a:off x="6515100" y="1524000"/>
            <a:ext cx="4762500" cy="3619500"/>
          </a:xfrm>
          <a:prstGeom prst="roundRect">
            <a:avLst>
              <a:gd name="adj" fmla="val 3158"/>
            </a:avLst>
          </a:prstGeom>
          <a:solidFill>
            <a:srgbClr val="FFFFFF"/>
          </a:solidFill>
          <a:ln w="9525">
            <a:solidFill>
              <a:srgbClr val="D9DEE5"/>
            </a:solidFill>
          </a:ln>
        </p:spPr>
      </p:sp>
      <p:sp>
        <p:nvSpPr>
          <p:cNvPr id="15" name="TextBox 15"/>
          <p:cNvSpPr txBox="1"/>
          <p:nvPr/>
        </p:nvSpPr>
        <p:spPr>
          <a:xfrm>
            <a:off x="6794497" y="1765273"/>
            <a:ext cx="1493167" cy="406451"/>
          </a:xfrm>
          <a:prstGeom prst="rect">
            <a:avLst/>
          </a:prstGeom>
          <a:noFill/>
          <a:ln>
            <a:noFill/>
          </a:ln>
        </p:spPr>
        <p:txBody>
          <a:bodyPr wrap="none" lIns="0" tIns="0" rIns="0" bIns="0" anchor="t" anchorCtr="0">
            <a:spAutoFit/>
          </a:bodyPr>
          <a:lstStyle/>
          <a:p>
            <a:pPr algn="l"/>
            <a:r>
              <a:rPr lang="zh-CN" sz="2000" b="1" dirty="0">
                <a:solidFill>
                  <a:srgbClr val="1F4D78"/>
                </a:solidFill>
                <a:latin typeface="Arial"/>
                <a:ea typeface="Microsoft YaHei"/>
                <a:cs typeface="Arial"/>
              </a:rPr>
              <a:t>AI 辅助评价</a:t>
            </a:r>
          </a:p>
        </p:txBody>
      </p:sp>
      <p:sp>
        <p:nvSpPr>
          <p:cNvPr id="16" name="TextBox 16"/>
          <p:cNvSpPr txBox="1"/>
          <p:nvPr/>
        </p:nvSpPr>
        <p:spPr>
          <a:xfrm>
            <a:off x="6799583" y="2303807"/>
            <a:ext cx="4093840"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优势：可规模化、可复现、能暴露模型分歧</a:t>
            </a:r>
          </a:p>
        </p:txBody>
      </p:sp>
      <p:sp>
        <p:nvSpPr>
          <p:cNvPr id="17" name="TextBox 17"/>
          <p:cNvSpPr txBox="1"/>
          <p:nvPr/>
        </p:nvSpPr>
        <p:spPr>
          <a:xfrm>
            <a:off x="6799583" y="2684807"/>
            <a:ext cx="4093840" cy="325069"/>
          </a:xfrm>
          <a:prstGeom prst="rect">
            <a:avLst/>
          </a:prstGeom>
          <a:noFill/>
          <a:ln>
            <a:noFill/>
          </a:ln>
        </p:spPr>
        <p:txBody>
          <a:bodyPr wrap="none" lIns="0" tIns="0" rIns="0" bIns="0" anchor="t" anchorCtr="0">
            <a:spAutoFit/>
          </a:bodyPr>
          <a:lstStyle/>
          <a:p>
            <a:pPr algn="l"/>
            <a:r>
              <a:rPr lang="zh-CN" sz="1600" dirty="0">
                <a:solidFill>
                  <a:srgbClr val="1B1C21"/>
                </a:solidFill>
                <a:latin typeface="Arial"/>
                <a:ea typeface="Microsoft YaHei"/>
                <a:cs typeface="Arial"/>
              </a:rPr>
              <a:t>限制：不替代专家判断，不裁定真正首创性</a:t>
            </a:r>
          </a:p>
        </p:txBody>
      </p:sp>
      <p:sp>
        <p:nvSpPr>
          <p:cNvPr id="18" name="TextBox 18"/>
          <p:cNvSpPr txBox="1"/>
          <p:nvPr/>
        </p:nvSpPr>
        <p:spPr>
          <a:xfrm>
            <a:off x="6802117" y="3354043"/>
            <a:ext cx="3209863"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适合承担：初筛、证据整理、分歧定位</a:t>
            </a:r>
          </a:p>
        </p:txBody>
      </p:sp>
      <p:sp>
        <p:nvSpPr>
          <p:cNvPr id="19" name="Rectangle 19"/>
          <p:cNvSpPr/>
          <p:nvPr/>
        </p:nvSpPr>
        <p:spPr>
          <a:xfrm>
            <a:off x="2476500" y="5524500"/>
            <a:ext cx="7239000" cy="533400"/>
          </a:xfrm>
          <a:prstGeom prst="roundRect">
            <a:avLst>
              <a:gd name="adj" fmla="val 50000"/>
            </a:avLst>
          </a:prstGeom>
          <a:solidFill>
            <a:srgbClr val="1F4D78"/>
          </a:solidFill>
          <a:ln>
            <a:noFill/>
          </a:ln>
        </p:spPr>
      </p:sp>
      <p:sp>
        <p:nvSpPr>
          <p:cNvPr id="20" name="TextBox 20"/>
          <p:cNvSpPr txBox="1"/>
          <p:nvPr/>
        </p:nvSpPr>
        <p:spPr>
          <a:xfrm>
            <a:off x="3242172" y="5675657"/>
            <a:ext cx="5707656" cy="325069"/>
          </a:xfrm>
          <a:prstGeom prst="rect">
            <a:avLst/>
          </a:prstGeom>
          <a:noFill/>
          <a:ln>
            <a:noFill/>
          </a:ln>
        </p:spPr>
        <p:txBody>
          <a:bodyPr wrap="none" lIns="0" tIns="0" rIns="0" bIns="0" anchor="t" anchorCtr="0">
            <a:spAutoFit/>
          </a:bodyPr>
          <a:lstStyle/>
          <a:p>
            <a:pPr algn="ctr"/>
            <a:r>
              <a:rPr lang="zh-CN" sz="1600" b="1" dirty="0">
                <a:solidFill>
                  <a:srgbClr val="FFFFFF"/>
                </a:solidFill>
                <a:latin typeface="Arial"/>
                <a:ea typeface="Microsoft YaHei"/>
                <a:cs typeface="Arial"/>
              </a:rPr>
              <a:t>推荐机制：AI 初筛 + 专家终审，评分与专家意见并列留痕</a:t>
            </a:r>
          </a:p>
        </p:txBody>
      </p:sp>
      <p:grpSp>
        <p:nvGrpSpPr>
          <p:cNvPr id="24" name="Group 24"/>
          <p:cNvGrpSpPr/>
          <p:nvPr/>
        </p:nvGrpSpPr>
        <p:grpSpPr>
          <a:xfrm>
            <a:off x="0" y="6516343"/>
            <a:ext cx="12192000" cy="341657"/>
            <a:chOff x="0" y="6516343"/>
            <a:chExt cx="12192000" cy="341657"/>
          </a:xfrm>
        </p:grpSpPr>
        <p:sp>
          <p:nvSpPr>
            <p:cNvPr id="21" name="Rectangle 21"/>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22" name="TextBox 22"/>
            <p:cNvSpPr txBox="1"/>
            <p:nvPr/>
          </p:nvSpPr>
          <p:spPr>
            <a:xfrm>
              <a:off x="668017" y="6516343"/>
              <a:ext cx="1342630"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附录：人机对比</a:t>
              </a:r>
            </a:p>
          </p:txBody>
        </p:sp>
        <p:sp>
          <p:nvSpPr>
            <p:cNvPr id="23" name="TextBox 23"/>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38</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6108129"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附录 A5：补充负样本专家意见摘录</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361392" y="1068043"/>
            <a:ext cx="5469215"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负样本用于验证框架是否能识别"形式合规但学术贡献不足"的论文</a:t>
            </a:r>
          </a:p>
        </p:txBody>
      </p:sp>
      <p:sp>
        <p:nvSpPr>
          <p:cNvPr id="9" name="Rectangle 9"/>
          <p:cNvSpPr/>
          <p:nvPr/>
        </p:nvSpPr>
        <p:spPr>
          <a:xfrm>
            <a:off x="762000" y="1524000"/>
            <a:ext cx="3333750" cy="3429000"/>
          </a:xfrm>
          <a:prstGeom prst="roundRect">
            <a:avLst>
              <a:gd name="adj" fmla="val 3429"/>
            </a:avLst>
          </a:prstGeom>
          <a:solidFill>
            <a:srgbClr val="F4F5F7"/>
          </a:solidFill>
          <a:ln w="9525">
            <a:solidFill>
              <a:srgbClr val="D9DEE5"/>
            </a:solidFill>
          </a:ln>
        </p:spPr>
      </p:sp>
      <p:sp>
        <p:nvSpPr>
          <p:cNvPr id="10" name="TextBox 10"/>
          <p:cNvSpPr txBox="1"/>
          <p:nvPr/>
        </p:nvSpPr>
        <p:spPr>
          <a:xfrm>
            <a:off x="1027433" y="1751357"/>
            <a:ext cx="2280564" cy="325069"/>
          </a:xfrm>
          <a:prstGeom prst="rect">
            <a:avLst/>
          </a:prstGeom>
          <a:noFill/>
          <a:ln>
            <a:noFill/>
          </a:ln>
        </p:spPr>
        <p:txBody>
          <a:bodyPr wrap="none" lIns="0" tIns="0" rIns="0" bIns="0" anchor="t" anchorCtr="0">
            <a:spAutoFit/>
          </a:bodyPr>
          <a:lstStyle/>
          <a:p>
            <a:pPr algn="l"/>
            <a:r>
              <a:rPr lang="zh-CN" sz="1600" b="1" dirty="0">
                <a:solidFill>
                  <a:srgbClr val="C8161E"/>
                </a:solidFill>
                <a:latin typeface="Arial"/>
                <a:ea typeface="Microsoft YaHei"/>
                <a:cs typeface="Arial"/>
              </a:rPr>
              <a:t>意见类型一：洞察不足</a:t>
            </a:r>
          </a:p>
        </p:txBody>
      </p:sp>
      <p:sp>
        <p:nvSpPr>
          <p:cNvPr id="11" name="TextBox 11"/>
          <p:cNvSpPr txBox="1"/>
          <p:nvPr/>
        </p:nvSpPr>
        <p:spPr>
          <a:xfrm>
            <a:off x="1029967" y="2249143"/>
            <a:ext cx="2668365"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"仅罗列现象，未揭示制度逻辑"</a:t>
            </a:r>
          </a:p>
        </p:txBody>
      </p:sp>
      <p:sp>
        <p:nvSpPr>
          <p:cNvPr id="12" name="TextBox 12"/>
          <p:cNvSpPr txBox="1"/>
          <p:nvPr/>
        </p:nvSpPr>
        <p:spPr>
          <a:xfrm>
            <a:off x="1029967" y="2706343"/>
            <a:ext cx="190280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对应维度：现状洞察度</a:t>
            </a:r>
          </a:p>
        </p:txBody>
      </p:sp>
      <p:sp>
        <p:nvSpPr>
          <p:cNvPr id="13" name="TextBox 13"/>
          <p:cNvSpPr txBox="1"/>
          <p:nvPr/>
        </p:nvSpPr>
        <p:spPr>
          <a:xfrm>
            <a:off x="1029967" y="3087343"/>
            <a:ext cx="3237872"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AI 处理：要求定位问题背后的规范结构</a:t>
            </a:r>
          </a:p>
        </p:txBody>
      </p:sp>
      <p:sp>
        <p:nvSpPr>
          <p:cNvPr id="14" name="Rectangle 14"/>
          <p:cNvSpPr/>
          <p:nvPr/>
        </p:nvSpPr>
        <p:spPr>
          <a:xfrm>
            <a:off x="4429125" y="1524000"/>
            <a:ext cx="3333750" cy="3429000"/>
          </a:xfrm>
          <a:prstGeom prst="roundRect">
            <a:avLst>
              <a:gd name="adj" fmla="val 3429"/>
            </a:avLst>
          </a:prstGeom>
          <a:solidFill>
            <a:srgbClr val="FFFFFF"/>
          </a:solidFill>
          <a:ln w="9525">
            <a:solidFill>
              <a:srgbClr val="D9DEE5"/>
            </a:solidFill>
          </a:ln>
        </p:spPr>
      </p:sp>
      <p:sp>
        <p:nvSpPr>
          <p:cNvPr id="15" name="TextBox 15"/>
          <p:cNvSpPr txBox="1"/>
          <p:nvPr/>
        </p:nvSpPr>
        <p:spPr>
          <a:xfrm>
            <a:off x="4694558" y="1751357"/>
            <a:ext cx="2280564" cy="325069"/>
          </a:xfrm>
          <a:prstGeom prst="rect">
            <a:avLst/>
          </a:prstGeom>
          <a:noFill/>
          <a:ln>
            <a:noFill/>
          </a:ln>
        </p:spPr>
        <p:txBody>
          <a:bodyPr wrap="none" lIns="0" tIns="0" rIns="0" bIns="0" anchor="t" anchorCtr="0">
            <a:spAutoFit/>
          </a:bodyPr>
          <a:lstStyle/>
          <a:p>
            <a:pPr algn="l"/>
            <a:r>
              <a:rPr lang="zh-CN" sz="1600" b="1" dirty="0">
                <a:solidFill>
                  <a:srgbClr val="1F4D78"/>
                </a:solidFill>
                <a:latin typeface="Arial"/>
                <a:ea typeface="Microsoft YaHei"/>
                <a:cs typeface="Arial"/>
              </a:rPr>
              <a:t>意见类型二：框架不足</a:t>
            </a:r>
          </a:p>
        </p:txBody>
      </p:sp>
      <p:sp>
        <p:nvSpPr>
          <p:cNvPr id="16" name="TextBox 16"/>
          <p:cNvSpPr txBox="1"/>
          <p:nvPr/>
        </p:nvSpPr>
        <p:spPr>
          <a:xfrm>
            <a:off x="4697092" y="2249143"/>
            <a:ext cx="2108195"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"分析框架缺乏可操作性"</a:t>
            </a:r>
          </a:p>
        </p:txBody>
      </p:sp>
      <p:sp>
        <p:nvSpPr>
          <p:cNvPr id="17" name="TextBox 17"/>
          <p:cNvSpPr txBox="1"/>
          <p:nvPr/>
        </p:nvSpPr>
        <p:spPr>
          <a:xfrm>
            <a:off x="4697092" y="2706343"/>
            <a:ext cx="1902800"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对应维度：理论建构力</a:t>
            </a:r>
          </a:p>
        </p:txBody>
      </p:sp>
      <p:sp>
        <p:nvSpPr>
          <p:cNvPr id="18" name="TextBox 18"/>
          <p:cNvSpPr txBox="1"/>
          <p:nvPr/>
        </p:nvSpPr>
        <p:spPr>
          <a:xfrm>
            <a:off x="4697092" y="3087343"/>
            <a:ext cx="3798042"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AI 处理：检查概念、命题、推理链是否可复核</a:t>
            </a:r>
          </a:p>
        </p:txBody>
      </p:sp>
      <p:sp>
        <p:nvSpPr>
          <p:cNvPr id="19" name="Rectangle 19"/>
          <p:cNvSpPr/>
          <p:nvPr/>
        </p:nvSpPr>
        <p:spPr>
          <a:xfrm>
            <a:off x="8096250" y="1524000"/>
            <a:ext cx="3333750" cy="3429000"/>
          </a:xfrm>
          <a:prstGeom prst="roundRect">
            <a:avLst>
              <a:gd name="adj" fmla="val 3429"/>
            </a:avLst>
          </a:prstGeom>
          <a:solidFill>
            <a:srgbClr val="FFFFFF"/>
          </a:solidFill>
          <a:ln w="9525">
            <a:solidFill>
              <a:srgbClr val="D9DEE5"/>
            </a:solidFill>
          </a:ln>
        </p:spPr>
      </p:sp>
      <p:sp>
        <p:nvSpPr>
          <p:cNvPr id="20" name="TextBox 20"/>
          <p:cNvSpPr txBox="1"/>
          <p:nvPr/>
        </p:nvSpPr>
        <p:spPr>
          <a:xfrm>
            <a:off x="8361683" y="1751357"/>
            <a:ext cx="2280564" cy="325069"/>
          </a:xfrm>
          <a:prstGeom prst="rect">
            <a:avLst/>
          </a:prstGeom>
          <a:noFill/>
          <a:ln>
            <a:noFill/>
          </a:ln>
        </p:spPr>
        <p:txBody>
          <a:bodyPr wrap="none" lIns="0" tIns="0" rIns="0" bIns="0" anchor="t" anchorCtr="0">
            <a:spAutoFit/>
          </a:bodyPr>
          <a:lstStyle/>
          <a:p>
            <a:pPr algn="l"/>
            <a:r>
              <a:rPr lang="zh-CN" sz="1600" b="1" dirty="0">
                <a:solidFill>
                  <a:srgbClr val="E07B00"/>
                </a:solidFill>
                <a:latin typeface="Arial"/>
                <a:ea typeface="Microsoft YaHei"/>
                <a:cs typeface="Arial"/>
              </a:rPr>
              <a:t>意见类型三：结论先行</a:t>
            </a:r>
          </a:p>
        </p:txBody>
      </p:sp>
      <p:sp>
        <p:nvSpPr>
          <p:cNvPr id="21" name="TextBox 21"/>
          <p:cNvSpPr txBox="1"/>
          <p:nvPr/>
        </p:nvSpPr>
        <p:spPr>
          <a:xfrm>
            <a:off x="8364217" y="2249143"/>
            <a:ext cx="2108195" cy="284531"/>
          </a:xfrm>
          <a:prstGeom prst="rect">
            <a:avLst/>
          </a:prstGeom>
          <a:noFill/>
          <a:ln>
            <a:noFill/>
          </a:ln>
        </p:spPr>
        <p:txBody>
          <a:bodyPr wrap="none" lIns="0" tIns="0" rIns="0" bIns="0" anchor="t" anchorCtr="0">
            <a:spAutoFit/>
          </a:bodyPr>
          <a:lstStyle/>
          <a:p>
            <a:pPr algn="l"/>
            <a:r>
              <a:rPr lang="zh-CN" sz="1400" dirty="0">
                <a:solidFill>
                  <a:srgbClr val="1B1C21"/>
                </a:solidFill>
                <a:latin typeface="Arial"/>
                <a:ea typeface="Microsoft YaHei"/>
                <a:cs typeface="Arial"/>
              </a:rPr>
              <a:t>"政策宣示替代学术论证"</a:t>
            </a:r>
          </a:p>
        </p:txBody>
      </p:sp>
      <p:sp>
        <p:nvSpPr>
          <p:cNvPr id="22" name="TextBox 22"/>
          <p:cNvSpPr txBox="1"/>
          <p:nvPr/>
        </p:nvSpPr>
        <p:spPr>
          <a:xfrm>
            <a:off x="8364217" y="2706343"/>
            <a:ext cx="2864425"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对应维度：学术共识度 / 预检口径</a:t>
            </a:r>
          </a:p>
        </p:txBody>
      </p:sp>
      <p:sp>
        <p:nvSpPr>
          <p:cNvPr id="23" name="TextBox 23"/>
          <p:cNvSpPr txBox="1"/>
          <p:nvPr/>
        </p:nvSpPr>
        <p:spPr>
          <a:xfrm>
            <a:off x="8364217" y="3087343"/>
            <a:ext cx="2864425" cy="284531"/>
          </a:xfrm>
          <a:prstGeom prst="rect">
            <a:avLst/>
          </a:prstGeom>
          <a:noFill/>
          <a:ln>
            <a:noFill/>
          </a:ln>
        </p:spPr>
        <p:txBody>
          <a:bodyPr wrap="none" lIns="0" tIns="0" rIns="0" bIns="0" anchor="t" anchorCtr="0">
            <a:spAutoFit/>
          </a:bodyPr>
          <a:lstStyle/>
          <a:p>
            <a:pPr algn="l"/>
            <a:r>
              <a:rPr lang="zh-CN" sz="1400" dirty="0">
                <a:solidFill>
                  <a:srgbClr val="5A6472"/>
                </a:solidFill>
                <a:latin typeface="Arial"/>
                <a:ea typeface="Microsoft YaHei"/>
                <a:cs typeface="Arial"/>
              </a:rPr>
              <a:t>AI 处理：区分政策阐释与法学研究</a:t>
            </a:r>
          </a:p>
        </p:txBody>
      </p:sp>
      <p:sp>
        <p:nvSpPr>
          <p:cNvPr id="24" name="TextBox 24"/>
          <p:cNvSpPr txBox="1"/>
          <p:nvPr/>
        </p:nvSpPr>
        <p:spPr>
          <a:xfrm>
            <a:off x="3275771" y="5313707"/>
            <a:ext cx="5640459" cy="325069"/>
          </a:xfrm>
          <a:prstGeom prst="rect">
            <a:avLst/>
          </a:prstGeom>
          <a:noFill/>
          <a:ln>
            <a:noFill/>
          </a:ln>
        </p:spPr>
        <p:txBody>
          <a:bodyPr wrap="none" lIns="0" tIns="0" rIns="0" bIns="0" anchor="t" anchorCtr="0">
            <a:spAutoFit/>
          </a:bodyPr>
          <a:lstStyle/>
          <a:p>
            <a:pPr algn="ctr"/>
            <a:r>
              <a:rPr lang="zh-CN" sz="1600" b="1" dirty="0">
                <a:solidFill>
                  <a:srgbClr val="1F4D78"/>
                </a:solidFill>
                <a:latin typeface="Arial"/>
                <a:ea typeface="Microsoft YaHei"/>
                <a:cs typeface="Arial"/>
              </a:rPr>
              <a:t>验证结果：正样本不被误伤，部分负样本被有效拉开分差</a:t>
            </a:r>
          </a:p>
        </p:txBody>
      </p:sp>
      <p:sp>
        <p:nvSpPr>
          <p:cNvPr id="25" name="TextBox 25"/>
          <p:cNvSpPr txBox="1"/>
          <p:nvPr/>
        </p:nvSpPr>
        <p:spPr>
          <a:xfrm>
            <a:off x="4066273" y="5659093"/>
            <a:ext cx="4059454"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v2.50.2：有效识别负样本与正样本差距约 22 分</a:t>
            </a:r>
          </a:p>
        </p:txBody>
      </p:sp>
      <p:grpSp>
        <p:nvGrpSpPr>
          <p:cNvPr id="29" name="Group 29"/>
          <p:cNvGrpSpPr/>
          <p:nvPr/>
        </p:nvGrpSpPr>
        <p:grpSpPr>
          <a:xfrm>
            <a:off x="0" y="6516343"/>
            <a:ext cx="12192000" cy="341657"/>
            <a:chOff x="0" y="6516343"/>
            <a:chExt cx="12192000" cy="341657"/>
          </a:xfrm>
        </p:grpSpPr>
        <p:sp>
          <p:nvSpPr>
            <p:cNvPr id="26" name="Rectangle 26"/>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27" name="TextBox 27"/>
            <p:cNvSpPr txBox="1"/>
            <p:nvPr/>
          </p:nvSpPr>
          <p:spPr>
            <a:xfrm>
              <a:off x="668017" y="6516343"/>
              <a:ext cx="1902800"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附录：负样本专家意见</a:t>
              </a:r>
            </a:p>
          </p:txBody>
        </p:sp>
        <p:sp>
          <p:nvSpPr>
            <p:cNvPr id="28" name="TextBox 28"/>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39</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6558945"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附录 A6：选择性第 3 次评测详细数据</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sp>
        <p:nvSpPr>
          <p:cNvPr id="7" name="TextBox 7"/>
          <p:cNvSpPr txBox="1"/>
          <p:nvPr/>
        </p:nvSpPr>
        <p:spPr>
          <a:xfrm>
            <a:off x="3198009" y="953743"/>
            <a:ext cx="5795981"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45 篇论文的 63 个不稳定维度进入 E3；完整 R1+R2 约 504 次 API 调用</a:t>
            </a:r>
          </a:p>
        </p:txBody>
      </p:sp>
      <p:sp>
        <p:nvSpPr>
          <p:cNvPr id="8" name="Rectangle 8"/>
          <p:cNvSpPr/>
          <p:nvPr/>
        </p:nvSpPr>
        <p:spPr>
          <a:xfrm>
            <a:off x="685800" y="1428750"/>
            <a:ext cx="10820400" cy="800100"/>
          </a:xfrm>
          <a:prstGeom prst="roundRect">
            <a:avLst>
              <a:gd name="adj" fmla="val 9524"/>
            </a:avLst>
          </a:prstGeom>
          <a:solidFill>
            <a:srgbClr val="E8F5E9"/>
          </a:solidFill>
          <a:ln w="9525">
            <a:solidFill>
              <a:srgbClr val="2E7D32"/>
            </a:solidFill>
          </a:ln>
        </p:spPr>
      </p:sp>
      <p:sp>
        <p:nvSpPr>
          <p:cNvPr id="9" name="TextBox 9"/>
          <p:cNvSpPr txBox="1"/>
          <p:nvPr/>
        </p:nvSpPr>
        <p:spPr>
          <a:xfrm>
            <a:off x="969645" y="1574482"/>
            <a:ext cx="1197054"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Arial"/>
                <a:ea typeface="Microsoft YaHei"/>
                <a:cs typeface="Arial"/>
              </a:rPr>
              <a:t>稳定性概览</a:t>
            </a:r>
          </a:p>
        </p:txBody>
      </p:sp>
      <p:sp>
        <p:nvSpPr>
          <p:cNvPr id="10" name="TextBox 10"/>
          <p:cNvSpPr txBox="1"/>
          <p:nvPr/>
        </p:nvSpPr>
        <p:spPr>
          <a:xfrm>
            <a:off x="973455" y="1892618"/>
            <a:ext cx="6200061"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E3 R2 std≤5：47 个维度（74.6%）；仍 &gt;5：16 个维度，保留专家复核线索。</a:t>
            </a:r>
          </a:p>
        </p:txBody>
      </p:sp>
      <p:sp>
        <p:nvSpPr>
          <p:cNvPr id="11" name="TextBox 11"/>
          <p:cNvSpPr txBox="1"/>
          <p:nvPr/>
        </p:nvSpPr>
        <p:spPr>
          <a:xfrm>
            <a:off x="662940" y="2472690"/>
            <a:ext cx="3674974"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E3 后仍需专家关注的高分歧维度</a:t>
            </a:r>
          </a:p>
        </p:txBody>
      </p:sp>
      <p:sp>
        <p:nvSpPr>
          <p:cNvPr id="12" name="Rectangle 12"/>
          <p:cNvSpPr/>
          <p:nvPr/>
        </p:nvSpPr>
        <p:spPr>
          <a:xfrm>
            <a:off x="685800" y="2857500"/>
            <a:ext cx="10820400" cy="304800"/>
          </a:xfrm>
          <a:prstGeom prst="roundRect">
            <a:avLst>
              <a:gd name="adj" fmla="val 12500"/>
            </a:avLst>
          </a:prstGeom>
          <a:solidFill>
            <a:srgbClr val="1F4D78"/>
          </a:solidFill>
          <a:ln>
            <a:noFill/>
          </a:ln>
        </p:spPr>
      </p:sp>
      <p:sp>
        <p:nvSpPr>
          <p:cNvPr id="13" name="TextBox 13"/>
          <p:cNvSpPr txBox="1"/>
          <p:nvPr/>
        </p:nvSpPr>
        <p:spPr>
          <a:xfrm>
            <a:off x="931502" y="2953702"/>
            <a:ext cx="23249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PID</a:t>
            </a:r>
          </a:p>
        </p:txBody>
      </p:sp>
      <p:sp>
        <p:nvSpPr>
          <p:cNvPr id="14" name="TextBox 14"/>
          <p:cNvSpPr txBox="1"/>
          <p:nvPr/>
        </p:nvSpPr>
        <p:spPr>
          <a:xfrm>
            <a:off x="3030522" y="295370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论文</a:t>
            </a:r>
          </a:p>
        </p:txBody>
      </p:sp>
      <p:sp>
        <p:nvSpPr>
          <p:cNvPr id="15" name="TextBox 15"/>
          <p:cNvSpPr txBox="1"/>
          <p:nvPr/>
        </p:nvSpPr>
        <p:spPr>
          <a:xfrm>
            <a:off x="6078522" y="295370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领域</a:t>
            </a:r>
          </a:p>
        </p:txBody>
      </p:sp>
      <p:sp>
        <p:nvSpPr>
          <p:cNvPr id="16" name="TextBox 16"/>
          <p:cNvSpPr txBox="1"/>
          <p:nvPr/>
        </p:nvSpPr>
        <p:spPr>
          <a:xfrm>
            <a:off x="7793022" y="295370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维度</a:t>
            </a:r>
          </a:p>
        </p:txBody>
      </p:sp>
      <p:sp>
        <p:nvSpPr>
          <p:cNvPr id="17" name="TextBox 17"/>
          <p:cNvSpPr txBox="1"/>
          <p:nvPr/>
        </p:nvSpPr>
        <p:spPr>
          <a:xfrm>
            <a:off x="9565549" y="2953702"/>
            <a:ext cx="68090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E3 R2 std</a:t>
            </a:r>
          </a:p>
        </p:txBody>
      </p:sp>
      <p:sp>
        <p:nvSpPr>
          <p:cNvPr id="18" name="TextBox 18"/>
          <p:cNvSpPr txBox="1"/>
          <p:nvPr/>
        </p:nvSpPr>
        <p:spPr>
          <a:xfrm>
            <a:off x="10888647" y="295370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处理</a:t>
            </a:r>
          </a:p>
        </p:txBody>
      </p:sp>
      <p:sp>
        <p:nvSpPr>
          <p:cNvPr id="19" name="Rectangle 19"/>
          <p:cNvSpPr/>
          <p:nvPr/>
        </p:nvSpPr>
        <p:spPr>
          <a:xfrm>
            <a:off x="685800" y="3162300"/>
            <a:ext cx="10820400" cy="323850"/>
          </a:xfrm>
          <a:prstGeom prst="rect">
            <a:avLst/>
          </a:prstGeom>
          <a:solidFill>
            <a:srgbClr val="FFEBEE"/>
          </a:solidFill>
          <a:ln>
            <a:noFill/>
          </a:ln>
        </p:spPr>
      </p:sp>
      <p:sp>
        <p:nvSpPr>
          <p:cNvPr id="20" name="TextBox 20"/>
          <p:cNvSpPr txBox="1"/>
          <p:nvPr/>
        </p:nvSpPr>
        <p:spPr>
          <a:xfrm>
            <a:off x="919328" y="3266599"/>
            <a:ext cx="256844"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1510</a:t>
            </a:r>
          </a:p>
        </p:txBody>
      </p:sp>
      <p:sp>
        <p:nvSpPr>
          <p:cNvPr id="21" name="TextBox 21"/>
          <p:cNvSpPr txBox="1"/>
          <p:nvPr/>
        </p:nvSpPr>
        <p:spPr>
          <a:xfrm>
            <a:off x="1416368" y="3266599"/>
            <a:ext cx="2768108"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数字私力救济——基于远程控制网联物的权利实现</a:t>
            </a:r>
          </a:p>
        </p:txBody>
      </p:sp>
      <p:sp>
        <p:nvSpPr>
          <p:cNvPr id="22" name="TextBox 22"/>
          <p:cNvSpPr txBox="1"/>
          <p:nvPr/>
        </p:nvSpPr>
        <p:spPr>
          <a:xfrm>
            <a:off x="5953458" y="3266599"/>
            <a:ext cx="570833" cy="198120"/>
          </a:xfrm>
          <a:prstGeom prst="rect">
            <a:avLst/>
          </a:prstGeom>
          <a:noFill/>
          <a:ln>
            <a:noFill/>
          </a:ln>
        </p:spPr>
        <p:txBody>
          <a:bodyPr wrap="none" lIns="0" tIns="0" rIns="0" bIns="0" anchor="t" anchorCtr="0">
            <a:spAutoFit/>
          </a:bodyPr>
          <a:lstStyle/>
          <a:p>
            <a:pPr algn="ctr"/>
            <a:r>
              <a:rPr lang="zh-CN" sz="975" b="1" dirty="0">
                <a:solidFill>
                  <a:srgbClr val="1F4D78"/>
                </a:solidFill>
                <a:latin typeface="Arial"/>
                <a:ea typeface="Microsoft YaHei"/>
                <a:cs typeface="Arial"/>
              </a:rPr>
              <a:t>民商法学</a:t>
            </a:r>
          </a:p>
        </p:txBody>
      </p:sp>
      <p:sp>
        <p:nvSpPr>
          <p:cNvPr id="23" name="TextBox 23"/>
          <p:cNvSpPr txBox="1"/>
          <p:nvPr/>
        </p:nvSpPr>
        <p:spPr>
          <a:xfrm>
            <a:off x="7736217" y="3266599"/>
            <a:ext cx="434316"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创新性</a:t>
            </a:r>
          </a:p>
        </p:txBody>
      </p:sp>
      <p:sp>
        <p:nvSpPr>
          <p:cNvPr id="24" name="TextBox 24"/>
          <p:cNvSpPr txBox="1"/>
          <p:nvPr/>
        </p:nvSpPr>
        <p:spPr>
          <a:xfrm>
            <a:off x="9722971" y="3266599"/>
            <a:ext cx="366058"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26.17</a:t>
            </a:r>
          </a:p>
        </p:txBody>
      </p:sp>
      <p:sp>
        <p:nvSpPr>
          <p:cNvPr id="25" name="TextBox 25"/>
          <p:cNvSpPr txBox="1"/>
          <p:nvPr/>
        </p:nvSpPr>
        <p:spPr>
          <a:xfrm>
            <a:off x="10763583" y="3266599"/>
            <a:ext cx="570833"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专家复核</a:t>
            </a:r>
          </a:p>
        </p:txBody>
      </p:sp>
      <p:sp>
        <p:nvSpPr>
          <p:cNvPr id="26" name="Rectangle 26"/>
          <p:cNvSpPr/>
          <p:nvPr/>
        </p:nvSpPr>
        <p:spPr>
          <a:xfrm>
            <a:off x="685800" y="3486150"/>
            <a:ext cx="10820400" cy="323850"/>
          </a:xfrm>
          <a:prstGeom prst="rect">
            <a:avLst/>
          </a:prstGeom>
          <a:solidFill>
            <a:srgbClr val="FFEBEE"/>
          </a:solidFill>
          <a:ln>
            <a:noFill/>
          </a:ln>
        </p:spPr>
      </p:sp>
      <p:sp>
        <p:nvSpPr>
          <p:cNvPr id="27" name="TextBox 27"/>
          <p:cNvSpPr txBox="1"/>
          <p:nvPr/>
        </p:nvSpPr>
        <p:spPr>
          <a:xfrm>
            <a:off x="919328" y="3590449"/>
            <a:ext cx="256844"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1618</a:t>
            </a:r>
          </a:p>
        </p:txBody>
      </p:sp>
      <p:sp>
        <p:nvSpPr>
          <p:cNvPr id="28" name="TextBox 28"/>
          <p:cNvSpPr txBox="1"/>
          <p:nvPr/>
        </p:nvSpPr>
        <p:spPr>
          <a:xfrm>
            <a:off x="1416368" y="3590449"/>
            <a:ext cx="1584960"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涉外代理关系准据法的确定</a:t>
            </a:r>
          </a:p>
        </p:txBody>
      </p:sp>
      <p:sp>
        <p:nvSpPr>
          <p:cNvPr id="29" name="TextBox 29"/>
          <p:cNvSpPr txBox="1"/>
          <p:nvPr/>
        </p:nvSpPr>
        <p:spPr>
          <a:xfrm>
            <a:off x="5953458" y="3590449"/>
            <a:ext cx="570833" cy="198120"/>
          </a:xfrm>
          <a:prstGeom prst="rect">
            <a:avLst/>
          </a:prstGeom>
          <a:noFill/>
          <a:ln>
            <a:noFill/>
          </a:ln>
        </p:spPr>
        <p:txBody>
          <a:bodyPr wrap="none" lIns="0" tIns="0" rIns="0" bIns="0" anchor="t" anchorCtr="0">
            <a:spAutoFit/>
          </a:bodyPr>
          <a:lstStyle/>
          <a:p>
            <a:pPr algn="ctr"/>
            <a:r>
              <a:rPr lang="zh-CN" sz="975" b="1" dirty="0">
                <a:solidFill>
                  <a:srgbClr val="1F4D78"/>
                </a:solidFill>
                <a:latin typeface="Arial"/>
                <a:ea typeface="Microsoft YaHei"/>
                <a:cs typeface="Arial"/>
              </a:rPr>
              <a:t>民商法学</a:t>
            </a:r>
          </a:p>
        </p:txBody>
      </p:sp>
      <p:sp>
        <p:nvSpPr>
          <p:cNvPr id="30" name="TextBox 30"/>
          <p:cNvSpPr txBox="1"/>
          <p:nvPr/>
        </p:nvSpPr>
        <p:spPr>
          <a:xfrm>
            <a:off x="7736217" y="3590449"/>
            <a:ext cx="434316"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创新性</a:t>
            </a:r>
          </a:p>
        </p:txBody>
      </p:sp>
      <p:sp>
        <p:nvSpPr>
          <p:cNvPr id="31" name="TextBox 31"/>
          <p:cNvSpPr txBox="1"/>
          <p:nvPr/>
        </p:nvSpPr>
        <p:spPr>
          <a:xfrm>
            <a:off x="9705907" y="3590449"/>
            <a:ext cx="400187"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20.69</a:t>
            </a:r>
          </a:p>
        </p:txBody>
      </p:sp>
      <p:sp>
        <p:nvSpPr>
          <p:cNvPr id="32" name="TextBox 32"/>
          <p:cNvSpPr txBox="1"/>
          <p:nvPr/>
        </p:nvSpPr>
        <p:spPr>
          <a:xfrm>
            <a:off x="10763583" y="3590449"/>
            <a:ext cx="570833"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专家复核</a:t>
            </a:r>
          </a:p>
        </p:txBody>
      </p:sp>
      <p:sp>
        <p:nvSpPr>
          <p:cNvPr id="33" name="Rectangle 33"/>
          <p:cNvSpPr/>
          <p:nvPr/>
        </p:nvSpPr>
        <p:spPr>
          <a:xfrm>
            <a:off x="685800" y="3810000"/>
            <a:ext cx="10820400" cy="323850"/>
          </a:xfrm>
          <a:prstGeom prst="rect">
            <a:avLst/>
          </a:prstGeom>
          <a:solidFill>
            <a:srgbClr val="FFEBEE"/>
          </a:solidFill>
          <a:ln>
            <a:noFill/>
          </a:ln>
        </p:spPr>
      </p:sp>
      <p:sp>
        <p:nvSpPr>
          <p:cNvPr id="34" name="TextBox 34"/>
          <p:cNvSpPr txBox="1"/>
          <p:nvPr/>
        </p:nvSpPr>
        <p:spPr>
          <a:xfrm>
            <a:off x="902263" y="3914299"/>
            <a:ext cx="290973"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1448</a:t>
            </a:r>
          </a:p>
        </p:txBody>
      </p:sp>
      <p:sp>
        <p:nvSpPr>
          <p:cNvPr id="35" name="TextBox 35"/>
          <p:cNvSpPr txBox="1"/>
          <p:nvPr/>
        </p:nvSpPr>
        <p:spPr>
          <a:xfrm>
            <a:off x="1416368" y="3914299"/>
            <a:ext cx="1584960"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履行行政职责的作为可能性</a:t>
            </a:r>
          </a:p>
        </p:txBody>
      </p:sp>
      <p:sp>
        <p:nvSpPr>
          <p:cNvPr id="36" name="TextBox 36"/>
          <p:cNvSpPr txBox="1"/>
          <p:nvPr/>
        </p:nvSpPr>
        <p:spPr>
          <a:xfrm>
            <a:off x="5680424" y="3914299"/>
            <a:ext cx="1116902" cy="198120"/>
          </a:xfrm>
          <a:prstGeom prst="rect">
            <a:avLst/>
          </a:prstGeom>
          <a:noFill/>
          <a:ln>
            <a:noFill/>
          </a:ln>
        </p:spPr>
        <p:txBody>
          <a:bodyPr wrap="none" lIns="0" tIns="0" rIns="0" bIns="0" anchor="t" anchorCtr="0">
            <a:spAutoFit/>
          </a:bodyPr>
          <a:lstStyle/>
          <a:p>
            <a:pPr algn="ctr"/>
            <a:r>
              <a:rPr lang="zh-CN" sz="975" b="1" dirty="0">
                <a:solidFill>
                  <a:srgbClr val="1F4D78"/>
                </a:solidFill>
                <a:latin typeface="Arial"/>
                <a:ea typeface="Microsoft YaHei"/>
                <a:cs typeface="Arial"/>
              </a:rPr>
              <a:t>宪法学与行政法学</a:t>
            </a:r>
          </a:p>
        </p:txBody>
      </p:sp>
      <p:sp>
        <p:nvSpPr>
          <p:cNvPr id="37" name="TextBox 37"/>
          <p:cNvSpPr txBox="1"/>
          <p:nvPr/>
        </p:nvSpPr>
        <p:spPr>
          <a:xfrm>
            <a:off x="7736217" y="3914299"/>
            <a:ext cx="434316"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创新性</a:t>
            </a:r>
          </a:p>
        </p:txBody>
      </p:sp>
      <p:sp>
        <p:nvSpPr>
          <p:cNvPr id="38" name="TextBox 38"/>
          <p:cNvSpPr txBox="1"/>
          <p:nvPr/>
        </p:nvSpPr>
        <p:spPr>
          <a:xfrm>
            <a:off x="9722971" y="3914299"/>
            <a:ext cx="366058"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19.00</a:t>
            </a:r>
          </a:p>
        </p:txBody>
      </p:sp>
      <p:sp>
        <p:nvSpPr>
          <p:cNvPr id="39" name="TextBox 39"/>
          <p:cNvSpPr txBox="1"/>
          <p:nvPr/>
        </p:nvSpPr>
        <p:spPr>
          <a:xfrm>
            <a:off x="10763583" y="3914299"/>
            <a:ext cx="570833"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专家复核</a:t>
            </a:r>
          </a:p>
        </p:txBody>
      </p:sp>
      <p:sp>
        <p:nvSpPr>
          <p:cNvPr id="40" name="Rectangle 40"/>
          <p:cNvSpPr/>
          <p:nvPr/>
        </p:nvSpPr>
        <p:spPr>
          <a:xfrm>
            <a:off x="685800" y="4133850"/>
            <a:ext cx="10820400" cy="323850"/>
          </a:xfrm>
          <a:prstGeom prst="rect">
            <a:avLst/>
          </a:prstGeom>
          <a:solidFill>
            <a:srgbClr val="FFEBEE"/>
          </a:solidFill>
          <a:ln>
            <a:noFill/>
          </a:ln>
        </p:spPr>
      </p:sp>
      <p:sp>
        <p:nvSpPr>
          <p:cNvPr id="41" name="TextBox 41"/>
          <p:cNvSpPr txBox="1"/>
          <p:nvPr/>
        </p:nvSpPr>
        <p:spPr>
          <a:xfrm>
            <a:off x="902263" y="4238149"/>
            <a:ext cx="290973"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1546</a:t>
            </a:r>
          </a:p>
        </p:txBody>
      </p:sp>
      <p:sp>
        <p:nvSpPr>
          <p:cNvPr id="42" name="TextBox 42"/>
          <p:cNvSpPr txBox="1"/>
          <p:nvPr/>
        </p:nvSpPr>
        <p:spPr>
          <a:xfrm>
            <a:off x="1416368" y="4238149"/>
            <a:ext cx="2436566"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构成要件错误的本质:故意行为危险的偏离</a:t>
            </a:r>
          </a:p>
        </p:txBody>
      </p:sp>
      <p:sp>
        <p:nvSpPr>
          <p:cNvPr id="43" name="TextBox 43"/>
          <p:cNvSpPr txBox="1"/>
          <p:nvPr/>
        </p:nvSpPr>
        <p:spPr>
          <a:xfrm>
            <a:off x="6021717" y="4238149"/>
            <a:ext cx="434316" cy="198120"/>
          </a:xfrm>
          <a:prstGeom prst="rect">
            <a:avLst/>
          </a:prstGeom>
          <a:noFill/>
          <a:ln>
            <a:noFill/>
          </a:ln>
        </p:spPr>
        <p:txBody>
          <a:bodyPr wrap="none" lIns="0" tIns="0" rIns="0" bIns="0" anchor="t" anchorCtr="0">
            <a:spAutoFit/>
          </a:bodyPr>
          <a:lstStyle/>
          <a:p>
            <a:pPr algn="ctr"/>
            <a:r>
              <a:rPr lang="zh-CN" sz="975" b="1" dirty="0">
                <a:solidFill>
                  <a:srgbClr val="1F4D78"/>
                </a:solidFill>
                <a:latin typeface="Arial"/>
                <a:ea typeface="Microsoft YaHei"/>
                <a:cs typeface="Arial"/>
              </a:rPr>
              <a:t>刑法学</a:t>
            </a:r>
          </a:p>
        </p:txBody>
      </p:sp>
      <p:sp>
        <p:nvSpPr>
          <p:cNvPr id="44" name="TextBox 44"/>
          <p:cNvSpPr txBox="1"/>
          <p:nvPr/>
        </p:nvSpPr>
        <p:spPr>
          <a:xfrm>
            <a:off x="7736217" y="4238149"/>
            <a:ext cx="434316"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创新性</a:t>
            </a:r>
          </a:p>
        </p:txBody>
      </p:sp>
      <p:sp>
        <p:nvSpPr>
          <p:cNvPr id="45" name="TextBox 45"/>
          <p:cNvSpPr txBox="1"/>
          <p:nvPr/>
        </p:nvSpPr>
        <p:spPr>
          <a:xfrm>
            <a:off x="9722971" y="4238149"/>
            <a:ext cx="366058"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18.67</a:t>
            </a:r>
          </a:p>
        </p:txBody>
      </p:sp>
      <p:sp>
        <p:nvSpPr>
          <p:cNvPr id="46" name="TextBox 46"/>
          <p:cNvSpPr txBox="1"/>
          <p:nvPr/>
        </p:nvSpPr>
        <p:spPr>
          <a:xfrm>
            <a:off x="10763583" y="4238149"/>
            <a:ext cx="570833"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专家复核</a:t>
            </a:r>
          </a:p>
        </p:txBody>
      </p:sp>
      <p:sp>
        <p:nvSpPr>
          <p:cNvPr id="47" name="Rectangle 47"/>
          <p:cNvSpPr/>
          <p:nvPr/>
        </p:nvSpPr>
        <p:spPr>
          <a:xfrm>
            <a:off x="685800" y="4457700"/>
            <a:ext cx="10820400" cy="323850"/>
          </a:xfrm>
          <a:prstGeom prst="rect">
            <a:avLst/>
          </a:prstGeom>
          <a:solidFill>
            <a:srgbClr val="FFEBEE"/>
          </a:solidFill>
          <a:ln>
            <a:noFill/>
          </a:ln>
        </p:spPr>
      </p:sp>
      <p:sp>
        <p:nvSpPr>
          <p:cNvPr id="48" name="TextBox 48"/>
          <p:cNvSpPr txBox="1"/>
          <p:nvPr/>
        </p:nvSpPr>
        <p:spPr>
          <a:xfrm>
            <a:off x="902263" y="4561999"/>
            <a:ext cx="290973"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1848</a:t>
            </a:r>
          </a:p>
        </p:txBody>
      </p:sp>
      <p:sp>
        <p:nvSpPr>
          <p:cNvPr id="49" name="TextBox 49"/>
          <p:cNvSpPr txBox="1"/>
          <p:nvPr/>
        </p:nvSpPr>
        <p:spPr>
          <a:xfrm>
            <a:off x="1416368" y="4561999"/>
            <a:ext cx="3171158"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宪法秩序下如何安放法典——从“基础性法律”的适用切入</a:t>
            </a:r>
          </a:p>
        </p:txBody>
      </p:sp>
      <p:sp>
        <p:nvSpPr>
          <p:cNvPr id="50" name="TextBox 50"/>
          <p:cNvSpPr txBox="1"/>
          <p:nvPr/>
        </p:nvSpPr>
        <p:spPr>
          <a:xfrm>
            <a:off x="5680424" y="4561999"/>
            <a:ext cx="1116902" cy="198120"/>
          </a:xfrm>
          <a:prstGeom prst="rect">
            <a:avLst/>
          </a:prstGeom>
          <a:noFill/>
          <a:ln>
            <a:noFill/>
          </a:ln>
        </p:spPr>
        <p:txBody>
          <a:bodyPr wrap="none" lIns="0" tIns="0" rIns="0" bIns="0" anchor="t" anchorCtr="0">
            <a:spAutoFit/>
          </a:bodyPr>
          <a:lstStyle/>
          <a:p>
            <a:pPr algn="ctr"/>
            <a:r>
              <a:rPr lang="zh-CN" sz="975" b="1" dirty="0">
                <a:solidFill>
                  <a:srgbClr val="1F4D78"/>
                </a:solidFill>
                <a:latin typeface="Arial"/>
                <a:ea typeface="Microsoft YaHei"/>
                <a:cs typeface="Arial"/>
              </a:rPr>
              <a:t>宪法学与行政法学</a:t>
            </a:r>
          </a:p>
        </p:txBody>
      </p:sp>
      <p:sp>
        <p:nvSpPr>
          <p:cNvPr id="51" name="TextBox 51"/>
          <p:cNvSpPr txBox="1"/>
          <p:nvPr/>
        </p:nvSpPr>
        <p:spPr>
          <a:xfrm>
            <a:off x="7736217" y="4561999"/>
            <a:ext cx="434316"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建构力</a:t>
            </a:r>
          </a:p>
        </p:txBody>
      </p:sp>
      <p:sp>
        <p:nvSpPr>
          <p:cNvPr id="52" name="TextBox 52"/>
          <p:cNvSpPr txBox="1"/>
          <p:nvPr/>
        </p:nvSpPr>
        <p:spPr>
          <a:xfrm>
            <a:off x="9722971" y="4561999"/>
            <a:ext cx="366058"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15.22</a:t>
            </a:r>
          </a:p>
        </p:txBody>
      </p:sp>
      <p:sp>
        <p:nvSpPr>
          <p:cNvPr id="53" name="TextBox 53"/>
          <p:cNvSpPr txBox="1"/>
          <p:nvPr/>
        </p:nvSpPr>
        <p:spPr>
          <a:xfrm>
            <a:off x="10763583" y="4561999"/>
            <a:ext cx="570833"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专家复核</a:t>
            </a:r>
          </a:p>
        </p:txBody>
      </p:sp>
      <p:sp>
        <p:nvSpPr>
          <p:cNvPr id="54" name="Rectangle 54"/>
          <p:cNvSpPr/>
          <p:nvPr/>
        </p:nvSpPr>
        <p:spPr>
          <a:xfrm>
            <a:off x="685800" y="4781550"/>
            <a:ext cx="10820400" cy="323850"/>
          </a:xfrm>
          <a:prstGeom prst="rect">
            <a:avLst/>
          </a:prstGeom>
          <a:solidFill>
            <a:srgbClr val="FFEBEE"/>
          </a:solidFill>
          <a:ln>
            <a:noFill/>
          </a:ln>
        </p:spPr>
      </p:sp>
      <p:sp>
        <p:nvSpPr>
          <p:cNvPr id="55" name="TextBox 55"/>
          <p:cNvSpPr txBox="1"/>
          <p:nvPr/>
        </p:nvSpPr>
        <p:spPr>
          <a:xfrm>
            <a:off x="902263" y="4885849"/>
            <a:ext cx="290973"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1860</a:t>
            </a:r>
          </a:p>
        </p:txBody>
      </p:sp>
      <p:sp>
        <p:nvSpPr>
          <p:cNvPr id="56" name="TextBox 56"/>
          <p:cNvSpPr txBox="1"/>
          <p:nvPr/>
        </p:nvSpPr>
        <p:spPr>
          <a:xfrm>
            <a:off x="1416368" y="4885849"/>
            <a:ext cx="2365058"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诉权处分合同的程序法效果及其司法审查</a:t>
            </a:r>
          </a:p>
        </p:txBody>
      </p:sp>
      <p:sp>
        <p:nvSpPr>
          <p:cNvPr id="57" name="TextBox 57"/>
          <p:cNvSpPr txBox="1"/>
          <p:nvPr/>
        </p:nvSpPr>
        <p:spPr>
          <a:xfrm>
            <a:off x="5953458" y="4885849"/>
            <a:ext cx="570833" cy="198120"/>
          </a:xfrm>
          <a:prstGeom prst="rect">
            <a:avLst/>
          </a:prstGeom>
          <a:noFill/>
          <a:ln>
            <a:noFill/>
          </a:ln>
        </p:spPr>
        <p:txBody>
          <a:bodyPr wrap="none" lIns="0" tIns="0" rIns="0" bIns="0" anchor="t" anchorCtr="0">
            <a:spAutoFit/>
          </a:bodyPr>
          <a:lstStyle/>
          <a:p>
            <a:pPr algn="ctr"/>
            <a:r>
              <a:rPr lang="zh-CN" sz="975" b="1" dirty="0">
                <a:solidFill>
                  <a:srgbClr val="1F4D78"/>
                </a:solidFill>
                <a:latin typeface="Arial"/>
                <a:ea typeface="Microsoft YaHei"/>
                <a:cs typeface="Arial"/>
              </a:rPr>
              <a:t>诉讼法学</a:t>
            </a:r>
          </a:p>
        </p:txBody>
      </p:sp>
      <p:sp>
        <p:nvSpPr>
          <p:cNvPr id="58" name="TextBox 58"/>
          <p:cNvSpPr txBox="1"/>
          <p:nvPr/>
        </p:nvSpPr>
        <p:spPr>
          <a:xfrm>
            <a:off x="7736217" y="4885849"/>
            <a:ext cx="434316"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创新性</a:t>
            </a:r>
          </a:p>
        </p:txBody>
      </p:sp>
      <p:sp>
        <p:nvSpPr>
          <p:cNvPr id="59" name="TextBox 59"/>
          <p:cNvSpPr txBox="1"/>
          <p:nvPr/>
        </p:nvSpPr>
        <p:spPr>
          <a:xfrm>
            <a:off x="9722971" y="4885849"/>
            <a:ext cx="366058"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14.55</a:t>
            </a:r>
          </a:p>
        </p:txBody>
      </p:sp>
      <p:sp>
        <p:nvSpPr>
          <p:cNvPr id="60" name="TextBox 60"/>
          <p:cNvSpPr txBox="1"/>
          <p:nvPr/>
        </p:nvSpPr>
        <p:spPr>
          <a:xfrm>
            <a:off x="10763583" y="4885849"/>
            <a:ext cx="570833"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专家复核</a:t>
            </a:r>
          </a:p>
        </p:txBody>
      </p:sp>
      <p:sp>
        <p:nvSpPr>
          <p:cNvPr id="61" name="Rectangle 61"/>
          <p:cNvSpPr/>
          <p:nvPr/>
        </p:nvSpPr>
        <p:spPr>
          <a:xfrm>
            <a:off x="685800" y="5105400"/>
            <a:ext cx="10820400" cy="323850"/>
          </a:xfrm>
          <a:prstGeom prst="rect">
            <a:avLst/>
          </a:prstGeom>
          <a:solidFill>
            <a:srgbClr val="FFEBEE"/>
          </a:solidFill>
          <a:ln>
            <a:noFill/>
          </a:ln>
        </p:spPr>
      </p:sp>
      <p:sp>
        <p:nvSpPr>
          <p:cNvPr id="62" name="TextBox 62"/>
          <p:cNvSpPr txBox="1"/>
          <p:nvPr/>
        </p:nvSpPr>
        <p:spPr>
          <a:xfrm>
            <a:off x="922741" y="5209699"/>
            <a:ext cx="250018"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882</a:t>
            </a:r>
          </a:p>
        </p:txBody>
      </p:sp>
      <p:sp>
        <p:nvSpPr>
          <p:cNvPr id="63" name="TextBox 63"/>
          <p:cNvSpPr txBox="1"/>
          <p:nvPr/>
        </p:nvSpPr>
        <p:spPr>
          <a:xfrm>
            <a:off x="1416368" y="5209699"/>
            <a:ext cx="2755106"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过失犯远因溯责的规制路径：以渎职犯罪为中心</a:t>
            </a:r>
          </a:p>
        </p:txBody>
      </p:sp>
      <p:sp>
        <p:nvSpPr>
          <p:cNvPr id="64" name="TextBox 64"/>
          <p:cNvSpPr txBox="1"/>
          <p:nvPr/>
        </p:nvSpPr>
        <p:spPr>
          <a:xfrm>
            <a:off x="6021717" y="5209699"/>
            <a:ext cx="434316" cy="198120"/>
          </a:xfrm>
          <a:prstGeom prst="rect">
            <a:avLst/>
          </a:prstGeom>
          <a:noFill/>
          <a:ln>
            <a:noFill/>
          </a:ln>
        </p:spPr>
        <p:txBody>
          <a:bodyPr wrap="none" lIns="0" tIns="0" rIns="0" bIns="0" anchor="t" anchorCtr="0">
            <a:spAutoFit/>
          </a:bodyPr>
          <a:lstStyle/>
          <a:p>
            <a:pPr algn="ctr"/>
            <a:r>
              <a:rPr lang="zh-CN" sz="975" b="1" dirty="0">
                <a:solidFill>
                  <a:srgbClr val="1F4D78"/>
                </a:solidFill>
                <a:latin typeface="Arial"/>
                <a:ea typeface="Microsoft YaHei"/>
                <a:cs typeface="Arial"/>
              </a:rPr>
              <a:t>刑法学</a:t>
            </a:r>
          </a:p>
        </p:txBody>
      </p:sp>
      <p:sp>
        <p:nvSpPr>
          <p:cNvPr id="65" name="TextBox 65"/>
          <p:cNvSpPr txBox="1"/>
          <p:nvPr/>
        </p:nvSpPr>
        <p:spPr>
          <a:xfrm>
            <a:off x="7736217" y="5209699"/>
            <a:ext cx="434316"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建构力</a:t>
            </a:r>
          </a:p>
        </p:txBody>
      </p:sp>
      <p:sp>
        <p:nvSpPr>
          <p:cNvPr id="66" name="TextBox 66"/>
          <p:cNvSpPr txBox="1"/>
          <p:nvPr/>
        </p:nvSpPr>
        <p:spPr>
          <a:xfrm>
            <a:off x="9722971" y="5209699"/>
            <a:ext cx="366058"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12.87</a:t>
            </a:r>
          </a:p>
        </p:txBody>
      </p:sp>
      <p:sp>
        <p:nvSpPr>
          <p:cNvPr id="67" name="TextBox 67"/>
          <p:cNvSpPr txBox="1"/>
          <p:nvPr/>
        </p:nvSpPr>
        <p:spPr>
          <a:xfrm>
            <a:off x="10763583" y="5209699"/>
            <a:ext cx="570833"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专家复核</a:t>
            </a:r>
          </a:p>
        </p:txBody>
      </p:sp>
      <p:sp>
        <p:nvSpPr>
          <p:cNvPr id="68" name="Rectangle 68"/>
          <p:cNvSpPr/>
          <p:nvPr/>
        </p:nvSpPr>
        <p:spPr>
          <a:xfrm>
            <a:off x="685800" y="5429250"/>
            <a:ext cx="10820400" cy="323850"/>
          </a:xfrm>
          <a:prstGeom prst="rect">
            <a:avLst/>
          </a:prstGeom>
          <a:solidFill>
            <a:srgbClr val="FFEBEE"/>
          </a:solidFill>
          <a:ln>
            <a:noFill/>
          </a:ln>
        </p:spPr>
      </p:sp>
      <p:sp>
        <p:nvSpPr>
          <p:cNvPr id="69" name="TextBox 69"/>
          <p:cNvSpPr txBox="1"/>
          <p:nvPr/>
        </p:nvSpPr>
        <p:spPr>
          <a:xfrm>
            <a:off x="977348" y="5533549"/>
            <a:ext cx="140805"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21</a:t>
            </a:r>
          </a:p>
        </p:txBody>
      </p:sp>
      <p:sp>
        <p:nvSpPr>
          <p:cNvPr id="70" name="TextBox 70"/>
          <p:cNvSpPr txBox="1"/>
          <p:nvPr/>
        </p:nvSpPr>
        <p:spPr>
          <a:xfrm>
            <a:off x="1416368" y="5533549"/>
            <a:ext cx="1857994"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“审执分离”本质与路径的再认识</a:t>
            </a:r>
          </a:p>
        </p:txBody>
      </p:sp>
      <p:sp>
        <p:nvSpPr>
          <p:cNvPr id="71" name="TextBox 71"/>
          <p:cNvSpPr txBox="1"/>
          <p:nvPr/>
        </p:nvSpPr>
        <p:spPr>
          <a:xfrm>
            <a:off x="5953458" y="5533549"/>
            <a:ext cx="570833" cy="198120"/>
          </a:xfrm>
          <a:prstGeom prst="rect">
            <a:avLst/>
          </a:prstGeom>
          <a:noFill/>
          <a:ln>
            <a:noFill/>
          </a:ln>
        </p:spPr>
        <p:txBody>
          <a:bodyPr wrap="none" lIns="0" tIns="0" rIns="0" bIns="0" anchor="t" anchorCtr="0">
            <a:spAutoFit/>
          </a:bodyPr>
          <a:lstStyle/>
          <a:p>
            <a:pPr algn="ctr"/>
            <a:r>
              <a:rPr lang="zh-CN" sz="975" b="1" dirty="0">
                <a:solidFill>
                  <a:srgbClr val="1F4D78"/>
                </a:solidFill>
                <a:latin typeface="Arial"/>
                <a:ea typeface="Microsoft YaHei"/>
                <a:cs typeface="Arial"/>
              </a:rPr>
              <a:t>诉讼法学</a:t>
            </a:r>
          </a:p>
        </p:txBody>
      </p:sp>
      <p:sp>
        <p:nvSpPr>
          <p:cNvPr id="72" name="TextBox 72"/>
          <p:cNvSpPr txBox="1"/>
          <p:nvPr/>
        </p:nvSpPr>
        <p:spPr>
          <a:xfrm>
            <a:off x="7736217" y="5533549"/>
            <a:ext cx="434316"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建构力</a:t>
            </a:r>
          </a:p>
        </p:txBody>
      </p:sp>
      <p:sp>
        <p:nvSpPr>
          <p:cNvPr id="73" name="TextBox 73"/>
          <p:cNvSpPr txBox="1"/>
          <p:nvPr/>
        </p:nvSpPr>
        <p:spPr>
          <a:xfrm>
            <a:off x="9722971" y="5533549"/>
            <a:ext cx="366058"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12.45</a:t>
            </a:r>
          </a:p>
        </p:txBody>
      </p:sp>
      <p:sp>
        <p:nvSpPr>
          <p:cNvPr id="74" name="TextBox 74"/>
          <p:cNvSpPr txBox="1"/>
          <p:nvPr/>
        </p:nvSpPr>
        <p:spPr>
          <a:xfrm>
            <a:off x="10763583" y="5533549"/>
            <a:ext cx="570833"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专家复核</a:t>
            </a:r>
          </a:p>
        </p:txBody>
      </p:sp>
      <p:sp>
        <p:nvSpPr>
          <p:cNvPr id="75" name="Rectangle 75"/>
          <p:cNvSpPr/>
          <p:nvPr/>
        </p:nvSpPr>
        <p:spPr>
          <a:xfrm>
            <a:off x="685800" y="5753100"/>
            <a:ext cx="10820400" cy="323850"/>
          </a:xfrm>
          <a:prstGeom prst="rect">
            <a:avLst/>
          </a:prstGeom>
          <a:solidFill>
            <a:srgbClr val="FFEBEE"/>
          </a:solidFill>
          <a:ln>
            <a:noFill/>
          </a:ln>
        </p:spPr>
      </p:sp>
      <p:sp>
        <p:nvSpPr>
          <p:cNvPr id="76" name="TextBox 76"/>
          <p:cNvSpPr txBox="1"/>
          <p:nvPr/>
        </p:nvSpPr>
        <p:spPr>
          <a:xfrm>
            <a:off x="902263" y="5857399"/>
            <a:ext cx="290973"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1493</a:t>
            </a:r>
          </a:p>
        </p:txBody>
      </p:sp>
      <p:sp>
        <p:nvSpPr>
          <p:cNvPr id="77" name="TextBox 77"/>
          <p:cNvSpPr txBox="1"/>
          <p:nvPr/>
        </p:nvSpPr>
        <p:spPr>
          <a:xfrm>
            <a:off x="1416368" y="5857399"/>
            <a:ext cx="2495074"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抽逃出资规则及公司分配制度的系统性改造</a:t>
            </a:r>
          </a:p>
        </p:txBody>
      </p:sp>
      <p:sp>
        <p:nvSpPr>
          <p:cNvPr id="78" name="TextBox 78"/>
          <p:cNvSpPr txBox="1"/>
          <p:nvPr/>
        </p:nvSpPr>
        <p:spPr>
          <a:xfrm>
            <a:off x="5953458" y="5857399"/>
            <a:ext cx="570833" cy="198120"/>
          </a:xfrm>
          <a:prstGeom prst="rect">
            <a:avLst/>
          </a:prstGeom>
          <a:noFill/>
          <a:ln>
            <a:noFill/>
          </a:ln>
        </p:spPr>
        <p:txBody>
          <a:bodyPr wrap="none" lIns="0" tIns="0" rIns="0" bIns="0" anchor="t" anchorCtr="0">
            <a:spAutoFit/>
          </a:bodyPr>
          <a:lstStyle/>
          <a:p>
            <a:pPr algn="ctr"/>
            <a:r>
              <a:rPr lang="zh-CN" sz="975" b="1" dirty="0">
                <a:solidFill>
                  <a:srgbClr val="1F4D78"/>
                </a:solidFill>
                <a:latin typeface="Arial"/>
                <a:ea typeface="Microsoft YaHei"/>
                <a:cs typeface="Arial"/>
              </a:rPr>
              <a:t>民商法学</a:t>
            </a:r>
          </a:p>
        </p:txBody>
      </p:sp>
      <p:sp>
        <p:nvSpPr>
          <p:cNvPr id="79" name="TextBox 79"/>
          <p:cNvSpPr txBox="1"/>
          <p:nvPr/>
        </p:nvSpPr>
        <p:spPr>
          <a:xfrm>
            <a:off x="7736217" y="5857399"/>
            <a:ext cx="434316"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建构力</a:t>
            </a:r>
          </a:p>
        </p:txBody>
      </p:sp>
      <p:sp>
        <p:nvSpPr>
          <p:cNvPr id="80" name="TextBox 80"/>
          <p:cNvSpPr txBox="1"/>
          <p:nvPr/>
        </p:nvSpPr>
        <p:spPr>
          <a:xfrm>
            <a:off x="9740036" y="5857399"/>
            <a:ext cx="331928"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12.31</a:t>
            </a:r>
          </a:p>
        </p:txBody>
      </p:sp>
      <p:sp>
        <p:nvSpPr>
          <p:cNvPr id="81" name="TextBox 81"/>
          <p:cNvSpPr txBox="1"/>
          <p:nvPr/>
        </p:nvSpPr>
        <p:spPr>
          <a:xfrm>
            <a:off x="10763583" y="5857399"/>
            <a:ext cx="570833"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专家复核</a:t>
            </a:r>
          </a:p>
        </p:txBody>
      </p:sp>
      <p:sp>
        <p:nvSpPr>
          <p:cNvPr id="82" name="Rectangle 82"/>
          <p:cNvSpPr/>
          <p:nvPr/>
        </p:nvSpPr>
        <p:spPr>
          <a:xfrm>
            <a:off x="685800" y="6076950"/>
            <a:ext cx="10820400" cy="323850"/>
          </a:xfrm>
          <a:prstGeom prst="rect">
            <a:avLst/>
          </a:prstGeom>
          <a:solidFill>
            <a:srgbClr val="FFF8F0"/>
          </a:solidFill>
          <a:ln>
            <a:noFill/>
          </a:ln>
        </p:spPr>
      </p:sp>
      <p:sp>
        <p:nvSpPr>
          <p:cNvPr id="83" name="TextBox 83"/>
          <p:cNvSpPr txBox="1"/>
          <p:nvPr/>
        </p:nvSpPr>
        <p:spPr>
          <a:xfrm>
            <a:off x="919328" y="6181249"/>
            <a:ext cx="256844"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1218</a:t>
            </a:r>
          </a:p>
        </p:txBody>
      </p:sp>
      <p:sp>
        <p:nvSpPr>
          <p:cNvPr id="84" name="TextBox 84"/>
          <p:cNvSpPr txBox="1"/>
          <p:nvPr/>
        </p:nvSpPr>
        <p:spPr>
          <a:xfrm>
            <a:off x="1416368" y="6181249"/>
            <a:ext cx="1584960"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侵害人视角下的正当防卫论</a:t>
            </a:r>
          </a:p>
        </p:txBody>
      </p:sp>
      <p:sp>
        <p:nvSpPr>
          <p:cNvPr id="85" name="TextBox 85"/>
          <p:cNvSpPr txBox="1"/>
          <p:nvPr/>
        </p:nvSpPr>
        <p:spPr>
          <a:xfrm>
            <a:off x="6021717" y="6181249"/>
            <a:ext cx="434316" cy="198120"/>
          </a:xfrm>
          <a:prstGeom prst="rect">
            <a:avLst/>
          </a:prstGeom>
          <a:noFill/>
          <a:ln>
            <a:noFill/>
          </a:ln>
        </p:spPr>
        <p:txBody>
          <a:bodyPr wrap="none" lIns="0" tIns="0" rIns="0" bIns="0" anchor="t" anchorCtr="0">
            <a:spAutoFit/>
          </a:bodyPr>
          <a:lstStyle/>
          <a:p>
            <a:pPr algn="ctr"/>
            <a:r>
              <a:rPr lang="zh-CN" sz="975" b="1" dirty="0">
                <a:solidFill>
                  <a:srgbClr val="1F4D78"/>
                </a:solidFill>
                <a:latin typeface="Arial"/>
                <a:ea typeface="Microsoft YaHei"/>
                <a:cs typeface="Arial"/>
              </a:rPr>
              <a:t>刑法学</a:t>
            </a:r>
          </a:p>
        </p:txBody>
      </p:sp>
      <p:sp>
        <p:nvSpPr>
          <p:cNvPr id="86" name="TextBox 86"/>
          <p:cNvSpPr txBox="1"/>
          <p:nvPr/>
        </p:nvSpPr>
        <p:spPr>
          <a:xfrm>
            <a:off x="7736217" y="6181249"/>
            <a:ext cx="434316" cy="198120"/>
          </a:xfrm>
          <a:prstGeom prst="rect">
            <a:avLst/>
          </a:prstGeom>
          <a:noFill/>
          <a:ln>
            <a:noFill/>
          </a:ln>
        </p:spPr>
        <p:txBody>
          <a:bodyPr wrap="none" lIns="0" tIns="0" rIns="0" bIns="0" anchor="t" anchorCtr="0">
            <a:spAutoFit/>
          </a:bodyPr>
          <a:lstStyle/>
          <a:p>
            <a:pPr algn="ctr"/>
            <a:r>
              <a:rPr lang="zh-CN" sz="975" b="1" dirty="0">
                <a:solidFill>
                  <a:srgbClr val="1B1C21"/>
                </a:solidFill>
                <a:latin typeface="Arial"/>
                <a:ea typeface="Microsoft YaHei"/>
                <a:cs typeface="Arial"/>
              </a:rPr>
              <a:t>延展性</a:t>
            </a:r>
          </a:p>
        </p:txBody>
      </p:sp>
      <p:sp>
        <p:nvSpPr>
          <p:cNvPr id="87" name="TextBox 87"/>
          <p:cNvSpPr txBox="1"/>
          <p:nvPr/>
        </p:nvSpPr>
        <p:spPr>
          <a:xfrm>
            <a:off x="9743449" y="6181249"/>
            <a:ext cx="325103"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8.66</a:t>
            </a:r>
          </a:p>
        </p:txBody>
      </p:sp>
      <p:sp>
        <p:nvSpPr>
          <p:cNvPr id="88" name="TextBox 88"/>
          <p:cNvSpPr txBox="1"/>
          <p:nvPr/>
        </p:nvSpPr>
        <p:spPr>
          <a:xfrm>
            <a:off x="10763583" y="6181249"/>
            <a:ext cx="570833" cy="198120"/>
          </a:xfrm>
          <a:prstGeom prst="rect">
            <a:avLst/>
          </a:prstGeom>
          <a:noFill/>
          <a:ln>
            <a:noFill/>
          </a:ln>
        </p:spPr>
        <p:txBody>
          <a:bodyPr wrap="none" lIns="0" tIns="0" rIns="0" bIns="0" anchor="t" anchorCtr="0">
            <a:spAutoFit/>
          </a:bodyPr>
          <a:lstStyle/>
          <a:p>
            <a:pPr algn="ctr"/>
            <a:r>
              <a:rPr lang="zh-CN" sz="975" b="1" dirty="0">
                <a:solidFill>
                  <a:srgbClr val="C8161E"/>
                </a:solidFill>
                <a:latin typeface="Arial"/>
                <a:ea typeface="Microsoft YaHei"/>
                <a:cs typeface="Arial"/>
              </a:rPr>
              <a:t>专家复核</a:t>
            </a:r>
          </a:p>
        </p:txBody>
      </p:sp>
      <p:sp>
        <p:nvSpPr>
          <p:cNvPr id="89" name="Rectangle 89"/>
          <p:cNvSpPr/>
          <p:nvPr/>
        </p:nvSpPr>
        <p:spPr>
          <a:xfrm>
            <a:off x="685800" y="6172200"/>
            <a:ext cx="10820400" cy="419100"/>
          </a:xfrm>
          <a:prstGeom prst="roundRect">
            <a:avLst>
              <a:gd name="adj" fmla="val 18182"/>
            </a:avLst>
          </a:prstGeom>
          <a:solidFill>
            <a:srgbClr val="F0F7FF"/>
          </a:solidFill>
          <a:ln w="9525">
            <a:solidFill>
              <a:srgbClr val="1F4D78"/>
            </a:solidFill>
          </a:ln>
        </p:spPr>
      </p:sp>
      <p:sp>
        <p:nvSpPr>
          <p:cNvPr id="90" name="TextBox 90"/>
          <p:cNvSpPr txBox="1"/>
          <p:nvPr/>
        </p:nvSpPr>
        <p:spPr>
          <a:xfrm>
            <a:off x="975360" y="6309360"/>
            <a:ext cx="7199376" cy="243840"/>
          </a:xfrm>
          <a:prstGeom prst="rect">
            <a:avLst/>
          </a:prstGeom>
          <a:noFill/>
          <a:ln>
            <a:noFill/>
          </a:ln>
        </p:spPr>
        <p:txBody>
          <a:bodyPr wrap="none" lIns="0" tIns="0" rIns="0" bIns="0" anchor="t" anchorCtr="0">
            <a:spAutoFit/>
          </a:bodyPr>
          <a:lstStyle/>
          <a:p>
            <a:pPr algn="l"/>
            <a:r>
              <a:rPr lang="zh-CN" sz="1200" dirty="0">
                <a:solidFill>
                  <a:srgbClr val="1B1C21"/>
                </a:solidFill>
                <a:latin typeface="Arial"/>
                <a:ea typeface="Microsoft YaHei"/>
                <a:cs typeface="Arial"/>
              </a:rPr>
              <a:t>计分方式：稳定维度使用 E1/E2 汇总；不稳定维度叠加 E3 后用中位数聚合，降低极端模型分数影响。</a:t>
            </a:r>
          </a:p>
        </p:txBody>
      </p:sp>
      <p:sp>
        <p:nvSpPr>
          <p:cNvPr id="91" name="Rectangle 91"/>
          <p:cNvSpPr/>
          <p:nvPr/>
        </p:nvSpPr>
        <p:spPr>
          <a:xfrm>
            <a:off x="0" y="6819900"/>
            <a:ext cx="12192000" cy="38100"/>
          </a:xfrm>
          <a:prstGeom prst="rect">
            <a:avLst/>
          </a:prstGeom>
          <a:gradFill>
            <a:gsLst>
              <a:gs pos="0">
                <a:srgbClr val="C8161E"/>
              </a:gs>
              <a:gs pos="100000">
                <a:srgbClr val="1F4D78"/>
              </a:gs>
            </a:gsLst>
            <a:lin ang="0" scaled="1"/>
          </a:gradFill>
          <a:ln>
            <a:noFill/>
          </a:ln>
        </p:spPr>
      </p:sp>
      <p:sp>
        <p:nvSpPr>
          <p:cNvPr id="92" name="TextBox 92"/>
          <p:cNvSpPr txBox="1"/>
          <p:nvPr/>
        </p:nvSpPr>
        <p:spPr>
          <a:xfrm>
            <a:off x="668017" y="6516343"/>
            <a:ext cx="1930808"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附录：第 3 次评测数据</a:t>
            </a:r>
          </a:p>
        </p:txBody>
      </p:sp>
      <p:sp>
        <p:nvSpPr>
          <p:cNvPr id="93" name="TextBox 93"/>
          <p:cNvSpPr txBox="1"/>
          <p:nvPr/>
        </p:nvSpPr>
        <p:spPr>
          <a:xfrm>
            <a:off x="11226927" y="6537960"/>
            <a:ext cx="294513" cy="243840"/>
          </a:xfrm>
          <a:prstGeom prst="rect">
            <a:avLst/>
          </a:prstGeom>
          <a:noFill/>
          <a:ln>
            <a:noFill/>
          </a:ln>
        </p:spPr>
        <p:txBody>
          <a:bodyPr wrap="none" lIns="0" tIns="0" rIns="0" bIns="0" anchor="t" anchorCtr="0">
            <a:spAutoFit/>
          </a:bodyPr>
          <a:lstStyle/>
          <a:p>
            <a:pPr algn="r"/>
            <a:r>
              <a:rPr lang="zh-CN" sz="1200" dirty="0">
                <a:solidFill>
                  <a:srgbClr val="9AA3AE"/>
                </a:solidFill>
                <a:latin typeface="Arial"/>
                <a:ea typeface="Microsoft YaHei"/>
                <a:cs typeface="Arial"/>
              </a:rPr>
              <a:t>P40</a:t>
            </a:r>
          </a:p>
        </p:txBody>
      </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6519744"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附录 A7：Top50 领域配额与入选统计</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286703" y="953743"/>
            <a:ext cx="5618594"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按全量 1920 篇各领域占比分配 Top50 名额，避免纯分数榜领域集中</a:t>
            </a:r>
          </a:p>
        </p:txBody>
      </p:sp>
      <p:sp>
        <p:nvSpPr>
          <p:cNvPr id="9" name="Rectangle 9"/>
          <p:cNvSpPr/>
          <p:nvPr/>
        </p:nvSpPr>
        <p:spPr>
          <a:xfrm>
            <a:off x="914400" y="1504950"/>
            <a:ext cx="4762500" cy="438150"/>
          </a:xfrm>
          <a:prstGeom prst="roundRect">
            <a:avLst>
              <a:gd name="adj" fmla="val 13043"/>
            </a:avLst>
          </a:prstGeom>
          <a:solidFill>
            <a:srgbClr val="FFFFFF"/>
          </a:solidFill>
          <a:ln w="11430">
            <a:solidFill>
              <a:srgbClr val="D9DEE5"/>
            </a:solidFill>
          </a:ln>
        </p:spPr>
      </p:sp>
      <p:sp>
        <p:nvSpPr>
          <p:cNvPr id="10" name="TextBox 10"/>
          <p:cNvSpPr txBox="1"/>
          <p:nvPr/>
        </p:nvSpPr>
        <p:spPr>
          <a:xfrm>
            <a:off x="1088708" y="1653064"/>
            <a:ext cx="746474"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民商法学</a:t>
            </a:r>
          </a:p>
        </p:txBody>
      </p:sp>
      <p:sp>
        <p:nvSpPr>
          <p:cNvPr id="11" name="TextBox 11"/>
          <p:cNvSpPr txBox="1"/>
          <p:nvPr/>
        </p:nvSpPr>
        <p:spPr>
          <a:xfrm>
            <a:off x="5115256" y="1589722"/>
            <a:ext cx="281609" cy="396240"/>
          </a:xfrm>
          <a:prstGeom prst="rect">
            <a:avLst/>
          </a:prstGeom>
          <a:noFill/>
          <a:ln>
            <a:noFill/>
          </a:ln>
        </p:spPr>
        <p:txBody>
          <a:bodyPr wrap="none" lIns="0" tIns="0" rIns="0" bIns="0" anchor="t" anchorCtr="0">
            <a:spAutoFit/>
          </a:bodyPr>
          <a:lstStyle/>
          <a:p>
            <a:pPr algn="r"/>
            <a:r>
              <a:rPr lang="zh-CN" sz="1950" b="1" dirty="0">
                <a:solidFill>
                  <a:srgbClr val="C8161E"/>
                </a:solidFill>
                <a:latin typeface="Arial"/>
                <a:ea typeface="Microsoft YaHei"/>
                <a:cs typeface="Arial"/>
              </a:rPr>
              <a:t>12</a:t>
            </a:r>
          </a:p>
        </p:txBody>
      </p:sp>
      <p:sp>
        <p:nvSpPr>
          <p:cNvPr id="12" name="Rectangle 12"/>
          <p:cNvSpPr/>
          <p:nvPr/>
        </p:nvSpPr>
        <p:spPr>
          <a:xfrm>
            <a:off x="914400" y="2114550"/>
            <a:ext cx="4762500" cy="438150"/>
          </a:xfrm>
          <a:prstGeom prst="roundRect">
            <a:avLst>
              <a:gd name="adj" fmla="val 13043"/>
            </a:avLst>
          </a:prstGeom>
          <a:solidFill>
            <a:srgbClr val="FFFFFF"/>
          </a:solidFill>
          <a:ln w="11430">
            <a:solidFill>
              <a:srgbClr val="D9DEE5"/>
            </a:solidFill>
          </a:ln>
        </p:spPr>
      </p:sp>
      <p:sp>
        <p:nvSpPr>
          <p:cNvPr id="13" name="TextBox 13"/>
          <p:cNvSpPr txBox="1"/>
          <p:nvPr/>
        </p:nvSpPr>
        <p:spPr>
          <a:xfrm>
            <a:off x="1088708" y="2262664"/>
            <a:ext cx="567952"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刑法学</a:t>
            </a:r>
          </a:p>
        </p:txBody>
      </p:sp>
      <p:sp>
        <p:nvSpPr>
          <p:cNvPr id="14" name="TextBox 14"/>
          <p:cNvSpPr txBox="1"/>
          <p:nvPr/>
        </p:nvSpPr>
        <p:spPr>
          <a:xfrm>
            <a:off x="5197166" y="2199322"/>
            <a:ext cx="199699" cy="396240"/>
          </a:xfrm>
          <a:prstGeom prst="rect">
            <a:avLst/>
          </a:prstGeom>
          <a:noFill/>
          <a:ln>
            <a:noFill/>
          </a:ln>
        </p:spPr>
        <p:txBody>
          <a:bodyPr wrap="none" lIns="0" tIns="0" rIns="0" bIns="0" anchor="t" anchorCtr="0">
            <a:spAutoFit/>
          </a:bodyPr>
          <a:lstStyle/>
          <a:p>
            <a:pPr algn="r"/>
            <a:r>
              <a:rPr lang="zh-CN" sz="1950" b="1" dirty="0">
                <a:solidFill>
                  <a:srgbClr val="C8161E"/>
                </a:solidFill>
                <a:latin typeface="Arial"/>
                <a:ea typeface="Microsoft YaHei"/>
                <a:cs typeface="Arial"/>
              </a:rPr>
              <a:t>9</a:t>
            </a:r>
          </a:p>
        </p:txBody>
      </p:sp>
      <p:sp>
        <p:nvSpPr>
          <p:cNvPr id="15" name="Rectangle 15"/>
          <p:cNvSpPr/>
          <p:nvPr/>
        </p:nvSpPr>
        <p:spPr>
          <a:xfrm>
            <a:off x="914400" y="2724150"/>
            <a:ext cx="4762500" cy="438150"/>
          </a:xfrm>
          <a:prstGeom prst="roundRect">
            <a:avLst>
              <a:gd name="adj" fmla="val 13043"/>
            </a:avLst>
          </a:prstGeom>
          <a:solidFill>
            <a:srgbClr val="FFFFFF"/>
          </a:solidFill>
          <a:ln w="11430">
            <a:solidFill>
              <a:srgbClr val="D9DEE5"/>
            </a:solidFill>
          </a:ln>
        </p:spPr>
      </p:sp>
      <p:sp>
        <p:nvSpPr>
          <p:cNvPr id="16" name="TextBox 16"/>
          <p:cNvSpPr txBox="1"/>
          <p:nvPr/>
        </p:nvSpPr>
        <p:spPr>
          <a:xfrm>
            <a:off x="1088708" y="2872264"/>
            <a:ext cx="1460564"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宪法学与行政法学</a:t>
            </a:r>
          </a:p>
        </p:txBody>
      </p:sp>
      <p:sp>
        <p:nvSpPr>
          <p:cNvPr id="17" name="TextBox 17"/>
          <p:cNvSpPr txBox="1"/>
          <p:nvPr/>
        </p:nvSpPr>
        <p:spPr>
          <a:xfrm>
            <a:off x="5197166" y="2808922"/>
            <a:ext cx="199699" cy="396240"/>
          </a:xfrm>
          <a:prstGeom prst="rect">
            <a:avLst/>
          </a:prstGeom>
          <a:noFill/>
          <a:ln>
            <a:noFill/>
          </a:ln>
        </p:spPr>
        <p:txBody>
          <a:bodyPr wrap="none" lIns="0" tIns="0" rIns="0" bIns="0" anchor="t" anchorCtr="0">
            <a:spAutoFit/>
          </a:bodyPr>
          <a:lstStyle/>
          <a:p>
            <a:pPr algn="r"/>
            <a:r>
              <a:rPr lang="zh-CN" sz="1950" b="1" dirty="0">
                <a:solidFill>
                  <a:srgbClr val="C8161E"/>
                </a:solidFill>
                <a:latin typeface="Arial"/>
                <a:ea typeface="Microsoft YaHei"/>
                <a:cs typeface="Arial"/>
              </a:rPr>
              <a:t>6</a:t>
            </a:r>
          </a:p>
        </p:txBody>
      </p:sp>
      <p:sp>
        <p:nvSpPr>
          <p:cNvPr id="18" name="Rectangle 18"/>
          <p:cNvSpPr/>
          <p:nvPr/>
        </p:nvSpPr>
        <p:spPr>
          <a:xfrm>
            <a:off x="914400" y="3333750"/>
            <a:ext cx="4762500" cy="438150"/>
          </a:xfrm>
          <a:prstGeom prst="roundRect">
            <a:avLst>
              <a:gd name="adj" fmla="val 13043"/>
            </a:avLst>
          </a:prstGeom>
          <a:solidFill>
            <a:srgbClr val="FFFFFF"/>
          </a:solidFill>
          <a:ln w="11430">
            <a:solidFill>
              <a:srgbClr val="D9DEE5"/>
            </a:solidFill>
          </a:ln>
        </p:spPr>
      </p:sp>
      <p:sp>
        <p:nvSpPr>
          <p:cNvPr id="19" name="TextBox 19"/>
          <p:cNvSpPr txBox="1"/>
          <p:nvPr/>
        </p:nvSpPr>
        <p:spPr>
          <a:xfrm>
            <a:off x="1088708" y="3481864"/>
            <a:ext cx="746474"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诉讼法学</a:t>
            </a:r>
          </a:p>
        </p:txBody>
      </p:sp>
      <p:sp>
        <p:nvSpPr>
          <p:cNvPr id="20" name="TextBox 20"/>
          <p:cNvSpPr txBox="1"/>
          <p:nvPr/>
        </p:nvSpPr>
        <p:spPr>
          <a:xfrm>
            <a:off x="5197166" y="3418522"/>
            <a:ext cx="199699" cy="396240"/>
          </a:xfrm>
          <a:prstGeom prst="rect">
            <a:avLst/>
          </a:prstGeom>
          <a:noFill/>
          <a:ln>
            <a:noFill/>
          </a:ln>
        </p:spPr>
        <p:txBody>
          <a:bodyPr wrap="none" lIns="0" tIns="0" rIns="0" bIns="0" anchor="t" anchorCtr="0">
            <a:spAutoFit/>
          </a:bodyPr>
          <a:lstStyle/>
          <a:p>
            <a:pPr algn="r"/>
            <a:r>
              <a:rPr lang="zh-CN" sz="1950" b="1" dirty="0">
                <a:solidFill>
                  <a:srgbClr val="C8161E"/>
                </a:solidFill>
                <a:latin typeface="Arial"/>
                <a:ea typeface="Microsoft YaHei"/>
                <a:cs typeface="Arial"/>
              </a:rPr>
              <a:t>6</a:t>
            </a:r>
          </a:p>
        </p:txBody>
      </p:sp>
      <p:sp>
        <p:nvSpPr>
          <p:cNvPr id="21" name="Rectangle 21"/>
          <p:cNvSpPr/>
          <p:nvPr/>
        </p:nvSpPr>
        <p:spPr>
          <a:xfrm>
            <a:off x="914400" y="3943350"/>
            <a:ext cx="4762500" cy="438150"/>
          </a:xfrm>
          <a:prstGeom prst="roundRect">
            <a:avLst>
              <a:gd name="adj" fmla="val 13043"/>
            </a:avLst>
          </a:prstGeom>
          <a:solidFill>
            <a:srgbClr val="FFFFFF"/>
          </a:solidFill>
          <a:ln w="11430">
            <a:solidFill>
              <a:srgbClr val="D9DEE5"/>
            </a:solidFill>
          </a:ln>
        </p:spPr>
      </p:sp>
      <p:sp>
        <p:nvSpPr>
          <p:cNvPr id="22" name="TextBox 22"/>
          <p:cNvSpPr txBox="1"/>
          <p:nvPr/>
        </p:nvSpPr>
        <p:spPr>
          <a:xfrm>
            <a:off x="1088708" y="4091464"/>
            <a:ext cx="746474"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法学理论</a:t>
            </a:r>
          </a:p>
        </p:txBody>
      </p:sp>
      <p:sp>
        <p:nvSpPr>
          <p:cNvPr id="23" name="TextBox 23"/>
          <p:cNvSpPr txBox="1"/>
          <p:nvPr/>
        </p:nvSpPr>
        <p:spPr>
          <a:xfrm>
            <a:off x="5197166" y="4028122"/>
            <a:ext cx="199699" cy="396240"/>
          </a:xfrm>
          <a:prstGeom prst="rect">
            <a:avLst/>
          </a:prstGeom>
          <a:noFill/>
          <a:ln>
            <a:noFill/>
          </a:ln>
        </p:spPr>
        <p:txBody>
          <a:bodyPr wrap="none" lIns="0" tIns="0" rIns="0" bIns="0" anchor="t" anchorCtr="0">
            <a:spAutoFit/>
          </a:bodyPr>
          <a:lstStyle/>
          <a:p>
            <a:pPr algn="r"/>
            <a:r>
              <a:rPr lang="zh-CN" sz="1950" b="1" dirty="0">
                <a:solidFill>
                  <a:srgbClr val="C8161E"/>
                </a:solidFill>
                <a:latin typeface="Arial"/>
                <a:ea typeface="Microsoft YaHei"/>
                <a:cs typeface="Arial"/>
              </a:rPr>
              <a:t>6</a:t>
            </a:r>
          </a:p>
        </p:txBody>
      </p:sp>
      <p:sp>
        <p:nvSpPr>
          <p:cNvPr id="24" name="Rectangle 24"/>
          <p:cNvSpPr/>
          <p:nvPr/>
        </p:nvSpPr>
        <p:spPr>
          <a:xfrm>
            <a:off x="914400" y="4552950"/>
            <a:ext cx="4762500" cy="438150"/>
          </a:xfrm>
          <a:prstGeom prst="roundRect">
            <a:avLst>
              <a:gd name="adj" fmla="val 13043"/>
            </a:avLst>
          </a:prstGeom>
          <a:solidFill>
            <a:srgbClr val="FFFFFF"/>
          </a:solidFill>
          <a:ln w="11430">
            <a:solidFill>
              <a:srgbClr val="D9DEE5"/>
            </a:solidFill>
          </a:ln>
        </p:spPr>
      </p:sp>
      <p:sp>
        <p:nvSpPr>
          <p:cNvPr id="25" name="TextBox 25"/>
          <p:cNvSpPr txBox="1"/>
          <p:nvPr/>
        </p:nvSpPr>
        <p:spPr>
          <a:xfrm>
            <a:off x="1088708" y="4701064"/>
            <a:ext cx="1103519"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知识产权法学</a:t>
            </a:r>
          </a:p>
        </p:txBody>
      </p:sp>
      <p:sp>
        <p:nvSpPr>
          <p:cNvPr id="26" name="TextBox 26"/>
          <p:cNvSpPr txBox="1"/>
          <p:nvPr/>
        </p:nvSpPr>
        <p:spPr>
          <a:xfrm>
            <a:off x="5197166" y="4637722"/>
            <a:ext cx="199699" cy="396240"/>
          </a:xfrm>
          <a:prstGeom prst="rect">
            <a:avLst/>
          </a:prstGeom>
          <a:noFill/>
          <a:ln>
            <a:noFill/>
          </a:ln>
        </p:spPr>
        <p:txBody>
          <a:bodyPr wrap="none" lIns="0" tIns="0" rIns="0" bIns="0" anchor="t" anchorCtr="0">
            <a:spAutoFit/>
          </a:bodyPr>
          <a:lstStyle/>
          <a:p>
            <a:pPr algn="r"/>
            <a:r>
              <a:rPr lang="zh-CN" sz="1950" b="1" dirty="0">
                <a:solidFill>
                  <a:srgbClr val="C8161E"/>
                </a:solidFill>
                <a:latin typeface="Arial"/>
                <a:ea typeface="Microsoft YaHei"/>
                <a:cs typeface="Arial"/>
              </a:rPr>
              <a:t>2</a:t>
            </a:r>
          </a:p>
        </p:txBody>
      </p:sp>
      <p:sp>
        <p:nvSpPr>
          <p:cNvPr id="27" name="Rectangle 27"/>
          <p:cNvSpPr/>
          <p:nvPr/>
        </p:nvSpPr>
        <p:spPr>
          <a:xfrm>
            <a:off x="6248400" y="1504950"/>
            <a:ext cx="4762500" cy="438150"/>
          </a:xfrm>
          <a:prstGeom prst="roundRect">
            <a:avLst>
              <a:gd name="adj" fmla="val 13043"/>
            </a:avLst>
          </a:prstGeom>
          <a:solidFill>
            <a:srgbClr val="FFFFFF"/>
          </a:solidFill>
          <a:ln w="11430">
            <a:solidFill>
              <a:srgbClr val="D9DEE5"/>
            </a:solidFill>
          </a:ln>
        </p:spPr>
      </p:sp>
      <p:sp>
        <p:nvSpPr>
          <p:cNvPr id="28" name="TextBox 28"/>
          <p:cNvSpPr txBox="1"/>
          <p:nvPr/>
        </p:nvSpPr>
        <p:spPr>
          <a:xfrm>
            <a:off x="6422708" y="1653064"/>
            <a:ext cx="746474"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国际法学</a:t>
            </a:r>
          </a:p>
        </p:txBody>
      </p:sp>
      <p:sp>
        <p:nvSpPr>
          <p:cNvPr id="29" name="TextBox 29"/>
          <p:cNvSpPr txBox="1"/>
          <p:nvPr/>
        </p:nvSpPr>
        <p:spPr>
          <a:xfrm>
            <a:off x="10531166" y="1589722"/>
            <a:ext cx="199699" cy="396240"/>
          </a:xfrm>
          <a:prstGeom prst="rect">
            <a:avLst/>
          </a:prstGeom>
          <a:noFill/>
          <a:ln>
            <a:noFill/>
          </a:ln>
        </p:spPr>
        <p:txBody>
          <a:bodyPr wrap="none" lIns="0" tIns="0" rIns="0" bIns="0" anchor="t" anchorCtr="0">
            <a:spAutoFit/>
          </a:bodyPr>
          <a:lstStyle/>
          <a:p>
            <a:pPr algn="r"/>
            <a:r>
              <a:rPr lang="zh-CN" sz="1950" b="1" dirty="0">
                <a:solidFill>
                  <a:srgbClr val="C8161E"/>
                </a:solidFill>
                <a:latin typeface="Arial"/>
                <a:ea typeface="Microsoft YaHei"/>
                <a:cs typeface="Arial"/>
              </a:rPr>
              <a:t>2</a:t>
            </a:r>
          </a:p>
        </p:txBody>
      </p:sp>
      <p:sp>
        <p:nvSpPr>
          <p:cNvPr id="30" name="Rectangle 30"/>
          <p:cNvSpPr/>
          <p:nvPr/>
        </p:nvSpPr>
        <p:spPr>
          <a:xfrm>
            <a:off x="6248400" y="2114550"/>
            <a:ext cx="4762500" cy="438150"/>
          </a:xfrm>
          <a:prstGeom prst="roundRect">
            <a:avLst>
              <a:gd name="adj" fmla="val 13043"/>
            </a:avLst>
          </a:prstGeom>
          <a:solidFill>
            <a:srgbClr val="FFFFFF"/>
          </a:solidFill>
          <a:ln w="11430">
            <a:solidFill>
              <a:srgbClr val="D9DEE5"/>
            </a:solidFill>
          </a:ln>
        </p:spPr>
      </p:sp>
      <p:sp>
        <p:nvSpPr>
          <p:cNvPr id="31" name="TextBox 31"/>
          <p:cNvSpPr txBox="1"/>
          <p:nvPr/>
        </p:nvSpPr>
        <p:spPr>
          <a:xfrm>
            <a:off x="6422708" y="2262664"/>
            <a:ext cx="1639086"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环境与资源保护法学</a:t>
            </a:r>
          </a:p>
        </p:txBody>
      </p:sp>
      <p:sp>
        <p:nvSpPr>
          <p:cNvPr id="32" name="TextBox 32"/>
          <p:cNvSpPr txBox="1"/>
          <p:nvPr/>
        </p:nvSpPr>
        <p:spPr>
          <a:xfrm>
            <a:off x="10531166" y="2199322"/>
            <a:ext cx="199699" cy="396240"/>
          </a:xfrm>
          <a:prstGeom prst="rect">
            <a:avLst/>
          </a:prstGeom>
          <a:noFill/>
          <a:ln>
            <a:noFill/>
          </a:ln>
        </p:spPr>
        <p:txBody>
          <a:bodyPr wrap="none" lIns="0" tIns="0" rIns="0" bIns="0" anchor="t" anchorCtr="0">
            <a:spAutoFit/>
          </a:bodyPr>
          <a:lstStyle/>
          <a:p>
            <a:pPr algn="r"/>
            <a:r>
              <a:rPr lang="zh-CN" sz="1950" b="1" dirty="0">
                <a:solidFill>
                  <a:srgbClr val="C8161E"/>
                </a:solidFill>
                <a:latin typeface="Arial"/>
                <a:ea typeface="Microsoft YaHei"/>
                <a:cs typeface="Arial"/>
              </a:rPr>
              <a:t>2</a:t>
            </a:r>
          </a:p>
        </p:txBody>
      </p:sp>
      <p:sp>
        <p:nvSpPr>
          <p:cNvPr id="33" name="Rectangle 33"/>
          <p:cNvSpPr/>
          <p:nvPr/>
        </p:nvSpPr>
        <p:spPr>
          <a:xfrm>
            <a:off x="6248400" y="2724150"/>
            <a:ext cx="4762500" cy="438150"/>
          </a:xfrm>
          <a:prstGeom prst="roundRect">
            <a:avLst>
              <a:gd name="adj" fmla="val 13043"/>
            </a:avLst>
          </a:prstGeom>
          <a:solidFill>
            <a:srgbClr val="FFFFFF"/>
          </a:solidFill>
          <a:ln w="11430">
            <a:solidFill>
              <a:srgbClr val="D9DEE5"/>
            </a:solidFill>
          </a:ln>
        </p:spPr>
      </p:sp>
      <p:sp>
        <p:nvSpPr>
          <p:cNvPr id="34" name="TextBox 34"/>
          <p:cNvSpPr txBox="1"/>
          <p:nvPr/>
        </p:nvSpPr>
        <p:spPr>
          <a:xfrm>
            <a:off x="6422708" y="2872264"/>
            <a:ext cx="746474"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经济法学</a:t>
            </a:r>
          </a:p>
        </p:txBody>
      </p:sp>
      <p:sp>
        <p:nvSpPr>
          <p:cNvPr id="35" name="TextBox 35"/>
          <p:cNvSpPr txBox="1"/>
          <p:nvPr/>
        </p:nvSpPr>
        <p:spPr>
          <a:xfrm>
            <a:off x="10531166" y="2808922"/>
            <a:ext cx="199699" cy="396240"/>
          </a:xfrm>
          <a:prstGeom prst="rect">
            <a:avLst/>
          </a:prstGeom>
          <a:noFill/>
          <a:ln>
            <a:noFill/>
          </a:ln>
        </p:spPr>
        <p:txBody>
          <a:bodyPr wrap="none" lIns="0" tIns="0" rIns="0" bIns="0" anchor="t" anchorCtr="0">
            <a:spAutoFit/>
          </a:bodyPr>
          <a:lstStyle/>
          <a:p>
            <a:pPr algn="r"/>
            <a:r>
              <a:rPr lang="zh-CN" sz="1950" b="1" dirty="0">
                <a:solidFill>
                  <a:srgbClr val="C8161E"/>
                </a:solidFill>
                <a:latin typeface="Arial"/>
                <a:ea typeface="Microsoft YaHei"/>
                <a:cs typeface="Arial"/>
              </a:rPr>
              <a:t>2</a:t>
            </a:r>
          </a:p>
        </p:txBody>
      </p:sp>
      <p:sp>
        <p:nvSpPr>
          <p:cNvPr id="36" name="Rectangle 36"/>
          <p:cNvSpPr/>
          <p:nvPr/>
        </p:nvSpPr>
        <p:spPr>
          <a:xfrm>
            <a:off x="6248400" y="3333750"/>
            <a:ext cx="4762500" cy="438150"/>
          </a:xfrm>
          <a:prstGeom prst="roundRect">
            <a:avLst>
              <a:gd name="adj" fmla="val 13043"/>
            </a:avLst>
          </a:prstGeom>
          <a:solidFill>
            <a:srgbClr val="FFFFFF"/>
          </a:solidFill>
          <a:ln w="11430">
            <a:solidFill>
              <a:srgbClr val="D9DEE5"/>
            </a:solidFill>
          </a:ln>
        </p:spPr>
      </p:sp>
      <p:sp>
        <p:nvSpPr>
          <p:cNvPr id="37" name="TextBox 37"/>
          <p:cNvSpPr txBox="1"/>
          <p:nvPr/>
        </p:nvSpPr>
        <p:spPr>
          <a:xfrm>
            <a:off x="6422708" y="3481864"/>
            <a:ext cx="567952"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法律史</a:t>
            </a:r>
          </a:p>
        </p:txBody>
      </p:sp>
      <p:sp>
        <p:nvSpPr>
          <p:cNvPr id="38" name="TextBox 38"/>
          <p:cNvSpPr txBox="1"/>
          <p:nvPr/>
        </p:nvSpPr>
        <p:spPr>
          <a:xfrm>
            <a:off x="10531166" y="3418522"/>
            <a:ext cx="199699" cy="396240"/>
          </a:xfrm>
          <a:prstGeom prst="rect">
            <a:avLst/>
          </a:prstGeom>
          <a:noFill/>
          <a:ln>
            <a:noFill/>
          </a:ln>
        </p:spPr>
        <p:txBody>
          <a:bodyPr wrap="none" lIns="0" tIns="0" rIns="0" bIns="0" anchor="t" anchorCtr="0">
            <a:spAutoFit/>
          </a:bodyPr>
          <a:lstStyle/>
          <a:p>
            <a:pPr algn="r"/>
            <a:r>
              <a:rPr lang="zh-CN" sz="1950" b="1" dirty="0">
                <a:solidFill>
                  <a:srgbClr val="C8161E"/>
                </a:solidFill>
                <a:latin typeface="Arial"/>
                <a:ea typeface="Microsoft YaHei"/>
                <a:cs typeface="Arial"/>
              </a:rPr>
              <a:t>2</a:t>
            </a:r>
          </a:p>
        </p:txBody>
      </p:sp>
      <p:sp>
        <p:nvSpPr>
          <p:cNvPr id="39" name="Rectangle 39"/>
          <p:cNvSpPr/>
          <p:nvPr/>
        </p:nvSpPr>
        <p:spPr>
          <a:xfrm>
            <a:off x="6248400" y="3943350"/>
            <a:ext cx="4762500" cy="438150"/>
          </a:xfrm>
          <a:prstGeom prst="roundRect">
            <a:avLst>
              <a:gd name="adj" fmla="val 13043"/>
            </a:avLst>
          </a:prstGeom>
          <a:solidFill>
            <a:srgbClr val="FFFFFF"/>
          </a:solidFill>
          <a:ln w="11430">
            <a:solidFill>
              <a:srgbClr val="D9DEE5"/>
            </a:solidFill>
          </a:ln>
        </p:spPr>
      </p:sp>
      <p:sp>
        <p:nvSpPr>
          <p:cNvPr id="40" name="TextBox 40"/>
          <p:cNvSpPr txBox="1"/>
          <p:nvPr/>
        </p:nvSpPr>
        <p:spPr>
          <a:xfrm>
            <a:off x="6422708" y="4091464"/>
            <a:ext cx="924997" cy="259080"/>
          </a:xfrm>
          <a:prstGeom prst="rect">
            <a:avLst/>
          </a:prstGeom>
          <a:noFill/>
          <a:ln>
            <a:noFill/>
          </a:ln>
        </p:spPr>
        <p:txBody>
          <a:bodyPr wrap="none" lIns="0" tIns="0" rIns="0" bIns="0" anchor="t" anchorCtr="0">
            <a:spAutoFit/>
          </a:bodyPr>
          <a:lstStyle/>
          <a:p>
            <a:pPr algn="l"/>
            <a:r>
              <a:rPr lang="zh-CN" sz="1275" b="1" dirty="0">
                <a:solidFill>
                  <a:srgbClr val="1B1C21"/>
                </a:solidFill>
                <a:latin typeface="Arial"/>
                <a:ea typeface="Microsoft YaHei"/>
                <a:cs typeface="Arial"/>
              </a:rPr>
              <a:t>党内法规学</a:t>
            </a:r>
          </a:p>
        </p:txBody>
      </p:sp>
      <p:sp>
        <p:nvSpPr>
          <p:cNvPr id="41" name="TextBox 41"/>
          <p:cNvSpPr txBox="1"/>
          <p:nvPr/>
        </p:nvSpPr>
        <p:spPr>
          <a:xfrm>
            <a:off x="10599425" y="4028122"/>
            <a:ext cx="131440" cy="396240"/>
          </a:xfrm>
          <a:prstGeom prst="rect">
            <a:avLst/>
          </a:prstGeom>
          <a:noFill/>
          <a:ln>
            <a:noFill/>
          </a:ln>
        </p:spPr>
        <p:txBody>
          <a:bodyPr wrap="none" lIns="0" tIns="0" rIns="0" bIns="0" anchor="t" anchorCtr="0">
            <a:spAutoFit/>
          </a:bodyPr>
          <a:lstStyle/>
          <a:p>
            <a:pPr algn="r"/>
            <a:r>
              <a:rPr lang="zh-CN" sz="1950" b="1" dirty="0">
                <a:solidFill>
                  <a:srgbClr val="C8161E"/>
                </a:solidFill>
                <a:latin typeface="Arial"/>
                <a:ea typeface="Microsoft YaHei"/>
                <a:cs typeface="Arial"/>
              </a:rPr>
              <a:t>1</a:t>
            </a:r>
          </a:p>
        </p:txBody>
      </p:sp>
      <p:sp>
        <p:nvSpPr>
          <p:cNvPr id="42" name="Rectangle 42"/>
          <p:cNvSpPr/>
          <p:nvPr/>
        </p:nvSpPr>
        <p:spPr>
          <a:xfrm>
            <a:off x="914400" y="5429250"/>
            <a:ext cx="3009900" cy="762000"/>
          </a:xfrm>
          <a:prstGeom prst="roundRect">
            <a:avLst>
              <a:gd name="adj" fmla="val 10000"/>
            </a:avLst>
          </a:prstGeom>
          <a:solidFill>
            <a:srgbClr val="E8F5E9"/>
          </a:solidFill>
          <a:ln w="11430">
            <a:solidFill>
              <a:srgbClr val="D9DEE5"/>
            </a:solidFill>
          </a:ln>
        </p:spPr>
      </p:sp>
      <p:sp>
        <p:nvSpPr>
          <p:cNvPr id="43" name="TextBox 43"/>
          <p:cNvSpPr txBox="1"/>
          <p:nvPr/>
        </p:nvSpPr>
        <p:spPr>
          <a:xfrm>
            <a:off x="1203008" y="5615464"/>
            <a:ext cx="746474" cy="259080"/>
          </a:xfrm>
          <a:prstGeom prst="rect">
            <a:avLst/>
          </a:prstGeom>
          <a:noFill/>
          <a:ln>
            <a:noFill/>
          </a:ln>
        </p:spPr>
        <p:txBody>
          <a:bodyPr wrap="none" lIns="0" tIns="0" rIns="0" bIns="0" anchor="t" anchorCtr="0">
            <a:spAutoFit/>
          </a:bodyPr>
          <a:lstStyle/>
          <a:p>
            <a:pPr algn="l"/>
            <a:r>
              <a:rPr lang="zh-CN" sz="1275" b="1" dirty="0">
                <a:solidFill>
                  <a:srgbClr val="5A6472"/>
                </a:solidFill>
                <a:latin typeface="Arial"/>
                <a:ea typeface="Microsoft YaHei"/>
                <a:cs typeface="Arial"/>
              </a:rPr>
              <a:t>五轴分布</a:t>
            </a:r>
          </a:p>
        </p:txBody>
      </p:sp>
      <p:sp>
        <p:nvSpPr>
          <p:cNvPr id="44" name="TextBox 44"/>
          <p:cNvSpPr txBox="1"/>
          <p:nvPr/>
        </p:nvSpPr>
        <p:spPr>
          <a:xfrm>
            <a:off x="1195388" y="5855494"/>
            <a:ext cx="2292281" cy="381000"/>
          </a:xfrm>
          <a:prstGeom prst="rect">
            <a:avLst/>
          </a:prstGeom>
          <a:noFill/>
          <a:ln>
            <a:noFill/>
          </a:ln>
        </p:spPr>
        <p:txBody>
          <a:bodyPr wrap="none" lIns="0" tIns="0" rIns="0" bIns="0" anchor="t" anchorCtr="0">
            <a:spAutoFit/>
          </a:bodyPr>
          <a:lstStyle/>
          <a:p>
            <a:pPr algn="l"/>
            <a:r>
              <a:rPr lang="zh-CN" sz="1875" b="1" dirty="0">
                <a:solidFill>
                  <a:srgbClr val="2E7D32"/>
                </a:solidFill>
                <a:latin typeface="Arial"/>
                <a:ea typeface="Microsoft YaHei"/>
                <a:cs typeface="Arial"/>
              </a:rPr>
              <a:t>10分 49篇 / 9分 1篇</a:t>
            </a:r>
          </a:p>
        </p:txBody>
      </p:sp>
      <p:sp>
        <p:nvSpPr>
          <p:cNvPr id="45" name="Rectangle 45"/>
          <p:cNvSpPr/>
          <p:nvPr/>
        </p:nvSpPr>
        <p:spPr>
          <a:xfrm>
            <a:off x="4591050" y="5429250"/>
            <a:ext cx="3009900" cy="762000"/>
          </a:xfrm>
          <a:prstGeom prst="roundRect">
            <a:avLst>
              <a:gd name="adj" fmla="val 10000"/>
            </a:avLst>
          </a:prstGeom>
          <a:solidFill>
            <a:srgbClr val="F0F7FF"/>
          </a:solidFill>
          <a:ln w="11430">
            <a:solidFill>
              <a:srgbClr val="D9DEE5"/>
            </a:solidFill>
          </a:ln>
        </p:spPr>
      </p:sp>
      <p:sp>
        <p:nvSpPr>
          <p:cNvPr id="46" name="TextBox 46"/>
          <p:cNvSpPr txBox="1"/>
          <p:nvPr/>
        </p:nvSpPr>
        <p:spPr>
          <a:xfrm>
            <a:off x="4879658" y="5615464"/>
            <a:ext cx="746474" cy="259080"/>
          </a:xfrm>
          <a:prstGeom prst="rect">
            <a:avLst/>
          </a:prstGeom>
          <a:noFill/>
          <a:ln>
            <a:noFill/>
          </a:ln>
        </p:spPr>
        <p:txBody>
          <a:bodyPr wrap="none" lIns="0" tIns="0" rIns="0" bIns="0" anchor="t" anchorCtr="0">
            <a:spAutoFit/>
          </a:bodyPr>
          <a:lstStyle/>
          <a:p>
            <a:pPr algn="l"/>
            <a:r>
              <a:rPr lang="zh-CN" sz="1275" b="1" dirty="0">
                <a:solidFill>
                  <a:srgbClr val="5A6472"/>
                </a:solidFill>
                <a:latin typeface="Arial"/>
                <a:ea typeface="Microsoft YaHei"/>
                <a:cs typeface="Arial"/>
              </a:rPr>
              <a:t>刊物分布</a:t>
            </a:r>
          </a:p>
        </p:txBody>
      </p:sp>
      <p:sp>
        <p:nvSpPr>
          <p:cNvPr id="47" name="TextBox 47"/>
          <p:cNvSpPr txBox="1"/>
          <p:nvPr/>
        </p:nvSpPr>
        <p:spPr>
          <a:xfrm>
            <a:off x="4874895" y="5879782"/>
            <a:ext cx="2537022"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法研35 / 中法13 / 社科2</a:t>
            </a:r>
          </a:p>
        </p:txBody>
      </p:sp>
      <p:sp>
        <p:nvSpPr>
          <p:cNvPr id="48" name="Rectangle 48"/>
          <p:cNvSpPr/>
          <p:nvPr/>
        </p:nvSpPr>
        <p:spPr>
          <a:xfrm>
            <a:off x="8267700" y="5429250"/>
            <a:ext cx="3009900" cy="762000"/>
          </a:xfrm>
          <a:prstGeom prst="roundRect">
            <a:avLst>
              <a:gd name="adj" fmla="val 10000"/>
            </a:avLst>
          </a:prstGeom>
          <a:solidFill>
            <a:srgbClr val="FFF8F0"/>
          </a:solidFill>
          <a:ln w="11430">
            <a:solidFill>
              <a:srgbClr val="D9DEE5"/>
            </a:solidFill>
          </a:ln>
        </p:spPr>
      </p:sp>
      <p:sp>
        <p:nvSpPr>
          <p:cNvPr id="49" name="TextBox 49"/>
          <p:cNvSpPr txBox="1"/>
          <p:nvPr/>
        </p:nvSpPr>
        <p:spPr>
          <a:xfrm>
            <a:off x="8556308" y="5615464"/>
            <a:ext cx="746474" cy="259080"/>
          </a:xfrm>
          <a:prstGeom prst="rect">
            <a:avLst/>
          </a:prstGeom>
          <a:noFill/>
          <a:ln>
            <a:noFill/>
          </a:ln>
        </p:spPr>
        <p:txBody>
          <a:bodyPr wrap="none" lIns="0" tIns="0" rIns="0" bIns="0" anchor="t" anchorCtr="0">
            <a:spAutoFit/>
          </a:bodyPr>
          <a:lstStyle/>
          <a:p>
            <a:pPr algn="l"/>
            <a:r>
              <a:rPr lang="zh-CN" sz="1275" b="1" dirty="0">
                <a:solidFill>
                  <a:srgbClr val="5A6472"/>
                </a:solidFill>
                <a:latin typeface="Arial"/>
                <a:ea typeface="Microsoft YaHei"/>
                <a:cs typeface="Arial"/>
              </a:rPr>
              <a:t>配额原则</a:t>
            </a:r>
          </a:p>
        </p:txBody>
      </p:sp>
      <p:sp>
        <p:nvSpPr>
          <p:cNvPr id="50" name="TextBox 50"/>
          <p:cNvSpPr txBox="1"/>
          <p:nvPr/>
        </p:nvSpPr>
        <p:spPr>
          <a:xfrm>
            <a:off x="8550592" y="5871686"/>
            <a:ext cx="1758679" cy="350520"/>
          </a:xfrm>
          <a:prstGeom prst="rect">
            <a:avLst/>
          </a:prstGeom>
          <a:noFill/>
          <a:ln>
            <a:noFill/>
          </a:ln>
        </p:spPr>
        <p:txBody>
          <a:bodyPr wrap="none" lIns="0" tIns="0" rIns="0" bIns="0" anchor="t" anchorCtr="0">
            <a:spAutoFit/>
          </a:bodyPr>
          <a:lstStyle/>
          <a:p>
            <a:pPr algn="l"/>
            <a:r>
              <a:rPr lang="zh-CN" sz="1725" b="1" dirty="0">
                <a:solidFill>
                  <a:srgbClr val="E07B00"/>
                </a:solidFill>
                <a:latin typeface="Arial"/>
                <a:ea typeface="Microsoft YaHei"/>
                <a:cs typeface="Arial"/>
              </a:rPr>
              <a:t>不是纯分数前50</a:t>
            </a:r>
          </a:p>
        </p:txBody>
      </p:sp>
      <p:grpSp>
        <p:nvGrpSpPr>
          <p:cNvPr id="54" name="Group 54"/>
          <p:cNvGrpSpPr/>
          <p:nvPr/>
        </p:nvGrpSpPr>
        <p:grpSpPr>
          <a:xfrm>
            <a:off x="0" y="6516343"/>
            <a:ext cx="12192000" cy="341657"/>
            <a:chOff x="0" y="6516343"/>
            <a:chExt cx="12192000" cy="341657"/>
          </a:xfrm>
        </p:grpSpPr>
        <p:sp>
          <p:nvSpPr>
            <p:cNvPr id="51" name="Rectangle 51"/>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52" name="TextBox 52"/>
            <p:cNvSpPr txBox="1"/>
            <p:nvPr/>
          </p:nvSpPr>
          <p:spPr>
            <a:xfrm>
              <a:off x="668017" y="6516343"/>
              <a:ext cx="1912136"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附录：Top50 配额统计</a:t>
              </a:r>
            </a:p>
          </p:txBody>
        </p:sp>
        <p:sp>
          <p:nvSpPr>
            <p:cNvPr id="53" name="TextBox 53"/>
            <p:cNvSpPr txBox="1"/>
            <p:nvPr/>
          </p:nvSpPr>
          <p:spPr>
            <a:xfrm>
              <a:off x="11329702" y="6516343"/>
              <a:ext cx="194281"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41</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5343702"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附录 A8：Top50 新旧名单差异</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450086" y="953743"/>
            <a:ext cx="5291828"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新规则清除五轴低于 9 分旧入选论文，并补入同学科高归属候选</a:t>
            </a:r>
          </a:p>
        </p:txBody>
      </p:sp>
      <p:sp>
        <p:nvSpPr>
          <p:cNvPr id="9" name="Rectangle 9"/>
          <p:cNvSpPr/>
          <p:nvPr/>
        </p:nvSpPr>
        <p:spPr>
          <a:xfrm>
            <a:off x="914400" y="1524000"/>
            <a:ext cx="4762500" cy="2952750"/>
          </a:xfrm>
          <a:prstGeom prst="roundRect">
            <a:avLst>
              <a:gd name="adj" fmla="val 3226"/>
            </a:avLst>
          </a:prstGeom>
          <a:solidFill>
            <a:srgbClr val="FFFFFF"/>
          </a:solidFill>
          <a:ln w="11430">
            <a:solidFill>
              <a:srgbClr val="D9DEE5"/>
            </a:solidFill>
          </a:ln>
        </p:spPr>
      </p:sp>
      <p:sp>
        <p:nvSpPr>
          <p:cNvPr id="10" name="TextBox 10"/>
          <p:cNvSpPr txBox="1"/>
          <p:nvPr/>
        </p:nvSpPr>
        <p:spPr>
          <a:xfrm>
            <a:off x="1195388" y="1740694"/>
            <a:ext cx="1885355" cy="381000"/>
          </a:xfrm>
          <a:prstGeom prst="rect">
            <a:avLst/>
          </a:prstGeom>
          <a:noFill/>
          <a:ln>
            <a:noFill/>
          </a:ln>
        </p:spPr>
        <p:txBody>
          <a:bodyPr wrap="none" lIns="0" tIns="0" rIns="0" bIns="0" anchor="t" anchorCtr="0">
            <a:spAutoFit/>
          </a:bodyPr>
          <a:lstStyle/>
          <a:p>
            <a:pPr algn="l"/>
            <a:r>
              <a:rPr lang="zh-CN" sz="1875" b="1" dirty="0">
                <a:solidFill>
                  <a:srgbClr val="C8161E"/>
                </a:solidFill>
                <a:latin typeface="Arial"/>
                <a:ea typeface="Microsoft YaHei"/>
                <a:cs typeface="Arial"/>
              </a:rPr>
              <a:t>移出旧配额名单</a:t>
            </a:r>
          </a:p>
        </p:txBody>
      </p:sp>
      <p:sp>
        <p:nvSpPr>
          <p:cNvPr id="11" name="TextBox 11"/>
          <p:cNvSpPr txBox="1"/>
          <p:nvPr/>
        </p:nvSpPr>
        <p:spPr>
          <a:xfrm>
            <a:off x="1203960" y="2137410"/>
            <a:ext cx="379095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原因：五轴归属低于 9 分，不符合正式 Top50 资格。</a:t>
            </a:r>
          </a:p>
        </p:txBody>
      </p:sp>
      <p:sp>
        <p:nvSpPr>
          <p:cNvPr id="12" name="Rectangle 12"/>
          <p:cNvSpPr/>
          <p:nvPr/>
        </p:nvSpPr>
        <p:spPr>
          <a:xfrm>
            <a:off x="1219200" y="2533650"/>
            <a:ext cx="1143000" cy="247650"/>
          </a:xfrm>
          <a:prstGeom prst="roundRect">
            <a:avLst>
              <a:gd name="adj" fmla="val 50000"/>
            </a:avLst>
          </a:prstGeom>
          <a:solidFill>
            <a:srgbClr val="FFEBEE"/>
          </a:solidFill>
          <a:ln>
            <a:noFill/>
          </a:ln>
        </p:spPr>
      </p:sp>
      <p:sp>
        <p:nvSpPr>
          <p:cNvPr id="13" name="TextBox 13"/>
          <p:cNvSpPr txBox="1"/>
          <p:nvPr/>
        </p:nvSpPr>
        <p:spPr>
          <a:xfrm>
            <a:off x="1636843" y="2594610"/>
            <a:ext cx="307715" cy="243840"/>
          </a:xfrm>
          <a:prstGeom prst="rect">
            <a:avLst/>
          </a:prstGeom>
          <a:noFill/>
          <a:ln>
            <a:noFill/>
          </a:ln>
        </p:spPr>
        <p:txBody>
          <a:bodyPr wrap="none" lIns="0" tIns="0" rIns="0" bIns="0" anchor="t" anchorCtr="0">
            <a:spAutoFit/>
          </a:bodyPr>
          <a:lstStyle/>
          <a:p>
            <a:pPr algn="ctr"/>
            <a:r>
              <a:rPr lang="zh-CN" sz="1200" b="1" dirty="0">
                <a:solidFill>
                  <a:srgbClr val="C8161E"/>
                </a:solidFill>
                <a:latin typeface="Arial"/>
                <a:ea typeface="Microsoft YaHei"/>
                <a:cs typeface="Arial"/>
              </a:rPr>
              <a:t>489</a:t>
            </a:r>
          </a:p>
        </p:txBody>
      </p:sp>
      <p:sp>
        <p:nvSpPr>
          <p:cNvPr id="14" name="TextBox 14"/>
          <p:cNvSpPr txBox="1"/>
          <p:nvPr/>
        </p:nvSpPr>
        <p:spPr>
          <a:xfrm>
            <a:off x="2557462" y="2602706"/>
            <a:ext cx="2578894"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保留为一般高质量论文或专家复核样本</a:t>
            </a:r>
          </a:p>
        </p:txBody>
      </p:sp>
      <p:sp>
        <p:nvSpPr>
          <p:cNvPr id="15" name="Rectangle 15"/>
          <p:cNvSpPr/>
          <p:nvPr/>
        </p:nvSpPr>
        <p:spPr>
          <a:xfrm>
            <a:off x="1219200" y="2838450"/>
            <a:ext cx="1143000" cy="247650"/>
          </a:xfrm>
          <a:prstGeom prst="roundRect">
            <a:avLst>
              <a:gd name="adj" fmla="val 50000"/>
            </a:avLst>
          </a:prstGeom>
          <a:solidFill>
            <a:srgbClr val="FFEBEE"/>
          </a:solidFill>
          <a:ln>
            <a:noFill/>
          </a:ln>
        </p:spPr>
      </p:sp>
      <p:sp>
        <p:nvSpPr>
          <p:cNvPr id="16" name="TextBox 16"/>
          <p:cNvSpPr txBox="1"/>
          <p:nvPr/>
        </p:nvSpPr>
        <p:spPr>
          <a:xfrm>
            <a:off x="1636843" y="2899410"/>
            <a:ext cx="307715" cy="243840"/>
          </a:xfrm>
          <a:prstGeom prst="rect">
            <a:avLst/>
          </a:prstGeom>
          <a:noFill/>
          <a:ln>
            <a:noFill/>
          </a:ln>
        </p:spPr>
        <p:txBody>
          <a:bodyPr wrap="none" lIns="0" tIns="0" rIns="0" bIns="0" anchor="t" anchorCtr="0">
            <a:spAutoFit/>
          </a:bodyPr>
          <a:lstStyle/>
          <a:p>
            <a:pPr algn="ctr"/>
            <a:r>
              <a:rPr lang="zh-CN" sz="1200" b="1" dirty="0">
                <a:solidFill>
                  <a:srgbClr val="C8161E"/>
                </a:solidFill>
                <a:latin typeface="Arial"/>
                <a:ea typeface="Microsoft YaHei"/>
                <a:cs typeface="Arial"/>
              </a:rPr>
              <a:t>683</a:t>
            </a:r>
          </a:p>
        </p:txBody>
      </p:sp>
      <p:sp>
        <p:nvSpPr>
          <p:cNvPr id="17" name="TextBox 17"/>
          <p:cNvSpPr txBox="1"/>
          <p:nvPr/>
        </p:nvSpPr>
        <p:spPr>
          <a:xfrm>
            <a:off x="2557462" y="2907506"/>
            <a:ext cx="2578894"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保留为一般高质量论文或专家复核样本</a:t>
            </a:r>
          </a:p>
        </p:txBody>
      </p:sp>
      <p:sp>
        <p:nvSpPr>
          <p:cNvPr id="18" name="Rectangle 18"/>
          <p:cNvSpPr/>
          <p:nvPr/>
        </p:nvSpPr>
        <p:spPr>
          <a:xfrm>
            <a:off x="1219200" y="3143250"/>
            <a:ext cx="1143000" cy="247650"/>
          </a:xfrm>
          <a:prstGeom prst="roundRect">
            <a:avLst>
              <a:gd name="adj" fmla="val 50000"/>
            </a:avLst>
          </a:prstGeom>
          <a:solidFill>
            <a:srgbClr val="FFEBEE"/>
          </a:solidFill>
          <a:ln>
            <a:noFill/>
          </a:ln>
        </p:spPr>
      </p:sp>
      <p:sp>
        <p:nvSpPr>
          <p:cNvPr id="19" name="TextBox 19"/>
          <p:cNvSpPr txBox="1"/>
          <p:nvPr/>
        </p:nvSpPr>
        <p:spPr>
          <a:xfrm>
            <a:off x="1636843" y="3204210"/>
            <a:ext cx="307715" cy="243840"/>
          </a:xfrm>
          <a:prstGeom prst="rect">
            <a:avLst/>
          </a:prstGeom>
          <a:noFill/>
          <a:ln>
            <a:noFill/>
          </a:ln>
        </p:spPr>
        <p:txBody>
          <a:bodyPr wrap="none" lIns="0" tIns="0" rIns="0" bIns="0" anchor="t" anchorCtr="0">
            <a:spAutoFit/>
          </a:bodyPr>
          <a:lstStyle/>
          <a:p>
            <a:pPr algn="ctr"/>
            <a:r>
              <a:rPr lang="zh-CN" sz="1200" b="1" dirty="0">
                <a:solidFill>
                  <a:srgbClr val="C8161E"/>
                </a:solidFill>
                <a:latin typeface="Arial"/>
                <a:ea typeface="Microsoft YaHei"/>
                <a:cs typeface="Arial"/>
              </a:rPr>
              <a:t>820</a:t>
            </a:r>
          </a:p>
        </p:txBody>
      </p:sp>
      <p:sp>
        <p:nvSpPr>
          <p:cNvPr id="20" name="TextBox 20"/>
          <p:cNvSpPr txBox="1"/>
          <p:nvPr/>
        </p:nvSpPr>
        <p:spPr>
          <a:xfrm>
            <a:off x="2557462" y="3212306"/>
            <a:ext cx="2578894"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保留为一般高质量论文或专家复核样本</a:t>
            </a:r>
          </a:p>
        </p:txBody>
      </p:sp>
      <p:sp>
        <p:nvSpPr>
          <p:cNvPr id="21" name="Rectangle 21"/>
          <p:cNvSpPr/>
          <p:nvPr/>
        </p:nvSpPr>
        <p:spPr>
          <a:xfrm>
            <a:off x="1219200" y="3448050"/>
            <a:ext cx="1143000" cy="247650"/>
          </a:xfrm>
          <a:prstGeom prst="roundRect">
            <a:avLst>
              <a:gd name="adj" fmla="val 50000"/>
            </a:avLst>
          </a:prstGeom>
          <a:solidFill>
            <a:srgbClr val="FFEBEE"/>
          </a:solidFill>
          <a:ln>
            <a:noFill/>
          </a:ln>
        </p:spPr>
      </p:sp>
      <p:sp>
        <p:nvSpPr>
          <p:cNvPr id="22" name="TextBox 22"/>
          <p:cNvSpPr txBox="1"/>
          <p:nvPr/>
        </p:nvSpPr>
        <p:spPr>
          <a:xfrm>
            <a:off x="1636843" y="3509010"/>
            <a:ext cx="307715" cy="243840"/>
          </a:xfrm>
          <a:prstGeom prst="rect">
            <a:avLst/>
          </a:prstGeom>
          <a:noFill/>
          <a:ln>
            <a:noFill/>
          </a:ln>
        </p:spPr>
        <p:txBody>
          <a:bodyPr wrap="none" lIns="0" tIns="0" rIns="0" bIns="0" anchor="t" anchorCtr="0">
            <a:spAutoFit/>
          </a:bodyPr>
          <a:lstStyle/>
          <a:p>
            <a:pPr algn="ctr"/>
            <a:r>
              <a:rPr lang="zh-CN" sz="1200" b="1" dirty="0">
                <a:solidFill>
                  <a:srgbClr val="C8161E"/>
                </a:solidFill>
                <a:latin typeface="Arial"/>
                <a:ea typeface="Microsoft YaHei"/>
                <a:cs typeface="Arial"/>
              </a:rPr>
              <a:t>956</a:t>
            </a:r>
          </a:p>
        </p:txBody>
      </p:sp>
      <p:sp>
        <p:nvSpPr>
          <p:cNvPr id="23" name="TextBox 23"/>
          <p:cNvSpPr txBox="1"/>
          <p:nvPr/>
        </p:nvSpPr>
        <p:spPr>
          <a:xfrm>
            <a:off x="2557462" y="3517106"/>
            <a:ext cx="2578894"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保留为一般高质量论文或专家复核样本</a:t>
            </a:r>
          </a:p>
        </p:txBody>
      </p:sp>
      <p:sp>
        <p:nvSpPr>
          <p:cNvPr id="24" name="Rectangle 24"/>
          <p:cNvSpPr/>
          <p:nvPr/>
        </p:nvSpPr>
        <p:spPr>
          <a:xfrm>
            <a:off x="1219200" y="3752850"/>
            <a:ext cx="1143000" cy="247650"/>
          </a:xfrm>
          <a:prstGeom prst="roundRect">
            <a:avLst>
              <a:gd name="adj" fmla="val 50000"/>
            </a:avLst>
          </a:prstGeom>
          <a:solidFill>
            <a:srgbClr val="FFEBEE"/>
          </a:solidFill>
          <a:ln>
            <a:noFill/>
          </a:ln>
        </p:spPr>
      </p:sp>
      <p:sp>
        <p:nvSpPr>
          <p:cNvPr id="25" name="TextBox 25"/>
          <p:cNvSpPr txBox="1"/>
          <p:nvPr/>
        </p:nvSpPr>
        <p:spPr>
          <a:xfrm>
            <a:off x="1611640" y="3813810"/>
            <a:ext cx="358121" cy="243840"/>
          </a:xfrm>
          <a:prstGeom prst="rect">
            <a:avLst/>
          </a:prstGeom>
          <a:noFill/>
          <a:ln>
            <a:noFill/>
          </a:ln>
        </p:spPr>
        <p:txBody>
          <a:bodyPr wrap="none" lIns="0" tIns="0" rIns="0" bIns="0" anchor="t" anchorCtr="0">
            <a:spAutoFit/>
          </a:bodyPr>
          <a:lstStyle/>
          <a:p>
            <a:pPr algn="ctr"/>
            <a:r>
              <a:rPr lang="zh-CN" sz="1200" b="1" dirty="0">
                <a:solidFill>
                  <a:srgbClr val="C8161E"/>
                </a:solidFill>
                <a:latin typeface="Arial"/>
                <a:ea typeface="Microsoft YaHei"/>
                <a:cs typeface="Arial"/>
              </a:rPr>
              <a:t>1387</a:t>
            </a:r>
          </a:p>
        </p:txBody>
      </p:sp>
      <p:sp>
        <p:nvSpPr>
          <p:cNvPr id="26" name="TextBox 26"/>
          <p:cNvSpPr txBox="1"/>
          <p:nvPr/>
        </p:nvSpPr>
        <p:spPr>
          <a:xfrm>
            <a:off x="2557462" y="3821906"/>
            <a:ext cx="2578894"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保留为一般高质量论文或专家复核样本</a:t>
            </a:r>
          </a:p>
        </p:txBody>
      </p:sp>
      <p:sp>
        <p:nvSpPr>
          <p:cNvPr id="27" name="Rectangle 27"/>
          <p:cNvSpPr/>
          <p:nvPr/>
        </p:nvSpPr>
        <p:spPr>
          <a:xfrm>
            <a:off x="1219200" y="4057650"/>
            <a:ext cx="1143000" cy="247650"/>
          </a:xfrm>
          <a:prstGeom prst="roundRect">
            <a:avLst>
              <a:gd name="adj" fmla="val 50000"/>
            </a:avLst>
          </a:prstGeom>
          <a:solidFill>
            <a:srgbClr val="FFEBEE"/>
          </a:solidFill>
          <a:ln>
            <a:noFill/>
          </a:ln>
        </p:spPr>
      </p:sp>
      <p:sp>
        <p:nvSpPr>
          <p:cNvPr id="28" name="TextBox 28"/>
          <p:cNvSpPr txBox="1"/>
          <p:nvPr/>
        </p:nvSpPr>
        <p:spPr>
          <a:xfrm>
            <a:off x="1611640" y="4118610"/>
            <a:ext cx="358121" cy="243840"/>
          </a:xfrm>
          <a:prstGeom prst="rect">
            <a:avLst/>
          </a:prstGeom>
          <a:noFill/>
          <a:ln>
            <a:noFill/>
          </a:ln>
        </p:spPr>
        <p:txBody>
          <a:bodyPr wrap="none" lIns="0" tIns="0" rIns="0" bIns="0" anchor="t" anchorCtr="0">
            <a:spAutoFit/>
          </a:bodyPr>
          <a:lstStyle/>
          <a:p>
            <a:pPr algn="ctr"/>
            <a:r>
              <a:rPr lang="zh-CN" sz="1200" b="1" dirty="0">
                <a:solidFill>
                  <a:srgbClr val="C8161E"/>
                </a:solidFill>
                <a:latin typeface="Arial"/>
                <a:ea typeface="Microsoft YaHei"/>
                <a:cs typeface="Arial"/>
              </a:rPr>
              <a:t>1602</a:t>
            </a:r>
          </a:p>
        </p:txBody>
      </p:sp>
      <p:sp>
        <p:nvSpPr>
          <p:cNvPr id="29" name="TextBox 29"/>
          <p:cNvSpPr txBox="1"/>
          <p:nvPr/>
        </p:nvSpPr>
        <p:spPr>
          <a:xfrm>
            <a:off x="2557462" y="4126706"/>
            <a:ext cx="2578894" cy="228600"/>
          </a:xfrm>
          <a:prstGeom prst="rect">
            <a:avLst/>
          </a:prstGeom>
          <a:noFill/>
          <a:ln>
            <a:noFill/>
          </a:ln>
        </p:spPr>
        <p:txBody>
          <a:bodyPr wrap="none" lIns="0" tIns="0" rIns="0" bIns="0" anchor="t" anchorCtr="0">
            <a:spAutoFit/>
          </a:bodyPr>
          <a:lstStyle/>
          <a:p>
            <a:pPr algn="l"/>
            <a:r>
              <a:rPr lang="zh-CN" sz="1125" dirty="0">
                <a:solidFill>
                  <a:srgbClr val="1B1C21"/>
                </a:solidFill>
                <a:latin typeface="Arial"/>
                <a:ea typeface="Microsoft YaHei"/>
                <a:cs typeface="Arial"/>
              </a:rPr>
              <a:t>保留为一般高质量论文或专家复核样本</a:t>
            </a:r>
          </a:p>
        </p:txBody>
      </p:sp>
      <p:sp>
        <p:nvSpPr>
          <p:cNvPr id="30" name="Rectangle 30"/>
          <p:cNvSpPr/>
          <p:nvPr/>
        </p:nvSpPr>
        <p:spPr>
          <a:xfrm>
            <a:off x="6515100" y="1524000"/>
            <a:ext cx="4762500" cy="2952750"/>
          </a:xfrm>
          <a:prstGeom prst="roundRect">
            <a:avLst>
              <a:gd name="adj" fmla="val 3226"/>
            </a:avLst>
          </a:prstGeom>
          <a:solidFill>
            <a:srgbClr val="FFFFFF"/>
          </a:solidFill>
          <a:ln w="11430">
            <a:solidFill>
              <a:srgbClr val="D9DEE5"/>
            </a:solidFill>
          </a:ln>
        </p:spPr>
      </p:sp>
      <p:sp>
        <p:nvSpPr>
          <p:cNvPr id="31" name="TextBox 31"/>
          <p:cNvSpPr txBox="1"/>
          <p:nvPr/>
        </p:nvSpPr>
        <p:spPr>
          <a:xfrm>
            <a:off x="6796088" y="1740694"/>
            <a:ext cx="1898481" cy="381000"/>
          </a:xfrm>
          <a:prstGeom prst="rect">
            <a:avLst/>
          </a:prstGeom>
          <a:noFill/>
          <a:ln>
            <a:noFill/>
          </a:ln>
        </p:spPr>
        <p:txBody>
          <a:bodyPr wrap="none" lIns="0" tIns="0" rIns="0" bIns="0" anchor="t" anchorCtr="0">
            <a:spAutoFit/>
          </a:bodyPr>
          <a:lstStyle/>
          <a:p>
            <a:pPr algn="l"/>
            <a:r>
              <a:rPr lang="zh-CN" sz="1875" b="1" dirty="0">
                <a:solidFill>
                  <a:srgbClr val="1F4D78"/>
                </a:solidFill>
                <a:latin typeface="Arial"/>
                <a:ea typeface="Microsoft YaHei"/>
                <a:cs typeface="Arial"/>
              </a:rPr>
              <a:t>补入正式 Top50</a:t>
            </a:r>
          </a:p>
        </p:txBody>
      </p:sp>
      <p:sp>
        <p:nvSpPr>
          <p:cNvPr id="32" name="TextBox 32"/>
          <p:cNvSpPr txBox="1"/>
          <p:nvPr/>
        </p:nvSpPr>
        <p:spPr>
          <a:xfrm>
            <a:off x="6804660" y="2137410"/>
            <a:ext cx="3710940" cy="243840"/>
          </a:xfrm>
          <a:prstGeom prst="rect">
            <a:avLst/>
          </a:prstGeom>
          <a:noFill/>
          <a:ln>
            <a:noFill/>
          </a:ln>
        </p:spPr>
        <p:txBody>
          <a:bodyPr wrap="none" lIns="0" tIns="0" rIns="0" bIns="0" anchor="t" anchorCtr="0">
            <a:spAutoFit/>
          </a:bodyPr>
          <a:lstStyle/>
          <a:p>
            <a:pPr algn="l"/>
            <a:r>
              <a:rPr lang="zh-CN" sz="1200" dirty="0">
                <a:solidFill>
                  <a:srgbClr val="5A6472"/>
                </a:solidFill>
                <a:latin typeface="Arial"/>
                <a:ea typeface="Microsoft YaHei"/>
                <a:cs typeface="Arial"/>
              </a:rPr>
              <a:t>原因：同学科候选中五轴归属更强，满足配额补足。</a:t>
            </a:r>
          </a:p>
        </p:txBody>
      </p:sp>
      <p:sp>
        <p:nvSpPr>
          <p:cNvPr id="33" name="Rectangle 33"/>
          <p:cNvSpPr/>
          <p:nvPr/>
        </p:nvSpPr>
        <p:spPr>
          <a:xfrm>
            <a:off x="6819900" y="2533650"/>
            <a:ext cx="1714500" cy="247650"/>
          </a:xfrm>
          <a:prstGeom prst="roundRect">
            <a:avLst>
              <a:gd name="adj" fmla="val 50000"/>
            </a:avLst>
          </a:prstGeom>
          <a:solidFill>
            <a:srgbClr val="F0F7FF"/>
          </a:solidFill>
          <a:ln>
            <a:noFill/>
          </a:ln>
        </p:spPr>
      </p:sp>
      <p:sp>
        <p:nvSpPr>
          <p:cNvPr id="34" name="TextBox 34"/>
          <p:cNvSpPr txBox="1"/>
          <p:nvPr/>
        </p:nvSpPr>
        <p:spPr>
          <a:xfrm>
            <a:off x="6910706" y="2602706"/>
            <a:ext cx="1532888" cy="228600"/>
          </a:xfrm>
          <a:prstGeom prst="rect">
            <a:avLst/>
          </a:prstGeom>
          <a:noFill/>
          <a:ln>
            <a:noFill/>
          </a:ln>
        </p:spPr>
        <p:txBody>
          <a:bodyPr wrap="none" lIns="0" tIns="0" rIns="0" bIns="0" anchor="t" anchorCtr="0">
            <a:spAutoFit/>
          </a:bodyPr>
          <a:lstStyle/>
          <a:p>
            <a:pPr algn="ctr"/>
            <a:r>
              <a:rPr lang="zh-CN" sz="1125" b="1" dirty="0">
                <a:solidFill>
                  <a:srgbClr val="1F4D78"/>
                </a:solidFill>
                <a:latin typeface="Arial"/>
                <a:ea typeface="Microsoft YaHei"/>
                <a:cs typeface="Arial"/>
              </a:rPr>
              <a:t>413 · 法学理论 · 10分</a:t>
            </a:r>
          </a:p>
        </p:txBody>
      </p:sp>
      <p:sp>
        <p:nvSpPr>
          <p:cNvPr id="35" name="TextBox 35"/>
          <p:cNvSpPr txBox="1"/>
          <p:nvPr/>
        </p:nvSpPr>
        <p:spPr>
          <a:xfrm>
            <a:off x="8711565" y="2610802"/>
            <a:ext cx="2546985"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抢劫罪与敲诈勒索罪之界分：基于被害人</a:t>
            </a:r>
          </a:p>
        </p:txBody>
      </p:sp>
      <p:sp>
        <p:nvSpPr>
          <p:cNvPr id="36" name="Rectangle 36"/>
          <p:cNvSpPr/>
          <p:nvPr/>
        </p:nvSpPr>
        <p:spPr>
          <a:xfrm>
            <a:off x="6819900" y="2838450"/>
            <a:ext cx="1714500" cy="247650"/>
          </a:xfrm>
          <a:prstGeom prst="roundRect">
            <a:avLst>
              <a:gd name="adj" fmla="val 50000"/>
            </a:avLst>
          </a:prstGeom>
          <a:solidFill>
            <a:srgbClr val="F0F7FF"/>
          </a:solidFill>
          <a:ln>
            <a:noFill/>
          </a:ln>
        </p:spPr>
      </p:sp>
      <p:sp>
        <p:nvSpPr>
          <p:cNvPr id="37" name="TextBox 37"/>
          <p:cNvSpPr txBox="1"/>
          <p:nvPr/>
        </p:nvSpPr>
        <p:spPr>
          <a:xfrm>
            <a:off x="6887078" y="2907506"/>
            <a:ext cx="1580144" cy="228600"/>
          </a:xfrm>
          <a:prstGeom prst="rect">
            <a:avLst/>
          </a:prstGeom>
          <a:noFill/>
          <a:ln>
            <a:noFill/>
          </a:ln>
        </p:spPr>
        <p:txBody>
          <a:bodyPr wrap="none" lIns="0" tIns="0" rIns="0" bIns="0" anchor="t" anchorCtr="0">
            <a:spAutoFit/>
          </a:bodyPr>
          <a:lstStyle/>
          <a:p>
            <a:pPr algn="ctr"/>
            <a:r>
              <a:rPr lang="zh-CN" sz="1125" b="1" dirty="0">
                <a:solidFill>
                  <a:srgbClr val="1F4D78"/>
                </a:solidFill>
                <a:latin typeface="Arial"/>
                <a:ea typeface="Microsoft YaHei"/>
                <a:cs typeface="Arial"/>
              </a:rPr>
              <a:t>1194 · 法学理论 · 10分</a:t>
            </a:r>
          </a:p>
        </p:txBody>
      </p:sp>
      <p:sp>
        <p:nvSpPr>
          <p:cNvPr id="38" name="TextBox 38"/>
          <p:cNvSpPr txBox="1"/>
          <p:nvPr/>
        </p:nvSpPr>
        <p:spPr>
          <a:xfrm>
            <a:off x="8711565" y="2915602"/>
            <a:ext cx="2546985"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从基本权理论看法律行为之阻却生效要件</a:t>
            </a:r>
          </a:p>
        </p:txBody>
      </p:sp>
      <p:sp>
        <p:nvSpPr>
          <p:cNvPr id="39" name="Rectangle 39"/>
          <p:cNvSpPr/>
          <p:nvPr/>
        </p:nvSpPr>
        <p:spPr>
          <a:xfrm>
            <a:off x="6819900" y="3143250"/>
            <a:ext cx="1714500" cy="247650"/>
          </a:xfrm>
          <a:prstGeom prst="roundRect">
            <a:avLst>
              <a:gd name="adj" fmla="val 50000"/>
            </a:avLst>
          </a:prstGeom>
          <a:solidFill>
            <a:srgbClr val="F0F7FF"/>
          </a:solidFill>
          <a:ln>
            <a:noFill/>
          </a:ln>
        </p:spPr>
      </p:sp>
      <p:sp>
        <p:nvSpPr>
          <p:cNvPr id="40" name="TextBox 40"/>
          <p:cNvSpPr txBox="1"/>
          <p:nvPr/>
        </p:nvSpPr>
        <p:spPr>
          <a:xfrm>
            <a:off x="6572039" y="3212306"/>
            <a:ext cx="2210223" cy="228600"/>
          </a:xfrm>
          <a:prstGeom prst="rect">
            <a:avLst/>
          </a:prstGeom>
          <a:noFill/>
          <a:ln>
            <a:noFill/>
          </a:ln>
        </p:spPr>
        <p:txBody>
          <a:bodyPr wrap="none" lIns="0" tIns="0" rIns="0" bIns="0" anchor="t" anchorCtr="0">
            <a:spAutoFit/>
          </a:bodyPr>
          <a:lstStyle/>
          <a:p>
            <a:pPr algn="ctr"/>
            <a:r>
              <a:rPr lang="zh-CN" sz="1125" b="1" dirty="0">
                <a:solidFill>
                  <a:srgbClr val="1F4D78"/>
                </a:solidFill>
                <a:latin typeface="Arial"/>
                <a:ea typeface="Microsoft YaHei"/>
                <a:cs typeface="Arial"/>
              </a:rPr>
              <a:t>1401 · 宪法学与行政法学 · 10分</a:t>
            </a:r>
          </a:p>
        </p:txBody>
      </p:sp>
      <p:sp>
        <p:nvSpPr>
          <p:cNvPr id="41" name="TextBox 41"/>
          <p:cNvSpPr txBox="1"/>
          <p:nvPr/>
        </p:nvSpPr>
        <p:spPr>
          <a:xfrm>
            <a:off x="8711565" y="3220402"/>
            <a:ext cx="2406968"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基本权利的功能体系与行政法治的进路</a:t>
            </a:r>
          </a:p>
        </p:txBody>
      </p:sp>
      <p:sp>
        <p:nvSpPr>
          <p:cNvPr id="42" name="Rectangle 42"/>
          <p:cNvSpPr/>
          <p:nvPr/>
        </p:nvSpPr>
        <p:spPr>
          <a:xfrm>
            <a:off x="6819900" y="3448050"/>
            <a:ext cx="1714500" cy="247650"/>
          </a:xfrm>
          <a:prstGeom prst="roundRect">
            <a:avLst>
              <a:gd name="adj" fmla="val 50000"/>
            </a:avLst>
          </a:prstGeom>
          <a:solidFill>
            <a:srgbClr val="F0F7FF"/>
          </a:solidFill>
          <a:ln>
            <a:noFill/>
          </a:ln>
        </p:spPr>
      </p:sp>
      <p:sp>
        <p:nvSpPr>
          <p:cNvPr id="43" name="TextBox 43"/>
          <p:cNvSpPr txBox="1"/>
          <p:nvPr/>
        </p:nvSpPr>
        <p:spPr>
          <a:xfrm>
            <a:off x="6867388" y="3517106"/>
            <a:ext cx="1619524" cy="228600"/>
          </a:xfrm>
          <a:prstGeom prst="rect">
            <a:avLst/>
          </a:prstGeom>
          <a:noFill/>
          <a:ln>
            <a:noFill/>
          </a:ln>
        </p:spPr>
        <p:txBody>
          <a:bodyPr wrap="none" lIns="0" tIns="0" rIns="0" bIns="0" anchor="t" anchorCtr="0">
            <a:spAutoFit/>
          </a:bodyPr>
          <a:lstStyle/>
          <a:p>
            <a:pPr algn="ctr"/>
            <a:r>
              <a:rPr lang="zh-CN" sz="1125" b="1" dirty="0">
                <a:solidFill>
                  <a:srgbClr val="1F4D78"/>
                </a:solidFill>
                <a:latin typeface="Arial"/>
                <a:ea typeface="Microsoft YaHei"/>
                <a:cs typeface="Arial"/>
              </a:rPr>
              <a:t>1642 · 国际法学 · 10分</a:t>
            </a:r>
          </a:p>
        </p:txBody>
      </p:sp>
      <p:sp>
        <p:nvSpPr>
          <p:cNvPr id="44" name="TextBox 44"/>
          <p:cNvSpPr txBox="1"/>
          <p:nvPr/>
        </p:nvSpPr>
        <p:spPr>
          <a:xfrm>
            <a:off x="8711565" y="3525202"/>
            <a:ext cx="2546985"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现代监护理念下监护与行为能力关系的重</a:t>
            </a:r>
          </a:p>
        </p:txBody>
      </p:sp>
      <p:sp>
        <p:nvSpPr>
          <p:cNvPr id="45" name="Rectangle 45"/>
          <p:cNvSpPr/>
          <p:nvPr/>
        </p:nvSpPr>
        <p:spPr>
          <a:xfrm>
            <a:off x="6819900" y="3752850"/>
            <a:ext cx="1714500" cy="247650"/>
          </a:xfrm>
          <a:prstGeom prst="roundRect">
            <a:avLst>
              <a:gd name="adj" fmla="val 50000"/>
            </a:avLst>
          </a:prstGeom>
          <a:solidFill>
            <a:srgbClr val="F0F7FF"/>
          </a:solidFill>
          <a:ln>
            <a:noFill/>
          </a:ln>
        </p:spPr>
      </p:sp>
      <p:sp>
        <p:nvSpPr>
          <p:cNvPr id="46" name="TextBox 46"/>
          <p:cNvSpPr txBox="1"/>
          <p:nvPr/>
        </p:nvSpPr>
        <p:spPr>
          <a:xfrm>
            <a:off x="6552349" y="3821906"/>
            <a:ext cx="2249603" cy="228600"/>
          </a:xfrm>
          <a:prstGeom prst="rect">
            <a:avLst/>
          </a:prstGeom>
          <a:noFill/>
          <a:ln>
            <a:noFill/>
          </a:ln>
        </p:spPr>
        <p:txBody>
          <a:bodyPr wrap="none" lIns="0" tIns="0" rIns="0" bIns="0" anchor="t" anchorCtr="0">
            <a:spAutoFit/>
          </a:bodyPr>
          <a:lstStyle/>
          <a:p>
            <a:pPr algn="ctr"/>
            <a:r>
              <a:rPr lang="zh-CN" sz="1125" b="1" dirty="0">
                <a:solidFill>
                  <a:srgbClr val="1F4D78"/>
                </a:solidFill>
                <a:latin typeface="Arial"/>
                <a:ea typeface="Microsoft YaHei"/>
                <a:cs typeface="Arial"/>
              </a:rPr>
              <a:t>1763 · 宪法学与行政法学 · 10分</a:t>
            </a:r>
          </a:p>
        </p:txBody>
      </p:sp>
      <p:sp>
        <p:nvSpPr>
          <p:cNvPr id="47" name="TextBox 47"/>
          <p:cNvSpPr txBox="1"/>
          <p:nvPr/>
        </p:nvSpPr>
        <p:spPr>
          <a:xfrm>
            <a:off x="8711565" y="3830002"/>
            <a:ext cx="1440847"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论行政行为“明显不当”</a:t>
            </a:r>
          </a:p>
        </p:txBody>
      </p:sp>
      <p:sp>
        <p:nvSpPr>
          <p:cNvPr id="48" name="Rectangle 48"/>
          <p:cNvSpPr/>
          <p:nvPr/>
        </p:nvSpPr>
        <p:spPr>
          <a:xfrm>
            <a:off x="6819900" y="4057650"/>
            <a:ext cx="1714500" cy="247650"/>
          </a:xfrm>
          <a:prstGeom prst="roundRect">
            <a:avLst>
              <a:gd name="adj" fmla="val 50000"/>
            </a:avLst>
          </a:prstGeom>
          <a:solidFill>
            <a:srgbClr val="F0F7FF"/>
          </a:solidFill>
          <a:ln>
            <a:noFill/>
          </a:ln>
        </p:spPr>
      </p:sp>
      <p:sp>
        <p:nvSpPr>
          <p:cNvPr id="49" name="TextBox 49"/>
          <p:cNvSpPr txBox="1"/>
          <p:nvPr/>
        </p:nvSpPr>
        <p:spPr>
          <a:xfrm>
            <a:off x="6887078" y="4126706"/>
            <a:ext cx="1580144" cy="228600"/>
          </a:xfrm>
          <a:prstGeom prst="rect">
            <a:avLst/>
          </a:prstGeom>
          <a:noFill/>
          <a:ln>
            <a:noFill/>
          </a:ln>
        </p:spPr>
        <p:txBody>
          <a:bodyPr wrap="none" lIns="0" tIns="0" rIns="0" bIns="0" anchor="t" anchorCtr="0">
            <a:spAutoFit/>
          </a:bodyPr>
          <a:lstStyle/>
          <a:p>
            <a:pPr algn="ctr"/>
            <a:r>
              <a:rPr lang="zh-CN" sz="1125" b="1" dirty="0">
                <a:solidFill>
                  <a:srgbClr val="1F4D78"/>
                </a:solidFill>
                <a:latin typeface="Arial"/>
                <a:ea typeface="Microsoft YaHei"/>
                <a:cs typeface="Arial"/>
              </a:rPr>
              <a:t>1818 · 法学理论 · 10分</a:t>
            </a:r>
          </a:p>
        </p:txBody>
      </p:sp>
      <p:sp>
        <p:nvSpPr>
          <p:cNvPr id="50" name="TextBox 50"/>
          <p:cNvSpPr txBox="1"/>
          <p:nvPr/>
        </p:nvSpPr>
        <p:spPr>
          <a:xfrm>
            <a:off x="8711565" y="4134802"/>
            <a:ext cx="2322957" cy="213360"/>
          </a:xfrm>
          <a:prstGeom prst="rect">
            <a:avLst/>
          </a:prstGeom>
          <a:noFill/>
          <a:ln>
            <a:noFill/>
          </a:ln>
        </p:spPr>
        <p:txBody>
          <a:bodyPr wrap="none" lIns="0" tIns="0" rIns="0" bIns="0" anchor="t" anchorCtr="0">
            <a:spAutoFit/>
          </a:bodyPr>
          <a:lstStyle/>
          <a:p>
            <a:pPr algn="l"/>
            <a:r>
              <a:rPr lang="zh-CN" sz="1050" dirty="0">
                <a:solidFill>
                  <a:srgbClr val="1B1C21"/>
                </a:solidFill>
                <a:latin typeface="Arial"/>
                <a:ea typeface="Microsoft YaHei"/>
                <a:cs typeface="Arial"/>
              </a:rPr>
              <a:t>金钱 “占有即所有”原理批判及权利流</a:t>
            </a:r>
          </a:p>
        </p:txBody>
      </p:sp>
      <p:sp>
        <p:nvSpPr>
          <p:cNvPr id="51" name="Rectangle 51"/>
          <p:cNvSpPr/>
          <p:nvPr/>
        </p:nvSpPr>
        <p:spPr>
          <a:xfrm>
            <a:off x="914400" y="5143500"/>
            <a:ext cx="10363200" cy="781050"/>
          </a:xfrm>
          <a:prstGeom prst="roundRect">
            <a:avLst>
              <a:gd name="adj" fmla="val 9756"/>
            </a:avLst>
          </a:prstGeom>
          <a:solidFill>
            <a:srgbClr val="F4F5F7"/>
          </a:solidFill>
          <a:ln w="9525">
            <a:solidFill>
              <a:srgbClr val="D9DEE5"/>
            </a:solidFill>
          </a:ln>
        </p:spPr>
      </p:sp>
      <p:sp>
        <p:nvSpPr>
          <p:cNvPr id="52" name="TextBox 52"/>
          <p:cNvSpPr txBox="1"/>
          <p:nvPr/>
        </p:nvSpPr>
        <p:spPr>
          <a:xfrm>
            <a:off x="1198245" y="5289232"/>
            <a:ext cx="966026" cy="335280"/>
          </a:xfrm>
          <a:prstGeom prst="rect">
            <a:avLst/>
          </a:prstGeom>
          <a:noFill/>
          <a:ln>
            <a:noFill/>
          </a:ln>
        </p:spPr>
        <p:txBody>
          <a:bodyPr wrap="none" lIns="0" tIns="0" rIns="0" bIns="0" anchor="t" anchorCtr="0">
            <a:spAutoFit/>
          </a:bodyPr>
          <a:lstStyle/>
          <a:p>
            <a:pPr algn="l"/>
            <a:r>
              <a:rPr lang="zh-CN" sz="1650" b="1" dirty="0">
                <a:solidFill>
                  <a:srgbClr val="1F4D78"/>
                </a:solidFill>
                <a:latin typeface="Arial"/>
                <a:ea typeface="Microsoft YaHei"/>
                <a:cs typeface="Arial"/>
              </a:rPr>
              <a:t>规则落点</a:t>
            </a:r>
          </a:p>
        </p:txBody>
      </p:sp>
      <p:sp>
        <p:nvSpPr>
          <p:cNvPr id="53" name="TextBox 53"/>
          <p:cNvSpPr txBox="1"/>
          <p:nvPr/>
        </p:nvSpPr>
        <p:spPr>
          <a:xfrm>
            <a:off x="1202055" y="5607368"/>
            <a:ext cx="2104549"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Top50 先限定在五轴 10 分</a:t>
            </a:r>
          </a:p>
        </p:txBody>
      </p:sp>
      <p:sp>
        <p:nvSpPr>
          <p:cNvPr id="54" name="TextBox 54"/>
          <p:cNvSpPr txBox="1"/>
          <p:nvPr/>
        </p:nvSpPr>
        <p:spPr>
          <a:xfrm>
            <a:off x="1202055" y="6131242"/>
            <a:ext cx="219456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论文中，按六维创新加权分</a:t>
            </a:r>
          </a:p>
        </p:txBody>
      </p:sp>
      <p:sp>
        <p:nvSpPr>
          <p:cNvPr id="55" name="TextBox 55"/>
          <p:cNvSpPr txBox="1"/>
          <p:nvPr/>
        </p:nvSpPr>
        <p:spPr>
          <a:xfrm>
            <a:off x="1202055" y="6655118"/>
            <a:ext cx="219456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排序；为补足学科代表性可</a:t>
            </a:r>
          </a:p>
        </p:txBody>
      </p:sp>
      <p:sp>
        <p:nvSpPr>
          <p:cNvPr id="56" name="TextBox 56"/>
          <p:cNvSpPr txBox="1"/>
          <p:nvPr/>
        </p:nvSpPr>
        <p:spPr>
          <a:xfrm>
            <a:off x="1202055" y="7178992"/>
            <a:ext cx="2194560"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从 9 分论文择优补入；8 分</a:t>
            </a:r>
          </a:p>
        </p:txBody>
      </p:sp>
      <p:sp>
        <p:nvSpPr>
          <p:cNvPr id="57" name="TextBox 57"/>
          <p:cNvSpPr txBox="1"/>
          <p:nvPr/>
        </p:nvSpPr>
        <p:spPr>
          <a:xfrm>
            <a:off x="1202055" y="7702868"/>
            <a:ext cx="1834515" cy="274320"/>
          </a:xfrm>
          <a:prstGeom prst="rect">
            <a:avLst/>
          </a:prstGeom>
          <a:noFill/>
          <a:ln>
            <a:noFill/>
          </a:ln>
        </p:spPr>
        <p:txBody>
          <a:bodyPr wrap="none" lIns="0" tIns="0" rIns="0" bIns="0" anchor="t" anchorCtr="0">
            <a:spAutoFit/>
          </a:bodyPr>
          <a:lstStyle/>
          <a:p>
            <a:pPr algn="l"/>
            <a:r>
              <a:rPr lang="zh-CN" sz="1350" dirty="0">
                <a:solidFill>
                  <a:srgbClr val="1B1C21"/>
                </a:solidFill>
                <a:latin typeface="Arial"/>
                <a:ea typeface="Microsoft YaHei"/>
                <a:cs typeface="Arial"/>
              </a:rPr>
              <a:t>及以下原则上不进入。</a:t>
            </a:r>
          </a:p>
        </p:txBody>
      </p:sp>
      <p:grpSp>
        <p:nvGrpSpPr>
          <p:cNvPr id="61" name="Group 61"/>
          <p:cNvGrpSpPr/>
          <p:nvPr/>
        </p:nvGrpSpPr>
        <p:grpSpPr>
          <a:xfrm>
            <a:off x="0" y="6516343"/>
            <a:ext cx="12192000" cy="341657"/>
            <a:chOff x="0" y="6516343"/>
            <a:chExt cx="12192000" cy="341657"/>
          </a:xfrm>
        </p:grpSpPr>
        <p:sp>
          <p:nvSpPr>
            <p:cNvPr id="58" name="Rectangle 58"/>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59" name="TextBox 59"/>
            <p:cNvSpPr txBox="1"/>
            <p:nvPr/>
          </p:nvSpPr>
          <p:spPr>
            <a:xfrm>
              <a:off x="668017" y="6516343"/>
              <a:ext cx="1912136"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附录：Top50 名单差异</a:t>
              </a:r>
            </a:p>
          </p:txBody>
        </p:sp>
        <p:sp>
          <p:nvSpPr>
            <p:cNvPr id="60" name="TextBox 60"/>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42</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7303772"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附录 A9：Top50 五轴分布与解释验证口径</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025290" y="953743"/>
            <a:ext cx="6141419"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正式名单可展示五轴分布；知识库匹配和解释验证均值需按同一 50 篇重跑</a:t>
            </a:r>
          </a:p>
        </p:txBody>
      </p:sp>
      <p:sp>
        <p:nvSpPr>
          <p:cNvPr id="9" name="Rectangle 9"/>
          <p:cNvSpPr/>
          <p:nvPr/>
        </p:nvSpPr>
        <p:spPr>
          <a:xfrm>
            <a:off x="914400" y="1619250"/>
            <a:ext cx="2286000" cy="1428750"/>
          </a:xfrm>
          <a:prstGeom prst="roundRect">
            <a:avLst>
              <a:gd name="adj" fmla="val 6667"/>
            </a:avLst>
          </a:prstGeom>
          <a:solidFill>
            <a:srgbClr val="F0F7FF"/>
          </a:solidFill>
          <a:ln w="11430">
            <a:solidFill>
              <a:srgbClr val="D9DEE5"/>
            </a:solidFill>
          </a:ln>
        </p:spPr>
      </p:sp>
      <p:sp>
        <p:nvSpPr>
          <p:cNvPr id="10" name="TextBox 10"/>
          <p:cNvSpPr txBox="1"/>
          <p:nvPr/>
        </p:nvSpPr>
        <p:spPr>
          <a:xfrm>
            <a:off x="1734445" y="1744980"/>
            <a:ext cx="645909" cy="731520"/>
          </a:xfrm>
          <a:prstGeom prst="rect">
            <a:avLst/>
          </a:prstGeom>
          <a:noFill/>
          <a:ln>
            <a:noFill/>
          </a:ln>
        </p:spPr>
        <p:txBody>
          <a:bodyPr wrap="none" lIns="0" tIns="0" rIns="0" bIns="0" anchor="t" anchorCtr="0">
            <a:spAutoFit/>
          </a:bodyPr>
          <a:lstStyle/>
          <a:p>
            <a:pPr algn="ctr"/>
            <a:r>
              <a:rPr lang="zh-CN" sz="3600" b="1" dirty="0">
                <a:solidFill>
                  <a:srgbClr val="C8161E"/>
                </a:solidFill>
                <a:latin typeface="Arial"/>
                <a:ea typeface="Microsoft YaHei"/>
                <a:cs typeface="Arial"/>
              </a:rPr>
              <a:t>50</a:t>
            </a:r>
          </a:p>
        </p:txBody>
      </p:sp>
      <p:sp>
        <p:nvSpPr>
          <p:cNvPr id="11" name="TextBox 11"/>
          <p:cNvSpPr txBox="1"/>
          <p:nvPr/>
        </p:nvSpPr>
        <p:spPr>
          <a:xfrm>
            <a:off x="1590439" y="2434114"/>
            <a:ext cx="933923" cy="259080"/>
          </a:xfrm>
          <a:prstGeom prst="rect">
            <a:avLst/>
          </a:prstGeom>
          <a:noFill/>
          <a:ln>
            <a:noFill/>
          </a:ln>
        </p:spPr>
        <p:txBody>
          <a:bodyPr wrap="none" lIns="0" tIns="0" rIns="0" bIns="0" anchor="t" anchorCtr="0">
            <a:spAutoFit/>
          </a:bodyPr>
          <a:lstStyle/>
          <a:p>
            <a:pPr algn="ctr"/>
            <a:r>
              <a:rPr lang="zh-CN" sz="1275" b="1" dirty="0">
                <a:solidFill>
                  <a:srgbClr val="1B1C21"/>
                </a:solidFill>
                <a:latin typeface="Arial"/>
                <a:ea typeface="Microsoft YaHei"/>
                <a:cs typeface="Arial"/>
              </a:rPr>
              <a:t>Top50 总数</a:t>
            </a:r>
          </a:p>
        </p:txBody>
      </p:sp>
      <p:sp>
        <p:nvSpPr>
          <p:cNvPr id="12" name="Rectangle 12"/>
          <p:cNvSpPr/>
          <p:nvPr/>
        </p:nvSpPr>
        <p:spPr>
          <a:xfrm>
            <a:off x="3543300" y="1619250"/>
            <a:ext cx="2286000" cy="1428750"/>
          </a:xfrm>
          <a:prstGeom prst="roundRect">
            <a:avLst>
              <a:gd name="adj" fmla="val 6667"/>
            </a:avLst>
          </a:prstGeom>
          <a:solidFill>
            <a:srgbClr val="E8F5E9"/>
          </a:solidFill>
          <a:ln w="11430">
            <a:solidFill>
              <a:srgbClr val="D9DEE5"/>
            </a:solidFill>
          </a:ln>
        </p:spPr>
      </p:sp>
      <p:sp>
        <p:nvSpPr>
          <p:cNvPr id="13" name="TextBox 13"/>
          <p:cNvSpPr txBox="1"/>
          <p:nvPr/>
        </p:nvSpPr>
        <p:spPr>
          <a:xfrm>
            <a:off x="4363345" y="1744980"/>
            <a:ext cx="645909" cy="731520"/>
          </a:xfrm>
          <a:prstGeom prst="rect">
            <a:avLst/>
          </a:prstGeom>
          <a:noFill/>
          <a:ln>
            <a:noFill/>
          </a:ln>
        </p:spPr>
        <p:txBody>
          <a:bodyPr wrap="none" lIns="0" tIns="0" rIns="0" bIns="0" anchor="t" anchorCtr="0">
            <a:spAutoFit/>
          </a:bodyPr>
          <a:lstStyle/>
          <a:p>
            <a:pPr algn="ctr"/>
            <a:r>
              <a:rPr lang="zh-CN" sz="3600" b="1" dirty="0">
                <a:solidFill>
                  <a:srgbClr val="2E7D32"/>
                </a:solidFill>
                <a:latin typeface="Arial"/>
                <a:ea typeface="Microsoft YaHei"/>
                <a:cs typeface="Arial"/>
              </a:rPr>
              <a:t>49</a:t>
            </a:r>
          </a:p>
        </p:txBody>
      </p:sp>
      <p:sp>
        <p:nvSpPr>
          <p:cNvPr id="14" name="TextBox 14"/>
          <p:cNvSpPr txBox="1"/>
          <p:nvPr/>
        </p:nvSpPr>
        <p:spPr>
          <a:xfrm>
            <a:off x="4272895" y="2434114"/>
            <a:ext cx="826809" cy="259080"/>
          </a:xfrm>
          <a:prstGeom prst="rect">
            <a:avLst/>
          </a:prstGeom>
          <a:noFill/>
          <a:ln>
            <a:noFill/>
          </a:ln>
        </p:spPr>
        <p:txBody>
          <a:bodyPr wrap="none" lIns="0" tIns="0" rIns="0" bIns="0" anchor="t" anchorCtr="0">
            <a:spAutoFit/>
          </a:bodyPr>
          <a:lstStyle/>
          <a:p>
            <a:pPr algn="ctr"/>
            <a:r>
              <a:rPr lang="zh-CN" sz="1275" b="1" dirty="0">
                <a:solidFill>
                  <a:srgbClr val="1B1C21"/>
                </a:solidFill>
                <a:latin typeface="Arial"/>
                <a:ea typeface="Microsoft YaHei"/>
                <a:cs typeface="Arial"/>
              </a:rPr>
              <a:t>五轴 10 分</a:t>
            </a:r>
          </a:p>
        </p:txBody>
      </p:sp>
      <p:sp>
        <p:nvSpPr>
          <p:cNvPr id="15" name="Rectangle 15"/>
          <p:cNvSpPr/>
          <p:nvPr/>
        </p:nvSpPr>
        <p:spPr>
          <a:xfrm>
            <a:off x="6172200" y="1619250"/>
            <a:ext cx="2286000" cy="1428750"/>
          </a:xfrm>
          <a:prstGeom prst="roundRect">
            <a:avLst>
              <a:gd name="adj" fmla="val 6667"/>
            </a:avLst>
          </a:prstGeom>
          <a:solidFill>
            <a:srgbClr val="FFF8F0"/>
          </a:solidFill>
          <a:ln w="11430">
            <a:solidFill>
              <a:srgbClr val="D9DEE5"/>
            </a:solidFill>
          </a:ln>
        </p:spPr>
      </p:sp>
      <p:sp>
        <p:nvSpPr>
          <p:cNvPr id="16" name="TextBox 16"/>
          <p:cNvSpPr txBox="1"/>
          <p:nvPr/>
        </p:nvSpPr>
        <p:spPr>
          <a:xfrm>
            <a:off x="7193871" y="1744980"/>
            <a:ext cx="242659" cy="731520"/>
          </a:xfrm>
          <a:prstGeom prst="rect">
            <a:avLst/>
          </a:prstGeom>
          <a:noFill/>
          <a:ln>
            <a:noFill/>
          </a:ln>
        </p:spPr>
        <p:txBody>
          <a:bodyPr wrap="none" lIns="0" tIns="0" rIns="0" bIns="0" anchor="t" anchorCtr="0">
            <a:spAutoFit/>
          </a:bodyPr>
          <a:lstStyle/>
          <a:p>
            <a:pPr algn="ctr"/>
            <a:r>
              <a:rPr lang="zh-CN" sz="3600" b="1" dirty="0">
                <a:solidFill>
                  <a:srgbClr val="C8161E"/>
                </a:solidFill>
                <a:latin typeface="Arial"/>
                <a:ea typeface="Microsoft YaHei"/>
                <a:cs typeface="Arial"/>
              </a:rPr>
              <a:t>1</a:t>
            </a:r>
          </a:p>
        </p:txBody>
      </p:sp>
      <p:sp>
        <p:nvSpPr>
          <p:cNvPr id="17" name="TextBox 17"/>
          <p:cNvSpPr txBox="1"/>
          <p:nvPr/>
        </p:nvSpPr>
        <p:spPr>
          <a:xfrm>
            <a:off x="6750051" y="2434114"/>
            <a:ext cx="1130297" cy="259080"/>
          </a:xfrm>
          <a:prstGeom prst="rect">
            <a:avLst/>
          </a:prstGeom>
          <a:noFill/>
          <a:ln>
            <a:noFill/>
          </a:ln>
        </p:spPr>
        <p:txBody>
          <a:bodyPr wrap="none" lIns="0" tIns="0" rIns="0" bIns="0" anchor="t" anchorCtr="0">
            <a:spAutoFit/>
          </a:bodyPr>
          <a:lstStyle/>
          <a:p>
            <a:pPr algn="ctr"/>
            <a:r>
              <a:rPr lang="zh-CN" sz="1275" b="1" dirty="0">
                <a:solidFill>
                  <a:srgbClr val="1B1C21"/>
                </a:solidFill>
                <a:latin typeface="Arial"/>
                <a:ea typeface="Microsoft YaHei"/>
                <a:cs typeface="Arial"/>
              </a:rPr>
              <a:t>五轴 9 分补足</a:t>
            </a:r>
          </a:p>
        </p:txBody>
      </p:sp>
      <p:sp>
        <p:nvSpPr>
          <p:cNvPr id="18" name="Rectangle 18"/>
          <p:cNvSpPr/>
          <p:nvPr/>
        </p:nvSpPr>
        <p:spPr>
          <a:xfrm>
            <a:off x="8801100" y="1619250"/>
            <a:ext cx="2286000" cy="1428750"/>
          </a:xfrm>
          <a:prstGeom prst="roundRect">
            <a:avLst>
              <a:gd name="adj" fmla="val 6667"/>
            </a:avLst>
          </a:prstGeom>
          <a:solidFill>
            <a:srgbClr val="FFEBEE"/>
          </a:solidFill>
          <a:ln w="11430">
            <a:solidFill>
              <a:srgbClr val="D9DEE5"/>
            </a:solidFill>
          </a:ln>
        </p:spPr>
      </p:sp>
      <p:sp>
        <p:nvSpPr>
          <p:cNvPr id="19" name="TextBox 19"/>
          <p:cNvSpPr txBox="1"/>
          <p:nvPr/>
        </p:nvSpPr>
        <p:spPr>
          <a:xfrm>
            <a:off x="9759763" y="1744980"/>
            <a:ext cx="368675" cy="731520"/>
          </a:xfrm>
          <a:prstGeom prst="rect">
            <a:avLst/>
          </a:prstGeom>
          <a:noFill/>
          <a:ln>
            <a:noFill/>
          </a:ln>
        </p:spPr>
        <p:txBody>
          <a:bodyPr wrap="none" lIns="0" tIns="0" rIns="0" bIns="0" anchor="t" anchorCtr="0">
            <a:spAutoFit/>
          </a:bodyPr>
          <a:lstStyle/>
          <a:p>
            <a:pPr algn="ctr"/>
            <a:r>
              <a:rPr lang="zh-CN" sz="3600" b="1" dirty="0">
                <a:solidFill>
                  <a:srgbClr val="C8161E"/>
                </a:solidFill>
                <a:latin typeface="Arial"/>
                <a:ea typeface="Microsoft YaHei"/>
                <a:cs typeface="Arial"/>
              </a:rPr>
              <a:t>0</a:t>
            </a:r>
          </a:p>
        </p:txBody>
      </p:sp>
      <p:sp>
        <p:nvSpPr>
          <p:cNvPr id="20" name="TextBox 20"/>
          <p:cNvSpPr txBox="1"/>
          <p:nvPr/>
        </p:nvSpPr>
        <p:spPr>
          <a:xfrm>
            <a:off x="9494991" y="2434114"/>
            <a:ext cx="898218" cy="259080"/>
          </a:xfrm>
          <a:prstGeom prst="rect">
            <a:avLst/>
          </a:prstGeom>
          <a:noFill/>
          <a:ln>
            <a:noFill/>
          </a:ln>
        </p:spPr>
        <p:txBody>
          <a:bodyPr wrap="none" lIns="0" tIns="0" rIns="0" bIns="0" anchor="t" anchorCtr="0">
            <a:spAutoFit/>
          </a:bodyPr>
          <a:lstStyle/>
          <a:p>
            <a:pPr algn="ctr"/>
            <a:r>
              <a:rPr lang="zh-CN" sz="1275" b="1" dirty="0">
                <a:solidFill>
                  <a:srgbClr val="1B1C21"/>
                </a:solidFill>
                <a:latin typeface="Arial"/>
                <a:ea typeface="Microsoft YaHei"/>
                <a:cs typeface="Arial"/>
              </a:rPr>
              <a:t>8 分及以下</a:t>
            </a:r>
          </a:p>
        </p:txBody>
      </p:sp>
      <p:sp>
        <p:nvSpPr>
          <p:cNvPr id="21" name="Rectangle 21"/>
          <p:cNvSpPr/>
          <p:nvPr/>
        </p:nvSpPr>
        <p:spPr>
          <a:xfrm>
            <a:off x="914400" y="3619500"/>
            <a:ext cx="4762500" cy="1619250"/>
          </a:xfrm>
          <a:prstGeom prst="roundRect">
            <a:avLst>
              <a:gd name="adj" fmla="val 5882"/>
            </a:avLst>
          </a:prstGeom>
          <a:solidFill>
            <a:srgbClr val="FFFFFF"/>
          </a:solidFill>
          <a:ln w="11430">
            <a:solidFill>
              <a:srgbClr val="D9DEE5"/>
            </a:solidFill>
          </a:ln>
        </p:spPr>
      </p:sp>
      <p:sp>
        <p:nvSpPr>
          <p:cNvPr id="22" name="TextBox 22"/>
          <p:cNvSpPr txBox="1"/>
          <p:nvPr/>
        </p:nvSpPr>
        <p:spPr>
          <a:xfrm>
            <a:off x="1196340" y="3825240"/>
            <a:ext cx="1305878" cy="365760"/>
          </a:xfrm>
          <a:prstGeom prst="rect">
            <a:avLst/>
          </a:prstGeom>
          <a:noFill/>
          <a:ln>
            <a:noFill/>
          </a:ln>
        </p:spPr>
        <p:txBody>
          <a:bodyPr wrap="none" lIns="0" tIns="0" rIns="0" bIns="0" anchor="t" anchorCtr="0">
            <a:spAutoFit/>
          </a:bodyPr>
          <a:lstStyle/>
          <a:p>
            <a:pPr algn="l"/>
            <a:r>
              <a:rPr lang="zh-CN" sz="1800" b="1" dirty="0">
                <a:solidFill>
                  <a:srgbClr val="1F4D78"/>
                </a:solidFill>
                <a:latin typeface="Arial"/>
                <a:ea typeface="Microsoft YaHei"/>
                <a:cs typeface="Arial"/>
              </a:rPr>
              <a:t>已确认输入</a:t>
            </a:r>
          </a:p>
        </p:txBody>
      </p:sp>
      <p:sp>
        <p:nvSpPr>
          <p:cNvPr id="23" name="TextBox 23"/>
          <p:cNvSpPr txBox="1"/>
          <p:nvPr/>
        </p:nvSpPr>
        <p:spPr>
          <a:xfrm>
            <a:off x="1203008" y="4262914"/>
            <a:ext cx="208964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50 个 pid 均来自 top50-po</a:t>
            </a:r>
          </a:p>
        </p:txBody>
      </p:sp>
      <p:sp>
        <p:nvSpPr>
          <p:cNvPr id="24" name="TextBox 24"/>
          <p:cNvSpPr txBox="1"/>
          <p:nvPr/>
        </p:nvSpPr>
        <p:spPr>
          <a:xfrm>
            <a:off x="1203008" y="4548664"/>
            <a:ext cx="2157651"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sition-first-proportional</a:t>
            </a:r>
          </a:p>
        </p:txBody>
      </p:sp>
      <p:sp>
        <p:nvSpPr>
          <p:cNvPr id="25" name="TextBox 25"/>
          <p:cNvSpPr txBox="1"/>
          <p:nvPr/>
        </p:nvSpPr>
        <p:spPr>
          <a:xfrm>
            <a:off x="1203008" y="4834414"/>
            <a:ext cx="2030135"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canonical 数据；每篇带领</a:t>
            </a:r>
          </a:p>
        </p:txBody>
      </p:sp>
      <p:sp>
        <p:nvSpPr>
          <p:cNvPr id="26" name="TextBox 26"/>
          <p:cNvSpPr txBox="1"/>
          <p:nvPr/>
        </p:nvSpPr>
        <p:spPr>
          <a:xfrm>
            <a:off x="1203008" y="5120164"/>
            <a:ext cx="2072640"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域、期刊、年份、作者、机</a:t>
            </a:r>
          </a:p>
        </p:txBody>
      </p:sp>
      <p:sp>
        <p:nvSpPr>
          <p:cNvPr id="27" name="TextBox 27"/>
          <p:cNvSpPr txBox="1"/>
          <p:nvPr/>
        </p:nvSpPr>
        <p:spPr>
          <a:xfrm>
            <a:off x="1203008" y="5405914"/>
            <a:ext cx="2064139"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构、六维分、std 和五轴分</a:t>
            </a:r>
          </a:p>
        </p:txBody>
      </p:sp>
      <p:sp>
        <p:nvSpPr>
          <p:cNvPr id="28" name="TextBox 28"/>
          <p:cNvSpPr txBox="1"/>
          <p:nvPr/>
        </p:nvSpPr>
        <p:spPr>
          <a:xfrm>
            <a:off x="1203008" y="5691664"/>
            <a:ext cx="202406"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a:t>
            </a:r>
          </a:p>
        </p:txBody>
      </p:sp>
      <p:sp>
        <p:nvSpPr>
          <p:cNvPr id="29" name="Rectangle 29"/>
          <p:cNvSpPr/>
          <p:nvPr/>
        </p:nvSpPr>
        <p:spPr>
          <a:xfrm>
            <a:off x="6515100" y="3619500"/>
            <a:ext cx="4762500" cy="1619250"/>
          </a:xfrm>
          <a:prstGeom prst="roundRect">
            <a:avLst>
              <a:gd name="adj" fmla="val 5882"/>
            </a:avLst>
          </a:prstGeom>
          <a:solidFill>
            <a:srgbClr val="FFFFFF"/>
          </a:solidFill>
          <a:ln w="11430">
            <a:solidFill>
              <a:srgbClr val="D9DEE5"/>
            </a:solidFill>
          </a:ln>
        </p:spPr>
      </p:sp>
      <p:sp>
        <p:nvSpPr>
          <p:cNvPr id="30" name="TextBox 30"/>
          <p:cNvSpPr txBox="1"/>
          <p:nvPr/>
        </p:nvSpPr>
        <p:spPr>
          <a:xfrm>
            <a:off x="6797040" y="3825240"/>
            <a:ext cx="1557909" cy="365760"/>
          </a:xfrm>
          <a:prstGeom prst="rect">
            <a:avLst/>
          </a:prstGeom>
          <a:noFill/>
          <a:ln>
            <a:noFill/>
          </a:ln>
        </p:spPr>
        <p:txBody>
          <a:bodyPr wrap="none" lIns="0" tIns="0" rIns="0" bIns="0" anchor="t" anchorCtr="0">
            <a:spAutoFit/>
          </a:bodyPr>
          <a:lstStyle/>
          <a:p>
            <a:pPr algn="l"/>
            <a:r>
              <a:rPr lang="zh-CN" sz="1800" b="1" dirty="0">
                <a:solidFill>
                  <a:srgbClr val="C8161E"/>
                </a:solidFill>
                <a:latin typeface="Arial"/>
                <a:ea typeface="Microsoft YaHei"/>
                <a:cs typeface="Arial"/>
              </a:rPr>
              <a:t>后续输出要求</a:t>
            </a:r>
          </a:p>
        </p:txBody>
      </p:sp>
      <p:sp>
        <p:nvSpPr>
          <p:cNvPr id="31" name="TextBox 31"/>
          <p:cNvSpPr txBox="1"/>
          <p:nvPr/>
        </p:nvSpPr>
        <p:spPr>
          <a:xfrm>
            <a:off x="6803708" y="4262914"/>
            <a:ext cx="1902619"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解释验证信号与知识库匹</a:t>
            </a:r>
          </a:p>
        </p:txBody>
      </p:sp>
      <p:sp>
        <p:nvSpPr>
          <p:cNvPr id="32" name="TextBox 32"/>
          <p:cNvSpPr txBox="1"/>
          <p:nvPr/>
        </p:nvSpPr>
        <p:spPr>
          <a:xfrm>
            <a:off x="6803708" y="4548664"/>
            <a:ext cx="185161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配必须以同一 50 篇重新</a:t>
            </a:r>
          </a:p>
        </p:txBody>
      </p:sp>
      <p:sp>
        <p:nvSpPr>
          <p:cNvPr id="33" name="TextBox 33"/>
          <p:cNvSpPr txBox="1"/>
          <p:nvPr/>
        </p:nvSpPr>
        <p:spPr>
          <a:xfrm>
            <a:off x="6803708" y="4834414"/>
            <a:ext cx="1894118"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评测；报告文件名带 pro</a:t>
            </a:r>
          </a:p>
        </p:txBody>
      </p:sp>
      <p:sp>
        <p:nvSpPr>
          <p:cNvPr id="34" name="TextBox 34"/>
          <p:cNvSpPr txBox="1"/>
          <p:nvPr/>
        </p:nvSpPr>
        <p:spPr>
          <a:xfrm>
            <a:off x="6803708" y="5120164"/>
            <a:ext cx="1690092"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portional 标识，避免</a:t>
            </a:r>
          </a:p>
        </p:txBody>
      </p:sp>
      <p:sp>
        <p:nvSpPr>
          <p:cNvPr id="35" name="TextBox 35"/>
          <p:cNvSpPr txBox="1"/>
          <p:nvPr/>
        </p:nvSpPr>
        <p:spPr>
          <a:xfrm>
            <a:off x="6803708" y="5405914"/>
            <a:ext cx="1222534" cy="259080"/>
          </a:xfrm>
          <a:prstGeom prst="rect">
            <a:avLst/>
          </a:prstGeom>
          <a:noFill/>
          <a:ln>
            <a:noFill/>
          </a:ln>
        </p:spPr>
        <p:txBody>
          <a:bodyPr wrap="none" lIns="0" tIns="0" rIns="0" bIns="0" anchor="t" anchorCtr="0">
            <a:spAutoFit/>
          </a:bodyPr>
          <a:lstStyle/>
          <a:p>
            <a:pPr algn="l"/>
            <a:r>
              <a:rPr lang="zh-CN" sz="1275" dirty="0">
                <a:solidFill>
                  <a:srgbClr val="1B1C21"/>
                </a:solidFill>
                <a:latin typeface="Arial"/>
                <a:ea typeface="Microsoft YaHei"/>
                <a:cs typeface="Arial"/>
              </a:rPr>
              <a:t>与旧口径混淆。</a:t>
            </a:r>
          </a:p>
        </p:txBody>
      </p:sp>
      <p:grpSp>
        <p:nvGrpSpPr>
          <p:cNvPr id="39" name="Group 39"/>
          <p:cNvGrpSpPr/>
          <p:nvPr/>
        </p:nvGrpSpPr>
        <p:grpSpPr>
          <a:xfrm>
            <a:off x="0" y="6516343"/>
            <a:ext cx="12192000" cy="341657"/>
            <a:chOff x="0" y="6516343"/>
            <a:chExt cx="12192000" cy="341657"/>
          </a:xfrm>
        </p:grpSpPr>
        <p:sp>
          <p:nvSpPr>
            <p:cNvPr id="36" name="Rectangle 36"/>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37" name="TextBox 37"/>
            <p:cNvSpPr txBox="1"/>
            <p:nvPr/>
          </p:nvSpPr>
          <p:spPr>
            <a:xfrm>
              <a:off x="668017" y="6516343"/>
              <a:ext cx="2276246"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附录：五轴与解释验证口径</a:t>
              </a:r>
            </a:p>
          </p:txBody>
        </p:sp>
        <p:sp>
          <p:nvSpPr>
            <p:cNvPr id="38" name="TextBox 38"/>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43</a:t>
              </a:r>
            </a:p>
          </p:txBody>
        </p:sp>
      </p:gr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5853320"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附录 A10：Top50 论文基本信息表</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837537" y="953743"/>
            <a:ext cx="4516926"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排名、领域、论文、期刊、年份、作者、机构与六维分</a:t>
            </a:r>
          </a:p>
        </p:txBody>
      </p:sp>
      <p:sp>
        <p:nvSpPr>
          <p:cNvPr id="9" name="Rectangle 9"/>
          <p:cNvSpPr/>
          <p:nvPr/>
        </p:nvSpPr>
        <p:spPr>
          <a:xfrm>
            <a:off x="685800" y="1200150"/>
            <a:ext cx="10820400" cy="247650"/>
          </a:xfrm>
          <a:prstGeom prst="rect">
            <a:avLst/>
          </a:prstGeom>
          <a:solidFill>
            <a:srgbClr val="C8161E"/>
          </a:solidFill>
          <a:ln>
            <a:noFill/>
          </a:ln>
        </p:spPr>
      </p:sp>
      <p:sp>
        <p:nvSpPr>
          <p:cNvPr id="10" name="TextBox 10"/>
          <p:cNvSpPr txBox="1"/>
          <p:nvPr/>
        </p:nvSpPr>
        <p:spPr>
          <a:xfrm>
            <a:off x="799796" y="1290638"/>
            <a:ext cx="76807"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a:t>
            </a:r>
          </a:p>
        </p:txBody>
      </p:sp>
      <p:sp>
        <p:nvSpPr>
          <p:cNvPr id="11" name="TextBox 11"/>
          <p:cNvSpPr txBox="1"/>
          <p:nvPr/>
        </p:nvSpPr>
        <p:spPr>
          <a:xfrm>
            <a:off x="1276350" y="1290638"/>
            <a:ext cx="229076" cy="152400"/>
          </a:xfrm>
          <a:prstGeom prst="rect">
            <a:avLst/>
          </a:prstGeom>
          <a:noFill/>
          <a:ln>
            <a:noFill/>
          </a:ln>
        </p:spPr>
        <p:txBody>
          <a:bodyPr wrap="none" lIns="0" tIns="0" rIns="0" bIns="0" anchor="t" anchorCtr="0">
            <a:spAutoFit/>
          </a:bodyPr>
          <a:lstStyle/>
          <a:p>
            <a:pPr algn="l"/>
            <a:r>
              <a:rPr lang="zh-CN" sz="750" b="1" dirty="0">
                <a:solidFill>
                  <a:srgbClr val="FFFFFF"/>
                </a:solidFill>
                <a:latin typeface="Arial"/>
                <a:ea typeface="Microsoft YaHei"/>
                <a:cs typeface="Arial"/>
              </a:rPr>
              <a:t>领域</a:t>
            </a:r>
          </a:p>
        </p:txBody>
      </p:sp>
      <p:sp>
        <p:nvSpPr>
          <p:cNvPr id="12" name="TextBox 12"/>
          <p:cNvSpPr txBox="1"/>
          <p:nvPr/>
        </p:nvSpPr>
        <p:spPr>
          <a:xfrm>
            <a:off x="1943100" y="1290638"/>
            <a:ext cx="229076" cy="152400"/>
          </a:xfrm>
          <a:prstGeom prst="rect">
            <a:avLst/>
          </a:prstGeom>
          <a:noFill/>
          <a:ln>
            <a:noFill/>
          </a:ln>
        </p:spPr>
        <p:txBody>
          <a:bodyPr wrap="none" lIns="0" tIns="0" rIns="0" bIns="0" anchor="t" anchorCtr="0">
            <a:spAutoFit/>
          </a:bodyPr>
          <a:lstStyle/>
          <a:p>
            <a:pPr algn="l"/>
            <a:r>
              <a:rPr lang="zh-CN" sz="750" b="1" dirty="0">
                <a:solidFill>
                  <a:srgbClr val="FFFFFF"/>
                </a:solidFill>
                <a:latin typeface="Arial"/>
                <a:ea typeface="Microsoft YaHei"/>
                <a:cs typeface="Arial"/>
              </a:rPr>
              <a:t>论文</a:t>
            </a:r>
          </a:p>
        </p:txBody>
      </p:sp>
      <p:sp>
        <p:nvSpPr>
          <p:cNvPr id="13" name="TextBox 13"/>
          <p:cNvSpPr txBox="1"/>
          <p:nvPr/>
        </p:nvSpPr>
        <p:spPr>
          <a:xfrm>
            <a:off x="5705475" y="1290638"/>
            <a:ext cx="229076" cy="152400"/>
          </a:xfrm>
          <a:prstGeom prst="rect">
            <a:avLst/>
          </a:prstGeom>
          <a:noFill/>
          <a:ln>
            <a:noFill/>
          </a:ln>
        </p:spPr>
        <p:txBody>
          <a:bodyPr wrap="none" lIns="0" tIns="0" rIns="0" bIns="0" anchor="t" anchorCtr="0">
            <a:spAutoFit/>
          </a:bodyPr>
          <a:lstStyle/>
          <a:p>
            <a:pPr algn="l"/>
            <a:r>
              <a:rPr lang="zh-CN" sz="750" b="1" dirty="0">
                <a:solidFill>
                  <a:srgbClr val="FFFFFF"/>
                </a:solidFill>
                <a:latin typeface="Arial"/>
                <a:ea typeface="Microsoft YaHei"/>
                <a:cs typeface="Arial"/>
              </a:rPr>
              <a:t>期刊</a:t>
            </a:r>
          </a:p>
        </p:txBody>
      </p:sp>
      <p:sp>
        <p:nvSpPr>
          <p:cNvPr id="14" name="TextBox 14"/>
          <p:cNvSpPr txBox="1"/>
          <p:nvPr/>
        </p:nvSpPr>
        <p:spPr>
          <a:xfrm>
            <a:off x="6548318" y="1290638"/>
            <a:ext cx="124063"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年</a:t>
            </a:r>
          </a:p>
        </p:txBody>
      </p:sp>
      <p:sp>
        <p:nvSpPr>
          <p:cNvPr id="15" name="TextBox 15"/>
          <p:cNvSpPr txBox="1"/>
          <p:nvPr/>
        </p:nvSpPr>
        <p:spPr>
          <a:xfrm>
            <a:off x="7134225" y="1290638"/>
            <a:ext cx="229076" cy="152400"/>
          </a:xfrm>
          <a:prstGeom prst="rect">
            <a:avLst/>
          </a:prstGeom>
          <a:noFill/>
          <a:ln>
            <a:noFill/>
          </a:ln>
        </p:spPr>
        <p:txBody>
          <a:bodyPr wrap="none" lIns="0" tIns="0" rIns="0" bIns="0" anchor="t" anchorCtr="0">
            <a:spAutoFit/>
          </a:bodyPr>
          <a:lstStyle/>
          <a:p>
            <a:pPr algn="l"/>
            <a:r>
              <a:rPr lang="zh-CN" sz="750" b="1" dirty="0">
                <a:solidFill>
                  <a:srgbClr val="FFFFFF"/>
                </a:solidFill>
                <a:latin typeface="Arial"/>
                <a:ea typeface="Microsoft YaHei"/>
                <a:cs typeface="Arial"/>
              </a:rPr>
              <a:t>作者</a:t>
            </a:r>
          </a:p>
        </p:txBody>
      </p:sp>
      <p:sp>
        <p:nvSpPr>
          <p:cNvPr id="16" name="TextBox 16"/>
          <p:cNvSpPr txBox="1"/>
          <p:nvPr/>
        </p:nvSpPr>
        <p:spPr>
          <a:xfrm>
            <a:off x="7877175" y="1290638"/>
            <a:ext cx="229076" cy="152400"/>
          </a:xfrm>
          <a:prstGeom prst="rect">
            <a:avLst/>
          </a:prstGeom>
          <a:noFill/>
          <a:ln>
            <a:noFill/>
          </a:ln>
        </p:spPr>
        <p:txBody>
          <a:bodyPr wrap="none" lIns="0" tIns="0" rIns="0" bIns="0" anchor="t" anchorCtr="0">
            <a:spAutoFit/>
          </a:bodyPr>
          <a:lstStyle/>
          <a:p>
            <a:pPr algn="l"/>
            <a:r>
              <a:rPr lang="zh-CN" sz="750" b="1" dirty="0">
                <a:solidFill>
                  <a:srgbClr val="FFFFFF"/>
                </a:solidFill>
                <a:latin typeface="Arial"/>
                <a:ea typeface="Microsoft YaHei"/>
                <a:cs typeface="Arial"/>
              </a:rPr>
              <a:t>机构</a:t>
            </a:r>
          </a:p>
        </p:txBody>
      </p:sp>
      <p:sp>
        <p:nvSpPr>
          <p:cNvPr id="17" name="TextBox 17"/>
          <p:cNvSpPr txBox="1"/>
          <p:nvPr/>
        </p:nvSpPr>
        <p:spPr>
          <a:xfrm>
            <a:off x="11063168" y="1290638"/>
            <a:ext cx="124063" cy="152400"/>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Microsoft YaHei"/>
                <a:cs typeface="Arial"/>
              </a:rPr>
              <a:t>分</a:t>
            </a:r>
          </a:p>
        </p:txBody>
      </p:sp>
      <p:sp>
        <p:nvSpPr>
          <p:cNvPr id="18" name="Rectangle 18"/>
          <p:cNvSpPr/>
          <p:nvPr/>
        </p:nvSpPr>
        <p:spPr>
          <a:xfrm>
            <a:off x="685800" y="1476375"/>
            <a:ext cx="10820400" cy="99536"/>
          </a:xfrm>
          <a:prstGeom prst="rect">
            <a:avLst/>
          </a:prstGeom>
          <a:solidFill>
            <a:srgbClr val="F8FAFC"/>
          </a:solidFill>
          <a:ln>
            <a:noFill/>
          </a:ln>
        </p:spPr>
      </p:sp>
      <p:sp>
        <p:nvSpPr>
          <p:cNvPr id="19" name="TextBox 19"/>
          <p:cNvSpPr txBox="1"/>
          <p:nvPr/>
        </p:nvSpPr>
        <p:spPr>
          <a:xfrm>
            <a:off x="820541" y="1503807"/>
            <a:ext cx="35319"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1</a:t>
            </a:r>
          </a:p>
        </p:txBody>
      </p:sp>
      <p:sp>
        <p:nvSpPr>
          <p:cNvPr id="20" name="TextBox 20"/>
          <p:cNvSpPr txBox="1"/>
          <p:nvPr/>
        </p:nvSpPr>
        <p:spPr>
          <a:xfrm>
            <a:off x="1279017" y="1503807"/>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民商法学</a:t>
            </a:r>
          </a:p>
        </p:txBody>
      </p:sp>
      <p:sp>
        <p:nvSpPr>
          <p:cNvPr id="21" name="TextBox 21"/>
          <p:cNvSpPr txBox="1"/>
          <p:nvPr/>
        </p:nvSpPr>
        <p:spPr>
          <a:xfrm>
            <a:off x="1945958" y="1505426"/>
            <a:ext cx="1490520"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数字私力救济——基于远程控制网联物的权利实现</a:t>
            </a:r>
          </a:p>
        </p:txBody>
      </p:sp>
      <p:sp>
        <p:nvSpPr>
          <p:cNvPr id="22" name="TextBox 22"/>
          <p:cNvSpPr txBox="1"/>
          <p:nvPr/>
        </p:nvSpPr>
        <p:spPr>
          <a:xfrm>
            <a:off x="5708142" y="1503807"/>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23" name="TextBox 23"/>
          <p:cNvSpPr txBox="1"/>
          <p:nvPr/>
        </p:nvSpPr>
        <p:spPr>
          <a:xfrm>
            <a:off x="6524282" y="1503807"/>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2023</a:t>
            </a:r>
          </a:p>
        </p:txBody>
      </p:sp>
      <p:sp>
        <p:nvSpPr>
          <p:cNvPr id="24" name="TextBox 24"/>
          <p:cNvSpPr txBox="1"/>
          <p:nvPr/>
        </p:nvSpPr>
        <p:spPr>
          <a:xfrm>
            <a:off x="7136892" y="1503807"/>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王琦</a:t>
            </a:r>
          </a:p>
        </p:txBody>
      </p:sp>
      <p:sp>
        <p:nvSpPr>
          <p:cNvPr id="25" name="TextBox 25"/>
          <p:cNvSpPr txBox="1"/>
          <p:nvPr/>
        </p:nvSpPr>
        <p:spPr>
          <a:xfrm>
            <a:off x="7880032" y="1505426"/>
            <a:ext cx="783431"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北京航空航天大学法学院</a:t>
            </a:r>
          </a:p>
        </p:txBody>
      </p:sp>
      <p:sp>
        <p:nvSpPr>
          <p:cNvPr id="26" name="TextBox 26"/>
          <p:cNvSpPr txBox="1"/>
          <p:nvPr/>
        </p:nvSpPr>
        <p:spPr>
          <a:xfrm>
            <a:off x="11019330" y="1503807"/>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89.22</a:t>
            </a:r>
          </a:p>
        </p:txBody>
      </p:sp>
      <p:sp>
        <p:nvSpPr>
          <p:cNvPr id="27" name="Rectangle 27"/>
          <p:cNvSpPr/>
          <p:nvPr/>
        </p:nvSpPr>
        <p:spPr>
          <a:xfrm>
            <a:off x="685800" y="1575911"/>
            <a:ext cx="10820400" cy="99536"/>
          </a:xfrm>
          <a:prstGeom prst="rect">
            <a:avLst/>
          </a:prstGeom>
          <a:solidFill>
            <a:srgbClr val="FFFFFF"/>
          </a:solidFill>
          <a:ln>
            <a:noFill/>
          </a:ln>
        </p:spPr>
      </p:sp>
      <p:sp>
        <p:nvSpPr>
          <p:cNvPr id="28" name="TextBox 28"/>
          <p:cNvSpPr txBox="1"/>
          <p:nvPr/>
        </p:nvSpPr>
        <p:spPr>
          <a:xfrm>
            <a:off x="811540" y="1603343"/>
            <a:ext cx="5332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a:t>
            </a:r>
          </a:p>
        </p:txBody>
      </p:sp>
      <p:sp>
        <p:nvSpPr>
          <p:cNvPr id="29" name="TextBox 29"/>
          <p:cNvSpPr txBox="1"/>
          <p:nvPr/>
        </p:nvSpPr>
        <p:spPr>
          <a:xfrm>
            <a:off x="1279017" y="1603343"/>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民商法学</a:t>
            </a:r>
          </a:p>
        </p:txBody>
      </p:sp>
      <p:sp>
        <p:nvSpPr>
          <p:cNvPr id="30" name="TextBox 30"/>
          <p:cNvSpPr txBox="1"/>
          <p:nvPr/>
        </p:nvSpPr>
        <p:spPr>
          <a:xfrm>
            <a:off x="1945958" y="1604962"/>
            <a:ext cx="1273493"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公司决议瑕疵立法的范式转换与体系重构</a:t>
            </a:r>
          </a:p>
        </p:txBody>
      </p:sp>
      <p:sp>
        <p:nvSpPr>
          <p:cNvPr id="31" name="TextBox 31"/>
          <p:cNvSpPr txBox="1"/>
          <p:nvPr/>
        </p:nvSpPr>
        <p:spPr>
          <a:xfrm>
            <a:off x="5708142" y="1603343"/>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32" name="TextBox 32"/>
          <p:cNvSpPr txBox="1"/>
          <p:nvPr/>
        </p:nvSpPr>
        <p:spPr>
          <a:xfrm>
            <a:off x="6524282" y="1603343"/>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2020</a:t>
            </a:r>
          </a:p>
        </p:txBody>
      </p:sp>
      <p:sp>
        <p:nvSpPr>
          <p:cNvPr id="33" name="TextBox 33"/>
          <p:cNvSpPr txBox="1"/>
          <p:nvPr/>
        </p:nvSpPr>
        <p:spPr>
          <a:xfrm>
            <a:off x="7136892" y="1603343"/>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丁勇</a:t>
            </a:r>
          </a:p>
        </p:txBody>
      </p:sp>
      <p:sp>
        <p:nvSpPr>
          <p:cNvPr id="34" name="TextBox 34"/>
          <p:cNvSpPr txBox="1"/>
          <p:nvPr/>
        </p:nvSpPr>
        <p:spPr>
          <a:xfrm>
            <a:off x="7880032" y="1604962"/>
            <a:ext cx="433388"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华东政法大学</a:t>
            </a:r>
          </a:p>
        </p:txBody>
      </p:sp>
      <p:sp>
        <p:nvSpPr>
          <p:cNvPr id="35" name="TextBox 35"/>
          <p:cNvSpPr txBox="1"/>
          <p:nvPr/>
        </p:nvSpPr>
        <p:spPr>
          <a:xfrm>
            <a:off x="11019330" y="1603343"/>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88.62</a:t>
            </a:r>
          </a:p>
        </p:txBody>
      </p:sp>
      <p:sp>
        <p:nvSpPr>
          <p:cNvPr id="36" name="Rectangle 36"/>
          <p:cNvSpPr/>
          <p:nvPr/>
        </p:nvSpPr>
        <p:spPr>
          <a:xfrm>
            <a:off x="685800" y="1675448"/>
            <a:ext cx="10820400" cy="99536"/>
          </a:xfrm>
          <a:prstGeom prst="rect">
            <a:avLst/>
          </a:prstGeom>
          <a:solidFill>
            <a:srgbClr val="F8FAFC"/>
          </a:solidFill>
          <a:ln>
            <a:noFill/>
          </a:ln>
        </p:spPr>
      </p:sp>
      <p:sp>
        <p:nvSpPr>
          <p:cNvPr id="37" name="TextBox 37"/>
          <p:cNvSpPr txBox="1"/>
          <p:nvPr/>
        </p:nvSpPr>
        <p:spPr>
          <a:xfrm>
            <a:off x="811540" y="1702880"/>
            <a:ext cx="5332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3</a:t>
            </a:r>
          </a:p>
        </p:txBody>
      </p:sp>
      <p:sp>
        <p:nvSpPr>
          <p:cNvPr id="38" name="TextBox 38"/>
          <p:cNvSpPr txBox="1"/>
          <p:nvPr/>
        </p:nvSpPr>
        <p:spPr>
          <a:xfrm>
            <a:off x="1279017" y="1702880"/>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民商法学</a:t>
            </a:r>
          </a:p>
        </p:txBody>
      </p:sp>
      <p:sp>
        <p:nvSpPr>
          <p:cNvPr id="39" name="TextBox 39"/>
          <p:cNvSpPr txBox="1"/>
          <p:nvPr/>
        </p:nvSpPr>
        <p:spPr>
          <a:xfrm>
            <a:off x="1945958" y="1704499"/>
            <a:ext cx="1840563"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股权转让中的出资义务承担——以组织法与行为法融贯为视角</a:t>
            </a:r>
          </a:p>
        </p:txBody>
      </p:sp>
      <p:sp>
        <p:nvSpPr>
          <p:cNvPr id="40" name="TextBox 40"/>
          <p:cNvSpPr txBox="1"/>
          <p:nvPr/>
        </p:nvSpPr>
        <p:spPr>
          <a:xfrm>
            <a:off x="5708142" y="1702880"/>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41" name="TextBox 41"/>
          <p:cNvSpPr txBox="1"/>
          <p:nvPr/>
        </p:nvSpPr>
        <p:spPr>
          <a:xfrm>
            <a:off x="6524282" y="1702880"/>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2025</a:t>
            </a:r>
          </a:p>
        </p:txBody>
      </p:sp>
      <p:sp>
        <p:nvSpPr>
          <p:cNvPr id="42" name="TextBox 42"/>
          <p:cNvSpPr txBox="1"/>
          <p:nvPr/>
        </p:nvSpPr>
        <p:spPr>
          <a:xfrm>
            <a:off x="7136892" y="1702880"/>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李宇</a:t>
            </a:r>
          </a:p>
        </p:txBody>
      </p:sp>
      <p:sp>
        <p:nvSpPr>
          <p:cNvPr id="43" name="TextBox 43"/>
          <p:cNvSpPr txBox="1"/>
          <p:nvPr/>
        </p:nvSpPr>
        <p:spPr>
          <a:xfrm>
            <a:off x="7880032" y="1704499"/>
            <a:ext cx="64341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浙江大学光华法学院</a:t>
            </a:r>
          </a:p>
        </p:txBody>
      </p:sp>
      <p:sp>
        <p:nvSpPr>
          <p:cNvPr id="44" name="TextBox 44"/>
          <p:cNvSpPr txBox="1"/>
          <p:nvPr/>
        </p:nvSpPr>
        <p:spPr>
          <a:xfrm>
            <a:off x="11019330" y="1702880"/>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88.62</a:t>
            </a:r>
          </a:p>
        </p:txBody>
      </p:sp>
      <p:sp>
        <p:nvSpPr>
          <p:cNvPr id="45" name="Rectangle 45"/>
          <p:cNvSpPr/>
          <p:nvPr/>
        </p:nvSpPr>
        <p:spPr>
          <a:xfrm>
            <a:off x="685800" y="1774984"/>
            <a:ext cx="10820400" cy="99536"/>
          </a:xfrm>
          <a:prstGeom prst="rect">
            <a:avLst/>
          </a:prstGeom>
          <a:solidFill>
            <a:srgbClr val="FFFFFF"/>
          </a:solidFill>
          <a:ln>
            <a:noFill/>
          </a:ln>
        </p:spPr>
      </p:sp>
      <p:sp>
        <p:nvSpPr>
          <p:cNvPr id="46" name="TextBox 46"/>
          <p:cNvSpPr txBox="1"/>
          <p:nvPr/>
        </p:nvSpPr>
        <p:spPr>
          <a:xfrm>
            <a:off x="811540" y="1802416"/>
            <a:ext cx="5332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4</a:t>
            </a:r>
          </a:p>
        </p:txBody>
      </p:sp>
      <p:sp>
        <p:nvSpPr>
          <p:cNvPr id="47" name="TextBox 47"/>
          <p:cNvSpPr txBox="1"/>
          <p:nvPr/>
        </p:nvSpPr>
        <p:spPr>
          <a:xfrm>
            <a:off x="1279017" y="1802416"/>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民商法学</a:t>
            </a:r>
          </a:p>
        </p:txBody>
      </p:sp>
      <p:sp>
        <p:nvSpPr>
          <p:cNvPr id="48" name="TextBox 48"/>
          <p:cNvSpPr txBox="1"/>
          <p:nvPr/>
        </p:nvSpPr>
        <p:spPr>
          <a:xfrm>
            <a:off x="1945958" y="1804035"/>
            <a:ext cx="853440"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债权人代位权的类型化构造</a:t>
            </a:r>
          </a:p>
        </p:txBody>
      </p:sp>
      <p:sp>
        <p:nvSpPr>
          <p:cNvPr id="49" name="TextBox 49"/>
          <p:cNvSpPr txBox="1"/>
          <p:nvPr/>
        </p:nvSpPr>
        <p:spPr>
          <a:xfrm>
            <a:off x="5708142" y="1802416"/>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50" name="TextBox 50"/>
          <p:cNvSpPr txBox="1"/>
          <p:nvPr/>
        </p:nvSpPr>
        <p:spPr>
          <a:xfrm>
            <a:off x="6524282" y="1802416"/>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2024</a:t>
            </a:r>
          </a:p>
        </p:txBody>
      </p:sp>
      <p:sp>
        <p:nvSpPr>
          <p:cNvPr id="51" name="TextBox 51"/>
          <p:cNvSpPr txBox="1"/>
          <p:nvPr/>
        </p:nvSpPr>
        <p:spPr>
          <a:xfrm>
            <a:off x="7136892" y="1802416"/>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俞彦韬</a:t>
            </a:r>
          </a:p>
        </p:txBody>
      </p:sp>
      <p:sp>
        <p:nvSpPr>
          <p:cNvPr id="52" name="TextBox 52"/>
          <p:cNvSpPr txBox="1"/>
          <p:nvPr/>
        </p:nvSpPr>
        <p:spPr>
          <a:xfrm>
            <a:off x="7880032" y="1804035"/>
            <a:ext cx="433388"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华东政法大学</a:t>
            </a:r>
          </a:p>
        </p:txBody>
      </p:sp>
      <p:sp>
        <p:nvSpPr>
          <p:cNvPr id="53" name="TextBox 53"/>
          <p:cNvSpPr txBox="1"/>
          <p:nvPr/>
        </p:nvSpPr>
        <p:spPr>
          <a:xfrm>
            <a:off x="11019330" y="1802416"/>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88.45</a:t>
            </a:r>
          </a:p>
        </p:txBody>
      </p:sp>
      <p:sp>
        <p:nvSpPr>
          <p:cNvPr id="54" name="Rectangle 54"/>
          <p:cNvSpPr/>
          <p:nvPr/>
        </p:nvSpPr>
        <p:spPr>
          <a:xfrm>
            <a:off x="685800" y="1874520"/>
            <a:ext cx="10820400" cy="99536"/>
          </a:xfrm>
          <a:prstGeom prst="rect">
            <a:avLst/>
          </a:prstGeom>
          <a:solidFill>
            <a:srgbClr val="F8FAFC"/>
          </a:solidFill>
          <a:ln>
            <a:noFill/>
          </a:ln>
        </p:spPr>
      </p:sp>
      <p:sp>
        <p:nvSpPr>
          <p:cNvPr id="55" name="TextBox 55"/>
          <p:cNvSpPr txBox="1"/>
          <p:nvPr/>
        </p:nvSpPr>
        <p:spPr>
          <a:xfrm>
            <a:off x="811540" y="1901952"/>
            <a:ext cx="5332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5</a:t>
            </a:r>
          </a:p>
        </p:txBody>
      </p:sp>
      <p:sp>
        <p:nvSpPr>
          <p:cNvPr id="56" name="TextBox 56"/>
          <p:cNvSpPr txBox="1"/>
          <p:nvPr/>
        </p:nvSpPr>
        <p:spPr>
          <a:xfrm>
            <a:off x="1279017" y="1901952"/>
            <a:ext cx="229743"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刑法学</a:t>
            </a:r>
          </a:p>
        </p:txBody>
      </p:sp>
      <p:sp>
        <p:nvSpPr>
          <p:cNvPr id="57" name="TextBox 57"/>
          <p:cNvSpPr txBox="1"/>
          <p:nvPr/>
        </p:nvSpPr>
        <p:spPr>
          <a:xfrm>
            <a:off x="1945958" y="1903571"/>
            <a:ext cx="853440"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法条竞合与想象竞合的区分</a:t>
            </a:r>
          </a:p>
        </p:txBody>
      </p:sp>
      <p:sp>
        <p:nvSpPr>
          <p:cNvPr id="58" name="TextBox 58"/>
          <p:cNvSpPr txBox="1"/>
          <p:nvPr/>
        </p:nvSpPr>
        <p:spPr>
          <a:xfrm>
            <a:off x="5708142" y="1901952"/>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59" name="TextBox 59"/>
          <p:cNvSpPr txBox="1"/>
          <p:nvPr/>
        </p:nvSpPr>
        <p:spPr>
          <a:xfrm>
            <a:off x="6533283" y="1901952"/>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2016</a:t>
            </a:r>
          </a:p>
        </p:txBody>
      </p:sp>
      <p:sp>
        <p:nvSpPr>
          <p:cNvPr id="60" name="TextBox 60"/>
          <p:cNvSpPr txBox="1"/>
          <p:nvPr/>
        </p:nvSpPr>
        <p:spPr>
          <a:xfrm>
            <a:off x="7136892" y="1901952"/>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张明楷</a:t>
            </a:r>
          </a:p>
        </p:txBody>
      </p:sp>
      <p:sp>
        <p:nvSpPr>
          <p:cNvPr id="61" name="TextBox 61"/>
          <p:cNvSpPr txBox="1"/>
          <p:nvPr/>
        </p:nvSpPr>
        <p:spPr>
          <a:xfrm>
            <a:off x="7880032" y="1903571"/>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清华大学法学院</a:t>
            </a:r>
          </a:p>
        </p:txBody>
      </p:sp>
      <p:sp>
        <p:nvSpPr>
          <p:cNvPr id="62" name="TextBox 62"/>
          <p:cNvSpPr txBox="1"/>
          <p:nvPr/>
        </p:nvSpPr>
        <p:spPr>
          <a:xfrm>
            <a:off x="11019330" y="1901952"/>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88.20</a:t>
            </a:r>
          </a:p>
        </p:txBody>
      </p:sp>
      <p:sp>
        <p:nvSpPr>
          <p:cNvPr id="63" name="Rectangle 63"/>
          <p:cNvSpPr/>
          <p:nvPr/>
        </p:nvSpPr>
        <p:spPr>
          <a:xfrm>
            <a:off x="685800" y="1974056"/>
            <a:ext cx="10820400" cy="99536"/>
          </a:xfrm>
          <a:prstGeom prst="rect">
            <a:avLst/>
          </a:prstGeom>
          <a:solidFill>
            <a:srgbClr val="FFFFFF"/>
          </a:solidFill>
          <a:ln>
            <a:noFill/>
          </a:ln>
        </p:spPr>
      </p:sp>
      <p:sp>
        <p:nvSpPr>
          <p:cNvPr id="64" name="TextBox 64"/>
          <p:cNvSpPr txBox="1"/>
          <p:nvPr/>
        </p:nvSpPr>
        <p:spPr>
          <a:xfrm>
            <a:off x="811540" y="2001488"/>
            <a:ext cx="5332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6</a:t>
            </a:r>
          </a:p>
        </p:txBody>
      </p:sp>
      <p:sp>
        <p:nvSpPr>
          <p:cNvPr id="65" name="TextBox 65"/>
          <p:cNvSpPr txBox="1"/>
          <p:nvPr/>
        </p:nvSpPr>
        <p:spPr>
          <a:xfrm>
            <a:off x="1279017" y="2001488"/>
            <a:ext cx="229743"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刑法学</a:t>
            </a:r>
          </a:p>
        </p:txBody>
      </p:sp>
      <p:sp>
        <p:nvSpPr>
          <p:cNvPr id="66" name="TextBox 66"/>
          <p:cNvSpPr txBox="1"/>
          <p:nvPr/>
        </p:nvSpPr>
        <p:spPr>
          <a:xfrm>
            <a:off x="1945958" y="2003108"/>
            <a:ext cx="783431"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论选择性要素的认识错误</a:t>
            </a:r>
          </a:p>
        </p:txBody>
      </p:sp>
      <p:sp>
        <p:nvSpPr>
          <p:cNvPr id="67" name="TextBox 67"/>
          <p:cNvSpPr txBox="1"/>
          <p:nvPr/>
        </p:nvSpPr>
        <p:spPr>
          <a:xfrm>
            <a:off x="5708142" y="2001488"/>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68" name="TextBox 68"/>
          <p:cNvSpPr txBox="1"/>
          <p:nvPr/>
        </p:nvSpPr>
        <p:spPr>
          <a:xfrm>
            <a:off x="6524282" y="2001488"/>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2022</a:t>
            </a:r>
          </a:p>
        </p:txBody>
      </p:sp>
      <p:sp>
        <p:nvSpPr>
          <p:cNvPr id="69" name="TextBox 69"/>
          <p:cNvSpPr txBox="1"/>
          <p:nvPr/>
        </p:nvSpPr>
        <p:spPr>
          <a:xfrm>
            <a:off x="7136892" y="2001488"/>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柏浪涛</a:t>
            </a:r>
          </a:p>
        </p:txBody>
      </p:sp>
      <p:sp>
        <p:nvSpPr>
          <p:cNvPr id="70" name="TextBox 70"/>
          <p:cNvSpPr txBox="1"/>
          <p:nvPr/>
        </p:nvSpPr>
        <p:spPr>
          <a:xfrm>
            <a:off x="7880032" y="2003108"/>
            <a:ext cx="64341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华东师范大学法学院</a:t>
            </a:r>
          </a:p>
        </p:txBody>
      </p:sp>
      <p:sp>
        <p:nvSpPr>
          <p:cNvPr id="71" name="TextBox 71"/>
          <p:cNvSpPr txBox="1"/>
          <p:nvPr/>
        </p:nvSpPr>
        <p:spPr>
          <a:xfrm>
            <a:off x="11019330" y="2001488"/>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88.08</a:t>
            </a:r>
          </a:p>
        </p:txBody>
      </p:sp>
      <p:sp>
        <p:nvSpPr>
          <p:cNvPr id="72" name="Rectangle 72"/>
          <p:cNvSpPr/>
          <p:nvPr/>
        </p:nvSpPr>
        <p:spPr>
          <a:xfrm>
            <a:off x="685800" y="2073592"/>
            <a:ext cx="10820400" cy="99536"/>
          </a:xfrm>
          <a:prstGeom prst="rect">
            <a:avLst/>
          </a:prstGeom>
          <a:solidFill>
            <a:srgbClr val="F8FAFC"/>
          </a:solidFill>
          <a:ln>
            <a:noFill/>
          </a:ln>
        </p:spPr>
      </p:sp>
      <p:sp>
        <p:nvSpPr>
          <p:cNvPr id="73" name="TextBox 73"/>
          <p:cNvSpPr txBox="1"/>
          <p:nvPr/>
        </p:nvSpPr>
        <p:spPr>
          <a:xfrm>
            <a:off x="811540" y="2101024"/>
            <a:ext cx="5332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7</a:t>
            </a:r>
          </a:p>
        </p:txBody>
      </p:sp>
      <p:sp>
        <p:nvSpPr>
          <p:cNvPr id="74" name="TextBox 74"/>
          <p:cNvSpPr txBox="1"/>
          <p:nvPr/>
        </p:nvSpPr>
        <p:spPr>
          <a:xfrm>
            <a:off x="1279017" y="2101024"/>
            <a:ext cx="229743"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刑法学</a:t>
            </a:r>
          </a:p>
        </p:txBody>
      </p:sp>
      <p:sp>
        <p:nvSpPr>
          <p:cNvPr id="75" name="TextBox 75"/>
          <p:cNvSpPr txBox="1"/>
          <p:nvPr/>
        </p:nvSpPr>
        <p:spPr>
          <a:xfrm>
            <a:off x="1945958" y="2102644"/>
            <a:ext cx="64341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受贿犯罪的保护法益</a:t>
            </a:r>
          </a:p>
        </p:txBody>
      </p:sp>
      <p:sp>
        <p:nvSpPr>
          <p:cNvPr id="76" name="TextBox 76"/>
          <p:cNvSpPr txBox="1"/>
          <p:nvPr/>
        </p:nvSpPr>
        <p:spPr>
          <a:xfrm>
            <a:off x="5708142" y="2101024"/>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77" name="TextBox 77"/>
          <p:cNvSpPr txBox="1"/>
          <p:nvPr/>
        </p:nvSpPr>
        <p:spPr>
          <a:xfrm>
            <a:off x="6533283" y="2101024"/>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2018</a:t>
            </a:r>
          </a:p>
        </p:txBody>
      </p:sp>
      <p:sp>
        <p:nvSpPr>
          <p:cNvPr id="78" name="TextBox 78"/>
          <p:cNvSpPr txBox="1"/>
          <p:nvPr/>
        </p:nvSpPr>
        <p:spPr>
          <a:xfrm>
            <a:off x="7136892" y="2101024"/>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张明楷</a:t>
            </a:r>
          </a:p>
        </p:txBody>
      </p:sp>
      <p:sp>
        <p:nvSpPr>
          <p:cNvPr id="79" name="TextBox 79"/>
          <p:cNvSpPr txBox="1"/>
          <p:nvPr/>
        </p:nvSpPr>
        <p:spPr>
          <a:xfrm>
            <a:off x="7880032" y="2102644"/>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清华大学法学院</a:t>
            </a:r>
          </a:p>
        </p:txBody>
      </p:sp>
      <p:sp>
        <p:nvSpPr>
          <p:cNvPr id="80" name="TextBox 80"/>
          <p:cNvSpPr txBox="1"/>
          <p:nvPr/>
        </p:nvSpPr>
        <p:spPr>
          <a:xfrm>
            <a:off x="11019330" y="2101024"/>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88.03</a:t>
            </a:r>
          </a:p>
        </p:txBody>
      </p:sp>
      <p:sp>
        <p:nvSpPr>
          <p:cNvPr id="81" name="Rectangle 81"/>
          <p:cNvSpPr/>
          <p:nvPr/>
        </p:nvSpPr>
        <p:spPr>
          <a:xfrm>
            <a:off x="685800" y="2173129"/>
            <a:ext cx="10820400" cy="99536"/>
          </a:xfrm>
          <a:prstGeom prst="rect">
            <a:avLst/>
          </a:prstGeom>
          <a:solidFill>
            <a:srgbClr val="FFFFFF"/>
          </a:solidFill>
          <a:ln>
            <a:noFill/>
          </a:ln>
        </p:spPr>
      </p:sp>
      <p:sp>
        <p:nvSpPr>
          <p:cNvPr id="82" name="TextBox 82"/>
          <p:cNvSpPr txBox="1"/>
          <p:nvPr/>
        </p:nvSpPr>
        <p:spPr>
          <a:xfrm>
            <a:off x="811540" y="2200561"/>
            <a:ext cx="5332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a:t>
            </a:r>
          </a:p>
        </p:txBody>
      </p:sp>
      <p:sp>
        <p:nvSpPr>
          <p:cNvPr id="83" name="TextBox 83"/>
          <p:cNvSpPr txBox="1"/>
          <p:nvPr/>
        </p:nvSpPr>
        <p:spPr>
          <a:xfrm>
            <a:off x="1279017" y="2200561"/>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民商法学</a:t>
            </a:r>
          </a:p>
        </p:txBody>
      </p:sp>
      <p:sp>
        <p:nvSpPr>
          <p:cNvPr id="84" name="TextBox 84"/>
          <p:cNvSpPr txBox="1"/>
          <p:nvPr/>
        </p:nvSpPr>
        <p:spPr>
          <a:xfrm>
            <a:off x="1945958" y="2202180"/>
            <a:ext cx="993458"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民法典所有权保留之担保权构成</a:t>
            </a:r>
          </a:p>
        </p:txBody>
      </p:sp>
      <p:sp>
        <p:nvSpPr>
          <p:cNvPr id="85" name="TextBox 85"/>
          <p:cNvSpPr txBox="1"/>
          <p:nvPr/>
        </p:nvSpPr>
        <p:spPr>
          <a:xfrm>
            <a:off x="5708142" y="2200561"/>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86" name="TextBox 86"/>
          <p:cNvSpPr txBox="1"/>
          <p:nvPr/>
        </p:nvSpPr>
        <p:spPr>
          <a:xfrm>
            <a:off x="6524282" y="2200561"/>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2022</a:t>
            </a:r>
          </a:p>
        </p:txBody>
      </p:sp>
      <p:sp>
        <p:nvSpPr>
          <p:cNvPr id="87" name="TextBox 87"/>
          <p:cNvSpPr txBox="1"/>
          <p:nvPr/>
        </p:nvSpPr>
        <p:spPr>
          <a:xfrm>
            <a:off x="7136892" y="2200561"/>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纪海龙</a:t>
            </a:r>
          </a:p>
        </p:txBody>
      </p:sp>
      <p:sp>
        <p:nvSpPr>
          <p:cNvPr id="88" name="TextBox 88"/>
          <p:cNvSpPr txBox="1"/>
          <p:nvPr/>
        </p:nvSpPr>
        <p:spPr>
          <a:xfrm>
            <a:off x="7880032" y="2202180"/>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北京大学法学院</a:t>
            </a:r>
          </a:p>
        </p:txBody>
      </p:sp>
      <p:sp>
        <p:nvSpPr>
          <p:cNvPr id="89" name="TextBox 89"/>
          <p:cNvSpPr txBox="1"/>
          <p:nvPr/>
        </p:nvSpPr>
        <p:spPr>
          <a:xfrm>
            <a:off x="11019330" y="2200561"/>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87.97</a:t>
            </a:r>
          </a:p>
        </p:txBody>
      </p:sp>
      <p:sp>
        <p:nvSpPr>
          <p:cNvPr id="90" name="Rectangle 90"/>
          <p:cNvSpPr/>
          <p:nvPr/>
        </p:nvSpPr>
        <p:spPr>
          <a:xfrm>
            <a:off x="685800" y="2272665"/>
            <a:ext cx="10820400" cy="99536"/>
          </a:xfrm>
          <a:prstGeom prst="rect">
            <a:avLst/>
          </a:prstGeom>
          <a:solidFill>
            <a:srgbClr val="F8FAFC"/>
          </a:solidFill>
          <a:ln>
            <a:noFill/>
          </a:ln>
        </p:spPr>
      </p:sp>
      <p:sp>
        <p:nvSpPr>
          <p:cNvPr id="91" name="TextBox 91"/>
          <p:cNvSpPr txBox="1"/>
          <p:nvPr/>
        </p:nvSpPr>
        <p:spPr>
          <a:xfrm>
            <a:off x="811540" y="2300097"/>
            <a:ext cx="5332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9</a:t>
            </a:r>
          </a:p>
        </p:txBody>
      </p:sp>
      <p:sp>
        <p:nvSpPr>
          <p:cNvPr id="92" name="TextBox 92"/>
          <p:cNvSpPr txBox="1"/>
          <p:nvPr/>
        </p:nvSpPr>
        <p:spPr>
          <a:xfrm>
            <a:off x="1279017" y="2300097"/>
            <a:ext cx="445770"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知识产权法学</a:t>
            </a:r>
          </a:p>
        </p:txBody>
      </p:sp>
      <p:sp>
        <p:nvSpPr>
          <p:cNvPr id="93" name="TextBox 93"/>
          <p:cNvSpPr txBox="1"/>
          <p:nvPr/>
        </p:nvSpPr>
        <p:spPr>
          <a:xfrm>
            <a:off x="1945958" y="2301716"/>
            <a:ext cx="1133475"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集体商标和证明商标保护体系的重构</a:t>
            </a:r>
          </a:p>
        </p:txBody>
      </p:sp>
      <p:sp>
        <p:nvSpPr>
          <p:cNvPr id="94" name="TextBox 94"/>
          <p:cNvSpPr txBox="1"/>
          <p:nvPr/>
        </p:nvSpPr>
        <p:spPr>
          <a:xfrm>
            <a:off x="5708142" y="2300097"/>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95" name="TextBox 95"/>
          <p:cNvSpPr txBox="1"/>
          <p:nvPr/>
        </p:nvSpPr>
        <p:spPr>
          <a:xfrm>
            <a:off x="6524282" y="2300097"/>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2025</a:t>
            </a:r>
          </a:p>
        </p:txBody>
      </p:sp>
      <p:sp>
        <p:nvSpPr>
          <p:cNvPr id="96" name="TextBox 96"/>
          <p:cNvSpPr txBox="1"/>
          <p:nvPr/>
        </p:nvSpPr>
        <p:spPr>
          <a:xfrm>
            <a:off x="7136892" y="2300097"/>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王迁</a:t>
            </a:r>
          </a:p>
        </p:txBody>
      </p:sp>
      <p:sp>
        <p:nvSpPr>
          <p:cNvPr id="97" name="TextBox 97"/>
          <p:cNvSpPr txBox="1"/>
          <p:nvPr/>
        </p:nvSpPr>
        <p:spPr>
          <a:xfrm>
            <a:off x="7880032" y="2301716"/>
            <a:ext cx="433388"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华东政法大学</a:t>
            </a:r>
          </a:p>
        </p:txBody>
      </p:sp>
      <p:sp>
        <p:nvSpPr>
          <p:cNvPr id="98" name="TextBox 98"/>
          <p:cNvSpPr txBox="1"/>
          <p:nvPr/>
        </p:nvSpPr>
        <p:spPr>
          <a:xfrm>
            <a:off x="11019330" y="2300097"/>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87.80</a:t>
            </a:r>
          </a:p>
        </p:txBody>
      </p:sp>
      <p:sp>
        <p:nvSpPr>
          <p:cNvPr id="99" name="Rectangle 99"/>
          <p:cNvSpPr/>
          <p:nvPr/>
        </p:nvSpPr>
        <p:spPr>
          <a:xfrm>
            <a:off x="685800" y="2372201"/>
            <a:ext cx="10820400" cy="99536"/>
          </a:xfrm>
          <a:prstGeom prst="rect">
            <a:avLst/>
          </a:prstGeom>
          <a:solidFill>
            <a:srgbClr val="FFFFFF"/>
          </a:solidFill>
          <a:ln>
            <a:noFill/>
          </a:ln>
        </p:spPr>
      </p:sp>
      <p:sp>
        <p:nvSpPr>
          <p:cNvPr id="100" name="TextBox 100"/>
          <p:cNvSpPr txBox="1"/>
          <p:nvPr/>
        </p:nvSpPr>
        <p:spPr>
          <a:xfrm>
            <a:off x="800738" y="2399633"/>
            <a:ext cx="7492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10</a:t>
            </a:r>
          </a:p>
        </p:txBody>
      </p:sp>
      <p:sp>
        <p:nvSpPr>
          <p:cNvPr id="101" name="TextBox 101"/>
          <p:cNvSpPr txBox="1"/>
          <p:nvPr/>
        </p:nvSpPr>
        <p:spPr>
          <a:xfrm>
            <a:off x="1279017" y="2399633"/>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民商法学</a:t>
            </a:r>
          </a:p>
        </p:txBody>
      </p:sp>
      <p:sp>
        <p:nvSpPr>
          <p:cNvPr id="102" name="TextBox 102"/>
          <p:cNvSpPr txBox="1"/>
          <p:nvPr/>
        </p:nvSpPr>
        <p:spPr>
          <a:xfrm>
            <a:off x="1945958" y="2401252"/>
            <a:ext cx="853440"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董事间披露义务的法律构造</a:t>
            </a:r>
          </a:p>
        </p:txBody>
      </p:sp>
      <p:sp>
        <p:nvSpPr>
          <p:cNvPr id="103" name="TextBox 103"/>
          <p:cNvSpPr txBox="1"/>
          <p:nvPr/>
        </p:nvSpPr>
        <p:spPr>
          <a:xfrm>
            <a:off x="5708142" y="2399633"/>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104" name="TextBox 104"/>
          <p:cNvSpPr txBox="1"/>
          <p:nvPr/>
        </p:nvSpPr>
        <p:spPr>
          <a:xfrm>
            <a:off x="6524282" y="2399633"/>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2024</a:t>
            </a:r>
          </a:p>
        </p:txBody>
      </p:sp>
      <p:sp>
        <p:nvSpPr>
          <p:cNvPr id="105" name="TextBox 105"/>
          <p:cNvSpPr txBox="1"/>
          <p:nvPr/>
        </p:nvSpPr>
        <p:spPr>
          <a:xfrm>
            <a:off x="7136892" y="2399633"/>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袁崇霖</a:t>
            </a:r>
          </a:p>
        </p:txBody>
      </p:sp>
      <p:sp>
        <p:nvSpPr>
          <p:cNvPr id="106" name="TextBox 106"/>
          <p:cNvSpPr txBox="1"/>
          <p:nvPr/>
        </p:nvSpPr>
        <p:spPr>
          <a:xfrm>
            <a:off x="7880032" y="2401252"/>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清华大学法学院</a:t>
            </a:r>
          </a:p>
        </p:txBody>
      </p:sp>
      <p:sp>
        <p:nvSpPr>
          <p:cNvPr id="107" name="TextBox 107"/>
          <p:cNvSpPr txBox="1"/>
          <p:nvPr/>
        </p:nvSpPr>
        <p:spPr>
          <a:xfrm>
            <a:off x="11019330" y="2399633"/>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87.75</a:t>
            </a:r>
          </a:p>
        </p:txBody>
      </p:sp>
      <p:sp>
        <p:nvSpPr>
          <p:cNvPr id="108" name="Rectangle 108"/>
          <p:cNvSpPr/>
          <p:nvPr/>
        </p:nvSpPr>
        <p:spPr>
          <a:xfrm>
            <a:off x="685800" y="2471738"/>
            <a:ext cx="10820400" cy="99536"/>
          </a:xfrm>
          <a:prstGeom prst="rect">
            <a:avLst/>
          </a:prstGeom>
          <a:solidFill>
            <a:srgbClr val="F8FAFC"/>
          </a:solidFill>
          <a:ln>
            <a:noFill/>
          </a:ln>
        </p:spPr>
      </p:sp>
      <p:sp>
        <p:nvSpPr>
          <p:cNvPr id="109" name="TextBox 109"/>
          <p:cNvSpPr txBox="1"/>
          <p:nvPr/>
        </p:nvSpPr>
        <p:spPr>
          <a:xfrm>
            <a:off x="809739" y="2499170"/>
            <a:ext cx="5692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11</a:t>
            </a:r>
          </a:p>
        </p:txBody>
      </p:sp>
      <p:sp>
        <p:nvSpPr>
          <p:cNvPr id="110" name="TextBox 110"/>
          <p:cNvSpPr txBox="1"/>
          <p:nvPr/>
        </p:nvSpPr>
        <p:spPr>
          <a:xfrm>
            <a:off x="1279017" y="2499170"/>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民商法学</a:t>
            </a:r>
          </a:p>
        </p:txBody>
      </p:sp>
      <p:sp>
        <p:nvSpPr>
          <p:cNvPr id="111" name="TextBox 111"/>
          <p:cNvSpPr txBox="1"/>
          <p:nvPr/>
        </p:nvSpPr>
        <p:spPr>
          <a:xfrm>
            <a:off x="1945958" y="2500789"/>
            <a:ext cx="1413510"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虚假陈述比例连带责任的认定模式与体系展开</a:t>
            </a:r>
          </a:p>
        </p:txBody>
      </p:sp>
      <p:sp>
        <p:nvSpPr>
          <p:cNvPr id="112" name="TextBox 112"/>
          <p:cNvSpPr txBox="1"/>
          <p:nvPr/>
        </p:nvSpPr>
        <p:spPr>
          <a:xfrm>
            <a:off x="5708142" y="2499170"/>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113" name="TextBox 113"/>
          <p:cNvSpPr txBox="1"/>
          <p:nvPr/>
        </p:nvSpPr>
        <p:spPr>
          <a:xfrm>
            <a:off x="6524282" y="2499170"/>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2023</a:t>
            </a:r>
          </a:p>
        </p:txBody>
      </p:sp>
      <p:sp>
        <p:nvSpPr>
          <p:cNvPr id="114" name="TextBox 114"/>
          <p:cNvSpPr txBox="1"/>
          <p:nvPr/>
        </p:nvSpPr>
        <p:spPr>
          <a:xfrm>
            <a:off x="7136892" y="2499170"/>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邹学庚</a:t>
            </a:r>
          </a:p>
        </p:txBody>
      </p:sp>
      <p:sp>
        <p:nvSpPr>
          <p:cNvPr id="115" name="TextBox 115"/>
          <p:cNvSpPr txBox="1"/>
          <p:nvPr/>
        </p:nvSpPr>
        <p:spPr>
          <a:xfrm>
            <a:off x="7880032" y="2500789"/>
            <a:ext cx="923449"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中国政法大学民商经济法学院</a:t>
            </a:r>
          </a:p>
        </p:txBody>
      </p:sp>
      <p:sp>
        <p:nvSpPr>
          <p:cNvPr id="116" name="TextBox 116"/>
          <p:cNvSpPr txBox="1"/>
          <p:nvPr/>
        </p:nvSpPr>
        <p:spPr>
          <a:xfrm>
            <a:off x="11019330" y="2499170"/>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87.75</a:t>
            </a:r>
          </a:p>
        </p:txBody>
      </p:sp>
      <p:sp>
        <p:nvSpPr>
          <p:cNvPr id="117" name="Rectangle 117"/>
          <p:cNvSpPr/>
          <p:nvPr/>
        </p:nvSpPr>
        <p:spPr>
          <a:xfrm>
            <a:off x="685800" y="2571274"/>
            <a:ext cx="10820400" cy="99536"/>
          </a:xfrm>
          <a:prstGeom prst="rect">
            <a:avLst/>
          </a:prstGeom>
          <a:solidFill>
            <a:srgbClr val="FFFFFF"/>
          </a:solidFill>
          <a:ln>
            <a:noFill/>
          </a:ln>
        </p:spPr>
      </p:sp>
      <p:sp>
        <p:nvSpPr>
          <p:cNvPr id="118" name="TextBox 118"/>
          <p:cNvSpPr txBox="1"/>
          <p:nvPr/>
        </p:nvSpPr>
        <p:spPr>
          <a:xfrm>
            <a:off x="800738" y="2598706"/>
            <a:ext cx="7492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12</a:t>
            </a:r>
          </a:p>
        </p:txBody>
      </p:sp>
      <p:sp>
        <p:nvSpPr>
          <p:cNvPr id="119" name="TextBox 119"/>
          <p:cNvSpPr txBox="1"/>
          <p:nvPr/>
        </p:nvSpPr>
        <p:spPr>
          <a:xfrm>
            <a:off x="1279017" y="2598706"/>
            <a:ext cx="229743"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刑法学</a:t>
            </a:r>
          </a:p>
        </p:txBody>
      </p:sp>
      <p:sp>
        <p:nvSpPr>
          <p:cNvPr id="120" name="TextBox 120"/>
          <p:cNvSpPr txBox="1"/>
          <p:nvPr/>
        </p:nvSpPr>
        <p:spPr>
          <a:xfrm>
            <a:off x="1945958" y="2600325"/>
            <a:ext cx="1637538"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刑民交叉实体问题的解决路径——“法律效果论”之展开</a:t>
            </a:r>
          </a:p>
        </p:txBody>
      </p:sp>
      <p:sp>
        <p:nvSpPr>
          <p:cNvPr id="121" name="TextBox 121"/>
          <p:cNvSpPr txBox="1"/>
          <p:nvPr/>
        </p:nvSpPr>
        <p:spPr>
          <a:xfrm>
            <a:off x="5708142" y="2598706"/>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122" name="TextBox 122"/>
          <p:cNvSpPr txBox="1"/>
          <p:nvPr/>
        </p:nvSpPr>
        <p:spPr>
          <a:xfrm>
            <a:off x="6524282" y="2598706"/>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2020</a:t>
            </a:r>
          </a:p>
        </p:txBody>
      </p:sp>
      <p:sp>
        <p:nvSpPr>
          <p:cNvPr id="123" name="TextBox 123"/>
          <p:cNvSpPr txBox="1"/>
          <p:nvPr/>
        </p:nvSpPr>
        <p:spPr>
          <a:xfrm>
            <a:off x="7136892" y="2598706"/>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陈少青</a:t>
            </a:r>
          </a:p>
        </p:txBody>
      </p:sp>
      <p:sp>
        <p:nvSpPr>
          <p:cNvPr id="124" name="TextBox 124"/>
          <p:cNvSpPr txBox="1"/>
          <p:nvPr/>
        </p:nvSpPr>
        <p:spPr>
          <a:xfrm>
            <a:off x="7880032" y="2600325"/>
            <a:ext cx="783431"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对外经济贸易大学法学院</a:t>
            </a:r>
          </a:p>
        </p:txBody>
      </p:sp>
      <p:sp>
        <p:nvSpPr>
          <p:cNvPr id="125" name="TextBox 125"/>
          <p:cNvSpPr txBox="1"/>
          <p:nvPr/>
        </p:nvSpPr>
        <p:spPr>
          <a:xfrm>
            <a:off x="11019330" y="2598706"/>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87.70</a:t>
            </a:r>
          </a:p>
        </p:txBody>
      </p:sp>
      <p:sp>
        <p:nvSpPr>
          <p:cNvPr id="126" name="Rectangle 126"/>
          <p:cNvSpPr/>
          <p:nvPr/>
        </p:nvSpPr>
        <p:spPr>
          <a:xfrm>
            <a:off x="685800" y="2670810"/>
            <a:ext cx="10820400" cy="99536"/>
          </a:xfrm>
          <a:prstGeom prst="rect">
            <a:avLst/>
          </a:prstGeom>
          <a:solidFill>
            <a:srgbClr val="F8FAFC"/>
          </a:solidFill>
          <a:ln>
            <a:noFill/>
          </a:ln>
        </p:spPr>
      </p:sp>
      <p:sp>
        <p:nvSpPr>
          <p:cNvPr id="127" name="TextBox 127"/>
          <p:cNvSpPr txBox="1"/>
          <p:nvPr/>
        </p:nvSpPr>
        <p:spPr>
          <a:xfrm>
            <a:off x="800738" y="2698242"/>
            <a:ext cx="7492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13</a:t>
            </a:r>
          </a:p>
        </p:txBody>
      </p:sp>
      <p:sp>
        <p:nvSpPr>
          <p:cNvPr id="128" name="TextBox 128"/>
          <p:cNvSpPr txBox="1"/>
          <p:nvPr/>
        </p:nvSpPr>
        <p:spPr>
          <a:xfrm>
            <a:off x="1279017" y="2698242"/>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诉讼法学</a:t>
            </a:r>
          </a:p>
        </p:txBody>
      </p:sp>
      <p:sp>
        <p:nvSpPr>
          <p:cNvPr id="129" name="TextBox 129"/>
          <p:cNvSpPr txBox="1"/>
          <p:nvPr/>
        </p:nvSpPr>
        <p:spPr>
          <a:xfrm>
            <a:off x="1945958" y="2699861"/>
            <a:ext cx="1273493"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实体性查封优先权的理论证成及体系展开</a:t>
            </a:r>
          </a:p>
        </p:txBody>
      </p:sp>
      <p:sp>
        <p:nvSpPr>
          <p:cNvPr id="130" name="TextBox 130"/>
          <p:cNvSpPr txBox="1"/>
          <p:nvPr/>
        </p:nvSpPr>
        <p:spPr>
          <a:xfrm>
            <a:off x="5708142" y="2698242"/>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131" name="TextBox 131"/>
          <p:cNvSpPr txBox="1"/>
          <p:nvPr/>
        </p:nvSpPr>
        <p:spPr>
          <a:xfrm>
            <a:off x="6524282" y="2698242"/>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2025</a:t>
            </a:r>
          </a:p>
        </p:txBody>
      </p:sp>
      <p:sp>
        <p:nvSpPr>
          <p:cNvPr id="132" name="TextBox 132"/>
          <p:cNvSpPr txBox="1"/>
          <p:nvPr/>
        </p:nvSpPr>
        <p:spPr>
          <a:xfrm>
            <a:off x="7136892" y="2698242"/>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马强伟</a:t>
            </a:r>
          </a:p>
        </p:txBody>
      </p:sp>
      <p:sp>
        <p:nvSpPr>
          <p:cNvPr id="133" name="TextBox 133"/>
          <p:cNvSpPr txBox="1"/>
          <p:nvPr/>
        </p:nvSpPr>
        <p:spPr>
          <a:xfrm>
            <a:off x="7880032" y="2699861"/>
            <a:ext cx="64341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上海财经大学法学院</a:t>
            </a:r>
          </a:p>
        </p:txBody>
      </p:sp>
      <p:sp>
        <p:nvSpPr>
          <p:cNvPr id="134" name="TextBox 134"/>
          <p:cNvSpPr txBox="1"/>
          <p:nvPr/>
        </p:nvSpPr>
        <p:spPr>
          <a:xfrm>
            <a:off x="11019330" y="2698242"/>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87.70</a:t>
            </a:r>
          </a:p>
        </p:txBody>
      </p:sp>
      <p:sp>
        <p:nvSpPr>
          <p:cNvPr id="135" name="Rectangle 135"/>
          <p:cNvSpPr/>
          <p:nvPr/>
        </p:nvSpPr>
        <p:spPr>
          <a:xfrm>
            <a:off x="685800" y="2770346"/>
            <a:ext cx="10820400" cy="99536"/>
          </a:xfrm>
          <a:prstGeom prst="rect">
            <a:avLst/>
          </a:prstGeom>
          <a:solidFill>
            <a:srgbClr val="FFFFFF"/>
          </a:solidFill>
          <a:ln>
            <a:noFill/>
          </a:ln>
        </p:spPr>
      </p:sp>
      <p:sp>
        <p:nvSpPr>
          <p:cNvPr id="136" name="TextBox 136"/>
          <p:cNvSpPr txBox="1"/>
          <p:nvPr/>
        </p:nvSpPr>
        <p:spPr>
          <a:xfrm>
            <a:off x="800738" y="2797778"/>
            <a:ext cx="7492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14</a:t>
            </a:r>
          </a:p>
        </p:txBody>
      </p:sp>
      <p:sp>
        <p:nvSpPr>
          <p:cNvPr id="137" name="TextBox 137"/>
          <p:cNvSpPr txBox="1"/>
          <p:nvPr/>
        </p:nvSpPr>
        <p:spPr>
          <a:xfrm>
            <a:off x="1279017" y="2797778"/>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法学理论</a:t>
            </a:r>
          </a:p>
        </p:txBody>
      </p:sp>
      <p:sp>
        <p:nvSpPr>
          <p:cNvPr id="138" name="TextBox 138"/>
          <p:cNvSpPr txBox="1"/>
          <p:nvPr/>
        </p:nvSpPr>
        <p:spPr>
          <a:xfrm>
            <a:off x="1945958" y="2799398"/>
            <a:ext cx="993458"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注意义务的规范本质与判断标准</a:t>
            </a:r>
          </a:p>
        </p:txBody>
      </p:sp>
      <p:sp>
        <p:nvSpPr>
          <p:cNvPr id="139" name="TextBox 139"/>
          <p:cNvSpPr txBox="1"/>
          <p:nvPr/>
        </p:nvSpPr>
        <p:spPr>
          <a:xfrm>
            <a:off x="5708142" y="2797778"/>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140" name="TextBox 140"/>
          <p:cNvSpPr txBox="1"/>
          <p:nvPr/>
        </p:nvSpPr>
        <p:spPr>
          <a:xfrm>
            <a:off x="6533283" y="2797778"/>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2019</a:t>
            </a:r>
          </a:p>
        </p:txBody>
      </p:sp>
      <p:sp>
        <p:nvSpPr>
          <p:cNvPr id="141" name="TextBox 141"/>
          <p:cNvSpPr txBox="1"/>
          <p:nvPr/>
        </p:nvSpPr>
        <p:spPr>
          <a:xfrm>
            <a:off x="7136892" y="2797778"/>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陈璇</a:t>
            </a:r>
          </a:p>
        </p:txBody>
      </p:sp>
      <p:sp>
        <p:nvSpPr>
          <p:cNvPr id="142" name="TextBox 142"/>
          <p:cNvSpPr txBox="1"/>
          <p:nvPr/>
        </p:nvSpPr>
        <p:spPr>
          <a:xfrm>
            <a:off x="7880032" y="2799398"/>
            <a:ext cx="1133475"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中国人民大学刑事法律科学研究中心</a:t>
            </a:r>
          </a:p>
        </p:txBody>
      </p:sp>
      <p:sp>
        <p:nvSpPr>
          <p:cNvPr id="143" name="TextBox 143"/>
          <p:cNvSpPr txBox="1"/>
          <p:nvPr/>
        </p:nvSpPr>
        <p:spPr>
          <a:xfrm>
            <a:off x="11019330" y="2797778"/>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87.70</a:t>
            </a:r>
          </a:p>
        </p:txBody>
      </p:sp>
      <p:sp>
        <p:nvSpPr>
          <p:cNvPr id="144" name="Rectangle 144"/>
          <p:cNvSpPr/>
          <p:nvPr/>
        </p:nvSpPr>
        <p:spPr>
          <a:xfrm>
            <a:off x="685800" y="2869882"/>
            <a:ext cx="10820400" cy="99536"/>
          </a:xfrm>
          <a:prstGeom prst="rect">
            <a:avLst/>
          </a:prstGeom>
          <a:solidFill>
            <a:srgbClr val="F8FAFC"/>
          </a:solidFill>
          <a:ln>
            <a:noFill/>
          </a:ln>
        </p:spPr>
      </p:sp>
      <p:sp>
        <p:nvSpPr>
          <p:cNvPr id="145" name="TextBox 145"/>
          <p:cNvSpPr txBox="1"/>
          <p:nvPr/>
        </p:nvSpPr>
        <p:spPr>
          <a:xfrm>
            <a:off x="800738" y="2897314"/>
            <a:ext cx="7492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15</a:t>
            </a:r>
          </a:p>
        </p:txBody>
      </p:sp>
      <p:sp>
        <p:nvSpPr>
          <p:cNvPr id="146" name="TextBox 146"/>
          <p:cNvSpPr txBox="1"/>
          <p:nvPr/>
        </p:nvSpPr>
        <p:spPr>
          <a:xfrm>
            <a:off x="1279017" y="2897314"/>
            <a:ext cx="229743"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刑法学</a:t>
            </a:r>
          </a:p>
        </p:txBody>
      </p:sp>
      <p:sp>
        <p:nvSpPr>
          <p:cNvPr id="147" name="TextBox 147"/>
          <p:cNvSpPr txBox="1"/>
          <p:nvPr/>
        </p:nvSpPr>
        <p:spPr>
          <a:xfrm>
            <a:off x="1945958" y="2898934"/>
            <a:ext cx="1483519"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中国特色反腐败制度框架下贿赂犯罪法益的确定</a:t>
            </a:r>
          </a:p>
        </p:txBody>
      </p:sp>
      <p:sp>
        <p:nvSpPr>
          <p:cNvPr id="148" name="TextBox 148"/>
          <p:cNvSpPr txBox="1"/>
          <p:nvPr/>
        </p:nvSpPr>
        <p:spPr>
          <a:xfrm>
            <a:off x="5708142" y="2897314"/>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中国法学</a:t>
            </a:r>
          </a:p>
        </p:txBody>
      </p:sp>
      <p:sp>
        <p:nvSpPr>
          <p:cNvPr id="149" name="TextBox 149"/>
          <p:cNvSpPr txBox="1"/>
          <p:nvPr/>
        </p:nvSpPr>
        <p:spPr>
          <a:xfrm>
            <a:off x="6524282" y="2897314"/>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2024</a:t>
            </a:r>
          </a:p>
        </p:txBody>
      </p:sp>
      <p:sp>
        <p:nvSpPr>
          <p:cNvPr id="150" name="TextBox 150"/>
          <p:cNvSpPr txBox="1"/>
          <p:nvPr/>
        </p:nvSpPr>
        <p:spPr>
          <a:xfrm>
            <a:off x="7136892" y="2897314"/>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陈金林</a:t>
            </a:r>
          </a:p>
        </p:txBody>
      </p:sp>
      <p:sp>
        <p:nvSpPr>
          <p:cNvPr id="151" name="TextBox 151"/>
          <p:cNvSpPr txBox="1"/>
          <p:nvPr/>
        </p:nvSpPr>
        <p:spPr>
          <a:xfrm>
            <a:off x="7880032" y="2898934"/>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武汉大学法学院</a:t>
            </a:r>
          </a:p>
        </p:txBody>
      </p:sp>
      <p:sp>
        <p:nvSpPr>
          <p:cNvPr id="152" name="TextBox 152"/>
          <p:cNvSpPr txBox="1"/>
          <p:nvPr/>
        </p:nvSpPr>
        <p:spPr>
          <a:xfrm>
            <a:off x="11019330" y="2897314"/>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87.67</a:t>
            </a:r>
          </a:p>
        </p:txBody>
      </p:sp>
      <p:sp>
        <p:nvSpPr>
          <p:cNvPr id="153" name="Rectangle 153"/>
          <p:cNvSpPr/>
          <p:nvPr/>
        </p:nvSpPr>
        <p:spPr>
          <a:xfrm>
            <a:off x="685800" y="2969419"/>
            <a:ext cx="10820400" cy="99536"/>
          </a:xfrm>
          <a:prstGeom prst="rect">
            <a:avLst/>
          </a:prstGeom>
          <a:solidFill>
            <a:srgbClr val="FFFFFF"/>
          </a:solidFill>
          <a:ln>
            <a:noFill/>
          </a:ln>
        </p:spPr>
      </p:sp>
      <p:sp>
        <p:nvSpPr>
          <p:cNvPr id="154" name="TextBox 154"/>
          <p:cNvSpPr txBox="1"/>
          <p:nvPr/>
        </p:nvSpPr>
        <p:spPr>
          <a:xfrm>
            <a:off x="800738" y="2996851"/>
            <a:ext cx="7492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16</a:t>
            </a:r>
          </a:p>
        </p:txBody>
      </p:sp>
      <p:sp>
        <p:nvSpPr>
          <p:cNvPr id="155" name="TextBox 155"/>
          <p:cNvSpPr txBox="1"/>
          <p:nvPr/>
        </p:nvSpPr>
        <p:spPr>
          <a:xfrm>
            <a:off x="1279017" y="2996851"/>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民商法学</a:t>
            </a:r>
          </a:p>
        </p:txBody>
      </p:sp>
      <p:sp>
        <p:nvSpPr>
          <p:cNvPr id="156" name="TextBox 156"/>
          <p:cNvSpPr txBox="1"/>
          <p:nvPr/>
        </p:nvSpPr>
        <p:spPr>
          <a:xfrm>
            <a:off x="1945958" y="2998470"/>
            <a:ext cx="1343501"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基本权利私人间效力法理基础的澄清与重构</a:t>
            </a:r>
          </a:p>
        </p:txBody>
      </p:sp>
      <p:sp>
        <p:nvSpPr>
          <p:cNvPr id="157" name="TextBox 157"/>
          <p:cNvSpPr txBox="1"/>
          <p:nvPr/>
        </p:nvSpPr>
        <p:spPr>
          <a:xfrm>
            <a:off x="5708142" y="2996851"/>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中国法学</a:t>
            </a:r>
          </a:p>
        </p:txBody>
      </p:sp>
      <p:sp>
        <p:nvSpPr>
          <p:cNvPr id="158" name="TextBox 158"/>
          <p:cNvSpPr txBox="1"/>
          <p:nvPr/>
        </p:nvSpPr>
        <p:spPr>
          <a:xfrm>
            <a:off x="6524282" y="2996851"/>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2023</a:t>
            </a:r>
          </a:p>
        </p:txBody>
      </p:sp>
      <p:sp>
        <p:nvSpPr>
          <p:cNvPr id="159" name="TextBox 159"/>
          <p:cNvSpPr txBox="1"/>
          <p:nvPr/>
        </p:nvSpPr>
        <p:spPr>
          <a:xfrm>
            <a:off x="7136892" y="2996851"/>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杨登杰</a:t>
            </a:r>
          </a:p>
        </p:txBody>
      </p:sp>
      <p:sp>
        <p:nvSpPr>
          <p:cNvPr id="160" name="TextBox 160"/>
          <p:cNvSpPr txBox="1"/>
          <p:nvPr/>
        </p:nvSpPr>
        <p:spPr>
          <a:xfrm>
            <a:off x="7880032" y="2998470"/>
            <a:ext cx="783431"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北京航空航天大学法学院</a:t>
            </a:r>
          </a:p>
        </p:txBody>
      </p:sp>
      <p:sp>
        <p:nvSpPr>
          <p:cNvPr id="161" name="TextBox 161"/>
          <p:cNvSpPr txBox="1"/>
          <p:nvPr/>
        </p:nvSpPr>
        <p:spPr>
          <a:xfrm>
            <a:off x="11019330" y="2996851"/>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87.67</a:t>
            </a:r>
          </a:p>
        </p:txBody>
      </p:sp>
      <p:sp>
        <p:nvSpPr>
          <p:cNvPr id="162" name="Rectangle 162"/>
          <p:cNvSpPr/>
          <p:nvPr/>
        </p:nvSpPr>
        <p:spPr>
          <a:xfrm>
            <a:off x="685800" y="3068955"/>
            <a:ext cx="10820400" cy="99536"/>
          </a:xfrm>
          <a:prstGeom prst="rect">
            <a:avLst/>
          </a:prstGeom>
          <a:solidFill>
            <a:srgbClr val="F8FAFC"/>
          </a:solidFill>
          <a:ln>
            <a:noFill/>
          </a:ln>
        </p:spPr>
      </p:sp>
      <p:sp>
        <p:nvSpPr>
          <p:cNvPr id="163" name="TextBox 163"/>
          <p:cNvSpPr txBox="1"/>
          <p:nvPr/>
        </p:nvSpPr>
        <p:spPr>
          <a:xfrm>
            <a:off x="800738" y="3096387"/>
            <a:ext cx="7492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17</a:t>
            </a:r>
          </a:p>
        </p:txBody>
      </p:sp>
      <p:sp>
        <p:nvSpPr>
          <p:cNvPr id="164" name="TextBox 164"/>
          <p:cNvSpPr txBox="1"/>
          <p:nvPr/>
        </p:nvSpPr>
        <p:spPr>
          <a:xfrm>
            <a:off x="1279017" y="3096387"/>
            <a:ext cx="229743"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刑法学</a:t>
            </a:r>
          </a:p>
        </p:txBody>
      </p:sp>
      <p:sp>
        <p:nvSpPr>
          <p:cNvPr id="165" name="TextBox 165"/>
          <p:cNvSpPr txBox="1"/>
          <p:nvPr/>
        </p:nvSpPr>
        <p:spPr>
          <a:xfrm>
            <a:off x="1945958" y="3098006"/>
            <a:ext cx="1693545"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财产犯罪中财产性利益的事实占有：以存款债权为中心</a:t>
            </a:r>
          </a:p>
        </p:txBody>
      </p:sp>
      <p:sp>
        <p:nvSpPr>
          <p:cNvPr id="166" name="TextBox 166"/>
          <p:cNvSpPr txBox="1"/>
          <p:nvPr/>
        </p:nvSpPr>
        <p:spPr>
          <a:xfrm>
            <a:off x="5708142" y="3096387"/>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167" name="TextBox 167"/>
          <p:cNvSpPr txBox="1"/>
          <p:nvPr/>
        </p:nvSpPr>
        <p:spPr>
          <a:xfrm>
            <a:off x="6524282" y="3096387"/>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2024</a:t>
            </a:r>
          </a:p>
        </p:txBody>
      </p:sp>
      <p:sp>
        <p:nvSpPr>
          <p:cNvPr id="168" name="TextBox 168"/>
          <p:cNvSpPr txBox="1"/>
          <p:nvPr/>
        </p:nvSpPr>
        <p:spPr>
          <a:xfrm>
            <a:off x="7136892" y="3096387"/>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徐凌波</a:t>
            </a:r>
          </a:p>
        </p:txBody>
      </p:sp>
      <p:sp>
        <p:nvSpPr>
          <p:cNvPr id="169" name="TextBox 169"/>
          <p:cNvSpPr txBox="1"/>
          <p:nvPr/>
        </p:nvSpPr>
        <p:spPr>
          <a:xfrm>
            <a:off x="7880032" y="3098006"/>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南京大学法学院</a:t>
            </a:r>
          </a:p>
        </p:txBody>
      </p:sp>
      <p:sp>
        <p:nvSpPr>
          <p:cNvPr id="170" name="TextBox 170"/>
          <p:cNvSpPr txBox="1"/>
          <p:nvPr/>
        </p:nvSpPr>
        <p:spPr>
          <a:xfrm>
            <a:off x="11019330" y="3096387"/>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87.67</a:t>
            </a:r>
          </a:p>
        </p:txBody>
      </p:sp>
      <p:sp>
        <p:nvSpPr>
          <p:cNvPr id="171" name="Rectangle 171"/>
          <p:cNvSpPr/>
          <p:nvPr/>
        </p:nvSpPr>
        <p:spPr>
          <a:xfrm>
            <a:off x="685800" y="3168491"/>
            <a:ext cx="10820400" cy="99536"/>
          </a:xfrm>
          <a:prstGeom prst="rect">
            <a:avLst/>
          </a:prstGeom>
          <a:solidFill>
            <a:srgbClr val="FFFFFF"/>
          </a:solidFill>
          <a:ln>
            <a:noFill/>
          </a:ln>
        </p:spPr>
      </p:sp>
      <p:sp>
        <p:nvSpPr>
          <p:cNvPr id="172" name="TextBox 172"/>
          <p:cNvSpPr txBox="1"/>
          <p:nvPr/>
        </p:nvSpPr>
        <p:spPr>
          <a:xfrm>
            <a:off x="800738" y="3195923"/>
            <a:ext cx="7492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18</a:t>
            </a:r>
          </a:p>
        </p:txBody>
      </p:sp>
      <p:sp>
        <p:nvSpPr>
          <p:cNvPr id="173" name="TextBox 173"/>
          <p:cNvSpPr txBox="1"/>
          <p:nvPr/>
        </p:nvSpPr>
        <p:spPr>
          <a:xfrm>
            <a:off x="1279017" y="3195923"/>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民商法学</a:t>
            </a:r>
          </a:p>
        </p:txBody>
      </p:sp>
      <p:sp>
        <p:nvSpPr>
          <p:cNvPr id="174" name="TextBox 174"/>
          <p:cNvSpPr txBox="1"/>
          <p:nvPr/>
        </p:nvSpPr>
        <p:spPr>
          <a:xfrm>
            <a:off x="1945958" y="3197542"/>
            <a:ext cx="853440"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代理公开的例外类型和效果</a:t>
            </a:r>
          </a:p>
        </p:txBody>
      </p:sp>
      <p:sp>
        <p:nvSpPr>
          <p:cNvPr id="175" name="TextBox 175"/>
          <p:cNvSpPr txBox="1"/>
          <p:nvPr/>
        </p:nvSpPr>
        <p:spPr>
          <a:xfrm>
            <a:off x="5708142" y="3195923"/>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176" name="TextBox 176"/>
          <p:cNvSpPr txBox="1"/>
          <p:nvPr/>
        </p:nvSpPr>
        <p:spPr>
          <a:xfrm>
            <a:off x="6533283" y="3195923"/>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2019</a:t>
            </a:r>
          </a:p>
        </p:txBody>
      </p:sp>
      <p:sp>
        <p:nvSpPr>
          <p:cNvPr id="177" name="TextBox 177"/>
          <p:cNvSpPr txBox="1"/>
          <p:nvPr/>
        </p:nvSpPr>
        <p:spPr>
          <a:xfrm>
            <a:off x="7136892" y="3195923"/>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朱虎</a:t>
            </a:r>
          </a:p>
        </p:txBody>
      </p:sp>
      <p:sp>
        <p:nvSpPr>
          <p:cNvPr id="178" name="TextBox 178"/>
          <p:cNvSpPr txBox="1"/>
          <p:nvPr/>
        </p:nvSpPr>
        <p:spPr>
          <a:xfrm>
            <a:off x="7880032" y="3197542"/>
            <a:ext cx="1567529"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中国人民大学民商事法律科学研究中心;[2]中国人</a:t>
            </a:r>
          </a:p>
        </p:txBody>
      </p:sp>
      <p:sp>
        <p:nvSpPr>
          <p:cNvPr id="179" name="TextBox 179"/>
          <p:cNvSpPr txBox="1"/>
          <p:nvPr/>
        </p:nvSpPr>
        <p:spPr>
          <a:xfrm>
            <a:off x="11019330" y="3195923"/>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87.60</a:t>
            </a:r>
          </a:p>
        </p:txBody>
      </p:sp>
      <p:sp>
        <p:nvSpPr>
          <p:cNvPr id="180" name="Rectangle 180"/>
          <p:cNvSpPr/>
          <p:nvPr/>
        </p:nvSpPr>
        <p:spPr>
          <a:xfrm>
            <a:off x="685800" y="3268028"/>
            <a:ext cx="10820400" cy="99536"/>
          </a:xfrm>
          <a:prstGeom prst="rect">
            <a:avLst/>
          </a:prstGeom>
          <a:solidFill>
            <a:srgbClr val="F8FAFC"/>
          </a:solidFill>
          <a:ln>
            <a:noFill/>
          </a:ln>
        </p:spPr>
      </p:sp>
      <p:sp>
        <p:nvSpPr>
          <p:cNvPr id="181" name="TextBox 181"/>
          <p:cNvSpPr txBox="1"/>
          <p:nvPr/>
        </p:nvSpPr>
        <p:spPr>
          <a:xfrm>
            <a:off x="800738" y="3295460"/>
            <a:ext cx="7492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19</a:t>
            </a:r>
          </a:p>
        </p:txBody>
      </p:sp>
      <p:sp>
        <p:nvSpPr>
          <p:cNvPr id="182" name="TextBox 182"/>
          <p:cNvSpPr txBox="1"/>
          <p:nvPr/>
        </p:nvSpPr>
        <p:spPr>
          <a:xfrm>
            <a:off x="1279017" y="3295460"/>
            <a:ext cx="229743"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刑法学</a:t>
            </a:r>
          </a:p>
        </p:txBody>
      </p:sp>
      <p:sp>
        <p:nvSpPr>
          <p:cNvPr id="183" name="TextBox 183"/>
          <p:cNvSpPr txBox="1"/>
          <p:nvPr/>
        </p:nvSpPr>
        <p:spPr>
          <a:xfrm>
            <a:off x="1945958" y="3297079"/>
            <a:ext cx="713422"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论程序法上的犯罪事实</a:t>
            </a:r>
          </a:p>
        </p:txBody>
      </p:sp>
      <p:sp>
        <p:nvSpPr>
          <p:cNvPr id="184" name="TextBox 184"/>
          <p:cNvSpPr txBox="1"/>
          <p:nvPr/>
        </p:nvSpPr>
        <p:spPr>
          <a:xfrm>
            <a:off x="5708142" y="3295460"/>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中国法学</a:t>
            </a:r>
          </a:p>
        </p:txBody>
      </p:sp>
      <p:sp>
        <p:nvSpPr>
          <p:cNvPr id="185" name="TextBox 185"/>
          <p:cNvSpPr txBox="1"/>
          <p:nvPr/>
        </p:nvSpPr>
        <p:spPr>
          <a:xfrm>
            <a:off x="6524282" y="3295460"/>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2025</a:t>
            </a:r>
          </a:p>
        </p:txBody>
      </p:sp>
      <p:sp>
        <p:nvSpPr>
          <p:cNvPr id="186" name="TextBox 186"/>
          <p:cNvSpPr txBox="1"/>
          <p:nvPr/>
        </p:nvSpPr>
        <p:spPr>
          <a:xfrm>
            <a:off x="7136892" y="3295460"/>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赵常成</a:t>
            </a:r>
          </a:p>
        </p:txBody>
      </p:sp>
      <p:sp>
        <p:nvSpPr>
          <p:cNvPr id="187" name="TextBox 187"/>
          <p:cNvSpPr txBox="1"/>
          <p:nvPr/>
        </p:nvSpPr>
        <p:spPr>
          <a:xfrm>
            <a:off x="7880032" y="3297079"/>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南京大学法学院</a:t>
            </a:r>
          </a:p>
        </p:txBody>
      </p:sp>
      <p:sp>
        <p:nvSpPr>
          <p:cNvPr id="188" name="TextBox 188"/>
          <p:cNvSpPr txBox="1"/>
          <p:nvPr/>
        </p:nvSpPr>
        <p:spPr>
          <a:xfrm>
            <a:off x="11019330" y="3295460"/>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87.55</a:t>
            </a:r>
          </a:p>
        </p:txBody>
      </p:sp>
      <p:sp>
        <p:nvSpPr>
          <p:cNvPr id="189" name="Rectangle 189"/>
          <p:cNvSpPr/>
          <p:nvPr/>
        </p:nvSpPr>
        <p:spPr>
          <a:xfrm>
            <a:off x="685800" y="3367564"/>
            <a:ext cx="10820400" cy="99536"/>
          </a:xfrm>
          <a:prstGeom prst="rect">
            <a:avLst/>
          </a:prstGeom>
          <a:solidFill>
            <a:srgbClr val="FFFFFF"/>
          </a:solidFill>
          <a:ln>
            <a:noFill/>
          </a:ln>
        </p:spPr>
      </p:sp>
      <p:sp>
        <p:nvSpPr>
          <p:cNvPr id="190" name="TextBox 190"/>
          <p:cNvSpPr txBox="1"/>
          <p:nvPr/>
        </p:nvSpPr>
        <p:spPr>
          <a:xfrm>
            <a:off x="791737" y="3394996"/>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a:t>
            </a:r>
          </a:p>
        </p:txBody>
      </p:sp>
      <p:sp>
        <p:nvSpPr>
          <p:cNvPr id="191" name="TextBox 191"/>
          <p:cNvSpPr txBox="1"/>
          <p:nvPr/>
        </p:nvSpPr>
        <p:spPr>
          <a:xfrm>
            <a:off x="1279017" y="3394996"/>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民商法学</a:t>
            </a:r>
          </a:p>
        </p:txBody>
      </p:sp>
      <p:sp>
        <p:nvSpPr>
          <p:cNvPr id="192" name="TextBox 192"/>
          <p:cNvSpPr txBox="1"/>
          <p:nvPr/>
        </p:nvSpPr>
        <p:spPr>
          <a:xfrm>
            <a:off x="1945958" y="3396615"/>
            <a:ext cx="1343501"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抽逃出资规则及公司分配制度的系统性改造</a:t>
            </a:r>
          </a:p>
        </p:txBody>
      </p:sp>
      <p:sp>
        <p:nvSpPr>
          <p:cNvPr id="193" name="TextBox 193"/>
          <p:cNvSpPr txBox="1"/>
          <p:nvPr/>
        </p:nvSpPr>
        <p:spPr>
          <a:xfrm>
            <a:off x="5708142" y="3394996"/>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194" name="TextBox 194"/>
          <p:cNvSpPr txBox="1"/>
          <p:nvPr/>
        </p:nvSpPr>
        <p:spPr>
          <a:xfrm>
            <a:off x="6533283" y="3394996"/>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2021</a:t>
            </a:r>
          </a:p>
        </p:txBody>
      </p:sp>
      <p:sp>
        <p:nvSpPr>
          <p:cNvPr id="195" name="TextBox 195"/>
          <p:cNvSpPr txBox="1"/>
          <p:nvPr/>
        </p:nvSpPr>
        <p:spPr>
          <a:xfrm>
            <a:off x="7136892" y="3394996"/>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王军</a:t>
            </a:r>
          </a:p>
        </p:txBody>
      </p:sp>
      <p:sp>
        <p:nvSpPr>
          <p:cNvPr id="196" name="TextBox 196"/>
          <p:cNvSpPr txBox="1"/>
          <p:nvPr/>
        </p:nvSpPr>
        <p:spPr>
          <a:xfrm>
            <a:off x="7880032" y="3396615"/>
            <a:ext cx="433388"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中国政法大学</a:t>
            </a:r>
          </a:p>
        </p:txBody>
      </p:sp>
      <p:sp>
        <p:nvSpPr>
          <p:cNvPr id="197" name="TextBox 197"/>
          <p:cNvSpPr txBox="1"/>
          <p:nvPr/>
        </p:nvSpPr>
        <p:spPr>
          <a:xfrm>
            <a:off x="11019330" y="3394996"/>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87.50</a:t>
            </a:r>
          </a:p>
        </p:txBody>
      </p:sp>
      <p:sp>
        <p:nvSpPr>
          <p:cNvPr id="198" name="Rectangle 198"/>
          <p:cNvSpPr/>
          <p:nvPr/>
        </p:nvSpPr>
        <p:spPr>
          <a:xfrm>
            <a:off x="685800" y="3467100"/>
            <a:ext cx="10820400" cy="99536"/>
          </a:xfrm>
          <a:prstGeom prst="rect">
            <a:avLst/>
          </a:prstGeom>
          <a:solidFill>
            <a:srgbClr val="F8FAFC"/>
          </a:solidFill>
          <a:ln>
            <a:noFill/>
          </a:ln>
        </p:spPr>
      </p:sp>
      <p:sp>
        <p:nvSpPr>
          <p:cNvPr id="199" name="TextBox 199"/>
          <p:cNvSpPr txBox="1"/>
          <p:nvPr/>
        </p:nvSpPr>
        <p:spPr>
          <a:xfrm>
            <a:off x="800738" y="3494532"/>
            <a:ext cx="7492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21</a:t>
            </a:r>
          </a:p>
        </p:txBody>
      </p:sp>
      <p:sp>
        <p:nvSpPr>
          <p:cNvPr id="200" name="TextBox 200"/>
          <p:cNvSpPr txBox="1"/>
          <p:nvPr/>
        </p:nvSpPr>
        <p:spPr>
          <a:xfrm>
            <a:off x="1279017" y="3494532"/>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诉讼法学</a:t>
            </a:r>
          </a:p>
        </p:txBody>
      </p:sp>
      <p:sp>
        <p:nvSpPr>
          <p:cNvPr id="201" name="TextBox 201"/>
          <p:cNvSpPr txBox="1"/>
          <p:nvPr/>
        </p:nvSpPr>
        <p:spPr>
          <a:xfrm>
            <a:off x="1945958" y="3496151"/>
            <a:ext cx="2229112"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为被告人利益抗诉与上诉不加刑原则之适用———以上诉理由之限制为中心</a:t>
            </a:r>
          </a:p>
        </p:txBody>
      </p:sp>
      <p:sp>
        <p:nvSpPr>
          <p:cNvPr id="202" name="TextBox 202"/>
          <p:cNvSpPr txBox="1"/>
          <p:nvPr/>
        </p:nvSpPr>
        <p:spPr>
          <a:xfrm>
            <a:off x="5708142" y="3494532"/>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203" name="TextBox 203"/>
          <p:cNvSpPr txBox="1"/>
          <p:nvPr/>
        </p:nvSpPr>
        <p:spPr>
          <a:xfrm>
            <a:off x="6524282" y="3494532"/>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2022</a:t>
            </a:r>
          </a:p>
        </p:txBody>
      </p:sp>
      <p:sp>
        <p:nvSpPr>
          <p:cNvPr id="204" name="TextBox 204"/>
          <p:cNvSpPr txBox="1"/>
          <p:nvPr/>
        </p:nvSpPr>
        <p:spPr>
          <a:xfrm>
            <a:off x="7136892" y="3494532"/>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郭烁</a:t>
            </a:r>
          </a:p>
        </p:txBody>
      </p:sp>
      <p:sp>
        <p:nvSpPr>
          <p:cNvPr id="205" name="TextBox 205"/>
          <p:cNvSpPr txBox="1"/>
          <p:nvPr/>
        </p:nvSpPr>
        <p:spPr>
          <a:xfrm>
            <a:off x="7880032" y="3496151"/>
            <a:ext cx="923449"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中国政法大学诉讼法学研究院</a:t>
            </a:r>
          </a:p>
        </p:txBody>
      </p:sp>
      <p:sp>
        <p:nvSpPr>
          <p:cNvPr id="206" name="TextBox 206"/>
          <p:cNvSpPr txBox="1"/>
          <p:nvPr/>
        </p:nvSpPr>
        <p:spPr>
          <a:xfrm>
            <a:off x="11019330" y="3494532"/>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87.40</a:t>
            </a:r>
          </a:p>
        </p:txBody>
      </p:sp>
      <p:sp>
        <p:nvSpPr>
          <p:cNvPr id="207" name="Rectangle 207"/>
          <p:cNvSpPr/>
          <p:nvPr/>
        </p:nvSpPr>
        <p:spPr>
          <a:xfrm>
            <a:off x="685800" y="3566636"/>
            <a:ext cx="10820400" cy="99536"/>
          </a:xfrm>
          <a:prstGeom prst="rect">
            <a:avLst/>
          </a:prstGeom>
          <a:solidFill>
            <a:srgbClr val="FFFFFF"/>
          </a:solidFill>
          <a:ln>
            <a:noFill/>
          </a:ln>
        </p:spPr>
      </p:sp>
      <p:sp>
        <p:nvSpPr>
          <p:cNvPr id="208" name="TextBox 208"/>
          <p:cNvSpPr txBox="1"/>
          <p:nvPr/>
        </p:nvSpPr>
        <p:spPr>
          <a:xfrm>
            <a:off x="791737" y="3594068"/>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22</a:t>
            </a:r>
          </a:p>
        </p:txBody>
      </p:sp>
      <p:sp>
        <p:nvSpPr>
          <p:cNvPr id="209" name="TextBox 209"/>
          <p:cNvSpPr txBox="1"/>
          <p:nvPr/>
        </p:nvSpPr>
        <p:spPr>
          <a:xfrm>
            <a:off x="1279017" y="3594068"/>
            <a:ext cx="229743"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刑法学</a:t>
            </a:r>
          </a:p>
        </p:txBody>
      </p:sp>
      <p:sp>
        <p:nvSpPr>
          <p:cNvPr id="210" name="TextBox 210"/>
          <p:cNvSpPr txBox="1"/>
          <p:nvPr/>
        </p:nvSpPr>
        <p:spPr>
          <a:xfrm>
            <a:off x="1945958" y="3595688"/>
            <a:ext cx="1483519"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过失犯远因溯责的规制路径：以渎职犯罪为中心</a:t>
            </a:r>
          </a:p>
        </p:txBody>
      </p:sp>
      <p:sp>
        <p:nvSpPr>
          <p:cNvPr id="211" name="TextBox 211"/>
          <p:cNvSpPr txBox="1"/>
          <p:nvPr/>
        </p:nvSpPr>
        <p:spPr>
          <a:xfrm>
            <a:off x="5708142" y="3594068"/>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中国法学</a:t>
            </a:r>
          </a:p>
        </p:txBody>
      </p:sp>
      <p:sp>
        <p:nvSpPr>
          <p:cNvPr id="212" name="TextBox 212"/>
          <p:cNvSpPr txBox="1"/>
          <p:nvPr/>
        </p:nvSpPr>
        <p:spPr>
          <a:xfrm>
            <a:off x="6524282" y="3594068"/>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2023</a:t>
            </a:r>
          </a:p>
        </p:txBody>
      </p:sp>
      <p:sp>
        <p:nvSpPr>
          <p:cNvPr id="213" name="TextBox 213"/>
          <p:cNvSpPr txBox="1"/>
          <p:nvPr/>
        </p:nvSpPr>
        <p:spPr>
          <a:xfrm>
            <a:off x="7136892" y="3594068"/>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陈璇</a:t>
            </a:r>
          </a:p>
        </p:txBody>
      </p:sp>
      <p:sp>
        <p:nvSpPr>
          <p:cNvPr id="214" name="TextBox 214"/>
          <p:cNvSpPr txBox="1"/>
          <p:nvPr/>
        </p:nvSpPr>
        <p:spPr>
          <a:xfrm>
            <a:off x="7880032" y="3595688"/>
            <a:ext cx="1133475"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中国人民大学刑事法律科学研究中心</a:t>
            </a:r>
          </a:p>
        </p:txBody>
      </p:sp>
      <p:sp>
        <p:nvSpPr>
          <p:cNvPr id="215" name="TextBox 215"/>
          <p:cNvSpPr txBox="1"/>
          <p:nvPr/>
        </p:nvSpPr>
        <p:spPr>
          <a:xfrm>
            <a:off x="11019330" y="3594068"/>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87.33</a:t>
            </a:r>
          </a:p>
        </p:txBody>
      </p:sp>
      <p:sp>
        <p:nvSpPr>
          <p:cNvPr id="216" name="Rectangle 216"/>
          <p:cNvSpPr/>
          <p:nvPr/>
        </p:nvSpPr>
        <p:spPr>
          <a:xfrm>
            <a:off x="685800" y="3666172"/>
            <a:ext cx="10820400" cy="99536"/>
          </a:xfrm>
          <a:prstGeom prst="rect">
            <a:avLst/>
          </a:prstGeom>
          <a:solidFill>
            <a:srgbClr val="F8FAFC"/>
          </a:solidFill>
          <a:ln>
            <a:noFill/>
          </a:ln>
        </p:spPr>
      </p:sp>
      <p:sp>
        <p:nvSpPr>
          <p:cNvPr id="217" name="TextBox 217"/>
          <p:cNvSpPr txBox="1"/>
          <p:nvPr/>
        </p:nvSpPr>
        <p:spPr>
          <a:xfrm>
            <a:off x="791737" y="3693604"/>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23</a:t>
            </a:r>
          </a:p>
        </p:txBody>
      </p:sp>
      <p:sp>
        <p:nvSpPr>
          <p:cNvPr id="218" name="TextBox 218"/>
          <p:cNvSpPr txBox="1"/>
          <p:nvPr/>
        </p:nvSpPr>
        <p:spPr>
          <a:xfrm>
            <a:off x="1279017" y="3693604"/>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民商法学</a:t>
            </a:r>
          </a:p>
        </p:txBody>
      </p:sp>
      <p:sp>
        <p:nvSpPr>
          <p:cNvPr id="219" name="TextBox 219"/>
          <p:cNvSpPr txBox="1"/>
          <p:nvPr/>
        </p:nvSpPr>
        <p:spPr>
          <a:xfrm>
            <a:off x="1945958" y="3695224"/>
            <a:ext cx="867442"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从"权能分离"到"权利行使"</a:t>
            </a:r>
          </a:p>
        </p:txBody>
      </p:sp>
      <p:sp>
        <p:nvSpPr>
          <p:cNvPr id="220" name="TextBox 220"/>
          <p:cNvSpPr txBox="1"/>
          <p:nvPr/>
        </p:nvSpPr>
        <p:spPr>
          <a:xfrm>
            <a:off x="5708142" y="3693604"/>
            <a:ext cx="445770"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中国社会科学</a:t>
            </a:r>
          </a:p>
        </p:txBody>
      </p:sp>
      <p:sp>
        <p:nvSpPr>
          <p:cNvPr id="221" name="TextBox 221"/>
          <p:cNvSpPr txBox="1"/>
          <p:nvPr/>
        </p:nvSpPr>
        <p:spPr>
          <a:xfrm>
            <a:off x="6533283" y="3693604"/>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2021</a:t>
            </a:r>
          </a:p>
        </p:txBody>
      </p:sp>
      <p:sp>
        <p:nvSpPr>
          <p:cNvPr id="222" name="TextBox 222"/>
          <p:cNvSpPr txBox="1"/>
          <p:nvPr/>
        </p:nvSpPr>
        <p:spPr>
          <a:xfrm>
            <a:off x="7136892" y="3693604"/>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蔡立东</a:t>
            </a:r>
          </a:p>
        </p:txBody>
      </p:sp>
      <p:sp>
        <p:nvSpPr>
          <p:cNvPr id="223" name="TextBox 223"/>
          <p:cNvSpPr txBox="1"/>
          <p:nvPr/>
        </p:nvSpPr>
        <p:spPr>
          <a:xfrm>
            <a:off x="7880032" y="3695224"/>
            <a:ext cx="1438013"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吉林大学、司法数据应用研究中心,长春130012</a:t>
            </a:r>
          </a:p>
        </p:txBody>
      </p:sp>
      <p:sp>
        <p:nvSpPr>
          <p:cNvPr id="224" name="TextBox 224"/>
          <p:cNvSpPr txBox="1"/>
          <p:nvPr/>
        </p:nvSpPr>
        <p:spPr>
          <a:xfrm>
            <a:off x="11019330" y="3693604"/>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87.25</a:t>
            </a:r>
          </a:p>
        </p:txBody>
      </p:sp>
      <p:sp>
        <p:nvSpPr>
          <p:cNvPr id="225" name="Rectangle 225"/>
          <p:cNvSpPr/>
          <p:nvPr/>
        </p:nvSpPr>
        <p:spPr>
          <a:xfrm>
            <a:off x="685800" y="3765709"/>
            <a:ext cx="10820400" cy="99536"/>
          </a:xfrm>
          <a:prstGeom prst="rect">
            <a:avLst/>
          </a:prstGeom>
          <a:solidFill>
            <a:srgbClr val="FFFFFF"/>
          </a:solidFill>
          <a:ln>
            <a:noFill/>
          </a:ln>
        </p:spPr>
      </p:sp>
      <p:sp>
        <p:nvSpPr>
          <p:cNvPr id="226" name="TextBox 226"/>
          <p:cNvSpPr txBox="1"/>
          <p:nvPr/>
        </p:nvSpPr>
        <p:spPr>
          <a:xfrm>
            <a:off x="791737" y="3793141"/>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24</a:t>
            </a:r>
          </a:p>
        </p:txBody>
      </p:sp>
      <p:sp>
        <p:nvSpPr>
          <p:cNvPr id="227" name="TextBox 227"/>
          <p:cNvSpPr txBox="1"/>
          <p:nvPr/>
        </p:nvSpPr>
        <p:spPr>
          <a:xfrm>
            <a:off x="1279017" y="3793141"/>
            <a:ext cx="589788"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宪法学与行政法学</a:t>
            </a:r>
          </a:p>
        </p:txBody>
      </p:sp>
      <p:sp>
        <p:nvSpPr>
          <p:cNvPr id="228" name="TextBox 228"/>
          <p:cNvSpPr txBox="1"/>
          <p:nvPr/>
        </p:nvSpPr>
        <p:spPr>
          <a:xfrm>
            <a:off x="1945958" y="3794760"/>
            <a:ext cx="993458"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符合法律的宪法解释与宪法发展</a:t>
            </a:r>
          </a:p>
        </p:txBody>
      </p:sp>
      <p:sp>
        <p:nvSpPr>
          <p:cNvPr id="229" name="TextBox 229"/>
          <p:cNvSpPr txBox="1"/>
          <p:nvPr/>
        </p:nvSpPr>
        <p:spPr>
          <a:xfrm>
            <a:off x="5708142" y="3793141"/>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中国法学</a:t>
            </a:r>
          </a:p>
        </p:txBody>
      </p:sp>
      <p:sp>
        <p:nvSpPr>
          <p:cNvPr id="230" name="TextBox 230"/>
          <p:cNvSpPr txBox="1"/>
          <p:nvPr/>
        </p:nvSpPr>
        <p:spPr>
          <a:xfrm>
            <a:off x="6524282" y="3793141"/>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2022</a:t>
            </a:r>
          </a:p>
        </p:txBody>
      </p:sp>
      <p:sp>
        <p:nvSpPr>
          <p:cNvPr id="231" name="TextBox 231"/>
          <p:cNvSpPr txBox="1"/>
          <p:nvPr/>
        </p:nvSpPr>
        <p:spPr>
          <a:xfrm>
            <a:off x="7136892" y="3793141"/>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杜强强</a:t>
            </a:r>
          </a:p>
        </p:txBody>
      </p:sp>
      <p:sp>
        <p:nvSpPr>
          <p:cNvPr id="232" name="TextBox 232"/>
          <p:cNvSpPr txBox="1"/>
          <p:nvPr/>
        </p:nvSpPr>
        <p:spPr>
          <a:xfrm>
            <a:off x="7880032" y="3794760"/>
            <a:ext cx="713422"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首都师范大学政法学院</a:t>
            </a:r>
          </a:p>
        </p:txBody>
      </p:sp>
      <p:sp>
        <p:nvSpPr>
          <p:cNvPr id="233" name="TextBox 233"/>
          <p:cNvSpPr txBox="1"/>
          <p:nvPr/>
        </p:nvSpPr>
        <p:spPr>
          <a:xfrm>
            <a:off x="11019330" y="3793141"/>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87.22</a:t>
            </a:r>
          </a:p>
        </p:txBody>
      </p:sp>
      <p:sp>
        <p:nvSpPr>
          <p:cNvPr id="234" name="Rectangle 234"/>
          <p:cNvSpPr/>
          <p:nvPr/>
        </p:nvSpPr>
        <p:spPr>
          <a:xfrm>
            <a:off x="685800" y="3865245"/>
            <a:ext cx="10820400" cy="99536"/>
          </a:xfrm>
          <a:prstGeom prst="rect">
            <a:avLst/>
          </a:prstGeom>
          <a:solidFill>
            <a:srgbClr val="F8FAFC"/>
          </a:solidFill>
          <a:ln>
            <a:noFill/>
          </a:ln>
        </p:spPr>
      </p:sp>
      <p:sp>
        <p:nvSpPr>
          <p:cNvPr id="235" name="TextBox 235"/>
          <p:cNvSpPr txBox="1"/>
          <p:nvPr/>
        </p:nvSpPr>
        <p:spPr>
          <a:xfrm>
            <a:off x="791737" y="3892677"/>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25</a:t>
            </a:r>
          </a:p>
        </p:txBody>
      </p:sp>
      <p:sp>
        <p:nvSpPr>
          <p:cNvPr id="236" name="TextBox 236"/>
          <p:cNvSpPr txBox="1"/>
          <p:nvPr/>
        </p:nvSpPr>
        <p:spPr>
          <a:xfrm>
            <a:off x="1279017" y="3892677"/>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法学理论</a:t>
            </a:r>
          </a:p>
        </p:txBody>
      </p:sp>
      <p:sp>
        <p:nvSpPr>
          <p:cNvPr id="237" name="TextBox 237"/>
          <p:cNvSpPr txBox="1"/>
          <p:nvPr/>
        </p:nvSpPr>
        <p:spPr>
          <a:xfrm>
            <a:off x="1945958" y="3894296"/>
            <a:ext cx="1413510"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整体法秩序视野下被害人自陷风险的理论重塑</a:t>
            </a:r>
          </a:p>
        </p:txBody>
      </p:sp>
      <p:sp>
        <p:nvSpPr>
          <p:cNvPr id="238" name="TextBox 238"/>
          <p:cNvSpPr txBox="1"/>
          <p:nvPr/>
        </p:nvSpPr>
        <p:spPr>
          <a:xfrm>
            <a:off x="5708142" y="3892677"/>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239" name="TextBox 239"/>
          <p:cNvSpPr txBox="1"/>
          <p:nvPr/>
        </p:nvSpPr>
        <p:spPr>
          <a:xfrm>
            <a:off x="6524282" y="3892677"/>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2023</a:t>
            </a:r>
          </a:p>
        </p:txBody>
      </p:sp>
      <p:sp>
        <p:nvSpPr>
          <p:cNvPr id="240" name="TextBox 240"/>
          <p:cNvSpPr txBox="1"/>
          <p:nvPr/>
        </p:nvSpPr>
        <p:spPr>
          <a:xfrm>
            <a:off x="7136892" y="3892677"/>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陈璇</a:t>
            </a:r>
          </a:p>
        </p:txBody>
      </p:sp>
      <p:sp>
        <p:nvSpPr>
          <p:cNvPr id="241" name="TextBox 241"/>
          <p:cNvSpPr txBox="1"/>
          <p:nvPr/>
        </p:nvSpPr>
        <p:spPr>
          <a:xfrm>
            <a:off x="7880032" y="3894296"/>
            <a:ext cx="1133475"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中国人民大学刑事法律科学研究中心</a:t>
            </a:r>
          </a:p>
        </p:txBody>
      </p:sp>
      <p:sp>
        <p:nvSpPr>
          <p:cNvPr id="242" name="TextBox 242"/>
          <p:cNvSpPr txBox="1"/>
          <p:nvPr/>
        </p:nvSpPr>
        <p:spPr>
          <a:xfrm>
            <a:off x="11019330" y="3892677"/>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87.20</a:t>
            </a:r>
          </a:p>
        </p:txBody>
      </p:sp>
      <p:sp>
        <p:nvSpPr>
          <p:cNvPr id="243" name="Rectangle 243"/>
          <p:cNvSpPr/>
          <p:nvPr/>
        </p:nvSpPr>
        <p:spPr>
          <a:xfrm>
            <a:off x="685800" y="3964781"/>
            <a:ext cx="10820400" cy="99536"/>
          </a:xfrm>
          <a:prstGeom prst="rect">
            <a:avLst/>
          </a:prstGeom>
          <a:solidFill>
            <a:srgbClr val="FFFFFF"/>
          </a:solidFill>
          <a:ln>
            <a:noFill/>
          </a:ln>
        </p:spPr>
      </p:sp>
      <p:sp>
        <p:nvSpPr>
          <p:cNvPr id="244" name="TextBox 244"/>
          <p:cNvSpPr txBox="1"/>
          <p:nvPr/>
        </p:nvSpPr>
        <p:spPr>
          <a:xfrm>
            <a:off x="791737" y="3992213"/>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26</a:t>
            </a:r>
          </a:p>
        </p:txBody>
      </p:sp>
      <p:sp>
        <p:nvSpPr>
          <p:cNvPr id="245" name="TextBox 245"/>
          <p:cNvSpPr txBox="1"/>
          <p:nvPr/>
        </p:nvSpPr>
        <p:spPr>
          <a:xfrm>
            <a:off x="1279017" y="3992213"/>
            <a:ext cx="229743"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刑法学</a:t>
            </a:r>
          </a:p>
        </p:txBody>
      </p:sp>
      <p:sp>
        <p:nvSpPr>
          <p:cNvPr id="246" name="TextBox 246"/>
          <p:cNvSpPr txBox="1"/>
          <p:nvPr/>
        </p:nvSpPr>
        <p:spPr>
          <a:xfrm>
            <a:off x="1945958" y="3993832"/>
            <a:ext cx="713422"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正当防卫中的退避义务</a:t>
            </a:r>
          </a:p>
        </p:txBody>
      </p:sp>
      <p:sp>
        <p:nvSpPr>
          <p:cNvPr id="247" name="TextBox 247"/>
          <p:cNvSpPr txBox="1"/>
          <p:nvPr/>
        </p:nvSpPr>
        <p:spPr>
          <a:xfrm>
            <a:off x="5708142" y="3992213"/>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248" name="TextBox 248"/>
          <p:cNvSpPr txBox="1"/>
          <p:nvPr/>
        </p:nvSpPr>
        <p:spPr>
          <a:xfrm>
            <a:off x="6524282" y="3992213"/>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2024</a:t>
            </a:r>
          </a:p>
        </p:txBody>
      </p:sp>
      <p:sp>
        <p:nvSpPr>
          <p:cNvPr id="249" name="TextBox 249"/>
          <p:cNvSpPr txBox="1"/>
          <p:nvPr/>
        </p:nvSpPr>
        <p:spPr>
          <a:xfrm>
            <a:off x="7136892" y="3992213"/>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江溯</a:t>
            </a:r>
          </a:p>
        </p:txBody>
      </p:sp>
      <p:sp>
        <p:nvSpPr>
          <p:cNvPr id="250" name="TextBox 250"/>
          <p:cNvSpPr txBox="1"/>
          <p:nvPr/>
        </p:nvSpPr>
        <p:spPr>
          <a:xfrm>
            <a:off x="7880032" y="3993832"/>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北京大学法学院</a:t>
            </a:r>
          </a:p>
        </p:txBody>
      </p:sp>
      <p:sp>
        <p:nvSpPr>
          <p:cNvPr id="251" name="TextBox 251"/>
          <p:cNvSpPr txBox="1"/>
          <p:nvPr/>
        </p:nvSpPr>
        <p:spPr>
          <a:xfrm>
            <a:off x="11028331" y="3992213"/>
            <a:ext cx="193739"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87.10</a:t>
            </a:r>
          </a:p>
        </p:txBody>
      </p:sp>
      <p:sp>
        <p:nvSpPr>
          <p:cNvPr id="252" name="Rectangle 252"/>
          <p:cNvSpPr/>
          <p:nvPr/>
        </p:nvSpPr>
        <p:spPr>
          <a:xfrm>
            <a:off x="685800" y="4064318"/>
            <a:ext cx="10820400" cy="99536"/>
          </a:xfrm>
          <a:prstGeom prst="rect">
            <a:avLst/>
          </a:prstGeom>
          <a:solidFill>
            <a:srgbClr val="F8FAFC"/>
          </a:solidFill>
          <a:ln>
            <a:noFill/>
          </a:ln>
        </p:spPr>
      </p:sp>
      <p:sp>
        <p:nvSpPr>
          <p:cNvPr id="253" name="TextBox 253"/>
          <p:cNvSpPr txBox="1"/>
          <p:nvPr/>
        </p:nvSpPr>
        <p:spPr>
          <a:xfrm>
            <a:off x="791737" y="4091750"/>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27</a:t>
            </a:r>
          </a:p>
        </p:txBody>
      </p:sp>
      <p:sp>
        <p:nvSpPr>
          <p:cNvPr id="254" name="TextBox 254"/>
          <p:cNvSpPr txBox="1"/>
          <p:nvPr/>
        </p:nvSpPr>
        <p:spPr>
          <a:xfrm>
            <a:off x="1279017" y="4091750"/>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民商法学</a:t>
            </a:r>
          </a:p>
        </p:txBody>
      </p:sp>
      <p:sp>
        <p:nvSpPr>
          <p:cNvPr id="255" name="TextBox 255"/>
          <p:cNvSpPr txBox="1"/>
          <p:nvPr/>
        </p:nvSpPr>
        <p:spPr>
          <a:xfrm>
            <a:off x="1945958" y="4093369"/>
            <a:ext cx="1490520"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民法典的精神损害赔偿体系——以功能主义为视角</a:t>
            </a:r>
          </a:p>
        </p:txBody>
      </p:sp>
      <p:sp>
        <p:nvSpPr>
          <p:cNvPr id="256" name="TextBox 256"/>
          <p:cNvSpPr txBox="1"/>
          <p:nvPr/>
        </p:nvSpPr>
        <p:spPr>
          <a:xfrm>
            <a:off x="5708142" y="4091750"/>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257" name="TextBox 257"/>
          <p:cNvSpPr txBox="1"/>
          <p:nvPr/>
        </p:nvSpPr>
        <p:spPr>
          <a:xfrm>
            <a:off x="6524282" y="4091750"/>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2024</a:t>
            </a:r>
          </a:p>
        </p:txBody>
      </p:sp>
      <p:sp>
        <p:nvSpPr>
          <p:cNvPr id="258" name="TextBox 258"/>
          <p:cNvSpPr txBox="1"/>
          <p:nvPr/>
        </p:nvSpPr>
        <p:spPr>
          <a:xfrm>
            <a:off x="7136892" y="4091750"/>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洪国盛</a:t>
            </a:r>
          </a:p>
        </p:txBody>
      </p:sp>
      <p:sp>
        <p:nvSpPr>
          <p:cNvPr id="259" name="TextBox 259"/>
          <p:cNvSpPr txBox="1"/>
          <p:nvPr/>
        </p:nvSpPr>
        <p:spPr>
          <a:xfrm>
            <a:off x="7880032" y="4093369"/>
            <a:ext cx="64341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北京大学国际法学院</a:t>
            </a:r>
          </a:p>
        </p:txBody>
      </p:sp>
      <p:sp>
        <p:nvSpPr>
          <p:cNvPr id="260" name="TextBox 260"/>
          <p:cNvSpPr txBox="1"/>
          <p:nvPr/>
        </p:nvSpPr>
        <p:spPr>
          <a:xfrm>
            <a:off x="11019330" y="4091750"/>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87.05</a:t>
            </a:r>
          </a:p>
        </p:txBody>
      </p:sp>
      <p:sp>
        <p:nvSpPr>
          <p:cNvPr id="261" name="Rectangle 261"/>
          <p:cNvSpPr/>
          <p:nvPr/>
        </p:nvSpPr>
        <p:spPr>
          <a:xfrm>
            <a:off x="685800" y="4163854"/>
            <a:ext cx="10820400" cy="99536"/>
          </a:xfrm>
          <a:prstGeom prst="rect">
            <a:avLst/>
          </a:prstGeom>
          <a:solidFill>
            <a:srgbClr val="FFFFFF"/>
          </a:solidFill>
          <a:ln>
            <a:noFill/>
          </a:ln>
        </p:spPr>
      </p:sp>
      <p:sp>
        <p:nvSpPr>
          <p:cNvPr id="262" name="TextBox 262"/>
          <p:cNvSpPr txBox="1"/>
          <p:nvPr/>
        </p:nvSpPr>
        <p:spPr>
          <a:xfrm>
            <a:off x="791737" y="4191286"/>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28</a:t>
            </a:r>
          </a:p>
        </p:txBody>
      </p:sp>
      <p:sp>
        <p:nvSpPr>
          <p:cNvPr id="263" name="TextBox 263"/>
          <p:cNvSpPr txBox="1"/>
          <p:nvPr/>
        </p:nvSpPr>
        <p:spPr>
          <a:xfrm>
            <a:off x="1279017" y="4191286"/>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法学理论</a:t>
            </a:r>
          </a:p>
        </p:txBody>
      </p:sp>
      <p:sp>
        <p:nvSpPr>
          <p:cNvPr id="264" name="TextBox 264"/>
          <p:cNvSpPr txBox="1"/>
          <p:nvPr/>
        </p:nvSpPr>
        <p:spPr>
          <a:xfrm>
            <a:off x="1945958" y="4192905"/>
            <a:ext cx="208209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基本原则与概括条款的区分:我国诚实信用与公序良俗的解释论构造</a:t>
            </a:r>
          </a:p>
        </p:txBody>
      </p:sp>
      <p:sp>
        <p:nvSpPr>
          <p:cNvPr id="265" name="TextBox 265"/>
          <p:cNvSpPr txBox="1"/>
          <p:nvPr/>
        </p:nvSpPr>
        <p:spPr>
          <a:xfrm>
            <a:off x="5708142" y="4191286"/>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中国法学</a:t>
            </a:r>
          </a:p>
        </p:txBody>
      </p:sp>
      <p:sp>
        <p:nvSpPr>
          <p:cNvPr id="266" name="TextBox 266"/>
          <p:cNvSpPr txBox="1"/>
          <p:nvPr/>
        </p:nvSpPr>
        <p:spPr>
          <a:xfrm>
            <a:off x="6533283" y="4191286"/>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2021</a:t>
            </a:r>
          </a:p>
        </p:txBody>
      </p:sp>
      <p:sp>
        <p:nvSpPr>
          <p:cNvPr id="267" name="TextBox 267"/>
          <p:cNvSpPr txBox="1"/>
          <p:nvPr/>
        </p:nvSpPr>
        <p:spPr>
          <a:xfrm>
            <a:off x="7136892" y="4191286"/>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于飞</a:t>
            </a:r>
          </a:p>
        </p:txBody>
      </p:sp>
      <p:sp>
        <p:nvSpPr>
          <p:cNvPr id="268" name="TextBox 268"/>
          <p:cNvSpPr txBox="1"/>
          <p:nvPr/>
        </p:nvSpPr>
        <p:spPr>
          <a:xfrm>
            <a:off x="7880032" y="4192905"/>
            <a:ext cx="923449"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中国政法大学民商经济法学院</a:t>
            </a:r>
          </a:p>
        </p:txBody>
      </p:sp>
      <p:sp>
        <p:nvSpPr>
          <p:cNvPr id="269" name="TextBox 269"/>
          <p:cNvSpPr txBox="1"/>
          <p:nvPr/>
        </p:nvSpPr>
        <p:spPr>
          <a:xfrm>
            <a:off x="11019330" y="4191286"/>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87.00</a:t>
            </a:r>
          </a:p>
        </p:txBody>
      </p:sp>
      <p:sp>
        <p:nvSpPr>
          <p:cNvPr id="270" name="Rectangle 270"/>
          <p:cNvSpPr/>
          <p:nvPr/>
        </p:nvSpPr>
        <p:spPr>
          <a:xfrm>
            <a:off x="685800" y="4263390"/>
            <a:ext cx="10820400" cy="99536"/>
          </a:xfrm>
          <a:prstGeom prst="rect">
            <a:avLst/>
          </a:prstGeom>
          <a:solidFill>
            <a:srgbClr val="F8FAFC"/>
          </a:solidFill>
          <a:ln>
            <a:noFill/>
          </a:ln>
        </p:spPr>
      </p:sp>
      <p:sp>
        <p:nvSpPr>
          <p:cNvPr id="271" name="TextBox 271"/>
          <p:cNvSpPr txBox="1"/>
          <p:nvPr/>
        </p:nvSpPr>
        <p:spPr>
          <a:xfrm>
            <a:off x="791737" y="4290822"/>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29</a:t>
            </a:r>
          </a:p>
        </p:txBody>
      </p:sp>
      <p:sp>
        <p:nvSpPr>
          <p:cNvPr id="272" name="TextBox 272"/>
          <p:cNvSpPr txBox="1"/>
          <p:nvPr/>
        </p:nvSpPr>
        <p:spPr>
          <a:xfrm>
            <a:off x="1279017" y="4290822"/>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诉讼法学</a:t>
            </a:r>
          </a:p>
        </p:txBody>
      </p:sp>
      <p:sp>
        <p:nvSpPr>
          <p:cNvPr id="273" name="TextBox 273"/>
          <p:cNvSpPr txBox="1"/>
          <p:nvPr/>
        </p:nvSpPr>
        <p:spPr>
          <a:xfrm>
            <a:off x="1945958" y="4292441"/>
            <a:ext cx="1592032"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基于决定关系的证据客观性:概念、功能与理论定位</a:t>
            </a:r>
          </a:p>
        </p:txBody>
      </p:sp>
      <p:sp>
        <p:nvSpPr>
          <p:cNvPr id="274" name="TextBox 274"/>
          <p:cNvSpPr txBox="1"/>
          <p:nvPr/>
        </p:nvSpPr>
        <p:spPr>
          <a:xfrm>
            <a:off x="5708142" y="4290822"/>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275" name="TextBox 275"/>
          <p:cNvSpPr txBox="1"/>
          <p:nvPr/>
        </p:nvSpPr>
        <p:spPr>
          <a:xfrm>
            <a:off x="6533283" y="4290822"/>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2021</a:t>
            </a:r>
          </a:p>
        </p:txBody>
      </p:sp>
      <p:sp>
        <p:nvSpPr>
          <p:cNvPr id="276" name="TextBox 276"/>
          <p:cNvSpPr txBox="1"/>
          <p:nvPr/>
        </p:nvSpPr>
        <p:spPr>
          <a:xfrm>
            <a:off x="7136892" y="4290822"/>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徐舒浩</a:t>
            </a:r>
          </a:p>
        </p:txBody>
      </p:sp>
      <p:sp>
        <p:nvSpPr>
          <p:cNvPr id="277" name="TextBox 277"/>
          <p:cNvSpPr txBox="1"/>
          <p:nvPr/>
        </p:nvSpPr>
        <p:spPr>
          <a:xfrm>
            <a:off x="7880032" y="4292441"/>
            <a:ext cx="64341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中国人民大学法学院</a:t>
            </a:r>
          </a:p>
        </p:txBody>
      </p:sp>
      <p:sp>
        <p:nvSpPr>
          <p:cNvPr id="278" name="TextBox 278"/>
          <p:cNvSpPr txBox="1"/>
          <p:nvPr/>
        </p:nvSpPr>
        <p:spPr>
          <a:xfrm>
            <a:off x="11019330" y="4290822"/>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86.85</a:t>
            </a:r>
          </a:p>
        </p:txBody>
      </p:sp>
      <p:sp>
        <p:nvSpPr>
          <p:cNvPr id="279" name="Rectangle 279"/>
          <p:cNvSpPr/>
          <p:nvPr/>
        </p:nvSpPr>
        <p:spPr>
          <a:xfrm>
            <a:off x="685800" y="4362926"/>
            <a:ext cx="10820400" cy="99536"/>
          </a:xfrm>
          <a:prstGeom prst="rect">
            <a:avLst/>
          </a:prstGeom>
          <a:solidFill>
            <a:srgbClr val="FFFFFF"/>
          </a:solidFill>
          <a:ln>
            <a:noFill/>
          </a:ln>
        </p:spPr>
      </p:sp>
      <p:sp>
        <p:nvSpPr>
          <p:cNvPr id="280" name="TextBox 280"/>
          <p:cNvSpPr txBox="1"/>
          <p:nvPr/>
        </p:nvSpPr>
        <p:spPr>
          <a:xfrm>
            <a:off x="791737" y="4390358"/>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30</a:t>
            </a:r>
          </a:p>
        </p:txBody>
      </p:sp>
      <p:sp>
        <p:nvSpPr>
          <p:cNvPr id="281" name="TextBox 281"/>
          <p:cNvSpPr txBox="1"/>
          <p:nvPr/>
        </p:nvSpPr>
        <p:spPr>
          <a:xfrm>
            <a:off x="1279017" y="4390358"/>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法学理论</a:t>
            </a:r>
          </a:p>
        </p:txBody>
      </p:sp>
      <p:sp>
        <p:nvSpPr>
          <p:cNvPr id="282" name="TextBox 282"/>
          <p:cNvSpPr txBox="1"/>
          <p:nvPr/>
        </p:nvSpPr>
        <p:spPr>
          <a:xfrm>
            <a:off x="1945958" y="4391978"/>
            <a:ext cx="162353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抢劫罪与敲诈勒索罪之界分：基于被害人的处分自由</a:t>
            </a:r>
          </a:p>
        </p:txBody>
      </p:sp>
      <p:sp>
        <p:nvSpPr>
          <p:cNvPr id="283" name="TextBox 283"/>
          <p:cNvSpPr txBox="1"/>
          <p:nvPr/>
        </p:nvSpPr>
        <p:spPr>
          <a:xfrm>
            <a:off x="5708142" y="4390358"/>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中国法学</a:t>
            </a:r>
          </a:p>
        </p:txBody>
      </p:sp>
      <p:sp>
        <p:nvSpPr>
          <p:cNvPr id="284" name="TextBox 284"/>
          <p:cNvSpPr txBox="1"/>
          <p:nvPr/>
        </p:nvSpPr>
        <p:spPr>
          <a:xfrm>
            <a:off x="6533283" y="4390358"/>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2017</a:t>
            </a:r>
          </a:p>
        </p:txBody>
      </p:sp>
      <p:sp>
        <p:nvSpPr>
          <p:cNvPr id="285" name="TextBox 285"/>
          <p:cNvSpPr txBox="1"/>
          <p:nvPr/>
        </p:nvSpPr>
        <p:spPr>
          <a:xfrm>
            <a:off x="7136892" y="4390358"/>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车浩</a:t>
            </a:r>
          </a:p>
        </p:txBody>
      </p:sp>
      <p:sp>
        <p:nvSpPr>
          <p:cNvPr id="286" name="TextBox 286"/>
          <p:cNvSpPr txBox="1"/>
          <p:nvPr/>
        </p:nvSpPr>
        <p:spPr>
          <a:xfrm>
            <a:off x="7880032" y="4391978"/>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北京大学法学院</a:t>
            </a:r>
          </a:p>
        </p:txBody>
      </p:sp>
      <p:sp>
        <p:nvSpPr>
          <p:cNvPr id="287" name="TextBox 287"/>
          <p:cNvSpPr txBox="1"/>
          <p:nvPr/>
        </p:nvSpPr>
        <p:spPr>
          <a:xfrm>
            <a:off x="11019330" y="4390358"/>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86.55</a:t>
            </a:r>
          </a:p>
        </p:txBody>
      </p:sp>
      <p:sp>
        <p:nvSpPr>
          <p:cNvPr id="288" name="Rectangle 288"/>
          <p:cNvSpPr/>
          <p:nvPr/>
        </p:nvSpPr>
        <p:spPr>
          <a:xfrm>
            <a:off x="685800" y="4462462"/>
            <a:ext cx="10820400" cy="99536"/>
          </a:xfrm>
          <a:prstGeom prst="rect">
            <a:avLst/>
          </a:prstGeom>
          <a:solidFill>
            <a:srgbClr val="F8FAFC"/>
          </a:solidFill>
          <a:ln>
            <a:noFill/>
          </a:ln>
        </p:spPr>
      </p:sp>
      <p:sp>
        <p:nvSpPr>
          <p:cNvPr id="289" name="TextBox 289"/>
          <p:cNvSpPr txBox="1"/>
          <p:nvPr/>
        </p:nvSpPr>
        <p:spPr>
          <a:xfrm>
            <a:off x="800738" y="4489894"/>
            <a:ext cx="7492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31</a:t>
            </a:r>
          </a:p>
        </p:txBody>
      </p:sp>
      <p:sp>
        <p:nvSpPr>
          <p:cNvPr id="290" name="TextBox 290"/>
          <p:cNvSpPr txBox="1"/>
          <p:nvPr/>
        </p:nvSpPr>
        <p:spPr>
          <a:xfrm>
            <a:off x="1279017" y="4489894"/>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法学理论</a:t>
            </a:r>
          </a:p>
        </p:txBody>
      </p:sp>
      <p:sp>
        <p:nvSpPr>
          <p:cNvPr id="291" name="TextBox 291"/>
          <p:cNvSpPr txBox="1"/>
          <p:nvPr/>
        </p:nvSpPr>
        <p:spPr>
          <a:xfrm>
            <a:off x="1945958" y="4491514"/>
            <a:ext cx="1273493"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从基本权理论看法律行为之阻却生效要件</a:t>
            </a:r>
          </a:p>
        </p:txBody>
      </p:sp>
      <p:sp>
        <p:nvSpPr>
          <p:cNvPr id="292" name="TextBox 292"/>
          <p:cNvSpPr txBox="1"/>
          <p:nvPr/>
        </p:nvSpPr>
        <p:spPr>
          <a:xfrm>
            <a:off x="5708142" y="4489894"/>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293" name="TextBox 293"/>
          <p:cNvSpPr txBox="1"/>
          <p:nvPr/>
        </p:nvSpPr>
        <p:spPr>
          <a:xfrm>
            <a:off x="6533283" y="4489894"/>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2019</a:t>
            </a:r>
          </a:p>
        </p:txBody>
      </p:sp>
      <p:sp>
        <p:nvSpPr>
          <p:cNvPr id="294" name="TextBox 294"/>
          <p:cNvSpPr txBox="1"/>
          <p:nvPr/>
        </p:nvSpPr>
        <p:spPr>
          <a:xfrm>
            <a:off x="7880032" y="4491514"/>
            <a:ext cx="1630537"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一个跨法域释义学的尝试-章程-浙江大学光华法学院</a:t>
            </a:r>
          </a:p>
        </p:txBody>
      </p:sp>
      <p:sp>
        <p:nvSpPr>
          <p:cNvPr id="295" name="TextBox 295"/>
          <p:cNvSpPr txBox="1"/>
          <p:nvPr/>
        </p:nvSpPr>
        <p:spPr>
          <a:xfrm>
            <a:off x="11019330" y="4489894"/>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86.35</a:t>
            </a:r>
          </a:p>
        </p:txBody>
      </p:sp>
      <p:sp>
        <p:nvSpPr>
          <p:cNvPr id="296" name="Rectangle 296"/>
          <p:cNvSpPr/>
          <p:nvPr/>
        </p:nvSpPr>
        <p:spPr>
          <a:xfrm>
            <a:off x="685800" y="4561999"/>
            <a:ext cx="10820400" cy="99536"/>
          </a:xfrm>
          <a:prstGeom prst="rect">
            <a:avLst/>
          </a:prstGeom>
          <a:solidFill>
            <a:srgbClr val="FFFFFF"/>
          </a:solidFill>
          <a:ln>
            <a:noFill/>
          </a:ln>
        </p:spPr>
      </p:sp>
      <p:sp>
        <p:nvSpPr>
          <p:cNvPr id="297" name="TextBox 297"/>
          <p:cNvSpPr txBox="1"/>
          <p:nvPr/>
        </p:nvSpPr>
        <p:spPr>
          <a:xfrm>
            <a:off x="791737" y="4589431"/>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32</a:t>
            </a:r>
          </a:p>
        </p:txBody>
      </p:sp>
      <p:sp>
        <p:nvSpPr>
          <p:cNvPr id="298" name="TextBox 298"/>
          <p:cNvSpPr txBox="1"/>
          <p:nvPr/>
        </p:nvSpPr>
        <p:spPr>
          <a:xfrm>
            <a:off x="1279017" y="4589431"/>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法学理论</a:t>
            </a:r>
          </a:p>
        </p:txBody>
      </p:sp>
      <p:sp>
        <p:nvSpPr>
          <p:cNvPr id="299" name="TextBox 299"/>
          <p:cNvSpPr txBox="1"/>
          <p:nvPr/>
        </p:nvSpPr>
        <p:spPr>
          <a:xfrm>
            <a:off x="1945958" y="4591050"/>
            <a:ext cx="1581531"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金钱 “占有即所有”原理批判及权利流转规则之重塑</a:t>
            </a:r>
          </a:p>
        </p:txBody>
      </p:sp>
      <p:sp>
        <p:nvSpPr>
          <p:cNvPr id="300" name="TextBox 300"/>
          <p:cNvSpPr txBox="1"/>
          <p:nvPr/>
        </p:nvSpPr>
        <p:spPr>
          <a:xfrm>
            <a:off x="5708142" y="4589431"/>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301" name="TextBox 301"/>
          <p:cNvSpPr txBox="1"/>
          <p:nvPr/>
        </p:nvSpPr>
        <p:spPr>
          <a:xfrm>
            <a:off x="6533283" y="4589431"/>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2019</a:t>
            </a:r>
          </a:p>
        </p:txBody>
      </p:sp>
      <p:sp>
        <p:nvSpPr>
          <p:cNvPr id="302" name="TextBox 302"/>
          <p:cNvSpPr txBox="1"/>
          <p:nvPr/>
        </p:nvSpPr>
        <p:spPr>
          <a:xfrm>
            <a:off x="7136892" y="4589431"/>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孙鹏</a:t>
            </a:r>
          </a:p>
        </p:txBody>
      </p:sp>
      <p:sp>
        <p:nvSpPr>
          <p:cNvPr id="303" name="TextBox 303"/>
          <p:cNvSpPr txBox="1"/>
          <p:nvPr/>
        </p:nvSpPr>
        <p:spPr>
          <a:xfrm>
            <a:off x="7880032" y="4591050"/>
            <a:ext cx="783431"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西南政法大学民商法学院</a:t>
            </a:r>
          </a:p>
        </p:txBody>
      </p:sp>
      <p:sp>
        <p:nvSpPr>
          <p:cNvPr id="304" name="TextBox 304"/>
          <p:cNvSpPr txBox="1"/>
          <p:nvPr/>
        </p:nvSpPr>
        <p:spPr>
          <a:xfrm>
            <a:off x="11019330" y="4589431"/>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86.33</a:t>
            </a:r>
          </a:p>
        </p:txBody>
      </p:sp>
      <p:sp>
        <p:nvSpPr>
          <p:cNvPr id="305" name="Rectangle 305"/>
          <p:cNvSpPr/>
          <p:nvPr/>
        </p:nvSpPr>
        <p:spPr>
          <a:xfrm>
            <a:off x="685800" y="4661535"/>
            <a:ext cx="10820400" cy="99536"/>
          </a:xfrm>
          <a:prstGeom prst="rect">
            <a:avLst/>
          </a:prstGeom>
          <a:solidFill>
            <a:srgbClr val="F8FAFC"/>
          </a:solidFill>
          <a:ln>
            <a:noFill/>
          </a:ln>
        </p:spPr>
      </p:sp>
      <p:sp>
        <p:nvSpPr>
          <p:cNvPr id="306" name="TextBox 306"/>
          <p:cNvSpPr txBox="1"/>
          <p:nvPr/>
        </p:nvSpPr>
        <p:spPr>
          <a:xfrm>
            <a:off x="791737" y="4688967"/>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33</a:t>
            </a:r>
          </a:p>
        </p:txBody>
      </p:sp>
      <p:sp>
        <p:nvSpPr>
          <p:cNvPr id="307" name="TextBox 307"/>
          <p:cNvSpPr txBox="1"/>
          <p:nvPr/>
        </p:nvSpPr>
        <p:spPr>
          <a:xfrm>
            <a:off x="1279017" y="4688967"/>
            <a:ext cx="661797"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环境与资源保护法学</a:t>
            </a:r>
          </a:p>
        </p:txBody>
      </p:sp>
      <p:sp>
        <p:nvSpPr>
          <p:cNvPr id="308" name="TextBox 308"/>
          <p:cNvSpPr txBox="1"/>
          <p:nvPr/>
        </p:nvSpPr>
        <p:spPr>
          <a:xfrm>
            <a:off x="1945958" y="4690586"/>
            <a:ext cx="1273493"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生态环境法典的复合结构及其体系化适用</a:t>
            </a:r>
          </a:p>
        </p:txBody>
      </p:sp>
      <p:sp>
        <p:nvSpPr>
          <p:cNvPr id="309" name="TextBox 309"/>
          <p:cNvSpPr txBox="1"/>
          <p:nvPr/>
        </p:nvSpPr>
        <p:spPr>
          <a:xfrm>
            <a:off x="5708142" y="4688967"/>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310" name="TextBox 310"/>
          <p:cNvSpPr txBox="1"/>
          <p:nvPr/>
        </p:nvSpPr>
        <p:spPr>
          <a:xfrm>
            <a:off x="6524282" y="4688967"/>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2025</a:t>
            </a:r>
          </a:p>
        </p:txBody>
      </p:sp>
      <p:sp>
        <p:nvSpPr>
          <p:cNvPr id="311" name="TextBox 311"/>
          <p:cNvSpPr txBox="1"/>
          <p:nvPr/>
        </p:nvSpPr>
        <p:spPr>
          <a:xfrm>
            <a:off x="7136892" y="4688967"/>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陈海嵩</a:t>
            </a:r>
          </a:p>
        </p:txBody>
      </p:sp>
      <p:sp>
        <p:nvSpPr>
          <p:cNvPr id="312" name="TextBox 312"/>
          <p:cNvSpPr txBox="1"/>
          <p:nvPr/>
        </p:nvSpPr>
        <p:spPr>
          <a:xfrm>
            <a:off x="7880032" y="4690586"/>
            <a:ext cx="713422"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武汉大学环境法研究所</a:t>
            </a:r>
          </a:p>
        </p:txBody>
      </p:sp>
      <p:sp>
        <p:nvSpPr>
          <p:cNvPr id="313" name="TextBox 313"/>
          <p:cNvSpPr txBox="1"/>
          <p:nvPr/>
        </p:nvSpPr>
        <p:spPr>
          <a:xfrm>
            <a:off x="11028331" y="4688967"/>
            <a:ext cx="193739"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86.17</a:t>
            </a:r>
          </a:p>
        </p:txBody>
      </p:sp>
      <p:sp>
        <p:nvSpPr>
          <p:cNvPr id="314" name="Rectangle 314"/>
          <p:cNvSpPr/>
          <p:nvPr/>
        </p:nvSpPr>
        <p:spPr>
          <a:xfrm>
            <a:off x="685800" y="4761071"/>
            <a:ext cx="10820400" cy="99536"/>
          </a:xfrm>
          <a:prstGeom prst="rect">
            <a:avLst/>
          </a:prstGeom>
          <a:solidFill>
            <a:srgbClr val="FFFFFF"/>
          </a:solidFill>
          <a:ln>
            <a:noFill/>
          </a:ln>
        </p:spPr>
      </p:sp>
      <p:sp>
        <p:nvSpPr>
          <p:cNvPr id="315" name="TextBox 315"/>
          <p:cNvSpPr txBox="1"/>
          <p:nvPr/>
        </p:nvSpPr>
        <p:spPr>
          <a:xfrm>
            <a:off x="791737" y="4788503"/>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34</a:t>
            </a:r>
          </a:p>
        </p:txBody>
      </p:sp>
      <p:sp>
        <p:nvSpPr>
          <p:cNvPr id="316" name="TextBox 316"/>
          <p:cNvSpPr txBox="1"/>
          <p:nvPr/>
        </p:nvSpPr>
        <p:spPr>
          <a:xfrm>
            <a:off x="1279017" y="4788503"/>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诉讼法学</a:t>
            </a:r>
          </a:p>
        </p:txBody>
      </p:sp>
      <p:sp>
        <p:nvSpPr>
          <p:cNvPr id="317" name="TextBox 317"/>
          <p:cNvSpPr txBox="1"/>
          <p:nvPr/>
        </p:nvSpPr>
        <p:spPr>
          <a:xfrm>
            <a:off x="1945958" y="4790122"/>
            <a:ext cx="1000458"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“审执分离”本质与路径的再认识</a:t>
            </a:r>
          </a:p>
        </p:txBody>
      </p:sp>
      <p:sp>
        <p:nvSpPr>
          <p:cNvPr id="318" name="TextBox 318"/>
          <p:cNvSpPr txBox="1"/>
          <p:nvPr/>
        </p:nvSpPr>
        <p:spPr>
          <a:xfrm>
            <a:off x="5708142" y="4788503"/>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中国法学</a:t>
            </a:r>
          </a:p>
        </p:txBody>
      </p:sp>
      <p:sp>
        <p:nvSpPr>
          <p:cNvPr id="319" name="TextBox 319"/>
          <p:cNvSpPr txBox="1"/>
          <p:nvPr/>
        </p:nvSpPr>
        <p:spPr>
          <a:xfrm>
            <a:off x="6524282" y="4788503"/>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2023</a:t>
            </a:r>
          </a:p>
        </p:txBody>
      </p:sp>
      <p:sp>
        <p:nvSpPr>
          <p:cNvPr id="320" name="TextBox 320"/>
          <p:cNvSpPr txBox="1"/>
          <p:nvPr/>
        </p:nvSpPr>
        <p:spPr>
          <a:xfrm>
            <a:off x="7136892" y="4788503"/>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张卫平</a:t>
            </a:r>
          </a:p>
        </p:txBody>
      </p:sp>
      <p:sp>
        <p:nvSpPr>
          <p:cNvPr id="321" name="TextBox 321"/>
          <p:cNvSpPr txBox="1"/>
          <p:nvPr/>
        </p:nvSpPr>
        <p:spPr>
          <a:xfrm>
            <a:off x="7880032" y="4790122"/>
            <a:ext cx="293370"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烟台大学</a:t>
            </a:r>
          </a:p>
        </p:txBody>
      </p:sp>
      <p:sp>
        <p:nvSpPr>
          <p:cNvPr id="322" name="TextBox 322"/>
          <p:cNvSpPr txBox="1"/>
          <p:nvPr/>
        </p:nvSpPr>
        <p:spPr>
          <a:xfrm>
            <a:off x="11028331" y="4788503"/>
            <a:ext cx="193739"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86.12</a:t>
            </a:r>
          </a:p>
        </p:txBody>
      </p:sp>
      <p:sp>
        <p:nvSpPr>
          <p:cNvPr id="323" name="Rectangle 323"/>
          <p:cNvSpPr/>
          <p:nvPr/>
        </p:nvSpPr>
        <p:spPr>
          <a:xfrm>
            <a:off x="685800" y="4860608"/>
            <a:ext cx="10820400" cy="99536"/>
          </a:xfrm>
          <a:prstGeom prst="rect">
            <a:avLst/>
          </a:prstGeom>
          <a:solidFill>
            <a:srgbClr val="F8FAFC"/>
          </a:solidFill>
          <a:ln>
            <a:noFill/>
          </a:ln>
        </p:spPr>
      </p:sp>
      <p:sp>
        <p:nvSpPr>
          <p:cNvPr id="324" name="TextBox 324"/>
          <p:cNvSpPr txBox="1"/>
          <p:nvPr/>
        </p:nvSpPr>
        <p:spPr>
          <a:xfrm>
            <a:off x="791737" y="4888039"/>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35</a:t>
            </a:r>
          </a:p>
        </p:txBody>
      </p:sp>
      <p:sp>
        <p:nvSpPr>
          <p:cNvPr id="325" name="TextBox 325"/>
          <p:cNvSpPr txBox="1"/>
          <p:nvPr/>
        </p:nvSpPr>
        <p:spPr>
          <a:xfrm>
            <a:off x="1279017" y="4888039"/>
            <a:ext cx="589788"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宪法学与行政法学</a:t>
            </a:r>
          </a:p>
        </p:txBody>
      </p:sp>
      <p:sp>
        <p:nvSpPr>
          <p:cNvPr id="326" name="TextBox 326"/>
          <p:cNvSpPr txBox="1"/>
          <p:nvPr/>
        </p:nvSpPr>
        <p:spPr>
          <a:xfrm>
            <a:off x="1945958" y="4889659"/>
            <a:ext cx="853440"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履行行政职责的作为可能性</a:t>
            </a:r>
          </a:p>
        </p:txBody>
      </p:sp>
      <p:sp>
        <p:nvSpPr>
          <p:cNvPr id="327" name="TextBox 327"/>
          <p:cNvSpPr txBox="1"/>
          <p:nvPr/>
        </p:nvSpPr>
        <p:spPr>
          <a:xfrm>
            <a:off x="5708142" y="4888039"/>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328" name="TextBox 328"/>
          <p:cNvSpPr txBox="1"/>
          <p:nvPr/>
        </p:nvSpPr>
        <p:spPr>
          <a:xfrm>
            <a:off x="6524282" y="4888039"/>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2022</a:t>
            </a:r>
          </a:p>
        </p:txBody>
      </p:sp>
      <p:sp>
        <p:nvSpPr>
          <p:cNvPr id="329" name="TextBox 329"/>
          <p:cNvSpPr txBox="1"/>
          <p:nvPr/>
        </p:nvSpPr>
        <p:spPr>
          <a:xfrm>
            <a:off x="7136892" y="4888039"/>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林鸿潮</a:t>
            </a:r>
          </a:p>
        </p:txBody>
      </p:sp>
      <p:sp>
        <p:nvSpPr>
          <p:cNvPr id="330" name="TextBox 330"/>
          <p:cNvSpPr txBox="1"/>
          <p:nvPr/>
        </p:nvSpPr>
        <p:spPr>
          <a:xfrm>
            <a:off x="7880032" y="4889659"/>
            <a:ext cx="923449"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中国政法大学法治政府研究院</a:t>
            </a:r>
          </a:p>
        </p:txBody>
      </p:sp>
      <p:sp>
        <p:nvSpPr>
          <p:cNvPr id="331" name="TextBox 331"/>
          <p:cNvSpPr txBox="1"/>
          <p:nvPr/>
        </p:nvSpPr>
        <p:spPr>
          <a:xfrm>
            <a:off x="11019330" y="4888039"/>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86.05</a:t>
            </a:r>
          </a:p>
        </p:txBody>
      </p:sp>
      <p:sp>
        <p:nvSpPr>
          <p:cNvPr id="332" name="Rectangle 332"/>
          <p:cNvSpPr/>
          <p:nvPr/>
        </p:nvSpPr>
        <p:spPr>
          <a:xfrm>
            <a:off x="685800" y="4960144"/>
            <a:ext cx="10820400" cy="99536"/>
          </a:xfrm>
          <a:prstGeom prst="rect">
            <a:avLst/>
          </a:prstGeom>
          <a:solidFill>
            <a:srgbClr val="FFFFFF"/>
          </a:solidFill>
          <a:ln>
            <a:noFill/>
          </a:ln>
        </p:spPr>
      </p:sp>
      <p:sp>
        <p:nvSpPr>
          <p:cNvPr id="333" name="TextBox 333"/>
          <p:cNvSpPr txBox="1"/>
          <p:nvPr/>
        </p:nvSpPr>
        <p:spPr>
          <a:xfrm>
            <a:off x="791737" y="4987576"/>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36</a:t>
            </a:r>
          </a:p>
        </p:txBody>
      </p:sp>
      <p:sp>
        <p:nvSpPr>
          <p:cNvPr id="334" name="TextBox 334"/>
          <p:cNvSpPr txBox="1"/>
          <p:nvPr/>
        </p:nvSpPr>
        <p:spPr>
          <a:xfrm>
            <a:off x="1279017" y="4987576"/>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诉讼法学</a:t>
            </a:r>
          </a:p>
        </p:txBody>
      </p:sp>
      <p:sp>
        <p:nvSpPr>
          <p:cNvPr id="335" name="TextBox 335"/>
          <p:cNvSpPr txBox="1"/>
          <p:nvPr/>
        </p:nvSpPr>
        <p:spPr>
          <a:xfrm>
            <a:off x="1945958" y="4989195"/>
            <a:ext cx="1452015"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组织法的诉讼构造:公司决议纠纷诉讼规则重构</a:t>
            </a:r>
          </a:p>
        </p:txBody>
      </p:sp>
      <p:sp>
        <p:nvSpPr>
          <p:cNvPr id="336" name="TextBox 336"/>
          <p:cNvSpPr txBox="1"/>
          <p:nvPr/>
        </p:nvSpPr>
        <p:spPr>
          <a:xfrm>
            <a:off x="5708142" y="4987576"/>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中国法学</a:t>
            </a:r>
          </a:p>
        </p:txBody>
      </p:sp>
      <p:sp>
        <p:nvSpPr>
          <p:cNvPr id="337" name="TextBox 337"/>
          <p:cNvSpPr txBox="1"/>
          <p:nvPr/>
        </p:nvSpPr>
        <p:spPr>
          <a:xfrm>
            <a:off x="6533283" y="4987576"/>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2019</a:t>
            </a:r>
          </a:p>
        </p:txBody>
      </p:sp>
      <p:sp>
        <p:nvSpPr>
          <p:cNvPr id="338" name="TextBox 338"/>
          <p:cNvSpPr txBox="1"/>
          <p:nvPr/>
        </p:nvSpPr>
        <p:spPr>
          <a:xfrm>
            <a:off x="7136892" y="4987576"/>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丁勇</a:t>
            </a:r>
          </a:p>
        </p:txBody>
      </p:sp>
      <p:sp>
        <p:nvSpPr>
          <p:cNvPr id="339" name="TextBox 339"/>
          <p:cNvSpPr txBox="1"/>
          <p:nvPr/>
        </p:nvSpPr>
        <p:spPr>
          <a:xfrm>
            <a:off x="7880032" y="4989195"/>
            <a:ext cx="433388"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华东政法大学</a:t>
            </a:r>
          </a:p>
        </p:txBody>
      </p:sp>
      <p:sp>
        <p:nvSpPr>
          <p:cNvPr id="340" name="TextBox 340"/>
          <p:cNvSpPr txBox="1"/>
          <p:nvPr/>
        </p:nvSpPr>
        <p:spPr>
          <a:xfrm>
            <a:off x="11019330" y="4987576"/>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86.00</a:t>
            </a:r>
          </a:p>
        </p:txBody>
      </p:sp>
      <p:sp>
        <p:nvSpPr>
          <p:cNvPr id="341" name="Rectangle 341"/>
          <p:cNvSpPr/>
          <p:nvPr/>
        </p:nvSpPr>
        <p:spPr>
          <a:xfrm>
            <a:off x="685800" y="5059680"/>
            <a:ext cx="10820400" cy="99536"/>
          </a:xfrm>
          <a:prstGeom prst="rect">
            <a:avLst/>
          </a:prstGeom>
          <a:solidFill>
            <a:srgbClr val="F8FAFC"/>
          </a:solidFill>
          <a:ln>
            <a:noFill/>
          </a:ln>
        </p:spPr>
      </p:sp>
      <p:sp>
        <p:nvSpPr>
          <p:cNvPr id="342" name="TextBox 342"/>
          <p:cNvSpPr txBox="1"/>
          <p:nvPr/>
        </p:nvSpPr>
        <p:spPr>
          <a:xfrm>
            <a:off x="791737" y="5087112"/>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37</a:t>
            </a:r>
          </a:p>
        </p:txBody>
      </p:sp>
      <p:sp>
        <p:nvSpPr>
          <p:cNvPr id="343" name="TextBox 343"/>
          <p:cNvSpPr txBox="1"/>
          <p:nvPr/>
        </p:nvSpPr>
        <p:spPr>
          <a:xfrm>
            <a:off x="1279017" y="5087112"/>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经济法学</a:t>
            </a:r>
          </a:p>
        </p:txBody>
      </p:sp>
      <p:sp>
        <p:nvSpPr>
          <p:cNvPr id="344" name="TextBox 344"/>
          <p:cNvSpPr txBox="1"/>
          <p:nvPr/>
        </p:nvSpPr>
        <p:spPr>
          <a:xfrm>
            <a:off x="1945958" y="5088731"/>
            <a:ext cx="1770555"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反不正当竞争法一般条款的保护限度——以市场区分为视角</a:t>
            </a:r>
          </a:p>
        </p:txBody>
      </p:sp>
      <p:sp>
        <p:nvSpPr>
          <p:cNvPr id="345" name="TextBox 345"/>
          <p:cNvSpPr txBox="1"/>
          <p:nvPr/>
        </p:nvSpPr>
        <p:spPr>
          <a:xfrm>
            <a:off x="5708142" y="5087112"/>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346" name="TextBox 346"/>
          <p:cNvSpPr txBox="1"/>
          <p:nvPr/>
        </p:nvSpPr>
        <p:spPr>
          <a:xfrm>
            <a:off x="6524282" y="5087112"/>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2024</a:t>
            </a:r>
          </a:p>
        </p:txBody>
      </p:sp>
      <p:sp>
        <p:nvSpPr>
          <p:cNvPr id="347" name="TextBox 347"/>
          <p:cNvSpPr txBox="1"/>
          <p:nvPr/>
        </p:nvSpPr>
        <p:spPr>
          <a:xfrm>
            <a:off x="7136892" y="5087112"/>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刘建臣</a:t>
            </a:r>
          </a:p>
        </p:txBody>
      </p:sp>
      <p:sp>
        <p:nvSpPr>
          <p:cNvPr id="348" name="TextBox 348"/>
          <p:cNvSpPr txBox="1"/>
          <p:nvPr/>
        </p:nvSpPr>
        <p:spPr>
          <a:xfrm>
            <a:off x="7880032" y="5088731"/>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山东大学法学院</a:t>
            </a:r>
          </a:p>
        </p:txBody>
      </p:sp>
      <p:sp>
        <p:nvSpPr>
          <p:cNvPr id="349" name="TextBox 349"/>
          <p:cNvSpPr txBox="1"/>
          <p:nvPr/>
        </p:nvSpPr>
        <p:spPr>
          <a:xfrm>
            <a:off x="11019330" y="5087112"/>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85.70</a:t>
            </a:r>
          </a:p>
        </p:txBody>
      </p:sp>
      <p:sp>
        <p:nvSpPr>
          <p:cNvPr id="350" name="Rectangle 350"/>
          <p:cNvSpPr/>
          <p:nvPr/>
        </p:nvSpPr>
        <p:spPr>
          <a:xfrm>
            <a:off x="685800" y="5159216"/>
            <a:ext cx="10820400" cy="99536"/>
          </a:xfrm>
          <a:prstGeom prst="rect">
            <a:avLst/>
          </a:prstGeom>
          <a:solidFill>
            <a:srgbClr val="FFFFFF"/>
          </a:solidFill>
          <a:ln>
            <a:noFill/>
          </a:ln>
        </p:spPr>
      </p:sp>
      <p:sp>
        <p:nvSpPr>
          <p:cNvPr id="351" name="TextBox 351"/>
          <p:cNvSpPr txBox="1"/>
          <p:nvPr/>
        </p:nvSpPr>
        <p:spPr>
          <a:xfrm>
            <a:off x="791737" y="5186648"/>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38</a:t>
            </a:r>
          </a:p>
        </p:txBody>
      </p:sp>
      <p:sp>
        <p:nvSpPr>
          <p:cNvPr id="352" name="TextBox 352"/>
          <p:cNvSpPr txBox="1"/>
          <p:nvPr/>
        </p:nvSpPr>
        <p:spPr>
          <a:xfrm>
            <a:off x="1279017" y="5186648"/>
            <a:ext cx="589788"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宪法学与行政法学</a:t>
            </a:r>
          </a:p>
        </p:txBody>
      </p:sp>
      <p:sp>
        <p:nvSpPr>
          <p:cNvPr id="353" name="TextBox 353"/>
          <p:cNvSpPr txBox="1"/>
          <p:nvPr/>
        </p:nvSpPr>
        <p:spPr>
          <a:xfrm>
            <a:off x="1945958" y="5188267"/>
            <a:ext cx="1707547"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宪法秩序下如何安放法典——从“基础性法律”的适用切入</a:t>
            </a:r>
          </a:p>
        </p:txBody>
      </p:sp>
      <p:sp>
        <p:nvSpPr>
          <p:cNvPr id="354" name="TextBox 354"/>
          <p:cNvSpPr txBox="1"/>
          <p:nvPr/>
        </p:nvSpPr>
        <p:spPr>
          <a:xfrm>
            <a:off x="5708142" y="5186648"/>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355" name="TextBox 355"/>
          <p:cNvSpPr txBox="1"/>
          <p:nvPr/>
        </p:nvSpPr>
        <p:spPr>
          <a:xfrm>
            <a:off x="6524282" y="5186648"/>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2025</a:t>
            </a:r>
          </a:p>
        </p:txBody>
      </p:sp>
      <p:sp>
        <p:nvSpPr>
          <p:cNvPr id="356" name="TextBox 356"/>
          <p:cNvSpPr txBox="1"/>
          <p:nvPr/>
        </p:nvSpPr>
        <p:spPr>
          <a:xfrm>
            <a:off x="7136892" y="5186648"/>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张翔</a:t>
            </a:r>
          </a:p>
        </p:txBody>
      </p:sp>
      <p:sp>
        <p:nvSpPr>
          <p:cNvPr id="357" name="TextBox 357"/>
          <p:cNvSpPr txBox="1"/>
          <p:nvPr/>
        </p:nvSpPr>
        <p:spPr>
          <a:xfrm>
            <a:off x="7880032" y="5188267"/>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北京大学法学院</a:t>
            </a:r>
          </a:p>
        </p:txBody>
      </p:sp>
      <p:sp>
        <p:nvSpPr>
          <p:cNvPr id="358" name="TextBox 358"/>
          <p:cNvSpPr txBox="1"/>
          <p:nvPr/>
        </p:nvSpPr>
        <p:spPr>
          <a:xfrm>
            <a:off x="11019330" y="5186648"/>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85.70</a:t>
            </a:r>
          </a:p>
        </p:txBody>
      </p:sp>
      <p:sp>
        <p:nvSpPr>
          <p:cNvPr id="359" name="Rectangle 359"/>
          <p:cNvSpPr/>
          <p:nvPr/>
        </p:nvSpPr>
        <p:spPr>
          <a:xfrm>
            <a:off x="685800" y="5258752"/>
            <a:ext cx="10820400" cy="99536"/>
          </a:xfrm>
          <a:prstGeom prst="rect">
            <a:avLst/>
          </a:prstGeom>
          <a:solidFill>
            <a:srgbClr val="F8FAFC"/>
          </a:solidFill>
          <a:ln>
            <a:noFill/>
          </a:ln>
        </p:spPr>
      </p:sp>
      <p:sp>
        <p:nvSpPr>
          <p:cNvPr id="360" name="TextBox 360"/>
          <p:cNvSpPr txBox="1"/>
          <p:nvPr/>
        </p:nvSpPr>
        <p:spPr>
          <a:xfrm>
            <a:off x="791737" y="5286184"/>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39</a:t>
            </a:r>
          </a:p>
        </p:txBody>
      </p:sp>
      <p:sp>
        <p:nvSpPr>
          <p:cNvPr id="361" name="TextBox 361"/>
          <p:cNvSpPr txBox="1"/>
          <p:nvPr/>
        </p:nvSpPr>
        <p:spPr>
          <a:xfrm>
            <a:off x="1279017" y="5286184"/>
            <a:ext cx="445770"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知识产权法学</a:t>
            </a:r>
          </a:p>
        </p:txBody>
      </p:sp>
      <p:sp>
        <p:nvSpPr>
          <p:cNvPr id="362" name="TextBox 362"/>
          <p:cNvSpPr txBox="1"/>
          <p:nvPr/>
        </p:nvSpPr>
        <p:spPr>
          <a:xfrm>
            <a:off x="1945958" y="5287804"/>
            <a:ext cx="114047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注册商标使用中的"未改变显著特征"</a:t>
            </a:r>
          </a:p>
        </p:txBody>
      </p:sp>
      <p:sp>
        <p:nvSpPr>
          <p:cNvPr id="363" name="TextBox 363"/>
          <p:cNvSpPr txBox="1"/>
          <p:nvPr/>
        </p:nvSpPr>
        <p:spPr>
          <a:xfrm>
            <a:off x="5708142" y="5286184"/>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364" name="TextBox 364"/>
          <p:cNvSpPr txBox="1"/>
          <p:nvPr/>
        </p:nvSpPr>
        <p:spPr>
          <a:xfrm>
            <a:off x="6533283" y="5286184"/>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2021</a:t>
            </a:r>
          </a:p>
        </p:txBody>
      </p:sp>
      <p:sp>
        <p:nvSpPr>
          <p:cNvPr id="365" name="TextBox 365"/>
          <p:cNvSpPr txBox="1"/>
          <p:nvPr/>
        </p:nvSpPr>
        <p:spPr>
          <a:xfrm>
            <a:off x="7136892" y="5286184"/>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付继存</a:t>
            </a:r>
          </a:p>
        </p:txBody>
      </p:sp>
      <p:sp>
        <p:nvSpPr>
          <p:cNvPr id="366" name="TextBox 366"/>
          <p:cNvSpPr txBox="1"/>
          <p:nvPr/>
        </p:nvSpPr>
        <p:spPr>
          <a:xfrm>
            <a:off x="7880032" y="5287804"/>
            <a:ext cx="923449"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中国政法大学民商经济法学院</a:t>
            </a:r>
          </a:p>
        </p:txBody>
      </p:sp>
      <p:sp>
        <p:nvSpPr>
          <p:cNvPr id="367" name="TextBox 367"/>
          <p:cNvSpPr txBox="1"/>
          <p:nvPr/>
        </p:nvSpPr>
        <p:spPr>
          <a:xfrm>
            <a:off x="11019330" y="5286184"/>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85.60</a:t>
            </a:r>
          </a:p>
        </p:txBody>
      </p:sp>
      <p:sp>
        <p:nvSpPr>
          <p:cNvPr id="368" name="Rectangle 368"/>
          <p:cNvSpPr/>
          <p:nvPr/>
        </p:nvSpPr>
        <p:spPr>
          <a:xfrm>
            <a:off x="685800" y="5358289"/>
            <a:ext cx="10820400" cy="99536"/>
          </a:xfrm>
          <a:prstGeom prst="rect">
            <a:avLst/>
          </a:prstGeom>
          <a:solidFill>
            <a:srgbClr val="FFFFFF"/>
          </a:solidFill>
          <a:ln>
            <a:noFill/>
          </a:ln>
        </p:spPr>
      </p:sp>
      <p:sp>
        <p:nvSpPr>
          <p:cNvPr id="369" name="TextBox 369"/>
          <p:cNvSpPr txBox="1"/>
          <p:nvPr/>
        </p:nvSpPr>
        <p:spPr>
          <a:xfrm>
            <a:off x="791737" y="5385721"/>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40</a:t>
            </a:r>
          </a:p>
        </p:txBody>
      </p:sp>
      <p:sp>
        <p:nvSpPr>
          <p:cNvPr id="370" name="TextBox 370"/>
          <p:cNvSpPr txBox="1"/>
          <p:nvPr/>
        </p:nvSpPr>
        <p:spPr>
          <a:xfrm>
            <a:off x="1279017" y="5385721"/>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诉讼法学</a:t>
            </a:r>
          </a:p>
        </p:txBody>
      </p:sp>
      <p:sp>
        <p:nvSpPr>
          <p:cNvPr id="371" name="TextBox 371"/>
          <p:cNvSpPr txBox="1"/>
          <p:nvPr/>
        </p:nvSpPr>
        <p:spPr>
          <a:xfrm>
            <a:off x="1945958" y="5387340"/>
            <a:ext cx="1273493"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诉权处分合同的程序法效果及其司法审查</a:t>
            </a:r>
          </a:p>
        </p:txBody>
      </p:sp>
      <p:sp>
        <p:nvSpPr>
          <p:cNvPr id="372" name="TextBox 372"/>
          <p:cNvSpPr txBox="1"/>
          <p:nvPr/>
        </p:nvSpPr>
        <p:spPr>
          <a:xfrm>
            <a:off x="5708142" y="5385721"/>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373" name="TextBox 373"/>
          <p:cNvSpPr txBox="1"/>
          <p:nvPr/>
        </p:nvSpPr>
        <p:spPr>
          <a:xfrm>
            <a:off x="6524282" y="5385721"/>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2025</a:t>
            </a:r>
          </a:p>
        </p:txBody>
      </p:sp>
      <p:sp>
        <p:nvSpPr>
          <p:cNvPr id="374" name="TextBox 374"/>
          <p:cNvSpPr txBox="1"/>
          <p:nvPr/>
        </p:nvSpPr>
        <p:spPr>
          <a:xfrm>
            <a:off x="7136892" y="5385721"/>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朱禹臣</a:t>
            </a:r>
          </a:p>
        </p:txBody>
      </p:sp>
      <p:sp>
        <p:nvSpPr>
          <p:cNvPr id="375" name="TextBox 375"/>
          <p:cNvSpPr txBox="1"/>
          <p:nvPr/>
        </p:nvSpPr>
        <p:spPr>
          <a:xfrm>
            <a:off x="7880032" y="5387340"/>
            <a:ext cx="64341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中国人民大学法学院</a:t>
            </a:r>
          </a:p>
        </p:txBody>
      </p:sp>
      <p:sp>
        <p:nvSpPr>
          <p:cNvPr id="376" name="TextBox 376"/>
          <p:cNvSpPr txBox="1"/>
          <p:nvPr/>
        </p:nvSpPr>
        <p:spPr>
          <a:xfrm>
            <a:off x="11019330" y="5385721"/>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85.55</a:t>
            </a:r>
          </a:p>
        </p:txBody>
      </p:sp>
      <p:sp>
        <p:nvSpPr>
          <p:cNvPr id="377" name="Rectangle 377"/>
          <p:cNvSpPr/>
          <p:nvPr/>
        </p:nvSpPr>
        <p:spPr>
          <a:xfrm>
            <a:off x="685800" y="5457825"/>
            <a:ext cx="10820400" cy="99536"/>
          </a:xfrm>
          <a:prstGeom prst="rect">
            <a:avLst/>
          </a:prstGeom>
          <a:solidFill>
            <a:srgbClr val="F8FAFC"/>
          </a:solidFill>
          <a:ln>
            <a:noFill/>
          </a:ln>
        </p:spPr>
      </p:sp>
      <p:sp>
        <p:nvSpPr>
          <p:cNvPr id="378" name="TextBox 378"/>
          <p:cNvSpPr txBox="1"/>
          <p:nvPr/>
        </p:nvSpPr>
        <p:spPr>
          <a:xfrm>
            <a:off x="800738" y="5485257"/>
            <a:ext cx="7492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41</a:t>
            </a:r>
          </a:p>
        </p:txBody>
      </p:sp>
      <p:sp>
        <p:nvSpPr>
          <p:cNvPr id="379" name="TextBox 379"/>
          <p:cNvSpPr txBox="1"/>
          <p:nvPr/>
        </p:nvSpPr>
        <p:spPr>
          <a:xfrm>
            <a:off x="1279017" y="5485257"/>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经济法学</a:t>
            </a:r>
          </a:p>
        </p:txBody>
      </p:sp>
      <p:sp>
        <p:nvSpPr>
          <p:cNvPr id="380" name="TextBox 380"/>
          <p:cNvSpPr txBox="1"/>
          <p:nvPr/>
        </p:nvSpPr>
        <p:spPr>
          <a:xfrm>
            <a:off x="1945958" y="5486876"/>
            <a:ext cx="1133475"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劳动关系认定的理论澄清与规范建构</a:t>
            </a:r>
          </a:p>
        </p:txBody>
      </p:sp>
      <p:sp>
        <p:nvSpPr>
          <p:cNvPr id="381" name="TextBox 381"/>
          <p:cNvSpPr txBox="1"/>
          <p:nvPr/>
        </p:nvSpPr>
        <p:spPr>
          <a:xfrm>
            <a:off x="5708142" y="5485257"/>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382" name="TextBox 382"/>
          <p:cNvSpPr txBox="1"/>
          <p:nvPr/>
        </p:nvSpPr>
        <p:spPr>
          <a:xfrm>
            <a:off x="6524282" y="5485257"/>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2023</a:t>
            </a:r>
          </a:p>
        </p:txBody>
      </p:sp>
      <p:sp>
        <p:nvSpPr>
          <p:cNvPr id="383" name="TextBox 383"/>
          <p:cNvSpPr txBox="1"/>
          <p:nvPr/>
        </p:nvSpPr>
        <p:spPr>
          <a:xfrm>
            <a:off x="7136892" y="5485257"/>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朱军</a:t>
            </a:r>
          </a:p>
        </p:txBody>
      </p:sp>
      <p:sp>
        <p:nvSpPr>
          <p:cNvPr id="384" name="TextBox 384"/>
          <p:cNvSpPr txBox="1"/>
          <p:nvPr/>
        </p:nvSpPr>
        <p:spPr>
          <a:xfrm>
            <a:off x="7880032" y="5486876"/>
            <a:ext cx="783431"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上海交通大学凯原法学院</a:t>
            </a:r>
          </a:p>
        </p:txBody>
      </p:sp>
      <p:sp>
        <p:nvSpPr>
          <p:cNvPr id="385" name="TextBox 385"/>
          <p:cNvSpPr txBox="1"/>
          <p:nvPr/>
        </p:nvSpPr>
        <p:spPr>
          <a:xfrm>
            <a:off x="11019330" y="5485257"/>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85.22</a:t>
            </a:r>
          </a:p>
        </p:txBody>
      </p:sp>
      <p:sp>
        <p:nvSpPr>
          <p:cNvPr id="386" name="Rectangle 386"/>
          <p:cNvSpPr/>
          <p:nvPr/>
        </p:nvSpPr>
        <p:spPr>
          <a:xfrm>
            <a:off x="685800" y="5557361"/>
            <a:ext cx="10820400" cy="99536"/>
          </a:xfrm>
          <a:prstGeom prst="rect">
            <a:avLst/>
          </a:prstGeom>
          <a:solidFill>
            <a:srgbClr val="FFFFFF"/>
          </a:solidFill>
          <a:ln>
            <a:noFill/>
          </a:ln>
        </p:spPr>
      </p:sp>
      <p:sp>
        <p:nvSpPr>
          <p:cNvPr id="387" name="TextBox 387"/>
          <p:cNvSpPr txBox="1"/>
          <p:nvPr/>
        </p:nvSpPr>
        <p:spPr>
          <a:xfrm>
            <a:off x="791737" y="5584793"/>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42</a:t>
            </a:r>
          </a:p>
        </p:txBody>
      </p:sp>
      <p:sp>
        <p:nvSpPr>
          <p:cNvPr id="388" name="TextBox 388"/>
          <p:cNvSpPr txBox="1"/>
          <p:nvPr/>
        </p:nvSpPr>
        <p:spPr>
          <a:xfrm>
            <a:off x="1279017" y="5584793"/>
            <a:ext cx="661797"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环境与资源保护法学</a:t>
            </a:r>
          </a:p>
        </p:txBody>
      </p:sp>
      <p:sp>
        <p:nvSpPr>
          <p:cNvPr id="389" name="TextBox 389"/>
          <p:cNvSpPr txBox="1"/>
          <p:nvPr/>
        </p:nvSpPr>
        <p:spPr>
          <a:xfrm>
            <a:off x="1945958" y="5586412"/>
            <a:ext cx="120348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三权分置下农地流转权利体系重构研究</a:t>
            </a:r>
          </a:p>
        </p:txBody>
      </p:sp>
      <p:sp>
        <p:nvSpPr>
          <p:cNvPr id="390" name="TextBox 390"/>
          <p:cNvSpPr txBox="1"/>
          <p:nvPr/>
        </p:nvSpPr>
        <p:spPr>
          <a:xfrm>
            <a:off x="5708142" y="5584793"/>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中国法学</a:t>
            </a:r>
          </a:p>
        </p:txBody>
      </p:sp>
      <p:sp>
        <p:nvSpPr>
          <p:cNvPr id="391" name="TextBox 391"/>
          <p:cNvSpPr txBox="1"/>
          <p:nvPr/>
        </p:nvSpPr>
        <p:spPr>
          <a:xfrm>
            <a:off x="6533283" y="5584793"/>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2018</a:t>
            </a:r>
          </a:p>
        </p:txBody>
      </p:sp>
      <p:sp>
        <p:nvSpPr>
          <p:cNvPr id="392" name="TextBox 392"/>
          <p:cNvSpPr txBox="1"/>
          <p:nvPr/>
        </p:nvSpPr>
        <p:spPr>
          <a:xfrm>
            <a:off x="7136892" y="5584793"/>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宋志红</a:t>
            </a:r>
          </a:p>
        </p:txBody>
      </p:sp>
      <p:sp>
        <p:nvSpPr>
          <p:cNvPr id="393" name="TextBox 393"/>
          <p:cNvSpPr txBox="1"/>
          <p:nvPr/>
        </p:nvSpPr>
        <p:spPr>
          <a:xfrm>
            <a:off x="7880032" y="5586412"/>
            <a:ext cx="120348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中共中央党校（国家行政学院）法学部</a:t>
            </a:r>
          </a:p>
        </p:txBody>
      </p:sp>
      <p:sp>
        <p:nvSpPr>
          <p:cNvPr id="394" name="TextBox 394"/>
          <p:cNvSpPr txBox="1"/>
          <p:nvPr/>
        </p:nvSpPr>
        <p:spPr>
          <a:xfrm>
            <a:off x="11019330" y="5584793"/>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84.92</a:t>
            </a:r>
          </a:p>
        </p:txBody>
      </p:sp>
      <p:sp>
        <p:nvSpPr>
          <p:cNvPr id="395" name="Rectangle 395"/>
          <p:cNvSpPr/>
          <p:nvPr/>
        </p:nvSpPr>
        <p:spPr>
          <a:xfrm>
            <a:off x="685800" y="5656898"/>
            <a:ext cx="10820400" cy="99536"/>
          </a:xfrm>
          <a:prstGeom prst="rect">
            <a:avLst/>
          </a:prstGeom>
          <a:solidFill>
            <a:srgbClr val="F8FAFC"/>
          </a:solidFill>
          <a:ln>
            <a:noFill/>
          </a:ln>
        </p:spPr>
      </p:sp>
      <p:sp>
        <p:nvSpPr>
          <p:cNvPr id="396" name="TextBox 396"/>
          <p:cNvSpPr txBox="1"/>
          <p:nvPr/>
        </p:nvSpPr>
        <p:spPr>
          <a:xfrm>
            <a:off x="791737" y="5684330"/>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43</a:t>
            </a:r>
          </a:p>
        </p:txBody>
      </p:sp>
      <p:sp>
        <p:nvSpPr>
          <p:cNvPr id="397" name="TextBox 397"/>
          <p:cNvSpPr txBox="1"/>
          <p:nvPr/>
        </p:nvSpPr>
        <p:spPr>
          <a:xfrm>
            <a:off x="1279017" y="5684330"/>
            <a:ext cx="589788"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宪法学与行政法学</a:t>
            </a:r>
          </a:p>
        </p:txBody>
      </p:sp>
      <p:sp>
        <p:nvSpPr>
          <p:cNvPr id="398" name="TextBox 398"/>
          <p:cNvSpPr txBox="1"/>
          <p:nvPr/>
        </p:nvSpPr>
        <p:spPr>
          <a:xfrm>
            <a:off x="1945958" y="5685949"/>
            <a:ext cx="106346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法律规范合宪性解释的方法论构造</a:t>
            </a:r>
          </a:p>
        </p:txBody>
      </p:sp>
      <p:sp>
        <p:nvSpPr>
          <p:cNvPr id="399" name="TextBox 399"/>
          <p:cNvSpPr txBox="1"/>
          <p:nvPr/>
        </p:nvSpPr>
        <p:spPr>
          <a:xfrm>
            <a:off x="5708142" y="5684330"/>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400" name="TextBox 400"/>
          <p:cNvSpPr txBox="1"/>
          <p:nvPr/>
        </p:nvSpPr>
        <p:spPr>
          <a:xfrm>
            <a:off x="6524282" y="5684330"/>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2020</a:t>
            </a:r>
          </a:p>
        </p:txBody>
      </p:sp>
      <p:sp>
        <p:nvSpPr>
          <p:cNvPr id="401" name="TextBox 401"/>
          <p:cNvSpPr txBox="1"/>
          <p:nvPr/>
        </p:nvSpPr>
        <p:spPr>
          <a:xfrm>
            <a:off x="7136892" y="5684330"/>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刘召成</a:t>
            </a:r>
          </a:p>
        </p:txBody>
      </p:sp>
      <p:sp>
        <p:nvSpPr>
          <p:cNvPr id="402" name="TextBox 402"/>
          <p:cNvSpPr txBox="1"/>
          <p:nvPr/>
        </p:nvSpPr>
        <p:spPr>
          <a:xfrm>
            <a:off x="7880032" y="5685949"/>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天津大学法学院</a:t>
            </a:r>
          </a:p>
        </p:txBody>
      </p:sp>
      <p:sp>
        <p:nvSpPr>
          <p:cNvPr id="403" name="TextBox 403"/>
          <p:cNvSpPr txBox="1"/>
          <p:nvPr/>
        </p:nvSpPr>
        <p:spPr>
          <a:xfrm>
            <a:off x="11019330" y="5684330"/>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84.92</a:t>
            </a:r>
          </a:p>
        </p:txBody>
      </p:sp>
      <p:sp>
        <p:nvSpPr>
          <p:cNvPr id="404" name="Rectangle 404"/>
          <p:cNvSpPr/>
          <p:nvPr/>
        </p:nvSpPr>
        <p:spPr>
          <a:xfrm>
            <a:off x="685800" y="5756434"/>
            <a:ext cx="10820400" cy="99536"/>
          </a:xfrm>
          <a:prstGeom prst="rect">
            <a:avLst/>
          </a:prstGeom>
          <a:solidFill>
            <a:srgbClr val="FFFFFF"/>
          </a:solidFill>
          <a:ln>
            <a:noFill/>
          </a:ln>
        </p:spPr>
      </p:sp>
      <p:sp>
        <p:nvSpPr>
          <p:cNvPr id="405" name="TextBox 405"/>
          <p:cNvSpPr txBox="1"/>
          <p:nvPr/>
        </p:nvSpPr>
        <p:spPr>
          <a:xfrm>
            <a:off x="791737" y="5783866"/>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44</a:t>
            </a:r>
          </a:p>
        </p:txBody>
      </p:sp>
      <p:sp>
        <p:nvSpPr>
          <p:cNvPr id="406" name="TextBox 406"/>
          <p:cNvSpPr txBox="1"/>
          <p:nvPr/>
        </p:nvSpPr>
        <p:spPr>
          <a:xfrm>
            <a:off x="1279017" y="5783866"/>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国际法学</a:t>
            </a:r>
          </a:p>
        </p:txBody>
      </p:sp>
      <p:sp>
        <p:nvSpPr>
          <p:cNvPr id="407" name="TextBox 407"/>
          <p:cNvSpPr txBox="1"/>
          <p:nvPr/>
        </p:nvSpPr>
        <p:spPr>
          <a:xfrm>
            <a:off x="1945958" y="5785485"/>
            <a:ext cx="1133475"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公法属地原则与域外适用的博弈共存</a:t>
            </a:r>
          </a:p>
        </p:txBody>
      </p:sp>
      <p:sp>
        <p:nvSpPr>
          <p:cNvPr id="408" name="TextBox 408"/>
          <p:cNvSpPr txBox="1"/>
          <p:nvPr/>
        </p:nvSpPr>
        <p:spPr>
          <a:xfrm>
            <a:off x="5708142" y="5783866"/>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409" name="TextBox 409"/>
          <p:cNvSpPr txBox="1"/>
          <p:nvPr/>
        </p:nvSpPr>
        <p:spPr>
          <a:xfrm>
            <a:off x="6524282" y="5783866"/>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2025</a:t>
            </a:r>
          </a:p>
        </p:txBody>
      </p:sp>
      <p:sp>
        <p:nvSpPr>
          <p:cNvPr id="410" name="TextBox 410"/>
          <p:cNvSpPr txBox="1"/>
          <p:nvPr/>
        </p:nvSpPr>
        <p:spPr>
          <a:xfrm>
            <a:off x="7136892" y="5783866"/>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章晶</a:t>
            </a:r>
          </a:p>
        </p:txBody>
      </p:sp>
      <p:sp>
        <p:nvSpPr>
          <p:cNvPr id="411" name="TextBox 411"/>
          <p:cNvSpPr txBox="1"/>
          <p:nvPr/>
        </p:nvSpPr>
        <p:spPr>
          <a:xfrm>
            <a:off x="7880032" y="5785485"/>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河海大学法学院</a:t>
            </a:r>
          </a:p>
        </p:txBody>
      </p:sp>
      <p:sp>
        <p:nvSpPr>
          <p:cNvPr id="412" name="TextBox 412"/>
          <p:cNvSpPr txBox="1"/>
          <p:nvPr/>
        </p:nvSpPr>
        <p:spPr>
          <a:xfrm>
            <a:off x="11019330" y="5783866"/>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84.72</a:t>
            </a:r>
          </a:p>
        </p:txBody>
      </p:sp>
      <p:sp>
        <p:nvSpPr>
          <p:cNvPr id="413" name="Rectangle 413"/>
          <p:cNvSpPr/>
          <p:nvPr/>
        </p:nvSpPr>
        <p:spPr>
          <a:xfrm>
            <a:off x="685800" y="5855970"/>
            <a:ext cx="10820400" cy="99536"/>
          </a:xfrm>
          <a:prstGeom prst="rect">
            <a:avLst/>
          </a:prstGeom>
          <a:solidFill>
            <a:srgbClr val="F8FAFC"/>
          </a:solidFill>
          <a:ln>
            <a:noFill/>
          </a:ln>
        </p:spPr>
      </p:sp>
      <p:sp>
        <p:nvSpPr>
          <p:cNvPr id="414" name="TextBox 414"/>
          <p:cNvSpPr txBox="1"/>
          <p:nvPr/>
        </p:nvSpPr>
        <p:spPr>
          <a:xfrm>
            <a:off x="791737" y="5883402"/>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45</a:t>
            </a:r>
          </a:p>
        </p:txBody>
      </p:sp>
      <p:sp>
        <p:nvSpPr>
          <p:cNvPr id="415" name="TextBox 415"/>
          <p:cNvSpPr txBox="1"/>
          <p:nvPr/>
        </p:nvSpPr>
        <p:spPr>
          <a:xfrm>
            <a:off x="1279017" y="5883402"/>
            <a:ext cx="589788"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宪法学与行政法学</a:t>
            </a:r>
          </a:p>
        </p:txBody>
      </p:sp>
      <p:sp>
        <p:nvSpPr>
          <p:cNvPr id="416" name="TextBox 416"/>
          <p:cNvSpPr txBox="1"/>
          <p:nvPr/>
        </p:nvSpPr>
        <p:spPr>
          <a:xfrm>
            <a:off x="1945958" y="5885021"/>
            <a:ext cx="720423"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论行政行为“明显不当”</a:t>
            </a:r>
          </a:p>
        </p:txBody>
      </p:sp>
      <p:sp>
        <p:nvSpPr>
          <p:cNvPr id="417" name="TextBox 417"/>
          <p:cNvSpPr txBox="1"/>
          <p:nvPr/>
        </p:nvSpPr>
        <p:spPr>
          <a:xfrm>
            <a:off x="5708142" y="5883402"/>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418" name="TextBox 418"/>
          <p:cNvSpPr txBox="1"/>
          <p:nvPr/>
        </p:nvSpPr>
        <p:spPr>
          <a:xfrm>
            <a:off x="6533283" y="5883402"/>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2016</a:t>
            </a:r>
          </a:p>
        </p:txBody>
      </p:sp>
      <p:sp>
        <p:nvSpPr>
          <p:cNvPr id="419" name="TextBox 419"/>
          <p:cNvSpPr txBox="1"/>
          <p:nvPr/>
        </p:nvSpPr>
        <p:spPr>
          <a:xfrm>
            <a:off x="7136892" y="5883402"/>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何海波</a:t>
            </a:r>
          </a:p>
        </p:txBody>
      </p:sp>
      <p:sp>
        <p:nvSpPr>
          <p:cNvPr id="420" name="TextBox 420"/>
          <p:cNvSpPr txBox="1"/>
          <p:nvPr/>
        </p:nvSpPr>
        <p:spPr>
          <a:xfrm>
            <a:off x="7880032" y="5885021"/>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清华大学法学院</a:t>
            </a:r>
          </a:p>
        </p:txBody>
      </p:sp>
      <p:sp>
        <p:nvSpPr>
          <p:cNvPr id="421" name="TextBox 421"/>
          <p:cNvSpPr txBox="1"/>
          <p:nvPr/>
        </p:nvSpPr>
        <p:spPr>
          <a:xfrm>
            <a:off x="11019330" y="5883402"/>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84.47</a:t>
            </a:r>
          </a:p>
        </p:txBody>
      </p:sp>
      <p:sp>
        <p:nvSpPr>
          <p:cNvPr id="422" name="Rectangle 422"/>
          <p:cNvSpPr/>
          <p:nvPr/>
        </p:nvSpPr>
        <p:spPr>
          <a:xfrm>
            <a:off x="685800" y="5955506"/>
            <a:ext cx="10820400" cy="99536"/>
          </a:xfrm>
          <a:prstGeom prst="rect">
            <a:avLst/>
          </a:prstGeom>
          <a:solidFill>
            <a:srgbClr val="FFFFFF"/>
          </a:solidFill>
          <a:ln>
            <a:noFill/>
          </a:ln>
        </p:spPr>
      </p:sp>
      <p:sp>
        <p:nvSpPr>
          <p:cNvPr id="423" name="TextBox 423"/>
          <p:cNvSpPr txBox="1"/>
          <p:nvPr/>
        </p:nvSpPr>
        <p:spPr>
          <a:xfrm>
            <a:off x="791737" y="5982938"/>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46</a:t>
            </a:r>
          </a:p>
        </p:txBody>
      </p:sp>
      <p:sp>
        <p:nvSpPr>
          <p:cNvPr id="424" name="TextBox 424"/>
          <p:cNvSpPr txBox="1"/>
          <p:nvPr/>
        </p:nvSpPr>
        <p:spPr>
          <a:xfrm>
            <a:off x="1279017" y="5982938"/>
            <a:ext cx="589788"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宪法学与行政法学</a:t>
            </a:r>
          </a:p>
        </p:txBody>
      </p:sp>
      <p:sp>
        <p:nvSpPr>
          <p:cNvPr id="425" name="TextBox 425"/>
          <p:cNvSpPr txBox="1"/>
          <p:nvPr/>
        </p:nvSpPr>
        <p:spPr>
          <a:xfrm>
            <a:off x="1945958" y="5984558"/>
            <a:ext cx="120348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基本权利的功能体系与行政法治的进路</a:t>
            </a:r>
          </a:p>
        </p:txBody>
      </p:sp>
      <p:sp>
        <p:nvSpPr>
          <p:cNvPr id="426" name="TextBox 426"/>
          <p:cNvSpPr txBox="1"/>
          <p:nvPr/>
        </p:nvSpPr>
        <p:spPr>
          <a:xfrm>
            <a:off x="5708142" y="5982938"/>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427" name="TextBox 427"/>
          <p:cNvSpPr txBox="1"/>
          <p:nvPr/>
        </p:nvSpPr>
        <p:spPr>
          <a:xfrm>
            <a:off x="6533283" y="5982938"/>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2015</a:t>
            </a:r>
          </a:p>
        </p:txBody>
      </p:sp>
      <p:sp>
        <p:nvSpPr>
          <p:cNvPr id="428" name="TextBox 428"/>
          <p:cNvSpPr txBox="1"/>
          <p:nvPr/>
        </p:nvSpPr>
        <p:spPr>
          <a:xfrm>
            <a:off x="7136892" y="5982938"/>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郑春燕</a:t>
            </a:r>
          </a:p>
        </p:txBody>
      </p:sp>
      <p:sp>
        <p:nvSpPr>
          <p:cNvPr id="429" name="TextBox 429"/>
          <p:cNvSpPr txBox="1"/>
          <p:nvPr/>
        </p:nvSpPr>
        <p:spPr>
          <a:xfrm>
            <a:off x="7880032" y="5984558"/>
            <a:ext cx="64341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浙江大学光华法学院</a:t>
            </a:r>
          </a:p>
        </p:txBody>
      </p:sp>
      <p:sp>
        <p:nvSpPr>
          <p:cNvPr id="430" name="TextBox 430"/>
          <p:cNvSpPr txBox="1"/>
          <p:nvPr/>
        </p:nvSpPr>
        <p:spPr>
          <a:xfrm>
            <a:off x="11019330" y="5982938"/>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84.25</a:t>
            </a:r>
          </a:p>
        </p:txBody>
      </p:sp>
      <p:sp>
        <p:nvSpPr>
          <p:cNvPr id="431" name="Rectangle 431"/>
          <p:cNvSpPr/>
          <p:nvPr/>
        </p:nvSpPr>
        <p:spPr>
          <a:xfrm>
            <a:off x="685800" y="6055042"/>
            <a:ext cx="10820400" cy="99536"/>
          </a:xfrm>
          <a:prstGeom prst="rect">
            <a:avLst/>
          </a:prstGeom>
          <a:solidFill>
            <a:srgbClr val="F8FAFC"/>
          </a:solidFill>
          <a:ln>
            <a:noFill/>
          </a:ln>
        </p:spPr>
      </p:sp>
      <p:sp>
        <p:nvSpPr>
          <p:cNvPr id="432" name="TextBox 432"/>
          <p:cNvSpPr txBox="1"/>
          <p:nvPr/>
        </p:nvSpPr>
        <p:spPr>
          <a:xfrm>
            <a:off x="791737" y="6082474"/>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47</a:t>
            </a:r>
          </a:p>
        </p:txBody>
      </p:sp>
      <p:sp>
        <p:nvSpPr>
          <p:cNvPr id="433" name="TextBox 433"/>
          <p:cNvSpPr txBox="1"/>
          <p:nvPr/>
        </p:nvSpPr>
        <p:spPr>
          <a:xfrm>
            <a:off x="1279017" y="6082474"/>
            <a:ext cx="301752"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国际法学</a:t>
            </a:r>
          </a:p>
        </p:txBody>
      </p:sp>
      <p:sp>
        <p:nvSpPr>
          <p:cNvPr id="434" name="TextBox 434"/>
          <p:cNvSpPr txBox="1"/>
          <p:nvPr/>
        </p:nvSpPr>
        <p:spPr>
          <a:xfrm>
            <a:off x="1945958" y="6084094"/>
            <a:ext cx="1343501"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现代监护理念下监护与行为能力关系的重构</a:t>
            </a:r>
          </a:p>
        </p:txBody>
      </p:sp>
      <p:sp>
        <p:nvSpPr>
          <p:cNvPr id="435" name="TextBox 435"/>
          <p:cNvSpPr txBox="1"/>
          <p:nvPr/>
        </p:nvSpPr>
        <p:spPr>
          <a:xfrm>
            <a:off x="5708142" y="6082474"/>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436" name="TextBox 436"/>
          <p:cNvSpPr txBox="1"/>
          <p:nvPr/>
        </p:nvSpPr>
        <p:spPr>
          <a:xfrm>
            <a:off x="6533283" y="6082474"/>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2019</a:t>
            </a:r>
          </a:p>
        </p:txBody>
      </p:sp>
      <p:sp>
        <p:nvSpPr>
          <p:cNvPr id="437" name="TextBox 437"/>
          <p:cNvSpPr txBox="1"/>
          <p:nvPr/>
        </p:nvSpPr>
        <p:spPr>
          <a:xfrm>
            <a:off x="7136892" y="6082474"/>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彭诚信</a:t>
            </a:r>
          </a:p>
        </p:txBody>
      </p:sp>
      <p:sp>
        <p:nvSpPr>
          <p:cNvPr id="438" name="TextBox 438"/>
          <p:cNvSpPr txBox="1"/>
          <p:nvPr/>
        </p:nvSpPr>
        <p:spPr>
          <a:xfrm>
            <a:off x="7880032" y="6084094"/>
            <a:ext cx="783431"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上海交通大学凯原法学院</a:t>
            </a:r>
          </a:p>
        </p:txBody>
      </p:sp>
      <p:sp>
        <p:nvSpPr>
          <p:cNvPr id="439" name="TextBox 439"/>
          <p:cNvSpPr txBox="1"/>
          <p:nvPr/>
        </p:nvSpPr>
        <p:spPr>
          <a:xfrm>
            <a:off x="11028331" y="6082474"/>
            <a:ext cx="193739"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84.10</a:t>
            </a:r>
          </a:p>
        </p:txBody>
      </p:sp>
      <p:sp>
        <p:nvSpPr>
          <p:cNvPr id="440" name="Rectangle 440"/>
          <p:cNvSpPr/>
          <p:nvPr/>
        </p:nvSpPr>
        <p:spPr>
          <a:xfrm>
            <a:off x="685800" y="6154579"/>
            <a:ext cx="10820400" cy="99536"/>
          </a:xfrm>
          <a:prstGeom prst="rect">
            <a:avLst/>
          </a:prstGeom>
          <a:solidFill>
            <a:srgbClr val="FFFFFF"/>
          </a:solidFill>
          <a:ln>
            <a:noFill/>
          </a:ln>
        </p:spPr>
      </p:sp>
      <p:sp>
        <p:nvSpPr>
          <p:cNvPr id="441" name="TextBox 441"/>
          <p:cNvSpPr txBox="1"/>
          <p:nvPr/>
        </p:nvSpPr>
        <p:spPr>
          <a:xfrm>
            <a:off x="791737" y="6182011"/>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48</a:t>
            </a:r>
          </a:p>
        </p:txBody>
      </p:sp>
      <p:sp>
        <p:nvSpPr>
          <p:cNvPr id="442" name="TextBox 442"/>
          <p:cNvSpPr txBox="1"/>
          <p:nvPr/>
        </p:nvSpPr>
        <p:spPr>
          <a:xfrm>
            <a:off x="1279017" y="6182011"/>
            <a:ext cx="229743"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法律史</a:t>
            </a:r>
          </a:p>
        </p:txBody>
      </p:sp>
      <p:sp>
        <p:nvSpPr>
          <p:cNvPr id="443" name="TextBox 443"/>
          <p:cNvSpPr txBox="1"/>
          <p:nvPr/>
        </p:nvSpPr>
        <p:spPr>
          <a:xfrm>
            <a:off x="1945958" y="6183630"/>
            <a:ext cx="650415"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“直诉”源流通说辨正</a:t>
            </a:r>
          </a:p>
        </p:txBody>
      </p:sp>
      <p:sp>
        <p:nvSpPr>
          <p:cNvPr id="444" name="TextBox 444"/>
          <p:cNvSpPr txBox="1"/>
          <p:nvPr/>
        </p:nvSpPr>
        <p:spPr>
          <a:xfrm>
            <a:off x="5708142" y="6182011"/>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445" name="TextBox 445"/>
          <p:cNvSpPr txBox="1"/>
          <p:nvPr/>
        </p:nvSpPr>
        <p:spPr>
          <a:xfrm>
            <a:off x="6533283" y="6182011"/>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2015</a:t>
            </a:r>
          </a:p>
        </p:txBody>
      </p:sp>
      <p:sp>
        <p:nvSpPr>
          <p:cNvPr id="446" name="TextBox 446"/>
          <p:cNvSpPr txBox="1"/>
          <p:nvPr/>
        </p:nvSpPr>
        <p:spPr>
          <a:xfrm>
            <a:off x="7136892" y="6182011"/>
            <a:ext cx="157734"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王捷</a:t>
            </a:r>
          </a:p>
        </p:txBody>
      </p:sp>
      <p:sp>
        <p:nvSpPr>
          <p:cNvPr id="447" name="TextBox 447"/>
          <p:cNvSpPr txBox="1"/>
          <p:nvPr/>
        </p:nvSpPr>
        <p:spPr>
          <a:xfrm>
            <a:off x="7880032" y="6183630"/>
            <a:ext cx="106346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华东政法大学法律古籍整理研究所</a:t>
            </a:r>
          </a:p>
        </p:txBody>
      </p:sp>
      <p:sp>
        <p:nvSpPr>
          <p:cNvPr id="448" name="TextBox 448"/>
          <p:cNvSpPr txBox="1"/>
          <p:nvPr/>
        </p:nvSpPr>
        <p:spPr>
          <a:xfrm>
            <a:off x="11019330" y="6182011"/>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84.05</a:t>
            </a:r>
          </a:p>
        </p:txBody>
      </p:sp>
      <p:sp>
        <p:nvSpPr>
          <p:cNvPr id="449" name="Rectangle 449"/>
          <p:cNvSpPr/>
          <p:nvPr/>
        </p:nvSpPr>
        <p:spPr>
          <a:xfrm>
            <a:off x="685800" y="6254115"/>
            <a:ext cx="10820400" cy="99536"/>
          </a:xfrm>
          <a:prstGeom prst="rect">
            <a:avLst/>
          </a:prstGeom>
          <a:solidFill>
            <a:srgbClr val="F8FAFC"/>
          </a:solidFill>
          <a:ln>
            <a:noFill/>
          </a:ln>
        </p:spPr>
      </p:sp>
      <p:sp>
        <p:nvSpPr>
          <p:cNvPr id="450" name="TextBox 450"/>
          <p:cNvSpPr txBox="1"/>
          <p:nvPr/>
        </p:nvSpPr>
        <p:spPr>
          <a:xfrm>
            <a:off x="791737" y="6281547"/>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49</a:t>
            </a:r>
          </a:p>
        </p:txBody>
      </p:sp>
      <p:sp>
        <p:nvSpPr>
          <p:cNvPr id="451" name="TextBox 451"/>
          <p:cNvSpPr txBox="1"/>
          <p:nvPr/>
        </p:nvSpPr>
        <p:spPr>
          <a:xfrm>
            <a:off x="1279017" y="6281547"/>
            <a:ext cx="229743"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法律史</a:t>
            </a:r>
          </a:p>
        </p:txBody>
      </p:sp>
      <p:sp>
        <p:nvSpPr>
          <p:cNvPr id="452" name="TextBox 452"/>
          <p:cNvSpPr txBox="1"/>
          <p:nvPr/>
        </p:nvSpPr>
        <p:spPr>
          <a:xfrm>
            <a:off x="1945958" y="6283166"/>
            <a:ext cx="1840563"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论清代刑案诸证一致的证据标准——以同治四年郑庆年案为例</a:t>
            </a:r>
          </a:p>
        </p:txBody>
      </p:sp>
      <p:sp>
        <p:nvSpPr>
          <p:cNvPr id="453" name="TextBox 453"/>
          <p:cNvSpPr txBox="1"/>
          <p:nvPr/>
        </p:nvSpPr>
        <p:spPr>
          <a:xfrm>
            <a:off x="5708142" y="6281547"/>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法学研究</a:t>
            </a:r>
          </a:p>
        </p:txBody>
      </p:sp>
      <p:sp>
        <p:nvSpPr>
          <p:cNvPr id="454" name="TextBox 454"/>
          <p:cNvSpPr txBox="1"/>
          <p:nvPr/>
        </p:nvSpPr>
        <p:spPr>
          <a:xfrm>
            <a:off x="6533283" y="6281547"/>
            <a:ext cx="154134"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2019</a:t>
            </a:r>
          </a:p>
        </p:txBody>
      </p:sp>
      <p:sp>
        <p:nvSpPr>
          <p:cNvPr id="455" name="TextBox 455"/>
          <p:cNvSpPr txBox="1"/>
          <p:nvPr/>
        </p:nvSpPr>
        <p:spPr>
          <a:xfrm>
            <a:off x="7136892" y="6281547"/>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王志强</a:t>
            </a:r>
          </a:p>
        </p:txBody>
      </p:sp>
      <p:sp>
        <p:nvSpPr>
          <p:cNvPr id="456" name="TextBox 456"/>
          <p:cNvSpPr txBox="1"/>
          <p:nvPr/>
        </p:nvSpPr>
        <p:spPr>
          <a:xfrm>
            <a:off x="7880032" y="6283166"/>
            <a:ext cx="503396"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复旦大学法学院</a:t>
            </a:r>
          </a:p>
        </p:txBody>
      </p:sp>
      <p:sp>
        <p:nvSpPr>
          <p:cNvPr id="457" name="TextBox 457"/>
          <p:cNvSpPr txBox="1"/>
          <p:nvPr/>
        </p:nvSpPr>
        <p:spPr>
          <a:xfrm>
            <a:off x="11019330" y="6281547"/>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83.03</a:t>
            </a:r>
          </a:p>
        </p:txBody>
      </p:sp>
      <p:sp>
        <p:nvSpPr>
          <p:cNvPr id="458" name="Rectangle 458"/>
          <p:cNvSpPr/>
          <p:nvPr/>
        </p:nvSpPr>
        <p:spPr>
          <a:xfrm>
            <a:off x="685800" y="6353651"/>
            <a:ext cx="10820400" cy="99536"/>
          </a:xfrm>
          <a:prstGeom prst="rect">
            <a:avLst/>
          </a:prstGeom>
          <a:solidFill>
            <a:srgbClr val="FFFFFF"/>
          </a:solidFill>
          <a:ln>
            <a:noFill/>
          </a:ln>
        </p:spPr>
      </p:sp>
      <p:sp>
        <p:nvSpPr>
          <p:cNvPr id="459" name="TextBox 459"/>
          <p:cNvSpPr txBox="1"/>
          <p:nvPr/>
        </p:nvSpPr>
        <p:spPr>
          <a:xfrm>
            <a:off x="791737" y="6381083"/>
            <a:ext cx="9292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50</a:t>
            </a:r>
          </a:p>
        </p:txBody>
      </p:sp>
      <p:sp>
        <p:nvSpPr>
          <p:cNvPr id="460" name="TextBox 460"/>
          <p:cNvSpPr txBox="1"/>
          <p:nvPr/>
        </p:nvSpPr>
        <p:spPr>
          <a:xfrm>
            <a:off x="1279017" y="6381083"/>
            <a:ext cx="373761" cy="109728"/>
          </a:xfrm>
          <a:prstGeom prst="rect">
            <a:avLst/>
          </a:prstGeom>
          <a:noFill/>
          <a:ln>
            <a:noFill/>
          </a:ln>
        </p:spPr>
        <p:txBody>
          <a:bodyPr wrap="none" lIns="0" tIns="0" rIns="0" bIns="0" anchor="t" anchorCtr="0">
            <a:spAutoFit/>
          </a:bodyPr>
          <a:lstStyle/>
          <a:p>
            <a:pPr algn="l"/>
            <a:r>
              <a:rPr lang="zh-CN" sz="540" dirty="0">
                <a:solidFill>
                  <a:srgbClr val="1F4D78"/>
                </a:solidFill>
                <a:latin typeface="Arial"/>
                <a:ea typeface="Microsoft YaHei"/>
                <a:cs typeface="Arial"/>
              </a:rPr>
              <a:t>党内法规学</a:t>
            </a:r>
          </a:p>
        </p:txBody>
      </p:sp>
      <p:sp>
        <p:nvSpPr>
          <p:cNvPr id="461" name="TextBox 461"/>
          <p:cNvSpPr txBox="1"/>
          <p:nvPr/>
        </p:nvSpPr>
        <p:spPr>
          <a:xfrm>
            <a:off x="1945958" y="6382702"/>
            <a:ext cx="643414"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党内法规的概念分析</a:t>
            </a:r>
          </a:p>
        </p:txBody>
      </p:sp>
      <p:sp>
        <p:nvSpPr>
          <p:cNvPr id="462" name="TextBox 462"/>
          <p:cNvSpPr txBox="1"/>
          <p:nvPr/>
        </p:nvSpPr>
        <p:spPr>
          <a:xfrm>
            <a:off x="5708142" y="6381083"/>
            <a:ext cx="301752"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中国法学</a:t>
            </a:r>
          </a:p>
        </p:txBody>
      </p:sp>
      <p:sp>
        <p:nvSpPr>
          <p:cNvPr id="463" name="TextBox 463"/>
          <p:cNvSpPr txBox="1"/>
          <p:nvPr/>
        </p:nvSpPr>
        <p:spPr>
          <a:xfrm>
            <a:off x="6524282" y="6381083"/>
            <a:ext cx="172136"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2024</a:t>
            </a:r>
          </a:p>
        </p:txBody>
      </p:sp>
      <p:sp>
        <p:nvSpPr>
          <p:cNvPr id="464" name="TextBox 464"/>
          <p:cNvSpPr txBox="1"/>
          <p:nvPr/>
        </p:nvSpPr>
        <p:spPr>
          <a:xfrm>
            <a:off x="7136892" y="6381083"/>
            <a:ext cx="229743" cy="109728"/>
          </a:xfrm>
          <a:prstGeom prst="rect">
            <a:avLst/>
          </a:prstGeom>
          <a:noFill/>
          <a:ln>
            <a:noFill/>
          </a:ln>
        </p:spPr>
        <p:txBody>
          <a:bodyPr wrap="none" lIns="0" tIns="0" rIns="0" bIns="0" anchor="t" anchorCtr="0">
            <a:spAutoFit/>
          </a:bodyPr>
          <a:lstStyle/>
          <a:p>
            <a:pPr algn="l"/>
            <a:r>
              <a:rPr lang="zh-CN" sz="540" dirty="0">
                <a:solidFill>
                  <a:srgbClr val="1B1C21"/>
                </a:solidFill>
                <a:latin typeface="Arial"/>
                <a:ea typeface="Microsoft YaHei"/>
                <a:cs typeface="Arial"/>
              </a:rPr>
              <a:t>朱林方</a:t>
            </a:r>
          </a:p>
        </p:txBody>
      </p:sp>
      <p:sp>
        <p:nvSpPr>
          <p:cNvPr id="465" name="TextBox 465"/>
          <p:cNvSpPr txBox="1"/>
          <p:nvPr/>
        </p:nvSpPr>
        <p:spPr>
          <a:xfrm>
            <a:off x="7880032" y="6382702"/>
            <a:ext cx="783431" cy="106680"/>
          </a:xfrm>
          <a:prstGeom prst="rect">
            <a:avLst/>
          </a:prstGeom>
          <a:noFill/>
          <a:ln>
            <a:noFill/>
          </a:ln>
        </p:spPr>
        <p:txBody>
          <a:bodyPr wrap="none" lIns="0" tIns="0" rIns="0" bIns="0" anchor="t" anchorCtr="0">
            <a:spAutoFit/>
          </a:bodyPr>
          <a:lstStyle/>
          <a:p>
            <a:pPr algn="l"/>
            <a:r>
              <a:rPr lang="zh-CN" sz="525" dirty="0">
                <a:solidFill>
                  <a:srgbClr val="1B1C21"/>
                </a:solidFill>
                <a:latin typeface="Arial"/>
                <a:ea typeface="Microsoft YaHei"/>
                <a:cs typeface="Arial"/>
              </a:rPr>
              <a:t>西南政法大学行政法学院</a:t>
            </a:r>
          </a:p>
        </p:txBody>
      </p:sp>
      <p:sp>
        <p:nvSpPr>
          <p:cNvPr id="466" name="TextBox 466"/>
          <p:cNvSpPr txBox="1"/>
          <p:nvPr/>
        </p:nvSpPr>
        <p:spPr>
          <a:xfrm>
            <a:off x="11019330" y="6381083"/>
            <a:ext cx="211741" cy="109728"/>
          </a:xfrm>
          <a:prstGeom prst="rect">
            <a:avLst/>
          </a:prstGeom>
          <a:noFill/>
          <a:ln>
            <a:noFill/>
          </a:ln>
        </p:spPr>
        <p:txBody>
          <a:bodyPr wrap="none" lIns="0" tIns="0" rIns="0" bIns="0" anchor="t" anchorCtr="0">
            <a:spAutoFit/>
          </a:bodyPr>
          <a:lstStyle/>
          <a:p>
            <a:pPr algn="ctr"/>
            <a:r>
              <a:rPr lang="zh-CN" sz="540" dirty="0">
                <a:solidFill>
                  <a:srgbClr val="1B1C21"/>
                </a:solidFill>
                <a:latin typeface="Arial"/>
                <a:ea typeface="Microsoft YaHei"/>
                <a:cs typeface="Arial"/>
              </a:rPr>
              <a:t>82.60</a:t>
            </a:r>
          </a:p>
        </p:txBody>
      </p:sp>
      <p:sp>
        <p:nvSpPr>
          <p:cNvPr id="467" name="Rectangle 467"/>
          <p:cNvSpPr/>
          <p:nvPr/>
        </p:nvSpPr>
        <p:spPr>
          <a:xfrm>
            <a:off x="685800" y="6572250"/>
            <a:ext cx="10820400" cy="171450"/>
          </a:xfrm>
          <a:prstGeom prst="rect">
            <a:avLst/>
          </a:prstGeom>
          <a:solidFill>
            <a:srgbClr val="FFFFFF"/>
          </a:solidFill>
          <a:ln>
            <a:noFill/>
          </a:ln>
        </p:spPr>
      </p:sp>
      <p:sp>
        <p:nvSpPr>
          <p:cNvPr id="468" name="TextBox 468"/>
          <p:cNvSpPr txBox="1"/>
          <p:nvPr/>
        </p:nvSpPr>
        <p:spPr>
          <a:xfrm>
            <a:off x="902018" y="6314599"/>
            <a:ext cx="7130153"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数据源：results/top101/top50-position-first-proportional.json；最低分 82.60，第 50 名《党内法规的概念分析》。</a:t>
            </a:r>
          </a:p>
        </p:txBody>
      </p:sp>
      <p:grpSp>
        <p:nvGrpSpPr>
          <p:cNvPr id="472" name="Group 472"/>
          <p:cNvGrpSpPr/>
          <p:nvPr/>
        </p:nvGrpSpPr>
        <p:grpSpPr>
          <a:xfrm>
            <a:off x="0" y="6516343"/>
            <a:ext cx="12192000" cy="341657"/>
            <a:chOff x="0" y="6516343"/>
            <a:chExt cx="12192000" cy="341657"/>
          </a:xfrm>
        </p:grpSpPr>
        <p:sp>
          <p:nvSpPr>
            <p:cNvPr id="469" name="Rectangle 469"/>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470" name="TextBox 470"/>
            <p:cNvSpPr txBox="1"/>
            <p:nvPr/>
          </p:nvSpPr>
          <p:spPr>
            <a:xfrm>
              <a:off x="668017" y="6516343"/>
              <a:ext cx="1912136"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附录：Top50 基本信息</a:t>
              </a:r>
            </a:p>
          </p:txBody>
        </p:sp>
        <p:sp>
          <p:nvSpPr>
            <p:cNvPr id="471" name="TextBox 471"/>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44</a:t>
              </a:r>
            </a:p>
          </p:txBody>
        </p:sp>
      </p:gr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685800" y="288317"/>
            <a:ext cx="10820400" cy="568909"/>
            <a:chOff x="685800" y="288317"/>
            <a:chExt cx="10820400" cy="568909"/>
          </a:xfrm>
        </p:grpSpPr>
        <p:pic>
          <p:nvPicPr>
            <p:cNvPr id="3" name="Image 3"/>
            <p:cNvPicPr>
              <a:picLocks noChangeAspect="1"/>
            </p:cNvPicPr>
            <p:nvPr/>
          </p:nvPicPr>
          <p:blipFill>
            <a:blip r:embed="rId2"/>
            <a:stretch>
              <a:fillRect/>
            </a:stretch>
          </p:blipFill>
          <p:spPr>
            <a:xfrm>
              <a:off x="685800" y="381000"/>
              <a:ext cx="381000" cy="381000"/>
            </a:xfrm>
            <a:prstGeom prst="rect">
              <a:avLst/>
            </a:prstGeom>
          </p:spPr>
        </p:pic>
        <p:sp>
          <p:nvSpPr>
            <p:cNvPr id="4" name="Rectangle 4"/>
            <p:cNvSpPr/>
            <p:nvPr/>
          </p:nvSpPr>
          <p:spPr>
            <a:xfrm>
              <a:off x="1219200" y="381000"/>
              <a:ext cx="57150" cy="400050"/>
            </a:xfrm>
            <a:prstGeom prst="roundRect">
              <a:avLst>
                <a:gd name="adj" fmla="val 33333"/>
              </a:avLst>
            </a:prstGeom>
            <a:solidFill>
              <a:srgbClr val="C8161E"/>
            </a:solidFill>
            <a:ln>
              <a:noFill/>
            </a:ln>
          </p:spPr>
        </p:sp>
        <p:sp>
          <p:nvSpPr>
            <p:cNvPr id="5" name="TextBox 5"/>
            <p:cNvSpPr txBox="1"/>
            <p:nvPr/>
          </p:nvSpPr>
          <p:spPr>
            <a:xfrm>
              <a:off x="1374143" y="288317"/>
              <a:ext cx="7323373" cy="568909"/>
            </a:xfrm>
            <a:prstGeom prst="rect">
              <a:avLst/>
            </a:prstGeom>
            <a:noFill/>
            <a:ln>
              <a:noFill/>
            </a:ln>
          </p:spPr>
          <p:txBody>
            <a:bodyPr wrap="none" lIns="0" tIns="0" rIns="0" bIns="0" anchor="t" anchorCtr="0">
              <a:spAutoFit/>
            </a:bodyPr>
            <a:lstStyle/>
            <a:p>
              <a:pPr algn="l"/>
              <a:r>
                <a:rPr lang="zh-CN" sz="2800" b="1" dirty="0">
                  <a:solidFill>
                    <a:srgbClr val="1B1C21"/>
                  </a:solidFill>
                  <a:latin typeface="Arial"/>
                  <a:ea typeface="Microsoft YaHei"/>
                  <a:cs typeface="Arial"/>
                </a:rPr>
                <a:t>附录 A11：Top50 评分详细表（统一评分）</a:t>
              </a:r>
            </a:p>
          </p:txBody>
        </p:sp>
        <p:pic>
          <p:nvPicPr>
            <p:cNvPr id="6" name="Image 6"/>
            <p:cNvPicPr>
              <a:picLocks noChangeAspect="1"/>
            </p:cNvPicPr>
            <p:nvPr/>
          </p:nvPicPr>
          <p:blipFill>
            <a:blip r:embed="rId3"/>
            <a:stretch>
              <a:fillRect/>
            </a:stretch>
          </p:blipFill>
          <p:spPr>
            <a:xfrm>
              <a:off x="9805280" y="438150"/>
              <a:ext cx="1700920" cy="342900"/>
            </a:xfrm>
            <a:prstGeom prst="rect">
              <a:avLst/>
            </a:prstGeom>
          </p:spPr>
        </p:pic>
      </p:grpSp>
      <p:sp>
        <p:nvSpPr>
          <p:cNvPr id="8" name="TextBox 8"/>
          <p:cNvSpPr txBox="1"/>
          <p:nvPr/>
        </p:nvSpPr>
        <p:spPr>
          <a:xfrm>
            <a:off x="3380065" y="953743"/>
            <a:ext cx="5431871" cy="284531"/>
          </a:xfrm>
          <a:prstGeom prst="rect">
            <a:avLst/>
          </a:prstGeom>
          <a:noFill/>
          <a:ln>
            <a:noFill/>
          </a:ln>
        </p:spPr>
        <p:txBody>
          <a:bodyPr wrap="none" lIns="0" tIns="0" rIns="0" bIns="0" anchor="t" anchorCtr="0">
            <a:spAutoFit/>
          </a:bodyPr>
          <a:lstStyle/>
          <a:p>
            <a:pPr algn="ctr"/>
            <a:r>
              <a:rPr lang="zh-CN" sz="1400" dirty="0">
                <a:solidFill>
                  <a:srgbClr val="5A6472"/>
                </a:solidFill>
                <a:latin typeface="Arial"/>
                <a:ea typeface="Microsoft YaHei"/>
                <a:cs typeface="Arial"/>
              </a:rPr>
              <a:t>格式：均分±std；红色表示该项标准差 &gt; 5，需保留专家复核线索</a:t>
            </a:r>
          </a:p>
        </p:txBody>
      </p:sp>
      <p:sp>
        <p:nvSpPr>
          <p:cNvPr id="9" name="Rectangle 9"/>
          <p:cNvSpPr/>
          <p:nvPr/>
        </p:nvSpPr>
        <p:spPr>
          <a:xfrm>
            <a:off x="685800" y="1200150"/>
            <a:ext cx="10820400" cy="247650"/>
          </a:xfrm>
          <a:prstGeom prst="rect">
            <a:avLst/>
          </a:prstGeom>
          <a:solidFill>
            <a:srgbClr val="C8161E"/>
          </a:solidFill>
          <a:ln>
            <a:noFill/>
          </a:ln>
        </p:spPr>
      </p:sp>
      <p:sp>
        <p:nvSpPr>
          <p:cNvPr id="10" name="TextBox 10"/>
          <p:cNvSpPr txBox="1"/>
          <p:nvPr/>
        </p:nvSpPr>
        <p:spPr>
          <a:xfrm>
            <a:off x="784587" y="1298734"/>
            <a:ext cx="69126"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a:t>
            </a:r>
          </a:p>
        </p:txBody>
      </p:sp>
      <p:sp>
        <p:nvSpPr>
          <p:cNvPr id="11" name="TextBox 11"/>
          <p:cNvSpPr txBox="1"/>
          <p:nvPr/>
        </p:nvSpPr>
        <p:spPr>
          <a:xfrm>
            <a:off x="1420178" y="1298734"/>
            <a:ext cx="206169" cy="137160"/>
          </a:xfrm>
          <a:prstGeom prst="rect">
            <a:avLst/>
          </a:prstGeom>
          <a:noFill/>
          <a:ln>
            <a:noFill/>
          </a:ln>
        </p:spPr>
        <p:txBody>
          <a:bodyPr wrap="none" lIns="0" tIns="0" rIns="0" bIns="0" anchor="t" anchorCtr="0">
            <a:spAutoFit/>
          </a:bodyPr>
          <a:lstStyle/>
          <a:p>
            <a:pPr algn="l"/>
            <a:r>
              <a:rPr lang="zh-CN" sz="675" b="1" dirty="0">
                <a:solidFill>
                  <a:srgbClr val="FFFFFF"/>
                </a:solidFill>
                <a:latin typeface="Arial"/>
                <a:ea typeface="Microsoft YaHei"/>
                <a:cs typeface="Arial"/>
              </a:rPr>
              <a:t>论文</a:t>
            </a:r>
          </a:p>
        </p:txBody>
      </p:sp>
      <p:sp>
        <p:nvSpPr>
          <p:cNvPr id="12" name="TextBox 12"/>
          <p:cNvSpPr txBox="1"/>
          <p:nvPr/>
        </p:nvSpPr>
        <p:spPr>
          <a:xfrm>
            <a:off x="4412578" y="1298734"/>
            <a:ext cx="414095"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总分±std</a:t>
            </a:r>
          </a:p>
        </p:txBody>
      </p:sp>
      <p:sp>
        <p:nvSpPr>
          <p:cNvPr id="13" name="TextBox 13"/>
          <p:cNvSpPr txBox="1"/>
          <p:nvPr/>
        </p:nvSpPr>
        <p:spPr>
          <a:xfrm>
            <a:off x="5659910" y="1298734"/>
            <a:ext cx="300680"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创新性</a:t>
            </a:r>
          </a:p>
        </p:txBody>
      </p:sp>
      <p:sp>
        <p:nvSpPr>
          <p:cNvPr id="14" name="TextBox 14"/>
          <p:cNvSpPr txBox="1"/>
          <p:nvPr/>
        </p:nvSpPr>
        <p:spPr>
          <a:xfrm>
            <a:off x="6517160" y="1298734"/>
            <a:ext cx="300680"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洞察度</a:t>
            </a:r>
          </a:p>
        </p:txBody>
      </p:sp>
      <p:sp>
        <p:nvSpPr>
          <p:cNvPr id="15" name="TextBox 15"/>
          <p:cNvSpPr txBox="1"/>
          <p:nvPr/>
        </p:nvSpPr>
        <p:spPr>
          <a:xfrm>
            <a:off x="7374410" y="1298734"/>
            <a:ext cx="300680"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建构力</a:t>
            </a:r>
          </a:p>
        </p:txBody>
      </p:sp>
      <p:sp>
        <p:nvSpPr>
          <p:cNvPr id="16" name="TextBox 16"/>
          <p:cNvSpPr txBox="1"/>
          <p:nvPr/>
        </p:nvSpPr>
        <p:spPr>
          <a:xfrm>
            <a:off x="8231660" y="1298734"/>
            <a:ext cx="300680"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连贯性</a:t>
            </a:r>
          </a:p>
        </p:txBody>
      </p:sp>
      <p:sp>
        <p:nvSpPr>
          <p:cNvPr id="17" name="TextBox 17"/>
          <p:cNvSpPr txBox="1"/>
          <p:nvPr/>
        </p:nvSpPr>
        <p:spPr>
          <a:xfrm>
            <a:off x="9088910" y="1298734"/>
            <a:ext cx="300680"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共识度</a:t>
            </a:r>
          </a:p>
        </p:txBody>
      </p:sp>
      <p:sp>
        <p:nvSpPr>
          <p:cNvPr id="18" name="TextBox 18"/>
          <p:cNvSpPr txBox="1"/>
          <p:nvPr/>
        </p:nvSpPr>
        <p:spPr>
          <a:xfrm>
            <a:off x="9946160" y="1298734"/>
            <a:ext cx="300680"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延展性</a:t>
            </a:r>
          </a:p>
        </p:txBody>
      </p:sp>
      <p:sp>
        <p:nvSpPr>
          <p:cNvPr id="19" name="TextBox 19"/>
          <p:cNvSpPr txBox="1"/>
          <p:nvPr/>
        </p:nvSpPr>
        <p:spPr>
          <a:xfrm>
            <a:off x="10898291" y="1298734"/>
            <a:ext cx="206169" cy="137160"/>
          </a:xfrm>
          <a:prstGeom prst="rect">
            <a:avLst/>
          </a:prstGeom>
          <a:noFill/>
          <a:ln>
            <a:noFill/>
          </a:ln>
        </p:spPr>
        <p:txBody>
          <a:bodyPr wrap="none" lIns="0" tIns="0" rIns="0" bIns="0" anchor="t" anchorCtr="0">
            <a:spAutoFit/>
          </a:bodyPr>
          <a:lstStyle/>
          <a:p>
            <a:pPr algn="ctr"/>
            <a:r>
              <a:rPr lang="zh-CN" sz="675" b="1" dirty="0">
                <a:solidFill>
                  <a:srgbClr val="FFFFFF"/>
                </a:solidFill>
                <a:latin typeface="Arial"/>
                <a:ea typeface="Microsoft YaHei"/>
                <a:cs typeface="Arial"/>
              </a:rPr>
              <a:t>五轴</a:t>
            </a:r>
          </a:p>
        </p:txBody>
      </p:sp>
      <p:sp>
        <p:nvSpPr>
          <p:cNvPr id="20" name="Rectangle 20"/>
          <p:cNvSpPr/>
          <p:nvPr/>
        </p:nvSpPr>
        <p:spPr>
          <a:xfrm>
            <a:off x="685800" y="1476375"/>
            <a:ext cx="10820400" cy="99536"/>
          </a:xfrm>
          <a:prstGeom prst="rect">
            <a:avLst/>
          </a:prstGeom>
          <a:solidFill>
            <a:srgbClr val="F8FAFC"/>
          </a:solidFill>
          <a:ln>
            <a:noFill/>
          </a:ln>
        </p:spPr>
      </p:sp>
      <p:sp>
        <p:nvSpPr>
          <p:cNvPr id="21" name="TextBox 21"/>
          <p:cNvSpPr txBox="1"/>
          <p:nvPr/>
        </p:nvSpPr>
        <p:spPr>
          <a:xfrm>
            <a:off x="801981" y="1505426"/>
            <a:ext cx="34338"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1</a:t>
            </a:r>
          </a:p>
        </p:txBody>
      </p:sp>
      <p:sp>
        <p:nvSpPr>
          <p:cNvPr id="22" name="TextBox 22"/>
          <p:cNvSpPr txBox="1"/>
          <p:nvPr/>
        </p:nvSpPr>
        <p:spPr>
          <a:xfrm>
            <a:off x="1422368" y="1507855"/>
            <a:ext cx="1426640"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数字私力救济——基于远程控制网联物的权利实现</a:t>
            </a:r>
          </a:p>
        </p:txBody>
      </p:sp>
      <p:sp>
        <p:nvSpPr>
          <p:cNvPr id="23" name="TextBox 23"/>
          <p:cNvSpPr txBox="1"/>
          <p:nvPr/>
        </p:nvSpPr>
        <p:spPr>
          <a:xfrm>
            <a:off x="4451237" y="1505426"/>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89.2±6.5</a:t>
            </a:r>
          </a:p>
        </p:txBody>
      </p:sp>
      <p:sp>
        <p:nvSpPr>
          <p:cNvPr id="24" name="TextBox 24"/>
          <p:cNvSpPr txBox="1"/>
          <p:nvPr/>
        </p:nvSpPr>
        <p:spPr>
          <a:xfrm>
            <a:off x="5659416" y="1509474"/>
            <a:ext cx="301669"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92.0±15.1</a:t>
            </a:r>
          </a:p>
        </p:txBody>
      </p:sp>
      <p:sp>
        <p:nvSpPr>
          <p:cNvPr id="25" name="TextBox 25"/>
          <p:cNvSpPr txBox="1"/>
          <p:nvPr/>
        </p:nvSpPr>
        <p:spPr>
          <a:xfrm>
            <a:off x="6518291" y="150947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90.0±3.2</a:t>
            </a:r>
          </a:p>
        </p:txBody>
      </p:sp>
      <p:sp>
        <p:nvSpPr>
          <p:cNvPr id="26" name="TextBox 26"/>
          <p:cNvSpPr txBox="1"/>
          <p:nvPr/>
        </p:nvSpPr>
        <p:spPr>
          <a:xfrm>
            <a:off x="7375541" y="150947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88.0±3.8</a:t>
            </a:r>
          </a:p>
        </p:txBody>
      </p:sp>
      <p:sp>
        <p:nvSpPr>
          <p:cNvPr id="27" name="TextBox 27"/>
          <p:cNvSpPr txBox="1"/>
          <p:nvPr/>
        </p:nvSpPr>
        <p:spPr>
          <a:xfrm>
            <a:off x="8240917" y="1509474"/>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88.0±1.8</a:t>
            </a:r>
          </a:p>
        </p:txBody>
      </p:sp>
      <p:sp>
        <p:nvSpPr>
          <p:cNvPr id="28" name="TextBox 28"/>
          <p:cNvSpPr txBox="1"/>
          <p:nvPr/>
        </p:nvSpPr>
        <p:spPr>
          <a:xfrm>
            <a:off x="9098167" y="1509474"/>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89.5±1.3</a:t>
            </a:r>
          </a:p>
        </p:txBody>
      </p:sp>
      <p:sp>
        <p:nvSpPr>
          <p:cNvPr id="29" name="TextBox 29"/>
          <p:cNvSpPr txBox="1"/>
          <p:nvPr/>
        </p:nvSpPr>
        <p:spPr>
          <a:xfrm>
            <a:off x="9947291" y="1509474"/>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77.5±6.3</a:t>
            </a:r>
          </a:p>
        </p:txBody>
      </p:sp>
      <p:sp>
        <p:nvSpPr>
          <p:cNvPr id="30" name="TextBox 30"/>
          <p:cNvSpPr txBox="1"/>
          <p:nvPr/>
        </p:nvSpPr>
        <p:spPr>
          <a:xfrm>
            <a:off x="10963466" y="1505426"/>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31" name="Rectangle 31"/>
          <p:cNvSpPr/>
          <p:nvPr/>
        </p:nvSpPr>
        <p:spPr>
          <a:xfrm>
            <a:off x="685800" y="1575911"/>
            <a:ext cx="10820400" cy="99536"/>
          </a:xfrm>
          <a:prstGeom prst="rect">
            <a:avLst/>
          </a:prstGeom>
          <a:solidFill>
            <a:srgbClr val="FFFFFF"/>
          </a:solidFill>
          <a:ln>
            <a:noFill/>
          </a:ln>
        </p:spPr>
      </p:sp>
      <p:sp>
        <p:nvSpPr>
          <p:cNvPr id="32" name="TextBox 32"/>
          <p:cNvSpPr txBox="1"/>
          <p:nvPr/>
        </p:nvSpPr>
        <p:spPr>
          <a:xfrm>
            <a:off x="793230" y="1604962"/>
            <a:ext cx="51840"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2</a:t>
            </a:r>
          </a:p>
        </p:txBody>
      </p:sp>
      <p:sp>
        <p:nvSpPr>
          <p:cNvPr id="33" name="TextBox 33"/>
          <p:cNvSpPr txBox="1"/>
          <p:nvPr/>
        </p:nvSpPr>
        <p:spPr>
          <a:xfrm>
            <a:off x="1422368" y="1607391"/>
            <a:ext cx="121891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公司决议瑕疵立法的范式转换与体系重构</a:t>
            </a:r>
          </a:p>
        </p:txBody>
      </p:sp>
      <p:sp>
        <p:nvSpPr>
          <p:cNvPr id="34" name="TextBox 34"/>
          <p:cNvSpPr txBox="1"/>
          <p:nvPr/>
        </p:nvSpPr>
        <p:spPr>
          <a:xfrm>
            <a:off x="4458938" y="1604962"/>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88.6±2.8</a:t>
            </a:r>
          </a:p>
        </p:txBody>
      </p:sp>
      <p:sp>
        <p:nvSpPr>
          <p:cNvPr id="35" name="TextBox 35"/>
          <p:cNvSpPr txBox="1"/>
          <p:nvPr/>
        </p:nvSpPr>
        <p:spPr>
          <a:xfrm>
            <a:off x="5661041" y="160901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86.5±2.4</a:t>
            </a:r>
          </a:p>
        </p:txBody>
      </p:sp>
      <p:sp>
        <p:nvSpPr>
          <p:cNvPr id="36" name="TextBox 36"/>
          <p:cNvSpPr txBox="1"/>
          <p:nvPr/>
        </p:nvSpPr>
        <p:spPr>
          <a:xfrm>
            <a:off x="6518291" y="160901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92.0±3.6</a:t>
            </a:r>
          </a:p>
        </p:txBody>
      </p:sp>
      <p:sp>
        <p:nvSpPr>
          <p:cNvPr id="37" name="TextBox 37"/>
          <p:cNvSpPr txBox="1"/>
          <p:nvPr/>
        </p:nvSpPr>
        <p:spPr>
          <a:xfrm>
            <a:off x="7375541" y="160901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92.5±2.4</a:t>
            </a:r>
          </a:p>
        </p:txBody>
      </p:sp>
      <p:sp>
        <p:nvSpPr>
          <p:cNvPr id="38" name="TextBox 38"/>
          <p:cNvSpPr txBox="1"/>
          <p:nvPr/>
        </p:nvSpPr>
        <p:spPr>
          <a:xfrm>
            <a:off x="8232791" y="160901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88.0±3.0</a:t>
            </a:r>
          </a:p>
        </p:txBody>
      </p:sp>
      <p:sp>
        <p:nvSpPr>
          <p:cNvPr id="39" name="TextBox 39"/>
          <p:cNvSpPr txBox="1"/>
          <p:nvPr/>
        </p:nvSpPr>
        <p:spPr>
          <a:xfrm>
            <a:off x="9090041" y="160901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89.0±2.8</a:t>
            </a:r>
          </a:p>
        </p:txBody>
      </p:sp>
      <p:sp>
        <p:nvSpPr>
          <p:cNvPr id="40" name="TextBox 40"/>
          <p:cNvSpPr txBox="1"/>
          <p:nvPr/>
        </p:nvSpPr>
        <p:spPr>
          <a:xfrm>
            <a:off x="9955417" y="1609011"/>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78.0±2.1</a:t>
            </a:r>
          </a:p>
        </p:txBody>
      </p:sp>
      <p:sp>
        <p:nvSpPr>
          <p:cNvPr id="41" name="TextBox 41"/>
          <p:cNvSpPr txBox="1"/>
          <p:nvPr/>
        </p:nvSpPr>
        <p:spPr>
          <a:xfrm>
            <a:off x="10963466" y="1604962"/>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42" name="Rectangle 42"/>
          <p:cNvSpPr/>
          <p:nvPr/>
        </p:nvSpPr>
        <p:spPr>
          <a:xfrm>
            <a:off x="685800" y="1675448"/>
            <a:ext cx="10820400" cy="99536"/>
          </a:xfrm>
          <a:prstGeom prst="rect">
            <a:avLst/>
          </a:prstGeom>
          <a:solidFill>
            <a:srgbClr val="F8FAFC"/>
          </a:solidFill>
          <a:ln>
            <a:noFill/>
          </a:ln>
        </p:spPr>
      </p:sp>
      <p:sp>
        <p:nvSpPr>
          <p:cNvPr id="43" name="TextBox 43"/>
          <p:cNvSpPr txBox="1"/>
          <p:nvPr/>
        </p:nvSpPr>
        <p:spPr>
          <a:xfrm>
            <a:off x="793230" y="1704499"/>
            <a:ext cx="51840"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3</a:t>
            </a:r>
          </a:p>
        </p:txBody>
      </p:sp>
      <p:sp>
        <p:nvSpPr>
          <p:cNvPr id="44" name="TextBox 44"/>
          <p:cNvSpPr txBox="1"/>
          <p:nvPr/>
        </p:nvSpPr>
        <p:spPr>
          <a:xfrm>
            <a:off x="1422368" y="1706928"/>
            <a:ext cx="1761682"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股权转让中的出资义务承担——以组织法与行为法融贯为视角</a:t>
            </a:r>
          </a:p>
        </p:txBody>
      </p:sp>
      <p:sp>
        <p:nvSpPr>
          <p:cNvPr id="45" name="TextBox 45"/>
          <p:cNvSpPr txBox="1"/>
          <p:nvPr/>
        </p:nvSpPr>
        <p:spPr>
          <a:xfrm>
            <a:off x="4458938" y="1704499"/>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88.6±4.8</a:t>
            </a:r>
          </a:p>
        </p:txBody>
      </p:sp>
      <p:sp>
        <p:nvSpPr>
          <p:cNvPr id="46" name="TextBox 46"/>
          <p:cNvSpPr txBox="1"/>
          <p:nvPr/>
        </p:nvSpPr>
        <p:spPr>
          <a:xfrm>
            <a:off x="5669167" y="1708547"/>
            <a:ext cx="282166"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87.0±8.1</a:t>
            </a:r>
          </a:p>
        </p:txBody>
      </p:sp>
      <p:sp>
        <p:nvSpPr>
          <p:cNvPr id="47" name="TextBox 47"/>
          <p:cNvSpPr txBox="1"/>
          <p:nvPr/>
        </p:nvSpPr>
        <p:spPr>
          <a:xfrm>
            <a:off x="6518291" y="170854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92.5±2.7</a:t>
            </a:r>
          </a:p>
        </p:txBody>
      </p:sp>
      <p:sp>
        <p:nvSpPr>
          <p:cNvPr id="48" name="TextBox 48"/>
          <p:cNvSpPr txBox="1"/>
          <p:nvPr/>
        </p:nvSpPr>
        <p:spPr>
          <a:xfrm>
            <a:off x="7375541" y="1708547"/>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85.5±6.2</a:t>
            </a:r>
          </a:p>
        </p:txBody>
      </p:sp>
      <p:sp>
        <p:nvSpPr>
          <p:cNvPr id="49" name="TextBox 49"/>
          <p:cNvSpPr txBox="1"/>
          <p:nvPr/>
        </p:nvSpPr>
        <p:spPr>
          <a:xfrm>
            <a:off x="8240917" y="1708547"/>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91.0±2.2</a:t>
            </a:r>
          </a:p>
        </p:txBody>
      </p:sp>
      <p:sp>
        <p:nvSpPr>
          <p:cNvPr id="50" name="TextBox 50"/>
          <p:cNvSpPr txBox="1"/>
          <p:nvPr/>
        </p:nvSpPr>
        <p:spPr>
          <a:xfrm>
            <a:off x="9090041" y="170854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89.0±3.4</a:t>
            </a:r>
          </a:p>
        </p:txBody>
      </p:sp>
      <p:sp>
        <p:nvSpPr>
          <p:cNvPr id="51" name="TextBox 51"/>
          <p:cNvSpPr txBox="1"/>
          <p:nvPr/>
        </p:nvSpPr>
        <p:spPr>
          <a:xfrm>
            <a:off x="9947291" y="170854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82.0±2.9</a:t>
            </a:r>
          </a:p>
        </p:txBody>
      </p:sp>
      <p:sp>
        <p:nvSpPr>
          <p:cNvPr id="52" name="TextBox 52"/>
          <p:cNvSpPr txBox="1"/>
          <p:nvPr/>
        </p:nvSpPr>
        <p:spPr>
          <a:xfrm>
            <a:off x="10963466" y="1704499"/>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53" name="Rectangle 53"/>
          <p:cNvSpPr/>
          <p:nvPr/>
        </p:nvSpPr>
        <p:spPr>
          <a:xfrm>
            <a:off x="685800" y="1774984"/>
            <a:ext cx="10820400" cy="99536"/>
          </a:xfrm>
          <a:prstGeom prst="rect">
            <a:avLst/>
          </a:prstGeom>
          <a:solidFill>
            <a:srgbClr val="FFFFFF"/>
          </a:solidFill>
          <a:ln>
            <a:noFill/>
          </a:ln>
        </p:spPr>
      </p:sp>
      <p:sp>
        <p:nvSpPr>
          <p:cNvPr id="54" name="TextBox 54"/>
          <p:cNvSpPr txBox="1"/>
          <p:nvPr/>
        </p:nvSpPr>
        <p:spPr>
          <a:xfrm>
            <a:off x="793230" y="1804035"/>
            <a:ext cx="51840"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4</a:t>
            </a:r>
          </a:p>
        </p:txBody>
      </p:sp>
      <p:sp>
        <p:nvSpPr>
          <p:cNvPr id="55" name="TextBox 55"/>
          <p:cNvSpPr txBox="1"/>
          <p:nvPr/>
        </p:nvSpPr>
        <p:spPr>
          <a:xfrm>
            <a:off x="1422368" y="1806464"/>
            <a:ext cx="81686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债权人代位权的类型化构造</a:t>
            </a:r>
          </a:p>
        </p:txBody>
      </p:sp>
      <p:sp>
        <p:nvSpPr>
          <p:cNvPr id="56" name="TextBox 56"/>
          <p:cNvSpPr txBox="1"/>
          <p:nvPr/>
        </p:nvSpPr>
        <p:spPr>
          <a:xfrm>
            <a:off x="4458938" y="1804035"/>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88.5±3.3</a:t>
            </a:r>
          </a:p>
        </p:txBody>
      </p:sp>
      <p:sp>
        <p:nvSpPr>
          <p:cNvPr id="57" name="TextBox 57"/>
          <p:cNvSpPr txBox="1"/>
          <p:nvPr/>
        </p:nvSpPr>
        <p:spPr>
          <a:xfrm>
            <a:off x="5669167" y="1808083"/>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87.0±4.1</a:t>
            </a:r>
          </a:p>
        </p:txBody>
      </p:sp>
      <p:sp>
        <p:nvSpPr>
          <p:cNvPr id="58" name="TextBox 58"/>
          <p:cNvSpPr txBox="1"/>
          <p:nvPr/>
        </p:nvSpPr>
        <p:spPr>
          <a:xfrm>
            <a:off x="6518291" y="180808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88.0±4.7</a:t>
            </a:r>
          </a:p>
        </p:txBody>
      </p:sp>
      <p:sp>
        <p:nvSpPr>
          <p:cNvPr id="59" name="TextBox 59"/>
          <p:cNvSpPr txBox="1"/>
          <p:nvPr/>
        </p:nvSpPr>
        <p:spPr>
          <a:xfrm>
            <a:off x="7383667" y="1808083"/>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89.0±1.9</a:t>
            </a:r>
          </a:p>
        </p:txBody>
      </p:sp>
      <p:sp>
        <p:nvSpPr>
          <p:cNvPr id="60" name="TextBox 60"/>
          <p:cNvSpPr txBox="1"/>
          <p:nvPr/>
        </p:nvSpPr>
        <p:spPr>
          <a:xfrm>
            <a:off x="8232791" y="180808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92.0±2.5</a:t>
            </a:r>
          </a:p>
        </p:txBody>
      </p:sp>
      <p:sp>
        <p:nvSpPr>
          <p:cNvPr id="61" name="TextBox 61"/>
          <p:cNvSpPr txBox="1"/>
          <p:nvPr/>
        </p:nvSpPr>
        <p:spPr>
          <a:xfrm>
            <a:off x="9090041" y="180808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90.0±2.5</a:t>
            </a:r>
          </a:p>
        </p:txBody>
      </p:sp>
      <p:sp>
        <p:nvSpPr>
          <p:cNvPr id="62" name="TextBox 62"/>
          <p:cNvSpPr txBox="1"/>
          <p:nvPr/>
        </p:nvSpPr>
        <p:spPr>
          <a:xfrm>
            <a:off x="9947291" y="180808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80.0±2.3</a:t>
            </a:r>
          </a:p>
        </p:txBody>
      </p:sp>
      <p:sp>
        <p:nvSpPr>
          <p:cNvPr id="63" name="TextBox 63"/>
          <p:cNvSpPr txBox="1"/>
          <p:nvPr/>
        </p:nvSpPr>
        <p:spPr>
          <a:xfrm>
            <a:off x="10963466" y="1804035"/>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64" name="Rectangle 64"/>
          <p:cNvSpPr/>
          <p:nvPr/>
        </p:nvSpPr>
        <p:spPr>
          <a:xfrm>
            <a:off x="685800" y="1874520"/>
            <a:ext cx="10820400" cy="99536"/>
          </a:xfrm>
          <a:prstGeom prst="rect">
            <a:avLst/>
          </a:prstGeom>
          <a:solidFill>
            <a:srgbClr val="F8FAFC"/>
          </a:solidFill>
          <a:ln>
            <a:noFill/>
          </a:ln>
        </p:spPr>
      </p:sp>
      <p:sp>
        <p:nvSpPr>
          <p:cNvPr id="65" name="TextBox 65"/>
          <p:cNvSpPr txBox="1"/>
          <p:nvPr/>
        </p:nvSpPr>
        <p:spPr>
          <a:xfrm>
            <a:off x="793230" y="1903571"/>
            <a:ext cx="51840"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5</a:t>
            </a:r>
          </a:p>
        </p:txBody>
      </p:sp>
      <p:sp>
        <p:nvSpPr>
          <p:cNvPr id="66" name="TextBox 66"/>
          <p:cNvSpPr txBox="1"/>
          <p:nvPr/>
        </p:nvSpPr>
        <p:spPr>
          <a:xfrm>
            <a:off x="1422368" y="1906000"/>
            <a:ext cx="81686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法条竞合与想象竞合的区分</a:t>
            </a:r>
          </a:p>
        </p:txBody>
      </p:sp>
      <p:sp>
        <p:nvSpPr>
          <p:cNvPr id="67" name="TextBox 67"/>
          <p:cNvSpPr txBox="1"/>
          <p:nvPr/>
        </p:nvSpPr>
        <p:spPr>
          <a:xfrm>
            <a:off x="4467689" y="1903571"/>
            <a:ext cx="303871"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88.2±3.1</a:t>
            </a:r>
          </a:p>
        </p:txBody>
      </p:sp>
      <p:sp>
        <p:nvSpPr>
          <p:cNvPr id="68" name="TextBox 68"/>
          <p:cNvSpPr txBox="1"/>
          <p:nvPr/>
        </p:nvSpPr>
        <p:spPr>
          <a:xfrm>
            <a:off x="5661041" y="190761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88.0±2.7</a:t>
            </a:r>
          </a:p>
        </p:txBody>
      </p:sp>
      <p:sp>
        <p:nvSpPr>
          <p:cNvPr id="69" name="TextBox 69"/>
          <p:cNvSpPr txBox="1"/>
          <p:nvPr/>
        </p:nvSpPr>
        <p:spPr>
          <a:xfrm>
            <a:off x="6518291" y="190761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86.0±2.2</a:t>
            </a:r>
          </a:p>
        </p:txBody>
      </p:sp>
      <p:sp>
        <p:nvSpPr>
          <p:cNvPr id="70" name="TextBox 70"/>
          <p:cNvSpPr txBox="1"/>
          <p:nvPr/>
        </p:nvSpPr>
        <p:spPr>
          <a:xfrm>
            <a:off x="7383667" y="1907619"/>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90.0±1.4</a:t>
            </a:r>
          </a:p>
        </p:txBody>
      </p:sp>
      <p:sp>
        <p:nvSpPr>
          <p:cNvPr id="71" name="TextBox 71"/>
          <p:cNvSpPr txBox="1"/>
          <p:nvPr/>
        </p:nvSpPr>
        <p:spPr>
          <a:xfrm>
            <a:off x="8240917" y="1907619"/>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92.0±1.3</a:t>
            </a:r>
          </a:p>
        </p:txBody>
      </p:sp>
      <p:sp>
        <p:nvSpPr>
          <p:cNvPr id="72" name="TextBox 72"/>
          <p:cNvSpPr txBox="1"/>
          <p:nvPr/>
        </p:nvSpPr>
        <p:spPr>
          <a:xfrm>
            <a:off x="9090041" y="1907619"/>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88.0±7.6</a:t>
            </a:r>
          </a:p>
        </p:txBody>
      </p:sp>
      <p:sp>
        <p:nvSpPr>
          <p:cNvPr id="73" name="TextBox 73"/>
          <p:cNvSpPr txBox="1"/>
          <p:nvPr/>
        </p:nvSpPr>
        <p:spPr>
          <a:xfrm>
            <a:off x="9937540" y="1907619"/>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78.0±13.3</a:t>
            </a:r>
          </a:p>
        </p:txBody>
      </p:sp>
      <p:sp>
        <p:nvSpPr>
          <p:cNvPr id="74" name="TextBox 74"/>
          <p:cNvSpPr txBox="1"/>
          <p:nvPr/>
        </p:nvSpPr>
        <p:spPr>
          <a:xfrm>
            <a:off x="10963466" y="1903571"/>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75" name="Rectangle 75"/>
          <p:cNvSpPr/>
          <p:nvPr/>
        </p:nvSpPr>
        <p:spPr>
          <a:xfrm>
            <a:off x="685800" y="1974056"/>
            <a:ext cx="10820400" cy="99536"/>
          </a:xfrm>
          <a:prstGeom prst="rect">
            <a:avLst/>
          </a:prstGeom>
          <a:solidFill>
            <a:srgbClr val="FFFFFF"/>
          </a:solidFill>
          <a:ln>
            <a:noFill/>
          </a:ln>
        </p:spPr>
      </p:sp>
      <p:sp>
        <p:nvSpPr>
          <p:cNvPr id="76" name="TextBox 76"/>
          <p:cNvSpPr txBox="1"/>
          <p:nvPr/>
        </p:nvSpPr>
        <p:spPr>
          <a:xfrm>
            <a:off x="793230" y="2003108"/>
            <a:ext cx="51840"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6</a:t>
            </a:r>
          </a:p>
        </p:txBody>
      </p:sp>
      <p:sp>
        <p:nvSpPr>
          <p:cNvPr id="77" name="TextBox 77"/>
          <p:cNvSpPr txBox="1"/>
          <p:nvPr/>
        </p:nvSpPr>
        <p:spPr>
          <a:xfrm>
            <a:off x="1422368" y="2005536"/>
            <a:ext cx="749856"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论选择性要素的认识错误</a:t>
            </a:r>
          </a:p>
        </p:txBody>
      </p:sp>
      <p:sp>
        <p:nvSpPr>
          <p:cNvPr id="78" name="TextBox 78"/>
          <p:cNvSpPr txBox="1"/>
          <p:nvPr/>
        </p:nvSpPr>
        <p:spPr>
          <a:xfrm>
            <a:off x="4467689" y="2003108"/>
            <a:ext cx="303871"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88.1±2.9</a:t>
            </a:r>
          </a:p>
        </p:txBody>
      </p:sp>
      <p:sp>
        <p:nvSpPr>
          <p:cNvPr id="79" name="TextBox 79"/>
          <p:cNvSpPr txBox="1"/>
          <p:nvPr/>
        </p:nvSpPr>
        <p:spPr>
          <a:xfrm>
            <a:off x="5669167" y="2007156"/>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88.0±4.1</a:t>
            </a:r>
          </a:p>
        </p:txBody>
      </p:sp>
      <p:sp>
        <p:nvSpPr>
          <p:cNvPr id="80" name="TextBox 80"/>
          <p:cNvSpPr txBox="1"/>
          <p:nvPr/>
        </p:nvSpPr>
        <p:spPr>
          <a:xfrm>
            <a:off x="6518291" y="200715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92.0±3.4</a:t>
            </a:r>
          </a:p>
        </p:txBody>
      </p:sp>
      <p:sp>
        <p:nvSpPr>
          <p:cNvPr id="81" name="TextBox 81"/>
          <p:cNvSpPr txBox="1"/>
          <p:nvPr/>
        </p:nvSpPr>
        <p:spPr>
          <a:xfrm>
            <a:off x="7375541" y="200715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88.0±2.7</a:t>
            </a:r>
          </a:p>
        </p:txBody>
      </p:sp>
      <p:sp>
        <p:nvSpPr>
          <p:cNvPr id="82" name="TextBox 82"/>
          <p:cNvSpPr txBox="1"/>
          <p:nvPr/>
        </p:nvSpPr>
        <p:spPr>
          <a:xfrm>
            <a:off x="8232791" y="200715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88.0±0.0</a:t>
            </a:r>
          </a:p>
        </p:txBody>
      </p:sp>
      <p:sp>
        <p:nvSpPr>
          <p:cNvPr id="83" name="TextBox 83"/>
          <p:cNvSpPr txBox="1"/>
          <p:nvPr/>
        </p:nvSpPr>
        <p:spPr>
          <a:xfrm>
            <a:off x="9090041" y="200715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86.5±3.9</a:t>
            </a:r>
          </a:p>
        </p:txBody>
      </p:sp>
      <p:sp>
        <p:nvSpPr>
          <p:cNvPr id="84" name="TextBox 84"/>
          <p:cNvSpPr txBox="1"/>
          <p:nvPr/>
        </p:nvSpPr>
        <p:spPr>
          <a:xfrm>
            <a:off x="9947291" y="200715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76.5±3.4</a:t>
            </a:r>
          </a:p>
        </p:txBody>
      </p:sp>
      <p:sp>
        <p:nvSpPr>
          <p:cNvPr id="85" name="TextBox 85"/>
          <p:cNvSpPr txBox="1"/>
          <p:nvPr/>
        </p:nvSpPr>
        <p:spPr>
          <a:xfrm>
            <a:off x="10963466" y="2003108"/>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86" name="Rectangle 86"/>
          <p:cNvSpPr/>
          <p:nvPr/>
        </p:nvSpPr>
        <p:spPr>
          <a:xfrm>
            <a:off x="685800" y="2073592"/>
            <a:ext cx="10820400" cy="99536"/>
          </a:xfrm>
          <a:prstGeom prst="rect">
            <a:avLst/>
          </a:prstGeom>
          <a:solidFill>
            <a:srgbClr val="F8FAFC"/>
          </a:solidFill>
          <a:ln>
            <a:noFill/>
          </a:ln>
        </p:spPr>
      </p:sp>
      <p:sp>
        <p:nvSpPr>
          <p:cNvPr id="87" name="TextBox 87"/>
          <p:cNvSpPr txBox="1"/>
          <p:nvPr/>
        </p:nvSpPr>
        <p:spPr>
          <a:xfrm>
            <a:off x="793230" y="2102644"/>
            <a:ext cx="51840"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7</a:t>
            </a:r>
          </a:p>
        </p:txBody>
      </p:sp>
      <p:sp>
        <p:nvSpPr>
          <p:cNvPr id="88" name="TextBox 88"/>
          <p:cNvSpPr txBox="1"/>
          <p:nvPr/>
        </p:nvSpPr>
        <p:spPr>
          <a:xfrm>
            <a:off x="1422368" y="2105073"/>
            <a:ext cx="615839"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受贿犯罪的保护法益</a:t>
            </a:r>
          </a:p>
        </p:txBody>
      </p:sp>
      <p:sp>
        <p:nvSpPr>
          <p:cNvPr id="89" name="TextBox 89"/>
          <p:cNvSpPr txBox="1"/>
          <p:nvPr/>
        </p:nvSpPr>
        <p:spPr>
          <a:xfrm>
            <a:off x="4458938" y="2102644"/>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88.0±3.5</a:t>
            </a:r>
          </a:p>
        </p:txBody>
      </p:sp>
      <p:sp>
        <p:nvSpPr>
          <p:cNvPr id="90" name="TextBox 90"/>
          <p:cNvSpPr txBox="1"/>
          <p:nvPr/>
        </p:nvSpPr>
        <p:spPr>
          <a:xfrm>
            <a:off x="5669167" y="2106692"/>
            <a:ext cx="282166"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88.0±5.1</a:t>
            </a:r>
          </a:p>
        </p:txBody>
      </p:sp>
      <p:sp>
        <p:nvSpPr>
          <p:cNvPr id="91" name="TextBox 91"/>
          <p:cNvSpPr txBox="1"/>
          <p:nvPr/>
        </p:nvSpPr>
        <p:spPr>
          <a:xfrm>
            <a:off x="6526417" y="2106692"/>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90.0±1.9</a:t>
            </a:r>
          </a:p>
        </p:txBody>
      </p:sp>
      <p:sp>
        <p:nvSpPr>
          <p:cNvPr id="92" name="TextBox 92"/>
          <p:cNvSpPr txBox="1"/>
          <p:nvPr/>
        </p:nvSpPr>
        <p:spPr>
          <a:xfrm>
            <a:off x="7375541" y="210669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86.5±3.9</a:t>
            </a:r>
          </a:p>
        </p:txBody>
      </p:sp>
      <p:sp>
        <p:nvSpPr>
          <p:cNvPr id="93" name="TextBox 93"/>
          <p:cNvSpPr txBox="1"/>
          <p:nvPr/>
        </p:nvSpPr>
        <p:spPr>
          <a:xfrm>
            <a:off x="8232791" y="210669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90.0±2.5</a:t>
            </a:r>
          </a:p>
        </p:txBody>
      </p:sp>
      <p:sp>
        <p:nvSpPr>
          <p:cNvPr id="94" name="TextBox 94"/>
          <p:cNvSpPr txBox="1"/>
          <p:nvPr/>
        </p:nvSpPr>
        <p:spPr>
          <a:xfrm>
            <a:off x="9098167" y="2106692"/>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90.5±1.7</a:t>
            </a:r>
          </a:p>
        </p:txBody>
      </p:sp>
      <p:sp>
        <p:nvSpPr>
          <p:cNvPr id="95" name="TextBox 95"/>
          <p:cNvSpPr txBox="1"/>
          <p:nvPr/>
        </p:nvSpPr>
        <p:spPr>
          <a:xfrm>
            <a:off x="9947291" y="2106692"/>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72.0±5.9</a:t>
            </a:r>
          </a:p>
        </p:txBody>
      </p:sp>
      <p:sp>
        <p:nvSpPr>
          <p:cNvPr id="96" name="TextBox 96"/>
          <p:cNvSpPr txBox="1"/>
          <p:nvPr/>
        </p:nvSpPr>
        <p:spPr>
          <a:xfrm>
            <a:off x="10963466" y="2102644"/>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97" name="Rectangle 97"/>
          <p:cNvSpPr/>
          <p:nvPr/>
        </p:nvSpPr>
        <p:spPr>
          <a:xfrm>
            <a:off x="685800" y="2173129"/>
            <a:ext cx="10820400" cy="99536"/>
          </a:xfrm>
          <a:prstGeom prst="rect">
            <a:avLst/>
          </a:prstGeom>
          <a:solidFill>
            <a:srgbClr val="FFFFFF"/>
          </a:solidFill>
          <a:ln>
            <a:noFill/>
          </a:ln>
        </p:spPr>
      </p:sp>
      <p:sp>
        <p:nvSpPr>
          <p:cNvPr id="98" name="TextBox 98"/>
          <p:cNvSpPr txBox="1"/>
          <p:nvPr/>
        </p:nvSpPr>
        <p:spPr>
          <a:xfrm>
            <a:off x="793230" y="2202180"/>
            <a:ext cx="51840"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a:t>
            </a:r>
          </a:p>
        </p:txBody>
      </p:sp>
      <p:sp>
        <p:nvSpPr>
          <p:cNvPr id="99" name="TextBox 99"/>
          <p:cNvSpPr txBox="1"/>
          <p:nvPr/>
        </p:nvSpPr>
        <p:spPr>
          <a:xfrm>
            <a:off x="1422368" y="2204609"/>
            <a:ext cx="950881"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民法典所有权保留之担保权构成</a:t>
            </a:r>
          </a:p>
        </p:txBody>
      </p:sp>
      <p:sp>
        <p:nvSpPr>
          <p:cNvPr id="100" name="TextBox 100"/>
          <p:cNvSpPr txBox="1"/>
          <p:nvPr/>
        </p:nvSpPr>
        <p:spPr>
          <a:xfrm>
            <a:off x="4451237" y="2202180"/>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88.0±5.9</a:t>
            </a:r>
          </a:p>
        </p:txBody>
      </p:sp>
      <p:sp>
        <p:nvSpPr>
          <p:cNvPr id="101" name="TextBox 101"/>
          <p:cNvSpPr txBox="1"/>
          <p:nvPr/>
        </p:nvSpPr>
        <p:spPr>
          <a:xfrm>
            <a:off x="5659416" y="2206228"/>
            <a:ext cx="301669"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90.0±11.5</a:t>
            </a:r>
          </a:p>
        </p:txBody>
      </p:sp>
      <p:sp>
        <p:nvSpPr>
          <p:cNvPr id="102" name="TextBox 102"/>
          <p:cNvSpPr txBox="1"/>
          <p:nvPr/>
        </p:nvSpPr>
        <p:spPr>
          <a:xfrm>
            <a:off x="6518291" y="220622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88.0±3.6</a:t>
            </a:r>
          </a:p>
        </p:txBody>
      </p:sp>
      <p:sp>
        <p:nvSpPr>
          <p:cNvPr id="103" name="TextBox 103"/>
          <p:cNvSpPr txBox="1"/>
          <p:nvPr/>
        </p:nvSpPr>
        <p:spPr>
          <a:xfrm>
            <a:off x="7383667" y="2206228"/>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85.5±2.1</a:t>
            </a:r>
          </a:p>
        </p:txBody>
      </p:sp>
      <p:sp>
        <p:nvSpPr>
          <p:cNvPr id="104" name="TextBox 104"/>
          <p:cNvSpPr txBox="1"/>
          <p:nvPr/>
        </p:nvSpPr>
        <p:spPr>
          <a:xfrm>
            <a:off x="8232791" y="220622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90.0±2.6</a:t>
            </a:r>
          </a:p>
        </p:txBody>
      </p:sp>
      <p:sp>
        <p:nvSpPr>
          <p:cNvPr id="105" name="TextBox 105"/>
          <p:cNvSpPr txBox="1"/>
          <p:nvPr/>
        </p:nvSpPr>
        <p:spPr>
          <a:xfrm>
            <a:off x="9090041" y="220622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87.0±2.5</a:t>
            </a:r>
          </a:p>
        </p:txBody>
      </p:sp>
      <p:sp>
        <p:nvSpPr>
          <p:cNvPr id="106" name="TextBox 106"/>
          <p:cNvSpPr txBox="1"/>
          <p:nvPr/>
        </p:nvSpPr>
        <p:spPr>
          <a:xfrm>
            <a:off x="9945666" y="2206228"/>
            <a:ext cx="301669"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77.0±11.8</a:t>
            </a:r>
          </a:p>
        </p:txBody>
      </p:sp>
      <p:sp>
        <p:nvSpPr>
          <p:cNvPr id="107" name="TextBox 107"/>
          <p:cNvSpPr txBox="1"/>
          <p:nvPr/>
        </p:nvSpPr>
        <p:spPr>
          <a:xfrm>
            <a:off x="10963466" y="2202180"/>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108" name="Rectangle 108"/>
          <p:cNvSpPr/>
          <p:nvPr/>
        </p:nvSpPr>
        <p:spPr>
          <a:xfrm>
            <a:off x="685800" y="2272665"/>
            <a:ext cx="10820400" cy="99536"/>
          </a:xfrm>
          <a:prstGeom prst="rect">
            <a:avLst/>
          </a:prstGeom>
          <a:solidFill>
            <a:srgbClr val="F8FAFC"/>
          </a:solidFill>
          <a:ln>
            <a:noFill/>
          </a:ln>
        </p:spPr>
      </p:sp>
      <p:sp>
        <p:nvSpPr>
          <p:cNvPr id="109" name="TextBox 109"/>
          <p:cNvSpPr txBox="1"/>
          <p:nvPr/>
        </p:nvSpPr>
        <p:spPr>
          <a:xfrm>
            <a:off x="793230" y="2301716"/>
            <a:ext cx="51840"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9</a:t>
            </a:r>
          </a:p>
        </p:txBody>
      </p:sp>
      <p:sp>
        <p:nvSpPr>
          <p:cNvPr id="110" name="TextBox 110"/>
          <p:cNvSpPr txBox="1"/>
          <p:nvPr/>
        </p:nvSpPr>
        <p:spPr>
          <a:xfrm>
            <a:off x="1422368" y="2304145"/>
            <a:ext cx="1084898"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集体商标和证明商标保护体系的重构</a:t>
            </a:r>
          </a:p>
        </p:txBody>
      </p:sp>
      <p:sp>
        <p:nvSpPr>
          <p:cNvPr id="111" name="TextBox 111"/>
          <p:cNvSpPr txBox="1"/>
          <p:nvPr/>
        </p:nvSpPr>
        <p:spPr>
          <a:xfrm>
            <a:off x="4458938" y="2301716"/>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87.8±2.9</a:t>
            </a:r>
          </a:p>
        </p:txBody>
      </p:sp>
      <p:sp>
        <p:nvSpPr>
          <p:cNvPr id="112" name="TextBox 112"/>
          <p:cNvSpPr txBox="1"/>
          <p:nvPr/>
        </p:nvSpPr>
        <p:spPr>
          <a:xfrm>
            <a:off x="5669167" y="2305764"/>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87.0±1.4</a:t>
            </a:r>
          </a:p>
        </p:txBody>
      </p:sp>
      <p:sp>
        <p:nvSpPr>
          <p:cNvPr id="113" name="TextBox 113"/>
          <p:cNvSpPr txBox="1"/>
          <p:nvPr/>
        </p:nvSpPr>
        <p:spPr>
          <a:xfrm>
            <a:off x="6518291" y="230576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89.0±3.7</a:t>
            </a:r>
          </a:p>
        </p:txBody>
      </p:sp>
      <p:sp>
        <p:nvSpPr>
          <p:cNvPr id="114" name="TextBox 114"/>
          <p:cNvSpPr txBox="1"/>
          <p:nvPr/>
        </p:nvSpPr>
        <p:spPr>
          <a:xfrm>
            <a:off x="7375541" y="2305764"/>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88.0±6.4</a:t>
            </a:r>
          </a:p>
        </p:txBody>
      </p:sp>
      <p:sp>
        <p:nvSpPr>
          <p:cNvPr id="115" name="TextBox 115"/>
          <p:cNvSpPr txBox="1"/>
          <p:nvPr/>
        </p:nvSpPr>
        <p:spPr>
          <a:xfrm>
            <a:off x="8232791" y="230576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88.0±2.8</a:t>
            </a:r>
          </a:p>
        </p:txBody>
      </p:sp>
      <p:sp>
        <p:nvSpPr>
          <p:cNvPr id="116" name="TextBox 116"/>
          <p:cNvSpPr txBox="1"/>
          <p:nvPr/>
        </p:nvSpPr>
        <p:spPr>
          <a:xfrm>
            <a:off x="9098167" y="2305764"/>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89.0±1.8</a:t>
            </a:r>
          </a:p>
        </p:txBody>
      </p:sp>
      <p:sp>
        <p:nvSpPr>
          <p:cNvPr id="117" name="TextBox 117"/>
          <p:cNvSpPr txBox="1"/>
          <p:nvPr/>
        </p:nvSpPr>
        <p:spPr>
          <a:xfrm>
            <a:off x="9955417" y="2305764"/>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84.0±1.9</a:t>
            </a:r>
          </a:p>
        </p:txBody>
      </p:sp>
      <p:sp>
        <p:nvSpPr>
          <p:cNvPr id="118" name="TextBox 118"/>
          <p:cNvSpPr txBox="1"/>
          <p:nvPr/>
        </p:nvSpPr>
        <p:spPr>
          <a:xfrm>
            <a:off x="10963466" y="2301716"/>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119" name="Rectangle 119"/>
          <p:cNvSpPr/>
          <p:nvPr/>
        </p:nvSpPr>
        <p:spPr>
          <a:xfrm>
            <a:off x="685800" y="2372201"/>
            <a:ext cx="10820400" cy="99536"/>
          </a:xfrm>
          <a:prstGeom prst="rect">
            <a:avLst/>
          </a:prstGeom>
          <a:solidFill>
            <a:srgbClr val="FFFFFF"/>
          </a:solidFill>
          <a:ln>
            <a:noFill/>
          </a:ln>
        </p:spPr>
      </p:sp>
      <p:sp>
        <p:nvSpPr>
          <p:cNvPr id="120" name="TextBox 120"/>
          <p:cNvSpPr txBox="1"/>
          <p:nvPr/>
        </p:nvSpPr>
        <p:spPr>
          <a:xfrm>
            <a:off x="782729" y="2401252"/>
            <a:ext cx="72842"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10</a:t>
            </a:r>
          </a:p>
        </p:txBody>
      </p:sp>
      <p:sp>
        <p:nvSpPr>
          <p:cNvPr id="121" name="TextBox 121"/>
          <p:cNvSpPr txBox="1"/>
          <p:nvPr/>
        </p:nvSpPr>
        <p:spPr>
          <a:xfrm>
            <a:off x="1422368" y="2403681"/>
            <a:ext cx="81686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董事间披露义务的法律构造</a:t>
            </a:r>
          </a:p>
        </p:txBody>
      </p:sp>
      <p:sp>
        <p:nvSpPr>
          <p:cNvPr id="122" name="TextBox 122"/>
          <p:cNvSpPr txBox="1"/>
          <p:nvPr/>
        </p:nvSpPr>
        <p:spPr>
          <a:xfrm>
            <a:off x="4458938" y="2401252"/>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87.8±3.5</a:t>
            </a:r>
          </a:p>
        </p:txBody>
      </p:sp>
      <p:sp>
        <p:nvSpPr>
          <p:cNvPr id="123" name="TextBox 123"/>
          <p:cNvSpPr txBox="1"/>
          <p:nvPr/>
        </p:nvSpPr>
        <p:spPr>
          <a:xfrm>
            <a:off x="5661041" y="240530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86.5±3.2</a:t>
            </a:r>
          </a:p>
        </p:txBody>
      </p:sp>
      <p:sp>
        <p:nvSpPr>
          <p:cNvPr id="124" name="TextBox 124"/>
          <p:cNvSpPr txBox="1"/>
          <p:nvPr/>
        </p:nvSpPr>
        <p:spPr>
          <a:xfrm>
            <a:off x="6518291" y="240530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88.0±3.7</a:t>
            </a:r>
          </a:p>
        </p:txBody>
      </p:sp>
      <p:sp>
        <p:nvSpPr>
          <p:cNvPr id="125" name="TextBox 125"/>
          <p:cNvSpPr txBox="1"/>
          <p:nvPr/>
        </p:nvSpPr>
        <p:spPr>
          <a:xfrm>
            <a:off x="7375541" y="240530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92.0±3.8</a:t>
            </a:r>
          </a:p>
        </p:txBody>
      </p:sp>
      <p:sp>
        <p:nvSpPr>
          <p:cNvPr id="126" name="TextBox 126"/>
          <p:cNvSpPr txBox="1"/>
          <p:nvPr/>
        </p:nvSpPr>
        <p:spPr>
          <a:xfrm>
            <a:off x="8240917" y="2405301"/>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89.0±1.9</a:t>
            </a:r>
          </a:p>
        </p:txBody>
      </p:sp>
      <p:sp>
        <p:nvSpPr>
          <p:cNvPr id="127" name="TextBox 127"/>
          <p:cNvSpPr txBox="1"/>
          <p:nvPr/>
        </p:nvSpPr>
        <p:spPr>
          <a:xfrm>
            <a:off x="9090041" y="240530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87.0±2.5</a:t>
            </a:r>
          </a:p>
        </p:txBody>
      </p:sp>
      <p:sp>
        <p:nvSpPr>
          <p:cNvPr id="128" name="TextBox 128"/>
          <p:cNvSpPr txBox="1"/>
          <p:nvPr/>
        </p:nvSpPr>
        <p:spPr>
          <a:xfrm>
            <a:off x="9937540" y="2405301"/>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78.0±13.2</a:t>
            </a:r>
          </a:p>
        </p:txBody>
      </p:sp>
      <p:sp>
        <p:nvSpPr>
          <p:cNvPr id="129" name="TextBox 129"/>
          <p:cNvSpPr txBox="1"/>
          <p:nvPr/>
        </p:nvSpPr>
        <p:spPr>
          <a:xfrm>
            <a:off x="10963466" y="2401252"/>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130" name="Rectangle 130"/>
          <p:cNvSpPr/>
          <p:nvPr/>
        </p:nvSpPr>
        <p:spPr>
          <a:xfrm>
            <a:off x="685800" y="2471738"/>
            <a:ext cx="10820400" cy="99536"/>
          </a:xfrm>
          <a:prstGeom prst="rect">
            <a:avLst/>
          </a:prstGeom>
          <a:solidFill>
            <a:srgbClr val="F8FAFC"/>
          </a:solidFill>
          <a:ln>
            <a:noFill/>
          </a:ln>
        </p:spPr>
      </p:sp>
      <p:sp>
        <p:nvSpPr>
          <p:cNvPr id="131" name="TextBox 131"/>
          <p:cNvSpPr txBox="1"/>
          <p:nvPr/>
        </p:nvSpPr>
        <p:spPr>
          <a:xfrm>
            <a:off x="791480" y="2500789"/>
            <a:ext cx="55340"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11</a:t>
            </a:r>
          </a:p>
        </p:txBody>
      </p:sp>
      <p:sp>
        <p:nvSpPr>
          <p:cNvPr id="132" name="TextBox 132"/>
          <p:cNvSpPr txBox="1"/>
          <p:nvPr/>
        </p:nvSpPr>
        <p:spPr>
          <a:xfrm>
            <a:off x="1422368" y="2503218"/>
            <a:ext cx="1352931"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虚假陈述比例连带责任的认定模式与体系展开</a:t>
            </a:r>
          </a:p>
        </p:txBody>
      </p:sp>
      <p:sp>
        <p:nvSpPr>
          <p:cNvPr id="133" name="TextBox 133"/>
          <p:cNvSpPr txBox="1"/>
          <p:nvPr/>
        </p:nvSpPr>
        <p:spPr>
          <a:xfrm>
            <a:off x="4458938" y="2500789"/>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87.8±3.9</a:t>
            </a:r>
          </a:p>
        </p:txBody>
      </p:sp>
      <p:sp>
        <p:nvSpPr>
          <p:cNvPr id="134" name="TextBox 134"/>
          <p:cNvSpPr txBox="1"/>
          <p:nvPr/>
        </p:nvSpPr>
        <p:spPr>
          <a:xfrm>
            <a:off x="5661041" y="250483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90.0±3.7</a:t>
            </a:r>
          </a:p>
        </p:txBody>
      </p:sp>
      <p:sp>
        <p:nvSpPr>
          <p:cNvPr id="135" name="TextBox 135"/>
          <p:cNvSpPr txBox="1"/>
          <p:nvPr/>
        </p:nvSpPr>
        <p:spPr>
          <a:xfrm>
            <a:off x="6518291" y="250483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87.5±4.2</a:t>
            </a:r>
          </a:p>
        </p:txBody>
      </p:sp>
      <p:sp>
        <p:nvSpPr>
          <p:cNvPr id="136" name="TextBox 136"/>
          <p:cNvSpPr txBox="1"/>
          <p:nvPr/>
        </p:nvSpPr>
        <p:spPr>
          <a:xfrm>
            <a:off x="7375541" y="250483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85.0±3.5</a:t>
            </a:r>
          </a:p>
        </p:txBody>
      </p:sp>
      <p:sp>
        <p:nvSpPr>
          <p:cNvPr id="137" name="TextBox 137"/>
          <p:cNvSpPr txBox="1"/>
          <p:nvPr/>
        </p:nvSpPr>
        <p:spPr>
          <a:xfrm>
            <a:off x="8232791" y="250483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89.0±3.8</a:t>
            </a:r>
          </a:p>
        </p:txBody>
      </p:sp>
      <p:sp>
        <p:nvSpPr>
          <p:cNvPr id="138" name="TextBox 138"/>
          <p:cNvSpPr txBox="1"/>
          <p:nvPr/>
        </p:nvSpPr>
        <p:spPr>
          <a:xfrm>
            <a:off x="9098167" y="2504837"/>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88.0±1.5</a:t>
            </a:r>
          </a:p>
        </p:txBody>
      </p:sp>
      <p:sp>
        <p:nvSpPr>
          <p:cNvPr id="139" name="TextBox 139"/>
          <p:cNvSpPr txBox="1"/>
          <p:nvPr/>
        </p:nvSpPr>
        <p:spPr>
          <a:xfrm>
            <a:off x="9937540" y="2504837"/>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78.0±10.8</a:t>
            </a:r>
          </a:p>
        </p:txBody>
      </p:sp>
      <p:sp>
        <p:nvSpPr>
          <p:cNvPr id="140" name="TextBox 140"/>
          <p:cNvSpPr txBox="1"/>
          <p:nvPr/>
        </p:nvSpPr>
        <p:spPr>
          <a:xfrm>
            <a:off x="10963466" y="2500789"/>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141" name="Rectangle 141"/>
          <p:cNvSpPr/>
          <p:nvPr/>
        </p:nvSpPr>
        <p:spPr>
          <a:xfrm>
            <a:off x="685800" y="2571274"/>
            <a:ext cx="10820400" cy="99536"/>
          </a:xfrm>
          <a:prstGeom prst="rect">
            <a:avLst/>
          </a:prstGeom>
          <a:solidFill>
            <a:srgbClr val="FFFFFF"/>
          </a:solidFill>
          <a:ln>
            <a:noFill/>
          </a:ln>
        </p:spPr>
      </p:sp>
      <p:sp>
        <p:nvSpPr>
          <p:cNvPr id="142" name="TextBox 142"/>
          <p:cNvSpPr txBox="1"/>
          <p:nvPr/>
        </p:nvSpPr>
        <p:spPr>
          <a:xfrm>
            <a:off x="782729" y="2600325"/>
            <a:ext cx="72842"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12</a:t>
            </a:r>
          </a:p>
        </p:txBody>
      </p:sp>
      <p:sp>
        <p:nvSpPr>
          <p:cNvPr id="143" name="TextBox 143"/>
          <p:cNvSpPr txBox="1"/>
          <p:nvPr/>
        </p:nvSpPr>
        <p:spPr>
          <a:xfrm>
            <a:off x="1422368" y="2602754"/>
            <a:ext cx="1567358"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刑民交叉实体问题的解决路径——“法律效果论”之展开</a:t>
            </a:r>
          </a:p>
        </p:txBody>
      </p:sp>
      <p:sp>
        <p:nvSpPr>
          <p:cNvPr id="144" name="TextBox 144"/>
          <p:cNvSpPr txBox="1"/>
          <p:nvPr/>
        </p:nvSpPr>
        <p:spPr>
          <a:xfrm>
            <a:off x="4458938" y="2600325"/>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87.7±3.3</a:t>
            </a:r>
          </a:p>
        </p:txBody>
      </p:sp>
      <p:sp>
        <p:nvSpPr>
          <p:cNvPr id="145" name="TextBox 145"/>
          <p:cNvSpPr txBox="1"/>
          <p:nvPr/>
        </p:nvSpPr>
        <p:spPr>
          <a:xfrm>
            <a:off x="5661041" y="260437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90.0±3.3</a:t>
            </a:r>
          </a:p>
        </p:txBody>
      </p:sp>
      <p:sp>
        <p:nvSpPr>
          <p:cNvPr id="146" name="TextBox 146"/>
          <p:cNvSpPr txBox="1"/>
          <p:nvPr/>
        </p:nvSpPr>
        <p:spPr>
          <a:xfrm>
            <a:off x="6518291" y="260437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83.5±2.6</a:t>
            </a:r>
          </a:p>
        </p:txBody>
      </p:sp>
      <p:sp>
        <p:nvSpPr>
          <p:cNvPr id="147" name="TextBox 147"/>
          <p:cNvSpPr txBox="1"/>
          <p:nvPr/>
        </p:nvSpPr>
        <p:spPr>
          <a:xfrm>
            <a:off x="7375541" y="260437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87.0±5.0</a:t>
            </a:r>
          </a:p>
        </p:txBody>
      </p:sp>
      <p:sp>
        <p:nvSpPr>
          <p:cNvPr id="148" name="TextBox 148"/>
          <p:cNvSpPr txBox="1"/>
          <p:nvPr/>
        </p:nvSpPr>
        <p:spPr>
          <a:xfrm>
            <a:off x="8240917" y="2604373"/>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92.0±2.1</a:t>
            </a:r>
          </a:p>
        </p:txBody>
      </p:sp>
      <p:sp>
        <p:nvSpPr>
          <p:cNvPr id="149" name="TextBox 149"/>
          <p:cNvSpPr txBox="1"/>
          <p:nvPr/>
        </p:nvSpPr>
        <p:spPr>
          <a:xfrm>
            <a:off x="9090041" y="260437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88.0±2.8</a:t>
            </a:r>
          </a:p>
        </p:txBody>
      </p:sp>
      <p:sp>
        <p:nvSpPr>
          <p:cNvPr id="150" name="TextBox 150"/>
          <p:cNvSpPr txBox="1"/>
          <p:nvPr/>
        </p:nvSpPr>
        <p:spPr>
          <a:xfrm>
            <a:off x="9947291" y="2604373"/>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75.0±7.2</a:t>
            </a:r>
          </a:p>
        </p:txBody>
      </p:sp>
      <p:sp>
        <p:nvSpPr>
          <p:cNvPr id="151" name="TextBox 151"/>
          <p:cNvSpPr txBox="1"/>
          <p:nvPr/>
        </p:nvSpPr>
        <p:spPr>
          <a:xfrm>
            <a:off x="10963466" y="2600325"/>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152" name="Rectangle 152"/>
          <p:cNvSpPr/>
          <p:nvPr/>
        </p:nvSpPr>
        <p:spPr>
          <a:xfrm>
            <a:off x="685800" y="2670810"/>
            <a:ext cx="10820400" cy="99536"/>
          </a:xfrm>
          <a:prstGeom prst="rect">
            <a:avLst/>
          </a:prstGeom>
          <a:solidFill>
            <a:srgbClr val="F8FAFC"/>
          </a:solidFill>
          <a:ln>
            <a:noFill/>
          </a:ln>
        </p:spPr>
      </p:sp>
      <p:sp>
        <p:nvSpPr>
          <p:cNvPr id="153" name="TextBox 153"/>
          <p:cNvSpPr txBox="1"/>
          <p:nvPr/>
        </p:nvSpPr>
        <p:spPr>
          <a:xfrm>
            <a:off x="782729" y="2699861"/>
            <a:ext cx="72842"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13</a:t>
            </a:r>
          </a:p>
        </p:txBody>
      </p:sp>
      <p:sp>
        <p:nvSpPr>
          <p:cNvPr id="154" name="TextBox 154"/>
          <p:cNvSpPr txBox="1"/>
          <p:nvPr/>
        </p:nvSpPr>
        <p:spPr>
          <a:xfrm>
            <a:off x="1422368" y="2702290"/>
            <a:ext cx="121891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实体性查封优先权的理论证成及体系展开</a:t>
            </a:r>
          </a:p>
        </p:txBody>
      </p:sp>
      <p:sp>
        <p:nvSpPr>
          <p:cNvPr id="155" name="TextBox 155"/>
          <p:cNvSpPr txBox="1"/>
          <p:nvPr/>
        </p:nvSpPr>
        <p:spPr>
          <a:xfrm>
            <a:off x="4458938" y="2699861"/>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87.7±2.6</a:t>
            </a:r>
          </a:p>
        </p:txBody>
      </p:sp>
      <p:sp>
        <p:nvSpPr>
          <p:cNvPr id="156" name="TextBox 156"/>
          <p:cNvSpPr txBox="1"/>
          <p:nvPr/>
        </p:nvSpPr>
        <p:spPr>
          <a:xfrm>
            <a:off x="5669167" y="2703909"/>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85.0±1.4</a:t>
            </a:r>
          </a:p>
        </p:txBody>
      </p:sp>
      <p:sp>
        <p:nvSpPr>
          <p:cNvPr id="157" name="TextBox 157"/>
          <p:cNvSpPr txBox="1"/>
          <p:nvPr/>
        </p:nvSpPr>
        <p:spPr>
          <a:xfrm>
            <a:off x="6526417" y="2703909"/>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88.0±3.1</a:t>
            </a:r>
          </a:p>
        </p:txBody>
      </p:sp>
      <p:sp>
        <p:nvSpPr>
          <p:cNvPr id="158" name="TextBox 158"/>
          <p:cNvSpPr txBox="1"/>
          <p:nvPr/>
        </p:nvSpPr>
        <p:spPr>
          <a:xfrm>
            <a:off x="7375541" y="2703909"/>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92.0±5.4</a:t>
            </a:r>
          </a:p>
        </p:txBody>
      </p:sp>
      <p:sp>
        <p:nvSpPr>
          <p:cNvPr id="159" name="TextBox 159"/>
          <p:cNvSpPr txBox="1"/>
          <p:nvPr/>
        </p:nvSpPr>
        <p:spPr>
          <a:xfrm>
            <a:off x="8240917" y="2703909"/>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88.0±2.1</a:t>
            </a:r>
          </a:p>
        </p:txBody>
      </p:sp>
      <p:sp>
        <p:nvSpPr>
          <p:cNvPr id="160" name="TextBox 160"/>
          <p:cNvSpPr txBox="1"/>
          <p:nvPr/>
        </p:nvSpPr>
        <p:spPr>
          <a:xfrm>
            <a:off x="9098167" y="2703909"/>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90.0±2.1</a:t>
            </a:r>
          </a:p>
        </p:txBody>
      </p:sp>
      <p:sp>
        <p:nvSpPr>
          <p:cNvPr id="161" name="TextBox 161"/>
          <p:cNvSpPr txBox="1"/>
          <p:nvPr/>
        </p:nvSpPr>
        <p:spPr>
          <a:xfrm>
            <a:off x="9947291" y="270390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84.0±2.2</a:t>
            </a:r>
          </a:p>
        </p:txBody>
      </p:sp>
      <p:sp>
        <p:nvSpPr>
          <p:cNvPr id="162" name="TextBox 162"/>
          <p:cNvSpPr txBox="1"/>
          <p:nvPr/>
        </p:nvSpPr>
        <p:spPr>
          <a:xfrm>
            <a:off x="10963466" y="2699861"/>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163" name="Rectangle 163"/>
          <p:cNvSpPr/>
          <p:nvPr/>
        </p:nvSpPr>
        <p:spPr>
          <a:xfrm>
            <a:off x="685800" y="2770346"/>
            <a:ext cx="10820400" cy="99536"/>
          </a:xfrm>
          <a:prstGeom prst="rect">
            <a:avLst/>
          </a:prstGeom>
          <a:solidFill>
            <a:srgbClr val="FFFFFF"/>
          </a:solidFill>
          <a:ln>
            <a:noFill/>
          </a:ln>
        </p:spPr>
      </p:sp>
      <p:sp>
        <p:nvSpPr>
          <p:cNvPr id="164" name="TextBox 164"/>
          <p:cNvSpPr txBox="1"/>
          <p:nvPr/>
        </p:nvSpPr>
        <p:spPr>
          <a:xfrm>
            <a:off x="782729" y="2799398"/>
            <a:ext cx="72842"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14</a:t>
            </a:r>
          </a:p>
        </p:txBody>
      </p:sp>
      <p:sp>
        <p:nvSpPr>
          <p:cNvPr id="165" name="TextBox 165"/>
          <p:cNvSpPr txBox="1"/>
          <p:nvPr/>
        </p:nvSpPr>
        <p:spPr>
          <a:xfrm>
            <a:off x="1422368" y="2801826"/>
            <a:ext cx="950881"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注意义务的规范本质与判断标准</a:t>
            </a:r>
          </a:p>
        </p:txBody>
      </p:sp>
      <p:sp>
        <p:nvSpPr>
          <p:cNvPr id="166" name="TextBox 166"/>
          <p:cNvSpPr txBox="1"/>
          <p:nvPr/>
        </p:nvSpPr>
        <p:spPr>
          <a:xfrm>
            <a:off x="4451237" y="2799398"/>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87.7±5.8</a:t>
            </a:r>
          </a:p>
        </p:txBody>
      </p:sp>
      <p:sp>
        <p:nvSpPr>
          <p:cNvPr id="167" name="TextBox 167"/>
          <p:cNvSpPr txBox="1"/>
          <p:nvPr/>
        </p:nvSpPr>
        <p:spPr>
          <a:xfrm>
            <a:off x="5651290" y="2803446"/>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88.0±10.4</a:t>
            </a:r>
          </a:p>
        </p:txBody>
      </p:sp>
      <p:sp>
        <p:nvSpPr>
          <p:cNvPr id="168" name="TextBox 168"/>
          <p:cNvSpPr txBox="1"/>
          <p:nvPr/>
        </p:nvSpPr>
        <p:spPr>
          <a:xfrm>
            <a:off x="6526417" y="2803446"/>
            <a:ext cx="282166"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88.0±6.1</a:t>
            </a:r>
          </a:p>
        </p:txBody>
      </p:sp>
      <p:sp>
        <p:nvSpPr>
          <p:cNvPr id="169" name="TextBox 169"/>
          <p:cNvSpPr txBox="1"/>
          <p:nvPr/>
        </p:nvSpPr>
        <p:spPr>
          <a:xfrm>
            <a:off x="7375541" y="280344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87.0±2.9</a:t>
            </a:r>
          </a:p>
        </p:txBody>
      </p:sp>
      <p:sp>
        <p:nvSpPr>
          <p:cNvPr id="170" name="TextBox 170"/>
          <p:cNvSpPr txBox="1"/>
          <p:nvPr/>
        </p:nvSpPr>
        <p:spPr>
          <a:xfrm>
            <a:off x="8232791" y="280344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90.0±2.6</a:t>
            </a:r>
          </a:p>
        </p:txBody>
      </p:sp>
      <p:sp>
        <p:nvSpPr>
          <p:cNvPr id="171" name="TextBox 171"/>
          <p:cNvSpPr txBox="1"/>
          <p:nvPr/>
        </p:nvSpPr>
        <p:spPr>
          <a:xfrm>
            <a:off x="9098167" y="2803446"/>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89.0±2.1</a:t>
            </a:r>
          </a:p>
        </p:txBody>
      </p:sp>
      <p:sp>
        <p:nvSpPr>
          <p:cNvPr id="172" name="TextBox 172"/>
          <p:cNvSpPr txBox="1"/>
          <p:nvPr/>
        </p:nvSpPr>
        <p:spPr>
          <a:xfrm>
            <a:off x="9947291" y="2803446"/>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75.0±6.2</a:t>
            </a:r>
          </a:p>
        </p:txBody>
      </p:sp>
      <p:sp>
        <p:nvSpPr>
          <p:cNvPr id="173" name="TextBox 173"/>
          <p:cNvSpPr txBox="1"/>
          <p:nvPr/>
        </p:nvSpPr>
        <p:spPr>
          <a:xfrm>
            <a:off x="10963466" y="2799398"/>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174" name="Rectangle 174"/>
          <p:cNvSpPr/>
          <p:nvPr/>
        </p:nvSpPr>
        <p:spPr>
          <a:xfrm>
            <a:off x="685800" y="2869882"/>
            <a:ext cx="10820400" cy="99536"/>
          </a:xfrm>
          <a:prstGeom prst="rect">
            <a:avLst/>
          </a:prstGeom>
          <a:solidFill>
            <a:srgbClr val="F8FAFC"/>
          </a:solidFill>
          <a:ln>
            <a:noFill/>
          </a:ln>
        </p:spPr>
      </p:sp>
      <p:sp>
        <p:nvSpPr>
          <p:cNvPr id="175" name="TextBox 175"/>
          <p:cNvSpPr txBox="1"/>
          <p:nvPr/>
        </p:nvSpPr>
        <p:spPr>
          <a:xfrm>
            <a:off x="782729" y="2898934"/>
            <a:ext cx="72842"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15</a:t>
            </a:r>
          </a:p>
        </p:txBody>
      </p:sp>
      <p:sp>
        <p:nvSpPr>
          <p:cNvPr id="176" name="TextBox 176"/>
          <p:cNvSpPr txBox="1"/>
          <p:nvPr/>
        </p:nvSpPr>
        <p:spPr>
          <a:xfrm>
            <a:off x="1422368" y="2901363"/>
            <a:ext cx="1419939"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中国特色反腐败制度框架下贿赂犯罪法益的确定</a:t>
            </a:r>
          </a:p>
        </p:txBody>
      </p:sp>
      <p:sp>
        <p:nvSpPr>
          <p:cNvPr id="177" name="TextBox 177"/>
          <p:cNvSpPr txBox="1"/>
          <p:nvPr/>
        </p:nvSpPr>
        <p:spPr>
          <a:xfrm>
            <a:off x="4458938" y="2898934"/>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87.7±4.7</a:t>
            </a:r>
          </a:p>
        </p:txBody>
      </p:sp>
      <p:sp>
        <p:nvSpPr>
          <p:cNvPr id="178" name="TextBox 178"/>
          <p:cNvSpPr txBox="1"/>
          <p:nvPr/>
        </p:nvSpPr>
        <p:spPr>
          <a:xfrm>
            <a:off x="5661041" y="2902982"/>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88.0±6.0</a:t>
            </a:r>
          </a:p>
        </p:txBody>
      </p:sp>
      <p:sp>
        <p:nvSpPr>
          <p:cNvPr id="179" name="TextBox 179"/>
          <p:cNvSpPr txBox="1"/>
          <p:nvPr/>
        </p:nvSpPr>
        <p:spPr>
          <a:xfrm>
            <a:off x="6518291" y="290298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88.0±3.3</a:t>
            </a:r>
          </a:p>
        </p:txBody>
      </p:sp>
      <p:sp>
        <p:nvSpPr>
          <p:cNvPr id="180" name="TextBox 180"/>
          <p:cNvSpPr txBox="1"/>
          <p:nvPr/>
        </p:nvSpPr>
        <p:spPr>
          <a:xfrm>
            <a:off x="7375541" y="290298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87.0±2.8</a:t>
            </a:r>
          </a:p>
        </p:txBody>
      </p:sp>
      <p:sp>
        <p:nvSpPr>
          <p:cNvPr id="181" name="TextBox 181"/>
          <p:cNvSpPr txBox="1"/>
          <p:nvPr/>
        </p:nvSpPr>
        <p:spPr>
          <a:xfrm>
            <a:off x="8232791" y="290298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90.0±4.2</a:t>
            </a:r>
          </a:p>
        </p:txBody>
      </p:sp>
      <p:sp>
        <p:nvSpPr>
          <p:cNvPr id="182" name="TextBox 182"/>
          <p:cNvSpPr txBox="1"/>
          <p:nvPr/>
        </p:nvSpPr>
        <p:spPr>
          <a:xfrm>
            <a:off x="9090041" y="2902982"/>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88.0±8.7</a:t>
            </a:r>
          </a:p>
        </p:txBody>
      </p:sp>
      <p:sp>
        <p:nvSpPr>
          <p:cNvPr id="183" name="TextBox 183"/>
          <p:cNvSpPr txBox="1"/>
          <p:nvPr/>
        </p:nvSpPr>
        <p:spPr>
          <a:xfrm>
            <a:off x="9955417" y="2902982"/>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76.5±3.1</a:t>
            </a:r>
          </a:p>
        </p:txBody>
      </p:sp>
      <p:sp>
        <p:nvSpPr>
          <p:cNvPr id="184" name="TextBox 184"/>
          <p:cNvSpPr txBox="1"/>
          <p:nvPr/>
        </p:nvSpPr>
        <p:spPr>
          <a:xfrm>
            <a:off x="10963466" y="2898934"/>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185" name="Rectangle 185"/>
          <p:cNvSpPr/>
          <p:nvPr/>
        </p:nvSpPr>
        <p:spPr>
          <a:xfrm>
            <a:off x="685800" y="2969419"/>
            <a:ext cx="10820400" cy="99536"/>
          </a:xfrm>
          <a:prstGeom prst="rect">
            <a:avLst/>
          </a:prstGeom>
          <a:solidFill>
            <a:srgbClr val="FFFFFF"/>
          </a:solidFill>
          <a:ln>
            <a:noFill/>
          </a:ln>
        </p:spPr>
      </p:sp>
      <p:sp>
        <p:nvSpPr>
          <p:cNvPr id="186" name="TextBox 186"/>
          <p:cNvSpPr txBox="1"/>
          <p:nvPr/>
        </p:nvSpPr>
        <p:spPr>
          <a:xfrm>
            <a:off x="782729" y="2998470"/>
            <a:ext cx="72842"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16</a:t>
            </a:r>
          </a:p>
        </p:txBody>
      </p:sp>
      <p:sp>
        <p:nvSpPr>
          <p:cNvPr id="187" name="TextBox 187"/>
          <p:cNvSpPr txBox="1"/>
          <p:nvPr/>
        </p:nvSpPr>
        <p:spPr>
          <a:xfrm>
            <a:off x="1422368" y="3000899"/>
            <a:ext cx="1285923"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基本权利私人间效力法理基础的澄清与重构</a:t>
            </a:r>
          </a:p>
        </p:txBody>
      </p:sp>
      <p:sp>
        <p:nvSpPr>
          <p:cNvPr id="188" name="TextBox 188"/>
          <p:cNvSpPr txBox="1"/>
          <p:nvPr/>
        </p:nvSpPr>
        <p:spPr>
          <a:xfrm>
            <a:off x="4451237" y="2998470"/>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87.7±8.8</a:t>
            </a:r>
          </a:p>
        </p:txBody>
      </p:sp>
      <p:sp>
        <p:nvSpPr>
          <p:cNvPr id="189" name="TextBox 189"/>
          <p:cNvSpPr txBox="1"/>
          <p:nvPr/>
        </p:nvSpPr>
        <p:spPr>
          <a:xfrm>
            <a:off x="5651290" y="3002518"/>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89.5±18.7</a:t>
            </a:r>
          </a:p>
        </p:txBody>
      </p:sp>
      <p:sp>
        <p:nvSpPr>
          <p:cNvPr id="190" name="TextBox 190"/>
          <p:cNvSpPr txBox="1"/>
          <p:nvPr/>
        </p:nvSpPr>
        <p:spPr>
          <a:xfrm>
            <a:off x="6518291" y="300251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88.0±2.9</a:t>
            </a:r>
          </a:p>
        </p:txBody>
      </p:sp>
      <p:sp>
        <p:nvSpPr>
          <p:cNvPr id="191" name="TextBox 191"/>
          <p:cNvSpPr txBox="1"/>
          <p:nvPr/>
        </p:nvSpPr>
        <p:spPr>
          <a:xfrm>
            <a:off x="7365790" y="3002518"/>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82.5±12.7</a:t>
            </a:r>
          </a:p>
        </p:txBody>
      </p:sp>
      <p:sp>
        <p:nvSpPr>
          <p:cNvPr id="192" name="TextBox 192"/>
          <p:cNvSpPr txBox="1"/>
          <p:nvPr/>
        </p:nvSpPr>
        <p:spPr>
          <a:xfrm>
            <a:off x="8240917" y="3002518"/>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90.0±1.9</a:t>
            </a:r>
          </a:p>
        </p:txBody>
      </p:sp>
      <p:sp>
        <p:nvSpPr>
          <p:cNvPr id="193" name="TextBox 193"/>
          <p:cNvSpPr txBox="1"/>
          <p:nvPr/>
        </p:nvSpPr>
        <p:spPr>
          <a:xfrm>
            <a:off x="9098167" y="3002518"/>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88.0±1.9</a:t>
            </a:r>
          </a:p>
        </p:txBody>
      </p:sp>
      <p:sp>
        <p:nvSpPr>
          <p:cNvPr id="194" name="TextBox 194"/>
          <p:cNvSpPr txBox="1"/>
          <p:nvPr/>
        </p:nvSpPr>
        <p:spPr>
          <a:xfrm>
            <a:off x="9955417" y="3002518"/>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81.0±3.4</a:t>
            </a:r>
          </a:p>
        </p:txBody>
      </p:sp>
      <p:sp>
        <p:nvSpPr>
          <p:cNvPr id="195" name="TextBox 195"/>
          <p:cNvSpPr txBox="1"/>
          <p:nvPr/>
        </p:nvSpPr>
        <p:spPr>
          <a:xfrm>
            <a:off x="10963466" y="2998470"/>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196" name="Rectangle 196"/>
          <p:cNvSpPr/>
          <p:nvPr/>
        </p:nvSpPr>
        <p:spPr>
          <a:xfrm>
            <a:off x="685800" y="3068955"/>
            <a:ext cx="10820400" cy="99536"/>
          </a:xfrm>
          <a:prstGeom prst="rect">
            <a:avLst/>
          </a:prstGeom>
          <a:solidFill>
            <a:srgbClr val="F8FAFC"/>
          </a:solidFill>
          <a:ln>
            <a:noFill/>
          </a:ln>
        </p:spPr>
      </p:sp>
      <p:sp>
        <p:nvSpPr>
          <p:cNvPr id="197" name="TextBox 197"/>
          <p:cNvSpPr txBox="1"/>
          <p:nvPr/>
        </p:nvSpPr>
        <p:spPr>
          <a:xfrm>
            <a:off x="782729" y="3098006"/>
            <a:ext cx="72842"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17</a:t>
            </a:r>
          </a:p>
        </p:txBody>
      </p:sp>
      <p:sp>
        <p:nvSpPr>
          <p:cNvPr id="198" name="TextBox 198"/>
          <p:cNvSpPr txBox="1"/>
          <p:nvPr/>
        </p:nvSpPr>
        <p:spPr>
          <a:xfrm>
            <a:off x="1422368" y="3100435"/>
            <a:ext cx="162096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财产犯罪中财产性利益的事实占有：以存款债权为中心</a:t>
            </a:r>
          </a:p>
        </p:txBody>
      </p:sp>
      <p:sp>
        <p:nvSpPr>
          <p:cNvPr id="199" name="TextBox 199"/>
          <p:cNvSpPr txBox="1"/>
          <p:nvPr/>
        </p:nvSpPr>
        <p:spPr>
          <a:xfrm>
            <a:off x="4458938" y="3098006"/>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87.7±4.3</a:t>
            </a:r>
          </a:p>
        </p:txBody>
      </p:sp>
      <p:sp>
        <p:nvSpPr>
          <p:cNvPr id="200" name="TextBox 200"/>
          <p:cNvSpPr txBox="1"/>
          <p:nvPr/>
        </p:nvSpPr>
        <p:spPr>
          <a:xfrm>
            <a:off x="5661041" y="3102054"/>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88.0±5.7</a:t>
            </a:r>
          </a:p>
        </p:txBody>
      </p:sp>
      <p:sp>
        <p:nvSpPr>
          <p:cNvPr id="201" name="TextBox 201"/>
          <p:cNvSpPr txBox="1"/>
          <p:nvPr/>
        </p:nvSpPr>
        <p:spPr>
          <a:xfrm>
            <a:off x="6526417" y="3102054"/>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89.0±3.1</a:t>
            </a:r>
          </a:p>
        </p:txBody>
      </p:sp>
      <p:sp>
        <p:nvSpPr>
          <p:cNvPr id="202" name="TextBox 202"/>
          <p:cNvSpPr txBox="1"/>
          <p:nvPr/>
        </p:nvSpPr>
        <p:spPr>
          <a:xfrm>
            <a:off x="7375541" y="310205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89.0±3.9</a:t>
            </a:r>
          </a:p>
        </p:txBody>
      </p:sp>
      <p:sp>
        <p:nvSpPr>
          <p:cNvPr id="203" name="TextBox 203"/>
          <p:cNvSpPr txBox="1"/>
          <p:nvPr/>
        </p:nvSpPr>
        <p:spPr>
          <a:xfrm>
            <a:off x="8232791" y="310205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89.0±2.3</a:t>
            </a:r>
          </a:p>
        </p:txBody>
      </p:sp>
      <p:sp>
        <p:nvSpPr>
          <p:cNvPr id="204" name="TextBox 204"/>
          <p:cNvSpPr txBox="1"/>
          <p:nvPr/>
        </p:nvSpPr>
        <p:spPr>
          <a:xfrm>
            <a:off x="9090041" y="3102054"/>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87.0±6.3</a:t>
            </a:r>
          </a:p>
        </p:txBody>
      </p:sp>
      <p:sp>
        <p:nvSpPr>
          <p:cNvPr id="205" name="TextBox 205"/>
          <p:cNvSpPr txBox="1"/>
          <p:nvPr/>
        </p:nvSpPr>
        <p:spPr>
          <a:xfrm>
            <a:off x="9947291" y="3102054"/>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72.5±5.2</a:t>
            </a:r>
          </a:p>
        </p:txBody>
      </p:sp>
      <p:sp>
        <p:nvSpPr>
          <p:cNvPr id="206" name="TextBox 206"/>
          <p:cNvSpPr txBox="1"/>
          <p:nvPr/>
        </p:nvSpPr>
        <p:spPr>
          <a:xfrm>
            <a:off x="10963466" y="3098006"/>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207" name="Rectangle 207"/>
          <p:cNvSpPr/>
          <p:nvPr/>
        </p:nvSpPr>
        <p:spPr>
          <a:xfrm>
            <a:off x="685800" y="3168491"/>
            <a:ext cx="10820400" cy="99536"/>
          </a:xfrm>
          <a:prstGeom prst="rect">
            <a:avLst/>
          </a:prstGeom>
          <a:solidFill>
            <a:srgbClr val="FFFFFF"/>
          </a:solidFill>
          <a:ln>
            <a:noFill/>
          </a:ln>
        </p:spPr>
      </p:sp>
      <p:sp>
        <p:nvSpPr>
          <p:cNvPr id="208" name="TextBox 208"/>
          <p:cNvSpPr txBox="1"/>
          <p:nvPr/>
        </p:nvSpPr>
        <p:spPr>
          <a:xfrm>
            <a:off x="782729" y="3197542"/>
            <a:ext cx="72842"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18</a:t>
            </a:r>
          </a:p>
        </p:txBody>
      </p:sp>
      <p:sp>
        <p:nvSpPr>
          <p:cNvPr id="209" name="TextBox 209"/>
          <p:cNvSpPr txBox="1"/>
          <p:nvPr/>
        </p:nvSpPr>
        <p:spPr>
          <a:xfrm>
            <a:off x="1422368" y="3199971"/>
            <a:ext cx="81686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代理公开的例外类型和效果</a:t>
            </a:r>
          </a:p>
        </p:txBody>
      </p:sp>
      <p:sp>
        <p:nvSpPr>
          <p:cNvPr id="210" name="TextBox 210"/>
          <p:cNvSpPr txBox="1"/>
          <p:nvPr/>
        </p:nvSpPr>
        <p:spPr>
          <a:xfrm>
            <a:off x="4467689" y="3197542"/>
            <a:ext cx="303871"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87.6±3.1</a:t>
            </a:r>
          </a:p>
        </p:txBody>
      </p:sp>
      <p:sp>
        <p:nvSpPr>
          <p:cNvPr id="211" name="TextBox 211"/>
          <p:cNvSpPr txBox="1"/>
          <p:nvPr/>
        </p:nvSpPr>
        <p:spPr>
          <a:xfrm>
            <a:off x="5661041" y="320159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89.0±3.6</a:t>
            </a:r>
          </a:p>
        </p:txBody>
      </p:sp>
      <p:sp>
        <p:nvSpPr>
          <p:cNvPr id="212" name="TextBox 212"/>
          <p:cNvSpPr txBox="1"/>
          <p:nvPr/>
        </p:nvSpPr>
        <p:spPr>
          <a:xfrm>
            <a:off x="6518291" y="320159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84.5±3.7</a:t>
            </a:r>
          </a:p>
        </p:txBody>
      </p:sp>
      <p:sp>
        <p:nvSpPr>
          <p:cNvPr id="213" name="TextBox 213"/>
          <p:cNvSpPr txBox="1"/>
          <p:nvPr/>
        </p:nvSpPr>
        <p:spPr>
          <a:xfrm>
            <a:off x="7375541" y="320159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93.0±4.2</a:t>
            </a:r>
          </a:p>
        </p:txBody>
      </p:sp>
      <p:sp>
        <p:nvSpPr>
          <p:cNvPr id="214" name="TextBox 214"/>
          <p:cNvSpPr txBox="1"/>
          <p:nvPr/>
        </p:nvSpPr>
        <p:spPr>
          <a:xfrm>
            <a:off x="8232791" y="320159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88.5±0.9</a:t>
            </a:r>
          </a:p>
        </p:txBody>
      </p:sp>
      <p:sp>
        <p:nvSpPr>
          <p:cNvPr id="215" name="TextBox 215"/>
          <p:cNvSpPr txBox="1"/>
          <p:nvPr/>
        </p:nvSpPr>
        <p:spPr>
          <a:xfrm>
            <a:off x="9090041" y="320159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87.0±2.2</a:t>
            </a:r>
          </a:p>
        </p:txBody>
      </p:sp>
      <p:sp>
        <p:nvSpPr>
          <p:cNvPr id="216" name="TextBox 216"/>
          <p:cNvSpPr txBox="1"/>
          <p:nvPr/>
        </p:nvSpPr>
        <p:spPr>
          <a:xfrm>
            <a:off x="9947291" y="3201591"/>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73.0±6.2</a:t>
            </a:r>
          </a:p>
        </p:txBody>
      </p:sp>
      <p:sp>
        <p:nvSpPr>
          <p:cNvPr id="217" name="TextBox 217"/>
          <p:cNvSpPr txBox="1"/>
          <p:nvPr/>
        </p:nvSpPr>
        <p:spPr>
          <a:xfrm>
            <a:off x="10963466" y="3197542"/>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218" name="Rectangle 218"/>
          <p:cNvSpPr/>
          <p:nvPr/>
        </p:nvSpPr>
        <p:spPr>
          <a:xfrm>
            <a:off x="685800" y="3268028"/>
            <a:ext cx="10820400" cy="99536"/>
          </a:xfrm>
          <a:prstGeom prst="rect">
            <a:avLst/>
          </a:prstGeom>
          <a:solidFill>
            <a:srgbClr val="F8FAFC"/>
          </a:solidFill>
          <a:ln>
            <a:noFill/>
          </a:ln>
        </p:spPr>
      </p:sp>
      <p:sp>
        <p:nvSpPr>
          <p:cNvPr id="219" name="TextBox 219"/>
          <p:cNvSpPr txBox="1"/>
          <p:nvPr/>
        </p:nvSpPr>
        <p:spPr>
          <a:xfrm>
            <a:off x="782729" y="3297079"/>
            <a:ext cx="72842"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19</a:t>
            </a:r>
          </a:p>
        </p:txBody>
      </p:sp>
      <p:sp>
        <p:nvSpPr>
          <p:cNvPr id="220" name="TextBox 220"/>
          <p:cNvSpPr txBox="1"/>
          <p:nvPr/>
        </p:nvSpPr>
        <p:spPr>
          <a:xfrm>
            <a:off x="1422368" y="3299508"/>
            <a:ext cx="682847"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论程序法上的犯罪事实</a:t>
            </a:r>
          </a:p>
        </p:txBody>
      </p:sp>
      <p:sp>
        <p:nvSpPr>
          <p:cNvPr id="221" name="TextBox 221"/>
          <p:cNvSpPr txBox="1"/>
          <p:nvPr/>
        </p:nvSpPr>
        <p:spPr>
          <a:xfrm>
            <a:off x="4458938" y="3297079"/>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87.5±3.4</a:t>
            </a:r>
          </a:p>
        </p:txBody>
      </p:sp>
      <p:sp>
        <p:nvSpPr>
          <p:cNvPr id="222" name="TextBox 222"/>
          <p:cNvSpPr txBox="1"/>
          <p:nvPr/>
        </p:nvSpPr>
        <p:spPr>
          <a:xfrm>
            <a:off x="5661041" y="330112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88.0±3.8</a:t>
            </a:r>
          </a:p>
        </p:txBody>
      </p:sp>
      <p:sp>
        <p:nvSpPr>
          <p:cNvPr id="223" name="TextBox 223"/>
          <p:cNvSpPr txBox="1"/>
          <p:nvPr/>
        </p:nvSpPr>
        <p:spPr>
          <a:xfrm>
            <a:off x="6518291" y="330112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87.5±4.5</a:t>
            </a:r>
          </a:p>
        </p:txBody>
      </p:sp>
      <p:sp>
        <p:nvSpPr>
          <p:cNvPr id="224" name="TextBox 224"/>
          <p:cNvSpPr txBox="1"/>
          <p:nvPr/>
        </p:nvSpPr>
        <p:spPr>
          <a:xfrm>
            <a:off x="7375541" y="330112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89.0±2.8</a:t>
            </a:r>
          </a:p>
        </p:txBody>
      </p:sp>
      <p:sp>
        <p:nvSpPr>
          <p:cNvPr id="225" name="TextBox 225"/>
          <p:cNvSpPr txBox="1"/>
          <p:nvPr/>
        </p:nvSpPr>
        <p:spPr>
          <a:xfrm>
            <a:off x="8232791" y="330112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89.0±2.6</a:t>
            </a:r>
          </a:p>
        </p:txBody>
      </p:sp>
      <p:sp>
        <p:nvSpPr>
          <p:cNvPr id="226" name="TextBox 226"/>
          <p:cNvSpPr txBox="1"/>
          <p:nvPr/>
        </p:nvSpPr>
        <p:spPr>
          <a:xfrm>
            <a:off x="9090041" y="330112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85.0±2.8</a:t>
            </a:r>
          </a:p>
        </p:txBody>
      </p:sp>
      <p:sp>
        <p:nvSpPr>
          <p:cNvPr id="227" name="TextBox 227"/>
          <p:cNvSpPr txBox="1"/>
          <p:nvPr/>
        </p:nvSpPr>
        <p:spPr>
          <a:xfrm>
            <a:off x="9947291" y="330112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80.0±2.7</a:t>
            </a:r>
          </a:p>
        </p:txBody>
      </p:sp>
      <p:sp>
        <p:nvSpPr>
          <p:cNvPr id="228" name="TextBox 228"/>
          <p:cNvSpPr txBox="1"/>
          <p:nvPr/>
        </p:nvSpPr>
        <p:spPr>
          <a:xfrm>
            <a:off x="10963466" y="3297079"/>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229" name="Rectangle 229"/>
          <p:cNvSpPr/>
          <p:nvPr/>
        </p:nvSpPr>
        <p:spPr>
          <a:xfrm>
            <a:off x="685800" y="3367564"/>
            <a:ext cx="10820400" cy="99536"/>
          </a:xfrm>
          <a:prstGeom prst="rect">
            <a:avLst/>
          </a:prstGeom>
          <a:solidFill>
            <a:srgbClr val="FFFFFF"/>
          </a:solidFill>
          <a:ln>
            <a:noFill/>
          </a:ln>
        </p:spPr>
      </p:sp>
      <p:sp>
        <p:nvSpPr>
          <p:cNvPr id="230" name="TextBox 230"/>
          <p:cNvSpPr txBox="1"/>
          <p:nvPr/>
        </p:nvSpPr>
        <p:spPr>
          <a:xfrm>
            <a:off x="773978" y="3396615"/>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20</a:t>
            </a:r>
          </a:p>
        </p:txBody>
      </p:sp>
      <p:sp>
        <p:nvSpPr>
          <p:cNvPr id="231" name="TextBox 231"/>
          <p:cNvSpPr txBox="1"/>
          <p:nvPr/>
        </p:nvSpPr>
        <p:spPr>
          <a:xfrm>
            <a:off x="1422368" y="3399044"/>
            <a:ext cx="1285923"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抽逃出资规则及公司分配制度的系统性改造</a:t>
            </a:r>
          </a:p>
        </p:txBody>
      </p:sp>
      <p:sp>
        <p:nvSpPr>
          <p:cNvPr id="232" name="TextBox 232"/>
          <p:cNvSpPr txBox="1"/>
          <p:nvPr/>
        </p:nvSpPr>
        <p:spPr>
          <a:xfrm>
            <a:off x="4451237" y="3396615"/>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87.5±7.0</a:t>
            </a:r>
          </a:p>
        </p:txBody>
      </p:sp>
      <p:sp>
        <p:nvSpPr>
          <p:cNvPr id="233" name="TextBox 233"/>
          <p:cNvSpPr txBox="1"/>
          <p:nvPr/>
        </p:nvSpPr>
        <p:spPr>
          <a:xfrm>
            <a:off x="5661041" y="3400663"/>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87.5±7.8</a:t>
            </a:r>
          </a:p>
        </p:txBody>
      </p:sp>
      <p:sp>
        <p:nvSpPr>
          <p:cNvPr id="234" name="TextBox 234"/>
          <p:cNvSpPr txBox="1"/>
          <p:nvPr/>
        </p:nvSpPr>
        <p:spPr>
          <a:xfrm>
            <a:off x="6526417" y="3400663"/>
            <a:ext cx="282166"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91.0±5.4</a:t>
            </a:r>
          </a:p>
        </p:txBody>
      </p:sp>
      <p:sp>
        <p:nvSpPr>
          <p:cNvPr id="235" name="TextBox 235"/>
          <p:cNvSpPr txBox="1"/>
          <p:nvPr/>
        </p:nvSpPr>
        <p:spPr>
          <a:xfrm>
            <a:off x="7375541" y="3400663"/>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80.0±9.3</a:t>
            </a:r>
          </a:p>
        </p:txBody>
      </p:sp>
      <p:sp>
        <p:nvSpPr>
          <p:cNvPr id="236" name="TextBox 236"/>
          <p:cNvSpPr txBox="1"/>
          <p:nvPr/>
        </p:nvSpPr>
        <p:spPr>
          <a:xfrm>
            <a:off x="8232791" y="340066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90.0±2.4</a:t>
            </a:r>
          </a:p>
        </p:txBody>
      </p:sp>
      <p:sp>
        <p:nvSpPr>
          <p:cNvPr id="237" name="TextBox 237"/>
          <p:cNvSpPr txBox="1"/>
          <p:nvPr/>
        </p:nvSpPr>
        <p:spPr>
          <a:xfrm>
            <a:off x="9080290" y="3400663"/>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88.0±16.3</a:t>
            </a:r>
          </a:p>
        </p:txBody>
      </p:sp>
      <p:sp>
        <p:nvSpPr>
          <p:cNvPr id="238" name="TextBox 238"/>
          <p:cNvSpPr txBox="1"/>
          <p:nvPr/>
        </p:nvSpPr>
        <p:spPr>
          <a:xfrm>
            <a:off x="9955417" y="3400663"/>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85.0±1.9</a:t>
            </a:r>
          </a:p>
        </p:txBody>
      </p:sp>
      <p:sp>
        <p:nvSpPr>
          <p:cNvPr id="239" name="TextBox 239"/>
          <p:cNvSpPr txBox="1"/>
          <p:nvPr/>
        </p:nvSpPr>
        <p:spPr>
          <a:xfrm>
            <a:off x="10963466" y="3396615"/>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240" name="Rectangle 240"/>
          <p:cNvSpPr/>
          <p:nvPr/>
        </p:nvSpPr>
        <p:spPr>
          <a:xfrm>
            <a:off x="685800" y="3467100"/>
            <a:ext cx="10820400" cy="99536"/>
          </a:xfrm>
          <a:prstGeom prst="rect">
            <a:avLst/>
          </a:prstGeom>
          <a:solidFill>
            <a:srgbClr val="F8FAFC"/>
          </a:solidFill>
          <a:ln>
            <a:noFill/>
          </a:ln>
        </p:spPr>
      </p:sp>
      <p:sp>
        <p:nvSpPr>
          <p:cNvPr id="241" name="TextBox 241"/>
          <p:cNvSpPr txBox="1"/>
          <p:nvPr/>
        </p:nvSpPr>
        <p:spPr>
          <a:xfrm>
            <a:off x="782729" y="3496151"/>
            <a:ext cx="72842"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21</a:t>
            </a:r>
          </a:p>
        </p:txBody>
      </p:sp>
      <p:sp>
        <p:nvSpPr>
          <p:cNvPr id="242" name="TextBox 242"/>
          <p:cNvSpPr txBox="1"/>
          <p:nvPr/>
        </p:nvSpPr>
        <p:spPr>
          <a:xfrm>
            <a:off x="1422368" y="3498580"/>
            <a:ext cx="1798537"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为被告人利益抗诉与上诉不加刑原则之适用———以上诉理由之</a:t>
            </a:r>
          </a:p>
        </p:txBody>
      </p:sp>
      <p:sp>
        <p:nvSpPr>
          <p:cNvPr id="243" name="TextBox 243"/>
          <p:cNvSpPr txBox="1"/>
          <p:nvPr/>
        </p:nvSpPr>
        <p:spPr>
          <a:xfrm>
            <a:off x="4458938" y="3496151"/>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87.4±4.8</a:t>
            </a:r>
          </a:p>
        </p:txBody>
      </p:sp>
      <p:sp>
        <p:nvSpPr>
          <p:cNvPr id="244" name="TextBox 244"/>
          <p:cNvSpPr txBox="1"/>
          <p:nvPr/>
        </p:nvSpPr>
        <p:spPr>
          <a:xfrm>
            <a:off x="5661041" y="350019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88.0±4.5</a:t>
            </a:r>
          </a:p>
        </p:txBody>
      </p:sp>
      <p:sp>
        <p:nvSpPr>
          <p:cNvPr id="245" name="TextBox 245"/>
          <p:cNvSpPr txBox="1"/>
          <p:nvPr/>
        </p:nvSpPr>
        <p:spPr>
          <a:xfrm>
            <a:off x="6518291" y="350019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85.0±3.5</a:t>
            </a:r>
          </a:p>
        </p:txBody>
      </p:sp>
      <p:sp>
        <p:nvSpPr>
          <p:cNvPr id="246" name="TextBox 246"/>
          <p:cNvSpPr txBox="1"/>
          <p:nvPr/>
        </p:nvSpPr>
        <p:spPr>
          <a:xfrm>
            <a:off x="7375541" y="350019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85.5±4.9</a:t>
            </a:r>
          </a:p>
        </p:txBody>
      </p:sp>
      <p:sp>
        <p:nvSpPr>
          <p:cNvPr id="247" name="TextBox 247"/>
          <p:cNvSpPr txBox="1"/>
          <p:nvPr/>
        </p:nvSpPr>
        <p:spPr>
          <a:xfrm>
            <a:off x="8240917" y="3500199"/>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91.0±3.2</a:t>
            </a:r>
          </a:p>
        </p:txBody>
      </p:sp>
      <p:sp>
        <p:nvSpPr>
          <p:cNvPr id="248" name="TextBox 248"/>
          <p:cNvSpPr txBox="1"/>
          <p:nvPr/>
        </p:nvSpPr>
        <p:spPr>
          <a:xfrm>
            <a:off x="9080290" y="3500199"/>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88.0±12.2</a:t>
            </a:r>
          </a:p>
        </p:txBody>
      </p:sp>
      <p:sp>
        <p:nvSpPr>
          <p:cNvPr id="249" name="TextBox 249"/>
          <p:cNvSpPr txBox="1"/>
          <p:nvPr/>
        </p:nvSpPr>
        <p:spPr>
          <a:xfrm>
            <a:off x="9947291" y="350019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83.5±3.8</a:t>
            </a:r>
          </a:p>
        </p:txBody>
      </p:sp>
      <p:sp>
        <p:nvSpPr>
          <p:cNvPr id="250" name="TextBox 250"/>
          <p:cNvSpPr txBox="1"/>
          <p:nvPr/>
        </p:nvSpPr>
        <p:spPr>
          <a:xfrm>
            <a:off x="10963466" y="3496151"/>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251" name="Rectangle 251"/>
          <p:cNvSpPr/>
          <p:nvPr/>
        </p:nvSpPr>
        <p:spPr>
          <a:xfrm>
            <a:off x="685800" y="3566636"/>
            <a:ext cx="10820400" cy="99536"/>
          </a:xfrm>
          <a:prstGeom prst="rect">
            <a:avLst/>
          </a:prstGeom>
          <a:solidFill>
            <a:srgbClr val="FFFFFF"/>
          </a:solidFill>
          <a:ln>
            <a:noFill/>
          </a:ln>
        </p:spPr>
      </p:sp>
      <p:sp>
        <p:nvSpPr>
          <p:cNvPr id="252" name="TextBox 252"/>
          <p:cNvSpPr txBox="1"/>
          <p:nvPr/>
        </p:nvSpPr>
        <p:spPr>
          <a:xfrm>
            <a:off x="773978" y="3595688"/>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22</a:t>
            </a:r>
          </a:p>
        </p:txBody>
      </p:sp>
      <p:sp>
        <p:nvSpPr>
          <p:cNvPr id="253" name="TextBox 253"/>
          <p:cNvSpPr txBox="1"/>
          <p:nvPr/>
        </p:nvSpPr>
        <p:spPr>
          <a:xfrm>
            <a:off x="1422368" y="3598116"/>
            <a:ext cx="1419939"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过失犯远因溯责的规制路径：以渎职犯罪为中心</a:t>
            </a:r>
          </a:p>
        </p:txBody>
      </p:sp>
      <p:sp>
        <p:nvSpPr>
          <p:cNvPr id="254" name="TextBox 254"/>
          <p:cNvSpPr txBox="1"/>
          <p:nvPr/>
        </p:nvSpPr>
        <p:spPr>
          <a:xfrm>
            <a:off x="4460426" y="3595688"/>
            <a:ext cx="318398"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87.3±7.1</a:t>
            </a:r>
          </a:p>
        </p:txBody>
      </p:sp>
      <p:sp>
        <p:nvSpPr>
          <p:cNvPr id="255" name="TextBox 255"/>
          <p:cNvSpPr txBox="1"/>
          <p:nvPr/>
        </p:nvSpPr>
        <p:spPr>
          <a:xfrm>
            <a:off x="5651290" y="3599736"/>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90.0±13.3</a:t>
            </a:r>
          </a:p>
        </p:txBody>
      </p:sp>
      <p:sp>
        <p:nvSpPr>
          <p:cNvPr id="256" name="TextBox 256"/>
          <p:cNvSpPr txBox="1"/>
          <p:nvPr/>
        </p:nvSpPr>
        <p:spPr>
          <a:xfrm>
            <a:off x="6518291" y="3599736"/>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85.0±5.6</a:t>
            </a:r>
          </a:p>
        </p:txBody>
      </p:sp>
      <p:sp>
        <p:nvSpPr>
          <p:cNvPr id="257" name="TextBox 257"/>
          <p:cNvSpPr txBox="1"/>
          <p:nvPr/>
        </p:nvSpPr>
        <p:spPr>
          <a:xfrm>
            <a:off x="7375541" y="3599736"/>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88.0±8.2</a:t>
            </a:r>
          </a:p>
        </p:txBody>
      </p:sp>
      <p:sp>
        <p:nvSpPr>
          <p:cNvPr id="258" name="TextBox 258"/>
          <p:cNvSpPr txBox="1"/>
          <p:nvPr/>
        </p:nvSpPr>
        <p:spPr>
          <a:xfrm>
            <a:off x="8240917" y="3599736"/>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88.0±1.7</a:t>
            </a:r>
          </a:p>
        </p:txBody>
      </p:sp>
      <p:sp>
        <p:nvSpPr>
          <p:cNvPr id="259" name="TextBox 259"/>
          <p:cNvSpPr txBox="1"/>
          <p:nvPr/>
        </p:nvSpPr>
        <p:spPr>
          <a:xfrm>
            <a:off x="9090041" y="359973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88.0±2.2</a:t>
            </a:r>
          </a:p>
        </p:txBody>
      </p:sp>
      <p:sp>
        <p:nvSpPr>
          <p:cNvPr id="260" name="TextBox 260"/>
          <p:cNvSpPr txBox="1"/>
          <p:nvPr/>
        </p:nvSpPr>
        <p:spPr>
          <a:xfrm>
            <a:off x="9947291" y="359973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74.5±3.3</a:t>
            </a:r>
          </a:p>
        </p:txBody>
      </p:sp>
      <p:sp>
        <p:nvSpPr>
          <p:cNvPr id="261" name="TextBox 261"/>
          <p:cNvSpPr txBox="1"/>
          <p:nvPr/>
        </p:nvSpPr>
        <p:spPr>
          <a:xfrm>
            <a:off x="10963466" y="3595688"/>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262" name="Rectangle 262"/>
          <p:cNvSpPr/>
          <p:nvPr/>
        </p:nvSpPr>
        <p:spPr>
          <a:xfrm>
            <a:off x="685800" y="3666172"/>
            <a:ext cx="10820400" cy="99536"/>
          </a:xfrm>
          <a:prstGeom prst="rect">
            <a:avLst/>
          </a:prstGeom>
          <a:solidFill>
            <a:srgbClr val="F8FAFC"/>
          </a:solidFill>
          <a:ln>
            <a:noFill/>
          </a:ln>
        </p:spPr>
      </p:sp>
      <p:sp>
        <p:nvSpPr>
          <p:cNvPr id="263" name="TextBox 263"/>
          <p:cNvSpPr txBox="1"/>
          <p:nvPr/>
        </p:nvSpPr>
        <p:spPr>
          <a:xfrm>
            <a:off x="773978" y="3695224"/>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23</a:t>
            </a:r>
          </a:p>
        </p:txBody>
      </p:sp>
      <p:sp>
        <p:nvSpPr>
          <p:cNvPr id="264" name="TextBox 264"/>
          <p:cNvSpPr txBox="1"/>
          <p:nvPr/>
        </p:nvSpPr>
        <p:spPr>
          <a:xfrm>
            <a:off x="1422368" y="3697653"/>
            <a:ext cx="830266"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从"权能分离"到"权利行使"</a:t>
            </a:r>
          </a:p>
        </p:txBody>
      </p:sp>
      <p:sp>
        <p:nvSpPr>
          <p:cNvPr id="265" name="TextBox 265"/>
          <p:cNvSpPr txBox="1"/>
          <p:nvPr/>
        </p:nvSpPr>
        <p:spPr>
          <a:xfrm>
            <a:off x="4458938" y="3695224"/>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87.2±3.3</a:t>
            </a:r>
          </a:p>
        </p:txBody>
      </p:sp>
      <p:sp>
        <p:nvSpPr>
          <p:cNvPr id="266" name="TextBox 266"/>
          <p:cNvSpPr txBox="1"/>
          <p:nvPr/>
        </p:nvSpPr>
        <p:spPr>
          <a:xfrm>
            <a:off x="5661041" y="369927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87.5±2.7</a:t>
            </a:r>
          </a:p>
        </p:txBody>
      </p:sp>
      <p:sp>
        <p:nvSpPr>
          <p:cNvPr id="267" name="TextBox 267"/>
          <p:cNvSpPr txBox="1"/>
          <p:nvPr/>
        </p:nvSpPr>
        <p:spPr>
          <a:xfrm>
            <a:off x="6526417" y="3699272"/>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89.5±1.7</a:t>
            </a:r>
          </a:p>
        </p:txBody>
      </p:sp>
      <p:sp>
        <p:nvSpPr>
          <p:cNvPr id="268" name="TextBox 268"/>
          <p:cNvSpPr txBox="1"/>
          <p:nvPr/>
        </p:nvSpPr>
        <p:spPr>
          <a:xfrm>
            <a:off x="7375541" y="3699272"/>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85.0±6.7</a:t>
            </a:r>
          </a:p>
        </p:txBody>
      </p:sp>
      <p:sp>
        <p:nvSpPr>
          <p:cNvPr id="269" name="TextBox 269"/>
          <p:cNvSpPr txBox="1"/>
          <p:nvPr/>
        </p:nvSpPr>
        <p:spPr>
          <a:xfrm>
            <a:off x="8232791" y="369927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88.0±2.6</a:t>
            </a:r>
          </a:p>
        </p:txBody>
      </p:sp>
      <p:sp>
        <p:nvSpPr>
          <p:cNvPr id="270" name="TextBox 270"/>
          <p:cNvSpPr txBox="1"/>
          <p:nvPr/>
        </p:nvSpPr>
        <p:spPr>
          <a:xfrm>
            <a:off x="9090041" y="369927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87.5±2.6</a:t>
            </a:r>
          </a:p>
        </p:txBody>
      </p:sp>
      <p:sp>
        <p:nvSpPr>
          <p:cNvPr id="271" name="TextBox 271"/>
          <p:cNvSpPr txBox="1"/>
          <p:nvPr/>
        </p:nvSpPr>
        <p:spPr>
          <a:xfrm>
            <a:off x="9955417" y="3699272"/>
            <a:ext cx="282166"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80.0±8.1</a:t>
            </a:r>
          </a:p>
        </p:txBody>
      </p:sp>
      <p:sp>
        <p:nvSpPr>
          <p:cNvPr id="272" name="TextBox 272"/>
          <p:cNvSpPr txBox="1"/>
          <p:nvPr/>
        </p:nvSpPr>
        <p:spPr>
          <a:xfrm>
            <a:off x="10963466" y="3695224"/>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273" name="Rectangle 273"/>
          <p:cNvSpPr/>
          <p:nvPr/>
        </p:nvSpPr>
        <p:spPr>
          <a:xfrm>
            <a:off x="685800" y="3765709"/>
            <a:ext cx="10820400" cy="99536"/>
          </a:xfrm>
          <a:prstGeom prst="rect">
            <a:avLst/>
          </a:prstGeom>
          <a:solidFill>
            <a:srgbClr val="FFFFFF"/>
          </a:solidFill>
          <a:ln>
            <a:noFill/>
          </a:ln>
        </p:spPr>
      </p:sp>
      <p:sp>
        <p:nvSpPr>
          <p:cNvPr id="274" name="TextBox 274"/>
          <p:cNvSpPr txBox="1"/>
          <p:nvPr/>
        </p:nvSpPr>
        <p:spPr>
          <a:xfrm>
            <a:off x="773978" y="3794760"/>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24</a:t>
            </a:r>
          </a:p>
        </p:txBody>
      </p:sp>
      <p:sp>
        <p:nvSpPr>
          <p:cNvPr id="275" name="TextBox 275"/>
          <p:cNvSpPr txBox="1"/>
          <p:nvPr/>
        </p:nvSpPr>
        <p:spPr>
          <a:xfrm>
            <a:off x="1422368" y="3797189"/>
            <a:ext cx="950881"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符合法律的宪法解释与宪法发展</a:t>
            </a:r>
          </a:p>
        </p:txBody>
      </p:sp>
      <p:sp>
        <p:nvSpPr>
          <p:cNvPr id="276" name="TextBox 276"/>
          <p:cNvSpPr txBox="1"/>
          <p:nvPr/>
        </p:nvSpPr>
        <p:spPr>
          <a:xfrm>
            <a:off x="4458938" y="3794760"/>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87.2±3.4</a:t>
            </a:r>
          </a:p>
        </p:txBody>
      </p:sp>
      <p:sp>
        <p:nvSpPr>
          <p:cNvPr id="277" name="TextBox 277"/>
          <p:cNvSpPr txBox="1"/>
          <p:nvPr/>
        </p:nvSpPr>
        <p:spPr>
          <a:xfrm>
            <a:off x="5661041" y="379880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86.5±3.7</a:t>
            </a:r>
          </a:p>
        </p:txBody>
      </p:sp>
      <p:sp>
        <p:nvSpPr>
          <p:cNvPr id="278" name="TextBox 278"/>
          <p:cNvSpPr txBox="1"/>
          <p:nvPr/>
        </p:nvSpPr>
        <p:spPr>
          <a:xfrm>
            <a:off x="6518291" y="379880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87.5±3.6</a:t>
            </a:r>
          </a:p>
        </p:txBody>
      </p:sp>
      <p:sp>
        <p:nvSpPr>
          <p:cNvPr id="279" name="TextBox 279"/>
          <p:cNvSpPr txBox="1"/>
          <p:nvPr/>
        </p:nvSpPr>
        <p:spPr>
          <a:xfrm>
            <a:off x="7383667" y="3798808"/>
            <a:ext cx="282166"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85.5±5.1</a:t>
            </a:r>
          </a:p>
        </p:txBody>
      </p:sp>
      <p:sp>
        <p:nvSpPr>
          <p:cNvPr id="280" name="TextBox 280"/>
          <p:cNvSpPr txBox="1"/>
          <p:nvPr/>
        </p:nvSpPr>
        <p:spPr>
          <a:xfrm>
            <a:off x="8240917" y="3798808"/>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89.5±1.4</a:t>
            </a:r>
          </a:p>
        </p:txBody>
      </p:sp>
      <p:sp>
        <p:nvSpPr>
          <p:cNvPr id="281" name="TextBox 281"/>
          <p:cNvSpPr txBox="1"/>
          <p:nvPr/>
        </p:nvSpPr>
        <p:spPr>
          <a:xfrm>
            <a:off x="9090041" y="379880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88.0±4.0</a:t>
            </a:r>
          </a:p>
        </p:txBody>
      </p:sp>
      <p:sp>
        <p:nvSpPr>
          <p:cNvPr id="282" name="TextBox 282"/>
          <p:cNvSpPr txBox="1"/>
          <p:nvPr/>
        </p:nvSpPr>
        <p:spPr>
          <a:xfrm>
            <a:off x="9947291" y="379880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85.0±3.2</a:t>
            </a:r>
          </a:p>
        </p:txBody>
      </p:sp>
      <p:sp>
        <p:nvSpPr>
          <p:cNvPr id="283" name="TextBox 283"/>
          <p:cNvSpPr txBox="1"/>
          <p:nvPr/>
        </p:nvSpPr>
        <p:spPr>
          <a:xfrm>
            <a:off x="10963466" y="3794760"/>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284" name="Rectangle 284"/>
          <p:cNvSpPr/>
          <p:nvPr/>
        </p:nvSpPr>
        <p:spPr>
          <a:xfrm>
            <a:off x="685800" y="3865245"/>
            <a:ext cx="10820400" cy="99536"/>
          </a:xfrm>
          <a:prstGeom prst="rect">
            <a:avLst/>
          </a:prstGeom>
          <a:solidFill>
            <a:srgbClr val="F8FAFC"/>
          </a:solidFill>
          <a:ln>
            <a:noFill/>
          </a:ln>
        </p:spPr>
      </p:sp>
      <p:sp>
        <p:nvSpPr>
          <p:cNvPr id="285" name="TextBox 285"/>
          <p:cNvSpPr txBox="1"/>
          <p:nvPr/>
        </p:nvSpPr>
        <p:spPr>
          <a:xfrm>
            <a:off x="773978" y="3894296"/>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25</a:t>
            </a:r>
          </a:p>
        </p:txBody>
      </p:sp>
      <p:sp>
        <p:nvSpPr>
          <p:cNvPr id="286" name="TextBox 286"/>
          <p:cNvSpPr txBox="1"/>
          <p:nvPr/>
        </p:nvSpPr>
        <p:spPr>
          <a:xfrm>
            <a:off x="1422368" y="3896725"/>
            <a:ext cx="1352931"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整体法秩序视野下被害人自陷风险的理论重塑</a:t>
            </a:r>
          </a:p>
        </p:txBody>
      </p:sp>
      <p:sp>
        <p:nvSpPr>
          <p:cNvPr id="287" name="TextBox 287"/>
          <p:cNvSpPr txBox="1"/>
          <p:nvPr/>
        </p:nvSpPr>
        <p:spPr>
          <a:xfrm>
            <a:off x="4458938" y="3894296"/>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87.2±4.9</a:t>
            </a:r>
          </a:p>
        </p:txBody>
      </p:sp>
      <p:sp>
        <p:nvSpPr>
          <p:cNvPr id="288" name="TextBox 288"/>
          <p:cNvSpPr txBox="1"/>
          <p:nvPr/>
        </p:nvSpPr>
        <p:spPr>
          <a:xfrm>
            <a:off x="5659416" y="3898344"/>
            <a:ext cx="301669"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85.0±11.3</a:t>
            </a:r>
          </a:p>
        </p:txBody>
      </p:sp>
      <p:sp>
        <p:nvSpPr>
          <p:cNvPr id="289" name="TextBox 289"/>
          <p:cNvSpPr txBox="1"/>
          <p:nvPr/>
        </p:nvSpPr>
        <p:spPr>
          <a:xfrm>
            <a:off x="6526417" y="3898344"/>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89.0±1.8</a:t>
            </a:r>
          </a:p>
        </p:txBody>
      </p:sp>
      <p:sp>
        <p:nvSpPr>
          <p:cNvPr id="290" name="TextBox 290"/>
          <p:cNvSpPr txBox="1"/>
          <p:nvPr/>
        </p:nvSpPr>
        <p:spPr>
          <a:xfrm>
            <a:off x="7375541" y="389834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88.0±2.4</a:t>
            </a:r>
          </a:p>
        </p:txBody>
      </p:sp>
      <p:sp>
        <p:nvSpPr>
          <p:cNvPr id="291" name="TextBox 291"/>
          <p:cNvSpPr txBox="1"/>
          <p:nvPr/>
        </p:nvSpPr>
        <p:spPr>
          <a:xfrm>
            <a:off x="8240917" y="3898344"/>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92.0±1.5</a:t>
            </a:r>
          </a:p>
        </p:txBody>
      </p:sp>
      <p:sp>
        <p:nvSpPr>
          <p:cNvPr id="292" name="TextBox 292"/>
          <p:cNvSpPr txBox="1"/>
          <p:nvPr/>
        </p:nvSpPr>
        <p:spPr>
          <a:xfrm>
            <a:off x="9090041" y="389834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88.0±2.3</a:t>
            </a:r>
          </a:p>
        </p:txBody>
      </p:sp>
      <p:sp>
        <p:nvSpPr>
          <p:cNvPr id="293" name="TextBox 293"/>
          <p:cNvSpPr txBox="1"/>
          <p:nvPr/>
        </p:nvSpPr>
        <p:spPr>
          <a:xfrm>
            <a:off x="9947291" y="3898344"/>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70.0±5.8</a:t>
            </a:r>
          </a:p>
        </p:txBody>
      </p:sp>
      <p:sp>
        <p:nvSpPr>
          <p:cNvPr id="294" name="TextBox 294"/>
          <p:cNvSpPr txBox="1"/>
          <p:nvPr/>
        </p:nvSpPr>
        <p:spPr>
          <a:xfrm>
            <a:off x="10963466" y="3894296"/>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295" name="Rectangle 295"/>
          <p:cNvSpPr/>
          <p:nvPr/>
        </p:nvSpPr>
        <p:spPr>
          <a:xfrm>
            <a:off x="685800" y="3964781"/>
            <a:ext cx="10820400" cy="99536"/>
          </a:xfrm>
          <a:prstGeom prst="rect">
            <a:avLst/>
          </a:prstGeom>
          <a:solidFill>
            <a:srgbClr val="FFFFFF"/>
          </a:solidFill>
          <a:ln>
            <a:noFill/>
          </a:ln>
        </p:spPr>
      </p:sp>
      <p:sp>
        <p:nvSpPr>
          <p:cNvPr id="296" name="TextBox 296"/>
          <p:cNvSpPr txBox="1"/>
          <p:nvPr/>
        </p:nvSpPr>
        <p:spPr>
          <a:xfrm>
            <a:off x="773978" y="3993832"/>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26</a:t>
            </a:r>
          </a:p>
        </p:txBody>
      </p:sp>
      <p:sp>
        <p:nvSpPr>
          <p:cNvPr id="297" name="TextBox 297"/>
          <p:cNvSpPr txBox="1"/>
          <p:nvPr/>
        </p:nvSpPr>
        <p:spPr>
          <a:xfrm>
            <a:off x="1422368" y="3996261"/>
            <a:ext cx="682847"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正当防卫中的退避义务</a:t>
            </a:r>
          </a:p>
        </p:txBody>
      </p:sp>
      <p:sp>
        <p:nvSpPr>
          <p:cNvPr id="298" name="TextBox 298"/>
          <p:cNvSpPr txBox="1"/>
          <p:nvPr/>
        </p:nvSpPr>
        <p:spPr>
          <a:xfrm>
            <a:off x="4476440" y="3993832"/>
            <a:ext cx="286369"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87.1±3.1</a:t>
            </a:r>
          </a:p>
        </p:txBody>
      </p:sp>
      <p:sp>
        <p:nvSpPr>
          <p:cNvPr id="299" name="TextBox 299"/>
          <p:cNvSpPr txBox="1"/>
          <p:nvPr/>
        </p:nvSpPr>
        <p:spPr>
          <a:xfrm>
            <a:off x="5661041" y="3997881"/>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85.0±5.5</a:t>
            </a:r>
          </a:p>
        </p:txBody>
      </p:sp>
      <p:sp>
        <p:nvSpPr>
          <p:cNvPr id="300" name="TextBox 300"/>
          <p:cNvSpPr txBox="1"/>
          <p:nvPr/>
        </p:nvSpPr>
        <p:spPr>
          <a:xfrm>
            <a:off x="6518291" y="399788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90.0±2.2</a:t>
            </a:r>
          </a:p>
        </p:txBody>
      </p:sp>
      <p:sp>
        <p:nvSpPr>
          <p:cNvPr id="301" name="TextBox 301"/>
          <p:cNvSpPr txBox="1"/>
          <p:nvPr/>
        </p:nvSpPr>
        <p:spPr>
          <a:xfrm>
            <a:off x="7383667" y="3997881"/>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88.0±3.1</a:t>
            </a:r>
          </a:p>
        </p:txBody>
      </p:sp>
      <p:sp>
        <p:nvSpPr>
          <p:cNvPr id="302" name="TextBox 302"/>
          <p:cNvSpPr txBox="1"/>
          <p:nvPr/>
        </p:nvSpPr>
        <p:spPr>
          <a:xfrm>
            <a:off x="8240917" y="3997881"/>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88.0±1.5</a:t>
            </a:r>
          </a:p>
        </p:txBody>
      </p:sp>
      <p:sp>
        <p:nvSpPr>
          <p:cNvPr id="303" name="TextBox 303"/>
          <p:cNvSpPr txBox="1"/>
          <p:nvPr/>
        </p:nvSpPr>
        <p:spPr>
          <a:xfrm>
            <a:off x="9098167" y="3997881"/>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88.0±1.9</a:t>
            </a:r>
          </a:p>
        </p:txBody>
      </p:sp>
      <p:sp>
        <p:nvSpPr>
          <p:cNvPr id="304" name="TextBox 304"/>
          <p:cNvSpPr txBox="1"/>
          <p:nvPr/>
        </p:nvSpPr>
        <p:spPr>
          <a:xfrm>
            <a:off x="9955417" y="3997881"/>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80.0±2.1</a:t>
            </a:r>
          </a:p>
        </p:txBody>
      </p:sp>
      <p:sp>
        <p:nvSpPr>
          <p:cNvPr id="305" name="TextBox 305"/>
          <p:cNvSpPr txBox="1"/>
          <p:nvPr/>
        </p:nvSpPr>
        <p:spPr>
          <a:xfrm>
            <a:off x="10963466" y="3993832"/>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306" name="Rectangle 306"/>
          <p:cNvSpPr/>
          <p:nvPr/>
        </p:nvSpPr>
        <p:spPr>
          <a:xfrm>
            <a:off x="685800" y="4064318"/>
            <a:ext cx="10820400" cy="99536"/>
          </a:xfrm>
          <a:prstGeom prst="rect">
            <a:avLst/>
          </a:prstGeom>
          <a:solidFill>
            <a:srgbClr val="F8FAFC"/>
          </a:solidFill>
          <a:ln>
            <a:noFill/>
          </a:ln>
        </p:spPr>
      </p:sp>
      <p:sp>
        <p:nvSpPr>
          <p:cNvPr id="307" name="TextBox 307"/>
          <p:cNvSpPr txBox="1"/>
          <p:nvPr/>
        </p:nvSpPr>
        <p:spPr>
          <a:xfrm>
            <a:off x="773978" y="4093369"/>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27</a:t>
            </a:r>
          </a:p>
        </p:txBody>
      </p:sp>
      <p:sp>
        <p:nvSpPr>
          <p:cNvPr id="308" name="TextBox 308"/>
          <p:cNvSpPr txBox="1"/>
          <p:nvPr/>
        </p:nvSpPr>
        <p:spPr>
          <a:xfrm>
            <a:off x="1422368" y="4095798"/>
            <a:ext cx="1426640"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民法典的精神损害赔偿体系——以功能主义为视角</a:t>
            </a:r>
          </a:p>
        </p:txBody>
      </p:sp>
      <p:sp>
        <p:nvSpPr>
          <p:cNvPr id="309" name="TextBox 309"/>
          <p:cNvSpPr txBox="1"/>
          <p:nvPr/>
        </p:nvSpPr>
        <p:spPr>
          <a:xfrm>
            <a:off x="4451237" y="4093369"/>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87.0±5.5</a:t>
            </a:r>
          </a:p>
        </p:txBody>
      </p:sp>
      <p:sp>
        <p:nvSpPr>
          <p:cNvPr id="310" name="TextBox 310"/>
          <p:cNvSpPr txBox="1"/>
          <p:nvPr/>
        </p:nvSpPr>
        <p:spPr>
          <a:xfrm>
            <a:off x="5651290" y="4097417"/>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89.5±10.3</a:t>
            </a:r>
          </a:p>
        </p:txBody>
      </p:sp>
      <p:sp>
        <p:nvSpPr>
          <p:cNvPr id="311" name="TextBox 311"/>
          <p:cNvSpPr txBox="1"/>
          <p:nvPr/>
        </p:nvSpPr>
        <p:spPr>
          <a:xfrm>
            <a:off x="6518291" y="409741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84.5±5.0</a:t>
            </a:r>
          </a:p>
        </p:txBody>
      </p:sp>
      <p:sp>
        <p:nvSpPr>
          <p:cNvPr id="312" name="TextBox 312"/>
          <p:cNvSpPr txBox="1"/>
          <p:nvPr/>
        </p:nvSpPr>
        <p:spPr>
          <a:xfrm>
            <a:off x="7375541" y="409741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85.0±3.0</a:t>
            </a:r>
          </a:p>
        </p:txBody>
      </p:sp>
      <p:sp>
        <p:nvSpPr>
          <p:cNvPr id="313" name="TextBox 313"/>
          <p:cNvSpPr txBox="1"/>
          <p:nvPr/>
        </p:nvSpPr>
        <p:spPr>
          <a:xfrm>
            <a:off x="8232791" y="409741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90.0±3.2</a:t>
            </a:r>
          </a:p>
        </p:txBody>
      </p:sp>
      <p:sp>
        <p:nvSpPr>
          <p:cNvPr id="314" name="TextBox 314"/>
          <p:cNvSpPr txBox="1"/>
          <p:nvPr/>
        </p:nvSpPr>
        <p:spPr>
          <a:xfrm>
            <a:off x="9090041" y="409741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88.0±2.0</a:t>
            </a:r>
          </a:p>
        </p:txBody>
      </p:sp>
      <p:sp>
        <p:nvSpPr>
          <p:cNvPr id="315" name="TextBox 315"/>
          <p:cNvSpPr txBox="1"/>
          <p:nvPr/>
        </p:nvSpPr>
        <p:spPr>
          <a:xfrm>
            <a:off x="9955417" y="4097417"/>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75.0±3.1</a:t>
            </a:r>
          </a:p>
        </p:txBody>
      </p:sp>
      <p:sp>
        <p:nvSpPr>
          <p:cNvPr id="316" name="TextBox 316"/>
          <p:cNvSpPr txBox="1"/>
          <p:nvPr/>
        </p:nvSpPr>
        <p:spPr>
          <a:xfrm>
            <a:off x="10963466" y="4093369"/>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317" name="Rectangle 317"/>
          <p:cNvSpPr/>
          <p:nvPr/>
        </p:nvSpPr>
        <p:spPr>
          <a:xfrm>
            <a:off x="685800" y="4163854"/>
            <a:ext cx="10820400" cy="99536"/>
          </a:xfrm>
          <a:prstGeom prst="rect">
            <a:avLst/>
          </a:prstGeom>
          <a:solidFill>
            <a:srgbClr val="FFFFFF"/>
          </a:solidFill>
          <a:ln>
            <a:noFill/>
          </a:ln>
        </p:spPr>
      </p:sp>
      <p:sp>
        <p:nvSpPr>
          <p:cNvPr id="318" name="TextBox 318"/>
          <p:cNvSpPr txBox="1"/>
          <p:nvPr/>
        </p:nvSpPr>
        <p:spPr>
          <a:xfrm>
            <a:off x="773978" y="4192905"/>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28</a:t>
            </a:r>
          </a:p>
        </p:txBody>
      </p:sp>
      <p:sp>
        <p:nvSpPr>
          <p:cNvPr id="319" name="TextBox 319"/>
          <p:cNvSpPr txBox="1"/>
          <p:nvPr/>
        </p:nvSpPr>
        <p:spPr>
          <a:xfrm>
            <a:off x="1422368" y="4195334"/>
            <a:ext cx="185884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基本原则与概括条款的区分:我国诚实信用与公序良俗的解释论</a:t>
            </a:r>
          </a:p>
        </p:txBody>
      </p:sp>
      <p:sp>
        <p:nvSpPr>
          <p:cNvPr id="320" name="TextBox 320"/>
          <p:cNvSpPr txBox="1"/>
          <p:nvPr/>
        </p:nvSpPr>
        <p:spPr>
          <a:xfrm>
            <a:off x="4458938" y="4192905"/>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87.0±2.9</a:t>
            </a:r>
          </a:p>
        </p:txBody>
      </p:sp>
      <p:sp>
        <p:nvSpPr>
          <p:cNvPr id="321" name="TextBox 321"/>
          <p:cNvSpPr txBox="1"/>
          <p:nvPr/>
        </p:nvSpPr>
        <p:spPr>
          <a:xfrm>
            <a:off x="5669167" y="4196953"/>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90.0±3.1</a:t>
            </a:r>
          </a:p>
        </p:txBody>
      </p:sp>
      <p:sp>
        <p:nvSpPr>
          <p:cNvPr id="322" name="TextBox 322"/>
          <p:cNvSpPr txBox="1"/>
          <p:nvPr/>
        </p:nvSpPr>
        <p:spPr>
          <a:xfrm>
            <a:off x="6518291" y="419695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83.5±3.9</a:t>
            </a:r>
          </a:p>
        </p:txBody>
      </p:sp>
      <p:sp>
        <p:nvSpPr>
          <p:cNvPr id="323" name="TextBox 323"/>
          <p:cNvSpPr txBox="1"/>
          <p:nvPr/>
        </p:nvSpPr>
        <p:spPr>
          <a:xfrm>
            <a:off x="7375541" y="419695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85.0±3.3</a:t>
            </a:r>
          </a:p>
        </p:txBody>
      </p:sp>
      <p:sp>
        <p:nvSpPr>
          <p:cNvPr id="324" name="TextBox 324"/>
          <p:cNvSpPr txBox="1"/>
          <p:nvPr/>
        </p:nvSpPr>
        <p:spPr>
          <a:xfrm>
            <a:off x="8232791" y="419695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88.0±0.7</a:t>
            </a:r>
          </a:p>
        </p:txBody>
      </p:sp>
      <p:sp>
        <p:nvSpPr>
          <p:cNvPr id="325" name="TextBox 325"/>
          <p:cNvSpPr txBox="1"/>
          <p:nvPr/>
        </p:nvSpPr>
        <p:spPr>
          <a:xfrm>
            <a:off x="9090041" y="419695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90.0±2.2</a:t>
            </a:r>
          </a:p>
        </p:txBody>
      </p:sp>
      <p:sp>
        <p:nvSpPr>
          <p:cNvPr id="326" name="TextBox 326"/>
          <p:cNvSpPr txBox="1"/>
          <p:nvPr/>
        </p:nvSpPr>
        <p:spPr>
          <a:xfrm>
            <a:off x="9947291" y="4196953"/>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79.0±7.0</a:t>
            </a:r>
          </a:p>
        </p:txBody>
      </p:sp>
      <p:sp>
        <p:nvSpPr>
          <p:cNvPr id="327" name="TextBox 327"/>
          <p:cNvSpPr txBox="1"/>
          <p:nvPr/>
        </p:nvSpPr>
        <p:spPr>
          <a:xfrm>
            <a:off x="10963466" y="4192905"/>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328" name="Rectangle 328"/>
          <p:cNvSpPr/>
          <p:nvPr/>
        </p:nvSpPr>
        <p:spPr>
          <a:xfrm>
            <a:off x="685800" y="4263390"/>
            <a:ext cx="10820400" cy="99536"/>
          </a:xfrm>
          <a:prstGeom prst="rect">
            <a:avLst/>
          </a:prstGeom>
          <a:solidFill>
            <a:srgbClr val="F8FAFC"/>
          </a:solidFill>
          <a:ln>
            <a:noFill/>
          </a:ln>
        </p:spPr>
      </p:sp>
      <p:sp>
        <p:nvSpPr>
          <p:cNvPr id="329" name="TextBox 329"/>
          <p:cNvSpPr txBox="1"/>
          <p:nvPr/>
        </p:nvSpPr>
        <p:spPr>
          <a:xfrm>
            <a:off x="773978" y="4292441"/>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29</a:t>
            </a:r>
          </a:p>
        </p:txBody>
      </p:sp>
      <p:sp>
        <p:nvSpPr>
          <p:cNvPr id="330" name="TextBox 330"/>
          <p:cNvSpPr txBox="1"/>
          <p:nvPr/>
        </p:nvSpPr>
        <p:spPr>
          <a:xfrm>
            <a:off x="1422368" y="4294870"/>
            <a:ext cx="1523802"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基于决定关系的证据客观性:概念、功能与理论定位</a:t>
            </a:r>
          </a:p>
        </p:txBody>
      </p:sp>
      <p:sp>
        <p:nvSpPr>
          <p:cNvPr id="331" name="TextBox 331"/>
          <p:cNvSpPr txBox="1"/>
          <p:nvPr/>
        </p:nvSpPr>
        <p:spPr>
          <a:xfrm>
            <a:off x="4458938" y="4292441"/>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86.8±3.9</a:t>
            </a:r>
          </a:p>
        </p:txBody>
      </p:sp>
      <p:sp>
        <p:nvSpPr>
          <p:cNvPr id="332" name="TextBox 332"/>
          <p:cNvSpPr txBox="1"/>
          <p:nvPr/>
        </p:nvSpPr>
        <p:spPr>
          <a:xfrm>
            <a:off x="5661041" y="429648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88.0±4.2</a:t>
            </a:r>
          </a:p>
        </p:txBody>
      </p:sp>
      <p:sp>
        <p:nvSpPr>
          <p:cNvPr id="333" name="TextBox 333"/>
          <p:cNvSpPr txBox="1"/>
          <p:nvPr/>
        </p:nvSpPr>
        <p:spPr>
          <a:xfrm>
            <a:off x="6518291" y="429648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87.0±4.3</a:t>
            </a:r>
          </a:p>
        </p:txBody>
      </p:sp>
      <p:sp>
        <p:nvSpPr>
          <p:cNvPr id="334" name="TextBox 334"/>
          <p:cNvSpPr txBox="1"/>
          <p:nvPr/>
        </p:nvSpPr>
        <p:spPr>
          <a:xfrm>
            <a:off x="7375541" y="4296489"/>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85.0±7.3</a:t>
            </a:r>
          </a:p>
        </p:txBody>
      </p:sp>
      <p:sp>
        <p:nvSpPr>
          <p:cNvPr id="335" name="TextBox 335"/>
          <p:cNvSpPr txBox="1"/>
          <p:nvPr/>
        </p:nvSpPr>
        <p:spPr>
          <a:xfrm>
            <a:off x="8240917" y="4296489"/>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89.5±1.8</a:t>
            </a:r>
          </a:p>
        </p:txBody>
      </p:sp>
      <p:sp>
        <p:nvSpPr>
          <p:cNvPr id="336" name="TextBox 336"/>
          <p:cNvSpPr txBox="1"/>
          <p:nvPr/>
        </p:nvSpPr>
        <p:spPr>
          <a:xfrm>
            <a:off x="9098167" y="4296489"/>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88.0±1.8</a:t>
            </a:r>
          </a:p>
        </p:txBody>
      </p:sp>
      <p:sp>
        <p:nvSpPr>
          <p:cNvPr id="337" name="TextBox 337"/>
          <p:cNvSpPr txBox="1"/>
          <p:nvPr/>
        </p:nvSpPr>
        <p:spPr>
          <a:xfrm>
            <a:off x="9955417" y="4296489"/>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72.0±1.9</a:t>
            </a:r>
          </a:p>
        </p:txBody>
      </p:sp>
      <p:sp>
        <p:nvSpPr>
          <p:cNvPr id="338" name="TextBox 338"/>
          <p:cNvSpPr txBox="1"/>
          <p:nvPr/>
        </p:nvSpPr>
        <p:spPr>
          <a:xfrm>
            <a:off x="10963466" y="4292441"/>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339" name="Rectangle 339"/>
          <p:cNvSpPr/>
          <p:nvPr/>
        </p:nvSpPr>
        <p:spPr>
          <a:xfrm>
            <a:off x="685800" y="4362926"/>
            <a:ext cx="10820400" cy="99536"/>
          </a:xfrm>
          <a:prstGeom prst="rect">
            <a:avLst/>
          </a:prstGeom>
          <a:solidFill>
            <a:srgbClr val="FFFFFF"/>
          </a:solidFill>
          <a:ln>
            <a:noFill/>
          </a:ln>
        </p:spPr>
      </p:sp>
      <p:sp>
        <p:nvSpPr>
          <p:cNvPr id="340" name="TextBox 340"/>
          <p:cNvSpPr txBox="1"/>
          <p:nvPr/>
        </p:nvSpPr>
        <p:spPr>
          <a:xfrm>
            <a:off x="773978" y="4391978"/>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30</a:t>
            </a:r>
          </a:p>
        </p:txBody>
      </p:sp>
      <p:sp>
        <p:nvSpPr>
          <p:cNvPr id="341" name="TextBox 341"/>
          <p:cNvSpPr txBox="1"/>
          <p:nvPr/>
        </p:nvSpPr>
        <p:spPr>
          <a:xfrm>
            <a:off x="1422368" y="4394406"/>
            <a:ext cx="1553956"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抢劫罪与敲诈勒索罪之界分：基于被害人的处分自由</a:t>
            </a:r>
          </a:p>
        </p:txBody>
      </p:sp>
      <p:sp>
        <p:nvSpPr>
          <p:cNvPr id="342" name="TextBox 342"/>
          <p:cNvSpPr txBox="1"/>
          <p:nvPr/>
        </p:nvSpPr>
        <p:spPr>
          <a:xfrm>
            <a:off x="4458938" y="4391978"/>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86.5±3.6</a:t>
            </a:r>
          </a:p>
        </p:txBody>
      </p:sp>
      <p:sp>
        <p:nvSpPr>
          <p:cNvPr id="343" name="TextBox 343"/>
          <p:cNvSpPr txBox="1"/>
          <p:nvPr/>
        </p:nvSpPr>
        <p:spPr>
          <a:xfrm>
            <a:off x="5661041" y="439602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85.0±4.7</a:t>
            </a:r>
          </a:p>
        </p:txBody>
      </p:sp>
      <p:sp>
        <p:nvSpPr>
          <p:cNvPr id="344" name="TextBox 344"/>
          <p:cNvSpPr txBox="1"/>
          <p:nvPr/>
        </p:nvSpPr>
        <p:spPr>
          <a:xfrm>
            <a:off x="6518291" y="439602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84.5±3.7</a:t>
            </a:r>
          </a:p>
        </p:txBody>
      </p:sp>
      <p:sp>
        <p:nvSpPr>
          <p:cNvPr id="345" name="TextBox 345"/>
          <p:cNvSpPr txBox="1"/>
          <p:nvPr/>
        </p:nvSpPr>
        <p:spPr>
          <a:xfrm>
            <a:off x="7375541" y="439602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89.0±2.7</a:t>
            </a:r>
          </a:p>
        </p:txBody>
      </p:sp>
      <p:sp>
        <p:nvSpPr>
          <p:cNvPr id="346" name="TextBox 346"/>
          <p:cNvSpPr txBox="1"/>
          <p:nvPr/>
        </p:nvSpPr>
        <p:spPr>
          <a:xfrm>
            <a:off x="8240917" y="4396026"/>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91.0±2.6</a:t>
            </a:r>
          </a:p>
        </p:txBody>
      </p:sp>
      <p:sp>
        <p:nvSpPr>
          <p:cNvPr id="347" name="TextBox 347"/>
          <p:cNvSpPr txBox="1"/>
          <p:nvPr/>
        </p:nvSpPr>
        <p:spPr>
          <a:xfrm>
            <a:off x="9090041" y="439602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90.0±2.4</a:t>
            </a:r>
          </a:p>
        </p:txBody>
      </p:sp>
      <p:sp>
        <p:nvSpPr>
          <p:cNvPr id="348" name="TextBox 348"/>
          <p:cNvSpPr txBox="1"/>
          <p:nvPr/>
        </p:nvSpPr>
        <p:spPr>
          <a:xfrm>
            <a:off x="9947291" y="4396026"/>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72.0±6.2</a:t>
            </a:r>
          </a:p>
        </p:txBody>
      </p:sp>
      <p:sp>
        <p:nvSpPr>
          <p:cNvPr id="349" name="TextBox 349"/>
          <p:cNvSpPr txBox="1"/>
          <p:nvPr/>
        </p:nvSpPr>
        <p:spPr>
          <a:xfrm>
            <a:off x="10963466" y="4391978"/>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350" name="Rectangle 350"/>
          <p:cNvSpPr/>
          <p:nvPr/>
        </p:nvSpPr>
        <p:spPr>
          <a:xfrm>
            <a:off x="685800" y="4462462"/>
            <a:ext cx="10820400" cy="99536"/>
          </a:xfrm>
          <a:prstGeom prst="rect">
            <a:avLst/>
          </a:prstGeom>
          <a:solidFill>
            <a:srgbClr val="F8FAFC"/>
          </a:solidFill>
          <a:ln>
            <a:noFill/>
          </a:ln>
        </p:spPr>
      </p:sp>
      <p:sp>
        <p:nvSpPr>
          <p:cNvPr id="351" name="TextBox 351"/>
          <p:cNvSpPr txBox="1"/>
          <p:nvPr/>
        </p:nvSpPr>
        <p:spPr>
          <a:xfrm>
            <a:off x="782729" y="4491514"/>
            <a:ext cx="72842"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31</a:t>
            </a:r>
          </a:p>
        </p:txBody>
      </p:sp>
      <p:sp>
        <p:nvSpPr>
          <p:cNvPr id="352" name="TextBox 352"/>
          <p:cNvSpPr txBox="1"/>
          <p:nvPr/>
        </p:nvSpPr>
        <p:spPr>
          <a:xfrm>
            <a:off x="1422368" y="4493943"/>
            <a:ext cx="121891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从基本权理论看法律行为之阻却生效要件</a:t>
            </a:r>
          </a:p>
        </p:txBody>
      </p:sp>
      <p:sp>
        <p:nvSpPr>
          <p:cNvPr id="353" name="TextBox 353"/>
          <p:cNvSpPr txBox="1"/>
          <p:nvPr/>
        </p:nvSpPr>
        <p:spPr>
          <a:xfrm>
            <a:off x="4458938" y="4491514"/>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86.3±4.0</a:t>
            </a:r>
          </a:p>
        </p:txBody>
      </p:sp>
      <p:sp>
        <p:nvSpPr>
          <p:cNvPr id="354" name="TextBox 354"/>
          <p:cNvSpPr txBox="1"/>
          <p:nvPr/>
        </p:nvSpPr>
        <p:spPr>
          <a:xfrm>
            <a:off x="5661041" y="4495562"/>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88.0±5.5</a:t>
            </a:r>
          </a:p>
        </p:txBody>
      </p:sp>
      <p:sp>
        <p:nvSpPr>
          <p:cNvPr id="355" name="TextBox 355"/>
          <p:cNvSpPr txBox="1"/>
          <p:nvPr/>
        </p:nvSpPr>
        <p:spPr>
          <a:xfrm>
            <a:off x="6518291" y="449556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85.5±2.2</a:t>
            </a:r>
          </a:p>
        </p:txBody>
      </p:sp>
      <p:sp>
        <p:nvSpPr>
          <p:cNvPr id="356" name="TextBox 356"/>
          <p:cNvSpPr txBox="1"/>
          <p:nvPr/>
        </p:nvSpPr>
        <p:spPr>
          <a:xfrm>
            <a:off x="7375541" y="4495562"/>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85.0±8.6</a:t>
            </a:r>
          </a:p>
        </p:txBody>
      </p:sp>
      <p:sp>
        <p:nvSpPr>
          <p:cNvPr id="357" name="TextBox 357"/>
          <p:cNvSpPr txBox="1"/>
          <p:nvPr/>
        </p:nvSpPr>
        <p:spPr>
          <a:xfrm>
            <a:off x="8240917" y="4495562"/>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88.0±1.5</a:t>
            </a:r>
          </a:p>
        </p:txBody>
      </p:sp>
      <p:sp>
        <p:nvSpPr>
          <p:cNvPr id="358" name="TextBox 358"/>
          <p:cNvSpPr txBox="1"/>
          <p:nvPr/>
        </p:nvSpPr>
        <p:spPr>
          <a:xfrm>
            <a:off x="9098167" y="4495562"/>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85.0±1.7</a:t>
            </a:r>
          </a:p>
        </p:txBody>
      </p:sp>
      <p:sp>
        <p:nvSpPr>
          <p:cNvPr id="359" name="TextBox 359"/>
          <p:cNvSpPr txBox="1"/>
          <p:nvPr/>
        </p:nvSpPr>
        <p:spPr>
          <a:xfrm>
            <a:off x="9947291" y="449556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80.0±2.8</a:t>
            </a:r>
          </a:p>
        </p:txBody>
      </p:sp>
      <p:sp>
        <p:nvSpPr>
          <p:cNvPr id="360" name="TextBox 360"/>
          <p:cNvSpPr txBox="1"/>
          <p:nvPr/>
        </p:nvSpPr>
        <p:spPr>
          <a:xfrm>
            <a:off x="10963466" y="4491514"/>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361" name="Rectangle 361"/>
          <p:cNvSpPr/>
          <p:nvPr/>
        </p:nvSpPr>
        <p:spPr>
          <a:xfrm>
            <a:off x="685800" y="4561999"/>
            <a:ext cx="10820400" cy="99536"/>
          </a:xfrm>
          <a:prstGeom prst="rect">
            <a:avLst/>
          </a:prstGeom>
          <a:solidFill>
            <a:srgbClr val="FFFFFF"/>
          </a:solidFill>
          <a:ln>
            <a:noFill/>
          </a:ln>
        </p:spPr>
      </p:sp>
      <p:sp>
        <p:nvSpPr>
          <p:cNvPr id="362" name="TextBox 362"/>
          <p:cNvSpPr txBox="1"/>
          <p:nvPr/>
        </p:nvSpPr>
        <p:spPr>
          <a:xfrm>
            <a:off x="773978" y="4591050"/>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32</a:t>
            </a:r>
          </a:p>
        </p:txBody>
      </p:sp>
      <p:sp>
        <p:nvSpPr>
          <p:cNvPr id="363" name="TextBox 363"/>
          <p:cNvSpPr txBox="1"/>
          <p:nvPr/>
        </p:nvSpPr>
        <p:spPr>
          <a:xfrm>
            <a:off x="1422368" y="4593479"/>
            <a:ext cx="1513751"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金钱 “占有即所有”原理批判及权利流转规则之重塑</a:t>
            </a:r>
          </a:p>
        </p:txBody>
      </p:sp>
      <p:sp>
        <p:nvSpPr>
          <p:cNvPr id="364" name="TextBox 364"/>
          <p:cNvSpPr txBox="1"/>
          <p:nvPr/>
        </p:nvSpPr>
        <p:spPr>
          <a:xfrm>
            <a:off x="4451237" y="4591050"/>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86.3±5.0</a:t>
            </a:r>
          </a:p>
        </p:txBody>
      </p:sp>
      <p:sp>
        <p:nvSpPr>
          <p:cNvPr id="365" name="TextBox 365"/>
          <p:cNvSpPr txBox="1"/>
          <p:nvPr/>
        </p:nvSpPr>
        <p:spPr>
          <a:xfrm>
            <a:off x="5661041" y="459509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88.0±3.2</a:t>
            </a:r>
          </a:p>
        </p:txBody>
      </p:sp>
      <p:sp>
        <p:nvSpPr>
          <p:cNvPr id="366" name="TextBox 366"/>
          <p:cNvSpPr txBox="1"/>
          <p:nvPr/>
        </p:nvSpPr>
        <p:spPr>
          <a:xfrm>
            <a:off x="6516666" y="4595098"/>
            <a:ext cx="301669"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85.5±11.5</a:t>
            </a:r>
          </a:p>
        </p:txBody>
      </p:sp>
      <p:sp>
        <p:nvSpPr>
          <p:cNvPr id="367" name="TextBox 367"/>
          <p:cNvSpPr txBox="1"/>
          <p:nvPr/>
        </p:nvSpPr>
        <p:spPr>
          <a:xfrm>
            <a:off x="7383667" y="4595098"/>
            <a:ext cx="282166"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85.0±6.1</a:t>
            </a:r>
          </a:p>
        </p:txBody>
      </p:sp>
      <p:sp>
        <p:nvSpPr>
          <p:cNvPr id="368" name="TextBox 368"/>
          <p:cNvSpPr txBox="1"/>
          <p:nvPr/>
        </p:nvSpPr>
        <p:spPr>
          <a:xfrm>
            <a:off x="8232791" y="459509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88.0±2.2</a:t>
            </a:r>
          </a:p>
        </p:txBody>
      </p:sp>
      <p:sp>
        <p:nvSpPr>
          <p:cNvPr id="369" name="TextBox 369"/>
          <p:cNvSpPr txBox="1"/>
          <p:nvPr/>
        </p:nvSpPr>
        <p:spPr>
          <a:xfrm>
            <a:off x="9098167" y="4595098"/>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88.0±1.7</a:t>
            </a:r>
          </a:p>
        </p:txBody>
      </p:sp>
      <p:sp>
        <p:nvSpPr>
          <p:cNvPr id="370" name="TextBox 370"/>
          <p:cNvSpPr txBox="1"/>
          <p:nvPr/>
        </p:nvSpPr>
        <p:spPr>
          <a:xfrm>
            <a:off x="9955417" y="4595098"/>
            <a:ext cx="282166"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73.5±5.1</a:t>
            </a:r>
          </a:p>
        </p:txBody>
      </p:sp>
      <p:sp>
        <p:nvSpPr>
          <p:cNvPr id="371" name="TextBox 371"/>
          <p:cNvSpPr txBox="1"/>
          <p:nvPr/>
        </p:nvSpPr>
        <p:spPr>
          <a:xfrm>
            <a:off x="10963466" y="4591050"/>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372" name="Rectangle 372"/>
          <p:cNvSpPr/>
          <p:nvPr/>
        </p:nvSpPr>
        <p:spPr>
          <a:xfrm>
            <a:off x="685800" y="4661535"/>
            <a:ext cx="10820400" cy="99536"/>
          </a:xfrm>
          <a:prstGeom prst="rect">
            <a:avLst/>
          </a:prstGeom>
          <a:solidFill>
            <a:srgbClr val="F8FAFC"/>
          </a:solidFill>
          <a:ln>
            <a:noFill/>
          </a:ln>
        </p:spPr>
      </p:sp>
      <p:sp>
        <p:nvSpPr>
          <p:cNvPr id="373" name="TextBox 373"/>
          <p:cNvSpPr txBox="1"/>
          <p:nvPr/>
        </p:nvSpPr>
        <p:spPr>
          <a:xfrm>
            <a:off x="773978" y="4690586"/>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33</a:t>
            </a:r>
          </a:p>
        </p:txBody>
      </p:sp>
      <p:sp>
        <p:nvSpPr>
          <p:cNvPr id="374" name="TextBox 374"/>
          <p:cNvSpPr txBox="1"/>
          <p:nvPr/>
        </p:nvSpPr>
        <p:spPr>
          <a:xfrm>
            <a:off x="1422368" y="4693015"/>
            <a:ext cx="121891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生态环境法典的复合结构及其体系化适用</a:t>
            </a:r>
          </a:p>
        </p:txBody>
      </p:sp>
      <p:sp>
        <p:nvSpPr>
          <p:cNvPr id="375" name="TextBox 375"/>
          <p:cNvSpPr txBox="1"/>
          <p:nvPr/>
        </p:nvSpPr>
        <p:spPr>
          <a:xfrm>
            <a:off x="4458938" y="4690586"/>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86.2±2.8</a:t>
            </a:r>
          </a:p>
        </p:txBody>
      </p:sp>
      <p:sp>
        <p:nvSpPr>
          <p:cNvPr id="376" name="TextBox 376"/>
          <p:cNvSpPr txBox="1"/>
          <p:nvPr/>
        </p:nvSpPr>
        <p:spPr>
          <a:xfrm>
            <a:off x="5661041" y="469463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85.5±3.2</a:t>
            </a:r>
          </a:p>
        </p:txBody>
      </p:sp>
      <p:sp>
        <p:nvSpPr>
          <p:cNvPr id="377" name="TextBox 377"/>
          <p:cNvSpPr txBox="1"/>
          <p:nvPr/>
        </p:nvSpPr>
        <p:spPr>
          <a:xfrm>
            <a:off x="6518291" y="469463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85.0±2.5</a:t>
            </a:r>
          </a:p>
        </p:txBody>
      </p:sp>
      <p:sp>
        <p:nvSpPr>
          <p:cNvPr id="378" name="TextBox 378"/>
          <p:cNvSpPr txBox="1"/>
          <p:nvPr/>
        </p:nvSpPr>
        <p:spPr>
          <a:xfrm>
            <a:off x="7375541" y="469463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86.5±2.9</a:t>
            </a:r>
          </a:p>
        </p:txBody>
      </p:sp>
      <p:sp>
        <p:nvSpPr>
          <p:cNvPr id="379" name="TextBox 379"/>
          <p:cNvSpPr txBox="1"/>
          <p:nvPr/>
        </p:nvSpPr>
        <p:spPr>
          <a:xfrm>
            <a:off x="8232791" y="469463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88.5±2.5</a:t>
            </a:r>
          </a:p>
        </p:txBody>
      </p:sp>
      <p:sp>
        <p:nvSpPr>
          <p:cNvPr id="380" name="TextBox 380"/>
          <p:cNvSpPr txBox="1"/>
          <p:nvPr/>
        </p:nvSpPr>
        <p:spPr>
          <a:xfrm>
            <a:off x="9090041" y="469463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88.0±2.6</a:t>
            </a:r>
          </a:p>
        </p:txBody>
      </p:sp>
      <p:sp>
        <p:nvSpPr>
          <p:cNvPr id="381" name="TextBox 381"/>
          <p:cNvSpPr txBox="1"/>
          <p:nvPr/>
        </p:nvSpPr>
        <p:spPr>
          <a:xfrm>
            <a:off x="9955417" y="4694634"/>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81.0±2.9</a:t>
            </a:r>
          </a:p>
        </p:txBody>
      </p:sp>
      <p:sp>
        <p:nvSpPr>
          <p:cNvPr id="382" name="TextBox 382"/>
          <p:cNvSpPr txBox="1"/>
          <p:nvPr/>
        </p:nvSpPr>
        <p:spPr>
          <a:xfrm>
            <a:off x="10963466" y="4690586"/>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383" name="Rectangle 383"/>
          <p:cNvSpPr/>
          <p:nvPr/>
        </p:nvSpPr>
        <p:spPr>
          <a:xfrm>
            <a:off x="685800" y="4761071"/>
            <a:ext cx="10820400" cy="99536"/>
          </a:xfrm>
          <a:prstGeom prst="rect">
            <a:avLst/>
          </a:prstGeom>
          <a:solidFill>
            <a:srgbClr val="FFFFFF"/>
          </a:solidFill>
          <a:ln>
            <a:noFill/>
          </a:ln>
        </p:spPr>
      </p:sp>
      <p:sp>
        <p:nvSpPr>
          <p:cNvPr id="384" name="TextBox 384"/>
          <p:cNvSpPr txBox="1"/>
          <p:nvPr/>
        </p:nvSpPr>
        <p:spPr>
          <a:xfrm>
            <a:off x="773978" y="4790122"/>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34</a:t>
            </a:r>
          </a:p>
        </p:txBody>
      </p:sp>
      <p:sp>
        <p:nvSpPr>
          <p:cNvPr id="385" name="TextBox 385"/>
          <p:cNvSpPr txBox="1"/>
          <p:nvPr/>
        </p:nvSpPr>
        <p:spPr>
          <a:xfrm>
            <a:off x="1422368" y="4792551"/>
            <a:ext cx="957582"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“审执分离”本质与路径的再认识</a:t>
            </a:r>
          </a:p>
        </p:txBody>
      </p:sp>
      <p:sp>
        <p:nvSpPr>
          <p:cNvPr id="386" name="TextBox 386"/>
          <p:cNvSpPr txBox="1"/>
          <p:nvPr/>
        </p:nvSpPr>
        <p:spPr>
          <a:xfrm>
            <a:off x="4460426" y="4790122"/>
            <a:ext cx="318398"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86.1±5.2</a:t>
            </a:r>
          </a:p>
        </p:txBody>
      </p:sp>
      <p:sp>
        <p:nvSpPr>
          <p:cNvPr id="387" name="TextBox 387"/>
          <p:cNvSpPr txBox="1"/>
          <p:nvPr/>
        </p:nvSpPr>
        <p:spPr>
          <a:xfrm>
            <a:off x="5661041" y="4794171"/>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85.5±5.5</a:t>
            </a:r>
          </a:p>
        </p:txBody>
      </p:sp>
      <p:sp>
        <p:nvSpPr>
          <p:cNvPr id="388" name="TextBox 388"/>
          <p:cNvSpPr txBox="1"/>
          <p:nvPr/>
        </p:nvSpPr>
        <p:spPr>
          <a:xfrm>
            <a:off x="6518291" y="4794171"/>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85.0±5.4</a:t>
            </a:r>
          </a:p>
        </p:txBody>
      </p:sp>
      <p:sp>
        <p:nvSpPr>
          <p:cNvPr id="389" name="TextBox 389"/>
          <p:cNvSpPr txBox="1"/>
          <p:nvPr/>
        </p:nvSpPr>
        <p:spPr>
          <a:xfrm>
            <a:off x="7365790" y="4794171"/>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85.5±10.5</a:t>
            </a:r>
          </a:p>
        </p:txBody>
      </p:sp>
      <p:sp>
        <p:nvSpPr>
          <p:cNvPr id="390" name="TextBox 390"/>
          <p:cNvSpPr txBox="1"/>
          <p:nvPr/>
        </p:nvSpPr>
        <p:spPr>
          <a:xfrm>
            <a:off x="8232791" y="479417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89.0±3.0</a:t>
            </a:r>
          </a:p>
        </p:txBody>
      </p:sp>
      <p:sp>
        <p:nvSpPr>
          <p:cNvPr id="391" name="TextBox 391"/>
          <p:cNvSpPr txBox="1"/>
          <p:nvPr/>
        </p:nvSpPr>
        <p:spPr>
          <a:xfrm>
            <a:off x="9098167" y="4794171"/>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88.5±1.7</a:t>
            </a:r>
          </a:p>
        </p:txBody>
      </p:sp>
      <p:sp>
        <p:nvSpPr>
          <p:cNvPr id="392" name="TextBox 392"/>
          <p:cNvSpPr txBox="1"/>
          <p:nvPr/>
        </p:nvSpPr>
        <p:spPr>
          <a:xfrm>
            <a:off x="9955417" y="4794171"/>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80.0±2.1</a:t>
            </a:r>
          </a:p>
        </p:txBody>
      </p:sp>
      <p:sp>
        <p:nvSpPr>
          <p:cNvPr id="393" name="TextBox 393"/>
          <p:cNvSpPr txBox="1"/>
          <p:nvPr/>
        </p:nvSpPr>
        <p:spPr>
          <a:xfrm>
            <a:off x="10963466" y="4790122"/>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394" name="Rectangle 394"/>
          <p:cNvSpPr/>
          <p:nvPr/>
        </p:nvSpPr>
        <p:spPr>
          <a:xfrm>
            <a:off x="685800" y="4860608"/>
            <a:ext cx="10820400" cy="99536"/>
          </a:xfrm>
          <a:prstGeom prst="rect">
            <a:avLst/>
          </a:prstGeom>
          <a:solidFill>
            <a:srgbClr val="F8FAFC"/>
          </a:solidFill>
          <a:ln>
            <a:noFill/>
          </a:ln>
        </p:spPr>
      </p:sp>
      <p:sp>
        <p:nvSpPr>
          <p:cNvPr id="395" name="TextBox 395"/>
          <p:cNvSpPr txBox="1"/>
          <p:nvPr/>
        </p:nvSpPr>
        <p:spPr>
          <a:xfrm>
            <a:off x="773978" y="4889659"/>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35</a:t>
            </a:r>
          </a:p>
        </p:txBody>
      </p:sp>
      <p:sp>
        <p:nvSpPr>
          <p:cNvPr id="396" name="TextBox 396"/>
          <p:cNvSpPr txBox="1"/>
          <p:nvPr/>
        </p:nvSpPr>
        <p:spPr>
          <a:xfrm>
            <a:off x="1422368" y="4892088"/>
            <a:ext cx="81686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履行行政职责的作为可能性</a:t>
            </a:r>
          </a:p>
        </p:txBody>
      </p:sp>
      <p:sp>
        <p:nvSpPr>
          <p:cNvPr id="397" name="TextBox 397"/>
          <p:cNvSpPr txBox="1"/>
          <p:nvPr/>
        </p:nvSpPr>
        <p:spPr>
          <a:xfrm>
            <a:off x="4451237" y="4889659"/>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86.0±5.8</a:t>
            </a:r>
          </a:p>
        </p:txBody>
      </p:sp>
      <p:sp>
        <p:nvSpPr>
          <p:cNvPr id="398" name="TextBox 398"/>
          <p:cNvSpPr txBox="1"/>
          <p:nvPr/>
        </p:nvSpPr>
        <p:spPr>
          <a:xfrm>
            <a:off x="5651290" y="4893707"/>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88.0±12.6</a:t>
            </a:r>
          </a:p>
        </p:txBody>
      </p:sp>
      <p:sp>
        <p:nvSpPr>
          <p:cNvPr id="399" name="TextBox 399"/>
          <p:cNvSpPr txBox="1"/>
          <p:nvPr/>
        </p:nvSpPr>
        <p:spPr>
          <a:xfrm>
            <a:off x="6518291" y="489370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78.0±2.0</a:t>
            </a:r>
          </a:p>
        </p:txBody>
      </p:sp>
      <p:sp>
        <p:nvSpPr>
          <p:cNvPr id="400" name="TextBox 400"/>
          <p:cNvSpPr txBox="1"/>
          <p:nvPr/>
        </p:nvSpPr>
        <p:spPr>
          <a:xfrm>
            <a:off x="7375541" y="489370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88.0±3.4</a:t>
            </a:r>
          </a:p>
        </p:txBody>
      </p:sp>
      <p:sp>
        <p:nvSpPr>
          <p:cNvPr id="401" name="TextBox 401"/>
          <p:cNvSpPr txBox="1"/>
          <p:nvPr/>
        </p:nvSpPr>
        <p:spPr>
          <a:xfrm>
            <a:off x="8240917" y="4893707"/>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92.0±3.1</a:t>
            </a:r>
          </a:p>
        </p:txBody>
      </p:sp>
      <p:sp>
        <p:nvSpPr>
          <p:cNvPr id="402" name="TextBox 402"/>
          <p:cNvSpPr txBox="1"/>
          <p:nvPr/>
        </p:nvSpPr>
        <p:spPr>
          <a:xfrm>
            <a:off x="9090041" y="489370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85.0±3.4</a:t>
            </a:r>
          </a:p>
        </p:txBody>
      </p:sp>
      <p:sp>
        <p:nvSpPr>
          <p:cNvPr id="403" name="TextBox 403"/>
          <p:cNvSpPr txBox="1"/>
          <p:nvPr/>
        </p:nvSpPr>
        <p:spPr>
          <a:xfrm>
            <a:off x="9947291" y="489370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79.0±4.0</a:t>
            </a:r>
          </a:p>
        </p:txBody>
      </p:sp>
      <p:sp>
        <p:nvSpPr>
          <p:cNvPr id="404" name="TextBox 404"/>
          <p:cNvSpPr txBox="1"/>
          <p:nvPr/>
        </p:nvSpPr>
        <p:spPr>
          <a:xfrm>
            <a:off x="10963466" y="4889659"/>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405" name="Rectangle 405"/>
          <p:cNvSpPr/>
          <p:nvPr/>
        </p:nvSpPr>
        <p:spPr>
          <a:xfrm>
            <a:off x="685800" y="4960144"/>
            <a:ext cx="10820400" cy="99536"/>
          </a:xfrm>
          <a:prstGeom prst="rect">
            <a:avLst/>
          </a:prstGeom>
          <a:solidFill>
            <a:srgbClr val="FFFFFF"/>
          </a:solidFill>
          <a:ln>
            <a:noFill/>
          </a:ln>
        </p:spPr>
      </p:sp>
      <p:sp>
        <p:nvSpPr>
          <p:cNvPr id="406" name="TextBox 406"/>
          <p:cNvSpPr txBox="1"/>
          <p:nvPr/>
        </p:nvSpPr>
        <p:spPr>
          <a:xfrm>
            <a:off x="773978" y="4989195"/>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36</a:t>
            </a:r>
          </a:p>
        </p:txBody>
      </p:sp>
      <p:sp>
        <p:nvSpPr>
          <p:cNvPr id="407" name="TextBox 407"/>
          <p:cNvSpPr txBox="1"/>
          <p:nvPr/>
        </p:nvSpPr>
        <p:spPr>
          <a:xfrm>
            <a:off x="1422368" y="4991624"/>
            <a:ext cx="1389786"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组织法的诉讼构造:公司决议纠纷诉讼规则重构</a:t>
            </a:r>
          </a:p>
        </p:txBody>
      </p:sp>
      <p:sp>
        <p:nvSpPr>
          <p:cNvPr id="408" name="TextBox 408"/>
          <p:cNvSpPr txBox="1"/>
          <p:nvPr/>
        </p:nvSpPr>
        <p:spPr>
          <a:xfrm>
            <a:off x="4451237" y="4989195"/>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86.0±5.8</a:t>
            </a:r>
          </a:p>
        </p:txBody>
      </p:sp>
      <p:sp>
        <p:nvSpPr>
          <p:cNvPr id="409" name="TextBox 409"/>
          <p:cNvSpPr txBox="1"/>
          <p:nvPr/>
        </p:nvSpPr>
        <p:spPr>
          <a:xfrm>
            <a:off x="5659416" y="4993243"/>
            <a:ext cx="301669"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85.5±11.4</a:t>
            </a:r>
          </a:p>
        </p:txBody>
      </p:sp>
      <p:sp>
        <p:nvSpPr>
          <p:cNvPr id="410" name="TextBox 410"/>
          <p:cNvSpPr txBox="1"/>
          <p:nvPr/>
        </p:nvSpPr>
        <p:spPr>
          <a:xfrm>
            <a:off x="6518291" y="499324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88.0±4.4</a:t>
            </a:r>
          </a:p>
        </p:txBody>
      </p:sp>
      <p:sp>
        <p:nvSpPr>
          <p:cNvPr id="411" name="TextBox 411"/>
          <p:cNvSpPr txBox="1"/>
          <p:nvPr/>
        </p:nvSpPr>
        <p:spPr>
          <a:xfrm>
            <a:off x="7375541" y="499324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87.5±3.3</a:t>
            </a:r>
          </a:p>
        </p:txBody>
      </p:sp>
      <p:sp>
        <p:nvSpPr>
          <p:cNvPr id="412" name="TextBox 412"/>
          <p:cNvSpPr txBox="1"/>
          <p:nvPr/>
        </p:nvSpPr>
        <p:spPr>
          <a:xfrm>
            <a:off x="8232791" y="499324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88.5±2.3</a:t>
            </a:r>
          </a:p>
        </p:txBody>
      </p:sp>
      <p:sp>
        <p:nvSpPr>
          <p:cNvPr id="413" name="TextBox 413"/>
          <p:cNvSpPr txBox="1"/>
          <p:nvPr/>
        </p:nvSpPr>
        <p:spPr>
          <a:xfrm>
            <a:off x="9090041" y="499324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86.0±2.5</a:t>
            </a:r>
          </a:p>
        </p:txBody>
      </p:sp>
      <p:sp>
        <p:nvSpPr>
          <p:cNvPr id="414" name="TextBox 414"/>
          <p:cNvSpPr txBox="1"/>
          <p:nvPr/>
        </p:nvSpPr>
        <p:spPr>
          <a:xfrm>
            <a:off x="9947291" y="4993243"/>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66.5±6.4</a:t>
            </a:r>
          </a:p>
        </p:txBody>
      </p:sp>
      <p:sp>
        <p:nvSpPr>
          <p:cNvPr id="415" name="TextBox 415"/>
          <p:cNvSpPr txBox="1"/>
          <p:nvPr/>
        </p:nvSpPr>
        <p:spPr>
          <a:xfrm>
            <a:off x="10963466" y="4989195"/>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416" name="Rectangle 416"/>
          <p:cNvSpPr/>
          <p:nvPr/>
        </p:nvSpPr>
        <p:spPr>
          <a:xfrm>
            <a:off x="685800" y="5059680"/>
            <a:ext cx="10820400" cy="99536"/>
          </a:xfrm>
          <a:prstGeom prst="rect">
            <a:avLst/>
          </a:prstGeom>
          <a:solidFill>
            <a:srgbClr val="F8FAFC"/>
          </a:solidFill>
          <a:ln>
            <a:noFill/>
          </a:ln>
        </p:spPr>
      </p:sp>
      <p:sp>
        <p:nvSpPr>
          <p:cNvPr id="417" name="TextBox 417"/>
          <p:cNvSpPr txBox="1"/>
          <p:nvPr/>
        </p:nvSpPr>
        <p:spPr>
          <a:xfrm>
            <a:off x="773978" y="5088731"/>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37</a:t>
            </a:r>
          </a:p>
        </p:txBody>
      </p:sp>
      <p:sp>
        <p:nvSpPr>
          <p:cNvPr id="418" name="TextBox 418"/>
          <p:cNvSpPr txBox="1"/>
          <p:nvPr/>
        </p:nvSpPr>
        <p:spPr>
          <a:xfrm>
            <a:off x="1422368" y="5091160"/>
            <a:ext cx="169467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反不正当竞争法一般条款的保护限度——以市场区分为视角</a:t>
            </a:r>
          </a:p>
        </p:txBody>
      </p:sp>
      <p:sp>
        <p:nvSpPr>
          <p:cNvPr id="419" name="TextBox 419"/>
          <p:cNvSpPr txBox="1"/>
          <p:nvPr/>
        </p:nvSpPr>
        <p:spPr>
          <a:xfrm>
            <a:off x="4458938" y="5088731"/>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85.7±4.0</a:t>
            </a:r>
          </a:p>
        </p:txBody>
      </p:sp>
      <p:sp>
        <p:nvSpPr>
          <p:cNvPr id="420" name="TextBox 420"/>
          <p:cNvSpPr txBox="1"/>
          <p:nvPr/>
        </p:nvSpPr>
        <p:spPr>
          <a:xfrm>
            <a:off x="5661041" y="509277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85.0±4.3</a:t>
            </a:r>
          </a:p>
        </p:txBody>
      </p:sp>
      <p:sp>
        <p:nvSpPr>
          <p:cNvPr id="421" name="TextBox 421"/>
          <p:cNvSpPr txBox="1"/>
          <p:nvPr/>
        </p:nvSpPr>
        <p:spPr>
          <a:xfrm>
            <a:off x="6518291" y="5092779"/>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88.0±5.3</a:t>
            </a:r>
          </a:p>
        </p:txBody>
      </p:sp>
      <p:sp>
        <p:nvSpPr>
          <p:cNvPr id="422" name="TextBox 422"/>
          <p:cNvSpPr txBox="1"/>
          <p:nvPr/>
        </p:nvSpPr>
        <p:spPr>
          <a:xfrm>
            <a:off x="7375541" y="5092779"/>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85.0±5.4</a:t>
            </a:r>
          </a:p>
        </p:txBody>
      </p:sp>
      <p:sp>
        <p:nvSpPr>
          <p:cNvPr id="423" name="TextBox 423"/>
          <p:cNvSpPr txBox="1"/>
          <p:nvPr/>
        </p:nvSpPr>
        <p:spPr>
          <a:xfrm>
            <a:off x="8240917" y="5092779"/>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85.5±1.6</a:t>
            </a:r>
          </a:p>
        </p:txBody>
      </p:sp>
      <p:sp>
        <p:nvSpPr>
          <p:cNvPr id="424" name="TextBox 424"/>
          <p:cNvSpPr txBox="1"/>
          <p:nvPr/>
        </p:nvSpPr>
        <p:spPr>
          <a:xfrm>
            <a:off x="9090041" y="509277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88.0±3.2</a:t>
            </a:r>
          </a:p>
        </p:txBody>
      </p:sp>
      <p:sp>
        <p:nvSpPr>
          <p:cNvPr id="425" name="TextBox 425"/>
          <p:cNvSpPr txBox="1"/>
          <p:nvPr/>
        </p:nvSpPr>
        <p:spPr>
          <a:xfrm>
            <a:off x="9947291" y="509277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79.0±4.4</a:t>
            </a:r>
          </a:p>
        </p:txBody>
      </p:sp>
      <p:sp>
        <p:nvSpPr>
          <p:cNvPr id="426" name="TextBox 426"/>
          <p:cNvSpPr txBox="1"/>
          <p:nvPr/>
        </p:nvSpPr>
        <p:spPr>
          <a:xfrm>
            <a:off x="10963466" y="5088731"/>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427" name="Rectangle 427"/>
          <p:cNvSpPr/>
          <p:nvPr/>
        </p:nvSpPr>
        <p:spPr>
          <a:xfrm>
            <a:off x="685800" y="5159216"/>
            <a:ext cx="10820400" cy="99536"/>
          </a:xfrm>
          <a:prstGeom prst="rect">
            <a:avLst/>
          </a:prstGeom>
          <a:solidFill>
            <a:srgbClr val="FFFFFF"/>
          </a:solidFill>
          <a:ln>
            <a:noFill/>
          </a:ln>
        </p:spPr>
      </p:sp>
      <p:sp>
        <p:nvSpPr>
          <p:cNvPr id="428" name="TextBox 428"/>
          <p:cNvSpPr txBox="1"/>
          <p:nvPr/>
        </p:nvSpPr>
        <p:spPr>
          <a:xfrm>
            <a:off x="773978" y="5188267"/>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38</a:t>
            </a:r>
          </a:p>
        </p:txBody>
      </p:sp>
      <p:sp>
        <p:nvSpPr>
          <p:cNvPr id="429" name="TextBox 429"/>
          <p:cNvSpPr txBox="1"/>
          <p:nvPr/>
        </p:nvSpPr>
        <p:spPr>
          <a:xfrm>
            <a:off x="1422368" y="5190696"/>
            <a:ext cx="1634366"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宪法秩序下如何安放法典——从“基础性法律”的适用切入</a:t>
            </a:r>
          </a:p>
        </p:txBody>
      </p:sp>
      <p:sp>
        <p:nvSpPr>
          <p:cNvPr id="430" name="TextBox 430"/>
          <p:cNvSpPr txBox="1"/>
          <p:nvPr/>
        </p:nvSpPr>
        <p:spPr>
          <a:xfrm>
            <a:off x="4458938" y="5188267"/>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85.7±3.8</a:t>
            </a:r>
          </a:p>
        </p:txBody>
      </p:sp>
      <p:sp>
        <p:nvSpPr>
          <p:cNvPr id="431" name="TextBox 431"/>
          <p:cNvSpPr txBox="1"/>
          <p:nvPr/>
        </p:nvSpPr>
        <p:spPr>
          <a:xfrm>
            <a:off x="5661041" y="519231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85.5±2.8</a:t>
            </a:r>
          </a:p>
        </p:txBody>
      </p:sp>
      <p:sp>
        <p:nvSpPr>
          <p:cNvPr id="432" name="TextBox 432"/>
          <p:cNvSpPr txBox="1"/>
          <p:nvPr/>
        </p:nvSpPr>
        <p:spPr>
          <a:xfrm>
            <a:off x="6518291" y="519231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89.0±2.0</a:t>
            </a:r>
          </a:p>
        </p:txBody>
      </p:sp>
      <p:sp>
        <p:nvSpPr>
          <p:cNvPr id="433" name="TextBox 433"/>
          <p:cNvSpPr txBox="1"/>
          <p:nvPr/>
        </p:nvSpPr>
        <p:spPr>
          <a:xfrm>
            <a:off x="7373916" y="5192316"/>
            <a:ext cx="301669"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74.0±11.3</a:t>
            </a:r>
          </a:p>
        </p:txBody>
      </p:sp>
      <p:sp>
        <p:nvSpPr>
          <p:cNvPr id="434" name="TextBox 434"/>
          <p:cNvSpPr txBox="1"/>
          <p:nvPr/>
        </p:nvSpPr>
        <p:spPr>
          <a:xfrm>
            <a:off x="8232791" y="519231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92.0±2.0</a:t>
            </a:r>
          </a:p>
        </p:txBody>
      </p:sp>
      <p:sp>
        <p:nvSpPr>
          <p:cNvPr id="435" name="TextBox 435"/>
          <p:cNvSpPr txBox="1"/>
          <p:nvPr/>
        </p:nvSpPr>
        <p:spPr>
          <a:xfrm>
            <a:off x="9098167" y="5192316"/>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88.0±1.8</a:t>
            </a:r>
          </a:p>
        </p:txBody>
      </p:sp>
      <p:sp>
        <p:nvSpPr>
          <p:cNvPr id="436" name="TextBox 436"/>
          <p:cNvSpPr txBox="1"/>
          <p:nvPr/>
        </p:nvSpPr>
        <p:spPr>
          <a:xfrm>
            <a:off x="9947291" y="5192316"/>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79.0±6.5</a:t>
            </a:r>
          </a:p>
        </p:txBody>
      </p:sp>
      <p:sp>
        <p:nvSpPr>
          <p:cNvPr id="437" name="TextBox 437"/>
          <p:cNvSpPr txBox="1"/>
          <p:nvPr/>
        </p:nvSpPr>
        <p:spPr>
          <a:xfrm>
            <a:off x="10963466" y="5188267"/>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438" name="Rectangle 438"/>
          <p:cNvSpPr/>
          <p:nvPr/>
        </p:nvSpPr>
        <p:spPr>
          <a:xfrm>
            <a:off x="685800" y="5258752"/>
            <a:ext cx="10820400" cy="99536"/>
          </a:xfrm>
          <a:prstGeom prst="rect">
            <a:avLst/>
          </a:prstGeom>
          <a:solidFill>
            <a:srgbClr val="F8FAFC"/>
          </a:solidFill>
          <a:ln>
            <a:noFill/>
          </a:ln>
        </p:spPr>
      </p:sp>
      <p:sp>
        <p:nvSpPr>
          <p:cNvPr id="439" name="TextBox 439"/>
          <p:cNvSpPr txBox="1"/>
          <p:nvPr/>
        </p:nvSpPr>
        <p:spPr>
          <a:xfrm>
            <a:off x="773978" y="5287804"/>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39</a:t>
            </a:r>
          </a:p>
        </p:txBody>
      </p:sp>
      <p:sp>
        <p:nvSpPr>
          <p:cNvPr id="440" name="TextBox 440"/>
          <p:cNvSpPr txBox="1"/>
          <p:nvPr/>
        </p:nvSpPr>
        <p:spPr>
          <a:xfrm>
            <a:off x="1422368" y="5290233"/>
            <a:ext cx="1091598"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注册商标使用中的"未改变显著特征"</a:t>
            </a:r>
          </a:p>
        </p:txBody>
      </p:sp>
      <p:sp>
        <p:nvSpPr>
          <p:cNvPr id="441" name="TextBox 441"/>
          <p:cNvSpPr txBox="1"/>
          <p:nvPr/>
        </p:nvSpPr>
        <p:spPr>
          <a:xfrm>
            <a:off x="4458938" y="5287804"/>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85.6±4.6</a:t>
            </a:r>
          </a:p>
        </p:txBody>
      </p:sp>
      <p:sp>
        <p:nvSpPr>
          <p:cNvPr id="442" name="TextBox 442"/>
          <p:cNvSpPr txBox="1"/>
          <p:nvPr/>
        </p:nvSpPr>
        <p:spPr>
          <a:xfrm>
            <a:off x="5661041" y="5291852"/>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85.0±7.5</a:t>
            </a:r>
          </a:p>
        </p:txBody>
      </p:sp>
      <p:sp>
        <p:nvSpPr>
          <p:cNvPr id="443" name="TextBox 443"/>
          <p:cNvSpPr txBox="1"/>
          <p:nvPr/>
        </p:nvSpPr>
        <p:spPr>
          <a:xfrm>
            <a:off x="6518291" y="529185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85.0±3.0</a:t>
            </a:r>
          </a:p>
        </p:txBody>
      </p:sp>
      <p:sp>
        <p:nvSpPr>
          <p:cNvPr id="444" name="TextBox 444"/>
          <p:cNvSpPr txBox="1"/>
          <p:nvPr/>
        </p:nvSpPr>
        <p:spPr>
          <a:xfrm>
            <a:off x="7375541" y="529185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88.0±2.6</a:t>
            </a:r>
          </a:p>
        </p:txBody>
      </p:sp>
      <p:sp>
        <p:nvSpPr>
          <p:cNvPr id="445" name="TextBox 445"/>
          <p:cNvSpPr txBox="1"/>
          <p:nvPr/>
        </p:nvSpPr>
        <p:spPr>
          <a:xfrm>
            <a:off x="8232791" y="529185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87.5±3.4</a:t>
            </a:r>
          </a:p>
        </p:txBody>
      </p:sp>
      <p:sp>
        <p:nvSpPr>
          <p:cNvPr id="446" name="TextBox 446"/>
          <p:cNvSpPr txBox="1"/>
          <p:nvPr/>
        </p:nvSpPr>
        <p:spPr>
          <a:xfrm>
            <a:off x="9090041" y="529185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86.5±3.0</a:t>
            </a:r>
          </a:p>
        </p:txBody>
      </p:sp>
      <p:sp>
        <p:nvSpPr>
          <p:cNvPr id="447" name="TextBox 447"/>
          <p:cNvSpPr txBox="1"/>
          <p:nvPr/>
        </p:nvSpPr>
        <p:spPr>
          <a:xfrm>
            <a:off x="9947291" y="5291852"/>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75.0±7.7</a:t>
            </a:r>
          </a:p>
        </p:txBody>
      </p:sp>
      <p:sp>
        <p:nvSpPr>
          <p:cNvPr id="448" name="TextBox 448"/>
          <p:cNvSpPr txBox="1"/>
          <p:nvPr/>
        </p:nvSpPr>
        <p:spPr>
          <a:xfrm>
            <a:off x="10963466" y="5287804"/>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449" name="Rectangle 449"/>
          <p:cNvSpPr/>
          <p:nvPr/>
        </p:nvSpPr>
        <p:spPr>
          <a:xfrm>
            <a:off x="685800" y="5358289"/>
            <a:ext cx="10820400" cy="99536"/>
          </a:xfrm>
          <a:prstGeom prst="rect">
            <a:avLst/>
          </a:prstGeom>
          <a:solidFill>
            <a:srgbClr val="FFFFFF"/>
          </a:solidFill>
          <a:ln>
            <a:noFill/>
          </a:ln>
        </p:spPr>
      </p:sp>
      <p:sp>
        <p:nvSpPr>
          <p:cNvPr id="450" name="TextBox 450"/>
          <p:cNvSpPr txBox="1"/>
          <p:nvPr/>
        </p:nvSpPr>
        <p:spPr>
          <a:xfrm>
            <a:off x="773978" y="5387340"/>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40</a:t>
            </a:r>
          </a:p>
        </p:txBody>
      </p:sp>
      <p:sp>
        <p:nvSpPr>
          <p:cNvPr id="451" name="TextBox 451"/>
          <p:cNvSpPr txBox="1"/>
          <p:nvPr/>
        </p:nvSpPr>
        <p:spPr>
          <a:xfrm>
            <a:off x="1422368" y="5389769"/>
            <a:ext cx="1218914"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诉权处分合同的程序法效果及其司法审查</a:t>
            </a:r>
          </a:p>
        </p:txBody>
      </p:sp>
      <p:sp>
        <p:nvSpPr>
          <p:cNvPr id="452" name="TextBox 452"/>
          <p:cNvSpPr txBox="1"/>
          <p:nvPr/>
        </p:nvSpPr>
        <p:spPr>
          <a:xfrm>
            <a:off x="4451237" y="5387340"/>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85.5±6.0</a:t>
            </a:r>
          </a:p>
        </p:txBody>
      </p:sp>
      <p:sp>
        <p:nvSpPr>
          <p:cNvPr id="453" name="TextBox 453"/>
          <p:cNvSpPr txBox="1"/>
          <p:nvPr/>
        </p:nvSpPr>
        <p:spPr>
          <a:xfrm>
            <a:off x="5651290" y="5391388"/>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84.0±10.0</a:t>
            </a:r>
          </a:p>
        </p:txBody>
      </p:sp>
      <p:sp>
        <p:nvSpPr>
          <p:cNvPr id="454" name="TextBox 454"/>
          <p:cNvSpPr txBox="1"/>
          <p:nvPr/>
        </p:nvSpPr>
        <p:spPr>
          <a:xfrm>
            <a:off x="6518291" y="5391388"/>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85.0±5.7</a:t>
            </a:r>
          </a:p>
        </p:txBody>
      </p:sp>
      <p:sp>
        <p:nvSpPr>
          <p:cNvPr id="455" name="TextBox 455"/>
          <p:cNvSpPr txBox="1"/>
          <p:nvPr/>
        </p:nvSpPr>
        <p:spPr>
          <a:xfrm>
            <a:off x="7375541" y="539138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87.0±3.7</a:t>
            </a:r>
          </a:p>
        </p:txBody>
      </p:sp>
      <p:sp>
        <p:nvSpPr>
          <p:cNvPr id="456" name="TextBox 456"/>
          <p:cNvSpPr txBox="1"/>
          <p:nvPr/>
        </p:nvSpPr>
        <p:spPr>
          <a:xfrm>
            <a:off x="8232791" y="539138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88.0±2.4</a:t>
            </a:r>
          </a:p>
        </p:txBody>
      </p:sp>
      <p:sp>
        <p:nvSpPr>
          <p:cNvPr id="457" name="TextBox 457"/>
          <p:cNvSpPr txBox="1"/>
          <p:nvPr/>
        </p:nvSpPr>
        <p:spPr>
          <a:xfrm>
            <a:off x="9090041" y="539138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92.0±3.4</a:t>
            </a:r>
          </a:p>
        </p:txBody>
      </p:sp>
      <p:sp>
        <p:nvSpPr>
          <p:cNvPr id="458" name="TextBox 458"/>
          <p:cNvSpPr txBox="1"/>
          <p:nvPr/>
        </p:nvSpPr>
        <p:spPr>
          <a:xfrm>
            <a:off x="9947291" y="5391388"/>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70.0±9.0</a:t>
            </a:r>
          </a:p>
        </p:txBody>
      </p:sp>
      <p:sp>
        <p:nvSpPr>
          <p:cNvPr id="459" name="TextBox 459"/>
          <p:cNvSpPr txBox="1"/>
          <p:nvPr/>
        </p:nvSpPr>
        <p:spPr>
          <a:xfrm>
            <a:off x="10963466" y="5387340"/>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460" name="Rectangle 460"/>
          <p:cNvSpPr/>
          <p:nvPr/>
        </p:nvSpPr>
        <p:spPr>
          <a:xfrm>
            <a:off x="685800" y="5457825"/>
            <a:ext cx="10820400" cy="99536"/>
          </a:xfrm>
          <a:prstGeom prst="rect">
            <a:avLst/>
          </a:prstGeom>
          <a:solidFill>
            <a:srgbClr val="F8FAFC"/>
          </a:solidFill>
          <a:ln>
            <a:noFill/>
          </a:ln>
        </p:spPr>
      </p:sp>
      <p:sp>
        <p:nvSpPr>
          <p:cNvPr id="461" name="TextBox 461"/>
          <p:cNvSpPr txBox="1"/>
          <p:nvPr/>
        </p:nvSpPr>
        <p:spPr>
          <a:xfrm>
            <a:off x="782729" y="5486876"/>
            <a:ext cx="72842"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41</a:t>
            </a:r>
          </a:p>
        </p:txBody>
      </p:sp>
      <p:sp>
        <p:nvSpPr>
          <p:cNvPr id="462" name="TextBox 462"/>
          <p:cNvSpPr txBox="1"/>
          <p:nvPr/>
        </p:nvSpPr>
        <p:spPr>
          <a:xfrm>
            <a:off x="1422368" y="5489305"/>
            <a:ext cx="1084898"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劳动关系认定的理论澄清与规范建构</a:t>
            </a:r>
          </a:p>
        </p:txBody>
      </p:sp>
      <p:sp>
        <p:nvSpPr>
          <p:cNvPr id="463" name="TextBox 463"/>
          <p:cNvSpPr txBox="1"/>
          <p:nvPr/>
        </p:nvSpPr>
        <p:spPr>
          <a:xfrm>
            <a:off x="4451237" y="5486876"/>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85.2±5.5</a:t>
            </a:r>
          </a:p>
        </p:txBody>
      </p:sp>
      <p:sp>
        <p:nvSpPr>
          <p:cNvPr id="464" name="TextBox 464"/>
          <p:cNvSpPr txBox="1"/>
          <p:nvPr/>
        </p:nvSpPr>
        <p:spPr>
          <a:xfrm>
            <a:off x="5659416" y="5490924"/>
            <a:ext cx="301669"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83.5±12.1</a:t>
            </a:r>
          </a:p>
        </p:txBody>
      </p:sp>
      <p:sp>
        <p:nvSpPr>
          <p:cNvPr id="465" name="TextBox 465"/>
          <p:cNvSpPr txBox="1"/>
          <p:nvPr/>
        </p:nvSpPr>
        <p:spPr>
          <a:xfrm>
            <a:off x="6518291" y="549092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88.0±2.6</a:t>
            </a:r>
          </a:p>
        </p:txBody>
      </p:sp>
      <p:sp>
        <p:nvSpPr>
          <p:cNvPr id="466" name="TextBox 466"/>
          <p:cNvSpPr txBox="1"/>
          <p:nvPr/>
        </p:nvSpPr>
        <p:spPr>
          <a:xfrm>
            <a:off x="7375541" y="549092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88.5±3.2</a:t>
            </a:r>
          </a:p>
        </p:txBody>
      </p:sp>
      <p:sp>
        <p:nvSpPr>
          <p:cNvPr id="467" name="TextBox 467"/>
          <p:cNvSpPr txBox="1"/>
          <p:nvPr/>
        </p:nvSpPr>
        <p:spPr>
          <a:xfrm>
            <a:off x="8232791" y="549092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85.5±2.0</a:t>
            </a:r>
          </a:p>
        </p:txBody>
      </p:sp>
      <p:sp>
        <p:nvSpPr>
          <p:cNvPr id="468" name="TextBox 468"/>
          <p:cNvSpPr txBox="1"/>
          <p:nvPr/>
        </p:nvSpPr>
        <p:spPr>
          <a:xfrm>
            <a:off x="9090041" y="549092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88.0±3.6</a:t>
            </a:r>
          </a:p>
        </p:txBody>
      </p:sp>
      <p:sp>
        <p:nvSpPr>
          <p:cNvPr id="469" name="TextBox 469"/>
          <p:cNvSpPr txBox="1"/>
          <p:nvPr/>
        </p:nvSpPr>
        <p:spPr>
          <a:xfrm>
            <a:off x="9947291" y="549092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68.0±2.4</a:t>
            </a:r>
          </a:p>
        </p:txBody>
      </p:sp>
      <p:sp>
        <p:nvSpPr>
          <p:cNvPr id="470" name="TextBox 470"/>
          <p:cNvSpPr txBox="1"/>
          <p:nvPr/>
        </p:nvSpPr>
        <p:spPr>
          <a:xfrm>
            <a:off x="10963466" y="5486876"/>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471" name="Rectangle 471"/>
          <p:cNvSpPr/>
          <p:nvPr/>
        </p:nvSpPr>
        <p:spPr>
          <a:xfrm>
            <a:off x="685800" y="5557361"/>
            <a:ext cx="10820400" cy="99536"/>
          </a:xfrm>
          <a:prstGeom prst="rect">
            <a:avLst/>
          </a:prstGeom>
          <a:solidFill>
            <a:srgbClr val="FFFFFF"/>
          </a:solidFill>
          <a:ln>
            <a:noFill/>
          </a:ln>
        </p:spPr>
      </p:sp>
      <p:sp>
        <p:nvSpPr>
          <p:cNvPr id="472" name="TextBox 472"/>
          <p:cNvSpPr txBox="1"/>
          <p:nvPr/>
        </p:nvSpPr>
        <p:spPr>
          <a:xfrm>
            <a:off x="773978" y="5586412"/>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42</a:t>
            </a:r>
          </a:p>
        </p:txBody>
      </p:sp>
      <p:sp>
        <p:nvSpPr>
          <p:cNvPr id="473" name="TextBox 473"/>
          <p:cNvSpPr txBox="1"/>
          <p:nvPr/>
        </p:nvSpPr>
        <p:spPr>
          <a:xfrm>
            <a:off x="1422368" y="5588841"/>
            <a:ext cx="1151906"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三权分置下农地流转权利体系重构研究</a:t>
            </a:r>
          </a:p>
        </p:txBody>
      </p:sp>
      <p:sp>
        <p:nvSpPr>
          <p:cNvPr id="474" name="TextBox 474"/>
          <p:cNvSpPr txBox="1"/>
          <p:nvPr/>
        </p:nvSpPr>
        <p:spPr>
          <a:xfrm>
            <a:off x="4458938" y="5586412"/>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84.9±4.4</a:t>
            </a:r>
          </a:p>
        </p:txBody>
      </p:sp>
      <p:sp>
        <p:nvSpPr>
          <p:cNvPr id="475" name="TextBox 475"/>
          <p:cNvSpPr txBox="1"/>
          <p:nvPr/>
        </p:nvSpPr>
        <p:spPr>
          <a:xfrm>
            <a:off x="5661041" y="5590461"/>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82.5±6.0</a:t>
            </a:r>
          </a:p>
        </p:txBody>
      </p:sp>
      <p:sp>
        <p:nvSpPr>
          <p:cNvPr id="476" name="TextBox 476"/>
          <p:cNvSpPr txBox="1"/>
          <p:nvPr/>
        </p:nvSpPr>
        <p:spPr>
          <a:xfrm>
            <a:off x="6518291" y="559046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89.0±2.8</a:t>
            </a:r>
          </a:p>
        </p:txBody>
      </p:sp>
      <p:sp>
        <p:nvSpPr>
          <p:cNvPr id="477" name="TextBox 477"/>
          <p:cNvSpPr txBox="1"/>
          <p:nvPr/>
        </p:nvSpPr>
        <p:spPr>
          <a:xfrm>
            <a:off x="7375541" y="5590461"/>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83.5±6.0</a:t>
            </a:r>
          </a:p>
        </p:txBody>
      </p:sp>
      <p:sp>
        <p:nvSpPr>
          <p:cNvPr id="478" name="TextBox 478"/>
          <p:cNvSpPr txBox="1"/>
          <p:nvPr/>
        </p:nvSpPr>
        <p:spPr>
          <a:xfrm>
            <a:off x="8232791" y="559046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88.0±2.9</a:t>
            </a:r>
          </a:p>
        </p:txBody>
      </p:sp>
      <p:sp>
        <p:nvSpPr>
          <p:cNvPr id="479" name="TextBox 479"/>
          <p:cNvSpPr txBox="1"/>
          <p:nvPr/>
        </p:nvSpPr>
        <p:spPr>
          <a:xfrm>
            <a:off x="9090041" y="559046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87.0±2.9</a:t>
            </a:r>
          </a:p>
        </p:txBody>
      </p:sp>
      <p:sp>
        <p:nvSpPr>
          <p:cNvPr id="480" name="TextBox 480"/>
          <p:cNvSpPr txBox="1"/>
          <p:nvPr/>
        </p:nvSpPr>
        <p:spPr>
          <a:xfrm>
            <a:off x="9955417" y="5590461"/>
            <a:ext cx="282166"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71.0±5.2</a:t>
            </a:r>
          </a:p>
        </p:txBody>
      </p:sp>
      <p:sp>
        <p:nvSpPr>
          <p:cNvPr id="481" name="TextBox 481"/>
          <p:cNvSpPr txBox="1"/>
          <p:nvPr/>
        </p:nvSpPr>
        <p:spPr>
          <a:xfrm>
            <a:off x="10963466" y="5586412"/>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482" name="Rectangle 482"/>
          <p:cNvSpPr/>
          <p:nvPr/>
        </p:nvSpPr>
        <p:spPr>
          <a:xfrm>
            <a:off x="685800" y="5656898"/>
            <a:ext cx="10820400" cy="99536"/>
          </a:xfrm>
          <a:prstGeom prst="rect">
            <a:avLst/>
          </a:prstGeom>
          <a:solidFill>
            <a:srgbClr val="F8FAFC"/>
          </a:solidFill>
          <a:ln>
            <a:noFill/>
          </a:ln>
        </p:spPr>
      </p:sp>
      <p:sp>
        <p:nvSpPr>
          <p:cNvPr id="483" name="TextBox 483"/>
          <p:cNvSpPr txBox="1"/>
          <p:nvPr/>
        </p:nvSpPr>
        <p:spPr>
          <a:xfrm>
            <a:off x="773978" y="5685949"/>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43</a:t>
            </a:r>
          </a:p>
        </p:txBody>
      </p:sp>
      <p:sp>
        <p:nvSpPr>
          <p:cNvPr id="484" name="TextBox 484"/>
          <p:cNvSpPr txBox="1"/>
          <p:nvPr/>
        </p:nvSpPr>
        <p:spPr>
          <a:xfrm>
            <a:off x="1422368" y="5688378"/>
            <a:ext cx="1017889"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法律规范合宪性解释的方法论构造</a:t>
            </a:r>
          </a:p>
        </p:txBody>
      </p:sp>
      <p:sp>
        <p:nvSpPr>
          <p:cNvPr id="485" name="TextBox 485"/>
          <p:cNvSpPr txBox="1"/>
          <p:nvPr/>
        </p:nvSpPr>
        <p:spPr>
          <a:xfrm>
            <a:off x="4451237" y="5685949"/>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84.9±5.7</a:t>
            </a:r>
          </a:p>
        </p:txBody>
      </p:sp>
      <p:sp>
        <p:nvSpPr>
          <p:cNvPr id="486" name="TextBox 486"/>
          <p:cNvSpPr txBox="1"/>
          <p:nvPr/>
        </p:nvSpPr>
        <p:spPr>
          <a:xfrm>
            <a:off x="5651290" y="5689997"/>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83.5±10.7</a:t>
            </a:r>
          </a:p>
        </p:txBody>
      </p:sp>
      <p:sp>
        <p:nvSpPr>
          <p:cNvPr id="487" name="TextBox 487"/>
          <p:cNvSpPr txBox="1"/>
          <p:nvPr/>
        </p:nvSpPr>
        <p:spPr>
          <a:xfrm>
            <a:off x="6518291" y="568999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88.0±3.0</a:t>
            </a:r>
          </a:p>
        </p:txBody>
      </p:sp>
      <p:sp>
        <p:nvSpPr>
          <p:cNvPr id="488" name="TextBox 488"/>
          <p:cNvSpPr txBox="1"/>
          <p:nvPr/>
        </p:nvSpPr>
        <p:spPr>
          <a:xfrm>
            <a:off x="7375541" y="5689997"/>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85.0±3.3</a:t>
            </a:r>
          </a:p>
        </p:txBody>
      </p:sp>
      <p:sp>
        <p:nvSpPr>
          <p:cNvPr id="489" name="TextBox 489"/>
          <p:cNvSpPr txBox="1"/>
          <p:nvPr/>
        </p:nvSpPr>
        <p:spPr>
          <a:xfrm>
            <a:off x="8240917" y="5689997"/>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89.5±1.4</a:t>
            </a:r>
          </a:p>
        </p:txBody>
      </p:sp>
      <p:sp>
        <p:nvSpPr>
          <p:cNvPr id="490" name="TextBox 490"/>
          <p:cNvSpPr txBox="1"/>
          <p:nvPr/>
        </p:nvSpPr>
        <p:spPr>
          <a:xfrm>
            <a:off x="9090041" y="5689997"/>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87.5±5.2</a:t>
            </a:r>
          </a:p>
        </p:txBody>
      </p:sp>
      <p:sp>
        <p:nvSpPr>
          <p:cNvPr id="491" name="TextBox 491"/>
          <p:cNvSpPr txBox="1"/>
          <p:nvPr/>
        </p:nvSpPr>
        <p:spPr>
          <a:xfrm>
            <a:off x="9945666" y="5689997"/>
            <a:ext cx="301669"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57.5±11.4</a:t>
            </a:r>
          </a:p>
        </p:txBody>
      </p:sp>
      <p:sp>
        <p:nvSpPr>
          <p:cNvPr id="492" name="TextBox 492"/>
          <p:cNvSpPr txBox="1"/>
          <p:nvPr/>
        </p:nvSpPr>
        <p:spPr>
          <a:xfrm>
            <a:off x="10974492" y="5685949"/>
            <a:ext cx="53765" cy="106680"/>
          </a:xfrm>
          <a:prstGeom prst="rect">
            <a:avLst/>
          </a:prstGeom>
          <a:noFill/>
          <a:ln>
            <a:noFill/>
          </a:ln>
        </p:spPr>
        <p:txBody>
          <a:bodyPr wrap="none" lIns="0" tIns="0" rIns="0" bIns="0" anchor="t" anchorCtr="0">
            <a:spAutoFit/>
          </a:bodyPr>
          <a:lstStyle/>
          <a:p>
            <a:pPr algn="ctr"/>
            <a:r>
              <a:rPr lang="zh-CN" sz="525" b="1" dirty="0">
                <a:solidFill>
                  <a:srgbClr val="E07B00"/>
                </a:solidFill>
                <a:latin typeface="Arial"/>
                <a:ea typeface="Microsoft YaHei"/>
                <a:cs typeface="Arial"/>
              </a:rPr>
              <a:t>9</a:t>
            </a:r>
          </a:p>
        </p:txBody>
      </p:sp>
      <p:sp>
        <p:nvSpPr>
          <p:cNvPr id="493" name="Rectangle 493"/>
          <p:cNvSpPr/>
          <p:nvPr/>
        </p:nvSpPr>
        <p:spPr>
          <a:xfrm>
            <a:off x="685800" y="5756434"/>
            <a:ext cx="10820400" cy="99536"/>
          </a:xfrm>
          <a:prstGeom prst="rect">
            <a:avLst/>
          </a:prstGeom>
          <a:solidFill>
            <a:srgbClr val="FFFFFF"/>
          </a:solidFill>
          <a:ln>
            <a:noFill/>
          </a:ln>
        </p:spPr>
      </p:sp>
      <p:sp>
        <p:nvSpPr>
          <p:cNvPr id="494" name="TextBox 494"/>
          <p:cNvSpPr txBox="1"/>
          <p:nvPr/>
        </p:nvSpPr>
        <p:spPr>
          <a:xfrm>
            <a:off x="773978" y="5785485"/>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44</a:t>
            </a:r>
          </a:p>
        </p:txBody>
      </p:sp>
      <p:sp>
        <p:nvSpPr>
          <p:cNvPr id="495" name="TextBox 495"/>
          <p:cNvSpPr txBox="1"/>
          <p:nvPr/>
        </p:nvSpPr>
        <p:spPr>
          <a:xfrm>
            <a:off x="1422368" y="5787914"/>
            <a:ext cx="1084898"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公法属地原则与域外适用的博弈共存</a:t>
            </a:r>
          </a:p>
        </p:txBody>
      </p:sp>
      <p:sp>
        <p:nvSpPr>
          <p:cNvPr id="496" name="TextBox 496"/>
          <p:cNvSpPr txBox="1"/>
          <p:nvPr/>
        </p:nvSpPr>
        <p:spPr>
          <a:xfrm>
            <a:off x="4451237" y="5785485"/>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84.7±6.2</a:t>
            </a:r>
          </a:p>
        </p:txBody>
      </p:sp>
      <p:sp>
        <p:nvSpPr>
          <p:cNvPr id="497" name="TextBox 497"/>
          <p:cNvSpPr txBox="1"/>
          <p:nvPr/>
        </p:nvSpPr>
        <p:spPr>
          <a:xfrm>
            <a:off x="5651290" y="5789533"/>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80.0±12.4</a:t>
            </a:r>
          </a:p>
        </p:txBody>
      </p:sp>
      <p:sp>
        <p:nvSpPr>
          <p:cNvPr id="498" name="TextBox 498"/>
          <p:cNvSpPr txBox="1"/>
          <p:nvPr/>
        </p:nvSpPr>
        <p:spPr>
          <a:xfrm>
            <a:off x="6518291" y="578953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88.0±2.6</a:t>
            </a:r>
          </a:p>
        </p:txBody>
      </p:sp>
      <p:sp>
        <p:nvSpPr>
          <p:cNvPr id="499" name="TextBox 499"/>
          <p:cNvSpPr txBox="1"/>
          <p:nvPr/>
        </p:nvSpPr>
        <p:spPr>
          <a:xfrm>
            <a:off x="7383667" y="5789533"/>
            <a:ext cx="282166"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86.5±7.1</a:t>
            </a:r>
          </a:p>
        </p:txBody>
      </p:sp>
      <p:sp>
        <p:nvSpPr>
          <p:cNvPr id="500" name="TextBox 500"/>
          <p:cNvSpPr txBox="1"/>
          <p:nvPr/>
        </p:nvSpPr>
        <p:spPr>
          <a:xfrm>
            <a:off x="8240917" y="5789533"/>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88.0±1.9</a:t>
            </a:r>
          </a:p>
        </p:txBody>
      </p:sp>
      <p:sp>
        <p:nvSpPr>
          <p:cNvPr id="501" name="TextBox 501"/>
          <p:cNvSpPr txBox="1"/>
          <p:nvPr/>
        </p:nvSpPr>
        <p:spPr>
          <a:xfrm>
            <a:off x="9090041" y="578953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88.0±2.7</a:t>
            </a:r>
          </a:p>
        </p:txBody>
      </p:sp>
      <p:sp>
        <p:nvSpPr>
          <p:cNvPr id="502" name="TextBox 502"/>
          <p:cNvSpPr txBox="1"/>
          <p:nvPr/>
        </p:nvSpPr>
        <p:spPr>
          <a:xfrm>
            <a:off x="9947291" y="5789533"/>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75.0±4.5</a:t>
            </a:r>
          </a:p>
        </p:txBody>
      </p:sp>
      <p:sp>
        <p:nvSpPr>
          <p:cNvPr id="503" name="TextBox 503"/>
          <p:cNvSpPr txBox="1"/>
          <p:nvPr/>
        </p:nvSpPr>
        <p:spPr>
          <a:xfrm>
            <a:off x="10963466" y="5785485"/>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504" name="Rectangle 504"/>
          <p:cNvSpPr/>
          <p:nvPr/>
        </p:nvSpPr>
        <p:spPr>
          <a:xfrm>
            <a:off x="685800" y="5855970"/>
            <a:ext cx="10820400" cy="99536"/>
          </a:xfrm>
          <a:prstGeom prst="rect">
            <a:avLst/>
          </a:prstGeom>
          <a:solidFill>
            <a:srgbClr val="F8FAFC"/>
          </a:solidFill>
          <a:ln>
            <a:noFill/>
          </a:ln>
        </p:spPr>
      </p:sp>
      <p:sp>
        <p:nvSpPr>
          <p:cNvPr id="505" name="TextBox 505"/>
          <p:cNvSpPr txBox="1"/>
          <p:nvPr/>
        </p:nvSpPr>
        <p:spPr>
          <a:xfrm>
            <a:off x="773978" y="5885021"/>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45</a:t>
            </a:r>
          </a:p>
        </p:txBody>
      </p:sp>
      <p:sp>
        <p:nvSpPr>
          <p:cNvPr id="506" name="TextBox 506"/>
          <p:cNvSpPr txBox="1"/>
          <p:nvPr/>
        </p:nvSpPr>
        <p:spPr>
          <a:xfrm>
            <a:off x="1422368" y="5887450"/>
            <a:ext cx="689548"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论行政行为“明显不当”</a:t>
            </a:r>
          </a:p>
        </p:txBody>
      </p:sp>
      <p:sp>
        <p:nvSpPr>
          <p:cNvPr id="507" name="TextBox 507"/>
          <p:cNvSpPr txBox="1"/>
          <p:nvPr/>
        </p:nvSpPr>
        <p:spPr>
          <a:xfrm>
            <a:off x="4458938" y="5885021"/>
            <a:ext cx="321374"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84.5±3.5</a:t>
            </a:r>
          </a:p>
        </p:txBody>
      </p:sp>
      <p:sp>
        <p:nvSpPr>
          <p:cNvPr id="508" name="TextBox 508"/>
          <p:cNvSpPr txBox="1"/>
          <p:nvPr/>
        </p:nvSpPr>
        <p:spPr>
          <a:xfrm>
            <a:off x="5661041" y="588906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85.0±3.6</a:t>
            </a:r>
          </a:p>
        </p:txBody>
      </p:sp>
      <p:sp>
        <p:nvSpPr>
          <p:cNvPr id="509" name="TextBox 509"/>
          <p:cNvSpPr txBox="1"/>
          <p:nvPr/>
        </p:nvSpPr>
        <p:spPr>
          <a:xfrm>
            <a:off x="6518291" y="588906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85.5±2.6</a:t>
            </a:r>
          </a:p>
        </p:txBody>
      </p:sp>
      <p:sp>
        <p:nvSpPr>
          <p:cNvPr id="510" name="TextBox 510"/>
          <p:cNvSpPr txBox="1"/>
          <p:nvPr/>
        </p:nvSpPr>
        <p:spPr>
          <a:xfrm>
            <a:off x="7375541" y="5889069"/>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77.0±6.8</a:t>
            </a:r>
          </a:p>
        </p:txBody>
      </p:sp>
      <p:sp>
        <p:nvSpPr>
          <p:cNvPr id="511" name="TextBox 511"/>
          <p:cNvSpPr txBox="1"/>
          <p:nvPr/>
        </p:nvSpPr>
        <p:spPr>
          <a:xfrm>
            <a:off x="8232791" y="588906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88.5±2.5</a:t>
            </a:r>
          </a:p>
        </p:txBody>
      </p:sp>
      <p:sp>
        <p:nvSpPr>
          <p:cNvPr id="512" name="TextBox 512"/>
          <p:cNvSpPr txBox="1"/>
          <p:nvPr/>
        </p:nvSpPr>
        <p:spPr>
          <a:xfrm>
            <a:off x="9098167" y="5889069"/>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88.0±1.7</a:t>
            </a:r>
          </a:p>
        </p:txBody>
      </p:sp>
      <p:sp>
        <p:nvSpPr>
          <p:cNvPr id="513" name="TextBox 513"/>
          <p:cNvSpPr txBox="1"/>
          <p:nvPr/>
        </p:nvSpPr>
        <p:spPr>
          <a:xfrm>
            <a:off x="9947291" y="5889069"/>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76.5±4.4</a:t>
            </a:r>
          </a:p>
        </p:txBody>
      </p:sp>
      <p:sp>
        <p:nvSpPr>
          <p:cNvPr id="514" name="TextBox 514"/>
          <p:cNvSpPr txBox="1"/>
          <p:nvPr/>
        </p:nvSpPr>
        <p:spPr>
          <a:xfrm>
            <a:off x="10963466" y="5885021"/>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515" name="Rectangle 515"/>
          <p:cNvSpPr/>
          <p:nvPr/>
        </p:nvSpPr>
        <p:spPr>
          <a:xfrm>
            <a:off x="685800" y="5955506"/>
            <a:ext cx="10820400" cy="99536"/>
          </a:xfrm>
          <a:prstGeom prst="rect">
            <a:avLst/>
          </a:prstGeom>
          <a:solidFill>
            <a:srgbClr val="FFFFFF"/>
          </a:solidFill>
          <a:ln>
            <a:noFill/>
          </a:ln>
        </p:spPr>
      </p:sp>
      <p:sp>
        <p:nvSpPr>
          <p:cNvPr id="516" name="TextBox 516"/>
          <p:cNvSpPr txBox="1"/>
          <p:nvPr/>
        </p:nvSpPr>
        <p:spPr>
          <a:xfrm>
            <a:off x="773978" y="5984558"/>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46</a:t>
            </a:r>
          </a:p>
        </p:txBody>
      </p:sp>
      <p:sp>
        <p:nvSpPr>
          <p:cNvPr id="517" name="TextBox 517"/>
          <p:cNvSpPr txBox="1"/>
          <p:nvPr/>
        </p:nvSpPr>
        <p:spPr>
          <a:xfrm>
            <a:off x="1422368" y="5986986"/>
            <a:ext cx="1151906"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基本权利的功能体系与行政法治的进路</a:t>
            </a:r>
          </a:p>
        </p:txBody>
      </p:sp>
      <p:sp>
        <p:nvSpPr>
          <p:cNvPr id="518" name="TextBox 518"/>
          <p:cNvSpPr txBox="1"/>
          <p:nvPr/>
        </p:nvSpPr>
        <p:spPr>
          <a:xfrm>
            <a:off x="4451237" y="5984558"/>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84.2±5.7</a:t>
            </a:r>
          </a:p>
        </p:txBody>
      </p:sp>
      <p:sp>
        <p:nvSpPr>
          <p:cNvPr id="519" name="TextBox 519"/>
          <p:cNvSpPr txBox="1"/>
          <p:nvPr/>
        </p:nvSpPr>
        <p:spPr>
          <a:xfrm>
            <a:off x="5661041" y="5988606"/>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85.0±9.7</a:t>
            </a:r>
          </a:p>
        </p:txBody>
      </p:sp>
      <p:sp>
        <p:nvSpPr>
          <p:cNvPr id="520" name="TextBox 520"/>
          <p:cNvSpPr txBox="1"/>
          <p:nvPr/>
        </p:nvSpPr>
        <p:spPr>
          <a:xfrm>
            <a:off x="6526417" y="5988606"/>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86.5±1.9</a:t>
            </a:r>
          </a:p>
        </p:txBody>
      </p:sp>
      <p:sp>
        <p:nvSpPr>
          <p:cNvPr id="521" name="TextBox 521"/>
          <p:cNvSpPr txBox="1"/>
          <p:nvPr/>
        </p:nvSpPr>
        <p:spPr>
          <a:xfrm>
            <a:off x="7391793" y="5988606"/>
            <a:ext cx="265914"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81.0±5.1</a:t>
            </a:r>
          </a:p>
        </p:txBody>
      </p:sp>
      <p:sp>
        <p:nvSpPr>
          <p:cNvPr id="522" name="TextBox 522"/>
          <p:cNvSpPr txBox="1"/>
          <p:nvPr/>
        </p:nvSpPr>
        <p:spPr>
          <a:xfrm>
            <a:off x="8232791" y="5988606"/>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83.0±5.5</a:t>
            </a:r>
          </a:p>
        </p:txBody>
      </p:sp>
      <p:sp>
        <p:nvSpPr>
          <p:cNvPr id="523" name="TextBox 523"/>
          <p:cNvSpPr txBox="1"/>
          <p:nvPr/>
        </p:nvSpPr>
        <p:spPr>
          <a:xfrm>
            <a:off x="9090041" y="598860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88.0±3.3</a:t>
            </a:r>
          </a:p>
        </p:txBody>
      </p:sp>
      <p:sp>
        <p:nvSpPr>
          <p:cNvPr id="524" name="TextBox 524"/>
          <p:cNvSpPr txBox="1"/>
          <p:nvPr/>
        </p:nvSpPr>
        <p:spPr>
          <a:xfrm>
            <a:off x="9947291" y="5988606"/>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78.0±4.5</a:t>
            </a:r>
          </a:p>
        </p:txBody>
      </p:sp>
      <p:sp>
        <p:nvSpPr>
          <p:cNvPr id="525" name="TextBox 525"/>
          <p:cNvSpPr txBox="1"/>
          <p:nvPr/>
        </p:nvSpPr>
        <p:spPr>
          <a:xfrm>
            <a:off x="10963466" y="5984558"/>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526" name="Rectangle 526"/>
          <p:cNvSpPr/>
          <p:nvPr/>
        </p:nvSpPr>
        <p:spPr>
          <a:xfrm>
            <a:off x="685800" y="6055042"/>
            <a:ext cx="10820400" cy="99536"/>
          </a:xfrm>
          <a:prstGeom prst="rect">
            <a:avLst/>
          </a:prstGeom>
          <a:solidFill>
            <a:srgbClr val="F8FAFC"/>
          </a:solidFill>
          <a:ln>
            <a:noFill/>
          </a:ln>
        </p:spPr>
      </p:sp>
      <p:sp>
        <p:nvSpPr>
          <p:cNvPr id="527" name="TextBox 527"/>
          <p:cNvSpPr txBox="1"/>
          <p:nvPr/>
        </p:nvSpPr>
        <p:spPr>
          <a:xfrm>
            <a:off x="773978" y="6084094"/>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47</a:t>
            </a:r>
          </a:p>
        </p:txBody>
      </p:sp>
      <p:sp>
        <p:nvSpPr>
          <p:cNvPr id="528" name="TextBox 528"/>
          <p:cNvSpPr txBox="1"/>
          <p:nvPr/>
        </p:nvSpPr>
        <p:spPr>
          <a:xfrm>
            <a:off x="1422368" y="6086523"/>
            <a:ext cx="1285923"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现代监护理念下监护与行为能力关系的重构</a:t>
            </a:r>
          </a:p>
        </p:txBody>
      </p:sp>
      <p:sp>
        <p:nvSpPr>
          <p:cNvPr id="529" name="TextBox 529"/>
          <p:cNvSpPr txBox="1"/>
          <p:nvPr/>
        </p:nvSpPr>
        <p:spPr>
          <a:xfrm>
            <a:off x="4467689" y="6084094"/>
            <a:ext cx="303871"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84.1±4.7</a:t>
            </a:r>
          </a:p>
        </p:txBody>
      </p:sp>
      <p:sp>
        <p:nvSpPr>
          <p:cNvPr id="530" name="TextBox 530"/>
          <p:cNvSpPr txBox="1"/>
          <p:nvPr/>
        </p:nvSpPr>
        <p:spPr>
          <a:xfrm>
            <a:off x="5661041" y="6088142"/>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80.0±8.5</a:t>
            </a:r>
          </a:p>
        </p:txBody>
      </p:sp>
      <p:sp>
        <p:nvSpPr>
          <p:cNvPr id="531" name="TextBox 531"/>
          <p:cNvSpPr txBox="1"/>
          <p:nvPr/>
        </p:nvSpPr>
        <p:spPr>
          <a:xfrm>
            <a:off x="6518291" y="608814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88.0±2.6</a:t>
            </a:r>
          </a:p>
        </p:txBody>
      </p:sp>
      <p:sp>
        <p:nvSpPr>
          <p:cNvPr id="532" name="TextBox 532"/>
          <p:cNvSpPr txBox="1"/>
          <p:nvPr/>
        </p:nvSpPr>
        <p:spPr>
          <a:xfrm>
            <a:off x="7375541" y="6088142"/>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82.0±6.2</a:t>
            </a:r>
          </a:p>
        </p:txBody>
      </p:sp>
      <p:sp>
        <p:nvSpPr>
          <p:cNvPr id="533" name="TextBox 533"/>
          <p:cNvSpPr txBox="1"/>
          <p:nvPr/>
        </p:nvSpPr>
        <p:spPr>
          <a:xfrm>
            <a:off x="8240917" y="6088142"/>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87.0±1.7</a:t>
            </a:r>
          </a:p>
        </p:txBody>
      </p:sp>
      <p:sp>
        <p:nvSpPr>
          <p:cNvPr id="534" name="TextBox 534"/>
          <p:cNvSpPr txBox="1"/>
          <p:nvPr/>
        </p:nvSpPr>
        <p:spPr>
          <a:xfrm>
            <a:off x="9090041" y="6088142"/>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88.0±2.2</a:t>
            </a:r>
          </a:p>
        </p:txBody>
      </p:sp>
      <p:sp>
        <p:nvSpPr>
          <p:cNvPr id="535" name="TextBox 535"/>
          <p:cNvSpPr txBox="1"/>
          <p:nvPr/>
        </p:nvSpPr>
        <p:spPr>
          <a:xfrm>
            <a:off x="9955417" y="6088142"/>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80.0±3.1</a:t>
            </a:r>
          </a:p>
        </p:txBody>
      </p:sp>
      <p:sp>
        <p:nvSpPr>
          <p:cNvPr id="536" name="TextBox 536"/>
          <p:cNvSpPr txBox="1"/>
          <p:nvPr/>
        </p:nvSpPr>
        <p:spPr>
          <a:xfrm>
            <a:off x="10963466" y="6084094"/>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537" name="Rectangle 537"/>
          <p:cNvSpPr/>
          <p:nvPr/>
        </p:nvSpPr>
        <p:spPr>
          <a:xfrm>
            <a:off x="685800" y="6154579"/>
            <a:ext cx="10820400" cy="99536"/>
          </a:xfrm>
          <a:prstGeom prst="rect">
            <a:avLst/>
          </a:prstGeom>
          <a:solidFill>
            <a:srgbClr val="FFFFFF"/>
          </a:solidFill>
          <a:ln>
            <a:noFill/>
          </a:ln>
        </p:spPr>
      </p:sp>
      <p:sp>
        <p:nvSpPr>
          <p:cNvPr id="538" name="TextBox 538"/>
          <p:cNvSpPr txBox="1"/>
          <p:nvPr/>
        </p:nvSpPr>
        <p:spPr>
          <a:xfrm>
            <a:off x="773978" y="6183630"/>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48</a:t>
            </a:r>
          </a:p>
        </p:txBody>
      </p:sp>
      <p:sp>
        <p:nvSpPr>
          <p:cNvPr id="539" name="TextBox 539"/>
          <p:cNvSpPr txBox="1"/>
          <p:nvPr/>
        </p:nvSpPr>
        <p:spPr>
          <a:xfrm>
            <a:off x="1422368" y="6186059"/>
            <a:ext cx="622540"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“直诉”源流通说辨正</a:t>
            </a:r>
          </a:p>
        </p:txBody>
      </p:sp>
      <p:sp>
        <p:nvSpPr>
          <p:cNvPr id="540" name="TextBox 540"/>
          <p:cNvSpPr txBox="1"/>
          <p:nvPr/>
        </p:nvSpPr>
        <p:spPr>
          <a:xfrm>
            <a:off x="4451237" y="6183630"/>
            <a:ext cx="336775"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84.0±7.2</a:t>
            </a:r>
          </a:p>
        </p:txBody>
      </p:sp>
      <p:sp>
        <p:nvSpPr>
          <p:cNvPr id="541" name="TextBox 541"/>
          <p:cNvSpPr txBox="1"/>
          <p:nvPr/>
        </p:nvSpPr>
        <p:spPr>
          <a:xfrm>
            <a:off x="5651290" y="6187678"/>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88.0±10.5</a:t>
            </a:r>
          </a:p>
        </p:txBody>
      </p:sp>
      <p:sp>
        <p:nvSpPr>
          <p:cNvPr id="542" name="TextBox 542"/>
          <p:cNvSpPr txBox="1"/>
          <p:nvPr/>
        </p:nvSpPr>
        <p:spPr>
          <a:xfrm>
            <a:off x="6518291" y="6187678"/>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82.0±6.6</a:t>
            </a:r>
          </a:p>
        </p:txBody>
      </p:sp>
      <p:sp>
        <p:nvSpPr>
          <p:cNvPr id="543" name="TextBox 543"/>
          <p:cNvSpPr txBox="1"/>
          <p:nvPr/>
        </p:nvSpPr>
        <p:spPr>
          <a:xfrm>
            <a:off x="7365790" y="6187678"/>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76.0±10.2</a:t>
            </a:r>
          </a:p>
        </p:txBody>
      </p:sp>
      <p:sp>
        <p:nvSpPr>
          <p:cNvPr id="544" name="TextBox 544"/>
          <p:cNvSpPr txBox="1"/>
          <p:nvPr/>
        </p:nvSpPr>
        <p:spPr>
          <a:xfrm>
            <a:off x="8232791" y="618767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88.0±4.0</a:t>
            </a:r>
          </a:p>
        </p:txBody>
      </p:sp>
      <p:sp>
        <p:nvSpPr>
          <p:cNvPr id="545" name="TextBox 545"/>
          <p:cNvSpPr txBox="1"/>
          <p:nvPr/>
        </p:nvSpPr>
        <p:spPr>
          <a:xfrm>
            <a:off x="9090041" y="6187678"/>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85.0±0.6</a:t>
            </a:r>
          </a:p>
        </p:txBody>
      </p:sp>
      <p:sp>
        <p:nvSpPr>
          <p:cNvPr id="546" name="TextBox 546"/>
          <p:cNvSpPr txBox="1"/>
          <p:nvPr/>
        </p:nvSpPr>
        <p:spPr>
          <a:xfrm>
            <a:off x="9947291" y="6187678"/>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75.0±5.8</a:t>
            </a:r>
          </a:p>
        </p:txBody>
      </p:sp>
      <p:sp>
        <p:nvSpPr>
          <p:cNvPr id="547" name="TextBox 547"/>
          <p:cNvSpPr txBox="1"/>
          <p:nvPr/>
        </p:nvSpPr>
        <p:spPr>
          <a:xfrm>
            <a:off x="10963466" y="6183630"/>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548" name="Rectangle 548"/>
          <p:cNvSpPr/>
          <p:nvPr/>
        </p:nvSpPr>
        <p:spPr>
          <a:xfrm>
            <a:off x="685800" y="6254115"/>
            <a:ext cx="10820400" cy="99536"/>
          </a:xfrm>
          <a:prstGeom prst="rect">
            <a:avLst/>
          </a:prstGeom>
          <a:solidFill>
            <a:srgbClr val="F8FAFC"/>
          </a:solidFill>
          <a:ln>
            <a:noFill/>
          </a:ln>
        </p:spPr>
      </p:sp>
      <p:sp>
        <p:nvSpPr>
          <p:cNvPr id="549" name="TextBox 549"/>
          <p:cNvSpPr txBox="1"/>
          <p:nvPr/>
        </p:nvSpPr>
        <p:spPr>
          <a:xfrm>
            <a:off x="773978" y="6283166"/>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49</a:t>
            </a:r>
          </a:p>
        </p:txBody>
      </p:sp>
      <p:sp>
        <p:nvSpPr>
          <p:cNvPr id="550" name="TextBox 550"/>
          <p:cNvSpPr txBox="1"/>
          <p:nvPr/>
        </p:nvSpPr>
        <p:spPr>
          <a:xfrm>
            <a:off x="1422368" y="6285595"/>
            <a:ext cx="1761682"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论清代刑案诸证一致的证据标准——以同治四年郑庆年案为例</a:t>
            </a:r>
          </a:p>
        </p:txBody>
      </p:sp>
      <p:sp>
        <p:nvSpPr>
          <p:cNvPr id="551" name="TextBox 551"/>
          <p:cNvSpPr txBox="1"/>
          <p:nvPr/>
        </p:nvSpPr>
        <p:spPr>
          <a:xfrm>
            <a:off x="4440211" y="6283166"/>
            <a:ext cx="358828"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83.0±10.7</a:t>
            </a:r>
          </a:p>
        </p:txBody>
      </p:sp>
      <p:sp>
        <p:nvSpPr>
          <p:cNvPr id="552" name="TextBox 552"/>
          <p:cNvSpPr txBox="1"/>
          <p:nvPr/>
        </p:nvSpPr>
        <p:spPr>
          <a:xfrm>
            <a:off x="5643164" y="6287214"/>
            <a:ext cx="334173"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85.0±25.2</a:t>
            </a:r>
          </a:p>
        </p:txBody>
      </p:sp>
      <p:sp>
        <p:nvSpPr>
          <p:cNvPr id="553" name="TextBox 553"/>
          <p:cNvSpPr txBox="1"/>
          <p:nvPr/>
        </p:nvSpPr>
        <p:spPr>
          <a:xfrm>
            <a:off x="6526417" y="6287214"/>
            <a:ext cx="282166"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72.0±6.1</a:t>
            </a:r>
          </a:p>
        </p:txBody>
      </p:sp>
      <p:sp>
        <p:nvSpPr>
          <p:cNvPr id="554" name="TextBox 554"/>
          <p:cNvSpPr txBox="1"/>
          <p:nvPr/>
        </p:nvSpPr>
        <p:spPr>
          <a:xfrm>
            <a:off x="7375541" y="628721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82.0±4.7</a:t>
            </a:r>
          </a:p>
        </p:txBody>
      </p:sp>
      <p:sp>
        <p:nvSpPr>
          <p:cNvPr id="555" name="TextBox 555"/>
          <p:cNvSpPr txBox="1"/>
          <p:nvPr/>
        </p:nvSpPr>
        <p:spPr>
          <a:xfrm>
            <a:off x="8232791" y="6287214"/>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92.0±4.0</a:t>
            </a:r>
          </a:p>
        </p:txBody>
      </p:sp>
      <p:sp>
        <p:nvSpPr>
          <p:cNvPr id="556" name="TextBox 556"/>
          <p:cNvSpPr txBox="1"/>
          <p:nvPr/>
        </p:nvSpPr>
        <p:spPr>
          <a:xfrm>
            <a:off x="9098167" y="6287214"/>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88.0±1.5</a:t>
            </a:r>
          </a:p>
        </p:txBody>
      </p:sp>
      <p:sp>
        <p:nvSpPr>
          <p:cNvPr id="557" name="TextBox 557"/>
          <p:cNvSpPr txBox="1"/>
          <p:nvPr/>
        </p:nvSpPr>
        <p:spPr>
          <a:xfrm>
            <a:off x="9947291" y="6287214"/>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72.5±5.7</a:t>
            </a:r>
          </a:p>
        </p:txBody>
      </p:sp>
      <p:sp>
        <p:nvSpPr>
          <p:cNvPr id="558" name="TextBox 558"/>
          <p:cNvSpPr txBox="1"/>
          <p:nvPr/>
        </p:nvSpPr>
        <p:spPr>
          <a:xfrm>
            <a:off x="10963466" y="6283166"/>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559" name="Rectangle 559"/>
          <p:cNvSpPr/>
          <p:nvPr/>
        </p:nvSpPr>
        <p:spPr>
          <a:xfrm>
            <a:off x="685800" y="6353651"/>
            <a:ext cx="10820400" cy="99536"/>
          </a:xfrm>
          <a:prstGeom prst="rect">
            <a:avLst/>
          </a:prstGeom>
          <a:solidFill>
            <a:srgbClr val="FFFFFF"/>
          </a:solidFill>
          <a:ln>
            <a:noFill/>
          </a:ln>
        </p:spPr>
      </p:sp>
      <p:sp>
        <p:nvSpPr>
          <p:cNvPr id="560" name="TextBox 560"/>
          <p:cNvSpPr txBox="1"/>
          <p:nvPr/>
        </p:nvSpPr>
        <p:spPr>
          <a:xfrm>
            <a:off x="773978" y="6382702"/>
            <a:ext cx="90345" cy="106680"/>
          </a:xfrm>
          <a:prstGeom prst="rect">
            <a:avLst/>
          </a:prstGeom>
          <a:noFill/>
          <a:ln>
            <a:noFill/>
          </a:ln>
        </p:spPr>
        <p:txBody>
          <a:bodyPr wrap="none" lIns="0" tIns="0" rIns="0" bIns="0" anchor="t" anchorCtr="0">
            <a:spAutoFit/>
          </a:bodyPr>
          <a:lstStyle/>
          <a:p>
            <a:pPr algn="ctr"/>
            <a:r>
              <a:rPr lang="zh-CN" sz="525" dirty="0">
                <a:solidFill>
                  <a:srgbClr val="1B1C21"/>
                </a:solidFill>
                <a:latin typeface="Arial"/>
                <a:ea typeface="Microsoft YaHei"/>
                <a:cs typeface="Arial"/>
              </a:rPr>
              <a:t>50</a:t>
            </a:r>
          </a:p>
        </p:txBody>
      </p:sp>
      <p:sp>
        <p:nvSpPr>
          <p:cNvPr id="561" name="TextBox 561"/>
          <p:cNvSpPr txBox="1"/>
          <p:nvPr/>
        </p:nvSpPr>
        <p:spPr>
          <a:xfrm>
            <a:off x="1422368" y="6385131"/>
            <a:ext cx="615839" cy="102108"/>
          </a:xfrm>
          <a:prstGeom prst="rect">
            <a:avLst/>
          </a:prstGeom>
          <a:noFill/>
          <a:ln>
            <a:noFill/>
          </a:ln>
        </p:spPr>
        <p:txBody>
          <a:bodyPr wrap="none" lIns="0" tIns="0" rIns="0" bIns="0" anchor="t" anchorCtr="0">
            <a:spAutoFit/>
          </a:bodyPr>
          <a:lstStyle/>
          <a:p>
            <a:pPr algn="l"/>
            <a:r>
              <a:rPr lang="zh-CN" sz="502" dirty="0">
                <a:solidFill>
                  <a:srgbClr val="1B1C21"/>
                </a:solidFill>
                <a:latin typeface="Arial"/>
                <a:ea typeface="Microsoft YaHei"/>
                <a:cs typeface="Arial"/>
              </a:rPr>
              <a:t>党内法规的概念分析</a:t>
            </a:r>
          </a:p>
        </p:txBody>
      </p:sp>
      <p:sp>
        <p:nvSpPr>
          <p:cNvPr id="562" name="TextBox 562"/>
          <p:cNvSpPr txBox="1"/>
          <p:nvPr/>
        </p:nvSpPr>
        <p:spPr>
          <a:xfrm>
            <a:off x="4449400" y="6382702"/>
            <a:ext cx="340451" cy="106680"/>
          </a:xfrm>
          <a:prstGeom prst="rect">
            <a:avLst/>
          </a:prstGeom>
          <a:noFill/>
          <a:ln>
            <a:noFill/>
          </a:ln>
        </p:spPr>
        <p:txBody>
          <a:bodyPr wrap="none" lIns="0" tIns="0" rIns="0" bIns="0" anchor="t" anchorCtr="0">
            <a:spAutoFit/>
          </a:bodyPr>
          <a:lstStyle/>
          <a:p>
            <a:pPr algn="ctr"/>
            <a:r>
              <a:rPr lang="zh-CN" sz="525" b="1" dirty="0">
                <a:solidFill>
                  <a:srgbClr val="C8161E"/>
                </a:solidFill>
                <a:latin typeface="Arial"/>
                <a:ea typeface="Microsoft YaHei"/>
                <a:cs typeface="Arial"/>
              </a:rPr>
              <a:t>82.6±11.2</a:t>
            </a:r>
          </a:p>
        </p:txBody>
      </p:sp>
      <p:sp>
        <p:nvSpPr>
          <p:cNvPr id="563" name="TextBox 563"/>
          <p:cNvSpPr txBox="1"/>
          <p:nvPr/>
        </p:nvSpPr>
        <p:spPr>
          <a:xfrm>
            <a:off x="5651290" y="6386751"/>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81.5±20.2</a:t>
            </a:r>
          </a:p>
        </p:txBody>
      </p:sp>
      <p:sp>
        <p:nvSpPr>
          <p:cNvPr id="564" name="TextBox 564"/>
          <p:cNvSpPr txBox="1"/>
          <p:nvPr/>
        </p:nvSpPr>
        <p:spPr>
          <a:xfrm>
            <a:off x="6518291" y="6386751"/>
            <a:ext cx="298418"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85.0±6.2</a:t>
            </a:r>
          </a:p>
        </p:txBody>
      </p:sp>
      <p:sp>
        <p:nvSpPr>
          <p:cNvPr id="565" name="TextBox 565"/>
          <p:cNvSpPr txBox="1"/>
          <p:nvPr/>
        </p:nvSpPr>
        <p:spPr>
          <a:xfrm>
            <a:off x="7373916" y="6386751"/>
            <a:ext cx="301669"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78.0±18.1</a:t>
            </a:r>
          </a:p>
        </p:txBody>
      </p:sp>
      <p:sp>
        <p:nvSpPr>
          <p:cNvPr id="566" name="TextBox 566"/>
          <p:cNvSpPr txBox="1"/>
          <p:nvPr/>
        </p:nvSpPr>
        <p:spPr>
          <a:xfrm>
            <a:off x="8232791" y="6386751"/>
            <a:ext cx="298418"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88.0±2.0</a:t>
            </a:r>
          </a:p>
        </p:txBody>
      </p:sp>
      <p:sp>
        <p:nvSpPr>
          <p:cNvPr id="567" name="TextBox 567"/>
          <p:cNvSpPr txBox="1"/>
          <p:nvPr/>
        </p:nvSpPr>
        <p:spPr>
          <a:xfrm>
            <a:off x="9098167" y="6386751"/>
            <a:ext cx="282166" cy="99060"/>
          </a:xfrm>
          <a:prstGeom prst="rect">
            <a:avLst/>
          </a:prstGeom>
          <a:noFill/>
          <a:ln>
            <a:noFill/>
          </a:ln>
        </p:spPr>
        <p:txBody>
          <a:bodyPr wrap="none" lIns="0" tIns="0" rIns="0" bIns="0" anchor="t" anchorCtr="0">
            <a:spAutoFit/>
          </a:bodyPr>
          <a:lstStyle/>
          <a:p>
            <a:pPr algn="ctr"/>
            <a:r>
              <a:rPr lang="zh-CN" sz="488" dirty="0">
                <a:solidFill>
                  <a:srgbClr val="1B1C21"/>
                </a:solidFill>
                <a:latin typeface="Arial"/>
                <a:ea typeface="Microsoft YaHei"/>
                <a:cs typeface="Arial"/>
              </a:rPr>
              <a:t>86.0±1.0</a:t>
            </a:r>
          </a:p>
        </p:txBody>
      </p:sp>
      <p:sp>
        <p:nvSpPr>
          <p:cNvPr id="568" name="TextBox 568"/>
          <p:cNvSpPr txBox="1"/>
          <p:nvPr/>
        </p:nvSpPr>
        <p:spPr>
          <a:xfrm>
            <a:off x="9937540" y="6386751"/>
            <a:ext cx="317921" cy="99060"/>
          </a:xfrm>
          <a:prstGeom prst="rect">
            <a:avLst/>
          </a:prstGeom>
          <a:noFill/>
          <a:ln>
            <a:noFill/>
          </a:ln>
        </p:spPr>
        <p:txBody>
          <a:bodyPr wrap="none" lIns="0" tIns="0" rIns="0" bIns="0" anchor="t" anchorCtr="0">
            <a:spAutoFit/>
          </a:bodyPr>
          <a:lstStyle/>
          <a:p>
            <a:pPr algn="ctr"/>
            <a:r>
              <a:rPr lang="zh-CN" sz="488" dirty="0">
                <a:solidFill>
                  <a:srgbClr val="C8161E"/>
                </a:solidFill>
                <a:latin typeface="Arial"/>
                <a:ea typeface="Microsoft YaHei"/>
                <a:cs typeface="Arial"/>
              </a:rPr>
              <a:t>65.0±14.2</a:t>
            </a:r>
          </a:p>
        </p:txBody>
      </p:sp>
      <p:sp>
        <p:nvSpPr>
          <p:cNvPr id="569" name="TextBox 569"/>
          <p:cNvSpPr txBox="1"/>
          <p:nvPr/>
        </p:nvSpPr>
        <p:spPr>
          <a:xfrm>
            <a:off x="10963466" y="6382702"/>
            <a:ext cx="75818" cy="106680"/>
          </a:xfrm>
          <a:prstGeom prst="rect">
            <a:avLst/>
          </a:prstGeom>
          <a:noFill/>
          <a:ln>
            <a:noFill/>
          </a:ln>
        </p:spPr>
        <p:txBody>
          <a:bodyPr wrap="none" lIns="0" tIns="0" rIns="0" bIns="0" anchor="t" anchorCtr="0">
            <a:spAutoFit/>
          </a:bodyPr>
          <a:lstStyle/>
          <a:p>
            <a:pPr algn="ctr"/>
            <a:r>
              <a:rPr lang="zh-CN" sz="525" b="1" dirty="0">
                <a:solidFill>
                  <a:srgbClr val="2E7D32"/>
                </a:solidFill>
                <a:latin typeface="Arial"/>
                <a:ea typeface="Microsoft YaHei"/>
                <a:cs typeface="Arial"/>
              </a:rPr>
              <a:t>10</a:t>
            </a:r>
          </a:p>
        </p:txBody>
      </p:sp>
      <p:sp>
        <p:nvSpPr>
          <p:cNvPr id="570" name="TextBox 570"/>
          <p:cNvSpPr txBox="1"/>
          <p:nvPr/>
        </p:nvSpPr>
        <p:spPr>
          <a:xfrm>
            <a:off x="902018" y="6314599"/>
            <a:ext cx="4945880" cy="198120"/>
          </a:xfrm>
          <a:prstGeom prst="rect">
            <a:avLst/>
          </a:prstGeom>
          <a:noFill/>
          <a:ln>
            <a:noFill/>
          </a:ln>
        </p:spPr>
        <p:txBody>
          <a:bodyPr wrap="none" lIns="0" tIns="0" rIns="0" bIns="0" anchor="t" anchorCtr="0">
            <a:spAutoFit/>
          </a:bodyPr>
          <a:lstStyle/>
          <a:p>
            <a:pPr algn="l"/>
            <a:r>
              <a:rPr lang="zh-CN" sz="975" dirty="0">
                <a:solidFill>
                  <a:srgbClr val="1B1C21"/>
                </a:solidFill>
                <a:latin typeface="Arial"/>
                <a:ea typeface="Microsoft YaHei"/>
                <a:cs typeface="Arial"/>
              </a:rPr>
              <a:t>注：五轴为位置归属度总分，不进入六维加权基础分；9 分入选仅用于学科配额补足。</a:t>
            </a:r>
          </a:p>
        </p:txBody>
      </p:sp>
      <p:grpSp>
        <p:nvGrpSpPr>
          <p:cNvPr id="574" name="Group 574"/>
          <p:cNvGrpSpPr/>
          <p:nvPr/>
        </p:nvGrpSpPr>
        <p:grpSpPr>
          <a:xfrm>
            <a:off x="0" y="6516343"/>
            <a:ext cx="12192000" cy="341657"/>
            <a:chOff x="0" y="6516343"/>
            <a:chExt cx="12192000" cy="341657"/>
          </a:xfrm>
        </p:grpSpPr>
        <p:sp>
          <p:nvSpPr>
            <p:cNvPr id="571" name="Rectangle 571"/>
            <p:cNvSpPr/>
            <p:nvPr/>
          </p:nvSpPr>
          <p:spPr>
            <a:xfrm>
              <a:off x="0" y="6819900"/>
              <a:ext cx="12192000" cy="38100"/>
            </a:xfrm>
            <a:prstGeom prst="rect">
              <a:avLst/>
            </a:prstGeom>
            <a:gradFill>
              <a:gsLst>
                <a:gs pos="0">
                  <a:srgbClr val="C8161E"/>
                </a:gs>
                <a:gs pos="55000">
                  <a:srgbClr val="8E0F15"/>
                </a:gs>
                <a:gs pos="100000">
                  <a:srgbClr val="1F4D78"/>
                </a:gs>
              </a:gsLst>
              <a:lin ang="0" scaled="1"/>
            </a:gradFill>
            <a:ln>
              <a:noFill/>
            </a:ln>
          </p:spPr>
        </p:sp>
        <p:sp>
          <p:nvSpPr>
            <p:cNvPr id="572" name="TextBox 572"/>
            <p:cNvSpPr txBox="1"/>
            <p:nvPr/>
          </p:nvSpPr>
          <p:spPr>
            <a:xfrm>
              <a:off x="668017" y="6516343"/>
              <a:ext cx="2098859" cy="284531"/>
            </a:xfrm>
            <a:prstGeom prst="rect">
              <a:avLst/>
            </a:prstGeom>
            <a:noFill/>
            <a:ln>
              <a:noFill/>
            </a:ln>
          </p:spPr>
          <p:txBody>
            <a:bodyPr wrap="none" lIns="0" tIns="0" rIns="0" bIns="0" anchor="t" anchorCtr="0">
              <a:spAutoFit/>
            </a:bodyPr>
            <a:lstStyle/>
            <a:p>
              <a:pPr algn="l"/>
              <a:r>
                <a:rPr lang="zh-CN" sz="1400" dirty="0">
                  <a:solidFill>
                    <a:srgbClr val="9AA3AE"/>
                  </a:solidFill>
                  <a:latin typeface="Arial"/>
                  <a:ea typeface="Microsoft YaHei"/>
                  <a:cs typeface="Arial"/>
                </a:rPr>
                <a:t>附录：Top50 评分详细表</a:t>
              </a:r>
            </a:p>
          </p:txBody>
        </p:sp>
        <p:sp>
          <p:nvSpPr>
            <p:cNvPr id="573" name="TextBox 573"/>
            <p:cNvSpPr txBox="1"/>
            <p:nvPr/>
          </p:nvSpPr>
          <p:spPr>
            <a:xfrm>
              <a:off x="11283021" y="6516343"/>
              <a:ext cx="240962" cy="284531"/>
            </a:xfrm>
            <a:prstGeom prst="rect">
              <a:avLst/>
            </a:prstGeom>
            <a:noFill/>
            <a:ln>
              <a:noFill/>
            </a:ln>
          </p:spPr>
          <p:txBody>
            <a:bodyPr wrap="none" lIns="0" tIns="0" rIns="0" bIns="0" anchor="t" anchorCtr="0">
              <a:spAutoFit/>
            </a:bodyPr>
            <a:lstStyle/>
            <a:p>
              <a:pPr algn="r"/>
              <a:r>
                <a:rPr lang="zh-CN" sz="1400" dirty="0">
                  <a:solidFill>
                    <a:srgbClr val="9AA3AE"/>
                  </a:solidFill>
                  <a:latin typeface="Arial"/>
                  <a:ea typeface="Microsoft YaHei"/>
                  <a:cs typeface="Arial"/>
                </a:rPr>
                <a:t>45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