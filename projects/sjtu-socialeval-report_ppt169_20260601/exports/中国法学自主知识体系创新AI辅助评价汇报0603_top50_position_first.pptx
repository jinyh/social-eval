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256" r:id="rId2"/>
    <p:sldId id="10659" r:id="rId3"/>
    <p:sldId id="10660" r:id="rId4"/>
    <p:sldId id="10661" r:id="rId5"/>
    <p:sldId id="10662" r:id="rId6"/>
    <p:sldId id="10657" r:id="rId7"/>
    <p:sldId id="10663" r:id="rId8"/>
    <p:sldId id="10664" r:id="rId9"/>
    <p:sldId id="10665" r:id="rId10"/>
    <p:sldId id="10666" r:id="rId11"/>
    <p:sldId id="10667" r:id="rId12"/>
    <p:sldId id="10668" r:id="rId13"/>
    <p:sldId id="10669" r:id="rId14"/>
    <p:sldId id="10670" r:id="rId15"/>
    <p:sldId id="10671" r:id="rId16"/>
    <p:sldId id="10674" r:id="rId17"/>
    <p:sldId id="10673" r:id="rId18"/>
    <p:sldId id="10658" r:id="rId19"/>
    <p:sldId id="10675" r:id="rId20"/>
    <p:sldId id="10679" r:id="rId21"/>
    <p:sldId id="10680" r:id="rId22"/>
    <p:sldId id="10676" r:id="rId23"/>
    <p:sldId id="10698" r:id="rId24"/>
    <p:sldId id="10701" r:id="rId25"/>
    <p:sldId id="10699" r:id="rId26"/>
    <p:sldId id="10678" r:id="rId27"/>
    <p:sldId id="10682" r:id="rId28"/>
    <p:sldId id="10681" r:id="rId29"/>
    <p:sldId id="10683" r:id="rId30"/>
    <p:sldId id="10684" r:id="rId31"/>
    <p:sldId id="10685" r:id="rId32"/>
    <p:sldId id="10686" r:id="rId33"/>
    <p:sldId id="9918" r:id="rId34"/>
    <p:sldId id="10687" r:id="rId35"/>
    <p:sldId id="10688" r:id="rId36"/>
    <p:sldId id="10689" r:id="rId37"/>
    <p:sldId id="10690" r:id="rId38"/>
    <p:sldId id="10691" r:id="rId39"/>
    <p:sldId id="10700" r:id="rId40"/>
    <p:sldId id="10694" r:id="rId41"/>
    <p:sldId id="10695" r:id="rId42"/>
    <p:sldId id="10696" r:id="rId43"/>
    <p:sldId id="10697" r:id="rId44"/>
    <p:sldId id="10702" r:id="rId53"/>
    <p:sldId id="10703" r:id="rId54"/>
  </p:sldIdLst>
  <p:sldSz cx="12192000" cy="6858000"/>
  <p:notesSz cx="7102475" cy="10233025"/>
  <p:custDataLst>
    <p:tags r:id="rId4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pos="3863" userDrawn="1">
          <p15:clr>
            <a:srgbClr val="A4A3A4"/>
          </p15:clr>
        </p15:guide>
        <p15:guide id="5" orient="horz" pos="1003" userDrawn="1">
          <p15:clr>
            <a:srgbClr val="A4A3A4"/>
          </p15:clr>
        </p15:guide>
        <p15:guide id="6" orient="horz" pos="1502" userDrawn="1">
          <p15:clr>
            <a:srgbClr val="A4A3A4"/>
          </p15:clr>
        </p15:guide>
        <p15:guide id="7" orient="horz" pos="3113" userDrawn="1">
          <p15:clr>
            <a:srgbClr val="A4A3A4"/>
          </p15:clr>
        </p15:guide>
        <p15:guide id="8" pos="2128" userDrawn="1">
          <p15:clr>
            <a:srgbClr val="A4A3A4"/>
          </p15:clr>
        </p15:guide>
        <p15:guide id="9" pos="4067" userDrawn="1">
          <p15:clr>
            <a:srgbClr val="A4A3A4"/>
          </p15:clr>
        </p15:guide>
        <p15:guide id="10" pos="5972" userDrawn="1">
          <p15:clr>
            <a:srgbClr val="A4A3A4"/>
          </p15:clr>
        </p15:guide>
        <p15:guide id="11" pos="5292" userDrawn="1">
          <p15:clr>
            <a:srgbClr val="A4A3A4"/>
          </p15:clr>
        </p15:guide>
        <p15:guide id="12" pos="227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eixia Zhang" initials="WZ" lastIdx="1" clrIdx="0">
    <p:extLst>
      <p:ext uri="{19B8F6BF-5375-455C-9EA6-DF929625EA0E}">
        <p15:presenceInfo xmlns:p15="http://schemas.microsoft.com/office/powerpoint/2012/main" userId="dd4b013fb83bef4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546A"/>
    <a:srgbClr val="FF930C"/>
    <a:srgbClr val="25D9CA"/>
    <a:srgbClr val="0000CD"/>
    <a:srgbClr val="F9F9FB"/>
    <a:srgbClr val="DEEBFE"/>
    <a:srgbClr val="F7DC7F"/>
    <a:srgbClr val="0066FF"/>
    <a:srgbClr val="02FFFF"/>
    <a:srgbClr val="7C7C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56" autoAdjust="0"/>
    <p:restoredTop sz="85569" autoAdjust="0"/>
  </p:normalViewPr>
  <p:slideViewPr>
    <p:cSldViewPr snapToGrid="0" showGuides="1">
      <p:cViewPr varScale="1">
        <p:scale>
          <a:sx n="81" d="100"/>
          <a:sy n="81" d="100"/>
        </p:scale>
        <p:origin x="880" y="184"/>
      </p:cViewPr>
      <p:guideLst>
        <p:guide pos="3863"/>
        <p:guide orient="horz" pos="1003"/>
        <p:guide orient="horz" pos="1502"/>
        <p:guide orient="horz" pos="3113"/>
        <p:guide pos="2128"/>
        <p:guide pos="4067"/>
        <p:guide pos="5972"/>
        <p:guide pos="5292"/>
        <p:guide pos="2275"/>
      </p:guideLst>
    </p:cSldViewPr>
  </p:slideViewPr>
  <p:outlineViewPr>
    <p:cViewPr>
      <p:scale>
        <a:sx n="33" d="100"/>
        <a:sy n="33" d="100"/>
      </p:scale>
      <p:origin x="0" y="-69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2604"/>
    </p:cViewPr>
  </p:sorterViewPr>
  <p:notesViewPr>
    <p:cSldViewPr snapToGrid="0" showGuides="1">
      <p:cViewPr varScale="1">
        <p:scale>
          <a:sx n="94" d="100"/>
          <a:sy n="94" d="100"/>
        </p:scale>
        <p:origin x="375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handoutMaster" Target="handoutMasters/handoutMaster1.xml"/><Relationship Id="rId47" Type="http://schemas.openxmlformats.org/officeDocument/2006/relationships/tags" Target="tags/tag1.xml"/><Relationship Id="rId48" Type="http://schemas.openxmlformats.org/officeDocument/2006/relationships/commentAuthors" Target="commentAuthors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Relationship Id="rId53" Type="http://schemas.openxmlformats.org/officeDocument/2006/relationships/slide" Target="slides/slide44.xml"/><Relationship Id="rId54" Type="http://schemas.openxmlformats.org/officeDocument/2006/relationships/slide" Target="slides/slide4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308DB251-D803-4475-8281-4947A89E79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428"/>
          </a:xfrm>
          <a:prstGeom prst="rect">
            <a:avLst/>
          </a:prstGeom>
        </p:spPr>
        <p:txBody>
          <a:bodyPr vert="horz" lIns="99057" tIns="49528" rIns="99057" bIns="4952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6218A5-2289-4813-A341-6263B16CBAD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3092" y="0"/>
            <a:ext cx="3077739" cy="513428"/>
          </a:xfrm>
          <a:prstGeom prst="rect">
            <a:avLst/>
          </a:prstGeom>
        </p:spPr>
        <p:txBody>
          <a:bodyPr vert="horz" lIns="99057" tIns="49528" rIns="99057" bIns="49528" rtlCol="0"/>
          <a:lstStyle>
            <a:lvl1pPr algn="r">
              <a:defRPr sz="1300"/>
            </a:lvl1pPr>
          </a:lstStyle>
          <a:p>
            <a:fld id="{4512A60F-63B3-4D54-AA63-B159FADA9F31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97CE9A9-1C60-4F0A-AA63-4467F58DE87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19598"/>
            <a:ext cx="3077739" cy="513427"/>
          </a:xfrm>
          <a:prstGeom prst="rect">
            <a:avLst/>
          </a:prstGeom>
        </p:spPr>
        <p:txBody>
          <a:bodyPr vert="horz" lIns="99057" tIns="49528" rIns="99057" bIns="4952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91EA911-14C2-4254-9079-FD9EC1C139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3092" y="9719598"/>
            <a:ext cx="3077739" cy="513427"/>
          </a:xfrm>
          <a:prstGeom prst="rect">
            <a:avLst/>
          </a:prstGeom>
        </p:spPr>
        <p:txBody>
          <a:bodyPr vert="horz" lIns="99057" tIns="49528" rIns="99057" bIns="49528" rtlCol="0" anchor="b"/>
          <a:lstStyle>
            <a:lvl1pPr algn="r">
              <a:defRPr sz="1300"/>
            </a:lvl1pPr>
          </a:lstStyle>
          <a:p>
            <a:fld id="{9494E6C1-322F-4AF4-A541-6A7DCE3853A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84180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428"/>
          </a:xfrm>
          <a:prstGeom prst="rect">
            <a:avLst/>
          </a:prstGeom>
        </p:spPr>
        <p:txBody>
          <a:bodyPr vert="horz" lIns="99057" tIns="49528" rIns="99057" bIns="4952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428"/>
          </a:xfrm>
          <a:prstGeom prst="rect">
            <a:avLst/>
          </a:prstGeom>
        </p:spPr>
        <p:txBody>
          <a:bodyPr vert="horz" lIns="99057" tIns="49528" rIns="99057" bIns="49528" rtlCol="0"/>
          <a:lstStyle>
            <a:lvl1pPr algn="r">
              <a:defRPr sz="1300"/>
            </a:lvl1pPr>
          </a:lstStyle>
          <a:p>
            <a:fld id="{48513A3C-D0C5-45C0-BD52-194E76396705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7275" cy="34528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57" tIns="49528" rIns="99057" bIns="4952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248" y="4924643"/>
            <a:ext cx="5681980" cy="4029254"/>
          </a:xfrm>
          <a:prstGeom prst="rect">
            <a:avLst/>
          </a:prstGeom>
        </p:spPr>
        <p:txBody>
          <a:bodyPr vert="horz" lIns="99057" tIns="49528" rIns="99057" bIns="49528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19598"/>
            <a:ext cx="3077739" cy="513427"/>
          </a:xfrm>
          <a:prstGeom prst="rect">
            <a:avLst/>
          </a:prstGeom>
        </p:spPr>
        <p:txBody>
          <a:bodyPr vert="horz" lIns="99057" tIns="49528" rIns="99057" bIns="4952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092" y="9719598"/>
            <a:ext cx="3077739" cy="513427"/>
          </a:xfrm>
          <a:prstGeom prst="rect">
            <a:avLst/>
          </a:prstGeom>
        </p:spPr>
        <p:txBody>
          <a:bodyPr vert="horz" lIns="99057" tIns="49528" rIns="99057" bIns="49528" rtlCol="0" anchor="b"/>
          <a:lstStyle>
            <a:lvl1pPr algn="r">
              <a:defRPr sz="1300"/>
            </a:lvl1pPr>
          </a:lstStyle>
          <a:p>
            <a:fld id="{6E0D5545-95D4-489F-B8ED-7EAFA774B5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2241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0502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56285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34170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9546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74372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74333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94561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37744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27166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片包含 建筑物&#10;&#10;自动生成的说明">
            <a:extLst>
              <a:ext uri="{FF2B5EF4-FFF2-40B4-BE49-F238E27FC236}">
                <a16:creationId xmlns:a16="http://schemas.microsoft.com/office/drawing/2014/main" id="{DC463E02-403D-4EDF-904F-C4102C9C3D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22" name="标题 1">
            <a:extLst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561" y="2016174"/>
            <a:ext cx="10052879" cy="10608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5400" b="1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单击此处编辑标题样式</a:t>
            </a:r>
          </a:p>
        </p:txBody>
      </p:sp>
      <p:sp>
        <p:nvSpPr>
          <p:cNvPr id="26" name="内容占位符 25">
            <a:extLst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644345" y="5196924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>
            <a:pPr lvl="0"/>
            <a:fld id="{DE506FFD-8B27-444A-964F-E64D0BB3DAF0}" type="datetime2">
              <a:rPr lang="zh-CN" altLang="en-US" smtClean="0"/>
              <a:t>2019年1月28日</a:t>
            </a:fld>
            <a:endParaRPr lang="zh-CN" altLang="en-US" dirty="0"/>
          </a:p>
        </p:txBody>
      </p:sp>
      <p:sp>
        <p:nvSpPr>
          <p:cNvPr id="32" name="文本占位符 31">
            <a:extLst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34910" y="4407403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>
            <a:pPr lvl="0"/>
            <a:endParaRPr lang="zh-CN" altLang="en-US" dirty="0"/>
          </a:p>
        </p:txBody>
      </p:sp>
      <p:pic>
        <p:nvPicPr>
          <p:cNvPr id="35" name="图片 34">
            <a:extLst>
              <a:ext uri="{FF2B5EF4-FFF2-40B4-BE49-F238E27FC236}">
                <a16:creationId xmlns:a16="http://schemas.microsoft.com/office/drawing/2014/main" id="{CE9FF532-F6D9-45BD-B501-EEC1CB82C0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/>
          <a:srcRect l="74359" r="1346"/>
          <a:stretch/>
        </p:blipFill>
        <p:spPr>
          <a:xfrm>
            <a:off x="8870172" y="274183"/>
            <a:ext cx="3002280" cy="411617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AF7A6D04-2810-44D7-A07D-0AA2596107F1}"/>
              </a:ext>
            </a:extLst>
          </p:cNvPr>
          <p:cNvGrpSpPr/>
          <p:nvPr userDrawn="1"/>
        </p:nvGrpSpPr>
        <p:grpSpPr>
          <a:xfrm>
            <a:off x="2328587" y="6244170"/>
            <a:ext cx="7554800" cy="406590"/>
            <a:chOff x="2328587" y="6073254"/>
            <a:chExt cx="7554800" cy="406590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AA839E5E-CB67-421E-974F-278CCBCFB8C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>
              <a:alphaModFix amt="35000"/>
            </a:blip>
            <a:srcRect t="9831" b="36385"/>
            <a:stretch/>
          </p:blipFill>
          <p:spPr>
            <a:xfrm>
              <a:off x="3352562" y="6073254"/>
              <a:ext cx="5486876" cy="406590"/>
            </a:xfrm>
            <a:prstGeom prst="rect">
              <a:avLst/>
            </a:prstGeom>
          </p:spPr>
        </p:pic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53D809C0-A4EF-44AF-AECA-4A85E4BA2C9D}"/>
                </a:ext>
              </a:extLst>
            </p:cNvPr>
            <p:cNvSpPr/>
            <p:nvPr userDrawn="1"/>
          </p:nvSpPr>
          <p:spPr>
            <a:xfrm>
              <a:off x="6051000" y="6259222"/>
              <a:ext cx="90000" cy="900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957ABA8D-3632-4FB6-8561-0367E4880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328587" y="6316922"/>
              <a:ext cx="900000" cy="0"/>
            </a:xfrm>
            <a:prstGeom prst="line">
              <a:avLst/>
            </a:prstGeom>
            <a:ln w="127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5F70B8EC-E67C-4355-9367-9F32C483445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983387" y="6316922"/>
              <a:ext cx="900000" cy="0"/>
            </a:xfrm>
            <a:prstGeom prst="line">
              <a:avLst/>
            </a:prstGeom>
            <a:ln w="127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6E58E8B-64DD-4CB6-9A0A-016E581D3E4C}"/>
              </a:ext>
            </a:extLst>
          </p:cNvPr>
          <p:cNvCxnSpPr/>
          <p:nvPr userDrawn="1"/>
        </p:nvCxnSpPr>
        <p:spPr>
          <a:xfrm>
            <a:off x="2046000" y="1712549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43D3B54-A2E0-47EA-82F0-8A5C219B17CC}"/>
              </a:ext>
            </a:extLst>
          </p:cNvPr>
          <p:cNvCxnSpPr/>
          <p:nvPr userDrawn="1"/>
        </p:nvCxnSpPr>
        <p:spPr>
          <a:xfrm>
            <a:off x="2046000" y="3428810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>
            <a:extLst>
              <a:ext uri="{FF2B5EF4-FFF2-40B4-BE49-F238E27FC236}">
                <a16:creationId xmlns:a16="http://schemas.microsoft.com/office/drawing/2014/main" id="{8585BA52-95CD-854D-A470-CE76748E806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251"/>
          <a:stretch/>
        </p:blipFill>
        <p:spPr>
          <a:xfrm>
            <a:off x="332010" y="251357"/>
            <a:ext cx="1934780" cy="482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925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图片包含 建筑物, 圆屋顶, 地板&#10;&#10;描述已自动生成">
            <a:extLst>
              <a:ext uri="{FF2B5EF4-FFF2-40B4-BE49-F238E27FC236}">
                <a16:creationId xmlns:a16="http://schemas.microsoft.com/office/drawing/2014/main" id="{7C66039A-3D15-4D27-8FD3-6ADF01C340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88951" cy="68580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/>
          <p:nvPr/>
        </p:nvSpPr>
        <p:spPr>
          <a:xfrm>
            <a:off x="304801" y="2455636"/>
            <a:ext cx="2960913" cy="143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 descr="图片包含 建筑物&#10;&#10;自动生成的说明">
            <a:extLst>
              <a:ext uri="{FF2B5EF4-FFF2-40B4-BE49-F238E27FC236}">
                <a16:creationId xmlns:a16="http://schemas.microsoft.com/office/drawing/2014/main" id="{27CDB2F7-E7B6-465A-921A-BD30952F7D4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924" y="4902201"/>
            <a:ext cx="7179060" cy="2311400"/>
          </a:xfrm>
          <a:prstGeom prst="rect">
            <a:avLst/>
          </a:prstGeom>
          <a:effectLst/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/>
          <p:nvPr/>
        </p:nvSpPr>
        <p:spPr>
          <a:xfrm rot="16200000">
            <a:off x="1736542" y="2389144"/>
            <a:ext cx="97430" cy="2960914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/>
          <p:nvPr/>
        </p:nvSpPr>
        <p:spPr>
          <a:xfrm flipV="1">
            <a:off x="3478991" y="0"/>
            <a:ext cx="90000" cy="6858000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2896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图片包含 建筑物, 圆屋顶, 地板&#10;&#10;描述已自动生成">
            <a:extLst>
              <a:ext uri="{FF2B5EF4-FFF2-40B4-BE49-F238E27FC236}">
                <a16:creationId xmlns:a16="http://schemas.microsoft.com/office/drawing/2014/main" id="{B46500FD-D914-4D54-A821-0896603096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88951" cy="6858000"/>
          </a:xfrm>
          <a:prstGeom prst="rect">
            <a:avLst/>
          </a:prstGeom>
        </p:spPr>
      </p:pic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4227868-C0F1-41FC-A8C9-A533B4E114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/>
          <a:srcRect r="1346"/>
          <a:stretch/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9" name="文本占位符 31">
            <a:extLst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19056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dirty="0"/>
          </a:p>
        </p:txBody>
      </p:sp>
      <p:sp>
        <p:nvSpPr>
          <p:cNvPr id="10" name="文本占位符 31">
            <a:extLst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8940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dirty="0"/>
          </a:p>
        </p:txBody>
      </p:sp>
      <p:sp>
        <p:nvSpPr>
          <p:cNvPr id="19" name="平行四边形 18">
            <a:extLst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/>
          <p:nvPr userDrawn="1"/>
        </p:nvSpPr>
        <p:spPr>
          <a:xfrm>
            <a:off x="0" y="1"/>
            <a:ext cx="12191483" cy="685800"/>
          </a:xfrm>
          <a:prstGeom prst="parallelogram">
            <a:avLst>
              <a:gd name="adj" fmla="val 4305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20" name="图片 19" descr="图片包含 户外, 标牌, 黑色&#10;&#10;自动生成的说明">
            <a:extLst>
              <a:ext uri="{FF2B5EF4-FFF2-40B4-BE49-F238E27FC236}">
                <a16:creationId xmlns:a16="http://schemas.microsoft.com/office/drawing/2014/main" id="{D5338ABA-2308-412D-96F5-DE590FFF992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056" y="73482"/>
            <a:ext cx="538838" cy="538838"/>
          </a:xfrm>
          <a:prstGeom prst="rect">
            <a:avLst/>
          </a:prstGeom>
        </p:spPr>
      </p:pic>
      <p:sp>
        <p:nvSpPr>
          <p:cNvPr id="21" name="文本占位符 31">
            <a:extLst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5351" y="43657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/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E1CEC8E-67B8-0542-B6BF-1336F7F82CC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7400" y="133351"/>
            <a:ext cx="20828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60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图片包含 建筑物&#10;&#10;自动生成的说明">
            <a:extLst>
              <a:ext uri="{FF2B5EF4-FFF2-40B4-BE49-F238E27FC236}">
                <a16:creationId xmlns:a16="http://schemas.microsoft.com/office/drawing/2014/main" id="{59C76395-F18A-42DC-A156-F93BFCD8E4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8C8E8E9-B6E9-4C9E-A8E5-EC39920274FE}"/>
              </a:ext>
            </a:extLst>
          </p:cNvPr>
          <p:cNvCxnSpPr/>
          <p:nvPr userDrawn="1"/>
        </p:nvCxnSpPr>
        <p:spPr>
          <a:xfrm>
            <a:off x="30480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A6D4021-94E1-4E9F-90EB-E54E5216CA6E}"/>
              </a:ext>
            </a:extLst>
          </p:cNvPr>
          <p:cNvCxnSpPr/>
          <p:nvPr userDrawn="1"/>
        </p:nvCxnSpPr>
        <p:spPr>
          <a:xfrm>
            <a:off x="968969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占位符 31">
            <a:extLst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55162" y="3129756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>
            <a:pPr lvl="0"/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2079C22-C965-4A93-8C7F-F7C26F71D8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t="9831" b="36385"/>
          <a:stretch/>
        </p:blipFill>
        <p:spPr>
          <a:xfrm>
            <a:off x="3352562" y="6146610"/>
            <a:ext cx="5486876" cy="40659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813C46B9-BB5F-5D48-A282-A1DFCA9C9F1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5762" y="918446"/>
            <a:ext cx="5613400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8407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49970" y="6515101"/>
            <a:ext cx="1037230" cy="3429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644C6-89F0-466C-949F-E70AD72679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8584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5" r:id="rId3"/>
    <p:sldLayoutId id="2147483654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val="F26B43"/>
          </p15:clr>
        </p15:guide>
        <p15:guide id="2" pos="7488">
          <p15:clr>
            <a:srgbClr val="F26B43"/>
          </p15:clr>
        </p15:guide>
        <p15:guide id="3" orient="horz" pos="432">
          <p15:clr>
            <a:srgbClr val="F26B43"/>
          </p15:clr>
        </p15:guide>
        <p15:guide id="4" orient="horz" pos="472">
          <p15:clr>
            <a:srgbClr val="F26B43"/>
          </p15:clr>
        </p15:guide>
        <p15:guide id="5" orient="horz" pos="4104">
          <p15:clr>
            <a:srgbClr val="F26B43"/>
          </p15:clr>
        </p15:guide>
        <p15:guide id="6" orient="horz" pos="405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>
          <a:xfrm>
            <a:off x="3966519" y="4176584"/>
            <a:ext cx="4460789" cy="1474365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上海交通大学人工智能研究院</a:t>
            </a:r>
            <a:endParaRPr lang="en-US" altLang="zh-CN" dirty="0">
              <a:latin typeface="+mn-ea"/>
            </a:endParaRPr>
          </a:p>
          <a:p>
            <a:r>
              <a:rPr lang="zh-CN" altLang="en-US" dirty="0">
                <a:latin typeface="+mn-ea"/>
              </a:rPr>
              <a:t>金耀辉</a:t>
            </a:r>
            <a:endParaRPr lang="en-US" altLang="zh-CN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2026</a:t>
            </a:r>
            <a:r>
              <a:rPr lang="zh-CN" altLang="en-US" dirty="0">
                <a:latin typeface="+mn-ea"/>
              </a:rPr>
              <a:t>年</a:t>
            </a:r>
            <a:r>
              <a:rPr lang="en-US" altLang="zh-CN" dirty="0">
                <a:latin typeface="+mn-ea"/>
              </a:rPr>
              <a:t>6</a:t>
            </a:r>
            <a:r>
              <a:rPr lang="zh-CN" altLang="en-US" dirty="0">
                <a:latin typeface="+mn-ea"/>
              </a:rPr>
              <a:t>月</a:t>
            </a:r>
            <a:endParaRPr lang="en-US" altLang="zh-CN" dirty="0">
              <a:latin typeface="+mn-ea"/>
            </a:endParaRPr>
          </a:p>
        </p:txBody>
      </p:sp>
      <p:sp>
        <p:nvSpPr>
          <p:cNvPr id="8" name="矩形 11">
            <a:extLst>
              <a:ext uri="{FF2B5EF4-FFF2-40B4-BE49-F238E27FC236}">
                <a16:creationId xmlns:a16="http://schemas.microsoft.com/office/drawing/2014/main" id="{CE61EEE4-9E49-A74C-8AA3-04BBD8FC0AD0}"/>
              </a:ext>
            </a:extLst>
          </p:cNvPr>
          <p:cNvSpPr/>
          <p:nvPr/>
        </p:nvSpPr>
        <p:spPr>
          <a:xfrm>
            <a:off x="1702909" y="1610212"/>
            <a:ext cx="8494633" cy="183204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5400" b="1" dirty="0">
                <a:solidFill>
                  <a:srgbClr val="C00000"/>
                </a:solidFill>
              </a:rPr>
              <a:t>中国法学自主知识体系创新</a:t>
            </a:r>
          </a:p>
          <a:p>
            <a:pPr algn="ctr">
              <a:lnSpc>
                <a:spcPct val="120000"/>
              </a:lnSpc>
            </a:pPr>
            <a:r>
              <a:rPr lang="zh-CN" altLang="en-US" sz="4400" b="1" dirty="0">
                <a:solidFill>
                  <a:srgbClr val="C00000"/>
                </a:solidFill>
                <a:ea typeface="Microsoft YaHei"/>
                <a:cs typeface="Arial"/>
              </a:rPr>
              <a:t>人工智能辅助评价系统</a:t>
            </a:r>
            <a:endParaRPr lang="en-US" altLang="zh-CN" sz="4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A54ED1E-C1F0-C2AA-3376-DDE8A8651E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B12E9-1A76-7A24-DA83-8F9E79A78B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850D3E-8A90-CEAC-CFA1-A5758E9D9E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传统学术评价的“不可能三角”</a:t>
            </a:r>
          </a:p>
        </p:txBody>
      </p:sp>
      <p:grpSp>
        <p:nvGrpSpPr>
          <p:cNvPr id="5" name="Group 17">
            <a:extLst>
              <a:ext uri="{FF2B5EF4-FFF2-40B4-BE49-F238E27FC236}">
                <a16:creationId xmlns:a16="http://schemas.microsoft.com/office/drawing/2014/main" id="{3A62F9E7-D0E2-91FD-C82E-1F6117D488AB}"/>
              </a:ext>
            </a:extLst>
          </p:cNvPr>
          <p:cNvGrpSpPr/>
          <p:nvPr/>
        </p:nvGrpSpPr>
        <p:grpSpPr>
          <a:xfrm>
            <a:off x="1278294" y="1477964"/>
            <a:ext cx="4046363" cy="4077919"/>
            <a:chOff x="1605844" y="1465607"/>
            <a:chExt cx="4046363" cy="4077919"/>
          </a:xfrm>
        </p:grpSpPr>
        <p:sp>
          <p:nvSpPr>
            <p:cNvPr id="6" name="Polygon 8">
              <a:extLst>
                <a:ext uri="{FF2B5EF4-FFF2-40B4-BE49-F238E27FC236}">
                  <a16:creationId xmlns:a16="http://schemas.microsoft.com/office/drawing/2014/main" id="{24246B05-1C17-F67C-54B2-2D398E542791}"/>
                </a:ext>
              </a:extLst>
            </p:cNvPr>
            <p:cNvSpPr/>
            <p:nvPr/>
          </p:nvSpPr>
          <p:spPr>
            <a:xfrm>
              <a:off x="1924649" y="1905000"/>
              <a:ext cx="3424457" cy="3048000"/>
            </a:xfrm>
            <a:custGeom>
              <a:avLst/>
              <a:gdLst/>
              <a:ahLst/>
              <a:cxnLst/>
              <a:rect l="l" t="t" r="r" b="b"/>
              <a:pathLst>
                <a:path w="2857500" h="3048000">
                  <a:moveTo>
                    <a:pt x="1428750" y="0"/>
                  </a:moveTo>
                  <a:lnTo>
                    <a:pt x="0" y="3048000"/>
                  </a:lnTo>
                  <a:lnTo>
                    <a:pt x="2857500" y="3048000"/>
                  </a:lnTo>
                  <a:close/>
                </a:path>
              </a:pathLst>
            </a:custGeom>
            <a:solidFill>
              <a:srgbClr val="1F4D78">
                <a:alpha val="6000"/>
              </a:srgbClr>
            </a:solidFill>
            <a:ln w="19050">
              <a:solidFill>
                <a:srgbClr val="1F4D78"/>
              </a:solidFill>
            </a:ln>
          </p:spPr>
        </p:sp>
        <p:sp>
          <p:nvSpPr>
            <p:cNvPr id="7" name="Ellipse 9">
              <a:extLst>
                <a:ext uri="{FF2B5EF4-FFF2-40B4-BE49-F238E27FC236}">
                  <a16:creationId xmlns:a16="http://schemas.microsoft.com/office/drawing/2014/main" id="{312F2B34-B4CB-4B5C-6CD7-0F8193753394}"/>
                </a:ext>
              </a:extLst>
            </p:cNvPr>
            <p:cNvSpPr/>
            <p:nvPr/>
          </p:nvSpPr>
          <p:spPr>
            <a:xfrm>
              <a:off x="3409950" y="1695450"/>
              <a:ext cx="419100" cy="419100"/>
            </a:xfrm>
            <a:prstGeom prst="ellipse">
              <a:avLst/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8" name="Ellipse 10">
              <a:extLst>
                <a:ext uri="{FF2B5EF4-FFF2-40B4-BE49-F238E27FC236}">
                  <a16:creationId xmlns:a16="http://schemas.microsoft.com/office/drawing/2014/main" id="{E2D3C4ED-D8D0-B0DE-9362-1403F731BED6}"/>
                </a:ext>
              </a:extLst>
            </p:cNvPr>
            <p:cNvSpPr/>
            <p:nvPr/>
          </p:nvSpPr>
          <p:spPr>
            <a:xfrm>
              <a:off x="1667300" y="4743450"/>
              <a:ext cx="419100" cy="419100"/>
            </a:xfrm>
            <a:prstGeom prst="ellipse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9" name="Ellipse 11">
              <a:extLst>
                <a:ext uri="{FF2B5EF4-FFF2-40B4-BE49-F238E27FC236}">
                  <a16:creationId xmlns:a16="http://schemas.microsoft.com/office/drawing/2014/main" id="{811B3969-737F-6674-A20C-67DD445682A1}"/>
                </a:ext>
              </a:extLst>
            </p:cNvPr>
            <p:cNvSpPr/>
            <p:nvPr/>
          </p:nvSpPr>
          <p:spPr>
            <a:xfrm>
              <a:off x="5098009" y="4743450"/>
              <a:ext cx="419100" cy="419100"/>
            </a:xfrm>
            <a:prstGeom prst="ellipse">
              <a:avLst/>
            </a:prstGeom>
            <a:solidFill>
              <a:srgbClr val="44546A"/>
            </a:solidFill>
            <a:ln>
              <a:noFill/>
            </a:ln>
          </p:spPr>
        </p:sp>
        <p:sp>
          <p:nvSpPr>
            <p:cNvPr id="10" name="TextBox 12">
              <a:extLst>
                <a:ext uri="{FF2B5EF4-FFF2-40B4-BE49-F238E27FC236}">
                  <a16:creationId xmlns:a16="http://schemas.microsoft.com/office/drawing/2014/main" id="{E1C6F80E-A2B2-F6F2-4953-53F8E32991A1}"/>
                </a:ext>
              </a:extLst>
            </p:cNvPr>
            <p:cNvSpPr txBox="1"/>
            <p:nvPr/>
          </p:nvSpPr>
          <p:spPr>
            <a:xfrm>
              <a:off x="2966561" y="3691890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不可能三角</a:t>
              </a:r>
            </a:p>
          </p:txBody>
        </p:sp>
        <p:sp>
          <p:nvSpPr>
            <p:cNvPr id="11" name="TextBox 13">
              <a:extLst>
                <a:ext uri="{FF2B5EF4-FFF2-40B4-BE49-F238E27FC236}">
                  <a16:creationId xmlns:a16="http://schemas.microsoft.com/office/drawing/2014/main" id="{92B1C748-10F2-1718-7243-6FABA8D6C57C}"/>
                </a:ext>
              </a:extLst>
            </p:cNvPr>
            <p:cNvSpPr txBox="1"/>
            <p:nvPr/>
          </p:nvSpPr>
          <p:spPr>
            <a:xfrm>
              <a:off x="3041547" y="4058893"/>
              <a:ext cx="1155906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三者难以兼得</a:t>
              </a:r>
            </a:p>
          </p:txBody>
        </p:sp>
        <p:sp>
          <p:nvSpPr>
            <p:cNvPr id="12" name="TextBox 14">
              <a:extLst>
                <a:ext uri="{FF2B5EF4-FFF2-40B4-BE49-F238E27FC236}">
                  <a16:creationId xmlns:a16="http://schemas.microsoft.com/office/drawing/2014/main" id="{EB5AA0A8-77DA-0E62-4755-B1D2DF9FF877}"/>
                </a:ext>
              </a:extLst>
            </p:cNvPr>
            <p:cNvSpPr txBox="1"/>
            <p:nvPr/>
          </p:nvSpPr>
          <p:spPr>
            <a:xfrm>
              <a:off x="3151197" y="1465607"/>
              <a:ext cx="936606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标准统一</a:t>
              </a:r>
            </a:p>
          </p:txBody>
        </p:sp>
        <p:sp>
          <p:nvSpPr>
            <p:cNvPr id="13" name="TextBox 15">
              <a:extLst>
                <a:ext uri="{FF2B5EF4-FFF2-40B4-BE49-F238E27FC236}">
                  <a16:creationId xmlns:a16="http://schemas.microsoft.com/office/drawing/2014/main" id="{9BCC67FE-DD11-2D0A-A643-ACD1D49DDC7A}"/>
                </a:ext>
              </a:extLst>
            </p:cNvPr>
            <p:cNvSpPr txBox="1"/>
            <p:nvPr/>
          </p:nvSpPr>
          <p:spPr>
            <a:xfrm>
              <a:off x="1605844" y="5218457"/>
              <a:ext cx="712613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高效率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A56725AB-8090-A453-F7DB-C37D0D6F2754}"/>
                </a:ext>
              </a:extLst>
            </p:cNvPr>
            <p:cNvSpPr txBox="1"/>
            <p:nvPr/>
          </p:nvSpPr>
          <p:spPr>
            <a:xfrm>
              <a:off x="4939594" y="5218457"/>
              <a:ext cx="712613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44546A"/>
                  </a:solidFill>
                  <a:latin typeface="Arial"/>
                  <a:ea typeface="Microsoft YaHei"/>
                  <a:cs typeface="Arial"/>
                </a:rPr>
                <a:t>规模化</a:t>
              </a:r>
            </a:p>
          </p:txBody>
        </p:sp>
      </p:grpSp>
      <p:grpSp>
        <p:nvGrpSpPr>
          <p:cNvPr id="15" name="Group 23">
            <a:extLst>
              <a:ext uri="{FF2B5EF4-FFF2-40B4-BE49-F238E27FC236}">
                <a16:creationId xmlns:a16="http://schemas.microsoft.com/office/drawing/2014/main" id="{8CAAA140-7218-65FB-5A96-683FF2BD3AA2}"/>
              </a:ext>
            </a:extLst>
          </p:cNvPr>
          <p:cNvGrpSpPr/>
          <p:nvPr/>
        </p:nvGrpSpPr>
        <p:grpSpPr>
          <a:xfrm>
            <a:off x="6096000" y="1345857"/>
            <a:ext cx="5410200" cy="1314450"/>
            <a:chOff x="6096000" y="1333500"/>
            <a:chExt cx="5410200" cy="1314450"/>
          </a:xfrm>
        </p:grpSpPr>
        <p:sp>
          <p:nvSpPr>
            <p:cNvPr id="16" name="Rectangle 18">
              <a:extLst>
                <a:ext uri="{FF2B5EF4-FFF2-40B4-BE49-F238E27FC236}">
                  <a16:creationId xmlns:a16="http://schemas.microsoft.com/office/drawing/2014/main" id="{1FDA74EB-8E21-6764-5C9F-72213CDA6A94}"/>
                </a:ext>
              </a:extLst>
            </p:cNvPr>
            <p:cNvSpPr/>
            <p:nvPr/>
          </p:nvSpPr>
          <p:spPr>
            <a:xfrm>
              <a:off x="6096000" y="1333500"/>
              <a:ext cx="5410200" cy="1314450"/>
            </a:xfrm>
            <a:prstGeom prst="roundRect">
              <a:avLst>
                <a:gd name="adj" fmla="val 11594"/>
              </a:avLst>
            </a:prstGeom>
            <a:solidFill>
              <a:srgbClr val="FFFFFF"/>
            </a:solidFill>
            <a:ln w="14288">
              <a:solidFill>
                <a:srgbClr val="D9DEE5"/>
              </a:solidFill>
            </a:ln>
          </p:spPr>
        </p:sp>
        <p:sp>
          <p:nvSpPr>
            <p:cNvPr id="17" name="Rectangle 19">
              <a:extLst>
                <a:ext uri="{FF2B5EF4-FFF2-40B4-BE49-F238E27FC236}">
                  <a16:creationId xmlns:a16="http://schemas.microsoft.com/office/drawing/2014/main" id="{0F7D5B8F-3AB6-E760-E443-E7C0C9276F09}"/>
                </a:ext>
              </a:extLst>
            </p:cNvPr>
            <p:cNvSpPr/>
            <p:nvPr/>
          </p:nvSpPr>
          <p:spPr>
            <a:xfrm>
              <a:off x="6096000" y="1333500"/>
              <a:ext cx="57150" cy="1314450"/>
            </a:xfrm>
            <a:prstGeom prst="roundRect">
              <a:avLst>
                <a:gd name="adj" fmla="val 50000"/>
              </a:avLst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18" name="TextBox 20">
              <a:extLst>
                <a:ext uri="{FF2B5EF4-FFF2-40B4-BE49-F238E27FC236}">
                  <a16:creationId xmlns:a16="http://schemas.microsoft.com/office/drawing/2014/main" id="{5DBDFEEF-137C-F7F7-B4F5-46BDD6F0A672}"/>
                </a:ext>
              </a:extLst>
            </p:cNvPr>
            <p:cNvSpPr txBox="1"/>
            <p:nvPr/>
          </p:nvSpPr>
          <p:spPr>
            <a:xfrm>
              <a:off x="6489697" y="1574773"/>
              <a:ext cx="1171086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标准不一</a:t>
              </a:r>
            </a:p>
          </p:txBody>
        </p:sp>
        <p:sp>
          <p:nvSpPr>
            <p:cNvPr id="19" name="TextBox 21">
              <a:extLst>
                <a:ext uri="{FF2B5EF4-FFF2-40B4-BE49-F238E27FC236}">
                  <a16:creationId xmlns:a16="http://schemas.microsoft.com/office/drawing/2014/main" id="{1B3BAE5A-9D13-281F-12AB-85B41465CB44}"/>
                </a:ext>
              </a:extLst>
            </p:cNvPr>
            <p:cNvSpPr txBox="1"/>
            <p:nvPr/>
          </p:nvSpPr>
          <p:spPr>
            <a:xfrm>
              <a:off x="6497317" y="2020543"/>
              <a:ext cx="3770033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依赖专家主观经验，不同评审人尺度差异大，</a:t>
              </a:r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0636EED4-1628-F872-4387-D3A7DD81F0FB}"/>
                </a:ext>
              </a:extLst>
            </p:cNvPr>
            <p:cNvSpPr txBox="1"/>
            <p:nvPr/>
          </p:nvSpPr>
          <p:spPr>
            <a:xfrm>
              <a:off x="6497317" y="2287243"/>
              <a:ext cx="3023140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同一篇论文评价结论可能相差悬殊。</a:t>
              </a:r>
            </a:p>
          </p:txBody>
        </p:sp>
      </p:grpSp>
      <p:grpSp>
        <p:nvGrpSpPr>
          <p:cNvPr id="21" name="Group 29">
            <a:extLst>
              <a:ext uri="{FF2B5EF4-FFF2-40B4-BE49-F238E27FC236}">
                <a16:creationId xmlns:a16="http://schemas.microsoft.com/office/drawing/2014/main" id="{E7AE0B5B-7C15-4CA5-186F-05078B7A4599}"/>
              </a:ext>
            </a:extLst>
          </p:cNvPr>
          <p:cNvGrpSpPr/>
          <p:nvPr/>
        </p:nvGrpSpPr>
        <p:grpSpPr>
          <a:xfrm>
            <a:off x="6096000" y="2831757"/>
            <a:ext cx="5410200" cy="1314450"/>
            <a:chOff x="6096000" y="2819400"/>
            <a:chExt cx="5410200" cy="1314450"/>
          </a:xfrm>
        </p:grpSpPr>
        <p:sp>
          <p:nvSpPr>
            <p:cNvPr id="22" name="Rectangle 24">
              <a:extLst>
                <a:ext uri="{FF2B5EF4-FFF2-40B4-BE49-F238E27FC236}">
                  <a16:creationId xmlns:a16="http://schemas.microsoft.com/office/drawing/2014/main" id="{8C165866-E66D-31ED-8F43-BA1A5747E4FB}"/>
                </a:ext>
              </a:extLst>
            </p:cNvPr>
            <p:cNvSpPr/>
            <p:nvPr/>
          </p:nvSpPr>
          <p:spPr>
            <a:xfrm>
              <a:off x="6096000" y="2819400"/>
              <a:ext cx="5410200" cy="1314450"/>
            </a:xfrm>
            <a:prstGeom prst="roundRect">
              <a:avLst>
                <a:gd name="adj" fmla="val 11594"/>
              </a:avLst>
            </a:prstGeom>
            <a:solidFill>
              <a:srgbClr val="FFFFFF"/>
            </a:solidFill>
            <a:ln w="14288">
              <a:solidFill>
                <a:srgbClr val="D9DEE5"/>
              </a:solidFill>
            </a:ln>
          </p:spPr>
        </p:sp>
        <p:sp>
          <p:nvSpPr>
            <p:cNvPr id="23" name="Rectangle 25">
              <a:extLst>
                <a:ext uri="{FF2B5EF4-FFF2-40B4-BE49-F238E27FC236}">
                  <a16:creationId xmlns:a16="http://schemas.microsoft.com/office/drawing/2014/main" id="{9DC77060-81DF-7156-9E23-5AC08962629E}"/>
                </a:ext>
              </a:extLst>
            </p:cNvPr>
            <p:cNvSpPr/>
            <p:nvPr/>
          </p:nvSpPr>
          <p:spPr>
            <a:xfrm>
              <a:off x="6096000" y="2819400"/>
              <a:ext cx="57150" cy="1314450"/>
            </a:xfrm>
            <a:prstGeom prst="roundRect">
              <a:avLst>
                <a:gd name="adj" fmla="val 50000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24" name="TextBox 26">
              <a:extLst>
                <a:ext uri="{FF2B5EF4-FFF2-40B4-BE49-F238E27FC236}">
                  <a16:creationId xmlns:a16="http://schemas.microsoft.com/office/drawing/2014/main" id="{15A5750F-D7C6-3F90-B519-CAC8349FCA80}"/>
                </a:ext>
              </a:extLst>
            </p:cNvPr>
            <p:cNvSpPr txBox="1"/>
            <p:nvPr/>
          </p:nvSpPr>
          <p:spPr>
            <a:xfrm>
              <a:off x="6489697" y="3060673"/>
              <a:ext cx="1171086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效率低下</a:t>
              </a:r>
            </a:p>
          </p:txBody>
        </p:sp>
        <p:sp>
          <p:nvSpPr>
            <p:cNvPr id="25" name="TextBox 27">
              <a:extLst>
                <a:ext uri="{FF2B5EF4-FFF2-40B4-BE49-F238E27FC236}">
                  <a16:creationId xmlns:a16="http://schemas.microsoft.com/office/drawing/2014/main" id="{DB8A18F6-CA45-0910-952F-5BDEBDB03F87}"/>
                </a:ext>
              </a:extLst>
            </p:cNvPr>
            <p:cNvSpPr txBox="1"/>
            <p:nvPr/>
          </p:nvSpPr>
          <p:spPr>
            <a:xfrm>
              <a:off x="6497317" y="3506443"/>
              <a:ext cx="3396586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评审周期漫长（数周到数月），专家调度</a:t>
              </a:r>
            </a:p>
          </p:txBody>
        </p:sp>
        <p:sp>
          <p:nvSpPr>
            <p:cNvPr id="26" name="TextBox 28">
              <a:extLst>
                <a:ext uri="{FF2B5EF4-FFF2-40B4-BE49-F238E27FC236}">
                  <a16:creationId xmlns:a16="http://schemas.microsoft.com/office/drawing/2014/main" id="{E0EEFCAB-F1EA-0A1A-9615-7DC67448E1E0}"/>
                </a:ext>
              </a:extLst>
            </p:cNvPr>
            <p:cNvSpPr txBox="1"/>
            <p:nvPr/>
          </p:nvSpPr>
          <p:spPr>
            <a:xfrm>
              <a:off x="6497317" y="3773143"/>
              <a:ext cx="3023140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成本高，难以快速响应大批量需求。</a:t>
              </a:r>
            </a:p>
          </p:txBody>
        </p:sp>
      </p:grpSp>
      <p:grpSp>
        <p:nvGrpSpPr>
          <p:cNvPr id="27" name="Group 35">
            <a:extLst>
              <a:ext uri="{FF2B5EF4-FFF2-40B4-BE49-F238E27FC236}">
                <a16:creationId xmlns:a16="http://schemas.microsoft.com/office/drawing/2014/main" id="{AC75236A-0BD1-961E-9AD7-8E0CA6FDC7D0}"/>
              </a:ext>
            </a:extLst>
          </p:cNvPr>
          <p:cNvGrpSpPr/>
          <p:nvPr/>
        </p:nvGrpSpPr>
        <p:grpSpPr>
          <a:xfrm>
            <a:off x="6096000" y="4317657"/>
            <a:ext cx="5410200" cy="1314450"/>
            <a:chOff x="6096000" y="4305300"/>
            <a:chExt cx="5410200" cy="1314450"/>
          </a:xfrm>
        </p:grpSpPr>
        <p:sp>
          <p:nvSpPr>
            <p:cNvPr id="28" name="Rectangle 30">
              <a:extLst>
                <a:ext uri="{FF2B5EF4-FFF2-40B4-BE49-F238E27FC236}">
                  <a16:creationId xmlns:a16="http://schemas.microsoft.com/office/drawing/2014/main" id="{532ED5C1-428D-9D78-65EA-C2A9CE05331C}"/>
                </a:ext>
              </a:extLst>
            </p:cNvPr>
            <p:cNvSpPr/>
            <p:nvPr/>
          </p:nvSpPr>
          <p:spPr>
            <a:xfrm>
              <a:off x="6096000" y="4305300"/>
              <a:ext cx="5410200" cy="1314450"/>
            </a:xfrm>
            <a:prstGeom prst="roundRect">
              <a:avLst>
                <a:gd name="adj" fmla="val 11594"/>
              </a:avLst>
            </a:prstGeom>
            <a:solidFill>
              <a:srgbClr val="FFFFFF"/>
            </a:solidFill>
            <a:ln w="14288">
              <a:solidFill>
                <a:srgbClr val="D9DEE5"/>
              </a:solidFill>
            </a:ln>
          </p:spPr>
        </p:sp>
        <p:sp>
          <p:nvSpPr>
            <p:cNvPr id="29" name="Rectangle 31">
              <a:extLst>
                <a:ext uri="{FF2B5EF4-FFF2-40B4-BE49-F238E27FC236}">
                  <a16:creationId xmlns:a16="http://schemas.microsoft.com/office/drawing/2014/main" id="{ACF4716E-7344-35FF-CE61-BC2BAC59C971}"/>
                </a:ext>
              </a:extLst>
            </p:cNvPr>
            <p:cNvSpPr/>
            <p:nvPr/>
          </p:nvSpPr>
          <p:spPr>
            <a:xfrm>
              <a:off x="6096000" y="4305300"/>
              <a:ext cx="57150" cy="1314450"/>
            </a:xfrm>
            <a:prstGeom prst="roundRect">
              <a:avLst>
                <a:gd name="adj" fmla="val 50000"/>
              </a:avLst>
            </a:prstGeom>
            <a:solidFill>
              <a:srgbClr val="44546A"/>
            </a:solidFill>
            <a:ln>
              <a:noFill/>
            </a:ln>
          </p:spPr>
        </p:sp>
        <p:sp>
          <p:nvSpPr>
            <p:cNvPr id="30" name="TextBox 32">
              <a:extLst>
                <a:ext uri="{FF2B5EF4-FFF2-40B4-BE49-F238E27FC236}">
                  <a16:creationId xmlns:a16="http://schemas.microsoft.com/office/drawing/2014/main" id="{B375DDB4-E106-AA06-74E5-6C1D5EF30EF0}"/>
                </a:ext>
              </a:extLst>
            </p:cNvPr>
            <p:cNvSpPr txBox="1"/>
            <p:nvPr/>
          </p:nvSpPr>
          <p:spPr>
            <a:xfrm>
              <a:off x="6489697" y="4546573"/>
              <a:ext cx="1171086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规模化难</a:t>
              </a:r>
            </a:p>
          </p:txBody>
        </p:sp>
        <p:sp>
          <p:nvSpPr>
            <p:cNvPr id="31" name="TextBox 33">
              <a:extLst>
                <a:ext uri="{FF2B5EF4-FFF2-40B4-BE49-F238E27FC236}">
                  <a16:creationId xmlns:a16="http://schemas.microsoft.com/office/drawing/2014/main" id="{05EBCD0C-2F87-23F8-7873-3A0599FAECE0}"/>
                </a:ext>
              </a:extLst>
            </p:cNvPr>
            <p:cNvSpPr txBox="1"/>
            <p:nvPr/>
          </p:nvSpPr>
          <p:spPr>
            <a:xfrm>
              <a:off x="6497317" y="4992343"/>
              <a:ext cx="3312561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面对近 10 年法学三大刊 </a:t>
              </a:r>
              <a:r>
                <a:rPr lang="zh-CN" sz="14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~1920 篇</a:t>
              </a:r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论文，</a:t>
              </a:r>
            </a:p>
          </p:txBody>
        </p:sp>
        <p:sp>
          <p:nvSpPr>
            <p:cNvPr id="32" name="TextBox 34">
              <a:extLst>
                <a:ext uri="{FF2B5EF4-FFF2-40B4-BE49-F238E27FC236}">
                  <a16:creationId xmlns:a16="http://schemas.microsoft.com/office/drawing/2014/main" id="{C0B07114-0918-8A38-46B9-B11B24C9BC9B}"/>
                </a:ext>
              </a:extLst>
            </p:cNvPr>
            <p:cNvSpPr txBox="1"/>
            <p:nvPr/>
          </p:nvSpPr>
          <p:spPr>
            <a:xfrm>
              <a:off x="6497317" y="5259043"/>
              <a:ext cx="3023140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人工逐一评审在现实中几乎不可行。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3517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5" grpId="0"/>
      <p:bldP spid="21" grpId="0"/>
      <p:bldP spid="2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C23E7E-A634-EDEF-C457-A48D6B1E00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3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07E4B1-EC9B-1F4B-1601-6CC88A6CED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7F8AE-40A1-C0A5-4E40-FE4E191904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554D27-6DE4-5A56-CAC2-F653F2782B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项目目标与定位</a:t>
            </a:r>
          </a:p>
        </p:txBody>
      </p:sp>
      <p:grpSp>
        <p:nvGrpSpPr>
          <p:cNvPr id="6" name="Group 14">
            <a:extLst>
              <a:ext uri="{FF2B5EF4-FFF2-40B4-BE49-F238E27FC236}">
                <a16:creationId xmlns:a16="http://schemas.microsoft.com/office/drawing/2014/main" id="{36B7A759-0DEE-8C65-EC7A-995A90B28BDF}"/>
              </a:ext>
            </a:extLst>
          </p:cNvPr>
          <p:cNvGrpSpPr/>
          <p:nvPr/>
        </p:nvGrpSpPr>
        <p:grpSpPr>
          <a:xfrm>
            <a:off x="685800" y="1104900"/>
            <a:ext cx="10820400" cy="1181100"/>
            <a:chOff x="685800" y="1104900"/>
            <a:chExt cx="10820400" cy="1181100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79694CAB-02CA-663B-EF79-80637C55ACD9}"/>
                </a:ext>
              </a:extLst>
            </p:cNvPr>
            <p:cNvSpPr/>
            <p:nvPr/>
          </p:nvSpPr>
          <p:spPr>
            <a:xfrm>
              <a:off x="685800" y="1104900"/>
              <a:ext cx="10820400" cy="1181100"/>
            </a:xfrm>
            <a:prstGeom prst="roundRect">
              <a:avLst>
                <a:gd name="adj" fmla="val 12903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8" name="TextBox 9">
              <a:extLst>
                <a:ext uri="{FF2B5EF4-FFF2-40B4-BE49-F238E27FC236}">
                  <a16:creationId xmlns:a16="http://schemas.microsoft.com/office/drawing/2014/main" id="{3FE32EC4-AF7F-5E99-1027-50C5E34E751B}"/>
                </a:ext>
              </a:extLst>
            </p:cNvPr>
            <p:cNvSpPr txBox="1"/>
            <p:nvPr/>
          </p:nvSpPr>
          <p:spPr>
            <a:xfrm>
              <a:off x="970283" y="1370357"/>
              <a:ext cx="893940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核心目标</a:t>
              </a:r>
            </a:p>
          </p:txBody>
        </p:sp>
        <p:sp>
          <p:nvSpPr>
            <p:cNvPr id="9" name="TextBox 10">
              <a:extLst>
                <a:ext uri="{FF2B5EF4-FFF2-40B4-BE49-F238E27FC236}">
                  <a16:creationId xmlns:a16="http://schemas.microsoft.com/office/drawing/2014/main" id="{82C9DB82-6C80-168A-4946-3CBFAE7090F5}"/>
                </a:ext>
              </a:extLst>
            </p:cNvPr>
            <p:cNvSpPr txBox="1"/>
            <p:nvPr/>
          </p:nvSpPr>
          <p:spPr>
            <a:xfrm>
              <a:off x="962025" y="1700212"/>
              <a:ext cx="684624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构建面向“自主知识体系”的 AI 辅助学术评价系统</a:t>
              </a:r>
            </a:p>
          </p:txBody>
        </p:sp>
        <p:sp>
          <p:nvSpPr>
            <p:cNvPr id="10" name="Line 11">
              <a:extLst>
                <a:ext uri="{FF2B5EF4-FFF2-40B4-BE49-F238E27FC236}">
                  <a16:creationId xmlns:a16="http://schemas.microsoft.com/office/drawing/2014/main" id="{EBA07DEF-05EA-D297-1BC3-17B7B7981CFA}"/>
                </a:ext>
              </a:extLst>
            </p:cNvPr>
            <p:cNvSpPr/>
            <p:nvPr/>
          </p:nvSpPr>
          <p:spPr>
            <a:xfrm>
              <a:off x="7620000" y="1390650"/>
              <a:ext cx="9525" cy="609600"/>
            </a:xfrm>
            <a:custGeom>
              <a:avLst/>
              <a:gdLst/>
              <a:ahLst/>
              <a:cxnLst/>
              <a:rect l="l" t="t" r="r" b="b"/>
              <a:pathLst>
                <a:path w="9525" h="609600">
                  <a:moveTo>
                    <a:pt x="0" y="0"/>
                  </a:moveTo>
                  <a:lnTo>
                    <a:pt x="0" y="609600"/>
                  </a:lnTo>
                </a:path>
              </a:pathLst>
            </a:custGeom>
            <a:noFill/>
            <a:ln w="9525">
              <a:solidFill>
                <a:srgbClr val="FFFFFF">
                  <a:alpha val="30000"/>
                </a:srgbClr>
              </a:solidFill>
            </a:ln>
          </p:spPr>
        </p: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7009D48-C838-061A-FC1A-F2FBAC3EB55A}"/>
                </a:ext>
              </a:extLst>
            </p:cNvPr>
            <p:cNvSpPr txBox="1"/>
            <p:nvPr/>
          </p:nvSpPr>
          <p:spPr>
            <a:xfrm>
              <a:off x="7904483" y="1370357"/>
              <a:ext cx="680614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切入点</a:t>
              </a:r>
            </a:p>
          </p:txBody>
        </p:sp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358DEFB7-EBD2-DF18-7304-75C0484249A1}"/>
                </a:ext>
              </a:extLst>
            </p:cNvPr>
            <p:cNvSpPr txBox="1"/>
            <p:nvPr/>
          </p:nvSpPr>
          <p:spPr>
            <a:xfrm>
              <a:off x="7899397" y="1727173"/>
              <a:ext cx="1731226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法学论文评审</a:t>
              </a:r>
            </a:p>
          </p:txBody>
        </p:sp>
      </p:grpSp>
      <p:grpSp>
        <p:nvGrpSpPr>
          <p:cNvPr id="13" name="Group 16">
            <a:extLst>
              <a:ext uri="{FF2B5EF4-FFF2-40B4-BE49-F238E27FC236}">
                <a16:creationId xmlns:a16="http://schemas.microsoft.com/office/drawing/2014/main" id="{C8084C74-0617-8E26-09EF-B6A6314BA834}"/>
              </a:ext>
            </a:extLst>
          </p:cNvPr>
          <p:cNvGrpSpPr/>
          <p:nvPr/>
        </p:nvGrpSpPr>
        <p:grpSpPr>
          <a:xfrm>
            <a:off x="657863" y="2600987"/>
            <a:ext cx="5030130" cy="446989"/>
            <a:chOff x="657863" y="2600987"/>
            <a:chExt cx="5030130" cy="446989"/>
          </a:xfrm>
        </p:grpSpPr>
        <p:sp>
          <p:nvSpPr>
            <p:cNvPr id="14" name="TextBox 15">
              <a:extLst>
                <a:ext uri="{FF2B5EF4-FFF2-40B4-BE49-F238E27FC236}">
                  <a16:creationId xmlns:a16="http://schemas.microsoft.com/office/drawing/2014/main" id="{6337AF26-7107-18F3-014B-1DC1D445309C}"/>
                </a:ext>
              </a:extLst>
            </p:cNvPr>
            <p:cNvSpPr txBox="1"/>
            <p:nvPr/>
          </p:nvSpPr>
          <p:spPr>
            <a:xfrm>
              <a:off x="657863" y="2600987"/>
              <a:ext cx="5030130" cy="4469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AI 定位：</a:t>
              </a:r>
              <a:r>
                <a:rPr lang="zh-CN" sz="22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辅助初筛，不替代专家终审</a:t>
              </a:r>
            </a:p>
          </p:txBody>
        </p:sp>
      </p:grpSp>
      <p:grpSp>
        <p:nvGrpSpPr>
          <p:cNvPr id="15" name="Group 26">
            <a:extLst>
              <a:ext uri="{FF2B5EF4-FFF2-40B4-BE49-F238E27FC236}">
                <a16:creationId xmlns:a16="http://schemas.microsoft.com/office/drawing/2014/main" id="{91DB528B-63FC-EC65-A47B-18A96D94B310}"/>
              </a:ext>
            </a:extLst>
          </p:cNvPr>
          <p:cNvGrpSpPr/>
          <p:nvPr/>
        </p:nvGrpSpPr>
        <p:grpSpPr>
          <a:xfrm>
            <a:off x="685800" y="3124200"/>
            <a:ext cx="5257800" cy="2971800"/>
            <a:chOff x="685800" y="3124200"/>
            <a:chExt cx="5257800" cy="2971800"/>
          </a:xfrm>
        </p:grpSpPr>
        <p:sp>
          <p:nvSpPr>
            <p:cNvPr id="16" name="Rectangle 17">
              <a:extLst>
                <a:ext uri="{FF2B5EF4-FFF2-40B4-BE49-F238E27FC236}">
                  <a16:creationId xmlns:a16="http://schemas.microsoft.com/office/drawing/2014/main" id="{26E693E2-8285-B45D-EFB5-D953E701C270}"/>
                </a:ext>
              </a:extLst>
            </p:cNvPr>
            <p:cNvSpPr/>
            <p:nvPr/>
          </p:nvSpPr>
          <p:spPr>
            <a:xfrm>
              <a:off x="685800" y="3124200"/>
              <a:ext cx="5257800" cy="2971800"/>
            </a:xfrm>
            <a:prstGeom prst="roundRect">
              <a:avLst>
                <a:gd name="adj" fmla="val 5128"/>
              </a:avLst>
            </a:prstGeom>
            <a:solidFill>
              <a:srgbClr val="2E7D32">
                <a:alpha val="6000"/>
              </a:srgbClr>
            </a:solidFill>
            <a:ln w="14288">
              <a:solidFill>
                <a:srgbClr val="2E7D32"/>
              </a:solidFill>
            </a:ln>
          </p:spPr>
        </p:sp>
        <p:grpSp>
          <p:nvGrpSpPr>
            <p:cNvPr id="17" name="Group 20">
              <a:extLst>
                <a:ext uri="{FF2B5EF4-FFF2-40B4-BE49-F238E27FC236}">
                  <a16:creationId xmlns:a16="http://schemas.microsoft.com/office/drawing/2014/main" id="{9B89F716-36C2-C6A1-7965-E41F6FA46C67}"/>
                </a:ext>
              </a:extLst>
            </p:cNvPr>
            <p:cNvGrpSpPr/>
            <p:nvPr/>
          </p:nvGrpSpPr>
          <p:grpSpPr>
            <a:xfrm>
              <a:off x="1035844" y="3436144"/>
              <a:ext cx="271462" cy="271462"/>
              <a:chOff x="1035844" y="3436144"/>
              <a:chExt cx="271462" cy="271462"/>
            </a:xfrm>
          </p:grpSpPr>
          <p:sp>
            <p:nvSpPr>
              <p:cNvPr id="23" name="Freeform 18">
                <a:extLst>
                  <a:ext uri="{FF2B5EF4-FFF2-40B4-BE49-F238E27FC236}">
                    <a16:creationId xmlns:a16="http://schemas.microsoft.com/office/drawing/2014/main" id="{F0730A5F-8910-3933-CAE5-9F01CB2E4CAC}"/>
                  </a:ext>
                </a:extLst>
              </p:cNvPr>
              <p:cNvSpPr/>
              <p:nvPr/>
            </p:nvSpPr>
            <p:spPr>
              <a:xfrm>
                <a:off x="1035844" y="3436144"/>
                <a:ext cx="271462" cy="271462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271462">
                    <a:moveTo>
                      <a:pt x="0" y="135731"/>
                    </a:moveTo>
                    <a:cubicBezTo>
                      <a:pt x="0" y="210694"/>
                      <a:pt x="60769" y="271462"/>
                      <a:pt x="135731" y="271462"/>
                    </a:cubicBezTo>
                    <a:cubicBezTo>
                      <a:pt x="210694" y="271462"/>
                      <a:pt x="271462" y="210694"/>
                      <a:pt x="271462" y="135731"/>
                    </a:cubicBezTo>
                    <a:cubicBezTo>
                      <a:pt x="271462" y="60769"/>
                      <a:pt x="210694" y="0"/>
                      <a:pt x="135731" y="0"/>
                    </a:cubicBezTo>
                    <a:cubicBezTo>
                      <a:pt x="60769" y="0"/>
                      <a:pt x="0" y="60769"/>
                      <a:pt x="0" y="135731"/>
                    </a:cubicBez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  <p:sp>
            <p:nvSpPr>
              <p:cNvPr id="24" name="Freeform 19">
                <a:extLst>
                  <a:ext uri="{FF2B5EF4-FFF2-40B4-BE49-F238E27FC236}">
                    <a16:creationId xmlns:a16="http://schemas.microsoft.com/office/drawing/2014/main" id="{99108E14-E8D4-59E9-E768-7278F358F24A}"/>
                  </a:ext>
                </a:extLst>
              </p:cNvPr>
              <p:cNvSpPr/>
              <p:nvPr/>
            </p:nvSpPr>
            <p:spPr>
              <a:xfrm>
                <a:off x="1126331" y="3541712"/>
                <a:ext cx="90488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60325">
                    <a:moveTo>
                      <a:pt x="0" y="30163"/>
                    </a:moveTo>
                    <a:lnTo>
                      <a:pt x="30162" y="60325"/>
                    </a:lnTo>
                    <a:lnTo>
                      <a:pt x="90488" y="0"/>
                    </a:ln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</p:grpSp>
        <p:sp>
          <p:nvSpPr>
            <p:cNvPr id="18" name="TextBox 21">
              <a:extLst>
                <a:ext uri="{FF2B5EF4-FFF2-40B4-BE49-F238E27FC236}">
                  <a16:creationId xmlns:a16="http://schemas.microsoft.com/office/drawing/2014/main" id="{17E499A3-F5A3-72CD-8578-3CAD514F5603}"/>
                </a:ext>
              </a:extLst>
            </p:cNvPr>
            <p:cNvSpPr txBox="1"/>
            <p:nvPr/>
          </p:nvSpPr>
          <p:spPr>
            <a:xfrm>
              <a:off x="1457325" y="3433762"/>
              <a:ext cx="136456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AI 可以做</a:t>
              </a:r>
            </a:p>
          </p:txBody>
        </p:sp>
        <p:sp>
          <p:nvSpPr>
            <p:cNvPr id="19" name="TextBox 22">
              <a:extLst>
                <a:ext uri="{FF2B5EF4-FFF2-40B4-BE49-F238E27FC236}">
                  <a16:creationId xmlns:a16="http://schemas.microsoft.com/office/drawing/2014/main" id="{CB120A4C-31EF-3376-2BBB-2A5E9C2AEABA}"/>
                </a:ext>
              </a:extLst>
            </p:cNvPr>
            <p:cNvSpPr txBox="1"/>
            <p:nvPr/>
          </p:nvSpPr>
          <p:spPr>
            <a:xfrm>
              <a:off x="1005840" y="4072890"/>
              <a:ext cx="168992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· 识别项目口径</a:t>
              </a:r>
            </a:p>
          </p:txBody>
        </p:sp>
        <p:sp>
          <p:nvSpPr>
            <p:cNvPr id="20" name="TextBox 23">
              <a:extLst>
                <a:ext uri="{FF2B5EF4-FFF2-40B4-BE49-F238E27FC236}">
                  <a16:creationId xmlns:a16="http://schemas.microsoft.com/office/drawing/2014/main" id="{C282640B-2F51-CB08-D022-A945A7AB25F5}"/>
                </a:ext>
              </a:extLst>
            </p:cNvPr>
            <p:cNvSpPr txBox="1"/>
            <p:nvPr/>
          </p:nvSpPr>
          <p:spPr>
            <a:xfrm>
              <a:off x="1005840" y="4530090"/>
              <a:ext cx="168992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· 生成六维信号</a:t>
              </a:r>
            </a:p>
          </p:txBody>
        </p:sp>
        <p:sp>
          <p:nvSpPr>
            <p:cNvPr id="21" name="TextBox 24">
              <a:extLst>
                <a:ext uri="{FF2B5EF4-FFF2-40B4-BE49-F238E27FC236}">
                  <a16:creationId xmlns:a16="http://schemas.microsoft.com/office/drawing/2014/main" id="{FA2511B2-C1B2-C9BA-FB48-0BE681E7F3FD}"/>
                </a:ext>
              </a:extLst>
            </p:cNvPr>
            <p:cNvSpPr txBox="1"/>
            <p:nvPr/>
          </p:nvSpPr>
          <p:spPr>
            <a:xfrm>
              <a:off x="1005840" y="4987290"/>
              <a:ext cx="168992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· 暴露模型分歧</a:t>
              </a:r>
            </a:p>
          </p:txBody>
        </p:sp>
        <p:sp>
          <p:nvSpPr>
            <p:cNvPr id="22" name="TextBox 25">
              <a:extLst>
                <a:ext uri="{FF2B5EF4-FFF2-40B4-BE49-F238E27FC236}">
                  <a16:creationId xmlns:a16="http://schemas.microsoft.com/office/drawing/2014/main" id="{2690C58C-3B58-96B8-3444-D93B721348D7}"/>
                </a:ext>
              </a:extLst>
            </p:cNvPr>
            <p:cNvSpPr txBox="1"/>
            <p:nvPr/>
          </p:nvSpPr>
          <p:spPr>
            <a:xfrm>
              <a:off x="1005840" y="5444490"/>
              <a:ext cx="168992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· 整理评价证据</a:t>
              </a:r>
            </a:p>
          </p:txBody>
        </p:sp>
      </p:grpSp>
      <p:grpSp>
        <p:nvGrpSpPr>
          <p:cNvPr id="25" name="Group 37">
            <a:extLst>
              <a:ext uri="{FF2B5EF4-FFF2-40B4-BE49-F238E27FC236}">
                <a16:creationId xmlns:a16="http://schemas.microsoft.com/office/drawing/2014/main" id="{596DE793-4E89-4CE6-54FC-1C11843E9C60}"/>
              </a:ext>
            </a:extLst>
          </p:cNvPr>
          <p:cNvGrpSpPr/>
          <p:nvPr/>
        </p:nvGrpSpPr>
        <p:grpSpPr>
          <a:xfrm>
            <a:off x="6248400" y="3124200"/>
            <a:ext cx="5257800" cy="2971800"/>
            <a:chOff x="6248400" y="3124200"/>
            <a:chExt cx="5257800" cy="2971800"/>
          </a:xfrm>
        </p:grpSpPr>
        <p:sp>
          <p:nvSpPr>
            <p:cNvPr id="26" name="Rectangle 27">
              <a:extLst>
                <a:ext uri="{FF2B5EF4-FFF2-40B4-BE49-F238E27FC236}">
                  <a16:creationId xmlns:a16="http://schemas.microsoft.com/office/drawing/2014/main" id="{2F425845-0DAC-BAA0-5407-51F40512D0EA}"/>
                </a:ext>
              </a:extLst>
            </p:cNvPr>
            <p:cNvSpPr/>
            <p:nvPr/>
          </p:nvSpPr>
          <p:spPr>
            <a:xfrm>
              <a:off x="6248400" y="3124200"/>
              <a:ext cx="5257800" cy="2971800"/>
            </a:xfrm>
            <a:prstGeom prst="roundRect">
              <a:avLst>
                <a:gd name="adj" fmla="val 5128"/>
              </a:avLst>
            </a:prstGeom>
            <a:solidFill>
              <a:srgbClr val="C8161E">
                <a:alpha val="6000"/>
              </a:srgbClr>
            </a:solidFill>
            <a:ln w="14288">
              <a:solidFill>
                <a:srgbClr val="C8161E"/>
              </a:solidFill>
            </a:ln>
          </p:spPr>
        </p:sp>
        <p:grpSp>
          <p:nvGrpSpPr>
            <p:cNvPr id="27" name="Group 31">
              <a:extLst>
                <a:ext uri="{FF2B5EF4-FFF2-40B4-BE49-F238E27FC236}">
                  <a16:creationId xmlns:a16="http://schemas.microsoft.com/office/drawing/2014/main" id="{C6763474-DE19-D79C-23E2-579932D86C4A}"/>
                </a:ext>
              </a:extLst>
            </p:cNvPr>
            <p:cNvGrpSpPr/>
            <p:nvPr/>
          </p:nvGrpSpPr>
          <p:grpSpPr>
            <a:xfrm>
              <a:off x="6582079" y="3431133"/>
              <a:ext cx="304181" cy="261331"/>
              <a:chOff x="6582079" y="3431133"/>
              <a:chExt cx="304181" cy="261331"/>
            </a:xfrm>
          </p:grpSpPr>
          <p:sp>
            <p:nvSpPr>
              <p:cNvPr id="32" name="Freeform 28">
                <a:extLst>
                  <a:ext uri="{FF2B5EF4-FFF2-40B4-BE49-F238E27FC236}">
                    <a16:creationId xmlns:a16="http://schemas.microsoft.com/office/drawing/2014/main" id="{85B1A1FC-A01B-5940-CB16-89C1470284E5}"/>
                  </a:ext>
                </a:extLst>
              </p:cNvPr>
              <p:cNvSpPr/>
              <p:nvPr/>
            </p:nvSpPr>
            <p:spPr>
              <a:xfrm>
                <a:off x="6734175" y="3526631"/>
                <a:ext cx="952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0325">
                    <a:moveTo>
                      <a:pt x="0" y="0"/>
                    </a:moveTo>
                    <a:lnTo>
                      <a:pt x="0" y="60325"/>
                    </a:lnTo>
                  </a:path>
                </a:pathLst>
              </a:custGeom>
              <a:noFill/>
              <a:ln w="19050">
                <a:solidFill>
                  <a:srgbClr val="C8161E"/>
                </a:solidFill>
              </a:ln>
            </p:spPr>
          </p:sp>
          <p:sp>
            <p:nvSpPr>
              <p:cNvPr id="33" name="Freeform 29">
                <a:extLst>
                  <a:ext uri="{FF2B5EF4-FFF2-40B4-BE49-F238E27FC236}">
                    <a16:creationId xmlns:a16="http://schemas.microsoft.com/office/drawing/2014/main" id="{F484D987-F26B-46A6-7D54-4262D04943EE}"/>
                  </a:ext>
                </a:extLst>
              </p:cNvPr>
              <p:cNvSpPr/>
              <p:nvPr/>
            </p:nvSpPr>
            <p:spPr>
              <a:xfrm>
                <a:off x="6582079" y="3431133"/>
                <a:ext cx="304181" cy="261331"/>
              </a:xfrm>
              <a:custGeom>
                <a:avLst/>
                <a:gdLst/>
                <a:ahLst/>
                <a:cxnLst/>
                <a:rect l="l" t="t" r="r" b="b"/>
                <a:pathLst>
                  <a:path w="304181" h="261331">
                    <a:moveTo>
                      <a:pt x="127408" y="13923"/>
                    </a:moveTo>
                    <a:lnTo>
                      <a:pt x="5160" y="218033"/>
                    </a:lnTo>
                    <a:cubicBezTo>
                      <a:pt x="31" y="226914"/>
                      <a:pt x="0" y="237849"/>
                      <a:pt x="5077" y="246759"/>
                    </a:cubicBezTo>
                    <a:cubicBezTo>
                      <a:pt x="10155" y="255669"/>
                      <a:pt x="19578" y="261216"/>
                      <a:pt x="29832" y="261331"/>
                    </a:cubicBezTo>
                    <a:lnTo>
                      <a:pt x="274360" y="261331"/>
                    </a:lnTo>
                    <a:cubicBezTo>
                      <a:pt x="284610" y="261213"/>
                      <a:pt x="294028" y="255668"/>
                      <a:pt x="299104" y="246763"/>
                    </a:cubicBezTo>
                    <a:cubicBezTo>
                      <a:pt x="304181" y="237857"/>
                      <a:pt x="304153" y="226928"/>
                      <a:pt x="299033" y="218048"/>
                    </a:cubicBezTo>
                    <a:lnTo>
                      <a:pt x="176784" y="13908"/>
                    </a:lnTo>
                    <a:cubicBezTo>
                      <a:pt x="171553" y="5274"/>
                      <a:pt x="162191" y="0"/>
                      <a:pt x="152096" y="0"/>
                    </a:cubicBezTo>
                    <a:cubicBezTo>
                      <a:pt x="142001" y="0"/>
                      <a:pt x="132639" y="5274"/>
                      <a:pt x="127408" y="13908"/>
                    </a:cubicBezTo>
                  </a:path>
                </a:pathLst>
              </a:custGeom>
              <a:noFill/>
              <a:ln w="19050">
                <a:solidFill>
                  <a:srgbClr val="C8161E"/>
                </a:solidFill>
              </a:ln>
            </p:spPr>
          </p:sp>
          <p:sp>
            <p:nvSpPr>
              <p:cNvPr id="34" name="Freeform 30">
                <a:extLst>
                  <a:ext uri="{FF2B5EF4-FFF2-40B4-BE49-F238E27FC236}">
                    <a16:creationId xmlns:a16="http://schemas.microsoft.com/office/drawing/2014/main" id="{D774E6EF-E8F4-B42B-9050-E8B63078C411}"/>
                  </a:ext>
                </a:extLst>
              </p:cNvPr>
              <p:cNvSpPr/>
              <p:nvPr/>
            </p:nvSpPr>
            <p:spPr>
              <a:xfrm>
                <a:off x="6734175" y="3632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1" y="0"/>
                    </a:lnTo>
                  </a:path>
                </a:pathLst>
              </a:custGeom>
              <a:noFill/>
              <a:ln w="19050">
                <a:solidFill>
                  <a:srgbClr val="C8161E"/>
                </a:solidFill>
              </a:ln>
            </p:spPr>
          </p:sp>
        </p:grpSp>
        <p:sp>
          <p:nvSpPr>
            <p:cNvPr id="28" name="TextBox 32">
              <a:extLst>
                <a:ext uri="{FF2B5EF4-FFF2-40B4-BE49-F238E27FC236}">
                  <a16:creationId xmlns:a16="http://schemas.microsoft.com/office/drawing/2014/main" id="{0F0FF22E-3D78-EBBB-06B5-EF99CDC68065}"/>
                </a:ext>
              </a:extLst>
            </p:cNvPr>
            <p:cNvSpPr txBox="1"/>
            <p:nvPr/>
          </p:nvSpPr>
          <p:spPr>
            <a:xfrm>
              <a:off x="7019925" y="3433762"/>
              <a:ext cx="136456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AI 不能做</a:t>
              </a:r>
            </a:p>
          </p:txBody>
        </p:sp>
        <p:sp>
          <p:nvSpPr>
            <p:cNvPr id="29" name="TextBox 33">
              <a:extLst>
                <a:ext uri="{FF2B5EF4-FFF2-40B4-BE49-F238E27FC236}">
                  <a16:creationId xmlns:a16="http://schemas.microsoft.com/office/drawing/2014/main" id="{718EB00D-223C-4BFE-7153-D2D1EB808511}"/>
                </a:ext>
              </a:extLst>
            </p:cNvPr>
            <p:cNvSpPr txBox="1"/>
            <p:nvPr/>
          </p:nvSpPr>
          <p:spPr>
            <a:xfrm>
              <a:off x="6568440" y="4072890"/>
              <a:ext cx="216998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· 裁定真正的首创性</a:t>
              </a:r>
            </a:p>
          </p:txBody>
        </p:sp>
        <p:sp>
          <p:nvSpPr>
            <p:cNvPr id="30" name="TextBox 34">
              <a:extLst>
                <a:ext uri="{FF2B5EF4-FFF2-40B4-BE49-F238E27FC236}">
                  <a16:creationId xmlns:a16="http://schemas.microsoft.com/office/drawing/2014/main" id="{8CFA80E7-7BCC-F5AF-8575-CE3EA30DF919}"/>
                </a:ext>
              </a:extLst>
            </p:cNvPr>
            <p:cNvSpPr txBox="1"/>
            <p:nvPr/>
          </p:nvSpPr>
          <p:spPr>
            <a:xfrm>
              <a:off x="6568440" y="4530090"/>
              <a:ext cx="216998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· 替代主编最终判断</a:t>
              </a:r>
            </a:p>
          </p:txBody>
        </p:sp>
        <p:sp>
          <p:nvSpPr>
            <p:cNvPr id="31" name="TextBox 35">
              <a:extLst>
                <a:ext uri="{FF2B5EF4-FFF2-40B4-BE49-F238E27FC236}">
                  <a16:creationId xmlns:a16="http://schemas.microsoft.com/office/drawing/2014/main" id="{125A4EC6-23F2-E208-708E-7DCE5011AAA1}"/>
                </a:ext>
              </a:extLst>
            </p:cNvPr>
            <p:cNvSpPr txBox="1"/>
            <p:nvPr/>
          </p:nvSpPr>
          <p:spPr>
            <a:xfrm>
              <a:off x="6568440" y="4987290"/>
              <a:ext cx="241001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· 因政治正确性给高分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5459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/>
      <p:bldP spid="15" grpId="0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评价对象与规模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从 1920 篇全量评审到 Top101 稳定性复测，再到归属优先的 Top50 配额榜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5800" y="1143000"/>
            <a:ext cx="205740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1280160"/>
            <a:ext cx="178308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1920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1600200"/>
            <a:ext cx="17830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可评测论文总量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1810512"/>
            <a:ext cx="17830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近十年法学三大刊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1143000"/>
            <a:ext cx="205740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08960" y="1280160"/>
            <a:ext cx="178308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101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1600200"/>
            <a:ext cx="17830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Top101 候选池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1810512"/>
            <a:ext cx="17830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Top60 + 年份/学科覆盖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1143000"/>
            <a:ext cx="205740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94960" y="1280160"/>
            <a:ext cx="178308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101/101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94960" y="1600200"/>
            <a:ext cx="17830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五轴归属评估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94960" y="1810512"/>
            <a:ext cx="17830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两模型 + 条件 R2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43800" y="1143000"/>
            <a:ext cx="205740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0" y="1280160"/>
            <a:ext cx="178308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1600200"/>
            <a:ext cx="17830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正式 Top50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80960" y="1810512"/>
            <a:ext cx="17830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归属优先 + 学科比例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29800" y="1143000"/>
            <a:ext cx="146304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66960" y="1280160"/>
            <a:ext cx="11887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66960" y="1600200"/>
            <a:ext cx="11887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五轴 10 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66960" y="1810512"/>
            <a:ext cx="11887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主资格池入选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" y="2423160"/>
            <a:ext cx="5303520" cy="329184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392" y="2532888"/>
            <a:ext cx="49743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当前评测成果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2834640"/>
            <a:ext cx="4937759" cy="2788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E1：1920 篇全量 R1+R2 评审完成，形成六维质量基线。
• E2：Top101 进入稳定性复测，覆盖每年至少 5 篇、各学科至少 5 篇。
• 五轴：101 篇完成中国法学自主知识体系位置归属度评估。
• Top50：按 1920 全库学科比例配额，从五轴 10 分池中择优；仅 1 篇 9 分用于学科补足。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2423160"/>
            <a:ext cx="5074920" cy="329184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82512" y="253288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Top50 新口径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2834640"/>
            <a:ext cx="4709159" cy="2788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先判归属资格：10 分为主池，9 分只用于配额不足补足。
• 再按学科配额：沿用全库 1920 篇学科比例。
• 最后按六维质量排序：学科内按加权创新分择优。
• 8 分及以下不进入正式 Top50，保留为观察或专家复核样本。</a:t>
            </a:r>
          </a:p>
        </p:txBody>
      </p:sp>
    </p:spTree>
    <p:extLst>
      <p:ext uri="{BB962C8B-B14F-4D97-AF65-F5344CB8AC3E}">
        <p14:creationId xmlns:p14="http://schemas.microsoft.com/office/powerpoint/2010/main" val="3575387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/>
      <p:bldP spid="16" grpId="0"/>
      <p:bldP spid="30" grpId="0"/>
      <p:bldP spid="34" grpId="0"/>
      <p:bldP spid="39" grpId="0"/>
      <p:bldP spid="44" grpId="0"/>
      <p:bldP spid="4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0C488B-28A8-B220-2744-633F2CEA61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5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8BEC82-5896-D041-F69E-6A3AF5E5AC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184922-0369-0B60-CA6C-A69A294070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1C1B9E-4749-2EA3-9C6E-40214FB3B4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专家团队与样本体系</a:t>
            </a:r>
          </a:p>
        </p:txBody>
      </p:sp>
      <p:grpSp>
        <p:nvGrpSpPr>
          <p:cNvPr id="6" name="Group 9">
            <a:extLst>
              <a:ext uri="{FF2B5EF4-FFF2-40B4-BE49-F238E27FC236}">
                <a16:creationId xmlns:a16="http://schemas.microsoft.com/office/drawing/2014/main" id="{FC35B43A-C16A-08F9-3109-838E5A0200E5}"/>
              </a:ext>
            </a:extLst>
          </p:cNvPr>
          <p:cNvGrpSpPr/>
          <p:nvPr/>
        </p:nvGrpSpPr>
        <p:grpSpPr>
          <a:xfrm>
            <a:off x="660397" y="1022323"/>
            <a:ext cx="6016297" cy="406451"/>
            <a:chOff x="660397" y="1022323"/>
            <a:chExt cx="6016297" cy="406451"/>
          </a:xfrm>
        </p:grpSpPr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A5DEEF3A-85B9-E467-79AD-F60CBB262BDC}"/>
                </a:ext>
              </a:extLst>
            </p:cNvPr>
            <p:cNvSpPr txBox="1"/>
            <p:nvPr/>
          </p:nvSpPr>
          <p:spPr>
            <a:xfrm>
              <a:off x="660397" y="1022323"/>
              <a:ext cx="6016297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三级递进样本设计</a:t>
              </a:r>
              <a:r>
                <a:rPr lang="zh-CN" sz="16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 严格防止调参集与验证集混用</a:t>
              </a:r>
            </a:p>
          </p:txBody>
        </p:sp>
      </p:grpSp>
      <p:grpSp>
        <p:nvGrpSpPr>
          <p:cNvPr id="8" name="Group 18">
            <a:extLst>
              <a:ext uri="{FF2B5EF4-FFF2-40B4-BE49-F238E27FC236}">
                <a16:creationId xmlns:a16="http://schemas.microsoft.com/office/drawing/2014/main" id="{247ECE41-5EA5-93EA-93EC-4A531291AD6E}"/>
              </a:ext>
            </a:extLst>
          </p:cNvPr>
          <p:cNvGrpSpPr/>
          <p:nvPr/>
        </p:nvGrpSpPr>
        <p:grpSpPr>
          <a:xfrm>
            <a:off x="685800" y="1524000"/>
            <a:ext cx="3124200" cy="2552700"/>
            <a:chOff x="685800" y="1524000"/>
            <a:chExt cx="3124200" cy="2552700"/>
          </a:xfrm>
        </p:grpSpPr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01112E17-D9CA-F2AA-53A2-D54FFBAFF2F7}"/>
                </a:ext>
              </a:extLst>
            </p:cNvPr>
            <p:cNvSpPr/>
            <p:nvPr/>
          </p:nvSpPr>
          <p:spPr>
            <a:xfrm>
              <a:off x="685800" y="1524000"/>
              <a:ext cx="3124200" cy="2552700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14288">
              <a:solidFill>
                <a:srgbClr val="C8161E"/>
              </a:solidFill>
            </a:ln>
          </p:spPr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745ECEEA-9F80-E16C-4C34-975621999B0F}"/>
                </a:ext>
              </a:extLst>
            </p:cNvPr>
            <p:cNvSpPr/>
            <p:nvPr/>
          </p:nvSpPr>
          <p:spPr>
            <a:xfrm>
              <a:off x="685800" y="1524000"/>
              <a:ext cx="3124200" cy="571500"/>
            </a:xfrm>
            <a:prstGeom prst="roundRect">
              <a:avLst>
                <a:gd name="adj" fmla="val 26667"/>
              </a:avLst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361B8AF7-D7D1-7F00-FF17-96DCEE6A1CB7}"/>
                </a:ext>
              </a:extLst>
            </p:cNvPr>
            <p:cNvSpPr/>
            <p:nvPr/>
          </p:nvSpPr>
          <p:spPr>
            <a:xfrm>
              <a:off x="685800" y="1809750"/>
              <a:ext cx="3124200" cy="285750"/>
            </a:xfrm>
            <a:prstGeom prst="rect">
              <a:avLst/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4EAA2360-436A-4DEF-BDA3-AA07CE7D9A3F}"/>
                </a:ext>
              </a:extLst>
            </p:cNvPr>
            <p:cNvSpPr txBox="1"/>
            <p:nvPr/>
          </p:nvSpPr>
          <p:spPr>
            <a:xfrm>
              <a:off x="891540" y="1710690"/>
              <a:ext cx="1809941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 校准 / 回归集</a:t>
              </a:r>
            </a:p>
          </p:txBody>
        </p:sp>
        <p:sp>
          <p:nvSpPr>
            <p:cNvPr id="13" name="TextBox 14">
              <a:extLst>
                <a:ext uri="{FF2B5EF4-FFF2-40B4-BE49-F238E27FC236}">
                  <a16:creationId xmlns:a16="http://schemas.microsoft.com/office/drawing/2014/main" id="{D6645D6F-EF1E-C242-815B-8C790DD73A5F}"/>
                </a:ext>
              </a:extLst>
            </p:cNvPr>
            <p:cNvSpPr txBox="1"/>
            <p:nvPr/>
          </p:nvSpPr>
          <p:spPr>
            <a:xfrm>
              <a:off x="876300" y="2266950"/>
              <a:ext cx="853297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3 </a:t>
              </a:r>
              <a:r>
                <a:rPr lang="zh-CN" sz="1600" b="1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篇</a:t>
              </a:r>
            </a:p>
          </p:txBody>
        </p:sp>
        <p:sp>
          <p:nvSpPr>
            <p:cNvPr id="14" name="TextBox 15">
              <a:extLst>
                <a:ext uri="{FF2B5EF4-FFF2-40B4-BE49-F238E27FC236}">
                  <a16:creationId xmlns:a16="http://schemas.microsoft.com/office/drawing/2014/main" id="{5D09AD09-F874-27BD-8801-D405C1B015FF}"/>
                </a:ext>
              </a:extLst>
            </p:cNvPr>
            <p:cNvSpPr txBox="1"/>
            <p:nvPr/>
          </p:nvSpPr>
          <p:spPr>
            <a:xfrm>
              <a:off x="896617" y="2877793"/>
              <a:ext cx="2089523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调参期间反复运行的快速</a:t>
              </a:r>
            </a:p>
          </p:txBody>
        </p:sp>
        <p:sp>
          <p:nvSpPr>
            <p:cNvPr id="15" name="TextBox 16">
              <a:extLst>
                <a:ext uri="{FF2B5EF4-FFF2-40B4-BE49-F238E27FC236}">
                  <a16:creationId xmlns:a16="http://schemas.microsoft.com/office/drawing/2014/main" id="{91B270C3-065E-6762-B736-E3BA2D0BC8BC}"/>
                </a:ext>
              </a:extLst>
            </p:cNvPr>
            <p:cNvSpPr txBox="1"/>
            <p:nvPr/>
          </p:nvSpPr>
          <p:spPr>
            <a:xfrm>
              <a:off x="896617" y="3144493"/>
              <a:ext cx="782460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回归检查</a:t>
              </a:r>
            </a:p>
          </p:txBody>
        </p:sp>
        <p:sp>
          <p:nvSpPr>
            <p:cNvPr id="16" name="TextBox 17">
              <a:extLst>
                <a:ext uri="{FF2B5EF4-FFF2-40B4-BE49-F238E27FC236}">
                  <a16:creationId xmlns:a16="http://schemas.microsoft.com/office/drawing/2014/main" id="{0247AC14-E8E0-5F45-5D74-EA3001A78183}"/>
                </a:ext>
              </a:extLst>
            </p:cNvPr>
            <p:cNvSpPr txBox="1"/>
            <p:nvPr/>
          </p:nvSpPr>
          <p:spPr>
            <a:xfrm>
              <a:off x="899160" y="3604260"/>
              <a:ext cx="18387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AA3AE"/>
                  </a:solidFill>
                  <a:latin typeface="Arial"/>
                  <a:ea typeface="Microsoft YaHei"/>
                  <a:cs typeface="Arial"/>
                </a:rPr>
                <a:t>佀化强 · 郑晓剑 · 杜宴林</a:t>
              </a:r>
            </a:p>
          </p:txBody>
        </p:sp>
      </p:grpSp>
      <p:grpSp>
        <p:nvGrpSpPr>
          <p:cNvPr id="17" name="Group 27">
            <a:extLst>
              <a:ext uri="{FF2B5EF4-FFF2-40B4-BE49-F238E27FC236}">
                <a16:creationId xmlns:a16="http://schemas.microsoft.com/office/drawing/2014/main" id="{B9A5D997-C42C-DE8C-6A32-5DA23EC8D2A7}"/>
              </a:ext>
            </a:extLst>
          </p:cNvPr>
          <p:cNvGrpSpPr/>
          <p:nvPr/>
        </p:nvGrpSpPr>
        <p:grpSpPr>
          <a:xfrm>
            <a:off x="4533900" y="1524000"/>
            <a:ext cx="3124200" cy="2552700"/>
            <a:chOff x="4533900" y="1524000"/>
            <a:chExt cx="3124200" cy="2552700"/>
          </a:xfrm>
        </p:grpSpPr>
        <p:sp>
          <p:nvSpPr>
            <p:cNvPr id="18" name="Rectangle 19">
              <a:extLst>
                <a:ext uri="{FF2B5EF4-FFF2-40B4-BE49-F238E27FC236}">
                  <a16:creationId xmlns:a16="http://schemas.microsoft.com/office/drawing/2014/main" id="{1E3EA1B7-1C86-8EAB-5E5C-83811C52E3ED}"/>
                </a:ext>
              </a:extLst>
            </p:cNvPr>
            <p:cNvSpPr/>
            <p:nvPr/>
          </p:nvSpPr>
          <p:spPr>
            <a:xfrm>
              <a:off x="4533900" y="1524000"/>
              <a:ext cx="3124200" cy="2552700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14288">
              <a:solidFill>
                <a:srgbClr val="1F4D78"/>
              </a:solidFill>
            </a:ln>
          </p:spPr>
        </p:sp>
        <p:sp>
          <p:nvSpPr>
            <p:cNvPr id="19" name="Rectangle 20">
              <a:extLst>
                <a:ext uri="{FF2B5EF4-FFF2-40B4-BE49-F238E27FC236}">
                  <a16:creationId xmlns:a16="http://schemas.microsoft.com/office/drawing/2014/main" id="{2478CC3C-3D06-2CF5-3502-A584173F5E94}"/>
                </a:ext>
              </a:extLst>
            </p:cNvPr>
            <p:cNvSpPr/>
            <p:nvPr/>
          </p:nvSpPr>
          <p:spPr>
            <a:xfrm>
              <a:off x="4533900" y="1524000"/>
              <a:ext cx="3124200" cy="571500"/>
            </a:xfrm>
            <a:prstGeom prst="roundRect">
              <a:avLst>
                <a:gd name="adj" fmla="val 26667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20" name="Rectangle 21">
              <a:extLst>
                <a:ext uri="{FF2B5EF4-FFF2-40B4-BE49-F238E27FC236}">
                  <a16:creationId xmlns:a16="http://schemas.microsoft.com/office/drawing/2014/main" id="{BA1D6482-7B38-AE13-45B3-D369D4EBB5B7}"/>
                </a:ext>
              </a:extLst>
            </p:cNvPr>
            <p:cNvSpPr/>
            <p:nvPr/>
          </p:nvSpPr>
          <p:spPr>
            <a:xfrm>
              <a:off x="4533900" y="1809750"/>
              <a:ext cx="3124200" cy="285750"/>
            </a:xfrm>
            <a:prstGeom prst="rect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21" name="TextBox 22">
              <a:extLst>
                <a:ext uri="{FF2B5EF4-FFF2-40B4-BE49-F238E27FC236}">
                  <a16:creationId xmlns:a16="http://schemas.microsoft.com/office/drawing/2014/main" id="{2FC275D3-5609-38DB-04D4-FC6646FE91AC}"/>
                </a:ext>
              </a:extLst>
            </p:cNvPr>
            <p:cNvSpPr txBox="1"/>
            <p:nvPr/>
          </p:nvSpPr>
          <p:spPr>
            <a:xfrm>
              <a:off x="4739640" y="1710690"/>
              <a:ext cx="152010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 冻结测试集</a:t>
              </a:r>
            </a:p>
          </p:txBody>
        </p:sp>
        <p:sp>
          <p:nvSpPr>
            <p:cNvPr id="22" name="TextBox 23">
              <a:extLst>
                <a:ext uri="{FF2B5EF4-FFF2-40B4-BE49-F238E27FC236}">
                  <a16:creationId xmlns:a16="http://schemas.microsoft.com/office/drawing/2014/main" id="{52016943-03A6-FFF7-1E8C-5FF8E8379434}"/>
                </a:ext>
              </a:extLst>
            </p:cNvPr>
            <p:cNvSpPr txBox="1"/>
            <p:nvPr/>
          </p:nvSpPr>
          <p:spPr>
            <a:xfrm>
              <a:off x="4724400" y="2266950"/>
              <a:ext cx="853297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4 </a:t>
              </a:r>
              <a:r>
                <a:rPr lang="zh-CN" sz="1600" b="1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篇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4F203842-5F95-F1A4-5F1D-2A694D8EA2C3}"/>
                </a:ext>
              </a:extLst>
            </p:cNvPr>
            <p:cNvSpPr txBox="1"/>
            <p:nvPr/>
          </p:nvSpPr>
          <p:spPr>
            <a:xfrm>
              <a:off x="4744717" y="2877793"/>
              <a:ext cx="2089523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调参后冻结测试，仅修复</a:t>
              </a:r>
            </a:p>
          </p:txBody>
        </p:sp>
        <p:sp>
          <p:nvSpPr>
            <p:cNvPr id="24" name="TextBox 25">
              <a:extLst>
                <a:ext uri="{FF2B5EF4-FFF2-40B4-BE49-F238E27FC236}">
                  <a16:creationId xmlns:a16="http://schemas.microsoft.com/office/drawing/2014/main" id="{35CA65F6-F42A-9F6E-6337-0FFEB432CD32}"/>
                </a:ext>
              </a:extLst>
            </p:cNvPr>
            <p:cNvSpPr txBox="1"/>
            <p:nvPr/>
          </p:nvSpPr>
          <p:spPr>
            <a:xfrm>
              <a:off x="4744717" y="3144493"/>
              <a:ext cx="969183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可归因问题</a:t>
              </a:r>
            </a:p>
          </p:txBody>
        </p:sp>
        <p:sp>
          <p:nvSpPr>
            <p:cNvPr id="25" name="TextBox 26">
              <a:extLst>
                <a:ext uri="{FF2B5EF4-FFF2-40B4-BE49-F238E27FC236}">
                  <a16:creationId xmlns:a16="http://schemas.microsoft.com/office/drawing/2014/main" id="{FBD00A3F-12D5-A26F-2B84-8B72AA67225F}"/>
                </a:ext>
              </a:extLst>
            </p:cNvPr>
            <p:cNvSpPr txBox="1"/>
            <p:nvPr/>
          </p:nvSpPr>
          <p:spPr>
            <a:xfrm>
              <a:off x="4747260" y="3604260"/>
              <a:ext cx="23427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AA3AE"/>
                  </a:solidFill>
                  <a:latin typeface="Arial"/>
                  <a:ea typeface="Microsoft YaHei"/>
                  <a:cs typeface="Arial"/>
                </a:rPr>
                <a:t>马长山 · 尚海明 · 许可 · 周光权</a:t>
              </a:r>
            </a:p>
          </p:txBody>
        </p:sp>
      </p:grpSp>
      <p:grpSp>
        <p:nvGrpSpPr>
          <p:cNvPr id="26" name="Group 36">
            <a:extLst>
              <a:ext uri="{FF2B5EF4-FFF2-40B4-BE49-F238E27FC236}">
                <a16:creationId xmlns:a16="http://schemas.microsoft.com/office/drawing/2014/main" id="{2184A7D5-A116-BD5F-C537-AC4C5C31CF2A}"/>
              </a:ext>
            </a:extLst>
          </p:cNvPr>
          <p:cNvGrpSpPr/>
          <p:nvPr/>
        </p:nvGrpSpPr>
        <p:grpSpPr>
          <a:xfrm>
            <a:off x="8382000" y="1524000"/>
            <a:ext cx="3124200" cy="2552700"/>
            <a:chOff x="8382000" y="1524000"/>
            <a:chExt cx="3124200" cy="2552700"/>
          </a:xfrm>
        </p:grpSpPr>
        <p:sp>
          <p:nvSpPr>
            <p:cNvPr id="27" name="Rectangle 28">
              <a:extLst>
                <a:ext uri="{FF2B5EF4-FFF2-40B4-BE49-F238E27FC236}">
                  <a16:creationId xmlns:a16="http://schemas.microsoft.com/office/drawing/2014/main" id="{E7A170A7-F048-631E-D8CD-5C66612854BE}"/>
                </a:ext>
              </a:extLst>
            </p:cNvPr>
            <p:cNvSpPr/>
            <p:nvPr/>
          </p:nvSpPr>
          <p:spPr>
            <a:xfrm>
              <a:off x="8382000" y="1524000"/>
              <a:ext cx="3124200" cy="2552700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14288">
              <a:solidFill>
                <a:srgbClr val="2E7D32"/>
              </a:solidFill>
            </a:ln>
          </p:spPr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A4B9E3D3-0B7E-36BE-14ED-868D904C3247}"/>
                </a:ext>
              </a:extLst>
            </p:cNvPr>
            <p:cNvSpPr/>
            <p:nvPr/>
          </p:nvSpPr>
          <p:spPr>
            <a:xfrm>
              <a:off x="8382000" y="1524000"/>
              <a:ext cx="3124200" cy="571500"/>
            </a:xfrm>
            <a:prstGeom prst="roundRect">
              <a:avLst>
                <a:gd name="adj" fmla="val 26667"/>
              </a:avLst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29" name="Rectangle 30">
              <a:extLst>
                <a:ext uri="{FF2B5EF4-FFF2-40B4-BE49-F238E27FC236}">
                  <a16:creationId xmlns:a16="http://schemas.microsoft.com/office/drawing/2014/main" id="{60894479-3D69-9B9E-89D7-F919ECB58DF0}"/>
                </a:ext>
              </a:extLst>
            </p:cNvPr>
            <p:cNvSpPr/>
            <p:nvPr/>
          </p:nvSpPr>
          <p:spPr>
            <a:xfrm>
              <a:off x="8382000" y="1809750"/>
              <a:ext cx="3124200" cy="28575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30" name="TextBox 31">
              <a:extLst>
                <a:ext uri="{FF2B5EF4-FFF2-40B4-BE49-F238E27FC236}">
                  <a16:creationId xmlns:a16="http://schemas.microsoft.com/office/drawing/2014/main" id="{556E036E-C2A9-63DB-E165-A73ED6B90DEA}"/>
                </a:ext>
              </a:extLst>
            </p:cNvPr>
            <p:cNvSpPr txBox="1"/>
            <p:nvPr/>
          </p:nvSpPr>
          <p:spPr>
            <a:xfrm>
              <a:off x="8587740" y="1710690"/>
              <a:ext cx="1016041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 验证集</a:t>
              </a:r>
            </a:p>
          </p:txBody>
        </p:sp>
        <p:sp>
          <p:nvSpPr>
            <p:cNvPr id="31" name="TextBox 32">
              <a:extLst>
                <a:ext uri="{FF2B5EF4-FFF2-40B4-BE49-F238E27FC236}">
                  <a16:creationId xmlns:a16="http://schemas.microsoft.com/office/drawing/2014/main" id="{9582E0BA-7BFC-F93E-9D78-789B6BE2E129}"/>
                </a:ext>
              </a:extLst>
            </p:cNvPr>
            <p:cNvSpPr txBox="1"/>
            <p:nvPr/>
          </p:nvSpPr>
          <p:spPr>
            <a:xfrm>
              <a:off x="8572500" y="2266950"/>
              <a:ext cx="853297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8 </a:t>
              </a:r>
              <a:r>
                <a:rPr lang="zh-CN" sz="1600" b="1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篇</a:t>
              </a:r>
            </a:p>
          </p:txBody>
        </p:sp>
        <p:sp>
          <p:nvSpPr>
            <p:cNvPr id="32" name="TextBox 33">
              <a:extLst>
                <a:ext uri="{FF2B5EF4-FFF2-40B4-BE49-F238E27FC236}">
                  <a16:creationId xmlns:a16="http://schemas.microsoft.com/office/drawing/2014/main" id="{D8AC609D-EDDE-1B84-20F2-78B1E764236B}"/>
                </a:ext>
              </a:extLst>
            </p:cNvPr>
            <p:cNvSpPr txBox="1"/>
            <p:nvPr/>
          </p:nvSpPr>
          <p:spPr>
            <a:xfrm>
              <a:off x="8592817" y="2877793"/>
              <a:ext cx="2089523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规则冻结后一次性运行，</a:t>
              </a:r>
            </a:p>
          </p:txBody>
        </p:sp>
        <p:sp>
          <p:nvSpPr>
            <p:cNvPr id="33" name="TextBox 34">
              <a:extLst>
                <a:ext uri="{FF2B5EF4-FFF2-40B4-BE49-F238E27FC236}">
                  <a16:creationId xmlns:a16="http://schemas.microsoft.com/office/drawing/2014/main" id="{A386B449-182A-00F7-17F2-87B3F7A259AA}"/>
                </a:ext>
              </a:extLst>
            </p:cNvPr>
            <p:cNvSpPr txBox="1"/>
            <p:nvPr/>
          </p:nvSpPr>
          <p:spPr>
            <a:xfrm>
              <a:off x="8592817" y="3144493"/>
              <a:ext cx="1155906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验证泛化能力</a:t>
              </a:r>
            </a:p>
          </p:txBody>
        </p:sp>
        <p:sp>
          <p:nvSpPr>
            <p:cNvPr id="34" name="TextBox 35">
              <a:extLst>
                <a:ext uri="{FF2B5EF4-FFF2-40B4-BE49-F238E27FC236}">
                  <a16:creationId xmlns:a16="http://schemas.microsoft.com/office/drawing/2014/main" id="{5DAE20CF-5599-4856-E9D1-A5D44B9AA652}"/>
                </a:ext>
              </a:extLst>
            </p:cNvPr>
            <p:cNvSpPr txBox="1"/>
            <p:nvPr/>
          </p:nvSpPr>
          <p:spPr>
            <a:xfrm>
              <a:off x="8595360" y="3604260"/>
              <a:ext cx="207073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AA3AE"/>
                  </a:solidFill>
                  <a:latin typeface="Arial"/>
                  <a:ea typeface="Microsoft YaHei"/>
                  <a:cs typeface="Arial"/>
                </a:rPr>
                <a:t>张凌寒 · 雷磊 · 蒋舸 等 8 篇</a:t>
              </a:r>
            </a:p>
          </p:txBody>
        </p:sp>
      </p:grpSp>
      <p:grpSp>
        <p:nvGrpSpPr>
          <p:cNvPr id="35" name="Group 45">
            <a:extLst>
              <a:ext uri="{FF2B5EF4-FFF2-40B4-BE49-F238E27FC236}">
                <a16:creationId xmlns:a16="http://schemas.microsoft.com/office/drawing/2014/main" id="{DDD25D73-2065-4A12-95ED-CCBE77A7F2F9}"/>
              </a:ext>
            </a:extLst>
          </p:cNvPr>
          <p:cNvGrpSpPr/>
          <p:nvPr/>
        </p:nvGrpSpPr>
        <p:grpSpPr>
          <a:xfrm>
            <a:off x="3994150" y="2749550"/>
            <a:ext cx="4203700" cy="101600"/>
            <a:chOff x="3994150" y="2749550"/>
            <a:chExt cx="4203700" cy="101600"/>
          </a:xfrm>
        </p:grpSpPr>
        <p:grpSp>
          <p:nvGrpSpPr>
            <p:cNvPr id="36" name="Group 40">
              <a:extLst>
                <a:ext uri="{FF2B5EF4-FFF2-40B4-BE49-F238E27FC236}">
                  <a16:creationId xmlns:a16="http://schemas.microsoft.com/office/drawing/2014/main" id="{DEC8ECC0-A580-E736-5890-FBD971290C1A}"/>
                </a:ext>
              </a:extLst>
            </p:cNvPr>
            <p:cNvGrpSpPr/>
            <p:nvPr/>
          </p:nvGrpSpPr>
          <p:grpSpPr>
            <a:xfrm>
              <a:off x="3994150" y="2749550"/>
              <a:ext cx="355600" cy="101600"/>
              <a:chOff x="3994150" y="2749550"/>
              <a:chExt cx="355600" cy="101600"/>
            </a:xfrm>
          </p:grpSpPr>
          <p:sp>
            <p:nvSpPr>
              <p:cNvPr id="41" name="Freeform 37">
                <a:extLst>
                  <a:ext uri="{FF2B5EF4-FFF2-40B4-BE49-F238E27FC236}">
                    <a16:creationId xmlns:a16="http://schemas.microsoft.com/office/drawing/2014/main" id="{B792F5A7-26E2-22D9-8AAF-C679341072C5}"/>
                  </a:ext>
                </a:extLst>
              </p:cNvPr>
              <p:cNvSpPr/>
              <p:nvPr/>
            </p:nvSpPr>
            <p:spPr>
              <a:xfrm>
                <a:off x="3994150" y="2800350"/>
                <a:ext cx="35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55600" h="9525">
                    <a:moveTo>
                      <a:pt x="0" y="0"/>
                    </a:moveTo>
                    <a:lnTo>
                      <a:pt x="355600" y="0"/>
                    </a:lnTo>
                  </a:path>
                </a:pathLst>
              </a:custGeom>
              <a:noFill/>
              <a:ln w="19050">
                <a:solidFill>
                  <a:srgbClr val="9AA3AE"/>
                </a:solidFill>
              </a:ln>
            </p:spPr>
          </p:sp>
          <p:sp>
            <p:nvSpPr>
              <p:cNvPr id="42" name="Freeform 38">
                <a:extLst>
                  <a:ext uri="{FF2B5EF4-FFF2-40B4-BE49-F238E27FC236}">
                    <a16:creationId xmlns:a16="http://schemas.microsoft.com/office/drawing/2014/main" id="{DB5CAEDB-7F82-9124-F331-11DD63929CFC}"/>
                  </a:ext>
                </a:extLst>
              </p:cNvPr>
              <p:cNvSpPr/>
              <p:nvPr/>
            </p:nvSpPr>
            <p:spPr>
              <a:xfrm>
                <a:off x="4248150" y="2800350"/>
                <a:ext cx="1016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50800">
                    <a:moveTo>
                      <a:pt x="0" y="50800"/>
                    </a:moveTo>
                    <a:lnTo>
                      <a:pt x="101600" y="0"/>
                    </a:lnTo>
                  </a:path>
                </a:pathLst>
              </a:custGeom>
              <a:noFill/>
              <a:ln w="19050">
                <a:solidFill>
                  <a:srgbClr val="9AA3AE"/>
                </a:solidFill>
              </a:ln>
            </p:spPr>
          </p:sp>
          <p:sp>
            <p:nvSpPr>
              <p:cNvPr id="43" name="Freeform 39">
                <a:extLst>
                  <a:ext uri="{FF2B5EF4-FFF2-40B4-BE49-F238E27FC236}">
                    <a16:creationId xmlns:a16="http://schemas.microsoft.com/office/drawing/2014/main" id="{4AEB6B16-14D9-C1F2-A75B-858267E2328F}"/>
                  </a:ext>
                </a:extLst>
              </p:cNvPr>
              <p:cNvSpPr/>
              <p:nvPr/>
            </p:nvSpPr>
            <p:spPr>
              <a:xfrm>
                <a:off x="4248150" y="2749550"/>
                <a:ext cx="1016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50800">
                    <a:moveTo>
                      <a:pt x="0" y="0"/>
                    </a:moveTo>
                    <a:lnTo>
                      <a:pt x="101600" y="50800"/>
                    </a:lnTo>
                  </a:path>
                </a:pathLst>
              </a:custGeom>
              <a:noFill/>
              <a:ln w="19050">
                <a:solidFill>
                  <a:srgbClr val="9AA3AE"/>
                </a:solidFill>
              </a:ln>
            </p:spPr>
          </p:sp>
        </p:grpSp>
        <p:grpSp>
          <p:nvGrpSpPr>
            <p:cNvPr id="37" name="Group 44">
              <a:extLst>
                <a:ext uri="{FF2B5EF4-FFF2-40B4-BE49-F238E27FC236}">
                  <a16:creationId xmlns:a16="http://schemas.microsoft.com/office/drawing/2014/main" id="{13CD7A4A-E83C-C7D4-63D0-1CEB05F997BA}"/>
                </a:ext>
              </a:extLst>
            </p:cNvPr>
            <p:cNvGrpSpPr/>
            <p:nvPr/>
          </p:nvGrpSpPr>
          <p:grpSpPr>
            <a:xfrm>
              <a:off x="7842250" y="2749550"/>
              <a:ext cx="355600" cy="101600"/>
              <a:chOff x="7842250" y="2749550"/>
              <a:chExt cx="355600" cy="101600"/>
            </a:xfrm>
          </p:grpSpPr>
          <p:sp>
            <p:nvSpPr>
              <p:cNvPr id="38" name="Freeform 41">
                <a:extLst>
                  <a:ext uri="{FF2B5EF4-FFF2-40B4-BE49-F238E27FC236}">
                    <a16:creationId xmlns:a16="http://schemas.microsoft.com/office/drawing/2014/main" id="{01B35074-4C54-B1DE-827A-3922838C2660}"/>
                  </a:ext>
                </a:extLst>
              </p:cNvPr>
              <p:cNvSpPr/>
              <p:nvPr/>
            </p:nvSpPr>
            <p:spPr>
              <a:xfrm>
                <a:off x="7842250" y="2800350"/>
                <a:ext cx="35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55600" h="9525">
                    <a:moveTo>
                      <a:pt x="0" y="0"/>
                    </a:moveTo>
                    <a:lnTo>
                      <a:pt x="355600" y="0"/>
                    </a:lnTo>
                  </a:path>
                </a:pathLst>
              </a:custGeom>
              <a:noFill/>
              <a:ln w="19050">
                <a:solidFill>
                  <a:srgbClr val="9AA3AE"/>
                </a:solidFill>
              </a:ln>
            </p:spPr>
          </p:sp>
          <p:sp>
            <p:nvSpPr>
              <p:cNvPr id="39" name="Freeform 42">
                <a:extLst>
                  <a:ext uri="{FF2B5EF4-FFF2-40B4-BE49-F238E27FC236}">
                    <a16:creationId xmlns:a16="http://schemas.microsoft.com/office/drawing/2014/main" id="{C6FF7060-FD0C-7F66-1D0A-FE7CE43BD99C}"/>
                  </a:ext>
                </a:extLst>
              </p:cNvPr>
              <p:cNvSpPr/>
              <p:nvPr/>
            </p:nvSpPr>
            <p:spPr>
              <a:xfrm>
                <a:off x="8096250" y="2800350"/>
                <a:ext cx="1016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50800">
                    <a:moveTo>
                      <a:pt x="0" y="50800"/>
                    </a:moveTo>
                    <a:lnTo>
                      <a:pt x="101600" y="0"/>
                    </a:lnTo>
                  </a:path>
                </a:pathLst>
              </a:custGeom>
              <a:noFill/>
              <a:ln w="19050">
                <a:solidFill>
                  <a:srgbClr val="9AA3AE"/>
                </a:solidFill>
              </a:ln>
            </p:spPr>
          </p:sp>
          <p:sp>
            <p:nvSpPr>
              <p:cNvPr id="40" name="Freeform 43">
                <a:extLst>
                  <a:ext uri="{FF2B5EF4-FFF2-40B4-BE49-F238E27FC236}">
                    <a16:creationId xmlns:a16="http://schemas.microsoft.com/office/drawing/2014/main" id="{852444C1-B0FF-4B07-B222-9FAF577CF72C}"/>
                  </a:ext>
                </a:extLst>
              </p:cNvPr>
              <p:cNvSpPr/>
              <p:nvPr/>
            </p:nvSpPr>
            <p:spPr>
              <a:xfrm>
                <a:off x="8096250" y="2749550"/>
                <a:ext cx="1016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50800">
                    <a:moveTo>
                      <a:pt x="0" y="0"/>
                    </a:moveTo>
                    <a:lnTo>
                      <a:pt x="101600" y="50800"/>
                    </a:lnTo>
                  </a:path>
                </a:pathLst>
              </a:custGeom>
              <a:noFill/>
              <a:ln w="19050">
                <a:solidFill>
                  <a:srgbClr val="9AA3AE"/>
                </a:solidFill>
              </a:ln>
            </p:spPr>
          </p:sp>
        </p:grpSp>
      </p:grpSp>
      <p:sp>
        <p:nvSpPr>
          <p:cNvPr id="45" name="Rectangle 46">
            <a:extLst>
              <a:ext uri="{FF2B5EF4-FFF2-40B4-BE49-F238E27FC236}">
                <a16:creationId xmlns:a16="http://schemas.microsoft.com/office/drawing/2014/main" id="{0411F739-5D6C-82E7-D6D1-5696AAE692F4}"/>
              </a:ext>
            </a:extLst>
          </p:cNvPr>
          <p:cNvSpPr/>
          <p:nvPr/>
        </p:nvSpPr>
        <p:spPr>
          <a:xfrm>
            <a:off x="685800" y="4343400"/>
            <a:ext cx="10820400" cy="1242060"/>
          </a:xfrm>
          <a:prstGeom prst="roundRect">
            <a:avLst>
              <a:gd name="adj" fmla="val 8696"/>
            </a:avLst>
          </a:prstGeom>
          <a:solidFill>
            <a:srgbClr val="E07B00">
              <a:alpha val="7000"/>
            </a:srgbClr>
          </a:solidFill>
          <a:ln w="14288">
            <a:solidFill>
              <a:srgbClr val="E07B00"/>
            </a:solidFill>
          </a:ln>
        </p:spPr>
      </p:sp>
      <p:grpSp>
        <p:nvGrpSpPr>
          <p:cNvPr id="46" name="Group 50">
            <a:extLst>
              <a:ext uri="{FF2B5EF4-FFF2-40B4-BE49-F238E27FC236}">
                <a16:creationId xmlns:a16="http://schemas.microsoft.com/office/drawing/2014/main" id="{182E431F-0E18-59E7-B2AF-98153EA5E1E1}"/>
              </a:ext>
            </a:extLst>
          </p:cNvPr>
          <p:cNvGrpSpPr/>
          <p:nvPr/>
        </p:nvGrpSpPr>
        <p:grpSpPr>
          <a:xfrm>
            <a:off x="978339" y="4646098"/>
            <a:ext cx="272162" cy="233823"/>
            <a:chOff x="978339" y="4646098"/>
            <a:chExt cx="272162" cy="233823"/>
          </a:xfrm>
        </p:grpSpPr>
        <p:sp>
          <p:nvSpPr>
            <p:cNvPr id="54" name="Freeform 47">
              <a:extLst>
                <a:ext uri="{FF2B5EF4-FFF2-40B4-BE49-F238E27FC236}">
                  <a16:creationId xmlns:a16="http://schemas.microsoft.com/office/drawing/2014/main" id="{974EAAFA-FE75-E802-FCE0-C93D925FAAA1}"/>
                </a:ext>
              </a:extLst>
            </p:cNvPr>
            <p:cNvSpPr/>
            <p:nvPr/>
          </p:nvSpPr>
          <p:spPr>
            <a:xfrm>
              <a:off x="1114425" y="4731544"/>
              <a:ext cx="9525" cy="53975"/>
            </a:xfrm>
            <a:custGeom>
              <a:avLst/>
              <a:gdLst/>
              <a:ahLst/>
              <a:cxnLst/>
              <a:rect l="l" t="t" r="r" b="b"/>
              <a:pathLst>
                <a:path w="9525" h="53975">
                  <a:moveTo>
                    <a:pt x="0" y="0"/>
                  </a:moveTo>
                  <a:lnTo>
                    <a:pt x="0" y="53975"/>
                  </a:lnTo>
                </a:path>
              </a:pathLst>
            </a:custGeom>
            <a:noFill/>
            <a:ln w="19050">
              <a:solidFill>
                <a:srgbClr val="E07B00"/>
              </a:solidFill>
            </a:ln>
          </p:spPr>
        </p:sp>
        <p:sp>
          <p:nvSpPr>
            <p:cNvPr id="55" name="Freeform 48">
              <a:extLst>
                <a:ext uri="{FF2B5EF4-FFF2-40B4-BE49-F238E27FC236}">
                  <a16:creationId xmlns:a16="http://schemas.microsoft.com/office/drawing/2014/main" id="{B51ED7DD-70B5-771D-1705-AC7B347B0A76}"/>
                </a:ext>
              </a:extLst>
            </p:cNvPr>
            <p:cNvSpPr/>
            <p:nvPr/>
          </p:nvSpPr>
          <p:spPr>
            <a:xfrm>
              <a:off x="978339" y="4646098"/>
              <a:ext cx="272162" cy="233823"/>
            </a:xfrm>
            <a:custGeom>
              <a:avLst/>
              <a:gdLst/>
              <a:ahLst/>
              <a:cxnLst/>
              <a:rect l="l" t="t" r="r" b="b"/>
              <a:pathLst>
                <a:path w="272162" h="233823">
                  <a:moveTo>
                    <a:pt x="113997" y="12458"/>
                  </a:moveTo>
                  <a:lnTo>
                    <a:pt x="4616" y="195082"/>
                  </a:lnTo>
                  <a:cubicBezTo>
                    <a:pt x="28" y="203028"/>
                    <a:pt x="0" y="212812"/>
                    <a:pt x="4543" y="220784"/>
                  </a:cubicBezTo>
                  <a:cubicBezTo>
                    <a:pt x="9086" y="228756"/>
                    <a:pt x="17517" y="233720"/>
                    <a:pt x="26692" y="233823"/>
                  </a:cubicBezTo>
                  <a:lnTo>
                    <a:pt x="245480" y="233823"/>
                  </a:lnTo>
                  <a:cubicBezTo>
                    <a:pt x="254651" y="233717"/>
                    <a:pt x="263078" y="228755"/>
                    <a:pt x="267620" y="220788"/>
                  </a:cubicBezTo>
                  <a:cubicBezTo>
                    <a:pt x="272162" y="212820"/>
                    <a:pt x="272137" y="203041"/>
                    <a:pt x="267556" y="195096"/>
                  </a:cubicBezTo>
                  <a:lnTo>
                    <a:pt x="158175" y="12444"/>
                  </a:lnTo>
                  <a:cubicBezTo>
                    <a:pt x="153495" y="4719"/>
                    <a:pt x="145119" y="0"/>
                    <a:pt x="136086" y="0"/>
                  </a:cubicBezTo>
                  <a:cubicBezTo>
                    <a:pt x="127053" y="0"/>
                    <a:pt x="118677" y="4719"/>
                    <a:pt x="113997" y="12444"/>
                  </a:cubicBezTo>
                </a:path>
              </a:pathLst>
            </a:custGeom>
            <a:noFill/>
            <a:ln w="19050">
              <a:solidFill>
                <a:srgbClr val="E07B00"/>
              </a:solidFill>
            </a:ln>
          </p:spPr>
        </p:sp>
        <p:sp>
          <p:nvSpPr>
            <p:cNvPr id="56" name="Freeform 49">
              <a:extLst>
                <a:ext uri="{FF2B5EF4-FFF2-40B4-BE49-F238E27FC236}">
                  <a16:creationId xmlns:a16="http://schemas.microsoft.com/office/drawing/2014/main" id="{8A879F44-A87F-6E97-1CF2-21ABC2532111}"/>
                </a:ext>
              </a:extLst>
            </p:cNvPr>
            <p:cNvSpPr/>
            <p:nvPr/>
          </p:nvSpPr>
          <p:spPr>
            <a:xfrm>
              <a:off x="1114425" y="482600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135" y="0"/>
                  </a:lnTo>
                </a:path>
              </a:pathLst>
            </a:custGeom>
            <a:noFill/>
            <a:ln w="19050">
              <a:solidFill>
                <a:srgbClr val="E07B00"/>
              </a:solidFill>
            </a:ln>
          </p:spPr>
        </p:sp>
      </p:grpSp>
      <p:sp>
        <p:nvSpPr>
          <p:cNvPr id="47" name="TextBox 51">
            <a:extLst>
              <a:ext uri="{FF2B5EF4-FFF2-40B4-BE49-F238E27FC236}">
                <a16:creationId xmlns:a16="http://schemas.microsoft.com/office/drawing/2014/main" id="{E2357F7E-D0DA-08AB-258E-C8855F00303C}"/>
              </a:ext>
            </a:extLst>
          </p:cNvPr>
          <p:cNvSpPr txBox="1"/>
          <p:nvPr/>
        </p:nvSpPr>
        <p:spPr>
          <a:xfrm>
            <a:off x="1384297" y="4660873"/>
            <a:ext cx="2697468" cy="4064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00" b="1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专家标注负样本 </a:t>
            </a:r>
            <a:r>
              <a:rPr lang="zh-CN" sz="2000" b="1" dirty="0">
                <a:solidFill>
                  <a:srgbClr val="E07B00"/>
                </a:solidFill>
                <a:latin typeface="Arial"/>
                <a:ea typeface="Microsoft YaHei"/>
                <a:cs typeface="Arial"/>
              </a:rPr>
              <a:t>13 篇</a:t>
            </a:r>
          </a:p>
        </p:txBody>
      </p:sp>
      <p:sp>
        <p:nvSpPr>
          <p:cNvPr id="48" name="TextBox 52">
            <a:extLst>
              <a:ext uri="{FF2B5EF4-FFF2-40B4-BE49-F238E27FC236}">
                <a16:creationId xmlns:a16="http://schemas.microsoft.com/office/drawing/2014/main" id="{F1C742B9-2FDA-B187-5CCA-8E73382FF32D}"/>
              </a:ext>
            </a:extLst>
          </p:cNvPr>
          <p:cNvSpPr txBox="1"/>
          <p:nvPr/>
        </p:nvSpPr>
        <p:spPr>
          <a:xfrm>
            <a:off x="972817" y="5144743"/>
            <a:ext cx="5077096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每篇附专家逐维度书面意见，用于验证框架的负面识别能力。</a:t>
            </a:r>
          </a:p>
        </p:txBody>
      </p:sp>
      <p:sp>
        <p:nvSpPr>
          <p:cNvPr id="53" name="TextBox 57">
            <a:extLst>
              <a:ext uri="{FF2B5EF4-FFF2-40B4-BE49-F238E27FC236}">
                <a16:creationId xmlns:a16="http://schemas.microsoft.com/office/drawing/2014/main" id="{1B502297-315E-18B0-E50E-E1CFAC376582}"/>
              </a:ext>
            </a:extLst>
          </p:cNvPr>
          <p:cNvSpPr txBox="1"/>
          <p:nvPr/>
        </p:nvSpPr>
        <p:spPr>
          <a:xfrm>
            <a:off x="10095028" y="5185434"/>
            <a:ext cx="117462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9AA3AE"/>
                </a:solidFill>
                <a:latin typeface="Arial"/>
                <a:ea typeface="Microsoft YaHei"/>
                <a:cs typeface="Arial"/>
              </a:rPr>
              <a:t>初始 3 + 补充 10</a:t>
            </a:r>
          </a:p>
        </p:txBody>
      </p:sp>
    </p:spTree>
    <p:extLst>
      <p:ext uri="{BB962C8B-B14F-4D97-AF65-F5344CB8AC3E}">
        <p14:creationId xmlns:p14="http://schemas.microsoft.com/office/powerpoint/2010/main" val="4216858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7" grpId="0"/>
      <p:bldP spid="26" grpId="0"/>
      <p:bldP spid="3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四阶段评审流程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五轴位置归属度采用 0-10 分结构化评价，不进入六维基础分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1417320"/>
            <a:ext cx="2331720" cy="361188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1600200"/>
            <a:ext cx="20116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C2913B"/>
                </a:solidFill>
                <a:latin typeface="PingFang SC"/>
              </a:rPr>
              <a:t>阶段一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2057400"/>
            <a:ext cx="2011680" cy="5669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5E141F"/>
                </a:solidFill>
                <a:latin typeface="PingFang SC"/>
              </a:rPr>
              <a:t>预检 · 项目口径判断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3063240"/>
            <a:ext cx="1938528" cy="10972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232426"/>
                </a:solidFill>
                <a:latin typeface="PingFang SC"/>
              </a:rPr>
              <a:t>进入评分 / 边界复核 / 明显不适格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71800"/>
            <a:ext cx="3200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841C2A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1417320"/>
            <a:ext cx="2331720" cy="361188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1600200"/>
            <a:ext cx="20116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C2913B"/>
                </a:solidFill>
                <a:latin typeface="PingFang SC"/>
              </a:rPr>
              <a:t>阶段二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9312" y="2057400"/>
            <a:ext cx="2011680" cy="5669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5E141F"/>
                </a:solidFill>
                <a:latin typeface="PingFang SC"/>
              </a:rPr>
              <a:t>六维评分 · 学术质量评价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75887" y="3063240"/>
            <a:ext cx="1938528" cy="10972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232426"/>
                </a:solidFill>
                <a:latin typeface="PingFang SC"/>
              </a:rPr>
              <a:t>0-100 分；构成六维加权基础分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79" y="2971800"/>
            <a:ext cx="3200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841C2A"/>
                </a:solidFill>
                <a:latin typeface="PingFang SC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417320"/>
            <a:ext cx="2331720" cy="361188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600200"/>
            <a:ext cx="20116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C2913B"/>
                </a:solidFill>
                <a:latin typeface="PingFang SC"/>
              </a:rPr>
              <a:t>阶段三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1" y="2057400"/>
            <a:ext cx="2011680" cy="5669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5E141F"/>
                </a:solidFill>
                <a:latin typeface="PingFang SC"/>
              </a:rPr>
              <a:t>五轴位置归属度评价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7" y="3063240"/>
            <a:ext cx="1938528" cy="10972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232426"/>
                </a:solidFill>
                <a:latin typeface="PingFang SC"/>
              </a:rPr>
              <a:t>对象、材料、范畴、解释目标、体系映射；0-10 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2971800"/>
            <a:ext cx="32004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841C2A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52559" y="1417320"/>
            <a:ext cx="2331720" cy="361188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9719" y="1600200"/>
            <a:ext cx="201168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C2913B"/>
                </a:solidFill>
                <a:latin typeface="PingFang SC"/>
              </a:rPr>
              <a:t>阶段四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17151" y="2057400"/>
            <a:ext cx="2011680" cy="56692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5E141F"/>
                </a:solidFill>
                <a:latin typeface="PingFang SC"/>
              </a:rPr>
              <a:t>评价层复核 · 可靠性判断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3728" y="3063240"/>
            <a:ext cx="1938528" cy="10972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232426"/>
                </a:solidFill>
                <a:latin typeface="PingFang SC"/>
              </a:rPr>
              <a:t>标准差、模型分歧、证据缺口与专家终审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760720"/>
            <a:ext cx="1024128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5E141F"/>
                </a:solidFill>
                <a:latin typeface="PingFang SC"/>
              </a:rPr>
              <a:t>核心原则：五轴归属只决定候选资格与知识体系画像，不作为第七个质量维度，不进入六维加权分。</a:t>
            </a:r>
          </a:p>
        </p:txBody>
      </p:sp>
    </p:spTree>
    <p:extLst>
      <p:ext uri="{BB962C8B-B14F-4D97-AF65-F5344CB8AC3E}">
        <p14:creationId xmlns:p14="http://schemas.microsoft.com/office/powerpoint/2010/main" val="94560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E8E23F-C183-E14A-C516-135D0C9E3B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7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77EA38-1F5F-0333-4395-AE6C4D729C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9A3A96-B1DC-BD9F-4962-7DFFAE3B0C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376DC6-850E-188B-F83A-9BEC304296B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六维评价框架</a:t>
            </a:r>
          </a:p>
        </p:txBody>
      </p:sp>
      <p:grpSp>
        <p:nvGrpSpPr>
          <p:cNvPr id="6" name="Group 9">
            <a:extLst>
              <a:ext uri="{FF2B5EF4-FFF2-40B4-BE49-F238E27FC236}">
                <a16:creationId xmlns:a16="http://schemas.microsoft.com/office/drawing/2014/main" id="{B1F6E6E9-057F-37F2-20C1-E27701400544}"/>
              </a:ext>
            </a:extLst>
          </p:cNvPr>
          <p:cNvGrpSpPr/>
          <p:nvPr/>
        </p:nvGrpSpPr>
        <p:grpSpPr>
          <a:xfrm>
            <a:off x="660397" y="863299"/>
            <a:ext cx="4055807" cy="406451"/>
            <a:chOff x="660397" y="1022323"/>
            <a:chExt cx="4055807" cy="406451"/>
          </a:xfrm>
        </p:grpSpPr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B8486521-3100-930E-022F-4304732B3116}"/>
                </a:ext>
              </a:extLst>
            </p:cNvPr>
            <p:cNvSpPr txBox="1"/>
            <p:nvPr/>
          </p:nvSpPr>
          <p:spPr>
            <a:xfrm>
              <a:off x="660397" y="1022323"/>
              <a:ext cx="4055807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三个递进层级</a:t>
              </a:r>
              <a:r>
                <a:rPr lang="zh-CN" sz="16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 不是六个并列指标</a:t>
              </a:r>
            </a:p>
          </p:txBody>
        </p:sp>
      </p:grpSp>
      <p:grpSp>
        <p:nvGrpSpPr>
          <p:cNvPr id="8" name="Group 16">
            <a:extLst>
              <a:ext uri="{FF2B5EF4-FFF2-40B4-BE49-F238E27FC236}">
                <a16:creationId xmlns:a16="http://schemas.microsoft.com/office/drawing/2014/main" id="{9DB9C7DC-6DEA-5080-A23E-3DF764268D1B}"/>
              </a:ext>
            </a:extLst>
          </p:cNvPr>
          <p:cNvGrpSpPr/>
          <p:nvPr/>
        </p:nvGrpSpPr>
        <p:grpSpPr>
          <a:xfrm>
            <a:off x="2095500" y="1345926"/>
            <a:ext cx="3429000" cy="4267200"/>
            <a:chOff x="2095500" y="1504950"/>
            <a:chExt cx="3429000" cy="4267200"/>
          </a:xfrm>
        </p:grpSpPr>
        <p:sp>
          <p:nvSpPr>
            <p:cNvPr id="9" name="Polygon 10">
              <a:extLst>
                <a:ext uri="{FF2B5EF4-FFF2-40B4-BE49-F238E27FC236}">
                  <a16:creationId xmlns:a16="http://schemas.microsoft.com/office/drawing/2014/main" id="{E754B73E-5B0C-AAC9-D829-3549631BF383}"/>
                </a:ext>
              </a:extLst>
            </p:cNvPr>
            <p:cNvSpPr/>
            <p:nvPr/>
          </p:nvSpPr>
          <p:spPr>
            <a:xfrm>
              <a:off x="3238500" y="1504950"/>
              <a:ext cx="1143000" cy="1333500"/>
            </a:xfrm>
            <a:custGeom>
              <a:avLst/>
              <a:gdLst/>
              <a:ahLst/>
              <a:cxnLst/>
              <a:rect l="l" t="t" r="r" b="b"/>
              <a:pathLst>
                <a:path w="1143000" h="1333500">
                  <a:moveTo>
                    <a:pt x="571500" y="0"/>
                  </a:moveTo>
                  <a:lnTo>
                    <a:pt x="0" y="1333500"/>
                  </a:lnTo>
                  <a:lnTo>
                    <a:pt x="1143000" y="1333500"/>
                  </a:lnTo>
                  <a:close/>
                </a:path>
              </a:pathLst>
            </a:custGeom>
            <a:solidFill>
              <a:srgbClr val="44546A"/>
            </a:solidFill>
            <a:ln>
              <a:noFill/>
            </a:ln>
          </p:spPr>
        </p:sp>
        <p:sp>
          <p:nvSpPr>
            <p:cNvPr id="10" name="TextBox 11">
              <a:extLst>
                <a:ext uri="{FF2B5EF4-FFF2-40B4-BE49-F238E27FC236}">
                  <a16:creationId xmlns:a16="http://schemas.microsoft.com/office/drawing/2014/main" id="{16A6C275-85C6-9FB4-A1CB-E471E17491D2}"/>
                </a:ext>
              </a:extLst>
            </p:cNvPr>
            <p:cNvSpPr txBox="1"/>
            <p:nvPr/>
          </p:nvSpPr>
          <p:spPr>
            <a:xfrm>
              <a:off x="3302068" y="2534893"/>
              <a:ext cx="1015864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风险与延展</a:t>
              </a:r>
            </a:p>
          </p:txBody>
        </p:sp>
        <p:sp>
          <p:nvSpPr>
            <p:cNvPr id="11" name="Polygon 12">
              <a:extLst>
                <a:ext uri="{FF2B5EF4-FFF2-40B4-BE49-F238E27FC236}">
                  <a16:creationId xmlns:a16="http://schemas.microsoft.com/office/drawing/2014/main" id="{CC720B4F-F56A-A5D1-1612-35AC7DE0C7B4}"/>
                </a:ext>
              </a:extLst>
            </p:cNvPr>
            <p:cNvSpPr/>
            <p:nvPr/>
          </p:nvSpPr>
          <p:spPr>
            <a:xfrm>
              <a:off x="2667000" y="2952750"/>
              <a:ext cx="2286000" cy="1352550"/>
            </a:xfrm>
            <a:custGeom>
              <a:avLst/>
              <a:gdLst/>
              <a:ahLst/>
              <a:cxnLst/>
              <a:rect l="l" t="t" r="r" b="b"/>
              <a:pathLst>
                <a:path w="2286000" h="1352550">
                  <a:moveTo>
                    <a:pt x="571500" y="0"/>
                  </a:moveTo>
                  <a:lnTo>
                    <a:pt x="1714500" y="0"/>
                  </a:lnTo>
                  <a:lnTo>
                    <a:pt x="2286000" y="1352550"/>
                  </a:lnTo>
                  <a:lnTo>
                    <a:pt x="0" y="1352550"/>
                  </a:lnTo>
                  <a:close/>
                </a:path>
              </a:pathLst>
            </a:custGeom>
            <a:solidFill>
              <a:srgbClr val="1F4D78"/>
            </a:solidFill>
            <a:ln>
              <a:noFill/>
            </a:ln>
          </p:spPr>
        </p:sp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F25CEEDF-DD2A-D34C-67AB-E129AD553787}"/>
                </a:ext>
              </a:extLst>
            </p:cNvPr>
            <p:cNvSpPr txBox="1"/>
            <p:nvPr/>
          </p:nvSpPr>
          <p:spPr>
            <a:xfrm>
              <a:off x="3157061" y="3539490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工具与论证</a:t>
              </a:r>
            </a:p>
          </p:txBody>
        </p:sp>
        <p:sp>
          <p:nvSpPr>
            <p:cNvPr id="13" name="Polygon 14">
              <a:extLst>
                <a:ext uri="{FF2B5EF4-FFF2-40B4-BE49-F238E27FC236}">
                  <a16:creationId xmlns:a16="http://schemas.microsoft.com/office/drawing/2014/main" id="{F8737B50-73A5-9515-DAFE-7069FF8E0F80}"/>
                </a:ext>
              </a:extLst>
            </p:cNvPr>
            <p:cNvSpPr/>
            <p:nvPr/>
          </p:nvSpPr>
          <p:spPr>
            <a:xfrm>
              <a:off x="2095500" y="4419600"/>
              <a:ext cx="3429000" cy="1352550"/>
            </a:xfrm>
            <a:custGeom>
              <a:avLst/>
              <a:gdLst/>
              <a:ahLst/>
              <a:cxnLst/>
              <a:rect l="l" t="t" r="r" b="b"/>
              <a:pathLst>
                <a:path w="3429000" h="1352550">
                  <a:moveTo>
                    <a:pt x="571500" y="0"/>
                  </a:moveTo>
                  <a:lnTo>
                    <a:pt x="2857500" y="0"/>
                  </a:lnTo>
                  <a:lnTo>
                    <a:pt x="3429000" y="1352550"/>
                  </a:lnTo>
                  <a:lnTo>
                    <a:pt x="0" y="1352550"/>
                  </a:lnTo>
                  <a:close/>
                </a:path>
              </a:pathLst>
            </a:custGeom>
            <a:solidFill>
              <a:srgbClr val="C8161E"/>
            </a:solidFill>
            <a:ln>
              <a:noFill/>
            </a:ln>
          </p:spPr>
        </p:sp>
        <p:sp>
          <p:nvSpPr>
            <p:cNvPr id="14" name="TextBox 15">
              <a:extLst>
                <a:ext uri="{FF2B5EF4-FFF2-40B4-BE49-F238E27FC236}">
                  <a16:creationId xmlns:a16="http://schemas.microsoft.com/office/drawing/2014/main" id="{ACF0B818-E29C-08EE-717B-2476EA89A70D}"/>
                </a:ext>
              </a:extLst>
            </p:cNvPr>
            <p:cNvSpPr txBox="1"/>
            <p:nvPr/>
          </p:nvSpPr>
          <p:spPr>
            <a:xfrm>
              <a:off x="3157061" y="5006340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命题与定位</a:t>
              </a:r>
            </a:p>
          </p:txBody>
        </p:sp>
      </p:grpSp>
      <p:grpSp>
        <p:nvGrpSpPr>
          <p:cNvPr id="15" name="Group 21">
            <a:extLst>
              <a:ext uri="{FF2B5EF4-FFF2-40B4-BE49-F238E27FC236}">
                <a16:creationId xmlns:a16="http://schemas.microsoft.com/office/drawing/2014/main" id="{D8C1C6B1-86BA-E784-FFE3-DAFCD893897F}"/>
              </a:ext>
            </a:extLst>
          </p:cNvPr>
          <p:cNvGrpSpPr/>
          <p:nvPr/>
        </p:nvGrpSpPr>
        <p:grpSpPr>
          <a:xfrm>
            <a:off x="6286500" y="1326876"/>
            <a:ext cx="5219700" cy="1352550"/>
            <a:chOff x="6286500" y="1485900"/>
            <a:chExt cx="5219700" cy="1352550"/>
          </a:xfrm>
        </p:grpSpPr>
        <p:sp>
          <p:nvSpPr>
            <p:cNvPr id="16" name="Rectangle 17">
              <a:extLst>
                <a:ext uri="{FF2B5EF4-FFF2-40B4-BE49-F238E27FC236}">
                  <a16:creationId xmlns:a16="http://schemas.microsoft.com/office/drawing/2014/main" id="{2D48971F-D1C5-AD42-A521-5A701FCEA03C}"/>
                </a:ext>
              </a:extLst>
            </p:cNvPr>
            <p:cNvSpPr/>
            <p:nvPr/>
          </p:nvSpPr>
          <p:spPr>
            <a:xfrm>
              <a:off x="6286500" y="1485900"/>
              <a:ext cx="5219700" cy="1352550"/>
            </a:xfrm>
            <a:prstGeom prst="roundRect">
              <a:avLst>
                <a:gd name="adj" fmla="val 11268"/>
              </a:avLst>
            </a:prstGeom>
            <a:solidFill>
              <a:srgbClr val="44546A">
                <a:alpha val="6000"/>
              </a:srgbClr>
            </a:solidFill>
            <a:ln w="14288">
              <a:solidFill>
                <a:srgbClr val="44546A"/>
              </a:solidFill>
            </a:ln>
          </p:spPr>
        </p:sp>
        <p:sp>
          <p:nvSpPr>
            <p:cNvPr id="17" name="TextBox 18">
              <a:extLst>
                <a:ext uri="{FF2B5EF4-FFF2-40B4-BE49-F238E27FC236}">
                  <a16:creationId xmlns:a16="http://schemas.microsoft.com/office/drawing/2014/main" id="{AD4C4B7B-D9B9-B3CE-3450-D0ACA9CD4281}"/>
                </a:ext>
              </a:extLst>
            </p:cNvPr>
            <p:cNvSpPr txBox="1"/>
            <p:nvPr/>
          </p:nvSpPr>
          <p:spPr>
            <a:xfrm>
              <a:off x="6530340" y="1672590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44546A"/>
                  </a:solidFill>
                  <a:latin typeface="Arial"/>
                  <a:ea typeface="Microsoft YaHei"/>
                  <a:cs typeface="Arial"/>
                </a:rPr>
                <a:t>风险与延展</a:t>
              </a:r>
            </a:p>
          </p:txBody>
        </p:sp>
        <p:sp>
          <p:nvSpPr>
            <p:cNvPr id="18" name="TextBox 19">
              <a:extLst>
                <a:ext uri="{FF2B5EF4-FFF2-40B4-BE49-F238E27FC236}">
                  <a16:creationId xmlns:a16="http://schemas.microsoft.com/office/drawing/2014/main" id="{B99A3BDD-1B49-11DE-7394-D7572A448965}"/>
                </a:ext>
              </a:extLst>
            </p:cNvPr>
            <p:cNvSpPr txBox="1"/>
            <p:nvPr/>
          </p:nvSpPr>
          <p:spPr>
            <a:xfrm>
              <a:off x="6532883" y="2132357"/>
              <a:ext cx="1469922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学术共识度</a:t>
              </a:r>
              <a:r>
                <a:rPr lang="zh-CN" sz="1600" b="1" dirty="0">
                  <a:solidFill>
                    <a:srgbClr val="44546A"/>
                  </a:solidFill>
                  <a:latin typeface="Arial"/>
                  <a:ea typeface="Microsoft YaHei"/>
                  <a:cs typeface="Arial"/>
                </a:rPr>
                <a:t> 10%</a:t>
              </a:r>
            </a:p>
          </p:txBody>
        </p:sp>
        <p:sp>
          <p:nvSpPr>
            <p:cNvPr id="19" name="TextBox 20">
              <a:extLst>
                <a:ext uri="{FF2B5EF4-FFF2-40B4-BE49-F238E27FC236}">
                  <a16:creationId xmlns:a16="http://schemas.microsoft.com/office/drawing/2014/main" id="{E05F9DBC-E213-E8DF-9EB0-F75CC23A993D}"/>
                </a:ext>
              </a:extLst>
            </p:cNvPr>
            <p:cNvSpPr txBox="1"/>
            <p:nvPr/>
          </p:nvSpPr>
          <p:spPr>
            <a:xfrm>
              <a:off x="6532883" y="2475257"/>
              <a:ext cx="1405924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前瞻延展性</a:t>
              </a:r>
              <a:r>
                <a:rPr lang="zh-CN" sz="1600" b="1" dirty="0">
                  <a:solidFill>
                    <a:srgbClr val="44546A"/>
                  </a:solidFill>
                  <a:latin typeface="Arial"/>
                  <a:ea typeface="Microsoft YaHei"/>
                  <a:cs typeface="Arial"/>
                </a:rPr>
                <a:t> 5%</a:t>
              </a:r>
            </a:p>
          </p:txBody>
        </p:sp>
      </p:grpSp>
      <p:grpSp>
        <p:nvGrpSpPr>
          <p:cNvPr id="20" name="Group 26">
            <a:extLst>
              <a:ext uri="{FF2B5EF4-FFF2-40B4-BE49-F238E27FC236}">
                <a16:creationId xmlns:a16="http://schemas.microsoft.com/office/drawing/2014/main" id="{158B84A6-B031-58D4-36C5-D075E23CDF96}"/>
              </a:ext>
            </a:extLst>
          </p:cNvPr>
          <p:cNvGrpSpPr/>
          <p:nvPr/>
        </p:nvGrpSpPr>
        <p:grpSpPr>
          <a:xfrm>
            <a:off x="6286500" y="2793726"/>
            <a:ext cx="5219700" cy="1352550"/>
            <a:chOff x="6286500" y="2952750"/>
            <a:chExt cx="5219700" cy="1352550"/>
          </a:xfrm>
        </p:grpSpPr>
        <p:sp>
          <p:nvSpPr>
            <p:cNvPr id="21" name="Rectangle 22">
              <a:extLst>
                <a:ext uri="{FF2B5EF4-FFF2-40B4-BE49-F238E27FC236}">
                  <a16:creationId xmlns:a16="http://schemas.microsoft.com/office/drawing/2014/main" id="{9D92E6CE-C2F4-4B81-2F73-D4AC8F5DF2D5}"/>
                </a:ext>
              </a:extLst>
            </p:cNvPr>
            <p:cNvSpPr/>
            <p:nvPr/>
          </p:nvSpPr>
          <p:spPr>
            <a:xfrm>
              <a:off x="6286500" y="2952750"/>
              <a:ext cx="5219700" cy="1352550"/>
            </a:xfrm>
            <a:prstGeom prst="roundRect">
              <a:avLst>
                <a:gd name="adj" fmla="val 11268"/>
              </a:avLst>
            </a:prstGeom>
            <a:solidFill>
              <a:srgbClr val="1F4D78">
                <a:alpha val="6000"/>
              </a:srgbClr>
            </a:solidFill>
            <a:ln w="14288">
              <a:solidFill>
                <a:srgbClr val="1F4D78"/>
              </a:solidFill>
            </a:ln>
          </p:spPr>
        </p:sp>
        <p:sp>
          <p:nvSpPr>
            <p:cNvPr id="22" name="TextBox 23">
              <a:extLst>
                <a:ext uri="{FF2B5EF4-FFF2-40B4-BE49-F238E27FC236}">
                  <a16:creationId xmlns:a16="http://schemas.microsoft.com/office/drawing/2014/main" id="{2C306BAE-AB06-D4EA-F132-FD2E7679E833}"/>
                </a:ext>
              </a:extLst>
            </p:cNvPr>
            <p:cNvSpPr txBox="1"/>
            <p:nvPr/>
          </p:nvSpPr>
          <p:spPr>
            <a:xfrm>
              <a:off x="6530340" y="3139440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工具与论证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37BFD686-0959-5C29-785E-3ADF47A3F69F}"/>
                </a:ext>
              </a:extLst>
            </p:cNvPr>
            <p:cNvSpPr txBox="1"/>
            <p:nvPr/>
          </p:nvSpPr>
          <p:spPr>
            <a:xfrm>
              <a:off x="6532883" y="3599207"/>
              <a:ext cx="1469922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理论建构力</a:t>
              </a:r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 15%</a:t>
              </a:r>
            </a:p>
          </p:txBody>
        </p:sp>
        <p:sp>
          <p:nvSpPr>
            <p:cNvPr id="24" name="TextBox 25">
              <a:extLst>
                <a:ext uri="{FF2B5EF4-FFF2-40B4-BE49-F238E27FC236}">
                  <a16:creationId xmlns:a16="http://schemas.microsoft.com/office/drawing/2014/main" id="{62A450C6-0F7C-B62A-BD66-5B4D5F11A161}"/>
                </a:ext>
              </a:extLst>
            </p:cNvPr>
            <p:cNvSpPr txBox="1"/>
            <p:nvPr/>
          </p:nvSpPr>
          <p:spPr>
            <a:xfrm>
              <a:off x="6532883" y="3942107"/>
              <a:ext cx="1523254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逻辑连贯性</a:t>
              </a:r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 20%</a:t>
              </a:r>
            </a:p>
          </p:txBody>
        </p:sp>
      </p:grpSp>
      <p:grpSp>
        <p:nvGrpSpPr>
          <p:cNvPr id="25" name="Group 31">
            <a:extLst>
              <a:ext uri="{FF2B5EF4-FFF2-40B4-BE49-F238E27FC236}">
                <a16:creationId xmlns:a16="http://schemas.microsoft.com/office/drawing/2014/main" id="{3B08524D-D981-967B-E0E2-10EC609EFB5C}"/>
              </a:ext>
            </a:extLst>
          </p:cNvPr>
          <p:cNvGrpSpPr/>
          <p:nvPr/>
        </p:nvGrpSpPr>
        <p:grpSpPr>
          <a:xfrm>
            <a:off x="6286500" y="4260576"/>
            <a:ext cx="5219700" cy="1352550"/>
            <a:chOff x="6286500" y="4419600"/>
            <a:chExt cx="5219700" cy="1352550"/>
          </a:xfrm>
        </p:grpSpPr>
        <p:sp>
          <p:nvSpPr>
            <p:cNvPr id="26" name="Rectangle 27">
              <a:extLst>
                <a:ext uri="{FF2B5EF4-FFF2-40B4-BE49-F238E27FC236}">
                  <a16:creationId xmlns:a16="http://schemas.microsoft.com/office/drawing/2014/main" id="{4C209BF0-C90A-B4D1-4092-509EC228CCDB}"/>
                </a:ext>
              </a:extLst>
            </p:cNvPr>
            <p:cNvSpPr/>
            <p:nvPr/>
          </p:nvSpPr>
          <p:spPr>
            <a:xfrm>
              <a:off x="6286500" y="4419600"/>
              <a:ext cx="5219700" cy="1352550"/>
            </a:xfrm>
            <a:prstGeom prst="roundRect">
              <a:avLst>
                <a:gd name="adj" fmla="val 11268"/>
              </a:avLst>
            </a:prstGeom>
            <a:solidFill>
              <a:srgbClr val="C8161E">
                <a:alpha val="6000"/>
              </a:srgbClr>
            </a:solidFill>
            <a:ln w="14288">
              <a:solidFill>
                <a:srgbClr val="C8161E"/>
              </a:solidFill>
            </a:ln>
          </p:spPr>
        </p:sp>
        <p:sp>
          <p:nvSpPr>
            <p:cNvPr id="27" name="TextBox 28">
              <a:extLst>
                <a:ext uri="{FF2B5EF4-FFF2-40B4-BE49-F238E27FC236}">
                  <a16:creationId xmlns:a16="http://schemas.microsoft.com/office/drawing/2014/main" id="{FDB66E6A-A1D8-94B0-ABBF-C56443E6E446}"/>
                </a:ext>
              </a:extLst>
            </p:cNvPr>
            <p:cNvSpPr txBox="1"/>
            <p:nvPr/>
          </p:nvSpPr>
          <p:spPr>
            <a:xfrm>
              <a:off x="6530340" y="4606290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命题与定位</a:t>
              </a:r>
            </a:p>
          </p:txBody>
        </p:sp>
        <p:sp>
          <p:nvSpPr>
            <p:cNvPr id="28" name="TextBox 29">
              <a:extLst>
                <a:ext uri="{FF2B5EF4-FFF2-40B4-BE49-F238E27FC236}">
                  <a16:creationId xmlns:a16="http://schemas.microsoft.com/office/drawing/2014/main" id="{7087B4F6-A5F4-810A-FC89-06D9E612422D}"/>
                </a:ext>
              </a:extLst>
            </p:cNvPr>
            <p:cNvSpPr txBox="1"/>
            <p:nvPr/>
          </p:nvSpPr>
          <p:spPr>
            <a:xfrm>
              <a:off x="6532883" y="5066057"/>
              <a:ext cx="1523254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研究创新性</a:t>
              </a:r>
              <a:r>
                <a:rPr lang="zh-CN" sz="16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 30%</a:t>
              </a:r>
            </a:p>
          </p:txBody>
        </p:sp>
        <p:sp>
          <p:nvSpPr>
            <p:cNvPr id="29" name="TextBox 30">
              <a:extLst>
                <a:ext uri="{FF2B5EF4-FFF2-40B4-BE49-F238E27FC236}">
                  <a16:creationId xmlns:a16="http://schemas.microsoft.com/office/drawing/2014/main" id="{C793D22B-21D2-78BF-502D-0F77749B2D1E}"/>
                </a:ext>
              </a:extLst>
            </p:cNvPr>
            <p:cNvSpPr txBox="1"/>
            <p:nvPr/>
          </p:nvSpPr>
          <p:spPr>
            <a:xfrm>
              <a:off x="6532883" y="5408957"/>
              <a:ext cx="1523254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现状洞察度</a:t>
              </a:r>
              <a:r>
                <a:rPr lang="zh-CN" sz="16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 20%</a:t>
              </a:r>
            </a:p>
          </p:txBody>
        </p:sp>
      </p:grpSp>
      <p:grpSp>
        <p:nvGrpSpPr>
          <p:cNvPr id="30" name="Group 34">
            <a:extLst>
              <a:ext uri="{FF2B5EF4-FFF2-40B4-BE49-F238E27FC236}">
                <a16:creationId xmlns:a16="http://schemas.microsoft.com/office/drawing/2014/main" id="{F6073157-4435-204F-828B-3491FE794AF5}"/>
              </a:ext>
            </a:extLst>
          </p:cNvPr>
          <p:cNvGrpSpPr/>
          <p:nvPr/>
        </p:nvGrpSpPr>
        <p:grpSpPr>
          <a:xfrm>
            <a:off x="685800" y="5860776"/>
            <a:ext cx="10820400" cy="533400"/>
            <a:chOff x="685800" y="6019800"/>
            <a:chExt cx="10820400" cy="533400"/>
          </a:xfrm>
        </p:grpSpPr>
        <p:sp>
          <p:nvSpPr>
            <p:cNvPr id="31" name="Rectangle 32">
              <a:extLst>
                <a:ext uri="{FF2B5EF4-FFF2-40B4-BE49-F238E27FC236}">
                  <a16:creationId xmlns:a16="http://schemas.microsoft.com/office/drawing/2014/main" id="{B0C27861-FD75-ECF6-25E6-577EA97E1DDB}"/>
                </a:ext>
              </a:extLst>
            </p:cNvPr>
            <p:cNvSpPr/>
            <p:nvPr/>
          </p:nvSpPr>
          <p:spPr>
            <a:xfrm>
              <a:off x="685800" y="6019800"/>
              <a:ext cx="10820400" cy="533400"/>
            </a:xfrm>
            <a:prstGeom prst="roundRect">
              <a:avLst>
                <a:gd name="adj" fmla="val 21429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32" name="TextBox 33">
              <a:extLst>
                <a:ext uri="{FF2B5EF4-FFF2-40B4-BE49-F238E27FC236}">
                  <a16:creationId xmlns:a16="http://schemas.microsoft.com/office/drawing/2014/main" id="{5E8A320D-7995-D088-6377-9DD768E9F841}"/>
                </a:ext>
              </a:extLst>
            </p:cNvPr>
            <p:cNvSpPr txBox="1"/>
            <p:nvPr/>
          </p:nvSpPr>
          <p:spPr>
            <a:xfrm>
              <a:off x="896617" y="6135758"/>
              <a:ext cx="9233297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关键设计原则——</a:t>
              </a:r>
              <a:r>
                <a:rPr lang="zh-CN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不得倒置</a:t>
              </a:r>
              <a:r>
                <a:rPr lang="zh-CN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：不因结论正确补救创新不足，不因涉及中国议题自动给高分。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116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5" grpId="0"/>
      <p:bldP spid="20" grpId="0"/>
      <p:bldP spid="25" grpId="0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概念操作化：把主观判断变成可复核证据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六维评价判断学术质量；五轴归属判断知识单元能否进入中国法学自主知识体系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1234440"/>
            <a:ext cx="5074920" cy="16002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" y="1362456"/>
            <a:ext cx="4114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C2913B"/>
                </a:solidFill>
                <a:latin typeface="PingFang SC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44168" y="1353312"/>
            <a:ext cx="41605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5E141F"/>
                </a:solidFill>
                <a:latin typeface="PingFang SC"/>
              </a:rPr>
              <a:t>枢纽性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4168" y="1801368"/>
            <a:ext cx="4160520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232426"/>
                </a:solidFill>
                <a:latin typeface="PingFang SC"/>
              </a:rPr>
              <a:t>影响范围、争议焦点、理论基础、制度连锁等可检查标准。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1234440"/>
            <a:ext cx="5074920" cy="16002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8504" y="1362456"/>
            <a:ext cx="4114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C2913B"/>
                </a:solidFill>
                <a:latin typeface="PingFang SC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1353312"/>
            <a:ext cx="41605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5E141F"/>
                </a:solidFill>
                <a:latin typeface="PingFang SC"/>
              </a:rPr>
              <a:t>可争辩法学问题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30568" y="1801368"/>
            <a:ext cx="4160520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232426"/>
                </a:solidFill>
                <a:latin typeface="PingFang SC"/>
              </a:rPr>
              <a:t>必须有问题句、法律规范关联、理论分歧，并区别于政策倡导。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3383280"/>
            <a:ext cx="5074920" cy="16002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" y="3511296"/>
            <a:ext cx="4114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C2913B"/>
                </a:solidFill>
                <a:latin typeface="PingFang SC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44168" y="3502152"/>
            <a:ext cx="41605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5E141F"/>
                </a:solidFill>
                <a:latin typeface="PingFang SC"/>
              </a:rPr>
              <a:t>原创性理论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4168" y="3950208"/>
            <a:ext cx="4160520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232426"/>
                </a:solidFill>
                <a:latin typeface="PingFang SC"/>
              </a:rPr>
              <a:t>看新命题、系统论证框架、对既有理论的可定位突破。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3383280"/>
            <a:ext cx="5074920" cy="16002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18504" y="3511296"/>
            <a:ext cx="41148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C2913B"/>
                </a:solidFill>
                <a:latin typeface="PingFang SC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502152"/>
            <a:ext cx="41605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500" b="1">
                <a:solidFill>
                  <a:srgbClr val="5E141F"/>
                </a:solidFill>
                <a:latin typeface="PingFang SC"/>
              </a:rPr>
              <a:t>五轴位置归属度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0568" y="3950208"/>
            <a:ext cx="4160520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19" b="0">
                <a:solidFill>
                  <a:srgbClr val="232426"/>
                </a:solidFill>
                <a:latin typeface="PingFang SC"/>
              </a:rPr>
              <a:t>对象、材料、范畴、解释目标、体系映射五轴各 0/1/2 分。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5715000"/>
            <a:ext cx="104241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5E141F"/>
                </a:solidFill>
                <a:latin typeface="PingFang SC"/>
              </a:rPr>
              <a:t>意义：AI 不直接裁定“好不好”，而是把问题、证据、分歧和归属位置拆成可检查字段，供专家复核。</a:t>
            </a:r>
          </a:p>
        </p:txBody>
      </p:sp>
    </p:spTree>
    <p:extLst>
      <p:ext uri="{BB962C8B-B14F-4D97-AF65-F5344CB8AC3E}">
        <p14:creationId xmlns:p14="http://schemas.microsoft.com/office/powerpoint/2010/main" val="3924535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25" grpId="0"/>
      <p:bldP spid="41" grpId="0"/>
      <p:bldP spid="54" grpId="0"/>
      <p:bldP spid="6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AE66BD-4E9C-1242-8CF7-377B152AEB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9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29B98E-B4C0-C074-06C7-F31E1EBD6A0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37262-F3F9-E505-2637-61C06F1736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17E426-1679-6618-E689-10333E8378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多模型并发评审设计</a:t>
            </a:r>
          </a:p>
        </p:txBody>
      </p:sp>
      <p:grpSp>
        <p:nvGrpSpPr>
          <p:cNvPr id="6" name="Group 10">
            <a:extLst>
              <a:ext uri="{FF2B5EF4-FFF2-40B4-BE49-F238E27FC236}">
                <a16:creationId xmlns:a16="http://schemas.microsoft.com/office/drawing/2014/main" id="{F0DF04E0-FD2C-3ECF-AA1C-F84A56494EA1}"/>
              </a:ext>
            </a:extLst>
          </p:cNvPr>
          <p:cNvGrpSpPr/>
          <p:nvPr/>
        </p:nvGrpSpPr>
        <p:grpSpPr>
          <a:xfrm>
            <a:off x="685800" y="1228725"/>
            <a:ext cx="10820400" cy="581001"/>
            <a:chOff x="685800" y="1228725"/>
            <a:chExt cx="10820400" cy="581001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AA4D3532-B48B-F734-83D1-447114C9EAEE}"/>
                </a:ext>
              </a:extLst>
            </p:cNvPr>
            <p:cNvSpPr/>
            <p:nvPr/>
          </p:nvSpPr>
          <p:spPr>
            <a:xfrm>
              <a:off x="685800" y="1228725"/>
              <a:ext cx="10820400" cy="571500"/>
            </a:xfrm>
            <a:prstGeom prst="roundRect">
              <a:avLst>
                <a:gd name="adj" fmla="val 13333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8" name="TextBox 9">
              <a:extLst>
                <a:ext uri="{FF2B5EF4-FFF2-40B4-BE49-F238E27FC236}">
                  <a16:creationId xmlns:a16="http://schemas.microsoft.com/office/drawing/2014/main" id="{3409A54E-2B11-40AF-F9B0-591A47D5341F}"/>
                </a:ext>
              </a:extLst>
            </p:cNvPr>
            <p:cNvSpPr txBox="1"/>
            <p:nvPr/>
          </p:nvSpPr>
          <p:spPr>
            <a:xfrm>
              <a:off x="3057329" y="1362737"/>
              <a:ext cx="6077342" cy="4469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每篇论文 × 6 维度 × 4 模型 = 24 次 API 调用</a:t>
              </a:r>
            </a:p>
          </p:txBody>
        </p:sp>
      </p:grpSp>
      <p:grpSp>
        <p:nvGrpSpPr>
          <p:cNvPr id="9" name="Group 23">
            <a:extLst>
              <a:ext uri="{FF2B5EF4-FFF2-40B4-BE49-F238E27FC236}">
                <a16:creationId xmlns:a16="http://schemas.microsoft.com/office/drawing/2014/main" id="{76DFFF1E-7F30-238A-8D01-4ACF73D1A5B4}"/>
              </a:ext>
            </a:extLst>
          </p:cNvPr>
          <p:cNvGrpSpPr/>
          <p:nvPr/>
        </p:nvGrpSpPr>
        <p:grpSpPr>
          <a:xfrm>
            <a:off x="685800" y="2028825"/>
            <a:ext cx="5257800" cy="1828800"/>
            <a:chOff x="685800" y="2028825"/>
            <a:chExt cx="5257800" cy="1828800"/>
          </a:xfrm>
        </p:grpSpPr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E9FDF15D-8AFF-FAAA-7B0E-59D0D906DE6C}"/>
                </a:ext>
              </a:extLst>
            </p:cNvPr>
            <p:cNvSpPr/>
            <p:nvPr/>
          </p:nvSpPr>
          <p:spPr>
            <a:xfrm>
              <a:off x="685800" y="2028825"/>
              <a:ext cx="5257800" cy="1828800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14288">
              <a:solidFill>
                <a:srgbClr val="D9DEE5"/>
              </a:solidFill>
            </a:ln>
          </p:spPr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4B6CED91-64B5-E625-8CCE-D1B8DEE9D552}"/>
                </a:ext>
              </a:extLst>
            </p:cNvPr>
            <p:cNvSpPr/>
            <p:nvPr/>
          </p:nvSpPr>
          <p:spPr>
            <a:xfrm>
              <a:off x="685800" y="2028825"/>
              <a:ext cx="5257800" cy="457200"/>
            </a:xfrm>
            <a:prstGeom prst="roundRect">
              <a:avLst>
                <a:gd name="adj" fmla="val 16667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12" name="Rectangle 13">
              <a:extLst>
                <a:ext uri="{FF2B5EF4-FFF2-40B4-BE49-F238E27FC236}">
                  <a16:creationId xmlns:a16="http://schemas.microsoft.com/office/drawing/2014/main" id="{BD38F818-9FB3-4EB3-6D7A-9F2E49E85409}"/>
                </a:ext>
              </a:extLst>
            </p:cNvPr>
            <p:cNvSpPr/>
            <p:nvPr/>
          </p:nvSpPr>
          <p:spPr>
            <a:xfrm>
              <a:off x="685800" y="2428875"/>
              <a:ext cx="5257800" cy="57150"/>
            </a:xfrm>
            <a:prstGeom prst="rect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13" name="TextBox 14">
              <a:extLst>
                <a:ext uri="{FF2B5EF4-FFF2-40B4-BE49-F238E27FC236}">
                  <a16:creationId xmlns:a16="http://schemas.microsoft.com/office/drawing/2014/main" id="{1AE2B79F-9CB3-5E68-5773-011D063F48C6}"/>
                </a:ext>
              </a:extLst>
            </p:cNvPr>
            <p:cNvSpPr txBox="1"/>
            <p:nvPr/>
          </p:nvSpPr>
          <p:spPr>
            <a:xfrm>
              <a:off x="2330057" y="2108173"/>
              <a:ext cx="1969286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 组（宽松型）</a:t>
              </a:r>
            </a:p>
          </p:txBody>
        </p:sp>
        <p:sp>
          <p:nvSpPr>
            <p:cNvPr id="15" name="TextBox 16">
              <a:extLst>
                <a:ext uri="{FF2B5EF4-FFF2-40B4-BE49-F238E27FC236}">
                  <a16:creationId xmlns:a16="http://schemas.microsoft.com/office/drawing/2014/main" id="{0CA354F0-B032-80AE-3280-26C449F80C9D}"/>
                </a:ext>
              </a:extLst>
            </p:cNvPr>
            <p:cNvSpPr txBox="1"/>
            <p:nvPr/>
          </p:nvSpPr>
          <p:spPr>
            <a:xfrm>
              <a:off x="1897047" y="291560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智谱</a:t>
              </a:r>
            </a:p>
          </p:txBody>
        </p:sp>
        <p:sp>
          <p:nvSpPr>
            <p:cNvPr id="17" name="TextBox 18">
              <a:extLst>
                <a:ext uri="{FF2B5EF4-FFF2-40B4-BE49-F238E27FC236}">
                  <a16:creationId xmlns:a16="http://schemas.microsoft.com/office/drawing/2014/main" id="{63F01959-FA8C-A5CA-C642-0DBF344CBEC5}"/>
                </a:ext>
              </a:extLst>
            </p:cNvPr>
            <p:cNvSpPr txBox="1"/>
            <p:nvPr/>
          </p:nvSpPr>
          <p:spPr>
            <a:xfrm>
              <a:off x="1684842" y="3493081"/>
              <a:ext cx="74511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GLM-5.1</a:t>
              </a:r>
            </a:p>
          </p:txBody>
        </p:sp>
        <p:sp>
          <p:nvSpPr>
            <p:cNvPr id="19" name="TextBox 20">
              <a:extLst>
                <a:ext uri="{FF2B5EF4-FFF2-40B4-BE49-F238E27FC236}">
                  <a16:creationId xmlns:a16="http://schemas.microsoft.com/office/drawing/2014/main" id="{603470E0-BBF4-29B4-DCEB-8383E37B475A}"/>
                </a:ext>
              </a:extLst>
            </p:cNvPr>
            <p:cNvSpPr txBox="1"/>
            <p:nvPr/>
          </p:nvSpPr>
          <p:spPr>
            <a:xfrm>
              <a:off x="4411647" y="291560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通义</a:t>
              </a:r>
            </a:p>
          </p:txBody>
        </p:sp>
        <p:sp>
          <p:nvSpPr>
            <p:cNvPr id="20" name="TextBox 21">
              <a:extLst>
                <a:ext uri="{FF2B5EF4-FFF2-40B4-BE49-F238E27FC236}">
                  <a16:creationId xmlns:a16="http://schemas.microsoft.com/office/drawing/2014/main" id="{DD67F09E-A38C-76AB-9D0C-30CCA3446E2D}"/>
                </a:ext>
              </a:extLst>
            </p:cNvPr>
            <p:cNvSpPr txBox="1"/>
            <p:nvPr/>
          </p:nvSpPr>
          <p:spPr>
            <a:xfrm>
              <a:off x="4509483" y="3076099"/>
              <a:ext cx="125034" cy="1500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千</a:t>
              </a:r>
            </a:p>
          </p:txBody>
        </p:sp>
        <p:sp>
          <p:nvSpPr>
            <p:cNvPr id="21" name="TextBox 22">
              <a:extLst>
                <a:ext uri="{FF2B5EF4-FFF2-40B4-BE49-F238E27FC236}">
                  <a16:creationId xmlns:a16="http://schemas.microsoft.com/office/drawing/2014/main" id="{9D9178AB-C346-D69D-F37C-7383C922D50E}"/>
                </a:ext>
              </a:extLst>
            </p:cNvPr>
            <p:cNvSpPr txBox="1"/>
            <p:nvPr/>
          </p:nvSpPr>
          <p:spPr>
            <a:xfrm>
              <a:off x="3924026" y="3493081"/>
              <a:ext cx="1295949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Qwen3.6-Plus</a:t>
              </a:r>
            </a:p>
          </p:txBody>
        </p:sp>
      </p:grpSp>
      <p:grpSp>
        <p:nvGrpSpPr>
          <p:cNvPr id="22" name="Group 36">
            <a:extLst>
              <a:ext uri="{FF2B5EF4-FFF2-40B4-BE49-F238E27FC236}">
                <a16:creationId xmlns:a16="http://schemas.microsoft.com/office/drawing/2014/main" id="{03AB7013-4F0C-AE52-B138-FBDAC671CB2E}"/>
              </a:ext>
            </a:extLst>
          </p:cNvPr>
          <p:cNvGrpSpPr/>
          <p:nvPr/>
        </p:nvGrpSpPr>
        <p:grpSpPr>
          <a:xfrm>
            <a:off x="6248400" y="2028825"/>
            <a:ext cx="5257800" cy="1828800"/>
            <a:chOff x="6248400" y="2028825"/>
            <a:chExt cx="5257800" cy="1828800"/>
          </a:xfrm>
        </p:grpSpPr>
        <p:sp>
          <p:nvSpPr>
            <p:cNvPr id="23" name="Rectangle 24">
              <a:extLst>
                <a:ext uri="{FF2B5EF4-FFF2-40B4-BE49-F238E27FC236}">
                  <a16:creationId xmlns:a16="http://schemas.microsoft.com/office/drawing/2014/main" id="{5FC4C703-076E-6110-E582-ADA264E9854E}"/>
                </a:ext>
              </a:extLst>
            </p:cNvPr>
            <p:cNvSpPr/>
            <p:nvPr/>
          </p:nvSpPr>
          <p:spPr>
            <a:xfrm>
              <a:off x="6248400" y="2028825"/>
              <a:ext cx="5257800" cy="1828800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14288">
              <a:solidFill>
                <a:srgbClr val="D9DEE5"/>
              </a:solidFill>
            </a:ln>
          </p:spPr>
        </p:sp>
        <p:sp>
          <p:nvSpPr>
            <p:cNvPr id="24" name="Rectangle 25">
              <a:extLst>
                <a:ext uri="{FF2B5EF4-FFF2-40B4-BE49-F238E27FC236}">
                  <a16:creationId xmlns:a16="http://schemas.microsoft.com/office/drawing/2014/main" id="{A1A7DBDE-BEB0-F6B8-998E-C39C83536C01}"/>
                </a:ext>
              </a:extLst>
            </p:cNvPr>
            <p:cNvSpPr/>
            <p:nvPr/>
          </p:nvSpPr>
          <p:spPr>
            <a:xfrm>
              <a:off x="6248400" y="2028825"/>
              <a:ext cx="5257800" cy="457200"/>
            </a:xfrm>
            <a:prstGeom prst="roundRect">
              <a:avLst>
                <a:gd name="adj" fmla="val 16667"/>
              </a:avLst>
            </a:prstGeom>
            <a:solidFill>
              <a:srgbClr val="44546A"/>
            </a:solidFill>
            <a:ln>
              <a:noFill/>
            </a:ln>
          </p:spPr>
        </p:sp>
        <p:sp>
          <p:nvSpPr>
            <p:cNvPr id="25" name="Rectangle 26">
              <a:extLst>
                <a:ext uri="{FF2B5EF4-FFF2-40B4-BE49-F238E27FC236}">
                  <a16:creationId xmlns:a16="http://schemas.microsoft.com/office/drawing/2014/main" id="{66D6ADF3-D13C-A4ED-8976-6AB888BC3B1B}"/>
                </a:ext>
              </a:extLst>
            </p:cNvPr>
            <p:cNvSpPr/>
            <p:nvPr/>
          </p:nvSpPr>
          <p:spPr>
            <a:xfrm>
              <a:off x="6248400" y="2428875"/>
              <a:ext cx="5257800" cy="57150"/>
            </a:xfrm>
            <a:prstGeom prst="rect">
              <a:avLst/>
            </a:prstGeom>
            <a:solidFill>
              <a:srgbClr val="44546A"/>
            </a:solidFill>
            <a:ln>
              <a:noFill/>
            </a:ln>
          </p:spPr>
        </p:sp>
        <p:sp>
          <p:nvSpPr>
            <p:cNvPr id="26" name="TextBox 27">
              <a:extLst>
                <a:ext uri="{FF2B5EF4-FFF2-40B4-BE49-F238E27FC236}">
                  <a16:creationId xmlns:a16="http://schemas.microsoft.com/office/drawing/2014/main" id="{8EAA0E4A-CA1E-3248-5538-858331E462C5}"/>
                </a:ext>
              </a:extLst>
            </p:cNvPr>
            <p:cNvSpPr txBox="1"/>
            <p:nvPr/>
          </p:nvSpPr>
          <p:spPr>
            <a:xfrm>
              <a:off x="7892657" y="2108173"/>
              <a:ext cx="1969286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B 组（严格型）</a:t>
              </a:r>
            </a:p>
          </p:txBody>
        </p:sp>
        <p:sp>
          <p:nvSpPr>
            <p:cNvPr id="28" name="TextBox 29">
              <a:extLst>
                <a:ext uri="{FF2B5EF4-FFF2-40B4-BE49-F238E27FC236}">
                  <a16:creationId xmlns:a16="http://schemas.microsoft.com/office/drawing/2014/main" id="{B337D2C3-F02D-DA3B-C181-1F8E3B8C9E84}"/>
                </a:ext>
              </a:extLst>
            </p:cNvPr>
            <p:cNvSpPr txBox="1"/>
            <p:nvPr/>
          </p:nvSpPr>
          <p:spPr>
            <a:xfrm>
              <a:off x="7482554" y="2931795"/>
              <a:ext cx="27489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深度</a:t>
              </a:r>
            </a:p>
          </p:txBody>
        </p:sp>
        <p:sp>
          <p:nvSpPr>
            <p:cNvPr id="29" name="TextBox 30">
              <a:extLst>
                <a:ext uri="{FF2B5EF4-FFF2-40B4-BE49-F238E27FC236}">
                  <a16:creationId xmlns:a16="http://schemas.microsoft.com/office/drawing/2014/main" id="{09C4D948-7F2C-50B1-CC93-4D8D7FDCF951}"/>
                </a:ext>
              </a:extLst>
            </p:cNvPr>
            <p:cNvSpPr txBox="1"/>
            <p:nvPr/>
          </p:nvSpPr>
          <p:spPr>
            <a:xfrm>
              <a:off x="7488555" y="3084195"/>
              <a:ext cx="26289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求索</a:t>
              </a:r>
            </a:p>
          </p:txBody>
        </p:sp>
        <p:sp>
          <p:nvSpPr>
            <p:cNvPr id="30" name="TextBox 31">
              <a:extLst>
                <a:ext uri="{FF2B5EF4-FFF2-40B4-BE49-F238E27FC236}">
                  <a16:creationId xmlns:a16="http://schemas.microsoft.com/office/drawing/2014/main" id="{3942A8CC-1A73-AEB2-0F2F-E11E13B48E7D}"/>
                </a:ext>
              </a:extLst>
            </p:cNvPr>
            <p:cNvSpPr txBox="1"/>
            <p:nvPr/>
          </p:nvSpPr>
          <p:spPr>
            <a:xfrm>
              <a:off x="6831983" y="3534025"/>
              <a:ext cx="1576034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DeepSeek-V4-Pro</a:t>
              </a:r>
            </a:p>
          </p:txBody>
        </p:sp>
        <p:sp>
          <p:nvSpPr>
            <p:cNvPr id="32" name="TextBox 33">
              <a:extLst>
                <a:ext uri="{FF2B5EF4-FFF2-40B4-BE49-F238E27FC236}">
                  <a16:creationId xmlns:a16="http://schemas.microsoft.com/office/drawing/2014/main" id="{142EFB1E-C260-40FA-432A-7618E01D298B}"/>
                </a:ext>
              </a:extLst>
            </p:cNvPr>
            <p:cNvSpPr txBox="1"/>
            <p:nvPr/>
          </p:nvSpPr>
          <p:spPr>
            <a:xfrm>
              <a:off x="9974247" y="291560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月之</a:t>
              </a:r>
            </a:p>
          </p:txBody>
        </p:sp>
        <p:sp>
          <p:nvSpPr>
            <p:cNvPr id="33" name="TextBox 34">
              <a:extLst>
                <a:ext uri="{FF2B5EF4-FFF2-40B4-BE49-F238E27FC236}">
                  <a16:creationId xmlns:a16="http://schemas.microsoft.com/office/drawing/2014/main" id="{66A20B5C-6652-B5C6-7485-B16DF496840C}"/>
                </a:ext>
              </a:extLst>
            </p:cNvPr>
            <p:cNvSpPr txBox="1"/>
            <p:nvPr/>
          </p:nvSpPr>
          <p:spPr>
            <a:xfrm>
              <a:off x="10072083" y="3076099"/>
              <a:ext cx="125034" cy="1500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暗</a:t>
              </a:r>
            </a:p>
          </p:txBody>
        </p:sp>
        <p:sp>
          <p:nvSpPr>
            <p:cNvPr id="34" name="TextBox 35">
              <a:extLst>
                <a:ext uri="{FF2B5EF4-FFF2-40B4-BE49-F238E27FC236}">
                  <a16:creationId xmlns:a16="http://schemas.microsoft.com/office/drawing/2014/main" id="{3AFE54B0-7EF0-723B-37D3-368FA32DF8F1}"/>
                </a:ext>
              </a:extLst>
            </p:cNvPr>
            <p:cNvSpPr txBox="1"/>
            <p:nvPr/>
          </p:nvSpPr>
          <p:spPr>
            <a:xfrm>
              <a:off x="9682685" y="3534025"/>
              <a:ext cx="903830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Kimi-K2.6</a:t>
              </a:r>
            </a:p>
          </p:txBody>
        </p:sp>
      </p:grpSp>
      <p:grpSp>
        <p:nvGrpSpPr>
          <p:cNvPr id="35" name="Group 40">
            <a:extLst>
              <a:ext uri="{FF2B5EF4-FFF2-40B4-BE49-F238E27FC236}">
                <a16:creationId xmlns:a16="http://schemas.microsoft.com/office/drawing/2014/main" id="{1BE677E0-BC25-8BE3-8A08-317CDF98C42F}"/>
              </a:ext>
            </a:extLst>
          </p:cNvPr>
          <p:cNvGrpSpPr/>
          <p:nvPr/>
        </p:nvGrpSpPr>
        <p:grpSpPr>
          <a:xfrm>
            <a:off x="685800" y="4086225"/>
            <a:ext cx="10820400" cy="762000"/>
            <a:chOff x="685800" y="4086225"/>
            <a:chExt cx="10820400" cy="762000"/>
          </a:xfrm>
        </p:grpSpPr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D2702177-0ADD-46F4-5F36-EA9FAB4C2F25}"/>
                </a:ext>
              </a:extLst>
            </p:cNvPr>
            <p:cNvSpPr/>
            <p:nvPr/>
          </p:nvSpPr>
          <p:spPr>
            <a:xfrm>
              <a:off x="685800" y="4086225"/>
              <a:ext cx="10820400" cy="762000"/>
            </a:xfrm>
            <a:prstGeom prst="roundRect">
              <a:avLst>
                <a:gd name="adj" fmla="val 10000"/>
              </a:avLst>
            </a:prstGeom>
            <a:solidFill>
              <a:srgbClr val="FFF8F0"/>
            </a:solidFill>
            <a:ln w="14288">
              <a:solidFill>
                <a:srgbClr val="E07B00"/>
              </a:solidFill>
            </a:ln>
          </p:spPr>
        </p:sp>
        <p:sp>
          <p:nvSpPr>
            <p:cNvPr id="37" name="TextBox 38">
              <a:extLst>
                <a:ext uri="{FF2B5EF4-FFF2-40B4-BE49-F238E27FC236}">
                  <a16:creationId xmlns:a16="http://schemas.microsoft.com/office/drawing/2014/main" id="{291AFD9F-72D1-FCE4-D505-48FF8E613B4B}"/>
                </a:ext>
              </a:extLst>
            </p:cNvPr>
            <p:cNvSpPr txBox="1"/>
            <p:nvPr/>
          </p:nvSpPr>
          <p:spPr>
            <a:xfrm>
              <a:off x="970283" y="4227857"/>
              <a:ext cx="2056571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为什么需要多模型？</a:t>
              </a:r>
            </a:p>
          </p:txBody>
        </p:sp>
        <p:sp>
          <p:nvSpPr>
            <p:cNvPr id="38" name="TextBox 39">
              <a:extLst>
                <a:ext uri="{FF2B5EF4-FFF2-40B4-BE49-F238E27FC236}">
                  <a16:creationId xmlns:a16="http://schemas.microsoft.com/office/drawing/2014/main" id="{83D28BED-5519-1639-840A-20E84CA3AF7D}"/>
                </a:ext>
              </a:extLst>
            </p:cNvPr>
            <p:cNvSpPr txBox="1"/>
            <p:nvPr/>
          </p:nvSpPr>
          <p:spPr>
            <a:xfrm>
              <a:off x="972817" y="4535143"/>
              <a:ext cx="6440177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单一模型存在系统性偏见，多模型并发暴露分歧 → 交叉评审收敛 → 提高可靠性</a:t>
              </a:r>
            </a:p>
          </p:txBody>
        </p:sp>
      </p:grpSp>
      <p:grpSp>
        <p:nvGrpSpPr>
          <p:cNvPr id="39" name="Group 48">
            <a:extLst>
              <a:ext uri="{FF2B5EF4-FFF2-40B4-BE49-F238E27FC236}">
                <a16:creationId xmlns:a16="http://schemas.microsoft.com/office/drawing/2014/main" id="{9FE0E6FD-FA7E-E80B-3A7D-B345C8C16B6A}"/>
              </a:ext>
            </a:extLst>
          </p:cNvPr>
          <p:cNvGrpSpPr/>
          <p:nvPr/>
        </p:nvGrpSpPr>
        <p:grpSpPr>
          <a:xfrm>
            <a:off x="665483" y="5094632"/>
            <a:ext cx="10840717" cy="791818"/>
            <a:chOff x="665483" y="5094632"/>
            <a:chExt cx="10840717" cy="791818"/>
          </a:xfrm>
        </p:grpSpPr>
        <p:sp>
          <p:nvSpPr>
            <p:cNvPr id="40" name="TextBox 41">
              <a:extLst>
                <a:ext uri="{FF2B5EF4-FFF2-40B4-BE49-F238E27FC236}">
                  <a16:creationId xmlns:a16="http://schemas.microsoft.com/office/drawing/2014/main" id="{55414B52-1CFB-9473-09BF-7699D1039B9A}"/>
                </a:ext>
              </a:extLst>
            </p:cNvPr>
            <p:cNvSpPr txBox="1"/>
            <p:nvPr/>
          </p:nvSpPr>
          <p:spPr>
            <a:xfrm>
              <a:off x="665483" y="5094632"/>
              <a:ext cx="936606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并发策略</a:t>
              </a:r>
            </a:p>
          </p:txBody>
        </p:sp>
        <p:sp>
          <p:nvSpPr>
            <p:cNvPr id="41" name="Rectangle 42">
              <a:extLst>
                <a:ext uri="{FF2B5EF4-FFF2-40B4-BE49-F238E27FC236}">
                  <a16:creationId xmlns:a16="http://schemas.microsoft.com/office/drawing/2014/main" id="{F13AD0C5-8497-5B60-D5BC-EBFCC50B03B1}"/>
                </a:ext>
              </a:extLst>
            </p:cNvPr>
            <p:cNvSpPr/>
            <p:nvPr/>
          </p:nvSpPr>
          <p:spPr>
            <a:xfrm>
              <a:off x="685800" y="5429250"/>
              <a:ext cx="3429000" cy="457200"/>
            </a:xfrm>
            <a:prstGeom prst="roundRect">
              <a:avLst>
                <a:gd name="adj" fmla="val 12500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42" name="TextBox 43">
              <a:extLst>
                <a:ext uri="{FF2B5EF4-FFF2-40B4-BE49-F238E27FC236}">
                  <a16:creationId xmlns:a16="http://schemas.microsoft.com/office/drawing/2014/main" id="{F719724B-CBE1-29FC-4762-8D854615F8E4}"/>
                </a:ext>
              </a:extLst>
            </p:cNvPr>
            <p:cNvSpPr txBox="1"/>
            <p:nvPr/>
          </p:nvSpPr>
          <p:spPr>
            <a:xfrm>
              <a:off x="1697384" y="5563843"/>
              <a:ext cx="1405834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论文级：</a:t>
              </a:r>
              <a:r>
                <a:rPr lang="en-US" alt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5</a:t>
              </a:r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 篇并行</a:t>
              </a:r>
            </a:p>
          </p:txBody>
        </p:sp>
        <p:sp>
          <p:nvSpPr>
            <p:cNvPr id="43" name="Rectangle 44">
              <a:extLst>
                <a:ext uri="{FF2B5EF4-FFF2-40B4-BE49-F238E27FC236}">
                  <a16:creationId xmlns:a16="http://schemas.microsoft.com/office/drawing/2014/main" id="{9AC9A432-30A6-AC63-5E03-4D39EAB3B939}"/>
                </a:ext>
              </a:extLst>
            </p:cNvPr>
            <p:cNvSpPr/>
            <p:nvPr/>
          </p:nvSpPr>
          <p:spPr>
            <a:xfrm>
              <a:off x="4381500" y="5429250"/>
              <a:ext cx="3429000" cy="457200"/>
            </a:xfrm>
            <a:prstGeom prst="roundRect">
              <a:avLst>
                <a:gd name="adj" fmla="val 12500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44" name="TextBox 45">
              <a:extLst>
                <a:ext uri="{FF2B5EF4-FFF2-40B4-BE49-F238E27FC236}">
                  <a16:creationId xmlns:a16="http://schemas.microsoft.com/office/drawing/2014/main" id="{0E811C98-E1F1-FF70-D89F-A534284E4320}"/>
                </a:ext>
              </a:extLst>
            </p:cNvPr>
            <p:cNvSpPr txBox="1"/>
            <p:nvPr/>
          </p:nvSpPr>
          <p:spPr>
            <a:xfrm>
              <a:off x="5251966" y="5563843"/>
              <a:ext cx="168806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维度级：6 维度并行</a:t>
              </a:r>
            </a:p>
          </p:txBody>
        </p:sp>
        <p:sp>
          <p:nvSpPr>
            <p:cNvPr id="45" name="Rectangle 46">
              <a:extLst>
                <a:ext uri="{FF2B5EF4-FFF2-40B4-BE49-F238E27FC236}">
                  <a16:creationId xmlns:a16="http://schemas.microsoft.com/office/drawing/2014/main" id="{17BBAAB5-41E8-51E2-CE2A-D01B321E43AE}"/>
                </a:ext>
              </a:extLst>
            </p:cNvPr>
            <p:cNvSpPr/>
            <p:nvPr/>
          </p:nvSpPr>
          <p:spPr>
            <a:xfrm>
              <a:off x="8077200" y="5429250"/>
              <a:ext cx="3429000" cy="457200"/>
            </a:xfrm>
            <a:prstGeom prst="roundRect">
              <a:avLst>
                <a:gd name="adj" fmla="val 12500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46" name="TextBox 47">
              <a:extLst>
                <a:ext uri="{FF2B5EF4-FFF2-40B4-BE49-F238E27FC236}">
                  <a16:creationId xmlns:a16="http://schemas.microsoft.com/office/drawing/2014/main" id="{5B02B7D8-E853-7D95-7C26-79041B8E19F8}"/>
                </a:ext>
              </a:extLst>
            </p:cNvPr>
            <p:cNvSpPr txBox="1"/>
            <p:nvPr/>
          </p:nvSpPr>
          <p:spPr>
            <a:xfrm>
              <a:off x="8947666" y="5563843"/>
              <a:ext cx="168806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模型级：4 模型并行</a:t>
              </a:r>
            </a:p>
          </p:txBody>
        </p:sp>
      </p:grpSp>
      <p:pic>
        <p:nvPicPr>
          <p:cNvPr id="47" name="Picture 46" descr="Zhipu (智谱) Logo">
            <a:extLst>
              <a:ext uri="{FF2B5EF4-FFF2-40B4-BE49-F238E27FC236}">
                <a16:creationId xmlns:a16="http://schemas.microsoft.com/office/drawing/2014/main" id="{15F4C99E-28D9-D342-B4FD-FCFF87620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428" y="2694704"/>
            <a:ext cx="683730" cy="683730"/>
          </a:xfrm>
          <a:prstGeom prst="rect">
            <a:avLst/>
          </a:prstGeom>
        </p:spPr>
      </p:pic>
      <p:pic>
        <p:nvPicPr>
          <p:cNvPr id="48" name="Picture 47" descr="Qwen (千问) Logo">
            <a:extLst>
              <a:ext uri="{FF2B5EF4-FFF2-40B4-BE49-F238E27FC236}">
                <a16:creationId xmlns:a16="http://schemas.microsoft.com/office/drawing/2014/main" id="{5307E0B6-3A33-34F5-C58C-2566026E49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7618" y="2692395"/>
            <a:ext cx="683730" cy="683730"/>
          </a:xfrm>
          <a:prstGeom prst="rect">
            <a:avLst/>
          </a:prstGeom>
        </p:spPr>
      </p:pic>
      <p:pic>
        <p:nvPicPr>
          <p:cNvPr id="49" name="Picture 48" descr="DeepSeek Logo">
            <a:extLst>
              <a:ext uri="{FF2B5EF4-FFF2-40B4-BE49-F238E27FC236}">
                <a16:creationId xmlns:a16="http://schemas.microsoft.com/office/drawing/2014/main" id="{C58986AE-35C3-0B29-44C5-BE4C179551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8147" y="2692395"/>
            <a:ext cx="814047" cy="814047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5157247-376B-3B4E-E127-D2E91DE225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282" y="2830191"/>
            <a:ext cx="609601" cy="60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574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22" grpId="0"/>
      <p:bldP spid="35" grpId="0"/>
      <p:bldP spid="3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16CA4A-6700-2A5B-EECE-9612A7ED3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10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C19154-1C56-D04B-DDFD-CAA13AB2C3C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E50C8-0CD5-AFF9-B2AA-21453B8EB3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DE5D65-8F6C-AF87-2733-1F9E6542B4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交叉评审机制（核心创新）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A9088B84-D75B-984D-B4B7-1952F7E158B3}"/>
              </a:ext>
            </a:extLst>
          </p:cNvPr>
          <p:cNvSpPr/>
          <p:nvPr/>
        </p:nvSpPr>
        <p:spPr>
          <a:xfrm>
            <a:off x="685800" y="1024007"/>
            <a:ext cx="10820400" cy="1238250"/>
          </a:xfrm>
          <a:prstGeom prst="roundRect">
            <a:avLst>
              <a:gd name="adj" fmla="val 6154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350A0FAF-8F67-EF49-7822-E2C7D29F0471}"/>
              </a:ext>
            </a:extLst>
          </p:cNvPr>
          <p:cNvSpPr txBox="1"/>
          <p:nvPr/>
        </p:nvSpPr>
        <p:spPr>
          <a:xfrm>
            <a:off x="965197" y="904037"/>
            <a:ext cx="2389391" cy="4064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00" b="1" dirty="0">
                <a:solidFill>
                  <a:srgbClr val="1F4D78"/>
                </a:solidFill>
                <a:latin typeface="Arial"/>
                <a:ea typeface="Microsoft YaHei"/>
                <a:cs typeface="Arial"/>
              </a:rPr>
              <a:t>Round 1：独立评分</a:t>
            </a: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2BF08D49-A86D-7C7E-F28D-D3C233A662DA}"/>
              </a:ext>
            </a:extLst>
          </p:cNvPr>
          <p:cNvSpPr txBox="1"/>
          <p:nvPr/>
        </p:nvSpPr>
        <p:spPr>
          <a:xfrm>
            <a:off x="970283" y="1233021"/>
            <a:ext cx="2781881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4 个模型独立评分，互不可见</a:t>
            </a: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7CA939DB-9C1C-AEE9-2D4A-2DEE7CC36289}"/>
              </a:ext>
            </a:extLst>
          </p:cNvPr>
          <p:cNvSpPr txBox="1"/>
          <p:nvPr/>
        </p:nvSpPr>
        <p:spPr>
          <a:xfrm>
            <a:off x="2247662" y="1866970"/>
            <a:ext cx="22907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智谱</a:t>
            </a: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D2DFF82F-EBE2-DFE3-79E8-84B9EB64391A}"/>
              </a:ext>
            </a:extLst>
          </p:cNvPr>
          <p:cNvSpPr txBox="1"/>
          <p:nvPr/>
        </p:nvSpPr>
        <p:spPr>
          <a:xfrm>
            <a:off x="2265867" y="1989366"/>
            <a:ext cx="192667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6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Z.ai</a:t>
            </a:r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95BE88C7-96F5-39FF-3C02-451AA55D3D18}"/>
              </a:ext>
            </a:extLst>
          </p:cNvPr>
          <p:cNvSpPr txBox="1"/>
          <p:nvPr/>
        </p:nvSpPr>
        <p:spPr>
          <a:xfrm>
            <a:off x="2014349" y="2442193"/>
            <a:ext cx="695704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GLM-5.1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8271F48B-2F60-11E4-D312-BF94C6B60F91}"/>
              </a:ext>
            </a:extLst>
          </p:cNvPr>
          <p:cNvSpPr txBox="1"/>
          <p:nvPr/>
        </p:nvSpPr>
        <p:spPr>
          <a:xfrm>
            <a:off x="4533662" y="1866970"/>
            <a:ext cx="22907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通义</a:t>
            </a:r>
          </a:p>
        </p:txBody>
      </p:sp>
      <p:sp>
        <p:nvSpPr>
          <p:cNvPr id="16" name="TextBox 17">
            <a:extLst>
              <a:ext uri="{FF2B5EF4-FFF2-40B4-BE49-F238E27FC236}">
                <a16:creationId xmlns:a16="http://schemas.microsoft.com/office/drawing/2014/main" id="{5CC2A0A0-6E7D-01EE-3538-8F7426B44C45}"/>
              </a:ext>
            </a:extLst>
          </p:cNvPr>
          <p:cNvSpPr txBox="1"/>
          <p:nvPr/>
        </p:nvSpPr>
        <p:spPr>
          <a:xfrm>
            <a:off x="4549616" y="1989366"/>
            <a:ext cx="197168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6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千问</a:t>
            </a:r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70BD89D5-9310-1CA3-FE93-DDC18CDB220A}"/>
              </a:ext>
            </a:extLst>
          </p:cNvPr>
          <p:cNvSpPr txBox="1"/>
          <p:nvPr/>
        </p:nvSpPr>
        <p:spPr>
          <a:xfrm>
            <a:off x="4095965" y="2442193"/>
            <a:ext cx="1104470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Qwen3.6</a:t>
            </a:r>
            <a:r>
              <a:rPr lang="en-US" alt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-plus</a:t>
            </a:r>
            <a:endParaRPr lang="zh-CN" sz="1400" dirty="0">
              <a:solidFill>
                <a:srgbClr val="1B1C21"/>
              </a:solidFill>
              <a:latin typeface="Arial"/>
              <a:ea typeface="Microsoft YaHei"/>
              <a:cs typeface="Arial"/>
            </a:endParaRPr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AA6E68FA-60B2-E8C8-3FF6-7C884FAD8F77}"/>
              </a:ext>
            </a:extLst>
          </p:cNvPr>
          <p:cNvSpPr txBox="1"/>
          <p:nvPr/>
        </p:nvSpPr>
        <p:spPr>
          <a:xfrm>
            <a:off x="6819662" y="1866970"/>
            <a:ext cx="22907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深度</a:t>
            </a:r>
          </a:p>
        </p:txBody>
      </p:sp>
      <p:sp>
        <p:nvSpPr>
          <p:cNvPr id="20" name="TextBox 21">
            <a:extLst>
              <a:ext uri="{FF2B5EF4-FFF2-40B4-BE49-F238E27FC236}">
                <a16:creationId xmlns:a16="http://schemas.microsoft.com/office/drawing/2014/main" id="{43ED1FC9-B3F5-A2AF-1730-04AB4208E5B7}"/>
              </a:ext>
            </a:extLst>
          </p:cNvPr>
          <p:cNvSpPr txBox="1"/>
          <p:nvPr/>
        </p:nvSpPr>
        <p:spPr>
          <a:xfrm>
            <a:off x="6835616" y="1989366"/>
            <a:ext cx="197168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6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求索</a:t>
            </a:r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A14B097A-8D73-E84A-F87A-3A0D0AB1B986}"/>
              </a:ext>
            </a:extLst>
          </p:cNvPr>
          <p:cNvSpPr txBox="1"/>
          <p:nvPr/>
        </p:nvSpPr>
        <p:spPr>
          <a:xfrm>
            <a:off x="6232887" y="2442193"/>
            <a:ext cx="1402628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DeepSeek</a:t>
            </a:r>
            <a:r>
              <a:rPr lang="en-US" alt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-v4-pro</a:t>
            </a:r>
            <a:endParaRPr lang="zh-CN" sz="1400" dirty="0">
              <a:solidFill>
                <a:srgbClr val="1B1C21"/>
              </a:solidFill>
              <a:latin typeface="Arial"/>
              <a:ea typeface="Microsoft YaHei"/>
              <a:cs typeface="Arial"/>
            </a:endParaRPr>
          </a:p>
        </p:txBody>
      </p:sp>
      <p:sp>
        <p:nvSpPr>
          <p:cNvPr id="23" name="TextBox 24">
            <a:extLst>
              <a:ext uri="{FF2B5EF4-FFF2-40B4-BE49-F238E27FC236}">
                <a16:creationId xmlns:a16="http://schemas.microsoft.com/office/drawing/2014/main" id="{1A168CE6-AD35-8BDB-6229-AA5ACF19597F}"/>
              </a:ext>
            </a:extLst>
          </p:cNvPr>
          <p:cNvSpPr txBox="1"/>
          <p:nvPr/>
        </p:nvSpPr>
        <p:spPr>
          <a:xfrm>
            <a:off x="9105662" y="1866970"/>
            <a:ext cx="22907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月之</a:t>
            </a:r>
          </a:p>
        </p:txBody>
      </p:sp>
      <p:sp>
        <p:nvSpPr>
          <p:cNvPr id="24" name="TextBox 25">
            <a:extLst>
              <a:ext uri="{FF2B5EF4-FFF2-40B4-BE49-F238E27FC236}">
                <a16:creationId xmlns:a16="http://schemas.microsoft.com/office/drawing/2014/main" id="{D48D9A56-DD15-EA6F-8925-74980EE6E8E0}"/>
              </a:ext>
            </a:extLst>
          </p:cNvPr>
          <p:cNvSpPr txBox="1"/>
          <p:nvPr/>
        </p:nvSpPr>
        <p:spPr>
          <a:xfrm>
            <a:off x="9121616" y="1989366"/>
            <a:ext cx="197168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6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暗面</a:t>
            </a:r>
          </a:p>
        </p:txBody>
      </p:sp>
      <p:sp>
        <p:nvSpPr>
          <p:cNvPr id="25" name="TextBox 26">
            <a:extLst>
              <a:ext uri="{FF2B5EF4-FFF2-40B4-BE49-F238E27FC236}">
                <a16:creationId xmlns:a16="http://schemas.microsoft.com/office/drawing/2014/main" id="{D4862365-FD1D-A33B-C288-2075085665E4}"/>
              </a:ext>
            </a:extLst>
          </p:cNvPr>
          <p:cNvSpPr txBox="1"/>
          <p:nvPr/>
        </p:nvSpPr>
        <p:spPr>
          <a:xfrm>
            <a:off x="8846701" y="2442193"/>
            <a:ext cx="747000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Kimi</a:t>
            </a:r>
            <a:r>
              <a:rPr lang="en-US" alt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-k2.6</a:t>
            </a:r>
            <a:endParaRPr lang="zh-CN" sz="1400" dirty="0">
              <a:solidFill>
                <a:srgbClr val="1B1C21"/>
              </a:solidFill>
              <a:latin typeface="Arial"/>
              <a:ea typeface="Microsoft YaHei"/>
              <a:cs typeface="Arial"/>
            </a:endParaRPr>
          </a:p>
        </p:txBody>
      </p:sp>
      <p:grpSp>
        <p:nvGrpSpPr>
          <p:cNvPr id="26" name="Group 32">
            <a:extLst>
              <a:ext uri="{FF2B5EF4-FFF2-40B4-BE49-F238E27FC236}">
                <a16:creationId xmlns:a16="http://schemas.microsoft.com/office/drawing/2014/main" id="{780218BE-90D8-2641-3C88-139C2FAE6863}"/>
              </a:ext>
            </a:extLst>
          </p:cNvPr>
          <p:cNvGrpSpPr/>
          <p:nvPr/>
        </p:nvGrpSpPr>
        <p:grpSpPr>
          <a:xfrm>
            <a:off x="6051550" y="2690152"/>
            <a:ext cx="88900" cy="155576"/>
            <a:chOff x="6051550" y="2608262"/>
            <a:chExt cx="88900" cy="155576"/>
          </a:xfrm>
        </p:grpSpPr>
        <p:grpSp>
          <p:nvGrpSpPr>
            <p:cNvPr id="27" name="Group 31">
              <a:extLst>
                <a:ext uri="{FF2B5EF4-FFF2-40B4-BE49-F238E27FC236}">
                  <a16:creationId xmlns:a16="http://schemas.microsoft.com/office/drawing/2014/main" id="{C6BE3887-760D-7DD7-D2C1-F056D3610A41}"/>
                </a:ext>
              </a:extLst>
            </p:cNvPr>
            <p:cNvGrpSpPr/>
            <p:nvPr/>
          </p:nvGrpSpPr>
          <p:grpSpPr>
            <a:xfrm>
              <a:off x="6051550" y="2608262"/>
              <a:ext cx="88900" cy="155576"/>
              <a:chOff x="6051550" y="2608262"/>
              <a:chExt cx="88900" cy="155576"/>
            </a:xfrm>
          </p:grpSpPr>
          <p:sp>
            <p:nvSpPr>
              <p:cNvPr id="28" name="Freeform 28">
                <a:extLst>
                  <a:ext uri="{FF2B5EF4-FFF2-40B4-BE49-F238E27FC236}">
                    <a16:creationId xmlns:a16="http://schemas.microsoft.com/office/drawing/2014/main" id="{C653A3A7-C787-B374-4A80-6848F638E6DD}"/>
                  </a:ext>
                </a:extLst>
              </p:cNvPr>
              <p:cNvSpPr/>
              <p:nvPr/>
            </p:nvSpPr>
            <p:spPr>
              <a:xfrm>
                <a:off x="6096000" y="2608262"/>
                <a:ext cx="952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5575">
                    <a:moveTo>
                      <a:pt x="0" y="0"/>
                    </a:moveTo>
                    <a:lnTo>
                      <a:pt x="0" y="155575"/>
                    </a:lnTo>
                  </a:path>
                </a:pathLst>
              </a:custGeom>
              <a:noFill/>
              <a:ln w="19050">
                <a:solidFill>
                  <a:srgbClr val="C8161E"/>
                </a:solidFill>
              </a:ln>
            </p:spPr>
          </p:sp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69F26FB3-5CB8-032F-E352-12D702D182DB}"/>
                  </a:ext>
                </a:extLst>
              </p:cNvPr>
              <p:cNvSpPr/>
              <p:nvPr/>
            </p:nvSpPr>
            <p:spPr>
              <a:xfrm>
                <a:off x="6096000" y="27193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4445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19050">
                <a:solidFill>
                  <a:srgbClr val="C8161E"/>
                </a:solidFill>
              </a:ln>
            </p:spPr>
          </p:sp>
          <p:sp>
            <p:nvSpPr>
              <p:cNvPr id="30" name="Freeform 30">
                <a:extLst>
                  <a:ext uri="{FF2B5EF4-FFF2-40B4-BE49-F238E27FC236}">
                    <a16:creationId xmlns:a16="http://schemas.microsoft.com/office/drawing/2014/main" id="{F001EE7E-3671-3156-27D5-71C57F78D92A}"/>
                  </a:ext>
                </a:extLst>
              </p:cNvPr>
              <p:cNvSpPr/>
              <p:nvPr/>
            </p:nvSpPr>
            <p:spPr>
              <a:xfrm>
                <a:off x="6051550" y="27193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0"/>
                    </a:moveTo>
                    <a:lnTo>
                      <a:pt x="44450" y="44450"/>
                    </a:lnTo>
                  </a:path>
                </a:pathLst>
              </a:custGeom>
              <a:noFill/>
              <a:ln w="19050">
                <a:solidFill>
                  <a:srgbClr val="C8161E"/>
                </a:solidFill>
              </a:ln>
            </p:spPr>
          </p:sp>
        </p:grpSp>
      </p:grpSp>
      <p:grpSp>
        <p:nvGrpSpPr>
          <p:cNvPr id="31" name="Group 45">
            <a:extLst>
              <a:ext uri="{FF2B5EF4-FFF2-40B4-BE49-F238E27FC236}">
                <a16:creationId xmlns:a16="http://schemas.microsoft.com/office/drawing/2014/main" id="{F513C95F-D961-C339-E044-AEDC6C3EF3AA}"/>
              </a:ext>
            </a:extLst>
          </p:cNvPr>
          <p:cNvGrpSpPr/>
          <p:nvPr/>
        </p:nvGrpSpPr>
        <p:grpSpPr>
          <a:xfrm>
            <a:off x="685800" y="2996540"/>
            <a:ext cx="10820400" cy="2133600"/>
            <a:chOff x="685800" y="2914650"/>
            <a:chExt cx="10820400" cy="2133600"/>
          </a:xfrm>
        </p:grpSpPr>
        <p:sp>
          <p:nvSpPr>
            <p:cNvPr id="32" name="Rectangle 33">
              <a:extLst>
                <a:ext uri="{FF2B5EF4-FFF2-40B4-BE49-F238E27FC236}">
                  <a16:creationId xmlns:a16="http://schemas.microsoft.com/office/drawing/2014/main" id="{49D2C272-5F70-3FDE-6AA0-4A214DF8FF55}"/>
                </a:ext>
              </a:extLst>
            </p:cNvPr>
            <p:cNvSpPr/>
            <p:nvPr/>
          </p:nvSpPr>
          <p:spPr>
            <a:xfrm>
              <a:off x="685800" y="2914650"/>
              <a:ext cx="10820400" cy="2133600"/>
            </a:xfrm>
            <a:prstGeom prst="roundRect">
              <a:avLst>
                <a:gd name="adj" fmla="val 3571"/>
              </a:avLst>
            </a:prstGeom>
            <a:solidFill>
              <a:srgbClr val="FFF8F0"/>
            </a:solidFill>
            <a:ln w="14288">
              <a:solidFill>
                <a:srgbClr val="E07B00"/>
              </a:solidFill>
            </a:ln>
          </p:spPr>
        </p:sp>
        <p:sp>
          <p:nvSpPr>
            <p:cNvPr id="33" name="TextBox 34">
              <a:extLst>
                <a:ext uri="{FF2B5EF4-FFF2-40B4-BE49-F238E27FC236}">
                  <a16:creationId xmlns:a16="http://schemas.microsoft.com/office/drawing/2014/main" id="{17F1F7F8-9D89-3DB5-3AA3-1424383CFD19}"/>
                </a:ext>
              </a:extLst>
            </p:cNvPr>
            <p:cNvSpPr txBox="1"/>
            <p:nvPr/>
          </p:nvSpPr>
          <p:spPr>
            <a:xfrm>
              <a:off x="965197" y="3022573"/>
              <a:ext cx="2459408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Round 2：交叉评审</a:t>
              </a: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A0359E4C-F364-2A2B-DD78-BAD6B6592EEF}"/>
                </a:ext>
              </a:extLst>
            </p:cNvPr>
            <p:cNvSpPr/>
            <p:nvPr/>
          </p:nvSpPr>
          <p:spPr>
            <a:xfrm>
              <a:off x="990600" y="3429000"/>
              <a:ext cx="4953000" cy="1447800"/>
            </a:xfrm>
            <a:prstGeom prst="roundRect">
              <a:avLst>
                <a:gd name="adj" fmla="val 3947"/>
              </a:avLst>
            </a:prstGeom>
            <a:solidFill>
              <a:srgbClr val="FFFFFF"/>
            </a:solidFill>
            <a:ln w="9525">
              <a:solidFill>
                <a:srgbClr val="D9DEE5"/>
              </a:solidFill>
            </a:ln>
          </p:spPr>
        </p:sp>
        <p:sp>
          <p:nvSpPr>
            <p:cNvPr id="35" name="TextBox 36">
              <a:extLst>
                <a:ext uri="{FF2B5EF4-FFF2-40B4-BE49-F238E27FC236}">
                  <a16:creationId xmlns:a16="http://schemas.microsoft.com/office/drawing/2014/main" id="{EC20D0D6-435E-9F7B-219B-2614F5F2650E}"/>
                </a:ext>
              </a:extLst>
            </p:cNvPr>
            <p:cNvSpPr txBox="1"/>
            <p:nvPr/>
          </p:nvSpPr>
          <p:spPr>
            <a:xfrm>
              <a:off x="2326818" y="3561107"/>
              <a:ext cx="2280564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A 组看 B 组的严格评价</a:t>
              </a:r>
            </a:p>
          </p:txBody>
        </p:sp>
        <p:sp>
          <p:nvSpPr>
            <p:cNvPr id="36" name="TextBox 37">
              <a:extLst>
                <a:ext uri="{FF2B5EF4-FFF2-40B4-BE49-F238E27FC236}">
                  <a16:creationId xmlns:a16="http://schemas.microsoft.com/office/drawing/2014/main" id="{2AC43BAA-16A5-D9B7-B38B-D1B7D7A2E7B7}"/>
                </a:ext>
              </a:extLst>
            </p:cNvPr>
            <p:cNvSpPr txBox="1"/>
            <p:nvPr/>
          </p:nvSpPr>
          <p:spPr>
            <a:xfrm>
              <a:off x="1201417" y="3887443"/>
              <a:ext cx="1856119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GLM、Qwen 重新评分</a:t>
              </a:r>
            </a:p>
          </p:txBody>
        </p:sp>
        <p:sp>
          <p:nvSpPr>
            <p:cNvPr id="37" name="TextBox 38">
              <a:extLst>
                <a:ext uri="{FF2B5EF4-FFF2-40B4-BE49-F238E27FC236}">
                  <a16:creationId xmlns:a16="http://schemas.microsoft.com/office/drawing/2014/main" id="{648A826D-9055-0BFF-CB14-FF726675C1B9}"/>
                </a:ext>
              </a:extLst>
            </p:cNvPr>
            <p:cNvSpPr txBox="1"/>
            <p:nvPr/>
          </p:nvSpPr>
          <p:spPr>
            <a:xfrm>
              <a:off x="1203960" y="4194810"/>
              <a:ext cx="30468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• accepted_points：接受对方意见的理由</a:t>
              </a:r>
            </a:p>
          </p:txBody>
        </p:sp>
        <p:sp>
          <p:nvSpPr>
            <p:cNvPr id="38" name="TextBox 39">
              <a:extLst>
                <a:ext uri="{FF2B5EF4-FFF2-40B4-BE49-F238E27FC236}">
                  <a16:creationId xmlns:a16="http://schemas.microsoft.com/office/drawing/2014/main" id="{7EE32BD4-A477-7CB7-0D86-B895F274CE88}"/>
                </a:ext>
              </a:extLst>
            </p:cNvPr>
            <p:cNvSpPr txBox="1"/>
            <p:nvPr/>
          </p:nvSpPr>
          <p:spPr>
            <a:xfrm>
              <a:off x="1203960" y="4461510"/>
              <a:ext cx="300685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• rejected_points：拒绝对方意见的理由</a:t>
              </a:r>
            </a:p>
          </p:txBody>
        </p:sp>
        <p:sp>
          <p:nvSpPr>
            <p:cNvPr id="39" name="Rectangle 40">
              <a:extLst>
                <a:ext uri="{FF2B5EF4-FFF2-40B4-BE49-F238E27FC236}">
                  <a16:creationId xmlns:a16="http://schemas.microsoft.com/office/drawing/2014/main" id="{1303C96F-3BB1-52C9-CF7E-210A1ECBABCA}"/>
                </a:ext>
              </a:extLst>
            </p:cNvPr>
            <p:cNvSpPr/>
            <p:nvPr/>
          </p:nvSpPr>
          <p:spPr>
            <a:xfrm>
              <a:off x="6248400" y="3429000"/>
              <a:ext cx="4953000" cy="1447800"/>
            </a:xfrm>
            <a:prstGeom prst="roundRect">
              <a:avLst>
                <a:gd name="adj" fmla="val 3947"/>
              </a:avLst>
            </a:prstGeom>
            <a:solidFill>
              <a:srgbClr val="FFFFFF"/>
            </a:solidFill>
            <a:ln w="9525">
              <a:solidFill>
                <a:srgbClr val="D9DEE5"/>
              </a:solidFill>
            </a:ln>
          </p:spPr>
        </p:sp>
        <p:sp>
          <p:nvSpPr>
            <p:cNvPr id="40" name="TextBox 41">
              <a:extLst>
                <a:ext uri="{FF2B5EF4-FFF2-40B4-BE49-F238E27FC236}">
                  <a16:creationId xmlns:a16="http://schemas.microsoft.com/office/drawing/2014/main" id="{E1D401E8-3B32-E02F-CADF-9642E2DB3608}"/>
                </a:ext>
              </a:extLst>
            </p:cNvPr>
            <p:cNvSpPr txBox="1"/>
            <p:nvPr/>
          </p:nvSpPr>
          <p:spPr>
            <a:xfrm>
              <a:off x="7584618" y="3561107"/>
              <a:ext cx="2280564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44546A"/>
                  </a:solidFill>
                  <a:latin typeface="Arial"/>
                  <a:ea typeface="Microsoft YaHei"/>
                  <a:cs typeface="Arial"/>
                </a:rPr>
                <a:t>B 组看 A 组的宽松评价</a:t>
              </a:r>
            </a:p>
          </p:txBody>
        </p:sp>
        <p:sp>
          <p:nvSpPr>
            <p:cNvPr id="41" name="TextBox 42">
              <a:extLst>
                <a:ext uri="{FF2B5EF4-FFF2-40B4-BE49-F238E27FC236}">
                  <a16:creationId xmlns:a16="http://schemas.microsoft.com/office/drawing/2014/main" id="{1AB6152E-6ED2-4C6D-6A87-424D41848C00}"/>
                </a:ext>
              </a:extLst>
            </p:cNvPr>
            <p:cNvSpPr txBox="1"/>
            <p:nvPr/>
          </p:nvSpPr>
          <p:spPr>
            <a:xfrm>
              <a:off x="6459217" y="3887443"/>
              <a:ext cx="2201557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DeepSeek、Kimi 重新评分</a:t>
              </a:r>
            </a:p>
          </p:txBody>
        </p:sp>
        <p:sp>
          <p:nvSpPr>
            <p:cNvPr id="42" name="TextBox 43">
              <a:extLst>
                <a:ext uri="{FF2B5EF4-FFF2-40B4-BE49-F238E27FC236}">
                  <a16:creationId xmlns:a16="http://schemas.microsoft.com/office/drawing/2014/main" id="{6935CA88-1574-AB8D-2CD6-B1A118BE1EF1}"/>
                </a:ext>
              </a:extLst>
            </p:cNvPr>
            <p:cNvSpPr txBox="1"/>
            <p:nvPr/>
          </p:nvSpPr>
          <p:spPr>
            <a:xfrm>
              <a:off x="6461760" y="4194810"/>
              <a:ext cx="30468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• accepted_points：接受对方意见的理由</a:t>
              </a:r>
            </a:p>
          </p:txBody>
        </p:sp>
        <p:sp>
          <p:nvSpPr>
            <p:cNvPr id="43" name="TextBox 44">
              <a:extLst>
                <a:ext uri="{FF2B5EF4-FFF2-40B4-BE49-F238E27FC236}">
                  <a16:creationId xmlns:a16="http://schemas.microsoft.com/office/drawing/2014/main" id="{51475ED7-4559-3400-82AD-187031FFF1A3}"/>
                </a:ext>
              </a:extLst>
            </p:cNvPr>
            <p:cNvSpPr txBox="1"/>
            <p:nvPr/>
          </p:nvSpPr>
          <p:spPr>
            <a:xfrm>
              <a:off x="6461760" y="4461510"/>
              <a:ext cx="300685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• rejected_points：拒绝对方意见的理由</a:t>
              </a:r>
            </a:p>
          </p:txBody>
        </p:sp>
      </p:grpSp>
      <p:grpSp>
        <p:nvGrpSpPr>
          <p:cNvPr id="44" name="Group 53">
            <a:extLst>
              <a:ext uri="{FF2B5EF4-FFF2-40B4-BE49-F238E27FC236}">
                <a16:creationId xmlns:a16="http://schemas.microsoft.com/office/drawing/2014/main" id="{269FD7A2-B4DB-E353-CEC5-35B30CE300B4}"/>
              </a:ext>
            </a:extLst>
          </p:cNvPr>
          <p:cNvGrpSpPr/>
          <p:nvPr/>
        </p:nvGrpSpPr>
        <p:grpSpPr>
          <a:xfrm>
            <a:off x="665483" y="5386072"/>
            <a:ext cx="9686542" cy="972817"/>
            <a:chOff x="665483" y="5304182"/>
            <a:chExt cx="9686542" cy="972817"/>
          </a:xfrm>
        </p:grpSpPr>
        <p:sp>
          <p:nvSpPr>
            <p:cNvPr id="45" name="TextBox 46">
              <a:extLst>
                <a:ext uri="{FF2B5EF4-FFF2-40B4-BE49-F238E27FC236}">
                  <a16:creationId xmlns:a16="http://schemas.microsoft.com/office/drawing/2014/main" id="{3A68D3F0-4961-62B1-BEEE-076EB05A6D82}"/>
                </a:ext>
              </a:extLst>
            </p:cNvPr>
            <p:cNvSpPr txBox="1"/>
            <p:nvPr/>
          </p:nvSpPr>
          <p:spPr>
            <a:xfrm>
              <a:off x="665483" y="5304182"/>
              <a:ext cx="936606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设计哲学</a:t>
              </a:r>
            </a:p>
          </p:txBody>
        </p:sp>
        <p:sp>
          <p:nvSpPr>
            <p:cNvPr id="46" name="Ellipse 47">
              <a:extLst>
                <a:ext uri="{FF2B5EF4-FFF2-40B4-BE49-F238E27FC236}">
                  <a16:creationId xmlns:a16="http://schemas.microsoft.com/office/drawing/2014/main" id="{002F3659-E2F2-3190-B3AB-63D4CFD56169}"/>
                </a:ext>
              </a:extLst>
            </p:cNvPr>
            <p:cNvSpPr/>
            <p:nvPr/>
          </p:nvSpPr>
          <p:spPr>
            <a:xfrm>
              <a:off x="781050" y="5715000"/>
              <a:ext cx="76200" cy="76200"/>
            </a:xfrm>
            <a:prstGeom prst="ellipse">
              <a:avLst/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47" name="TextBox 48">
              <a:extLst>
                <a:ext uri="{FF2B5EF4-FFF2-40B4-BE49-F238E27FC236}">
                  <a16:creationId xmlns:a16="http://schemas.microsoft.com/office/drawing/2014/main" id="{06BFEAE7-38EA-ACE8-5DCB-6492076ADBBB}"/>
                </a:ext>
              </a:extLst>
            </p:cNvPr>
            <p:cNvSpPr txBox="1"/>
            <p:nvPr/>
          </p:nvSpPr>
          <p:spPr>
            <a:xfrm>
              <a:off x="972817" y="5649568"/>
              <a:ext cx="4143480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不是取均值抹平差异，而是迫使模型审视自身偏见</a:t>
              </a:r>
            </a:p>
          </p:txBody>
        </p:sp>
        <p:sp>
          <p:nvSpPr>
            <p:cNvPr id="48" name="Ellipse 49">
              <a:extLst>
                <a:ext uri="{FF2B5EF4-FFF2-40B4-BE49-F238E27FC236}">
                  <a16:creationId xmlns:a16="http://schemas.microsoft.com/office/drawing/2014/main" id="{38ECE268-4E87-1AAB-C708-E1355A03351D}"/>
                </a:ext>
              </a:extLst>
            </p:cNvPr>
            <p:cNvSpPr/>
            <p:nvPr/>
          </p:nvSpPr>
          <p:spPr>
            <a:xfrm>
              <a:off x="5867400" y="5715000"/>
              <a:ext cx="76200" cy="76200"/>
            </a:xfrm>
            <a:prstGeom prst="ellipse">
              <a:avLst/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49" name="TextBox 50">
              <a:extLst>
                <a:ext uri="{FF2B5EF4-FFF2-40B4-BE49-F238E27FC236}">
                  <a16:creationId xmlns:a16="http://schemas.microsoft.com/office/drawing/2014/main" id="{450F0B4F-4940-8CD3-20D5-E198C4CC8205}"/>
                </a:ext>
              </a:extLst>
            </p:cNvPr>
            <p:cNvSpPr txBox="1"/>
            <p:nvPr/>
          </p:nvSpPr>
          <p:spPr>
            <a:xfrm>
              <a:off x="6059167" y="5649568"/>
              <a:ext cx="429285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DeepSeek 的"顽固性"是设计正确行为（锚定效应）</a:t>
              </a:r>
            </a:p>
          </p:txBody>
        </p:sp>
        <p:sp>
          <p:nvSpPr>
            <p:cNvPr id="50" name="Ellipse 51">
              <a:extLst>
                <a:ext uri="{FF2B5EF4-FFF2-40B4-BE49-F238E27FC236}">
                  <a16:creationId xmlns:a16="http://schemas.microsoft.com/office/drawing/2014/main" id="{B907CAA9-ABCD-D012-950E-27A4375C4B8F}"/>
                </a:ext>
              </a:extLst>
            </p:cNvPr>
            <p:cNvSpPr/>
            <p:nvPr/>
          </p:nvSpPr>
          <p:spPr>
            <a:xfrm>
              <a:off x="781050" y="6057900"/>
              <a:ext cx="76200" cy="76200"/>
            </a:xfrm>
            <a:prstGeom prst="ellipse">
              <a:avLst/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51" name="TextBox 52">
              <a:extLst>
                <a:ext uri="{FF2B5EF4-FFF2-40B4-BE49-F238E27FC236}">
                  <a16:creationId xmlns:a16="http://schemas.microsoft.com/office/drawing/2014/main" id="{168D2E2A-749A-C8AE-8F4A-1F92C05E7081}"/>
                </a:ext>
              </a:extLst>
            </p:cNvPr>
            <p:cNvSpPr txBox="1"/>
            <p:nvPr/>
          </p:nvSpPr>
          <p:spPr>
            <a:xfrm>
              <a:off x="972817" y="5992468"/>
              <a:ext cx="342459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未收敛维度 = 真实学术分歧，交专家终审</a:t>
              </a:r>
            </a:p>
          </p:txBody>
        </p:sp>
      </p:grpSp>
      <p:pic>
        <p:nvPicPr>
          <p:cNvPr id="52" name="Picture 51" descr="Zhipu (智谱) Logo">
            <a:extLst>
              <a:ext uri="{FF2B5EF4-FFF2-40B4-BE49-F238E27FC236}">
                <a16:creationId xmlns:a16="http://schemas.microsoft.com/office/drawing/2014/main" id="{0439A06E-A53E-CE68-B315-637F85DD3A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953" y="1669666"/>
            <a:ext cx="683730" cy="683730"/>
          </a:xfrm>
          <a:prstGeom prst="rect">
            <a:avLst/>
          </a:prstGeom>
        </p:spPr>
      </p:pic>
      <p:pic>
        <p:nvPicPr>
          <p:cNvPr id="53" name="Picture 52" descr="Qwen (千问) Logo">
            <a:extLst>
              <a:ext uri="{FF2B5EF4-FFF2-40B4-BE49-F238E27FC236}">
                <a16:creationId xmlns:a16="http://schemas.microsoft.com/office/drawing/2014/main" id="{09CAE39A-E04D-D0B2-B12B-9E781D6876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307" y="1663601"/>
            <a:ext cx="683730" cy="683730"/>
          </a:xfrm>
          <a:prstGeom prst="rect">
            <a:avLst/>
          </a:prstGeom>
        </p:spPr>
      </p:pic>
      <p:pic>
        <p:nvPicPr>
          <p:cNvPr id="54" name="Picture 53" descr="DeepSeek Logo">
            <a:extLst>
              <a:ext uri="{FF2B5EF4-FFF2-40B4-BE49-F238E27FC236}">
                <a16:creationId xmlns:a16="http://schemas.microsoft.com/office/drawing/2014/main" id="{FABDD12E-D538-CBCB-89B4-FBF79ECE7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6634" y="1611579"/>
            <a:ext cx="814047" cy="814047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FE10B165-D267-F012-E9BB-2D32043595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6701" y="1719828"/>
            <a:ext cx="609601" cy="60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231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1" grpId="0"/>
      <p:bldP spid="4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087B87-F0C3-1162-EFD7-9D35508515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11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710786-009F-25E7-B484-8CB900F44D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77F8A6-5843-5369-7B63-13CF92B573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F5A1C0-7AC5-4478-7EB9-28F6A40617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5351" y="43657"/>
            <a:ext cx="8559968" cy="598488"/>
          </a:xfrm>
        </p:spPr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Auto</a:t>
            </a:r>
            <a:r>
              <a:rPr lang="en-US" altLang="zh-CN" dirty="0">
                <a:solidFill>
                  <a:srgbClr val="FFFFFF"/>
                </a:solidFill>
                <a:ea typeface="Microsoft YaHei"/>
                <a:cs typeface="Arial"/>
              </a:rPr>
              <a:t>R</a:t>
            </a:r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esearch：与专家对齐 + 平衡模型差异</a:t>
            </a:r>
          </a:p>
        </p:txBody>
      </p:sp>
      <p:grpSp>
        <p:nvGrpSpPr>
          <p:cNvPr id="6" name="Group 18">
            <a:extLst>
              <a:ext uri="{FF2B5EF4-FFF2-40B4-BE49-F238E27FC236}">
                <a16:creationId xmlns:a16="http://schemas.microsoft.com/office/drawing/2014/main" id="{74AAA86F-AC4B-67DE-3238-E9F514580DED}"/>
              </a:ext>
            </a:extLst>
          </p:cNvPr>
          <p:cNvGrpSpPr/>
          <p:nvPr/>
        </p:nvGrpSpPr>
        <p:grpSpPr>
          <a:xfrm>
            <a:off x="685800" y="983063"/>
            <a:ext cx="10820400" cy="1409700"/>
            <a:chOff x="685800" y="1228725"/>
            <a:chExt cx="10820400" cy="1409700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A131DC7B-0E1D-9998-2430-189C58AAF5C0}"/>
                </a:ext>
              </a:extLst>
            </p:cNvPr>
            <p:cNvSpPr/>
            <p:nvPr/>
          </p:nvSpPr>
          <p:spPr>
            <a:xfrm>
              <a:off x="685800" y="1228725"/>
              <a:ext cx="5257800" cy="1409700"/>
            </a:xfrm>
            <a:prstGeom prst="roundRect">
              <a:avLst>
                <a:gd name="adj" fmla="val 5405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8" name="TextBox 9">
              <a:extLst>
                <a:ext uri="{FF2B5EF4-FFF2-40B4-BE49-F238E27FC236}">
                  <a16:creationId xmlns:a16="http://schemas.microsoft.com/office/drawing/2014/main" id="{EBBB86A1-689B-93F1-BF14-31C9EB63AF3E}"/>
                </a:ext>
              </a:extLst>
            </p:cNvPr>
            <p:cNvSpPr txBox="1"/>
            <p:nvPr/>
          </p:nvSpPr>
          <p:spPr>
            <a:xfrm>
              <a:off x="970283" y="1360832"/>
              <a:ext cx="2414959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目标 1：与法学专家对齐</a:t>
              </a:r>
            </a:p>
          </p:txBody>
        </p:sp>
        <p:sp>
          <p:nvSpPr>
            <p:cNvPr id="9" name="TextBox 10">
              <a:extLst>
                <a:ext uri="{FF2B5EF4-FFF2-40B4-BE49-F238E27FC236}">
                  <a16:creationId xmlns:a16="http://schemas.microsoft.com/office/drawing/2014/main" id="{D26C19E9-94C1-898F-2899-D221A188C6F8}"/>
                </a:ext>
              </a:extLst>
            </p:cNvPr>
            <p:cNvSpPr txBox="1"/>
            <p:nvPr/>
          </p:nvSpPr>
          <p:spPr>
            <a:xfrm>
              <a:off x="972817" y="1687168"/>
              <a:ext cx="2893421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正样本不被误伤（蒋红珍 </a:t>
              </a:r>
              <a:r>
                <a:rPr lang="en-US" alt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84</a:t>
              </a:r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.1 分）</a:t>
              </a:r>
            </a:p>
          </p:txBody>
        </p:sp>
        <p:sp>
          <p:nvSpPr>
            <p:cNvPr id="10" name="TextBox 11">
              <a:extLst>
                <a:ext uri="{FF2B5EF4-FFF2-40B4-BE49-F238E27FC236}">
                  <a16:creationId xmlns:a16="http://schemas.microsoft.com/office/drawing/2014/main" id="{8A6C6EC8-5B0E-A99C-7D58-920B50490F9F}"/>
                </a:ext>
              </a:extLst>
            </p:cNvPr>
            <p:cNvSpPr txBox="1"/>
            <p:nvPr/>
          </p:nvSpPr>
          <p:spPr>
            <a:xfrm>
              <a:off x="972817" y="1953868"/>
              <a:ext cx="3209863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负样本被有效识别（13 篇专家标注）</a:t>
              </a:r>
            </a:p>
          </p:txBody>
        </p: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95A2C839-76E0-9436-A131-3617B6CDB8C4}"/>
                </a:ext>
              </a:extLst>
            </p:cNvPr>
            <p:cNvSpPr txBox="1"/>
            <p:nvPr/>
          </p:nvSpPr>
          <p:spPr>
            <a:xfrm>
              <a:off x="972817" y="2220568"/>
              <a:ext cx="348994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正负差距：22.0 分（有效识别的 4 篇）</a:t>
              </a:r>
            </a:p>
          </p:txBody>
        </p:sp>
        <p:sp>
          <p:nvSpPr>
            <p:cNvPr id="12" name="Rectangle 13">
              <a:extLst>
                <a:ext uri="{FF2B5EF4-FFF2-40B4-BE49-F238E27FC236}">
                  <a16:creationId xmlns:a16="http://schemas.microsoft.com/office/drawing/2014/main" id="{9E995520-47B9-9B08-79B2-60F965C7EC7D}"/>
                </a:ext>
              </a:extLst>
            </p:cNvPr>
            <p:cNvSpPr/>
            <p:nvPr/>
          </p:nvSpPr>
          <p:spPr>
            <a:xfrm>
              <a:off x="6248400" y="1228725"/>
              <a:ext cx="5257800" cy="1409700"/>
            </a:xfrm>
            <a:prstGeom prst="roundRect">
              <a:avLst>
                <a:gd name="adj" fmla="val 5405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13" name="TextBox 14">
              <a:extLst>
                <a:ext uri="{FF2B5EF4-FFF2-40B4-BE49-F238E27FC236}">
                  <a16:creationId xmlns:a16="http://schemas.microsoft.com/office/drawing/2014/main" id="{59BE7EF0-3822-8DF7-88A9-6111E3D4FF3B}"/>
                </a:ext>
              </a:extLst>
            </p:cNvPr>
            <p:cNvSpPr txBox="1"/>
            <p:nvPr/>
          </p:nvSpPr>
          <p:spPr>
            <a:xfrm>
              <a:off x="6532883" y="1360832"/>
              <a:ext cx="2470958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目标 2：平衡模型间差异</a:t>
              </a:r>
            </a:p>
          </p:txBody>
        </p:sp>
        <p:sp>
          <p:nvSpPr>
            <p:cNvPr id="14" name="TextBox 15">
              <a:extLst>
                <a:ext uri="{FF2B5EF4-FFF2-40B4-BE49-F238E27FC236}">
                  <a16:creationId xmlns:a16="http://schemas.microsoft.com/office/drawing/2014/main" id="{2C3A93F7-92AD-6720-FA63-9DB8CCA11CBE}"/>
                </a:ext>
              </a:extLst>
            </p:cNvPr>
            <p:cNvSpPr txBox="1"/>
            <p:nvPr/>
          </p:nvSpPr>
          <p:spPr>
            <a:xfrm>
              <a:off x="6535417" y="1687168"/>
              <a:ext cx="280840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降低多模型标准差，提高可靠性</a:t>
              </a:r>
            </a:p>
          </p:txBody>
        </p:sp>
        <p:sp>
          <p:nvSpPr>
            <p:cNvPr id="15" name="TextBox 16">
              <a:extLst>
                <a:ext uri="{FF2B5EF4-FFF2-40B4-BE49-F238E27FC236}">
                  <a16:creationId xmlns:a16="http://schemas.microsoft.com/office/drawing/2014/main" id="{599F809E-463D-F82E-9A90-4325FA8D5032}"/>
                </a:ext>
              </a:extLst>
            </p:cNvPr>
            <p:cNvSpPr txBox="1"/>
            <p:nvPr/>
          </p:nvSpPr>
          <p:spPr>
            <a:xfrm>
              <a:off x="6535417" y="1953868"/>
              <a:ext cx="3396586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Kimi 评分系统性偏低（5/6 维度最低）</a:t>
              </a:r>
            </a:p>
          </p:txBody>
        </p:sp>
        <p:sp>
          <p:nvSpPr>
            <p:cNvPr id="16" name="TextBox 17">
              <a:extLst>
                <a:ext uri="{FF2B5EF4-FFF2-40B4-BE49-F238E27FC236}">
                  <a16:creationId xmlns:a16="http://schemas.microsoft.com/office/drawing/2014/main" id="{493E85C6-256E-9F5A-4CFB-EE3E61569E32}"/>
                </a:ext>
              </a:extLst>
            </p:cNvPr>
            <p:cNvSpPr txBox="1"/>
            <p:nvPr/>
          </p:nvSpPr>
          <p:spPr>
            <a:xfrm>
              <a:off x="6535417" y="2220568"/>
              <a:ext cx="212686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GLM 与 Qwen 高度一致</a:t>
              </a:r>
            </a:p>
          </p:txBody>
        </p:sp>
      </p:grpSp>
      <p:sp>
        <p:nvSpPr>
          <p:cNvPr id="17" name="TextBox 19">
            <a:extLst>
              <a:ext uri="{FF2B5EF4-FFF2-40B4-BE49-F238E27FC236}">
                <a16:creationId xmlns:a16="http://schemas.microsoft.com/office/drawing/2014/main" id="{4AA098D8-1522-9285-D8E7-315FF31ED7DF}"/>
              </a:ext>
            </a:extLst>
          </p:cNvPr>
          <p:cNvSpPr txBox="1"/>
          <p:nvPr/>
        </p:nvSpPr>
        <p:spPr>
          <a:xfrm>
            <a:off x="660397" y="2567361"/>
            <a:ext cx="5428150" cy="4064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00" b="1" dirty="0">
                <a:solidFill>
                  <a:srgbClr val="C8161E"/>
                </a:solidFill>
                <a:latin typeface="Arial"/>
                <a:ea typeface="Microsoft YaHei"/>
                <a:cs typeface="Arial"/>
              </a:rPr>
              <a:t>迭代历程：v2.19 → v2.56.6（21+ 次迭代）</a:t>
            </a:r>
          </a:p>
        </p:txBody>
      </p:sp>
      <p:grpSp>
        <p:nvGrpSpPr>
          <p:cNvPr id="18" name="Group 42">
            <a:extLst>
              <a:ext uri="{FF2B5EF4-FFF2-40B4-BE49-F238E27FC236}">
                <a16:creationId xmlns:a16="http://schemas.microsoft.com/office/drawing/2014/main" id="{C6F0016F-1D6E-6362-3A31-1BFDF9432C79}"/>
              </a:ext>
            </a:extLst>
          </p:cNvPr>
          <p:cNvGrpSpPr/>
          <p:nvPr/>
        </p:nvGrpSpPr>
        <p:grpSpPr>
          <a:xfrm>
            <a:off x="685800" y="2992838"/>
            <a:ext cx="10820400" cy="2495550"/>
            <a:chOff x="685800" y="3238500"/>
            <a:chExt cx="10820400" cy="2495550"/>
          </a:xfrm>
        </p:grpSpPr>
        <p:sp>
          <p:nvSpPr>
            <p:cNvPr id="19" name="Rectangle 20">
              <a:extLst>
                <a:ext uri="{FF2B5EF4-FFF2-40B4-BE49-F238E27FC236}">
                  <a16:creationId xmlns:a16="http://schemas.microsoft.com/office/drawing/2014/main" id="{545B1645-26EB-80C2-86D9-170077ED62D7}"/>
                </a:ext>
              </a:extLst>
            </p:cNvPr>
            <p:cNvSpPr/>
            <p:nvPr/>
          </p:nvSpPr>
          <p:spPr>
            <a:xfrm>
              <a:off x="685800" y="3238500"/>
              <a:ext cx="10820400" cy="2381250"/>
            </a:xfrm>
            <a:prstGeom prst="roundRect">
              <a:avLst>
                <a:gd name="adj" fmla="val 3200"/>
              </a:avLst>
            </a:prstGeom>
            <a:solidFill>
              <a:srgbClr val="FFFFFF"/>
            </a:solidFill>
            <a:ln w="9525">
              <a:solidFill>
                <a:srgbClr val="D9DEE5"/>
              </a:solidFill>
            </a:ln>
          </p:spPr>
        </p:sp>
        <p:sp>
          <p:nvSpPr>
            <p:cNvPr id="20" name="Line 21">
              <a:extLst>
                <a:ext uri="{FF2B5EF4-FFF2-40B4-BE49-F238E27FC236}">
                  <a16:creationId xmlns:a16="http://schemas.microsoft.com/office/drawing/2014/main" id="{0E0B0781-B7CC-6B05-32A6-2CA9B4E37B3E}"/>
                </a:ext>
              </a:extLst>
            </p:cNvPr>
            <p:cNvSpPr/>
            <p:nvPr/>
          </p:nvSpPr>
          <p:spPr>
            <a:xfrm>
              <a:off x="1238250" y="3476625"/>
              <a:ext cx="9525" cy="1952625"/>
            </a:xfrm>
            <a:custGeom>
              <a:avLst/>
              <a:gdLst/>
              <a:ahLst/>
              <a:cxnLst/>
              <a:rect l="l" t="t" r="r" b="b"/>
              <a:pathLst>
                <a:path w="9525" h="1952625">
                  <a:moveTo>
                    <a:pt x="0" y="0"/>
                  </a:moveTo>
                  <a:lnTo>
                    <a:pt x="0" y="1952625"/>
                  </a:lnTo>
                </a:path>
              </a:pathLst>
            </a:custGeom>
            <a:noFill/>
            <a:ln w="9525">
              <a:solidFill>
                <a:srgbClr val="94A3B8"/>
              </a:solidFill>
            </a:ln>
          </p:spPr>
        </p:sp>
        <p:sp>
          <p:nvSpPr>
            <p:cNvPr id="21" name="TextBox 22">
              <a:extLst>
                <a:ext uri="{FF2B5EF4-FFF2-40B4-BE49-F238E27FC236}">
                  <a16:creationId xmlns:a16="http://schemas.microsoft.com/office/drawing/2014/main" id="{DF942F15-8642-69DD-E231-3DDF6AC6DA97}"/>
                </a:ext>
              </a:extLst>
            </p:cNvPr>
            <p:cNvSpPr txBox="1"/>
            <p:nvPr/>
          </p:nvSpPr>
          <p:spPr>
            <a:xfrm>
              <a:off x="969271" y="3413760"/>
              <a:ext cx="16991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alt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30</a:t>
              </a:r>
              <a:endParaRPr lang="zh-CN" sz="1200" dirty="0">
                <a:solidFill>
                  <a:srgbClr val="5A6472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22" name="TextBox 23">
              <a:extLst>
                <a:ext uri="{FF2B5EF4-FFF2-40B4-BE49-F238E27FC236}">
                  <a16:creationId xmlns:a16="http://schemas.microsoft.com/office/drawing/2014/main" id="{B7AC384E-217E-91D1-F94C-C377C6A194F0}"/>
                </a:ext>
              </a:extLst>
            </p:cNvPr>
            <p:cNvSpPr txBox="1"/>
            <p:nvPr/>
          </p:nvSpPr>
          <p:spPr>
            <a:xfrm>
              <a:off x="969272" y="4061460"/>
              <a:ext cx="169918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alt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20</a:t>
              </a:r>
              <a:endParaRPr lang="zh-CN" sz="1200" dirty="0">
                <a:solidFill>
                  <a:srgbClr val="5A6472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5AF16BE9-2D7A-A9B2-7E64-0226D1CF5D05}"/>
                </a:ext>
              </a:extLst>
            </p:cNvPr>
            <p:cNvSpPr txBox="1"/>
            <p:nvPr/>
          </p:nvSpPr>
          <p:spPr>
            <a:xfrm>
              <a:off x="969271" y="4709160"/>
              <a:ext cx="16991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alt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10</a:t>
              </a:r>
              <a:endParaRPr lang="zh-CN" sz="1200" dirty="0">
                <a:solidFill>
                  <a:srgbClr val="5A6472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24" name="TextBox 25">
              <a:extLst>
                <a:ext uri="{FF2B5EF4-FFF2-40B4-BE49-F238E27FC236}">
                  <a16:creationId xmlns:a16="http://schemas.microsoft.com/office/drawing/2014/main" id="{99C1729A-CF48-5905-09D9-B67E75148644}"/>
                </a:ext>
              </a:extLst>
            </p:cNvPr>
            <p:cNvSpPr txBox="1"/>
            <p:nvPr/>
          </p:nvSpPr>
          <p:spPr>
            <a:xfrm>
              <a:off x="1054230" y="5347335"/>
              <a:ext cx="8496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alt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0</a:t>
              </a:r>
              <a:endParaRPr lang="zh-CN" sz="1200" dirty="0">
                <a:solidFill>
                  <a:srgbClr val="5A6472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25" name="Line 26">
              <a:extLst>
                <a:ext uri="{FF2B5EF4-FFF2-40B4-BE49-F238E27FC236}">
                  <a16:creationId xmlns:a16="http://schemas.microsoft.com/office/drawing/2014/main" id="{E8C23DAB-D9E1-B98B-EB8C-ED63A242C684}"/>
                </a:ext>
              </a:extLst>
            </p:cNvPr>
            <p:cNvSpPr/>
            <p:nvPr/>
          </p:nvSpPr>
          <p:spPr>
            <a:xfrm>
              <a:off x="1238250" y="3476625"/>
              <a:ext cx="10001250" cy="9525"/>
            </a:xfrm>
            <a:custGeom>
              <a:avLst/>
              <a:gdLst/>
              <a:ahLst/>
              <a:cxnLst/>
              <a:rect l="l" t="t" r="r" b="b"/>
              <a:pathLst>
                <a:path w="10001250" h="9525">
                  <a:moveTo>
                    <a:pt x="0" y="0"/>
                  </a:moveTo>
                  <a:lnTo>
                    <a:pt x="1000125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</a:ln>
          </p:spPr>
        </p:sp>
        <p:sp>
          <p:nvSpPr>
            <p:cNvPr id="26" name="Line 27">
              <a:extLst>
                <a:ext uri="{FF2B5EF4-FFF2-40B4-BE49-F238E27FC236}">
                  <a16:creationId xmlns:a16="http://schemas.microsoft.com/office/drawing/2014/main" id="{024671D8-55CF-9B71-4BC8-E60E2B9DF1F0}"/>
                </a:ext>
              </a:extLst>
            </p:cNvPr>
            <p:cNvSpPr/>
            <p:nvPr/>
          </p:nvSpPr>
          <p:spPr>
            <a:xfrm>
              <a:off x="1238250" y="4124325"/>
              <a:ext cx="10001250" cy="9525"/>
            </a:xfrm>
            <a:custGeom>
              <a:avLst/>
              <a:gdLst/>
              <a:ahLst/>
              <a:cxnLst/>
              <a:rect l="l" t="t" r="r" b="b"/>
              <a:pathLst>
                <a:path w="10001250" h="9525">
                  <a:moveTo>
                    <a:pt x="0" y="0"/>
                  </a:moveTo>
                  <a:lnTo>
                    <a:pt x="1000125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</a:ln>
          </p:spPr>
        </p:sp>
        <p:sp>
          <p:nvSpPr>
            <p:cNvPr id="27" name="Line 28">
              <a:extLst>
                <a:ext uri="{FF2B5EF4-FFF2-40B4-BE49-F238E27FC236}">
                  <a16:creationId xmlns:a16="http://schemas.microsoft.com/office/drawing/2014/main" id="{63E18207-6E59-EBFD-D6E8-4E4452FBFA4C}"/>
                </a:ext>
              </a:extLst>
            </p:cNvPr>
            <p:cNvSpPr/>
            <p:nvPr/>
          </p:nvSpPr>
          <p:spPr>
            <a:xfrm>
              <a:off x="1238250" y="4781550"/>
              <a:ext cx="10001250" cy="9525"/>
            </a:xfrm>
            <a:custGeom>
              <a:avLst/>
              <a:gdLst/>
              <a:ahLst/>
              <a:cxnLst/>
              <a:rect l="l" t="t" r="r" b="b"/>
              <a:pathLst>
                <a:path w="10001250" h="9525">
                  <a:moveTo>
                    <a:pt x="0" y="0"/>
                  </a:moveTo>
                  <a:lnTo>
                    <a:pt x="1000125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</a:ln>
          </p:spPr>
        </p:sp>
        <p:sp>
          <p:nvSpPr>
            <p:cNvPr id="28" name="Line 29">
              <a:extLst>
                <a:ext uri="{FF2B5EF4-FFF2-40B4-BE49-F238E27FC236}">
                  <a16:creationId xmlns:a16="http://schemas.microsoft.com/office/drawing/2014/main" id="{3CB33F86-F133-EF6F-2C69-C9D52D44135F}"/>
                </a:ext>
              </a:extLst>
            </p:cNvPr>
            <p:cNvSpPr/>
            <p:nvPr/>
          </p:nvSpPr>
          <p:spPr>
            <a:xfrm>
              <a:off x="1238250" y="5429250"/>
              <a:ext cx="10001250" cy="9525"/>
            </a:xfrm>
            <a:custGeom>
              <a:avLst/>
              <a:gdLst/>
              <a:ahLst/>
              <a:cxnLst/>
              <a:rect l="l" t="t" r="r" b="b"/>
              <a:pathLst>
                <a:path w="10001250" h="9525">
                  <a:moveTo>
                    <a:pt x="0" y="0"/>
                  </a:moveTo>
                  <a:lnTo>
                    <a:pt x="10001250" y="0"/>
                  </a:lnTo>
                </a:path>
              </a:pathLst>
            </a:custGeom>
            <a:noFill/>
            <a:ln w="9525">
              <a:solidFill>
                <a:srgbClr val="94A3B8"/>
              </a:solidFill>
            </a:ln>
          </p:spPr>
        </p:sp>
        <p:sp>
          <p:nvSpPr>
            <p:cNvPr id="29" name="TextBox 30">
              <a:extLst>
                <a:ext uri="{FF2B5EF4-FFF2-40B4-BE49-F238E27FC236}">
                  <a16:creationId xmlns:a16="http://schemas.microsoft.com/office/drawing/2014/main" id="{2BE6C4D8-6356-1FB2-247E-64AF5A0F27D0}"/>
                </a:ext>
              </a:extLst>
            </p:cNvPr>
            <p:cNvSpPr txBox="1"/>
            <p:nvPr/>
          </p:nvSpPr>
          <p:spPr>
            <a:xfrm>
              <a:off x="1784985" y="5490210"/>
              <a:ext cx="4305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v2.19</a:t>
              </a:r>
            </a:p>
          </p:txBody>
        </p:sp>
        <p:sp>
          <p:nvSpPr>
            <p:cNvPr id="30" name="TextBox 31">
              <a:extLst>
                <a:ext uri="{FF2B5EF4-FFF2-40B4-BE49-F238E27FC236}">
                  <a16:creationId xmlns:a16="http://schemas.microsoft.com/office/drawing/2014/main" id="{BB8E0E8C-9BDF-861B-04E1-5BBC960ADCBD}"/>
                </a:ext>
              </a:extLst>
            </p:cNvPr>
            <p:cNvSpPr txBox="1"/>
            <p:nvPr/>
          </p:nvSpPr>
          <p:spPr>
            <a:xfrm>
              <a:off x="4622482" y="5490210"/>
              <a:ext cx="47053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v2.30</a:t>
              </a:r>
            </a:p>
          </p:txBody>
        </p:sp>
        <p:sp>
          <p:nvSpPr>
            <p:cNvPr id="31" name="TextBox 32">
              <a:extLst>
                <a:ext uri="{FF2B5EF4-FFF2-40B4-BE49-F238E27FC236}">
                  <a16:creationId xmlns:a16="http://schemas.microsoft.com/office/drawing/2014/main" id="{6498A7E6-4348-0789-2EAC-1D0F8BDA4681}"/>
                </a:ext>
              </a:extLst>
            </p:cNvPr>
            <p:cNvSpPr txBox="1"/>
            <p:nvPr/>
          </p:nvSpPr>
          <p:spPr>
            <a:xfrm>
              <a:off x="7479982" y="5490210"/>
              <a:ext cx="47053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v2.40</a:t>
              </a:r>
            </a:p>
          </p:txBody>
        </p:sp>
        <p:sp>
          <p:nvSpPr>
            <p:cNvPr id="32" name="TextBox 33">
              <a:extLst>
                <a:ext uri="{FF2B5EF4-FFF2-40B4-BE49-F238E27FC236}">
                  <a16:creationId xmlns:a16="http://schemas.microsoft.com/office/drawing/2014/main" id="{F47D2D1C-838F-2837-EBB6-380D9D9C1A3A}"/>
                </a:ext>
              </a:extLst>
            </p:cNvPr>
            <p:cNvSpPr txBox="1"/>
            <p:nvPr/>
          </p:nvSpPr>
          <p:spPr>
            <a:xfrm>
              <a:off x="10154222" y="5490210"/>
              <a:ext cx="6465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v2.56.6</a:t>
              </a:r>
            </a:p>
          </p:txBody>
        </p:sp>
        <p:sp>
          <p:nvSpPr>
            <p:cNvPr id="33" name="Polyline 34">
              <a:extLst>
                <a:ext uri="{FF2B5EF4-FFF2-40B4-BE49-F238E27FC236}">
                  <a16:creationId xmlns:a16="http://schemas.microsoft.com/office/drawing/2014/main" id="{FAB6FCC2-589F-EC83-AC63-D553EBBE54FD}"/>
                </a:ext>
              </a:extLst>
            </p:cNvPr>
            <p:cNvSpPr/>
            <p:nvPr/>
          </p:nvSpPr>
          <p:spPr>
            <a:xfrm>
              <a:off x="2000250" y="3581400"/>
              <a:ext cx="8477250" cy="1714500"/>
            </a:xfrm>
            <a:custGeom>
              <a:avLst/>
              <a:gdLst/>
              <a:ahLst/>
              <a:cxnLst/>
              <a:rect l="l" t="t" r="r" b="b"/>
              <a:pathLst>
                <a:path w="8477250" h="1714500">
                  <a:moveTo>
                    <a:pt x="0" y="0"/>
                  </a:moveTo>
                  <a:lnTo>
                    <a:pt x="1428750" y="285750"/>
                  </a:lnTo>
                  <a:lnTo>
                    <a:pt x="2857500" y="571500"/>
                  </a:lnTo>
                  <a:lnTo>
                    <a:pt x="4286250" y="866775"/>
                  </a:lnTo>
                  <a:lnTo>
                    <a:pt x="5715000" y="1152525"/>
                  </a:lnTo>
                  <a:lnTo>
                    <a:pt x="7143750" y="1438275"/>
                  </a:lnTo>
                  <a:lnTo>
                    <a:pt x="8477250" y="1714500"/>
                  </a:lnTo>
                </a:path>
              </a:pathLst>
            </a:custGeom>
            <a:noFill/>
            <a:ln w="28575">
              <a:solidFill>
                <a:srgbClr val="1F4D78"/>
              </a:solidFill>
            </a:ln>
          </p:spPr>
        </p:sp>
        <p:sp>
          <p:nvSpPr>
            <p:cNvPr id="34" name="Ellipse 35">
              <a:extLst>
                <a:ext uri="{FF2B5EF4-FFF2-40B4-BE49-F238E27FC236}">
                  <a16:creationId xmlns:a16="http://schemas.microsoft.com/office/drawing/2014/main" id="{A20CBCA2-9296-5E3F-2C71-C72F780E4ADE}"/>
                </a:ext>
              </a:extLst>
            </p:cNvPr>
            <p:cNvSpPr/>
            <p:nvPr/>
          </p:nvSpPr>
          <p:spPr>
            <a:xfrm>
              <a:off x="1943100" y="3524250"/>
              <a:ext cx="114300" cy="114300"/>
            </a:xfrm>
            <a:prstGeom prst="ellipse">
              <a:avLst/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35" name="Ellipse 36">
              <a:extLst>
                <a:ext uri="{FF2B5EF4-FFF2-40B4-BE49-F238E27FC236}">
                  <a16:creationId xmlns:a16="http://schemas.microsoft.com/office/drawing/2014/main" id="{AA62C8AD-D98E-5C76-6C43-50D0ADBAA998}"/>
                </a:ext>
              </a:extLst>
            </p:cNvPr>
            <p:cNvSpPr/>
            <p:nvPr/>
          </p:nvSpPr>
          <p:spPr>
            <a:xfrm>
              <a:off x="4800600" y="4095750"/>
              <a:ext cx="114300" cy="114300"/>
            </a:xfrm>
            <a:prstGeom prst="ellipse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36" name="Ellipse 37">
              <a:extLst>
                <a:ext uri="{FF2B5EF4-FFF2-40B4-BE49-F238E27FC236}">
                  <a16:creationId xmlns:a16="http://schemas.microsoft.com/office/drawing/2014/main" id="{B77B0757-0C48-CA73-A615-F88802C76CD2}"/>
                </a:ext>
              </a:extLst>
            </p:cNvPr>
            <p:cNvSpPr/>
            <p:nvPr/>
          </p:nvSpPr>
          <p:spPr>
            <a:xfrm>
              <a:off x="7658100" y="4676775"/>
              <a:ext cx="114300" cy="114300"/>
            </a:xfrm>
            <a:prstGeom prst="ellipse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37" name="Ellipse 38">
              <a:extLst>
                <a:ext uri="{FF2B5EF4-FFF2-40B4-BE49-F238E27FC236}">
                  <a16:creationId xmlns:a16="http://schemas.microsoft.com/office/drawing/2014/main" id="{94B04F03-386C-3009-9E85-7D3B97928A1B}"/>
                </a:ext>
              </a:extLst>
            </p:cNvPr>
            <p:cNvSpPr/>
            <p:nvPr/>
          </p:nvSpPr>
          <p:spPr>
            <a:xfrm>
              <a:off x="10420350" y="5238750"/>
              <a:ext cx="114300" cy="114300"/>
            </a:xfrm>
            <a:prstGeom prst="ellipse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38" name="TextBox 39">
              <a:extLst>
                <a:ext uri="{FF2B5EF4-FFF2-40B4-BE49-F238E27FC236}">
                  <a16:creationId xmlns:a16="http://schemas.microsoft.com/office/drawing/2014/main" id="{7B1491CE-F64E-6741-6FFF-BA88F4264562}"/>
                </a:ext>
              </a:extLst>
            </p:cNvPr>
            <p:cNvSpPr txBox="1"/>
            <p:nvPr/>
          </p:nvSpPr>
          <p:spPr>
            <a:xfrm>
              <a:off x="1737392" y="3296893"/>
              <a:ext cx="52571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28.16</a:t>
              </a:r>
            </a:p>
          </p:txBody>
        </p:sp>
        <p:sp>
          <p:nvSpPr>
            <p:cNvPr id="39" name="TextBox 40">
              <a:extLst>
                <a:ext uri="{FF2B5EF4-FFF2-40B4-BE49-F238E27FC236}">
                  <a16:creationId xmlns:a16="http://schemas.microsoft.com/office/drawing/2014/main" id="{D97AD689-483F-7DA7-0E1C-B0B10E1A3287}"/>
                </a:ext>
              </a:extLst>
            </p:cNvPr>
            <p:cNvSpPr txBox="1"/>
            <p:nvPr/>
          </p:nvSpPr>
          <p:spPr>
            <a:xfrm>
              <a:off x="10244051" y="5020918"/>
              <a:ext cx="466897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6.22</a:t>
              </a:r>
            </a:p>
          </p:txBody>
        </p:sp>
        <p:sp>
          <p:nvSpPr>
            <p:cNvPr id="40" name="TextBox 41">
              <a:extLst>
                <a:ext uri="{FF2B5EF4-FFF2-40B4-BE49-F238E27FC236}">
                  <a16:creationId xmlns:a16="http://schemas.microsoft.com/office/drawing/2014/main" id="{9211957D-B776-3C63-DA35-A5BA4D4D61CE}"/>
                </a:ext>
              </a:extLst>
            </p:cNvPr>
            <p:cNvSpPr txBox="1"/>
            <p:nvPr/>
          </p:nvSpPr>
          <p:spPr>
            <a:xfrm>
              <a:off x="5482208" y="3827807"/>
              <a:ext cx="1608585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std 降低 77.9%</a:t>
              </a:r>
            </a:p>
          </p:txBody>
        </p:sp>
      </p:grpSp>
      <p:grpSp>
        <p:nvGrpSpPr>
          <p:cNvPr id="41" name="Group 45">
            <a:extLst>
              <a:ext uri="{FF2B5EF4-FFF2-40B4-BE49-F238E27FC236}">
                <a16:creationId xmlns:a16="http://schemas.microsoft.com/office/drawing/2014/main" id="{77644173-C609-AE59-3DDC-5CD78013DF9A}"/>
              </a:ext>
            </a:extLst>
          </p:cNvPr>
          <p:cNvGrpSpPr/>
          <p:nvPr/>
        </p:nvGrpSpPr>
        <p:grpSpPr>
          <a:xfrm>
            <a:off x="685800" y="5583638"/>
            <a:ext cx="10820400" cy="457200"/>
            <a:chOff x="685800" y="5829300"/>
            <a:chExt cx="10820400" cy="457200"/>
          </a:xfrm>
        </p:grpSpPr>
        <p:sp>
          <p:nvSpPr>
            <p:cNvPr id="42" name="Rectangle 43">
              <a:extLst>
                <a:ext uri="{FF2B5EF4-FFF2-40B4-BE49-F238E27FC236}">
                  <a16:creationId xmlns:a16="http://schemas.microsoft.com/office/drawing/2014/main" id="{306494A4-049C-2249-C400-E68334A43ED2}"/>
                </a:ext>
              </a:extLst>
            </p:cNvPr>
            <p:cNvSpPr/>
            <p:nvPr/>
          </p:nvSpPr>
          <p:spPr>
            <a:xfrm>
              <a:off x="685800" y="5829300"/>
              <a:ext cx="10820400" cy="457200"/>
            </a:xfrm>
            <a:prstGeom prst="roundRect">
              <a:avLst>
                <a:gd name="adj" fmla="val 12500"/>
              </a:avLst>
            </a:prstGeom>
            <a:solidFill>
              <a:srgbClr val="E8F5E9"/>
            </a:solidFill>
            <a:ln>
              <a:noFill/>
            </a:ln>
          </p:spPr>
        </p:sp>
        <p:sp>
          <p:nvSpPr>
            <p:cNvPr id="43" name="TextBox 44">
              <a:extLst>
                <a:ext uri="{FF2B5EF4-FFF2-40B4-BE49-F238E27FC236}">
                  <a16:creationId xmlns:a16="http://schemas.microsoft.com/office/drawing/2014/main" id="{F9FC07BA-D8A2-2BFC-F12B-1488F707D84B}"/>
                </a:ext>
              </a:extLst>
            </p:cNvPr>
            <p:cNvSpPr txBox="1"/>
            <p:nvPr/>
          </p:nvSpPr>
          <p:spPr>
            <a:xfrm>
              <a:off x="972817" y="5963893"/>
              <a:ext cx="6188100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有效策略：放宽"部分满足"标准 + 增加【重要】提示 + 正面/反面锚点示例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73112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8" grpId="0"/>
      <p:bldP spid="4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455D288-7961-E4B9-AF70-61A6FC9CD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12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418488-F606-9DBC-36F1-D590398B32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33B3F2-83A1-CC5F-FF90-EA4994F98F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47A53-4E07-9B84-E299-124313ADF1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可靠性验证与分层置信度</a:t>
            </a:r>
          </a:p>
        </p:txBody>
      </p:sp>
      <p:grpSp>
        <p:nvGrpSpPr>
          <p:cNvPr id="6" name="Group 10">
            <a:extLst>
              <a:ext uri="{FF2B5EF4-FFF2-40B4-BE49-F238E27FC236}">
                <a16:creationId xmlns:a16="http://schemas.microsoft.com/office/drawing/2014/main" id="{DD90CEC1-9FA7-5229-1481-C809F03BBDF3}"/>
              </a:ext>
            </a:extLst>
          </p:cNvPr>
          <p:cNvGrpSpPr/>
          <p:nvPr/>
        </p:nvGrpSpPr>
        <p:grpSpPr>
          <a:xfrm>
            <a:off x="685800" y="1228725"/>
            <a:ext cx="10820400" cy="533400"/>
            <a:chOff x="685800" y="1228725"/>
            <a:chExt cx="10820400" cy="533400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90ABA061-DF37-4075-8E85-951B544B4CC8}"/>
                </a:ext>
              </a:extLst>
            </p:cNvPr>
            <p:cNvSpPr/>
            <p:nvPr/>
          </p:nvSpPr>
          <p:spPr>
            <a:xfrm>
              <a:off x="685800" y="1228725"/>
              <a:ext cx="10820400" cy="533400"/>
            </a:xfrm>
            <a:prstGeom prst="roundRect">
              <a:avLst>
                <a:gd name="adj" fmla="val 14286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8" name="TextBox 9">
              <a:extLst>
                <a:ext uri="{FF2B5EF4-FFF2-40B4-BE49-F238E27FC236}">
                  <a16:creationId xmlns:a16="http://schemas.microsoft.com/office/drawing/2014/main" id="{D7C84E7A-2A26-86F5-FADA-BDB980B2D8B3}"/>
                </a:ext>
              </a:extLst>
            </p:cNvPr>
            <p:cNvSpPr txBox="1"/>
            <p:nvPr/>
          </p:nvSpPr>
          <p:spPr>
            <a:xfrm>
              <a:off x="2523794" y="1389407"/>
              <a:ext cx="7144412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自动计算各维度均值、标准差 → 四级置信度分层 → 未收敛维度进入专家复核</a:t>
              </a:r>
            </a:p>
          </p:txBody>
        </p:sp>
      </p:grpSp>
      <p:grpSp>
        <p:nvGrpSpPr>
          <p:cNvPr id="9" name="Group 51">
            <a:extLst>
              <a:ext uri="{FF2B5EF4-FFF2-40B4-BE49-F238E27FC236}">
                <a16:creationId xmlns:a16="http://schemas.microsoft.com/office/drawing/2014/main" id="{6D6CFEEE-D5A1-8574-B4BF-48987437A6ED}"/>
              </a:ext>
            </a:extLst>
          </p:cNvPr>
          <p:cNvGrpSpPr/>
          <p:nvPr/>
        </p:nvGrpSpPr>
        <p:grpSpPr>
          <a:xfrm>
            <a:off x="685800" y="1990725"/>
            <a:ext cx="10820400" cy="3619500"/>
            <a:chOff x="685800" y="1990725"/>
            <a:chExt cx="10820400" cy="3619500"/>
          </a:xfrm>
        </p:grpSpPr>
        <p:grpSp>
          <p:nvGrpSpPr>
            <p:cNvPr id="10" name="Group 20">
              <a:extLst>
                <a:ext uri="{FF2B5EF4-FFF2-40B4-BE49-F238E27FC236}">
                  <a16:creationId xmlns:a16="http://schemas.microsoft.com/office/drawing/2014/main" id="{200CB234-F659-F865-0E7C-1F4A1797C645}"/>
                </a:ext>
              </a:extLst>
            </p:cNvPr>
            <p:cNvGrpSpPr/>
            <p:nvPr/>
          </p:nvGrpSpPr>
          <p:grpSpPr>
            <a:xfrm>
              <a:off x="685800" y="1990725"/>
              <a:ext cx="2495550" cy="3619500"/>
              <a:chOff x="685800" y="1990725"/>
              <a:chExt cx="2495550" cy="3619500"/>
            </a:xfrm>
          </p:grpSpPr>
          <p:sp>
            <p:nvSpPr>
              <p:cNvPr id="41" name="Rectangle 11">
                <a:extLst>
                  <a:ext uri="{FF2B5EF4-FFF2-40B4-BE49-F238E27FC236}">
                    <a16:creationId xmlns:a16="http://schemas.microsoft.com/office/drawing/2014/main" id="{FDF9FF22-798A-4D16-040E-A41E35C02101}"/>
                  </a:ext>
                </a:extLst>
              </p:cNvPr>
              <p:cNvSpPr/>
              <p:nvPr/>
            </p:nvSpPr>
            <p:spPr>
              <a:xfrm>
                <a:off x="685800" y="1990725"/>
                <a:ext cx="2495550" cy="3619500"/>
              </a:xfrm>
              <a:prstGeom prst="roundRect">
                <a:avLst>
                  <a:gd name="adj" fmla="val 3053"/>
                </a:avLst>
              </a:prstGeom>
              <a:solidFill>
                <a:srgbClr val="E8F5E9"/>
              </a:solidFill>
              <a:ln w="14288">
                <a:solidFill>
                  <a:srgbClr val="2E7D32"/>
                </a:solidFill>
              </a:ln>
            </p:spPr>
          </p:sp>
          <p:sp>
            <p:nvSpPr>
              <p:cNvPr id="42" name="Rectangle 12">
                <a:extLst>
                  <a:ext uri="{FF2B5EF4-FFF2-40B4-BE49-F238E27FC236}">
                    <a16:creationId xmlns:a16="http://schemas.microsoft.com/office/drawing/2014/main" id="{E35269AB-BBDF-AC30-B674-8CF629011EA0}"/>
                  </a:ext>
                </a:extLst>
              </p:cNvPr>
              <p:cNvSpPr/>
              <p:nvPr/>
            </p:nvSpPr>
            <p:spPr>
              <a:xfrm>
                <a:off x="685800" y="1990725"/>
                <a:ext cx="249555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2E7D32"/>
              </a:solidFill>
              <a:ln>
                <a:noFill/>
              </a:ln>
            </p:spPr>
          </p:sp>
          <p:sp>
            <p:nvSpPr>
              <p:cNvPr id="43" name="Rectangle 13">
                <a:extLst>
                  <a:ext uri="{FF2B5EF4-FFF2-40B4-BE49-F238E27FC236}">
                    <a16:creationId xmlns:a16="http://schemas.microsoft.com/office/drawing/2014/main" id="{E2E1AFC8-2152-150B-7C2D-C0C4EC63DBD0}"/>
                  </a:ext>
                </a:extLst>
              </p:cNvPr>
              <p:cNvSpPr/>
              <p:nvPr/>
            </p:nvSpPr>
            <p:spPr>
              <a:xfrm>
                <a:off x="685800" y="2428875"/>
                <a:ext cx="2495550" cy="57150"/>
              </a:xfrm>
              <a:prstGeom prst="rect">
                <a:avLst/>
              </a:prstGeom>
              <a:solidFill>
                <a:srgbClr val="2E7D32"/>
              </a:solidFill>
              <a:ln>
                <a:noFill/>
              </a:ln>
            </p:spPr>
          </p:sp>
          <p:sp>
            <p:nvSpPr>
              <p:cNvPr id="44" name="TextBox 14">
                <a:extLst>
                  <a:ext uri="{FF2B5EF4-FFF2-40B4-BE49-F238E27FC236}">
                    <a16:creationId xmlns:a16="http://schemas.microsoft.com/office/drawing/2014/main" id="{3B69BE86-3915-EC65-7D55-FD410F3A7965}"/>
                  </a:ext>
                </a:extLst>
              </p:cNvPr>
              <p:cNvSpPr txBox="1"/>
              <p:nvPr/>
            </p:nvSpPr>
            <p:spPr>
              <a:xfrm>
                <a:off x="1635104" y="2089123"/>
                <a:ext cx="596943" cy="4064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0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High</a:t>
                </a:r>
              </a:p>
            </p:txBody>
          </p:sp>
          <p:sp>
            <p:nvSpPr>
              <p:cNvPr id="45" name="TextBox 15">
                <a:extLst>
                  <a:ext uri="{FF2B5EF4-FFF2-40B4-BE49-F238E27FC236}">
                    <a16:creationId xmlns:a16="http://schemas.microsoft.com/office/drawing/2014/main" id="{17D14A03-D55B-08C8-E254-481597C99D54}"/>
                  </a:ext>
                </a:extLst>
              </p:cNvPr>
              <p:cNvSpPr txBox="1"/>
              <p:nvPr/>
            </p:nvSpPr>
            <p:spPr>
              <a:xfrm>
                <a:off x="1535011" y="2564130"/>
                <a:ext cx="797128" cy="731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3600" b="1" dirty="0">
                    <a:solidFill>
                      <a:srgbClr val="2E7D32"/>
                    </a:solidFill>
                    <a:latin typeface="Arial"/>
                    <a:ea typeface="Microsoft YaHei"/>
                    <a:cs typeface="Arial"/>
                  </a:rPr>
                  <a:t>≤ 5</a:t>
                </a:r>
              </a:p>
            </p:txBody>
          </p:sp>
          <p:sp>
            <p:nvSpPr>
              <p:cNvPr id="46" name="TextBox 16">
                <a:extLst>
                  <a:ext uri="{FF2B5EF4-FFF2-40B4-BE49-F238E27FC236}">
                    <a16:creationId xmlns:a16="http://schemas.microsoft.com/office/drawing/2014/main" id="{D3935483-0183-3B21-4EE3-603355C3C3E5}"/>
                  </a:ext>
                </a:extLst>
              </p:cNvPr>
              <p:cNvSpPr txBox="1"/>
              <p:nvPr/>
            </p:nvSpPr>
            <p:spPr>
              <a:xfrm>
                <a:off x="1486605" y="3218207"/>
                <a:ext cx="893940" cy="3250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1B1C21"/>
                    </a:solidFill>
                    <a:latin typeface="Arial"/>
                    <a:ea typeface="Microsoft YaHei"/>
                    <a:cs typeface="Arial"/>
                  </a:rPr>
                  <a:t>高置信度</a:t>
                </a:r>
              </a:p>
            </p:txBody>
          </p:sp>
          <p:sp>
            <p:nvSpPr>
              <p:cNvPr id="47" name="TextBox 17">
                <a:extLst>
                  <a:ext uri="{FF2B5EF4-FFF2-40B4-BE49-F238E27FC236}">
                    <a16:creationId xmlns:a16="http://schemas.microsoft.com/office/drawing/2014/main" id="{FA5D85FD-EB34-07F3-3FC9-27703ED79BF9}"/>
                  </a:ext>
                </a:extLst>
              </p:cNvPr>
              <p:cNvSpPr txBox="1"/>
              <p:nvPr/>
            </p:nvSpPr>
            <p:spPr>
              <a:xfrm>
                <a:off x="1276264" y="3563593"/>
                <a:ext cx="1314621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4 模型高度一致</a:t>
                </a:r>
              </a:p>
            </p:txBody>
          </p:sp>
          <p:sp>
            <p:nvSpPr>
              <p:cNvPr id="48" name="TextBox 18">
                <a:extLst>
                  <a:ext uri="{FF2B5EF4-FFF2-40B4-BE49-F238E27FC236}">
                    <a16:creationId xmlns:a16="http://schemas.microsoft.com/office/drawing/2014/main" id="{DD08997B-7B9D-E039-A708-E8D62721BC06}"/>
                  </a:ext>
                </a:extLst>
              </p:cNvPr>
              <p:cNvSpPr txBox="1"/>
              <p:nvPr/>
            </p:nvSpPr>
            <p:spPr>
              <a:xfrm>
                <a:off x="1448983" y="3849343"/>
                <a:ext cx="969183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可直接采纳</a:t>
                </a:r>
              </a:p>
            </p:txBody>
          </p:sp>
          <p:sp>
            <p:nvSpPr>
              <p:cNvPr id="49" name="TextBox 19">
                <a:extLst>
                  <a:ext uri="{FF2B5EF4-FFF2-40B4-BE49-F238E27FC236}">
                    <a16:creationId xmlns:a16="http://schemas.microsoft.com/office/drawing/2014/main" id="{EE51C39C-8E3D-4211-2E90-51D9C04D5B44}"/>
                  </a:ext>
                </a:extLst>
              </p:cNvPr>
              <p:cNvSpPr txBox="1"/>
              <p:nvPr/>
            </p:nvSpPr>
            <p:spPr>
              <a:xfrm>
                <a:off x="1355622" y="4135093"/>
                <a:ext cx="1155906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无需人工复核</a:t>
                </a:r>
              </a:p>
            </p:txBody>
          </p:sp>
        </p:grpSp>
        <p:grpSp>
          <p:nvGrpSpPr>
            <p:cNvPr id="11" name="Group 30">
              <a:extLst>
                <a:ext uri="{FF2B5EF4-FFF2-40B4-BE49-F238E27FC236}">
                  <a16:creationId xmlns:a16="http://schemas.microsoft.com/office/drawing/2014/main" id="{C4D7C7C9-3D96-1A76-18EC-EAAA1687D6C1}"/>
                </a:ext>
              </a:extLst>
            </p:cNvPr>
            <p:cNvGrpSpPr/>
            <p:nvPr/>
          </p:nvGrpSpPr>
          <p:grpSpPr>
            <a:xfrm>
              <a:off x="3448050" y="1990725"/>
              <a:ext cx="2495550" cy="3619500"/>
              <a:chOff x="3448050" y="1990725"/>
              <a:chExt cx="2495550" cy="3619500"/>
            </a:xfrm>
          </p:grpSpPr>
          <p:sp>
            <p:nvSpPr>
              <p:cNvPr id="32" name="Rectangle 21">
                <a:extLst>
                  <a:ext uri="{FF2B5EF4-FFF2-40B4-BE49-F238E27FC236}">
                    <a16:creationId xmlns:a16="http://schemas.microsoft.com/office/drawing/2014/main" id="{733FB8BE-7199-711F-8E97-8BFF6B4F7717}"/>
                  </a:ext>
                </a:extLst>
              </p:cNvPr>
              <p:cNvSpPr/>
              <p:nvPr/>
            </p:nvSpPr>
            <p:spPr>
              <a:xfrm>
                <a:off x="3448050" y="1990725"/>
                <a:ext cx="2495550" cy="3619500"/>
              </a:xfrm>
              <a:prstGeom prst="roundRect">
                <a:avLst>
                  <a:gd name="adj" fmla="val 3053"/>
                </a:avLst>
              </a:prstGeom>
              <a:solidFill>
                <a:srgbClr val="F0F7FF"/>
              </a:solidFill>
              <a:ln w="14288">
                <a:solidFill>
                  <a:srgbClr val="1F4D78"/>
                </a:solidFill>
              </a:ln>
            </p:spPr>
          </p:sp>
          <p:sp>
            <p:nvSpPr>
              <p:cNvPr id="33" name="Rectangle 22">
                <a:extLst>
                  <a:ext uri="{FF2B5EF4-FFF2-40B4-BE49-F238E27FC236}">
                    <a16:creationId xmlns:a16="http://schemas.microsoft.com/office/drawing/2014/main" id="{C4004444-AFD9-8A73-6D80-6C6E9A82D96E}"/>
                  </a:ext>
                </a:extLst>
              </p:cNvPr>
              <p:cNvSpPr/>
              <p:nvPr/>
            </p:nvSpPr>
            <p:spPr>
              <a:xfrm>
                <a:off x="3448050" y="1990725"/>
                <a:ext cx="249555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1F4D78"/>
              </a:solidFill>
              <a:ln>
                <a:noFill/>
              </a:ln>
            </p:spPr>
          </p:sp>
          <p:sp>
            <p:nvSpPr>
              <p:cNvPr id="34" name="Rectangle 23">
                <a:extLst>
                  <a:ext uri="{FF2B5EF4-FFF2-40B4-BE49-F238E27FC236}">
                    <a16:creationId xmlns:a16="http://schemas.microsoft.com/office/drawing/2014/main" id="{34D7A37B-7198-5519-6E74-1045EE8519A1}"/>
                  </a:ext>
                </a:extLst>
              </p:cNvPr>
              <p:cNvSpPr/>
              <p:nvPr/>
            </p:nvSpPr>
            <p:spPr>
              <a:xfrm>
                <a:off x="3448050" y="2428875"/>
                <a:ext cx="2495550" cy="57150"/>
              </a:xfrm>
              <a:prstGeom prst="rect">
                <a:avLst/>
              </a:prstGeom>
              <a:solidFill>
                <a:srgbClr val="1F4D78"/>
              </a:solidFill>
              <a:ln>
                <a:noFill/>
              </a:ln>
            </p:spPr>
          </p:sp>
          <p:sp>
            <p:nvSpPr>
              <p:cNvPr id="35" name="TextBox 24">
                <a:extLst>
                  <a:ext uri="{FF2B5EF4-FFF2-40B4-BE49-F238E27FC236}">
                    <a16:creationId xmlns:a16="http://schemas.microsoft.com/office/drawing/2014/main" id="{E43CA55B-366A-DB8F-3821-817D74F67BE3}"/>
                  </a:ext>
                </a:extLst>
              </p:cNvPr>
              <p:cNvSpPr txBox="1"/>
              <p:nvPr/>
            </p:nvSpPr>
            <p:spPr>
              <a:xfrm>
                <a:off x="4187301" y="2089123"/>
                <a:ext cx="1017048" cy="4064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0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Medium</a:t>
                </a:r>
              </a:p>
            </p:txBody>
          </p:sp>
          <p:sp>
            <p:nvSpPr>
              <p:cNvPr id="36" name="TextBox 25">
                <a:extLst>
                  <a:ext uri="{FF2B5EF4-FFF2-40B4-BE49-F238E27FC236}">
                    <a16:creationId xmlns:a16="http://schemas.microsoft.com/office/drawing/2014/main" id="{4049546F-A6F0-41D6-6720-2FF2CA998218}"/>
                  </a:ext>
                </a:extLst>
              </p:cNvPr>
              <p:cNvSpPr txBox="1"/>
              <p:nvPr/>
            </p:nvSpPr>
            <p:spPr>
              <a:xfrm>
                <a:off x="4234253" y="2564130"/>
                <a:ext cx="923144" cy="731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3600" b="1" dirty="0">
                    <a:solidFill>
                      <a:srgbClr val="1F4D78"/>
                    </a:solidFill>
                    <a:latin typeface="Arial"/>
                    <a:ea typeface="Microsoft YaHei"/>
                    <a:cs typeface="Arial"/>
                  </a:rPr>
                  <a:t>5-8</a:t>
                </a:r>
              </a:p>
            </p:txBody>
          </p:sp>
          <p:sp>
            <p:nvSpPr>
              <p:cNvPr id="37" name="TextBox 26">
                <a:extLst>
                  <a:ext uri="{FF2B5EF4-FFF2-40B4-BE49-F238E27FC236}">
                    <a16:creationId xmlns:a16="http://schemas.microsoft.com/office/drawing/2014/main" id="{B8C77C21-4F7B-5EBE-1085-EA08581EB301}"/>
                  </a:ext>
                </a:extLst>
              </p:cNvPr>
              <p:cNvSpPr txBox="1"/>
              <p:nvPr/>
            </p:nvSpPr>
            <p:spPr>
              <a:xfrm>
                <a:off x="4142192" y="3218207"/>
                <a:ext cx="1107267" cy="3250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1B1C21"/>
                    </a:solidFill>
                    <a:latin typeface="Arial"/>
                    <a:ea typeface="Microsoft YaHei"/>
                    <a:cs typeface="Arial"/>
                  </a:rPr>
                  <a:t>中等置信度</a:t>
                </a:r>
              </a:p>
            </p:txBody>
          </p:sp>
          <p:sp>
            <p:nvSpPr>
              <p:cNvPr id="38" name="TextBox 27">
                <a:extLst>
                  <a:ext uri="{FF2B5EF4-FFF2-40B4-BE49-F238E27FC236}">
                    <a16:creationId xmlns:a16="http://schemas.microsoft.com/office/drawing/2014/main" id="{C2AAC072-80B8-952F-B616-79271AFDC7CD}"/>
                  </a:ext>
                </a:extLst>
              </p:cNvPr>
              <p:cNvSpPr txBox="1"/>
              <p:nvPr/>
            </p:nvSpPr>
            <p:spPr>
              <a:xfrm>
                <a:off x="4117872" y="3563593"/>
                <a:ext cx="1155906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模型间有分歧</a:t>
                </a:r>
              </a:p>
            </p:txBody>
          </p:sp>
          <p:sp>
            <p:nvSpPr>
              <p:cNvPr id="39" name="TextBox 28">
                <a:extLst>
                  <a:ext uri="{FF2B5EF4-FFF2-40B4-BE49-F238E27FC236}">
                    <a16:creationId xmlns:a16="http://schemas.microsoft.com/office/drawing/2014/main" id="{1A16547A-3D02-3FBC-ADE3-2A806E6A37E4}"/>
                  </a:ext>
                </a:extLst>
              </p:cNvPr>
              <p:cNvSpPr txBox="1"/>
              <p:nvPr/>
            </p:nvSpPr>
            <p:spPr>
              <a:xfrm>
                <a:off x="3931148" y="3849343"/>
                <a:ext cx="1529353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但仍在可接受范围</a:t>
                </a:r>
              </a:p>
            </p:txBody>
          </p:sp>
          <p:sp>
            <p:nvSpPr>
              <p:cNvPr id="40" name="TextBox 29">
                <a:extLst>
                  <a:ext uri="{FF2B5EF4-FFF2-40B4-BE49-F238E27FC236}">
                    <a16:creationId xmlns:a16="http://schemas.microsoft.com/office/drawing/2014/main" id="{53DBDAF5-F562-D6D1-9685-8D77922496CE}"/>
                  </a:ext>
                </a:extLst>
              </p:cNvPr>
              <p:cNvSpPr txBox="1"/>
              <p:nvPr/>
            </p:nvSpPr>
            <p:spPr>
              <a:xfrm>
                <a:off x="4117872" y="4135093"/>
                <a:ext cx="1155906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可选择性复核</a:t>
                </a:r>
              </a:p>
            </p:txBody>
          </p:sp>
        </p:grpSp>
        <p:grpSp>
          <p:nvGrpSpPr>
            <p:cNvPr id="12" name="Group 40">
              <a:extLst>
                <a:ext uri="{FF2B5EF4-FFF2-40B4-BE49-F238E27FC236}">
                  <a16:creationId xmlns:a16="http://schemas.microsoft.com/office/drawing/2014/main" id="{9AB46FF7-F146-9829-7E1E-0BB03A5E1EA9}"/>
                </a:ext>
              </a:extLst>
            </p:cNvPr>
            <p:cNvGrpSpPr/>
            <p:nvPr/>
          </p:nvGrpSpPr>
          <p:grpSpPr>
            <a:xfrm>
              <a:off x="6210300" y="1990725"/>
              <a:ext cx="2495550" cy="3619500"/>
              <a:chOff x="6210300" y="1990725"/>
              <a:chExt cx="2495550" cy="3619500"/>
            </a:xfrm>
          </p:grpSpPr>
          <p:sp>
            <p:nvSpPr>
              <p:cNvPr id="23" name="Rectangle 31">
                <a:extLst>
                  <a:ext uri="{FF2B5EF4-FFF2-40B4-BE49-F238E27FC236}">
                    <a16:creationId xmlns:a16="http://schemas.microsoft.com/office/drawing/2014/main" id="{6E441053-EB95-9838-11A3-3629E2A17EA1}"/>
                  </a:ext>
                </a:extLst>
              </p:cNvPr>
              <p:cNvSpPr/>
              <p:nvPr/>
            </p:nvSpPr>
            <p:spPr>
              <a:xfrm>
                <a:off x="6210300" y="1990725"/>
                <a:ext cx="2495550" cy="3619500"/>
              </a:xfrm>
              <a:prstGeom prst="roundRect">
                <a:avLst>
                  <a:gd name="adj" fmla="val 3053"/>
                </a:avLst>
              </a:prstGeom>
              <a:solidFill>
                <a:srgbClr val="FFF8F0"/>
              </a:solidFill>
              <a:ln w="14288">
                <a:solidFill>
                  <a:srgbClr val="E07B00"/>
                </a:solidFill>
              </a:ln>
            </p:spPr>
          </p:sp>
          <p:sp>
            <p:nvSpPr>
              <p:cNvPr id="24" name="Rectangle 32">
                <a:extLst>
                  <a:ext uri="{FF2B5EF4-FFF2-40B4-BE49-F238E27FC236}">
                    <a16:creationId xmlns:a16="http://schemas.microsoft.com/office/drawing/2014/main" id="{086D6B8B-DE9C-018A-F650-B096829AAEA3}"/>
                  </a:ext>
                </a:extLst>
              </p:cNvPr>
              <p:cNvSpPr/>
              <p:nvPr/>
            </p:nvSpPr>
            <p:spPr>
              <a:xfrm>
                <a:off x="6210300" y="1990725"/>
                <a:ext cx="249555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E07B00"/>
              </a:solidFill>
              <a:ln>
                <a:noFill/>
              </a:ln>
            </p:spPr>
          </p:sp>
          <p:sp>
            <p:nvSpPr>
              <p:cNvPr id="25" name="Rectangle 33">
                <a:extLst>
                  <a:ext uri="{FF2B5EF4-FFF2-40B4-BE49-F238E27FC236}">
                    <a16:creationId xmlns:a16="http://schemas.microsoft.com/office/drawing/2014/main" id="{848C7524-A763-16CD-03E5-841306B9096E}"/>
                  </a:ext>
                </a:extLst>
              </p:cNvPr>
              <p:cNvSpPr/>
              <p:nvPr/>
            </p:nvSpPr>
            <p:spPr>
              <a:xfrm>
                <a:off x="6210300" y="2428875"/>
                <a:ext cx="2495550" cy="57150"/>
              </a:xfrm>
              <a:prstGeom prst="rect">
                <a:avLst/>
              </a:prstGeom>
              <a:solidFill>
                <a:srgbClr val="E07B00"/>
              </a:solidFill>
              <a:ln>
                <a:noFill/>
              </a:ln>
            </p:spPr>
          </p:sp>
          <p:sp>
            <p:nvSpPr>
              <p:cNvPr id="26" name="TextBox 34">
                <a:extLst>
                  <a:ext uri="{FF2B5EF4-FFF2-40B4-BE49-F238E27FC236}">
                    <a16:creationId xmlns:a16="http://schemas.microsoft.com/office/drawing/2014/main" id="{31D0D102-7EA0-DE50-BED2-95E793E71775}"/>
                  </a:ext>
                </a:extLst>
              </p:cNvPr>
              <p:cNvSpPr txBox="1"/>
              <p:nvPr/>
            </p:nvSpPr>
            <p:spPr>
              <a:xfrm>
                <a:off x="7173607" y="2089123"/>
                <a:ext cx="568936" cy="4064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0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Low</a:t>
                </a:r>
              </a:p>
            </p:txBody>
          </p:sp>
          <p:sp>
            <p:nvSpPr>
              <p:cNvPr id="27" name="TextBox 35">
                <a:extLst>
                  <a:ext uri="{FF2B5EF4-FFF2-40B4-BE49-F238E27FC236}">
                    <a16:creationId xmlns:a16="http://schemas.microsoft.com/office/drawing/2014/main" id="{B2E6C9D4-7E91-8223-3A72-8A083D537000}"/>
                  </a:ext>
                </a:extLst>
              </p:cNvPr>
              <p:cNvSpPr txBox="1"/>
              <p:nvPr/>
            </p:nvSpPr>
            <p:spPr>
              <a:xfrm>
                <a:off x="6920894" y="2564130"/>
                <a:ext cx="1074363" cy="731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3600" b="1" dirty="0">
                    <a:solidFill>
                      <a:srgbClr val="E07B00"/>
                    </a:solidFill>
                    <a:latin typeface="Arial"/>
                    <a:ea typeface="Microsoft YaHei"/>
                    <a:cs typeface="Arial"/>
                  </a:rPr>
                  <a:t>8-12</a:t>
                </a:r>
              </a:p>
            </p:txBody>
          </p:sp>
          <p:sp>
            <p:nvSpPr>
              <p:cNvPr id="28" name="TextBox 36">
                <a:extLst>
                  <a:ext uri="{FF2B5EF4-FFF2-40B4-BE49-F238E27FC236}">
                    <a16:creationId xmlns:a16="http://schemas.microsoft.com/office/drawing/2014/main" id="{FE267D64-F3DB-83E7-AAAD-AB0D57F7FA68}"/>
                  </a:ext>
                </a:extLst>
              </p:cNvPr>
              <p:cNvSpPr txBox="1"/>
              <p:nvPr/>
            </p:nvSpPr>
            <p:spPr>
              <a:xfrm>
                <a:off x="7011105" y="3218207"/>
                <a:ext cx="893940" cy="3250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1B1C21"/>
                    </a:solidFill>
                    <a:latin typeface="Arial"/>
                    <a:ea typeface="Microsoft YaHei"/>
                    <a:cs typeface="Arial"/>
                  </a:rPr>
                  <a:t>低置信度</a:t>
                </a:r>
              </a:p>
            </p:txBody>
          </p:sp>
          <p:sp>
            <p:nvSpPr>
              <p:cNvPr id="29" name="TextBox 37">
                <a:extLst>
                  <a:ext uri="{FF2B5EF4-FFF2-40B4-BE49-F238E27FC236}">
                    <a16:creationId xmlns:a16="http://schemas.microsoft.com/office/drawing/2014/main" id="{746BDD40-C14D-CC5E-A3D2-818355C7A7FB}"/>
                  </a:ext>
                </a:extLst>
              </p:cNvPr>
              <p:cNvSpPr txBox="1"/>
              <p:nvPr/>
            </p:nvSpPr>
            <p:spPr>
              <a:xfrm>
                <a:off x="6880122" y="3563593"/>
                <a:ext cx="1155906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模型分歧较大</a:t>
                </a:r>
              </a:p>
            </p:txBody>
          </p:sp>
          <p:sp>
            <p:nvSpPr>
              <p:cNvPr id="30" name="TextBox 38">
                <a:extLst>
                  <a:ext uri="{FF2B5EF4-FFF2-40B4-BE49-F238E27FC236}">
                    <a16:creationId xmlns:a16="http://schemas.microsoft.com/office/drawing/2014/main" id="{3CC0E036-B534-A3C5-62EE-08E61F983871}"/>
                  </a:ext>
                </a:extLst>
              </p:cNvPr>
              <p:cNvSpPr txBox="1"/>
              <p:nvPr/>
            </p:nvSpPr>
            <p:spPr>
              <a:xfrm>
                <a:off x="6880122" y="3849343"/>
                <a:ext cx="1155906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建议人工复核</a:t>
                </a:r>
              </a:p>
            </p:txBody>
          </p:sp>
          <p:sp>
            <p:nvSpPr>
              <p:cNvPr id="31" name="TextBox 39">
                <a:extLst>
                  <a:ext uri="{FF2B5EF4-FFF2-40B4-BE49-F238E27FC236}">
                    <a16:creationId xmlns:a16="http://schemas.microsoft.com/office/drawing/2014/main" id="{0ADC2C2C-96E1-0EF2-93DD-CEDE3611E1C4}"/>
                  </a:ext>
                </a:extLst>
              </p:cNvPr>
              <p:cNvSpPr txBox="1"/>
              <p:nvPr/>
            </p:nvSpPr>
            <p:spPr>
              <a:xfrm>
                <a:off x="6866118" y="4135093"/>
                <a:ext cx="1183915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或第 3 次评测</a:t>
                </a:r>
              </a:p>
            </p:txBody>
          </p:sp>
        </p:grpSp>
        <p:grpSp>
          <p:nvGrpSpPr>
            <p:cNvPr id="13" name="Group 50">
              <a:extLst>
                <a:ext uri="{FF2B5EF4-FFF2-40B4-BE49-F238E27FC236}">
                  <a16:creationId xmlns:a16="http://schemas.microsoft.com/office/drawing/2014/main" id="{3E062400-C60A-0B75-805E-791BE839168D}"/>
                </a:ext>
              </a:extLst>
            </p:cNvPr>
            <p:cNvGrpSpPr/>
            <p:nvPr/>
          </p:nvGrpSpPr>
          <p:grpSpPr>
            <a:xfrm>
              <a:off x="8972550" y="1990725"/>
              <a:ext cx="2533650" cy="3619500"/>
              <a:chOff x="8972550" y="1990725"/>
              <a:chExt cx="2533650" cy="3619500"/>
            </a:xfrm>
          </p:grpSpPr>
          <p:sp>
            <p:nvSpPr>
              <p:cNvPr id="14" name="Rectangle 41">
                <a:extLst>
                  <a:ext uri="{FF2B5EF4-FFF2-40B4-BE49-F238E27FC236}">
                    <a16:creationId xmlns:a16="http://schemas.microsoft.com/office/drawing/2014/main" id="{E4264EB1-109E-6C21-CB28-97A136BC074D}"/>
                  </a:ext>
                </a:extLst>
              </p:cNvPr>
              <p:cNvSpPr/>
              <p:nvPr/>
            </p:nvSpPr>
            <p:spPr>
              <a:xfrm>
                <a:off x="8972550" y="1990725"/>
                <a:ext cx="2533650" cy="3619500"/>
              </a:xfrm>
              <a:prstGeom prst="roundRect">
                <a:avLst>
                  <a:gd name="adj" fmla="val 3008"/>
                </a:avLst>
              </a:prstGeom>
              <a:solidFill>
                <a:srgbClr val="FFEBEE"/>
              </a:solidFill>
              <a:ln w="14288">
                <a:solidFill>
                  <a:srgbClr val="C8161E"/>
                </a:solidFill>
              </a:ln>
            </p:spPr>
          </p:sp>
          <p:sp>
            <p:nvSpPr>
              <p:cNvPr id="15" name="Rectangle 42">
                <a:extLst>
                  <a:ext uri="{FF2B5EF4-FFF2-40B4-BE49-F238E27FC236}">
                    <a16:creationId xmlns:a16="http://schemas.microsoft.com/office/drawing/2014/main" id="{2487C1FB-3455-83B9-3224-C4399015FE33}"/>
                  </a:ext>
                </a:extLst>
              </p:cNvPr>
              <p:cNvSpPr/>
              <p:nvPr/>
            </p:nvSpPr>
            <p:spPr>
              <a:xfrm>
                <a:off x="8972550" y="1990725"/>
                <a:ext cx="253365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C8161E"/>
              </a:solidFill>
              <a:ln>
                <a:noFill/>
              </a:ln>
            </p:spPr>
          </p:sp>
          <p:sp>
            <p:nvSpPr>
              <p:cNvPr id="16" name="Rectangle 43">
                <a:extLst>
                  <a:ext uri="{FF2B5EF4-FFF2-40B4-BE49-F238E27FC236}">
                    <a16:creationId xmlns:a16="http://schemas.microsoft.com/office/drawing/2014/main" id="{34010B24-CB8A-90E3-A4FA-23AE1E6E1663}"/>
                  </a:ext>
                </a:extLst>
              </p:cNvPr>
              <p:cNvSpPr/>
              <p:nvPr/>
            </p:nvSpPr>
            <p:spPr>
              <a:xfrm>
                <a:off x="8972550" y="2428875"/>
                <a:ext cx="2533650" cy="57150"/>
              </a:xfrm>
              <a:prstGeom prst="rect">
                <a:avLst/>
              </a:prstGeom>
              <a:solidFill>
                <a:srgbClr val="C8161E"/>
              </a:solidFill>
              <a:ln>
                <a:noFill/>
              </a:ln>
            </p:spPr>
          </p:sp>
          <p:sp>
            <p:nvSpPr>
              <p:cNvPr id="17" name="TextBox 44">
                <a:extLst>
                  <a:ext uri="{FF2B5EF4-FFF2-40B4-BE49-F238E27FC236}">
                    <a16:creationId xmlns:a16="http://schemas.microsoft.com/office/drawing/2014/main" id="{F894D2BA-D0F7-6005-3CF2-E509F58F9D39}"/>
                  </a:ext>
                </a:extLst>
              </p:cNvPr>
              <p:cNvSpPr txBox="1"/>
              <p:nvPr/>
            </p:nvSpPr>
            <p:spPr>
              <a:xfrm>
                <a:off x="9702844" y="2089123"/>
                <a:ext cx="1073062" cy="4064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0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Critical</a:t>
                </a:r>
              </a:p>
            </p:txBody>
          </p:sp>
          <p:sp>
            <p:nvSpPr>
              <p:cNvPr id="18" name="TextBox 45">
                <a:extLst>
                  <a:ext uri="{FF2B5EF4-FFF2-40B4-BE49-F238E27FC236}">
                    <a16:creationId xmlns:a16="http://schemas.microsoft.com/office/drawing/2014/main" id="{E86665CB-1EE9-3101-65C8-BCDCF0F08F87}"/>
                  </a:ext>
                </a:extLst>
              </p:cNvPr>
              <p:cNvSpPr txBox="1"/>
              <p:nvPr/>
            </p:nvSpPr>
            <p:spPr>
              <a:xfrm>
                <a:off x="9765201" y="2564130"/>
                <a:ext cx="948347" cy="731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3600" b="1" dirty="0">
                    <a:solidFill>
                      <a:srgbClr val="C8161E"/>
                    </a:solidFill>
                    <a:latin typeface="Arial"/>
                    <a:ea typeface="Microsoft YaHei"/>
                    <a:cs typeface="Arial"/>
                  </a:rPr>
                  <a:t>&gt; 12</a:t>
                </a:r>
              </a:p>
            </p:txBody>
          </p:sp>
          <p:sp>
            <p:nvSpPr>
              <p:cNvPr id="19" name="TextBox 46">
                <a:extLst>
                  <a:ext uri="{FF2B5EF4-FFF2-40B4-BE49-F238E27FC236}">
                    <a16:creationId xmlns:a16="http://schemas.microsoft.com/office/drawing/2014/main" id="{BDBCED09-62C5-44FB-F9B8-B345C210E7B7}"/>
                  </a:ext>
                </a:extLst>
              </p:cNvPr>
              <p:cNvSpPr txBox="1"/>
              <p:nvPr/>
            </p:nvSpPr>
            <p:spPr>
              <a:xfrm>
                <a:off x="9685742" y="3218207"/>
                <a:ext cx="1107267" cy="3250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dirty="0">
                    <a:solidFill>
                      <a:srgbClr val="1B1C21"/>
                    </a:solidFill>
                    <a:latin typeface="Arial"/>
                    <a:ea typeface="Microsoft YaHei"/>
                    <a:cs typeface="Arial"/>
                  </a:rPr>
                  <a:t>极低置信度</a:t>
                </a:r>
              </a:p>
            </p:txBody>
          </p:sp>
          <p:sp>
            <p:nvSpPr>
              <p:cNvPr id="20" name="TextBox 47">
                <a:extLst>
                  <a:ext uri="{FF2B5EF4-FFF2-40B4-BE49-F238E27FC236}">
                    <a16:creationId xmlns:a16="http://schemas.microsoft.com/office/drawing/2014/main" id="{1A710623-F58F-E263-4EA0-092D7F7B7C17}"/>
                  </a:ext>
                </a:extLst>
              </p:cNvPr>
              <p:cNvSpPr txBox="1"/>
              <p:nvPr/>
            </p:nvSpPr>
            <p:spPr>
              <a:xfrm>
                <a:off x="9661422" y="3563593"/>
                <a:ext cx="1155906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模型严重分歧</a:t>
                </a:r>
              </a:p>
            </p:txBody>
          </p:sp>
          <p:sp>
            <p:nvSpPr>
              <p:cNvPr id="21" name="TextBox 48">
                <a:extLst>
                  <a:ext uri="{FF2B5EF4-FFF2-40B4-BE49-F238E27FC236}">
                    <a16:creationId xmlns:a16="http://schemas.microsoft.com/office/drawing/2014/main" id="{9F1B8FCE-9C41-4DC9-2BC8-7112315FEE2F}"/>
                  </a:ext>
                </a:extLst>
              </p:cNvPr>
              <p:cNvSpPr txBox="1"/>
              <p:nvPr/>
            </p:nvSpPr>
            <p:spPr>
              <a:xfrm>
                <a:off x="9661422" y="3849343"/>
                <a:ext cx="1155906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必须人工复核</a:t>
                </a:r>
              </a:p>
            </p:txBody>
          </p:sp>
          <p:sp>
            <p:nvSpPr>
              <p:cNvPr id="22" name="TextBox 49">
                <a:extLst>
                  <a:ext uri="{FF2B5EF4-FFF2-40B4-BE49-F238E27FC236}">
                    <a16:creationId xmlns:a16="http://schemas.microsoft.com/office/drawing/2014/main" id="{BE3A5F42-6745-FE7B-6409-ABDCEA53F573}"/>
                  </a:ext>
                </a:extLst>
              </p:cNvPr>
              <p:cNvSpPr txBox="1"/>
              <p:nvPr/>
            </p:nvSpPr>
            <p:spPr>
              <a:xfrm>
                <a:off x="9647418" y="4135093"/>
                <a:ext cx="1183915" cy="2845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4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AI 评分不可靠</a:t>
                </a:r>
              </a:p>
            </p:txBody>
          </p:sp>
        </p:grpSp>
      </p:grpSp>
      <p:grpSp>
        <p:nvGrpSpPr>
          <p:cNvPr id="50" name="Group 55">
            <a:extLst>
              <a:ext uri="{FF2B5EF4-FFF2-40B4-BE49-F238E27FC236}">
                <a16:creationId xmlns:a16="http://schemas.microsoft.com/office/drawing/2014/main" id="{8D7DC398-CD71-C83B-3176-590B7A258177}"/>
              </a:ext>
            </a:extLst>
          </p:cNvPr>
          <p:cNvGrpSpPr/>
          <p:nvPr/>
        </p:nvGrpSpPr>
        <p:grpSpPr>
          <a:xfrm>
            <a:off x="685800" y="5838825"/>
            <a:ext cx="10820400" cy="571500"/>
            <a:chOff x="685800" y="5838825"/>
            <a:chExt cx="10820400" cy="571500"/>
          </a:xfrm>
        </p:grpSpPr>
        <p:sp>
          <p:nvSpPr>
            <p:cNvPr id="51" name="Rectangle 52">
              <a:extLst>
                <a:ext uri="{FF2B5EF4-FFF2-40B4-BE49-F238E27FC236}">
                  <a16:creationId xmlns:a16="http://schemas.microsoft.com/office/drawing/2014/main" id="{9027B85B-394E-A1FC-F40E-9D7796B62E14}"/>
                </a:ext>
              </a:extLst>
            </p:cNvPr>
            <p:cNvSpPr/>
            <p:nvPr/>
          </p:nvSpPr>
          <p:spPr>
            <a:xfrm>
              <a:off x="685800" y="5838825"/>
              <a:ext cx="10820400" cy="571500"/>
            </a:xfrm>
            <a:prstGeom prst="roundRect">
              <a:avLst>
                <a:gd name="adj" fmla="val 13333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52" name="TextBox 53">
              <a:extLst>
                <a:ext uri="{FF2B5EF4-FFF2-40B4-BE49-F238E27FC236}">
                  <a16:creationId xmlns:a16="http://schemas.microsoft.com/office/drawing/2014/main" id="{DE7843A2-3ACF-B9B4-CE3A-29ABE251D456}"/>
                </a:ext>
              </a:extLst>
            </p:cNvPr>
            <p:cNvSpPr txBox="1"/>
            <p:nvPr/>
          </p:nvSpPr>
          <p:spPr>
            <a:xfrm>
              <a:off x="983931" y="5923307"/>
              <a:ext cx="923330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核心原则</a:t>
              </a:r>
            </a:p>
          </p:txBody>
        </p:sp>
        <p:sp>
          <p:nvSpPr>
            <p:cNvPr id="53" name="TextBox 54">
              <a:extLst>
                <a:ext uri="{FF2B5EF4-FFF2-40B4-BE49-F238E27FC236}">
                  <a16:creationId xmlns:a16="http://schemas.microsoft.com/office/drawing/2014/main" id="{388B49C1-0264-25D9-9FB3-5349B916F3FC}"/>
                </a:ext>
              </a:extLst>
            </p:cNvPr>
            <p:cNvSpPr txBox="1"/>
            <p:nvPr/>
          </p:nvSpPr>
          <p:spPr>
            <a:xfrm>
              <a:off x="2015165" y="5944843"/>
              <a:ext cx="595355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AI 评分与专家评分并列存储，不互相覆盖 → 专家终审权威高于 AI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1528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5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五轴位置归属度评价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回答“论文产出的知识单元能否纳入中国法学自主知识体系”，不替代六维质量评价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170432"/>
            <a:ext cx="3246120" cy="141732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1261872"/>
            <a:ext cx="310896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C2913B"/>
                </a:solidFill>
                <a:latin typeface="PingFang S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1261872"/>
            <a:ext cx="251460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1">
                <a:solidFill>
                  <a:srgbClr val="5E141F"/>
                </a:solidFill>
                <a:latin typeface="PingFang SC"/>
              </a:rPr>
              <a:t>对象归属度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1673352"/>
            <a:ext cx="2880360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0">
                <a:solidFill>
                  <a:srgbClr val="232426"/>
                </a:solidFill>
                <a:latin typeface="PingFang SC"/>
              </a:rPr>
              <a:t>核心问题是否属于中国法秩序、制度、实践、争论或传统。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1170432"/>
            <a:ext cx="3246120" cy="141732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3128" y="1261872"/>
            <a:ext cx="310896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C2913B"/>
                </a:solidFill>
                <a:latin typeface="PingFang S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18888" y="1261872"/>
            <a:ext cx="251460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1">
                <a:solidFill>
                  <a:srgbClr val="5E141F"/>
                </a:solidFill>
                <a:latin typeface="PingFang SC"/>
              </a:rPr>
              <a:t>材料归属度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7992" y="1673352"/>
            <a:ext cx="2880360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0">
                <a:solidFill>
                  <a:srgbClr val="232426"/>
                </a:solidFill>
                <a:latin typeface="PingFang SC"/>
              </a:rPr>
              <a:t>核心材料是否来自中国规范、案例、制度、史料、实务或中文争论。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1170432"/>
            <a:ext cx="3246120" cy="141732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0727" y="1261872"/>
            <a:ext cx="310896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C2913B"/>
                </a:solidFill>
                <a:latin typeface="PingFang SC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6488" y="1261872"/>
            <a:ext cx="251460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1">
                <a:solidFill>
                  <a:srgbClr val="5E141F"/>
                </a:solidFill>
                <a:latin typeface="PingFang SC"/>
              </a:rPr>
              <a:t>范畴自主度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1673352"/>
            <a:ext cx="2880360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0">
                <a:solidFill>
                  <a:srgbClr val="232426"/>
                </a:solidFill>
                <a:latin typeface="PingFang SC"/>
              </a:rPr>
              <a:t>核心分析范畴是否经过中国法语境重置，而非直接套用外部框架。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3044952"/>
            <a:ext cx="3246120" cy="141732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" y="3136392"/>
            <a:ext cx="310896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C2913B"/>
                </a:solidFill>
                <a:latin typeface="PingFang S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1288" y="3136392"/>
            <a:ext cx="251460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1">
                <a:solidFill>
                  <a:srgbClr val="5E141F"/>
                </a:solidFill>
                <a:latin typeface="PingFang SC"/>
              </a:rPr>
              <a:t>解释目标归属度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" y="3547872"/>
            <a:ext cx="2880360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0">
                <a:solidFill>
                  <a:srgbClr val="232426"/>
                </a:solidFill>
                <a:latin typeface="PingFang SC"/>
              </a:rPr>
              <a:t>最终解释目标是否指向中国法学知识生产。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3044952"/>
            <a:ext cx="3246120" cy="141732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53128" y="3136392"/>
            <a:ext cx="310896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C2913B"/>
                </a:solidFill>
                <a:latin typeface="PingFang S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8888" y="3136392"/>
            <a:ext cx="2514600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1">
                <a:solidFill>
                  <a:srgbClr val="5E141F"/>
                </a:solidFill>
                <a:latin typeface="PingFang SC"/>
              </a:rPr>
              <a:t>体系映射度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3547872"/>
            <a:ext cx="2880360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0">
                <a:solidFill>
                  <a:srgbClr val="232426"/>
                </a:solidFill>
                <a:latin typeface="PingFang SC"/>
              </a:rPr>
              <a:t>知识产出能否映射到既有节点、细化节点、交叉节点或候选新增节点。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822960" y="5166360"/>
          <a:ext cx="1024128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240030">
                <a:tc>
                  <a:txBody>
                    <a:bodyPr/>
                    <a:lstStyle/>
                    <a:p>
                      <a:pPr algn="l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分值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含义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232426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232426"/>
                          </a:solidFill>
                          <a:latin typeface="Microsoft YaHei"/>
                        </a:rPr>
                        <a:t>无明确证据，或只是背景性提及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232426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232426"/>
                          </a:solidFill>
                          <a:latin typeface="Microsoft YaHei"/>
                        </a:rPr>
                        <a:t>有局部证据，但不是论文核心结构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232426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232426"/>
                          </a:solidFill>
                          <a:latin typeface="Microsoft YaHei"/>
                        </a:rPr>
                        <a:t>构成核心问题、材料、范畴、解释目标或明确体系位置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0526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35" grpId="0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五轴防饱和与复核触发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避免把“研究中国问题”机械等同于强自主知识体系归属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5800" y="1188720"/>
            <a:ext cx="5257800" cy="416052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" y="1298448"/>
            <a:ext cx="492861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防饱和规则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1600200"/>
            <a:ext cx="4892040" cy="3657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对象、材料、解释目标可共享证据，但不能因为“讨论中国法”自动三轴全给 2。
• 常规中国法条解释不能自动推出范畴自主度=2 或体系映射度=2。
• 范畴自主度=2 必须说明核心范畴如何由中国制度、实践、传统或法学争论生成。
• 体系映射度=2 必须给出明确既有节点、细化节点、交叉节点或候选新增节点。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1188720"/>
            <a:ext cx="5074920" cy="416052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129844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复核触发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1600200"/>
            <a:ext cx="4709159" cy="3657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高归属分但证据薄弱：进入专家复核。
• 候选新增节点：优先专家确认，关系到知识树扩展。
• 模型在范畴自主度或体系映射度上分歧明显：保留分歧解释。
• 高六维分但归属低：不否定质量，转为高质量一般法学论文或观察样本。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715000"/>
            <a:ext cx="1024128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5E141F"/>
                </a:solidFill>
                <a:latin typeface="PingFang SC"/>
              </a:rPr>
              <a:t>结论：五轴是“归属资格与知识谱系画像”，不是论文质量的第七个评分维度。</a:t>
            </a:r>
          </a:p>
        </p:txBody>
      </p:sp>
    </p:spTree>
    <p:extLst>
      <p:ext uri="{BB962C8B-B14F-4D97-AF65-F5344CB8AC3E}">
        <p14:creationId xmlns:p14="http://schemas.microsoft.com/office/powerpoint/2010/main" val="3315112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7" grpId="0"/>
      <p:bldP spid="25" grpId="0"/>
      <p:bldP spid="33" grpId="0"/>
      <p:bldP spid="41" grpId="0"/>
      <p:bldP spid="48" grpId="0"/>
      <p:bldP spid="5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知识库匹配与学科手册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体系映射度优先复用中国法学自主知识体系树状知识库，但匹配数量不等于质量分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1143000"/>
            <a:ext cx="228600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1280160"/>
            <a:ext cx="201168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1600200"/>
            <a:ext cx="20116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知识库学科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1810512"/>
            <a:ext cx="20116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含主干与新兴方向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46120" y="1143000"/>
            <a:ext cx="228600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83279" y="1280160"/>
            <a:ext cx="201168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333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79" y="1600200"/>
            <a:ext cx="20116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标识性概念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1810512"/>
            <a:ext cx="20116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用于节点候选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1143000"/>
            <a:ext cx="228600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97880" y="1280160"/>
            <a:ext cx="201168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255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1600200"/>
            <a:ext cx="20116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原创性理论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1810512"/>
            <a:ext cx="20116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用于理论谱系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75320" y="1143000"/>
            <a:ext cx="228600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0" y="1280160"/>
            <a:ext cx="201168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1600200"/>
            <a:ext cx="20116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框架结构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1810512"/>
            <a:ext cx="201168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用于结构映射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2514600"/>
            <a:ext cx="4983480" cy="24231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2624328"/>
            <a:ext cx="465429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知识库提供什么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2926080"/>
            <a:ext cx="4617720" cy="1920239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既有节点匹配：学科、概念、理论、框架结构。
• 交叉节点提示：跨部门法、跨范畴的知识位置。
• 候选新增节点：有证据但知识树尚未覆盖的表达。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2514600"/>
            <a:ext cx="4983480" cy="24231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91072" y="2624328"/>
            <a:ext cx="465429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不能替代什么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2926080"/>
            <a:ext cx="4617720" cy="1920239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不能替代五轴评分：知识树可能不完整。
• 不能替代六维质量评价：匹配多不等于论文更好。
• 不能替代专家确认：候选新增节点需人工把关。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623560"/>
            <a:ext cx="1024128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50" b="1">
                <a:solidFill>
                  <a:srgbClr val="5E141F"/>
                </a:solidFill>
                <a:latin typeface="PingFang SC"/>
              </a:rPr>
              <a:t>Top50 新名单已更新；知识库匹配统计需按同一 50 篇名单重跑，历史口径数字不再混用。</a:t>
            </a:r>
          </a:p>
        </p:txBody>
      </p:sp>
    </p:spTree>
    <p:extLst>
      <p:ext uri="{BB962C8B-B14F-4D97-AF65-F5344CB8AC3E}">
        <p14:creationId xmlns:p14="http://schemas.microsoft.com/office/powerpoint/2010/main" val="3218351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23" grpId="0"/>
      <p:bldP spid="31" grpId="0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大规模评测概览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E1 全量评审、E2 Top101 稳定性复测、E3 选择性补测共同支撑 Top50 归属优先配额榜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1170432"/>
            <a:ext cx="3246120" cy="1508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1316736"/>
            <a:ext cx="2880360" cy="34747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900" b="1">
                <a:solidFill>
                  <a:srgbClr val="5E141F"/>
                </a:solidFill>
                <a:latin typeface="PingFang SC"/>
              </a:rPr>
              <a:t>1920 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1719072"/>
            <a:ext cx="28803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232426"/>
                </a:solidFill>
                <a:latin typeface="PingFang SC"/>
              </a:rPr>
              <a:t>E1 全量评审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2011680"/>
            <a:ext cx="288036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19" b="0">
                <a:solidFill>
                  <a:srgbClr val="606369"/>
                </a:solidFill>
                <a:latin typeface="PingFang SC"/>
              </a:rPr>
              <a:t>形成 R1+R2 六维质量基线，约 92,160 次 API 调用。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1170432"/>
            <a:ext cx="3246120" cy="1508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7992" y="1316736"/>
            <a:ext cx="2880360" cy="34747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900" b="1">
                <a:solidFill>
                  <a:srgbClr val="5E141F"/>
                </a:solidFill>
                <a:latin typeface="PingFang SC"/>
              </a:rPr>
              <a:t>101 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7992" y="1719072"/>
            <a:ext cx="28803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232426"/>
                </a:solidFill>
                <a:latin typeface="PingFang SC"/>
              </a:rPr>
              <a:t>E2 Top101 复测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2011680"/>
            <a:ext cx="288036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19" b="0">
                <a:solidFill>
                  <a:srgbClr val="606369"/>
                </a:solidFill>
                <a:latin typeface="PingFang SC"/>
              </a:rPr>
              <a:t>Top60 + 年份至少 5 篇 + 学科至少 5 篇。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0" y="1170432"/>
            <a:ext cx="3246120" cy="1508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1316736"/>
            <a:ext cx="2880360" cy="34747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900" b="1">
                <a:solidFill>
                  <a:srgbClr val="5E141F"/>
                </a:solidFill>
                <a:latin typeface="PingFang SC"/>
              </a:rPr>
              <a:t>45 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1719072"/>
            <a:ext cx="28803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232426"/>
                </a:solidFill>
                <a:latin typeface="PingFang SC"/>
              </a:rPr>
              <a:t>E3 选择性补测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2011680"/>
            <a:ext cx="288036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19" b="0">
                <a:solidFill>
                  <a:srgbClr val="606369"/>
                </a:solidFill>
                <a:latin typeface="PingFang SC"/>
              </a:rPr>
              <a:t>63 个不稳定维度进入选择性补测。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136391"/>
            <a:ext cx="3246120" cy="1508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" y="3282696"/>
            <a:ext cx="2880360" cy="34747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900" b="1">
                <a:solidFill>
                  <a:srgbClr val="5E141F"/>
                </a:solidFill>
                <a:latin typeface="PingFang SC"/>
              </a:rPr>
              <a:t>101 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" y="3685031"/>
            <a:ext cx="28803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232426"/>
                </a:solidFill>
                <a:latin typeface="PingFang SC"/>
              </a:rPr>
              <a:t>五轴归属评估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3977639"/>
            <a:ext cx="288036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19" b="0">
                <a:solidFill>
                  <a:srgbClr val="606369"/>
                </a:solidFill>
                <a:latin typeface="PingFang SC"/>
              </a:rPr>
              <a:t>两模型评估，必要时条件 R2。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0" y="3136391"/>
            <a:ext cx="3246120" cy="1508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07992" y="3282696"/>
            <a:ext cx="2880360" cy="34747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900" b="1">
                <a:solidFill>
                  <a:srgbClr val="5E141F"/>
                </a:solidFill>
                <a:latin typeface="PingFang SC"/>
              </a:rPr>
              <a:t>50 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7992" y="3685031"/>
            <a:ext cx="28803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232426"/>
                </a:solidFill>
                <a:latin typeface="PingFang SC"/>
              </a:rPr>
              <a:t>Top50 输出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7992" y="3977639"/>
            <a:ext cx="288036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19" b="0">
                <a:solidFill>
                  <a:srgbClr val="606369"/>
                </a:solidFill>
                <a:latin typeface="PingFang SC"/>
              </a:rPr>
              <a:t>10 分主池 + 学科比例配额；1 篇 9 分补足。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687568"/>
            <a:ext cx="1024128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50" b="1">
                <a:solidFill>
                  <a:srgbClr val="5E141F"/>
                </a:solidFill>
                <a:latin typeface="PingFang SC"/>
              </a:rPr>
              <a:t>主评测 API 调用仍以 E1/E2/E3 为主；五轴归属度用于 Top50 资格和知识体系画像，不改变六维质量分。</a:t>
            </a:r>
          </a:p>
        </p:txBody>
      </p:sp>
    </p:spTree>
    <p:extLst>
      <p:ext uri="{BB962C8B-B14F-4D97-AF65-F5344CB8AC3E}">
        <p14:creationId xmlns:p14="http://schemas.microsoft.com/office/powerpoint/2010/main" val="2888784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5" grpId="0"/>
      <p:bldP spid="4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C85116-B0F9-EE6E-FEC7-877A8903E9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17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8F4E7A-F98B-18AD-4427-10D706C190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AF7040-52F1-F642-9125-CFD30CF323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C79645-FD44-2BB1-2FE1-D2C3E73BBC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5351" y="43657"/>
            <a:ext cx="8164183" cy="598488"/>
          </a:xfrm>
        </p:spPr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预检拒审与异常处理（Round 1 实际表现）</a:t>
            </a:r>
          </a:p>
        </p:txBody>
      </p:sp>
      <p:grpSp>
        <p:nvGrpSpPr>
          <p:cNvPr id="6" name="Group 10">
            <a:extLst>
              <a:ext uri="{FF2B5EF4-FFF2-40B4-BE49-F238E27FC236}">
                <a16:creationId xmlns:a16="http://schemas.microsoft.com/office/drawing/2014/main" id="{B6C4E0F5-0CA0-32BC-8EFB-EF5319FFFB36}"/>
              </a:ext>
            </a:extLst>
          </p:cNvPr>
          <p:cNvGrpSpPr/>
          <p:nvPr/>
        </p:nvGrpSpPr>
        <p:grpSpPr>
          <a:xfrm>
            <a:off x="685800" y="1010359"/>
            <a:ext cx="10820400" cy="542901"/>
            <a:chOff x="685800" y="1228725"/>
            <a:chExt cx="10820400" cy="542901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4FD2A0A3-2112-6D62-2401-DE99AD6A9E48}"/>
                </a:ext>
              </a:extLst>
            </p:cNvPr>
            <p:cNvSpPr/>
            <p:nvPr/>
          </p:nvSpPr>
          <p:spPr>
            <a:xfrm>
              <a:off x="685800" y="1228725"/>
              <a:ext cx="10820400" cy="533400"/>
            </a:xfrm>
            <a:prstGeom prst="roundRect">
              <a:avLst>
                <a:gd name="adj" fmla="val 14286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8" name="TextBox 9">
              <a:extLst>
                <a:ext uri="{FF2B5EF4-FFF2-40B4-BE49-F238E27FC236}">
                  <a16:creationId xmlns:a16="http://schemas.microsoft.com/office/drawing/2014/main" id="{EB153A6E-0671-2B1E-875C-AD572C74FEA7}"/>
                </a:ext>
              </a:extLst>
            </p:cNvPr>
            <p:cNvSpPr txBox="1"/>
            <p:nvPr/>
          </p:nvSpPr>
          <p:spPr>
            <a:xfrm>
              <a:off x="3488534" y="1324637"/>
              <a:ext cx="5214932" cy="4469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154 篇问题论文（占 1920 篇的 8.0%）</a:t>
              </a:r>
            </a:p>
          </p:txBody>
        </p:sp>
      </p:grpSp>
      <p:grpSp>
        <p:nvGrpSpPr>
          <p:cNvPr id="9" name="Group 47">
            <a:extLst>
              <a:ext uri="{FF2B5EF4-FFF2-40B4-BE49-F238E27FC236}">
                <a16:creationId xmlns:a16="http://schemas.microsoft.com/office/drawing/2014/main" id="{BE826518-2ED3-7A4A-58B8-B90742993723}"/>
              </a:ext>
            </a:extLst>
          </p:cNvPr>
          <p:cNvGrpSpPr/>
          <p:nvPr/>
        </p:nvGrpSpPr>
        <p:grpSpPr>
          <a:xfrm>
            <a:off x="685800" y="1772359"/>
            <a:ext cx="10820400" cy="2857500"/>
            <a:chOff x="685800" y="1990725"/>
            <a:chExt cx="10820400" cy="2857500"/>
          </a:xfrm>
        </p:grpSpPr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A88DF92E-BDF5-00E5-63D2-58C2B7ED1E87}"/>
                </a:ext>
              </a:extLst>
            </p:cNvPr>
            <p:cNvSpPr/>
            <p:nvPr/>
          </p:nvSpPr>
          <p:spPr>
            <a:xfrm>
              <a:off x="685800" y="1990725"/>
              <a:ext cx="10820400" cy="381000"/>
            </a:xfrm>
            <a:prstGeom prst="roundRect">
              <a:avLst>
                <a:gd name="adj" fmla="val 10000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2B797D98-A8DC-79D1-9619-A650BAD8B578}"/>
                </a:ext>
              </a:extLst>
            </p:cNvPr>
            <p:cNvSpPr txBox="1"/>
            <p:nvPr/>
          </p:nvSpPr>
          <p:spPr>
            <a:xfrm>
              <a:off x="1195857" y="2087218"/>
              <a:ext cx="42768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类别</a:t>
              </a:r>
            </a:p>
          </p:txBody>
        </p:sp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4E10BDDC-BD2C-4FDA-DBA9-FAC36EB425AC}"/>
                </a:ext>
              </a:extLst>
            </p:cNvPr>
            <p:cNvSpPr txBox="1"/>
            <p:nvPr/>
          </p:nvSpPr>
          <p:spPr>
            <a:xfrm>
              <a:off x="2910357" y="2087218"/>
              <a:ext cx="42768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数量</a:t>
              </a:r>
            </a:p>
          </p:txBody>
        </p:sp>
        <p:sp>
          <p:nvSpPr>
            <p:cNvPr id="13" name="TextBox 14">
              <a:extLst>
                <a:ext uri="{FF2B5EF4-FFF2-40B4-BE49-F238E27FC236}">
                  <a16:creationId xmlns:a16="http://schemas.microsoft.com/office/drawing/2014/main" id="{EFDA68F2-4C84-7C55-4E69-7CDF92F2048B}"/>
                </a:ext>
              </a:extLst>
            </p:cNvPr>
            <p:cNvSpPr txBox="1"/>
            <p:nvPr/>
          </p:nvSpPr>
          <p:spPr>
            <a:xfrm>
              <a:off x="4129557" y="2087218"/>
              <a:ext cx="42768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占比</a:t>
              </a:r>
            </a:p>
          </p:txBody>
        </p:sp>
        <p:sp>
          <p:nvSpPr>
            <p:cNvPr id="14" name="TextBox 15">
              <a:extLst>
                <a:ext uri="{FF2B5EF4-FFF2-40B4-BE49-F238E27FC236}">
                  <a16:creationId xmlns:a16="http://schemas.microsoft.com/office/drawing/2014/main" id="{35865643-BA6F-798A-2E6F-02551945BF8C}"/>
                </a:ext>
              </a:extLst>
            </p:cNvPr>
            <p:cNvSpPr txBox="1"/>
            <p:nvPr/>
          </p:nvSpPr>
          <p:spPr>
            <a:xfrm>
              <a:off x="6739407" y="2087218"/>
              <a:ext cx="42768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15" name="TextBox 16">
              <a:extLst>
                <a:ext uri="{FF2B5EF4-FFF2-40B4-BE49-F238E27FC236}">
                  <a16:creationId xmlns:a16="http://schemas.microsoft.com/office/drawing/2014/main" id="{A2EBE2D6-C395-B878-4744-F2AE4021B668}"/>
                </a:ext>
              </a:extLst>
            </p:cNvPr>
            <p:cNvSpPr txBox="1"/>
            <p:nvPr/>
          </p:nvSpPr>
          <p:spPr>
            <a:xfrm>
              <a:off x="9496098" y="2087218"/>
              <a:ext cx="819804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处理策略</a:t>
              </a:r>
            </a:p>
          </p:txBody>
        </p:sp>
        <p:sp>
          <p:nvSpPr>
            <p:cNvPr id="16" name="Rectangle 17">
              <a:extLst>
                <a:ext uri="{FF2B5EF4-FFF2-40B4-BE49-F238E27FC236}">
                  <a16:creationId xmlns:a16="http://schemas.microsoft.com/office/drawing/2014/main" id="{0073432F-333C-5734-648D-C91FEBD6F0B9}"/>
                </a:ext>
              </a:extLst>
            </p:cNvPr>
            <p:cNvSpPr/>
            <p:nvPr/>
          </p:nvSpPr>
          <p:spPr>
            <a:xfrm>
              <a:off x="685800" y="2371725"/>
              <a:ext cx="10820400" cy="4953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</p:sp>
        <p:sp>
          <p:nvSpPr>
            <p:cNvPr id="17" name="TextBox 18">
              <a:extLst>
                <a:ext uri="{FF2B5EF4-FFF2-40B4-BE49-F238E27FC236}">
                  <a16:creationId xmlns:a16="http://schemas.microsoft.com/office/drawing/2014/main" id="{F8C24EC2-A7C4-3C04-0C05-5A55B70E594F}"/>
                </a:ext>
              </a:extLst>
            </p:cNvPr>
            <p:cNvSpPr txBox="1"/>
            <p:nvPr/>
          </p:nvSpPr>
          <p:spPr>
            <a:xfrm>
              <a:off x="1032474" y="2525368"/>
              <a:ext cx="754451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1-空状态</a:t>
              </a:r>
            </a:p>
          </p:txBody>
        </p:sp>
        <p:sp>
          <p:nvSpPr>
            <p:cNvPr id="18" name="TextBox 19">
              <a:extLst>
                <a:ext uri="{FF2B5EF4-FFF2-40B4-BE49-F238E27FC236}">
                  <a16:creationId xmlns:a16="http://schemas.microsoft.com/office/drawing/2014/main" id="{551884CE-17E9-4248-643D-4BF45BEBAE1B}"/>
                </a:ext>
              </a:extLst>
            </p:cNvPr>
            <p:cNvSpPr txBox="1"/>
            <p:nvPr/>
          </p:nvSpPr>
          <p:spPr>
            <a:xfrm>
              <a:off x="2871145" y="2525368"/>
              <a:ext cx="506109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90 篇</a:t>
              </a:r>
            </a:p>
          </p:txBody>
        </p:sp>
        <p:sp>
          <p:nvSpPr>
            <p:cNvPr id="19" name="TextBox 20">
              <a:extLst>
                <a:ext uri="{FF2B5EF4-FFF2-40B4-BE49-F238E27FC236}">
                  <a16:creationId xmlns:a16="http://schemas.microsoft.com/office/drawing/2014/main" id="{4C50F43F-837B-66D8-0D3E-0F6D61BB4645}"/>
                </a:ext>
              </a:extLst>
            </p:cNvPr>
            <p:cNvSpPr txBox="1"/>
            <p:nvPr/>
          </p:nvSpPr>
          <p:spPr>
            <a:xfrm>
              <a:off x="4068872" y="2525368"/>
              <a:ext cx="549056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58.4%</a:t>
              </a:r>
            </a:p>
          </p:txBody>
        </p:sp>
        <p:sp>
          <p:nvSpPr>
            <p:cNvPr id="20" name="TextBox 21">
              <a:extLst>
                <a:ext uri="{FF2B5EF4-FFF2-40B4-BE49-F238E27FC236}">
                  <a16:creationId xmlns:a16="http://schemas.microsoft.com/office/drawing/2014/main" id="{DFA2553B-A8E8-BC17-4844-A99D7FC26AC9}"/>
                </a:ext>
              </a:extLst>
            </p:cNvPr>
            <p:cNvSpPr txBox="1"/>
            <p:nvPr/>
          </p:nvSpPr>
          <p:spPr>
            <a:xfrm>
              <a:off x="5773864" y="2546985"/>
              <a:ext cx="235877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API/内容审查（Qwen 占 70 篇）</a:t>
              </a:r>
            </a:p>
          </p:txBody>
        </p:sp>
        <p:sp>
          <p:nvSpPr>
            <p:cNvPr id="21" name="TextBox 22">
              <a:extLst>
                <a:ext uri="{FF2B5EF4-FFF2-40B4-BE49-F238E27FC236}">
                  <a16:creationId xmlns:a16="http://schemas.microsoft.com/office/drawing/2014/main" id="{70313898-D992-5A9F-6BD2-7487B0DF95E1}"/>
                </a:ext>
              </a:extLst>
            </p:cNvPr>
            <p:cNvSpPr txBox="1"/>
            <p:nvPr/>
          </p:nvSpPr>
          <p:spPr>
            <a:xfrm>
              <a:off x="9399299" y="2546985"/>
              <a:ext cx="10134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✅ 已补测完成</a:t>
              </a:r>
            </a:p>
          </p:txBody>
        </p:sp>
        <p:sp>
          <p:nvSpPr>
            <p:cNvPr id="22" name="Rectangle 23">
              <a:extLst>
                <a:ext uri="{FF2B5EF4-FFF2-40B4-BE49-F238E27FC236}">
                  <a16:creationId xmlns:a16="http://schemas.microsoft.com/office/drawing/2014/main" id="{EDB93D18-C946-2164-93CA-045565CDD9AD}"/>
                </a:ext>
              </a:extLst>
            </p:cNvPr>
            <p:cNvSpPr/>
            <p:nvPr/>
          </p:nvSpPr>
          <p:spPr>
            <a:xfrm>
              <a:off x="685800" y="2867025"/>
              <a:ext cx="10820400" cy="495300"/>
            </a:xfrm>
            <a:prstGeom prst="rect">
              <a:avLst/>
            </a:prstGeom>
            <a:solidFill>
              <a:srgbClr val="FFEBEE"/>
            </a:solidFill>
            <a:ln>
              <a:noFill/>
            </a:ln>
          </p:spPr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A216B732-D5B0-0706-C710-3DB49ACC30C4}"/>
                </a:ext>
              </a:extLst>
            </p:cNvPr>
            <p:cNvSpPr txBox="1"/>
            <p:nvPr/>
          </p:nvSpPr>
          <p:spPr>
            <a:xfrm>
              <a:off x="915772" y="3020668"/>
              <a:ext cx="98785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2-全部拒绝</a:t>
              </a:r>
            </a:p>
          </p:txBody>
        </p:sp>
        <p:sp>
          <p:nvSpPr>
            <p:cNvPr id="24" name="TextBox 25">
              <a:extLst>
                <a:ext uri="{FF2B5EF4-FFF2-40B4-BE49-F238E27FC236}">
                  <a16:creationId xmlns:a16="http://schemas.microsoft.com/office/drawing/2014/main" id="{4CBCBD6E-0ADA-DFD1-402D-877F8ACFC272}"/>
                </a:ext>
              </a:extLst>
            </p:cNvPr>
            <p:cNvSpPr txBox="1"/>
            <p:nvPr/>
          </p:nvSpPr>
          <p:spPr>
            <a:xfrm>
              <a:off x="2925062" y="3020668"/>
              <a:ext cx="398276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5 篇</a:t>
              </a:r>
            </a:p>
          </p:txBody>
        </p:sp>
        <p:sp>
          <p:nvSpPr>
            <p:cNvPr id="25" name="TextBox 26">
              <a:extLst>
                <a:ext uri="{FF2B5EF4-FFF2-40B4-BE49-F238E27FC236}">
                  <a16:creationId xmlns:a16="http://schemas.microsoft.com/office/drawing/2014/main" id="{DD4361EF-A49E-5F1C-9F91-9E798250EE18}"/>
                </a:ext>
              </a:extLst>
            </p:cNvPr>
            <p:cNvSpPr txBox="1"/>
            <p:nvPr/>
          </p:nvSpPr>
          <p:spPr>
            <a:xfrm>
              <a:off x="4120221" y="3020668"/>
              <a:ext cx="44635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3.2%</a:t>
              </a:r>
            </a:p>
          </p:txBody>
        </p:sp>
        <p:sp>
          <p:nvSpPr>
            <p:cNvPr id="26" name="TextBox 27">
              <a:extLst>
                <a:ext uri="{FF2B5EF4-FFF2-40B4-BE49-F238E27FC236}">
                  <a16:creationId xmlns:a16="http://schemas.microsoft.com/office/drawing/2014/main" id="{9E4284C3-6BBA-EE9E-6E83-F80F3C558651}"/>
                </a:ext>
              </a:extLst>
            </p:cNvPr>
            <p:cNvSpPr txBox="1"/>
            <p:nvPr/>
          </p:nvSpPr>
          <p:spPr>
            <a:xfrm>
              <a:off x="5829871" y="3042285"/>
              <a:ext cx="22467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4 模型一致排除（政策性论文）</a:t>
              </a:r>
            </a:p>
          </p:txBody>
        </p:sp>
        <p:sp>
          <p:nvSpPr>
            <p:cNvPr id="27" name="TextBox 28">
              <a:extLst>
                <a:ext uri="{FF2B5EF4-FFF2-40B4-BE49-F238E27FC236}">
                  <a16:creationId xmlns:a16="http://schemas.microsoft.com/office/drawing/2014/main" id="{35935C65-3155-065F-384D-8C0ACD4A471E}"/>
                </a:ext>
              </a:extLst>
            </p:cNvPr>
            <p:cNvSpPr txBox="1"/>
            <p:nvPr/>
          </p:nvSpPr>
          <p:spPr>
            <a:xfrm>
              <a:off x="9399299" y="3042285"/>
              <a:ext cx="10134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✅ 可直接排除</a:t>
              </a:r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B85D1875-882D-CFDA-BB09-FFB4D8C6F8E9}"/>
                </a:ext>
              </a:extLst>
            </p:cNvPr>
            <p:cNvSpPr/>
            <p:nvPr/>
          </p:nvSpPr>
          <p:spPr>
            <a:xfrm>
              <a:off x="685800" y="3362325"/>
              <a:ext cx="10820400" cy="495300"/>
            </a:xfrm>
            <a:prstGeom prst="rect">
              <a:avLst/>
            </a:prstGeom>
            <a:solidFill>
              <a:srgbClr val="FFF8F0"/>
            </a:solidFill>
            <a:ln>
              <a:noFill/>
            </a:ln>
          </p:spPr>
        </p:sp>
        <p:sp>
          <p:nvSpPr>
            <p:cNvPr id="29" name="TextBox 30">
              <a:extLst>
                <a:ext uri="{FF2B5EF4-FFF2-40B4-BE49-F238E27FC236}">
                  <a16:creationId xmlns:a16="http://schemas.microsoft.com/office/drawing/2014/main" id="{553AC0AE-F070-E6D7-0B0C-E97D96A45918}"/>
                </a:ext>
              </a:extLst>
            </p:cNvPr>
            <p:cNvSpPr txBox="1"/>
            <p:nvPr/>
          </p:nvSpPr>
          <p:spPr>
            <a:xfrm>
              <a:off x="915772" y="3515968"/>
              <a:ext cx="98785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3-多数拒绝</a:t>
              </a:r>
            </a:p>
          </p:txBody>
        </p:sp>
        <p:sp>
          <p:nvSpPr>
            <p:cNvPr id="30" name="TextBox 31">
              <a:extLst>
                <a:ext uri="{FF2B5EF4-FFF2-40B4-BE49-F238E27FC236}">
                  <a16:creationId xmlns:a16="http://schemas.microsoft.com/office/drawing/2014/main" id="{C1B880E3-DF5F-4936-FF26-D89632D7285B}"/>
                </a:ext>
              </a:extLst>
            </p:cNvPr>
            <p:cNvSpPr txBox="1"/>
            <p:nvPr/>
          </p:nvSpPr>
          <p:spPr>
            <a:xfrm>
              <a:off x="2895653" y="3515968"/>
              <a:ext cx="457094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19 篇</a:t>
              </a:r>
            </a:p>
          </p:txBody>
        </p:sp>
        <p:sp>
          <p:nvSpPr>
            <p:cNvPr id="31" name="TextBox 32">
              <a:extLst>
                <a:ext uri="{FF2B5EF4-FFF2-40B4-BE49-F238E27FC236}">
                  <a16:creationId xmlns:a16="http://schemas.microsoft.com/office/drawing/2014/main" id="{BCCCEB47-044F-562D-98BD-704340DB96B7}"/>
                </a:ext>
              </a:extLst>
            </p:cNvPr>
            <p:cNvSpPr txBox="1"/>
            <p:nvPr/>
          </p:nvSpPr>
          <p:spPr>
            <a:xfrm>
              <a:off x="4092213" y="3515968"/>
              <a:ext cx="50237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12.3%</a:t>
              </a:r>
            </a:p>
          </p:txBody>
        </p:sp>
        <p:sp>
          <p:nvSpPr>
            <p:cNvPr id="32" name="TextBox 33">
              <a:extLst>
                <a:ext uri="{FF2B5EF4-FFF2-40B4-BE49-F238E27FC236}">
                  <a16:creationId xmlns:a16="http://schemas.microsoft.com/office/drawing/2014/main" id="{CFFFA3A2-EACD-677F-2F25-F3D28E7E15D4}"/>
                </a:ext>
              </a:extLst>
            </p:cNvPr>
            <p:cNvSpPr txBox="1"/>
            <p:nvPr/>
          </p:nvSpPr>
          <p:spPr>
            <a:xfrm>
              <a:off x="6141910" y="3537585"/>
              <a:ext cx="162267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2-3 模型拒绝，有分歧</a:t>
              </a:r>
            </a:p>
          </p:txBody>
        </p:sp>
        <p:sp>
          <p:nvSpPr>
            <p:cNvPr id="33" name="TextBox 34">
              <a:extLst>
                <a:ext uri="{FF2B5EF4-FFF2-40B4-BE49-F238E27FC236}">
                  <a16:creationId xmlns:a16="http://schemas.microsoft.com/office/drawing/2014/main" id="{82504405-A47A-8942-1BD0-3230FBC4F56D}"/>
                </a:ext>
              </a:extLst>
            </p:cNvPr>
            <p:cNvSpPr txBox="1"/>
            <p:nvPr/>
          </p:nvSpPr>
          <p:spPr>
            <a:xfrm>
              <a:off x="9353093" y="3537585"/>
              <a:ext cx="110581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⚠️ 需人工复核</a:t>
              </a: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4D173B1D-5FBA-671C-3A12-9D3A3CF5AAE3}"/>
                </a:ext>
              </a:extLst>
            </p:cNvPr>
            <p:cNvSpPr/>
            <p:nvPr/>
          </p:nvSpPr>
          <p:spPr>
            <a:xfrm>
              <a:off x="685800" y="3857625"/>
              <a:ext cx="10820400" cy="495300"/>
            </a:xfrm>
            <a:prstGeom prst="rect">
              <a:avLst/>
            </a:prstGeom>
            <a:solidFill>
              <a:srgbClr val="FFF8F0"/>
            </a:solidFill>
            <a:ln>
              <a:noFill/>
            </a:ln>
          </p:spPr>
        </p:sp>
        <p:sp>
          <p:nvSpPr>
            <p:cNvPr id="35" name="TextBox 36">
              <a:extLst>
                <a:ext uri="{FF2B5EF4-FFF2-40B4-BE49-F238E27FC236}">
                  <a16:creationId xmlns:a16="http://schemas.microsoft.com/office/drawing/2014/main" id="{7E65A69B-FDFF-5D99-87DE-3C3AB8CB369C}"/>
                </a:ext>
              </a:extLst>
            </p:cNvPr>
            <p:cNvSpPr txBox="1"/>
            <p:nvPr/>
          </p:nvSpPr>
          <p:spPr>
            <a:xfrm>
              <a:off x="915772" y="4011268"/>
              <a:ext cx="98785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4-单一拒绝</a:t>
              </a:r>
            </a:p>
          </p:txBody>
        </p:sp>
        <p:sp>
          <p:nvSpPr>
            <p:cNvPr id="36" name="TextBox 37">
              <a:extLst>
                <a:ext uri="{FF2B5EF4-FFF2-40B4-BE49-F238E27FC236}">
                  <a16:creationId xmlns:a16="http://schemas.microsoft.com/office/drawing/2014/main" id="{7BC31D88-DE75-5ACD-7775-3E1A29E0DF88}"/>
                </a:ext>
              </a:extLst>
            </p:cNvPr>
            <p:cNvSpPr txBox="1"/>
            <p:nvPr/>
          </p:nvSpPr>
          <p:spPr>
            <a:xfrm>
              <a:off x="2895653" y="4011268"/>
              <a:ext cx="457094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15 篇</a:t>
              </a:r>
            </a:p>
          </p:txBody>
        </p:sp>
        <p:sp>
          <p:nvSpPr>
            <p:cNvPr id="37" name="TextBox 38">
              <a:extLst>
                <a:ext uri="{FF2B5EF4-FFF2-40B4-BE49-F238E27FC236}">
                  <a16:creationId xmlns:a16="http://schemas.microsoft.com/office/drawing/2014/main" id="{368995AF-A9B9-C6AD-D428-9883CFE5603A}"/>
                </a:ext>
              </a:extLst>
            </p:cNvPr>
            <p:cNvSpPr txBox="1"/>
            <p:nvPr/>
          </p:nvSpPr>
          <p:spPr>
            <a:xfrm>
              <a:off x="4120221" y="4011268"/>
              <a:ext cx="44635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9.7%</a:t>
              </a:r>
            </a:p>
          </p:txBody>
        </p:sp>
        <p:sp>
          <p:nvSpPr>
            <p:cNvPr id="38" name="TextBox 39">
              <a:extLst>
                <a:ext uri="{FF2B5EF4-FFF2-40B4-BE49-F238E27FC236}">
                  <a16:creationId xmlns:a16="http://schemas.microsoft.com/office/drawing/2014/main" id="{54E269B9-6773-CEA5-0F64-39E8B87518FA}"/>
                </a:ext>
              </a:extLst>
            </p:cNvPr>
            <p:cNvSpPr txBox="1"/>
            <p:nvPr/>
          </p:nvSpPr>
          <p:spPr>
            <a:xfrm>
              <a:off x="6569964" y="4032885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1 模型拒绝</a:t>
              </a:r>
            </a:p>
          </p:txBody>
        </p:sp>
        <p:sp>
          <p:nvSpPr>
            <p:cNvPr id="39" name="TextBox 40">
              <a:extLst>
                <a:ext uri="{FF2B5EF4-FFF2-40B4-BE49-F238E27FC236}">
                  <a16:creationId xmlns:a16="http://schemas.microsoft.com/office/drawing/2014/main" id="{059F4CE2-353A-071E-E35D-84C93CAED95E}"/>
                </a:ext>
              </a:extLst>
            </p:cNvPr>
            <p:cNvSpPr txBox="1"/>
            <p:nvPr/>
          </p:nvSpPr>
          <p:spPr>
            <a:xfrm>
              <a:off x="9353093" y="4032885"/>
              <a:ext cx="110581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⚠️ 需人工复核</a:t>
              </a:r>
            </a:p>
          </p:txBody>
        </p:sp>
        <p:sp>
          <p:nvSpPr>
            <p:cNvPr id="40" name="Rectangle 41">
              <a:extLst>
                <a:ext uri="{FF2B5EF4-FFF2-40B4-BE49-F238E27FC236}">
                  <a16:creationId xmlns:a16="http://schemas.microsoft.com/office/drawing/2014/main" id="{BCC12518-82F0-46C7-0D97-B070F30AC49E}"/>
                </a:ext>
              </a:extLst>
            </p:cNvPr>
            <p:cNvSpPr/>
            <p:nvPr/>
          </p:nvSpPr>
          <p:spPr>
            <a:xfrm>
              <a:off x="685800" y="4352925"/>
              <a:ext cx="10820400" cy="495300"/>
            </a:xfrm>
            <a:prstGeom prst="rect">
              <a:avLst/>
            </a:prstGeom>
            <a:solidFill>
              <a:srgbClr val="F0F7FF"/>
            </a:solidFill>
            <a:ln>
              <a:noFill/>
            </a:ln>
          </p:spPr>
        </p:sp>
        <p:sp>
          <p:nvSpPr>
            <p:cNvPr id="41" name="TextBox 42">
              <a:extLst>
                <a:ext uri="{FF2B5EF4-FFF2-40B4-BE49-F238E27FC236}">
                  <a16:creationId xmlns:a16="http://schemas.microsoft.com/office/drawing/2014/main" id="{64B9F1C4-EA72-914B-093B-CBDAFF9B5973}"/>
                </a:ext>
              </a:extLst>
            </p:cNvPr>
            <p:cNvSpPr txBox="1"/>
            <p:nvPr/>
          </p:nvSpPr>
          <p:spPr>
            <a:xfrm>
              <a:off x="915772" y="4506568"/>
              <a:ext cx="98785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5-边界判断</a:t>
              </a:r>
            </a:p>
          </p:txBody>
        </p:sp>
        <p:sp>
          <p:nvSpPr>
            <p:cNvPr id="42" name="TextBox 43">
              <a:extLst>
                <a:ext uri="{FF2B5EF4-FFF2-40B4-BE49-F238E27FC236}">
                  <a16:creationId xmlns:a16="http://schemas.microsoft.com/office/drawing/2014/main" id="{1A02504E-2CF6-00E2-B891-5370F4D81D7B}"/>
                </a:ext>
              </a:extLst>
            </p:cNvPr>
            <p:cNvSpPr txBox="1"/>
            <p:nvPr/>
          </p:nvSpPr>
          <p:spPr>
            <a:xfrm>
              <a:off x="2871145" y="4506568"/>
              <a:ext cx="506109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25 篇</a:t>
              </a:r>
            </a:p>
          </p:txBody>
        </p:sp>
        <p:sp>
          <p:nvSpPr>
            <p:cNvPr id="43" name="TextBox 44">
              <a:extLst>
                <a:ext uri="{FF2B5EF4-FFF2-40B4-BE49-F238E27FC236}">
                  <a16:creationId xmlns:a16="http://schemas.microsoft.com/office/drawing/2014/main" id="{F9285A6C-D96E-2F0E-520E-C7D5689B743B}"/>
                </a:ext>
              </a:extLst>
            </p:cNvPr>
            <p:cNvSpPr txBox="1"/>
            <p:nvPr/>
          </p:nvSpPr>
          <p:spPr>
            <a:xfrm>
              <a:off x="4092213" y="4506568"/>
              <a:ext cx="50237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16.2%</a:t>
              </a:r>
            </a:p>
          </p:txBody>
        </p:sp>
        <p:sp>
          <p:nvSpPr>
            <p:cNvPr id="44" name="TextBox 45">
              <a:extLst>
                <a:ext uri="{FF2B5EF4-FFF2-40B4-BE49-F238E27FC236}">
                  <a16:creationId xmlns:a16="http://schemas.microsoft.com/office/drawing/2014/main" id="{92838BB1-3355-B118-EFDA-566567279E15}"/>
                </a:ext>
              </a:extLst>
            </p:cNvPr>
            <p:cNvSpPr txBox="1"/>
            <p:nvPr/>
          </p:nvSpPr>
          <p:spPr>
            <a:xfrm>
              <a:off x="6137910" y="4528185"/>
              <a:ext cx="16306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项目口径边界，无拒绝</a:t>
              </a:r>
            </a:p>
          </p:txBody>
        </p:sp>
        <p:sp>
          <p:nvSpPr>
            <p:cNvPr id="45" name="TextBox 46">
              <a:extLst>
                <a:ext uri="{FF2B5EF4-FFF2-40B4-BE49-F238E27FC236}">
                  <a16:creationId xmlns:a16="http://schemas.microsoft.com/office/drawing/2014/main" id="{FB686FE0-E424-C254-A65B-18A673444EB6}"/>
                </a:ext>
              </a:extLst>
            </p:cNvPr>
            <p:cNvSpPr txBox="1"/>
            <p:nvPr/>
          </p:nvSpPr>
          <p:spPr>
            <a:xfrm>
              <a:off x="9353093" y="4528185"/>
              <a:ext cx="110581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⚠️ 需人工确认</a:t>
              </a:r>
            </a:p>
          </p:txBody>
        </p:sp>
      </p:grpSp>
      <p:grpSp>
        <p:nvGrpSpPr>
          <p:cNvPr id="46" name="Group 56">
            <a:extLst>
              <a:ext uri="{FF2B5EF4-FFF2-40B4-BE49-F238E27FC236}">
                <a16:creationId xmlns:a16="http://schemas.microsoft.com/office/drawing/2014/main" id="{57E8352A-C6F3-D29F-5304-CE81CF8912D1}"/>
              </a:ext>
            </a:extLst>
          </p:cNvPr>
          <p:cNvGrpSpPr/>
          <p:nvPr/>
        </p:nvGrpSpPr>
        <p:grpSpPr>
          <a:xfrm>
            <a:off x="665483" y="4978481"/>
            <a:ext cx="10840717" cy="1258543"/>
            <a:chOff x="665483" y="5142257"/>
            <a:chExt cx="10840717" cy="1258543"/>
          </a:xfrm>
        </p:grpSpPr>
        <p:sp>
          <p:nvSpPr>
            <p:cNvPr id="47" name="TextBox 48">
              <a:extLst>
                <a:ext uri="{FF2B5EF4-FFF2-40B4-BE49-F238E27FC236}">
                  <a16:creationId xmlns:a16="http://schemas.microsoft.com/office/drawing/2014/main" id="{8CB13689-2AA9-DB5B-B8AF-07DF8F0DC65B}"/>
                </a:ext>
              </a:extLst>
            </p:cNvPr>
            <p:cNvSpPr txBox="1"/>
            <p:nvPr/>
          </p:nvSpPr>
          <p:spPr>
            <a:xfrm>
              <a:off x="665483" y="5142257"/>
              <a:ext cx="1384592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拒绝模型分布</a:t>
              </a:r>
            </a:p>
          </p:txBody>
        </p:sp>
        <p:sp>
          <p:nvSpPr>
            <p:cNvPr id="48" name="Rectangle 49">
              <a:extLst>
                <a:ext uri="{FF2B5EF4-FFF2-40B4-BE49-F238E27FC236}">
                  <a16:creationId xmlns:a16="http://schemas.microsoft.com/office/drawing/2014/main" id="{AB3FAB4D-3F96-B0D5-9FBE-C5C18C8BFF1B}"/>
                </a:ext>
              </a:extLst>
            </p:cNvPr>
            <p:cNvSpPr/>
            <p:nvPr/>
          </p:nvSpPr>
          <p:spPr>
            <a:xfrm>
              <a:off x="685800" y="5448300"/>
              <a:ext cx="10820400" cy="952500"/>
            </a:xfrm>
            <a:prstGeom prst="roundRect">
              <a:avLst>
                <a:gd name="adj" fmla="val 8000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49" name="TextBox 50">
              <a:extLst>
                <a:ext uri="{FF2B5EF4-FFF2-40B4-BE49-F238E27FC236}">
                  <a16:creationId xmlns:a16="http://schemas.microsoft.com/office/drawing/2014/main" id="{D4BA3F39-5DAD-78CB-5761-36D855313FB7}"/>
                </a:ext>
              </a:extLst>
            </p:cNvPr>
            <p:cNvSpPr txBox="1"/>
            <p:nvPr/>
          </p:nvSpPr>
          <p:spPr>
            <a:xfrm>
              <a:off x="972817" y="5582893"/>
              <a:ext cx="802732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Kimi-K2.6（33 次）&gt; GLM-5.1（23 次）&gt; DeepSeek-V4-Pro（15 次）&gt; Qwen3.6-Plus（6 次）</a:t>
              </a:r>
            </a:p>
          </p:txBody>
        </p:sp>
        <p:sp>
          <p:nvSpPr>
            <p:cNvPr id="50" name="TextBox 51">
              <a:extLst>
                <a:ext uri="{FF2B5EF4-FFF2-40B4-BE49-F238E27FC236}">
                  <a16:creationId xmlns:a16="http://schemas.microsoft.com/office/drawing/2014/main" id="{11FA69FC-7993-CE9B-C2C9-61FC9416BBF6}"/>
                </a:ext>
              </a:extLst>
            </p:cNvPr>
            <p:cNvSpPr txBox="1"/>
            <p:nvPr/>
          </p:nvSpPr>
          <p:spPr>
            <a:xfrm>
              <a:off x="975360" y="5928360"/>
              <a:ext cx="34069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Kimi 最严格，Qwen 最宽松（与评分行为一致）</a:t>
              </a:r>
            </a:p>
          </p:txBody>
        </p:sp>
        <p:sp>
          <p:nvSpPr>
            <p:cNvPr id="51" name="Rectangle 52">
              <a:extLst>
                <a:ext uri="{FF2B5EF4-FFF2-40B4-BE49-F238E27FC236}">
                  <a16:creationId xmlns:a16="http://schemas.microsoft.com/office/drawing/2014/main" id="{1C5B8050-80C4-D387-381D-1D5D90764723}"/>
                </a:ext>
              </a:extLst>
            </p:cNvPr>
            <p:cNvSpPr/>
            <p:nvPr/>
          </p:nvSpPr>
          <p:spPr>
            <a:xfrm>
              <a:off x="990600" y="6172200"/>
              <a:ext cx="3143250" cy="76200"/>
            </a:xfrm>
            <a:prstGeom prst="roundRect">
              <a:avLst>
                <a:gd name="adj" fmla="val 50000"/>
              </a:avLst>
            </a:prstGeom>
            <a:solidFill>
              <a:srgbClr val="5A6472"/>
            </a:solidFill>
            <a:ln>
              <a:noFill/>
            </a:ln>
          </p:spPr>
        </p:sp>
        <p:sp>
          <p:nvSpPr>
            <p:cNvPr id="52" name="Rectangle 53">
              <a:extLst>
                <a:ext uri="{FF2B5EF4-FFF2-40B4-BE49-F238E27FC236}">
                  <a16:creationId xmlns:a16="http://schemas.microsoft.com/office/drawing/2014/main" id="{B2E3D93D-9B41-2A53-E182-67D6C78E4B54}"/>
                </a:ext>
              </a:extLst>
            </p:cNvPr>
            <p:cNvSpPr/>
            <p:nvPr/>
          </p:nvSpPr>
          <p:spPr>
            <a:xfrm>
              <a:off x="990600" y="6172200"/>
              <a:ext cx="2190750" cy="76200"/>
            </a:xfrm>
            <a:prstGeom prst="roundRect">
              <a:avLst>
                <a:gd name="adj" fmla="val 50000"/>
              </a:avLst>
            </a:prstGeom>
            <a:solidFill>
              <a:srgbClr val="44546A"/>
            </a:solidFill>
            <a:ln>
              <a:noFill/>
            </a:ln>
          </p:spPr>
        </p:sp>
        <p:sp>
          <p:nvSpPr>
            <p:cNvPr id="53" name="Rectangle 54">
              <a:extLst>
                <a:ext uri="{FF2B5EF4-FFF2-40B4-BE49-F238E27FC236}">
                  <a16:creationId xmlns:a16="http://schemas.microsoft.com/office/drawing/2014/main" id="{B34D5363-CD0D-C14C-AC0A-7947C0B4C0EE}"/>
                </a:ext>
              </a:extLst>
            </p:cNvPr>
            <p:cNvSpPr/>
            <p:nvPr/>
          </p:nvSpPr>
          <p:spPr>
            <a:xfrm>
              <a:off x="990600" y="6172200"/>
              <a:ext cx="1428750" cy="76200"/>
            </a:xfrm>
            <a:prstGeom prst="roundRect">
              <a:avLst>
                <a:gd name="adj" fmla="val 50000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54" name="Rectangle 55">
              <a:extLst>
                <a:ext uri="{FF2B5EF4-FFF2-40B4-BE49-F238E27FC236}">
                  <a16:creationId xmlns:a16="http://schemas.microsoft.com/office/drawing/2014/main" id="{CA1EC6DC-25AB-BDA3-920E-F61E0383AEA7}"/>
                </a:ext>
              </a:extLst>
            </p:cNvPr>
            <p:cNvSpPr/>
            <p:nvPr/>
          </p:nvSpPr>
          <p:spPr>
            <a:xfrm>
              <a:off x="990600" y="6172200"/>
              <a:ext cx="571500" cy="76200"/>
            </a:xfrm>
            <a:prstGeom prst="roundRect">
              <a:avLst>
                <a:gd name="adj" fmla="val 50000"/>
              </a:avLst>
            </a:prstGeom>
            <a:solidFill>
              <a:srgbClr val="2E5E8C"/>
            </a:solidFill>
            <a:ln>
              <a:noFill/>
            </a:ln>
          </p:spPr>
        </p:sp>
      </p:grpSp>
    </p:spTree>
    <p:extLst>
      <p:ext uri="{BB962C8B-B14F-4D97-AF65-F5344CB8AC3E}">
        <p14:creationId xmlns:p14="http://schemas.microsoft.com/office/powerpoint/2010/main" val="241852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4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9E5F0C-A27E-2B0F-DB21-4B454815C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18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DA96B7-D340-3F93-EA4C-E6A813D89D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ABC6A3-901B-A410-0733-398BA2D2E4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3A8805-B5D4-838E-32F4-68295D44A8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ea typeface="Microsoft YaHei"/>
                <a:cs typeface="Arial"/>
              </a:rPr>
              <a:t>E1</a:t>
            </a:r>
            <a:r>
              <a:rPr lang="zh-CN" altLang="en-US" dirty="0">
                <a:ea typeface="Microsoft YaHei"/>
                <a:cs typeface="Arial"/>
              </a:rPr>
              <a:t> 交叉评审收敛效果</a:t>
            </a:r>
            <a:endParaRPr kumimoji="1" lang="zh-CN" altLang="en-US" dirty="0"/>
          </a:p>
        </p:txBody>
      </p:sp>
      <p:grpSp>
        <p:nvGrpSpPr>
          <p:cNvPr id="6" name="Group 14">
            <a:extLst>
              <a:ext uri="{FF2B5EF4-FFF2-40B4-BE49-F238E27FC236}">
                <a16:creationId xmlns:a16="http://schemas.microsoft.com/office/drawing/2014/main" id="{E055EE90-4249-CAC1-0F2E-8A0050051422}"/>
              </a:ext>
            </a:extLst>
          </p:cNvPr>
          <p:cNvGrpSpPr/>
          <p:nvPr/>
        </p:nvGrpSpPr>
        <p:grpSpPr>
          <a:xfrm>
            <a:off x="1428750" y="1194840"/>
            <a:ext cx="6975940" cy="244972"/>
            <a:chOff x="1428750" y="1104900"/>
            <a:chExt cx="6975940" cy="244972"/>
          </a:xfrm>
        </p:grpSpPr>
        <p:sp>
          <p:nvSpPr>
            <p:cNvPr id="7" name="Rectangle 9">
              <a:extLst>
                <a:ext uri="{FF2B5EF4-FFF2-40B4-BE49-F238E27FC236}">
                  <a16:creationId xmlns:a16="http://schemas.microsoft.com/office/drawing/2014/main" id="{833F0AB0-7842-4079-509D-1FD7EAC815BA}"/>
                </a:ext>
              </a:extLst>
            </p:cNvPr>
            <p:cNvSpPr/>
            <p:nvPr/>
          </p:nvSpPr>
          <p:spPr>
            <a:xfrm>
              <a:off x="1428750" y="1104900"/>
              <a:ext cx="171450" cy="17145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rgbClr val="D6434A"/>
                </a:gs>
                <a:gs pos="100000">
                  <a:srgbClr val="C8161E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8" name="TextBox 10">
              <a:extLst>
                <a:ext uri="{FF2B5EF4-FFF2-40B4-BE49-F238E27FC236}">
                  <a16:creationId xmlns:a16="http://schemas.microsoft.com/office/drawing/2014/main" id="{3F018C86-43B5-27E9-0676-7646D36014D8}"/>
                </a:ext>
              </a:extLst>
            </p:cNvPr>
            <p:cNvSpPr txBox="1"/>
            <p:nvPr/>
          </p:nvSpPr>
          <p:spPr>
            <a:xfrm>
              <a:off x="1661160" y="1118235"/>
              <a:ext cx="1373774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latin typeface="Arial"/>
                  <a:ea typeface="Microsoft YaHei"/>
                  <a:cs typeface="Arial"/>
                </a:rPr>
                <a:t>Round 1 平均 std</a:t>
              </a:r>
            </a:p>
          </p:txBody>
        </p:sp>
        <p:sp>
          <p:nvSpPr>
            <p:cNvPr id="9" name="Rectangle 11">
              <a:extLst>
                <a:ext uri="{FF2B5EF4-FFF2-40B4-BE49-F238E27FC236}">
                  <a16:creationId xmlns:a16="http://schemas.microsoft.com/office/drawing/2014/main" id="{BE9090F8-98D5-22F5-DB07-6CC5D51488E3}"/>
                </a:ext>
              </a:extLst>
            </p:cNvPr>
            <p:cNvSpPr/>
            <p:nvPr/>
          </p:nvSpPr>
          <p:spPr>
            <a:xfrm>
              <a:off x="3211640" y="1104900"/>
              <a:ext cx="171450" cy="17145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rgbClr val="2E5E8C"/>
                </a:gs>
                <a:gs pos="100000">
                  <a:srgbClr val="1F4D78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10" name="TextBox 12">
              <a:extLst>
                <a:ext uri="{FF2B5EF4-FFF2-40B4-BE49-F238E27FC236}">
                  <a16:creationId xmlns:a16="http://schemas.microsoft.com/office/drawing/2014/main" id="{B648E1C1-16A3-30CB-ECD0-135DE08ED5EA}"/>
                </a:ext>
              </a:extLst>
            </p:cNvPr>
            <p:cNvSpPr txBox="1"/>
            <p:nvPr/>
          </p:nvSpPr>
          <p:spPr>
            <a:xfrm>
              <a:off x="3444050" y="1118235"/>
              <a:ext cx="1373774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latin typeface="Arial"/>
                  <a:ea typeface="Microsoft YaHei"/>
                  <a:cs typeface="Arial"/>
                </a:rPr>
                <a:t>Round 2 平均 std</a:t>
              </a:r>
            </a:p>
          </p:txBody>
        </p:sp>
        <p:sp>
          <p:nvSpPr>
            <p:cNvPr id="11" name="TextBox 13">
              <a:extLst>
                <a:ext uri="{FF2B5EF4-FFF2-40B4-BE49-F238E27FC236}">
                  <a16:creationId xmlns:a16="http://schemas.microsoft.com/office/drawing/2014/main" id="{C3C46996-0BC6-AB53-18BE-A2AF5A04E356}"/>
                </a:ext>
              </a:extLst>
            </p:cNvPr>
            <p:cNvSpPr txBox="1"/>
            <p:nvPr/>
          </p:nvSpPr>
          <p:spPr>
            <a:xfrm>
              <a:off x="4944319" y="1134428"/>
              <a:ext cx="3460371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400" dirty="0">
                  <a:latin typeface="Arial"/>
                  <a:ea typeface="Microsoft YaHei"/>
                  <a:cs typeface="Arial"/>
                </a:rPr>
                <a:t>基于 1920 篇 × 6 维度 = 11,520 个评分单元</a:t>
              </a:r>
            </a:p>
          </p:txBody>
        </p:sp>
      </p:grpSp>
      <p:grpSp>
        <p:nvGrpSpPr>
          <p:cNvPr id="12" name="Group 62">
            <a:extLst>
              <a:ext uri="{FF2B5EF4-FFF2-40B4-BE49-F238E27FC236}">
                <a16:creationId xmlns:a16="http://schemas.microsoft.com/office/drawing/2014/main" id="{EC53DA40-86B7-5117-CA90-9710B17A93EF}"/>
              </a:ext>
            </a:extLst>
          </p:cNvPr>
          <p:cNvGrpSpPr/>
          <p:nvPr/>
        </p:nvGrpSpPr>
        <p:grpSpPr>
          <a:xfrm>
            <a:off x="872117" y="1738718"/>
            <a:ext cx="7128883" cy="4033718"/>
            <a:chOff x="872117" y="1648778"/>
            <a:chExt cx="7128883" cy="4033718"/>
          </a:xfrm>
        </p:grpSpPr>
        <p:sp>
          <p:nvSpPr>
            <p:cNvPr id="13" name="Line 15">
              <a:extLst>
                <a:ext uri="{FF2B5EF4-FFF2-40B4-BE49-F238E27FC236}">
                  <a16:creationId xmlns:a16="http://schemas.microsoft.com/office/drawing/2014/main" id="{4898816A-2C07-6953-90A9-B71FF78C9E2A}"/>
                </a:ext>
              </a:extLst>
            </p:cNvPr>
            <p:cNvSpPr/>
            <p:nvPr/>
          </p:nvSpPr>
          <p:spPr>
            <a:xfrm>
              <a:off x="1143000" y="514350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14288">
              <a:solidFill>
                <a:srgbClr val="D9DEE5"/>
              </a:solidFill>
            </a:ln>
          </p:spPr>
        </p:sp>
        <p:sp>
          <p:nvSpPr>
            <p:cNvPr id="14" name="Line 16">
              <a:extLst>
                <a:ext uri="{FF2B5EF4-FFF2-40B4-BE49-F238E27FC236}">
                  <a16:creationId xmlns:a16="http://schemas.microsoft.com/office/drawing/2014/main" id="{B6E98F51-0592-8387-E242-853F062C96D5}"/>
                </a:ext>
              </a:extLst>
            </p:cNvPr>
            <p:cNvSpPr/>
            <p:nvPr/>
          </p:nvSpPr>
          <p:spPr>
            <a:xfrm>
              <a:off x="1143000" y="428625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  <a:prstDash val="dash"/>
            </a:ln>
          </p:spPr>
        </p:sp>
        <p:sp>
          <p:nvSpPr>
            <p:cNvPr id="15" name="Line 17">
              <a:extLst>
                <a:ext uri="{FF2B5EF4-FFF2-40B4-BE49-F238E27FC236}">
                  <a16:creationId xmlns:a16="http://schemas.microsoft.com/office/drawing/2014/main" id="{F9A9D9A6-7EC9-4BC2-67AB-4A1EEF74C36E}"/>
                </a:ext>
              </a:extLst>
            </p:cNvPr>
            <p:cNvSpPr/>
            <p:nvPr/>
          </p:nvSpPr>
          <p:spPr>
            <a:xfrm>
              <a:off x="1143000" y="342900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  <a:prstDash val="dash"/>
            </a:ln>
          </p:spPr>
        </p:sp>
        <p:sp>
          <p:nvSpPr>
            <p:cNvPr id="16" name="Line 18">
              <a:extLst>
                <a:ext uri="{FF2B5EF4-FFF2-40B4-BE49-F238E27FC236}">
                  <a16:creationId xmlns:a16="http://schemas.microsoft.com/office/drawing/2014/main" id="{DDD3A9C5-7C51-93A2-C866-5FE71137C094}"/>
                </a:ext>
              </a:extLst>
            </p:cNvPr>
            <p:cNvSpPr/>
            <p:nvPr/>
          </p:nvSpPr>
          <p:spPr>
            <a:xfrm>
              <a:off x="1143000" y="257175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  <a:prstDash val="dash"/>
            </a:ln>
          </p:spPr>
        </p:sp>
        <p:sp>
          <p:nvSpPr>
            <p:cNvPr id="17" name="Line 19">
              <a:extLst>
                <a:ext uri="{FF2B5EF4-FFF2-40B4-BE49-F238E27FC236}">
                  <a16:creationId xmlns:a16="http://schemas.microsoft.com/office/drawing/2014/main" id="{43AAAF40-0B43-D5E6-28AB-9260D02C2742}"/>
                </a:ext>
              </a:extLst>
            </p:cNvPr>
            <p:cNvSpPr/>
            <p:nvPr/>
          </p:nvSpPr>
          <p:spPr>
            <a:xfrm>
              <a:off x="1143000" y="171450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  <a:prstDash val="dash"/>
            </a:ln>
          </p:spPr>
        </p:sp>
        <p:sp>
          <p:nvSpPr>
            <p:cNvPr id="18" name="TextBox 20">
              <a:extLst>
                <a:ext uri="{FF2B5EF4-FFF2-40B4-BE49-F238E27FC236}">
                  <a16:creationId xmlns:a16="http://schemas.microsoft.com/office/drawing/2014/main" id="{1E59B78A-F64F-BA37-7DC8-89735B1C9BE2}"/>
                </a:ext>
              </a:extLst>
            </p:cNvPr>
            <p:cNvSpPr txBox="1"/>
            <p:nvPr/>
          </p:nvSpPr>
          <p:spPr>
            <a:xfrm>
              <a:off x="957075" y="5077778"/>
              <a:ext cx="8496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latin typeface="Arial"/>
                  <a:ea typeface="Microsoft YaHei"/>
                  <a:cs typeface="Arial"/>
                </a:rPr>
                <a:t>0</a:t>
              </a:r>
            </a:p>
          </p:txBody>
        </p:sp>
        <p:sp>
          <p:nvSpPr>
            <p:cNvPr id="19" name="TextBox 21">
              <a:extLst>
                <a:ext uri="{FF2B5EF4-FFF2-40B4-BE49-F238E27FC236}">
                  <a16:creationId xmlns:a16="http://schemas.microsoft.com/office/drawing/2014/main" id="{35ECAAE2-7ED0-00C3-975C-37EB8EC00096}"/>
                </a:ext>
              </a:extLst>
            </p:cNvPr>
            <p:cNvSpPr txBox="1"/>
            <p:nvPr/>
          </p:nvSpPr>
          <p:spPr>
            <a:xfrm>
              <a:off x="957075" y="4220528"/>
              <a:ext cx="8496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27A656BA-E228-E14C-2B3A-40C274061500}"/>
                </a:ext>
              </a:extLst>
            </p:cNvPr>
            <p:cNvSpPr txBox="1"/>
            <p:nvPr/>
          </p:nvSpPr>
          <p:spPr>
            <a:xfrm>
              <a:off x="872117" y="3363278"/>
              <a:ext cx="169918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latin typeface="Arial"/>
                  <a:ea typeface="Microsoft YaHei"/>
                  <a:cs typeface="Arial"/>
                </a:rPr>
                <a:t>10</a:t>
              </a:r>
            </a:p>
          </p:txBody>
        </p:sp>
        <p:sp>
          <p:nvSpPr>
            <p:cNvPr id="21" name="TextBox 23">
              <a:extLst>
                <a:ext uri="{FF2B5EF4-FFF2-40B4-BE49-F238E27FC236}">
                  <a16:creationId xmlns:a16="http://schemas.microsoft.com/office/drawing/2014/main" id="{243303DF-1CB0-2952-7A52-F6A4126223E3}"/>
                </a:ext>
              </a:extLst>
            </p:cNvPr>
            <p:cNvSpPr txBox="1"/>
            <p:nvPr/>
          </p:nvSpPr>
          <p:spPr>
            <a:xfrm>
              <a:off x="872117" y="2506028"/>
              <a:ext cx="169918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latin typeface="Arial"/>
                  <a:ea typeface="Microsoft YaHei"/>
                  <a:cs typeface="Arial"/>
                </a:rPr>
                <a:t>15</a:t>
              </a:r>
            </a:p>
          </p:txBody>
        </p:sp>
        <p:sp>
          <p:nvSpPr>
            <p:cNvPr id="22" name="TextBox 24">
              <a:extLst>
                <a:ext uri="{FF2B5EF4-FFF2-40B4-BE49-F238E27FC236}">
                  <a16:creationId xmlns:a16="http://schemas.microsoft.com/office/drawing/2014/main" id="{3B77324B-DCC9-94DE-AE51-1269458F79D9}"/>
                </a:ext>
              </a:extLst>
            </p:cNvPr>
            <p:cNvSpPr txBox="1"/>
            <p:nvPr/>
          </p:nvSpPr>
          <p:spPr>
            <a:xfrm>
              <a:off x="872117" y="1648778"/>
              <a:ext cx="169918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latin typeface="Arial"/>
                  <a:ea typeface="Microsoft YaHei"/>
                  <a:cs typeface="Arial"/>
                </a:rPr>
                <a:t>20</a:t>
              </a:r>
            </a:p>
          </p:txBody>
        </p:sp>
        <p:sp>
          <p:nvSpPr>
            <p:cNvPr id="23" name="Line 25">
              <a:extLst>
                <a:ext uri="{FF2B5EF4-FFF2-40B4-BE49-F238E27FC236}">
                  <a16:creationId xmlns:a16="http://schemas.microsoft.com/office/drawing/2014/main" id="{C01D8DA8-42DF-A8B5-D55C-A58ABF6E17DA}"/>
                </a:ext>
              </a:extLst>
            </p:cNvPr>
            <p:cNvSpPr/>
            <p:nvPr/>
          </p:nvSpPr>
          <p:spPr>
            <a:xfrm>
              <a:off x="1143000" y="1714500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4A3B8"/>
              </a:solidFill>
            </a:ln>
          </p:spPr>
        </p:sp>
        <p:sp>
          <p:nvSpPr>
            <p:cNvPr id="24" name="Rectangle 26">
              <a:extLst>
                <a:ext uri="{FF2B5EF4-FFF2-40B4-BE49-F238E27FC236}">
                  <a16:creationId xmlns:a16="http://schemas.microsoft.com/office/drawing/2014/main" id="{848DBCF2-1910-A864-1F9B-F294DE42D99C}"/>
                </a:ext>
              </a:extLst>
            </p:cNvPr>
            <p:cNvSpPr/>
            <p:nvPr/>
          </p:nvSpPr>
          <p:spPr>
            <a:xfrm>
              <a:off x="1314450" y="1933575"/>
              <a:ext cx="361950" cy="3209925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D6434A"/>
                </a:gs>
                <a:gs pos="100000">
                  <a:srgbClr val="C8161E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25" name="TextBox 27">
              <a:extLst>
                <a:ext uri="{FF2B5EF4-FFF2-40B4-BE49-F238E27FC236}">
                  <a16:creationId xmlns:a16="http://schemas.microsoft.com/office/drawing/2014/main" id="{955C8E95-56BD-31C7-6748-70C55AA39DDC}"/>
                </a:ext>
              </a:extLst>
            </p:cNvPr>
            <p:cNvSpPr txBox="1"/>
            <p:nvPr/>
          </p:nvSpPr>
          <p:spPr>
            <a:xfrm>
              <a:off x="1271806" y="1727835"/>
              <a:ext cx="44723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18.70</a:t>
              </a:r>
            </a:p>
          </p:txBody>
        </p:sp>
        <p:sp>
          <p:nvSpPr>
            <p:cNvPr id="26" name="Rectangle 28">
              <a:extLst>
                <a:ext uri="{FF2B5EF4-FFF2-40B4-BE49-F238E27FC236}">
                  <a16:creationId xmlns:a16="http://schemas.microsoft.com/office/drawing/2014/main" id="{46A6C8C1-C7EC-ABFF-79AF-52C9D751BCA4}"/>
                </a:ext>
              </a:extLst>
            </p:cNvPr>
            <p:cNvSpPr/>
            <p:nvPr/>
          </p:nvSpPr>
          <p:spPr>
            <a:xfrm>
              <a:off x="1752600" y="3267075"/>
              <a:ext cx="361950" cy="1876425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2E5E8C"/>
                </a:gs>
                <a:gs pos="100000">
                  <a:srgbClr val="1F4D78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27" name="TextBox 29">
              <a:extLst>
                <a:ext uri="{FF2B5EF4-FFF2-40B4-BE49-F238E27FC236}">
                  <a16:creationId xmlns:a16="http://schemas.microsoft.com/office/drawing/2014/main" id="{4EA1A3FE-1CFA-74B2-9400-6E7F39132327}"/>
                </a:ext>
              </a:extLst>
            </p:cNvPr>
            <p:cNvSpPr txBox="1"/>
            <p:nvPr/>
          </p:nvSpPr>
          <p:spPr>
            <a:xfrm>
              <a:off x="1709956" y="3061335"/>
              <a:ext cx="44723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10.94</a:t>
              </a:r>
            </a:p>
          </p:txBody>
        </p:sp>
        <p:sp>
          <p:nvSpPr>
            <p:cNvPr id="28" name="TextBox 30">
              <a:extLst>
                <a:ext uri="{FF2B5EF4-FFF2-40B4-BE49-F238E27FC236}">
                  <a16:creationId xmlns:a16="http://schemas.microsoft.com/office/drawing/2014/main" id="{0A3E34E4-F433-555C-55D8-5CE4B59C7C3A}"/>
                </a:ext>
              </a:extLst>
            </p:cNvPr>
            <p:cNvSpPr txBox="1"/>
            <p:nvPr/>
          </p:nvSpPr>
          <p:spPr>
            <a:xfrm>
              <a:off x="1265659" y="5204460"/>
              <a:ext cx="8976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研究创新性</a:t>
              </a:r>
            </a:p>
          </p:txBody>
        </p:sp>
        <p:sp>
          <p:nvSpPr>
            <p:cNvPr id="29" name="TextBox 31">
              <a:extLst>
                <a:ext uri="{FF2B5EF4-FFF2-40B4-BE49-F238E27FC236}">
                  <a16:creationId xmlns:a16="http://schemas.microsoft.com/office/drawing/2014/main" id="{3AEC8302-16C0-970C-145A-09E7CDD0691C}"/>
                </a:ext>
              </a:extLst>
            </p:cNvPr>
            <p:cNvSpPr txBox="1"/>
            <p:nvPr/>
          </p:nvSpPr>
          <p:spPr>
            <a:xfrm>
              <a:off x="1534965" y="5467052"/>
              <a:ext cx="359073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latin typeface="Arial"/>
                  <a:ea typeface="Microsoft YaHei"/>
                  <a:cs typeface="Arial"/>
                </a:rPr>
                <a:t>30%</a:t>
              </a:r>
            </a:p>
          </p:txBody>
        </p:sp>
        <p:sp>
          <p:nvSpPr>
            <p:cNvPr id="30" name="Rectangle 32">
              <a:extLst>
                <a:ext uri="{FF2B5EF4-FFF2-40B4-BE49-F238E27FC236}">
                  <a16:creationId xmlns:a16="http://schemas.microsoft.com/office/drawing/2014/main" id="{A75AAF3F-D8A8-0E83-0CDE-D7559778155C}"/>
                </a:ext>
              </a:extLst>
            </p:cNvPr>
            <p:cNvSpPr/>
            <p:nvPr/>
          </p:nvSpPr>
          <p:spPr>
            <a:xfrm>
              <a:off x="2457450" y="2276475"/>
              <a:ext cx="361950" cy="2867025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D6434A"/>
                </a:gs>
                <a:gs pos="100000">
                  <a:srgbClr val="C8161E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31" name="TextBox 33">
              <a:extLst>
                <a:ext uri="{FF2B5EF4-FFF2-40B4-BE49-F238E27FC236}">
                  <a16:creationId xmlns:a16="http://schemas.microsoft.com/office/drawing/2014/main" id="{1ED43681-890C-5A38-C762-F3E1FDDE9089}"/>
                </a:ext>
              </a:extLst>
            </p:cNvPr>
            <p:cNvSpPr txBox="1"/>
            <p:nvPr/>
          </p:nvSpPr>
          <p:spPr>
            <a:xfrm>
              <a:off x="2414806" y="2070735"/>
              <a:ext cx="44723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16.72</a:t>
              </a:r>
            </a:p>
          </p:txBody>
        </p:sp>
        <p:sp>
          <p:nvSpPr>
            <p:cNvPr id="32" name="Rectangle 34">
              <a:extLst>
                <a:ext uri="{FF2B5EF4-FFF2-40B4-BE49-F238E27FC236}">
                  <a16:creationId xmlns:a16="http://schemas.microsoft.com/office/drawing/2014/main" id="{5027A3C4-FAC0-4E91-DD0D-F6F86D282608}"/>
                </a:ext>
              </a:extLst>
            </p:cNvPr>
            <p:cNvSpPr/>
            <p:nvPr/>
          </p:nvSpPr>
          <p:spPr>
            <a:xfrm>
              <a:off x="2895600" y="3676650"/>
              <a:ext cx="361950" cy="1466850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2E5E8C"/>
                </a:gs>
                <a:gs pos="100000">
                  <a:srgbClr val="1F4D78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33" name="TextBox 35">
              <a:extLst>
                <a:ext uri="{FF2B5EF4-FFF2-40B4-BE49-F238E27FC236}">
                  <a16:creationId xmlns:a16="http://schemas.microsoft.com/office/drawing/2014/main" id="{B8616641-198D-6798-F46F-121E9FE7CCE3}"/>
                </a:ext>
              </a:extLst>
            </p:cNvPr>
            <p:cNvSpPr txBox="1"/>
            <p:nvPr/>
          </p:nvSpPr>
          <p:spPr>
            <a:xfrm>
              <a:off x="2902649" y="3470910"/>
              <a:ext cx="347851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8.56</a:t>
              </a:r>
            </a:p>
          </p:txBody>
        </p:sp>
        <p:sp>
          <p:nvSpPr>
            <p:cNvPr id="34" name="TextBox 36">
              <a:extLst>
                <a:ext uri="{FF2B5EF4-FFF2-40B4-BE49-F238E27FC236}">
                  <a16:creationId xmlns:a16="http://schemas.microsoft.com/office/drawing/2014/main" id="{BBA43521-A012-09E6-20A9-2C800D10FBB9}"/>
                </a:ext>
              </a:extLst>
            </p:cNvPr>
            <p:cNvSpPr txBox="1"/>
            <p:nvPr/>
          </p:nvSpPr>
          <p:spPr>
            <a:xfrm>
              <a:off x="2408659" y="5204460"/>
              <a:ext cx="8976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现状洞察度</a:t>
              </a:r>
            </a:p>
          </p:txBody>
        </p:sp>
        <p:sp>
          <p:nvSpPr>
            <p:cNvPr id="35" name="TextBox 37">
              <a:extLst>
                <a:ext uri="{FF2B5EF4-FFF2-40B4-BE49-F238E27FC236}">
                  <a16:creationId xmlns:a16="http://schemas.microsoft.com/office/drawing/2014/main" id="{FB5231BD-25F0-F9E0-227A-154CE5D50335}"/>
                </a:ext>
              </a:extLst>
            </p:cNvPr>
            <p:cNvSpPr txBox="1"/>
            <p:nvPr/>
          </p:nvSpPr>
          <p:spPr>
            <a:xfrm>
              <a:off x="2677965" y="5467052"/>
              <a:ext cx="359073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latin typeface="Arial"/>
                  <a:ea typeface="Microsoft YaHei"/>
                  <a:cs typeface="Arial"/>
                </a:rPr>
                <a:t>20%</a:t>
              </a:r>
            </a:p>
          </p:txBody>
        </p:sp>
        <p:sp>
          <p:nvSpPr>
            <p:cNvPr id="36" name="Rectangle 38">
              <a:extLst>
                <a:ext uri="{FF2B5EF4-FFF2-40B4-BE49-F238E27FC236}">
                  <a16:creationId xmlns:a16="http://schemas.microsoft.com/office/drawing/2014/main" id="{756920E8-31C5-78B4-7338-B8D6828E1B73}"/>
                </a:ext>
              </a:extLst>
            </p:cNvPr>
            <p:cNvSpPr/>
            <p:nvPr/>
          </p:nvSpPr>
          <p:spPr>
            <a:xfrm>
              <a:off x="3600450" y="2019300"/>
              <a:ext cx="361950" cy="3124200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D6434A"/>
                </a:gs>
                <a:gs pos="100000">
                  <a:srgbClr val="C8161E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37" name="TextBox 39">
              <a:extLst>
                <a:ext uri="{FF2B5EF4-FFF2-40B4-BE49-F238E27FC236}">
                  <a16:creationId xmlns:a16="http://schemas.microsoft.com/office/drawing/2014/main" id="{5D50C3A6-BE37-5BCA-51B6-02B268473355}"/>
                </a:ext>
              </a:extLst>
            </p:cNvPr>
            <p:cNvSpPr txBox="1"/>
            <p:nvPr/>
          </p:nvSpPr>
          <p:spPr>
            <a:xfrm>
              <a:off x="3557806" y="1813560"/>
              <a:ext cx="44723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18.23</a:t>
              </a:r>
            </a:p>
          </p:txBody>
        </p:sp>
        <p:sp>
          <p:nvSpPr>
            <p:cNvPr id="38" name="Rectangle 40">
              <a:extLst>
                <a:ext uri="{FF2B5EF4-FFF2-40B4-BE49-F238E27FC236}">
                  <a16:creationId xmlns:a16="http://schemas.microsoft.com/office/drawing/2014/main" id="{AE918279-F843-1221-6055-0D8B6FF51C69}"/>
                </a:ext>
              </a:extLst>
            </p:cNvPr>
            <p:cNvSpPr/>
            <p:nvPr/>
          </p:nvSpPr>
          <p:spPr>
            <a:xfrm>
              <a:off x="4038600" y="3648075"/>
              <a:ext cx="361950" cy="1495425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2E5E8C"/>
                </a:gs>
                <a:gs pos="100000">
                  <a:srgbClr val="1F4D78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39" name="TextBox 41">
              <a:extLst>
                <a:ext uri="{FF2B5EF4-FFF2-40B4-BE49-F238E27FC236}">
                  <a16:creationId xmlns:a16="http://schemas.microsoft.com/office/drawing/2014/main" id="{C7924A2C-38DA-AD82-7F01-54B18BBF90D6}"/>
                </a:ext>
              </a:extLst>
            </p:cNvPr>
            <p:cNvSpPr txBox="1"/>
            <p:nvPr/>
          </p:nvSpPr>
          <p:spPr>
            <a:xfrm>
              <a:off x="4045649" y="3442335"/>
              <a:ext cx="347852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8.71</a:t>
              </a:r>
            </a:p>
          </p:txBody>
        </p:sp>
        <p:sp>
          <p:nvSpPr>
            <p:cNvPr id="40" name="TextBox 42">
              <a:extLst>
                <a:ext uri="{FF2B5EF4-FFF2-40B4-BE49-F238E27FC236}">
                  <a16:creationId xmlns:a16="http://schemas.microsoft.com/office/drawing/2014/main" id="{FDCCD964-6FCB-34D0-B9E1-4819F4AF69AA}"/>
                </a:ext>
              </a:extLst>
            </p:cNvPr>
            <p:cNvSpPr txBox="1"/>
            <p:nvPr/>
          </p:nvSpPr>
          <p:spPr>
            <a:xfrm>
              <a:off x="3551659" y="5204460"/>
              <a:ext cx="8976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理论建构力</a:t>
              </a:r>
            </a:p>
          </p:txBody>
        </p:sp>
        <p:sp>
          <p:nvSpPr>
            <p:cNvPr id="41" name="TextBox 43">
              <a:extLst>
                <a:ext uri="{FF2B5EF4-FFF2-40B4-BE49-F238E27FC236}">
                  <a16:creationId xmlns:a16="http://schemas.microsoft.com/office/drawing/2014/main" id="{3483C1DF-94F8-0825-6B6C-54B5A6E6F4A0}"/>
                </a:ext>
              </a:extLst>
            </p:cNvPr>
            <p:cNvSpPr txBox="1"/>
            <p:nvPr/>
          </p:nvSpPr>
          <p:spPr>
            <a:xfrm>
              <a:off x="3820965" y="5467052"/>
              <a:ext cx="359073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latin typeface="Arial"/>
                  <a:ea typeface="Microsoft YaHei"/>
                  <a:cs typeface="Arial"/>
                </a:rPr>
                <a:t>15%</a:t>
              </a:r>
            </a:p>
          </p:txBody>
        </p:sp>
        <p:sp>
          <p:nvSpPr>
            <p:cNvPr id="42" name="Rectangle 44">
              <a:extLst>
                <a:ext uri="{FF2B5EF4-FFF2-40B4-BE49-F238E27FC236}">
                  <a16:creationId xmlns:a16="http://schemas.microsoft.com/office/drawing/2014/main" id="{6459E119-C173-26E3-9216-D0D9623D1AAC}"/>
                </a:ext>
              </a:extLst>
            </p:cNvPr>
            <p:cNvSpPr/>
            <p:nvPr/>
          </p:nvSpPr>
          <p:spPr>
            <a:xfrm>
              <a:off x="4743450" y="3409950"/>
              <a:ext cx="361950" cy="1733550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D6434A"/>
                </a:gs>
                <a:gs pos="100000">
                  <a:srgbClr val="C8161E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43" name="TextBox 45">
              <a:extLst>
                <a:ext uri="{FF2B5EF4-FFF2-40B4-BE49-F238E27FC236}">
                  <a16:creationId xmlns:a16="http://schemas.microsoft.com/office/drawing/2014/main" id="{E3CFFFE1-F69B-2CE7-9C7F-61DC9987AACC}"/>
                </a:ext>
              </a:extLst>
            </p:cNvPr>
            <p:cNvSpPr txBox="1"/>
            <p:nvPr/>
          </p:nvSpPr>
          <p:spPr>
            <a:xfrm>
              <a:off x="4700806" y="3204210"/>
              <a:ext cx="44723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10.10</a:t>
              </a:r>
            </a:p>
          </p:txBody>
        </p:sp>
        <p:sp>
          <p:nvSpPr>
            <p:cNvPr id="44" name="Rectangle 46">
              <a:extLst>
                <a:ext uri="{FF2B5EF4-FFF2-40B4-BE49-F238E27FC236}">
                  <a16:creationId xmlns:a16="http://schemas.microsoft.com/office/drawing/2014/main" id="{D1B6BC81-0FA3-CBB7-8C67-E2E1CFE005C2}"/>
                </a:ext>
              </a:extLst>
            </p:cNvPr>
            <p:cNvSpPr/>
            <p:nvPr/>
          </p:nvSpPr>
          <p:spPr>
            <a:xfrm>
              <a:off x="5181600" y="4429125"/>
              <a:ext cx="361950" cy="714375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2E5E8C"/>
                </a:gs>
                <a:gs pos="100000">
                  <a:srgbClr val="1F4D78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45" name="TextBox 47">
              <a:extLst>
                <a:ext uri="{FF2B5EF4-FFF2-40B4-BE49-F238E27FC236}">
                  <a16:creationId xmlns:a16="http://schemas.microsoft.com/office/drawing/2014/main" id="{6EE73FF8-0C1F-A627-65BF-700499222F39}"/>
                </a:ext>
              </a:extLst>
            </p:cNvPr>
            <p:cNvSpPr txBox="1"/>
            <p:nvPr/>
          </p:nvSpPr>
          <p:spPr>
            <a:xfrm>
              <a:off x="5188649" y="4223385"/>
              <a:ext cx="347852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4.16</a:t>
              </a:r>
            </a:p>
          </p:txBody>
        </p:sp>
        <p:sp>
          <p:nvSpPr>
            <p:cNvPr id="46" name="TextBox 48">
              <a:extLst>
                <a:ext uri="{FF2B5EF4-FFF2-40B4-BE49-F238E27FC236}">
                  <a16:creationId xmlns:a16="http://schemas.microsoft.com/office/drawing/2014/main" id="{1CA48E92-20DC-5D27-7C44-5DBB84FEA380}"/>
                </a:ext>
              </a:extLst>
            </p:cNvPr>
            <p:cNvSpPr txBox="1"/>
            <p:nvPr/>
          </p:nvSpPr>
          <p:spPr>
            <a:xfrm>
              <a:off x="4694659" y="5204460"/>
              <a:ext cx="8976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逻辑连贯性</a:t>
              </a:r>
            </a:p>
          </p:txBody>
        </p:sp>
        <p:sp>
          <p:nvSpPr>
            <p:cNvPr id="47" name="TextBox 49">
              <a:extLst>
                <a:ext uri="{FF2B5EF4-FFF2-40B4-BE49-F238E27FC236}">
                  <a16:creationId xmlns:a16="http://schemas.microsoft.com/office/drawing/2014/main" id="{DB44F87F-6FA0-B1EA-AD25-E41F24DD04EE}"/>
                </a:ext>
              </a:extLst>
            </p:cNvPr>
            <p:cNvSpPr txBox="1"/>
            <p:nvPr/>
          </p:nvSpPr>
          <p:spPr>
            <a:xfrm>
              <a:off x="4963965" y="5467052"/>
              <a:ext cx="359073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latin typeface="Arial"/>
                  <a:ea typeface="Microsoft YaHei"/>
                  <a:cs typeface="Arial"/>
                </a:rPr>
                <a:t>20%</a:t>
              </a:r>
            </a:p>
          </p:txBody>
        </p:sp>
        <p:sp>
          <p:nvSpPr>
            <p:cNvPr id="48" name="Rectangle 50">
              <a:extLst>
                <a:ext uri="{FF2B5EF4-FFF2-40B4-BE49-F238E27FC236}">
                  <a16:creationId xmlns:a16="http://schemas.microsoft.com/office/drawing/2014/main" id="{8AEB9D23-3CE6-1455-23D6-D0B2C4E3DF9B}"/>
                </a:ext>
              </a:extLst>
            </p:cNvPr>
            <p:cNvSpPr/>
            <p:nvPr/>
          </p:nvSpPr>
          <p:spPr>
            <a:xfrm>
              <a:off x="5886450" y="3057525"/>
              <a:ext cx="361950" cy="2085975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D6434A"/>
                </a:gs>
                <a:gs pos="100000">
                  <a:srgbClr val="C8161E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49" name="TextBox 51">
              <a:extLst>
                <a:ext uri="{FF2B5EF4-FFF2-40B4-BE49-F238E27FC236}">
                  <a16:creationId xmlns:a16="http://schemas.microsoft.com/office/drawing/2014/main" id="{C36C684A-D0F5-C8A7-C31A-0DF61FC473CB}"/>
                </a:ext>
              </a:extLst>
            </p:cNvPr>
            <p:cNvSpPr txBox="1"/>
            <p:nvPr/>
          </p:nvSpPr>
          <p:spPr>
            <a:xfrm>
              <a:off x="5843806" y="2851785"/>
              <a:ext cx="44723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12.16</a:t>
              </a:r>
            </a:p>
          </p:txBody>
        </p:sp>
        <p:sp>
          <p:nvSpPr>
            <p:cNvPr id="50" name="Rectangle 52">
              <a:extLst>
                <a:ext uri="{FF2B5EF4-FFF2-40B4-BE49-F238E27FC236}">
                  <a16:creationId xmlns:a16="http://schemas.microsoft.com/office/drawing/2014/main" id="{8F4BA5B6-A48B-B78C-8072-3B9EB3575E41}"/>
                </a:ext>
              </a:extLst>
            </p:cNvPr>
            <p:cNvSpPr/>
            <p:nvPr/>
          </p:nvSpPr>
          <p:spPr>
            <a:xfrm>
              <a:off x="6324600" y="4219575"/>
              <a:ext cx="361950" cy="923925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2E5E8C"/>
                </a:gs>
                <a:gs pos="100000">
                  <a:srgbClr val="1F4D78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51" name="TextBox 53">
              <a:extLst>
                <a:ext uri="{FF2B5EF4-FFF2-40B4-BE49-F238E27FC236}">
                  <a16:creationId xmlns:a16="http://schemas.microsoft.com/office/drawing/2014/main" id="{DA7F2D18-9D7C-4CF1-48C8-E4F767CCB2F4}"/>
                </a:ext>
              </a:extLst>
            </p:cNvPr>
            <p:cNvSpPr txBox="1"/>
            <p:nvPr/>
          </p:nvSpPr>
          <p:spPr>
            <a:xfrm>
              <a:off x="6331649" y="4013835"/>
              <a:ext cx="347851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5.37</a:t>
              </a:r>
            </a:p>
          </p:txBody>
        </p:sp>
        <p:sp>
          <p:nvSpPr>
            <p:cNvPr id="52" name="TextBox 54">
              <a:extLst>
                <a:ext uri="{FF2B5EF4-FFF2-40B4-BE49-F238E27FC236}">
                  <a16:creationId xmlns:a16="http://schemas.microsoft.com/office/drawing/2014/main" id="{C1167B94-486B-8DF3-4B8D-3D0D67314F08}"/>
                </a:ext>
              </a:extLst>
            </p:cNvPr>
            <p:cNvSpPr txBox="1"/>
            <p:nvPr/>
          </p:nvSpPr>
          <p:spPr>
            <a:xfrm>
              <a:off x="5837659" y="5204460"/>
              <a:ext cx="8976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学术共识度</a:t>
              </a:r>
            </a:p>
          </p:txBody>
        </p:sp>
        <p:sp>
          <p:nvSpPr>
            <p:cNvPr id="53" name="TextBox 55">
              <a:extLst>
                <a:ext uri="{FF2B5EF4-FFF2-40B4-BE49-F238E27FC236}">
                  <a16:creationId xmlns:a16="http://schemas.microsoft.com/office/drawing/2014/main" id="{968B2FAD-D093-BC04-22AE-D401F7A2EC67}"/>
                </a:ext>
              </a:extLst>
            </p:cNvPr>
            <p:cNvSpPr txBox="1"/>
            <p:nvPr/>
          </p:nvSpPr>
          <p:spPr>
            <a:xfrm>
              <a:off x="6106965" y="5467052"/>
              <a:ext cx="359073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latin typeface="Arial"/>
                  <a:ea typeface="Microsoft YaHei"/>
                  <a:cs typeface="Arial"/>
                </a:rPr>
                <a:t>10%</a:t>
              </a:r>
            </a:p>
          </p:txBody>
        </p:sp>
        <p:sp>
          <p:nvSpPr>
            <p:cNvPr id="54" name="Rectangle 56">
              <a:extLst>
                <a:ext uri="{FF2B5EF4-FFF2-40B4-BE49-F238E27FC236}">
                  <a16:creationId xmlns:a16="http://schemas.microsoft.com/office/drawing/2014/main" id="{BE05B548-B137-F4D3-CEC9-9D83C4979B9A}"/>
                </a:ext>
              </a:extLst>
            </p:cNvPr>
            <p:cNvSpPr/>
            <p:nvPr/>
          </p:nvSpPr>
          <p:spPr>
            <a:xfrm>
              <a:off x="7029450" y="2857500"/>
              <a:ext cx="361950" cy="2286000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D6434A"/>
                </a:gs>
                <a:gs pos="100000">
                  <a:srgbClr val="C8161E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55" name="TextBox 57">
              <a:extLst>
                <a:ext uri="{FF2B5EF4-FFF2-40B4-BE49-F238E27FC236}">
                  <a16:creationId xmlns:a16="http://schemas.microsoft.com/office/drawing/2014/main" id="{E05DCE4C-6DAE-4B73-1D95-EEF3ED4DBAF7}"/>
                </a:ext>
              </a:extLst>
            </p:cNvPr>
            <p:cNvSpPr txBox="1"/>
            <p:nvPr/>
          </p:nvSpPr>
          <p:spPr>
            <a:xfrm>
              <a:off x="6986806" y="2651760"/>
              <a:ext cx="44723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13.33</a:t>
              </a:r>
            </a:p>
          </p:txBody>
        </p:sp>
        <p:sp>
          <p:nvSpPr>
            <p:cNvPr id="56" name="Rectangle 58">
              <a:extLst>
                <a:ext uri="{FF2B5EF4-FFF2-40B4-BE49-F238E27FC236}">
                  <a16:creationId xmlns:a16="http://schemas.microsoft.com/office/drawing/2014/main" id="{0286217E-9F26-6A31-C320-79679B276124}"/>
                </a:ext>
              </a:extLst>
            </p:cNvPr>
            <p:cNvSpPr/>
            <p:nvPr/>
          </p:nvSpPr>
          <p:spPr>
            <a:xfrm>
              <a:off x="7467600" y="4171950"/>
              <a:ext cx="361950" cy="971550"/>
            </a:xfrm>
            <a:prstGeom prst="roundRect">
              <a:avLst>
                <a:gd name="adj" fmla="val 7895"/>
              </a:avLst>
            </a:prstGeom>
            <a:gradFill>
              <a:gsLst>
                <a:gs pos="0">
                  <a:srgbClr val="2E5E8C"/>
                </a:gs>
                <a:gs pos="100000">
                  <a:srgbClr val="1F4D78"/>
                </a:gs>
              </a:gsLst>
              <a:lin ang="5400000" scaled="1"/>
            </a:gradFill>
            <a:ln>
              <a:noFill/>
            </a:ln>
          </p:spPr>
        </p:sp>
        <p:sp>
          <p:nvSpPr>
            <p:cNvPr id="57" name="TextBox 59">
              <a:extLst>
                <a:ext uri="{FF2B5EF4-FFF2-40B4-BE49-F238E27FC236}">
                  <a16:creationId xmlns:a16="http://schemas.microsoft.com/office/drawing/2014/main" id="{EC0D6392-0D4F-22FB-728C-54A4EEF8576F}"/>
                </a:ext>
              </a:extLst>
            </p:cNvPr>
            <p:cNvSpPr txBox="1"/>
            <p:nvPr/>
          </p:nvSpPr>
          <p:spPr>
            <a:xfrm>
              <a:off x="7474649" y="3966210"/>
              <a:ext cx="347851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5.68</a:t>
              </a:r>
            </a:p>
          </p:txBody>
        </p:sp>
        <p:sp>
          <p:nvSpPr>
            <p:cNvPr id="58" name="TextBox 60">
              <a:extLst>
                <a:ext uri="{FF2B5EF4-FFF2-40B4-BE49-F238E27FC236}">
                  <a16:creationId xmlns:a16="http://schemas.microsoft.com/office/drawing/2014/main" id="{984A0C99-E376-7296-603B-F090BDE731E8}"/>
                </a:ext>
              </a:extLst>
            </p:cNvPr>
            <p:cNvSpPr txBox="1"/>
            <p:nvPr/>
          </p:nvSpPr>
          <p:spPr>
            <a:xfrm>
              <a:off x="6980659" y="5204460"/>
              <a:ext cx="897682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前瞻延展性</a:t>
              </a:r>
            </a:p>
          </p:txBody>
        </p:sp>
        <p:sp>
          <p:nvSpPr>
            <p:cNvPr id="59" name="TextBox 61">
              <a:extLst>
                <a:ext uri="{FF2B5EF4-FFF2-40B4-BE49-F238E27FC236}">
                  <a16:creationId xmlns:a16="http://schemas.microsoft.com/office/drawing/2014/main" id="{81827CDC-91A4-6147-D162-9E3D225B4629}"/>
                </a:ext>
              </a:extLst>
            </p:cNvPr>
            <p:cNvSpPr txBox="1"/>
            <p:nvPr/>
          </p:nvSpPr>
          <p:spPr>
            <a:xfrm>
              <a:off x="7299657" y="5467052"/>
              <a:ext cx="259687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latin typeface="Arial"/>
                  <a:ea typeface="Microsoft YaHei"/>
                  <a:cs typeface="Arial"/>
                </a:rPr>
                <a:t>5%</a:t>
              </a:r>
            </a:p>
          </p:txBody>
        </p:sp>
      </p:grpSp>
      <p:grpSp>
        <p:nvGrpSpPr>
          <p:cNvPr id="60" name="Group 68">
            <a:extLst>
              <a:ext uri="{FF2B5EF4-FFF2-40B4-BE49-F238E27FC236}">
                <a16:creationId xmlns:a16="http://schemas.microsoft.com/office/drawing/2014/main" id="{A952ED02-4BF3-E475-356E-284903E75639}"/>
              </a:ext>
            </a:extLst>
          </p:cNvPr>
          <p:cNvGrpSpPr/>
          <p:nvPr/>
        </p:nvGrpSpPr>
        <p:grpSpPr>
          <a:xfrm>
            <a:off x="8458200" y="1518690"/>
            <a:ext cx="3048000" cy="1809750"/>
            <a:chOff x="8458200" y="1428750"/>
            <a:chExt cx="3048000" cy="1809750"/>
          </a:xfrm>
        </p:grpSpPr>
        <p:sp>
          <p:nvSpPr>
            <p:cNvPr id="61" name="Rectangle 63">
              <a:extLst>
                <a:ext uri="{FF2B5EF4-FFF2-40B4-BE49-F238E27FC236}">
                  <a16:creationId xmlns:a16="http://schemas.microsoft.com/office/drawing/2014/main" id="{CC363FFF-9282-9013-6400-14ADD7A167F2}"/>
                </a:ext>
              </a:extLst>
            </p:cNvPr>
            <p:cNvSpPr/>
            <p:nvPr/>
          </p:nvSpPr>
          <p:spPr>
            <a:xfrm>
              <a:off x="8458200" y="1428750"/>
              <a:ext cx="3048000" cy="1809750"/>
            </a:xfrm>
            <a:prstGeom prst="roundRect">
              <a:avLst>
                <a:gd name="adj" fmla="val 8421"/>
              </a:avLst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62" name="TextBox 64">
              <a:extLst>
                <a:ext uri="{FF2B5EF4-FFF2-40B4-BE49-F238E27FC236}">
                  <a16:creationId xmlns:a16="http://schemas.microsoft.com/office/drawing/2014/main" id="{317E352E-0330-2E1D-A456-9F014EDB643A}"/>
                </a:ext>
              </a:extLst>
            </p:cNvPr>
            <p:cNvSpPr txBox="1"/>
            <p:nvPr/>
          </p:nvSpPr>
          <p:spPr>
            <a:xfrm>
              <a:off x="8671560" y="1680210"/>
              <a:ext cx="14362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chemeClr val="bg1">
                      <a:alpha val="85000"/>
                    </a:schemeClr>
                  </a:solidFill>
                  <a:latin typeface="Arial"/>
                  <a:ea typeface="Microsoft YaHei"/>
                  <a:cs typeface="Arial"/>
                </a:rPr>
                <a:t>整体标准差降幅</a:t>
              </a:r>
            </a:p>
          </p:txBody>
        </p:sp>
        <p:sp>
          <p:nvSpPr>
            <p:cNvPr id="63" name="TextBox 65">
              <a:extLst>
                <a:ext uri="{FF2B5EF4-FFF2-40B4-BE49-F238E27FC236}">
                  <a16:creationId xmlns:a16="http://schemas.microsoft.com/office/drawing/2014/main" id="{A2647DFA-2E64-2EBC-1342-B93B00942DF5}"/>
                </a:ext>
              </a:extLst>
            </p:cNvPr>
            <p:cNvSpPr txBox="1"/>
            <p:nvPr/>
          </p:nvSpPr>
          <p:spPr>
            <a:xfrm>
              <a:off x="8580120" y="1969770"/>
              <a:ext cx="1862689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51.3</a:t>
              </a:r>
              <a:r>
                <a:rPr lang="zh-CN" sz="3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%</a:t>
              </a:r>
            </a:p>
          </p:txBody>
        </p:sp>
        <p:sp>
          <p:nvSpPr>
            <p:cNvPr id="64" name="Line 66">
              <a:extLst>
                <a:ext uri="{FF2B5EF4-FFF2-40B4-BE49-F238E27FC236}">
                  <a16:creationId xmlns:a16="http://schemas.microsoft.com/office/drawing/2014/main" id="{C903AA64-1246-D5C3-DFBB-FDB71C27536F}"/>
                </a:ext>
              </a:extLst>
            </p:cNvPr>
            <p:cNvSpPr/>
            <p:nvPr/>
          </p:nvSpPr>
          <p:spPr>
            <a:xfrm>
              <a:off x="8686800" y="2743200"/>
              <a:ext cx="2590800" cy="9525"/>
            </a:xfrm>
            <a:custGeom>
              <a:avLst/>
              <a:gdLst/>
              <a:ahLst/>
              <a:cxnLst/>
              <a:rect l="l" t="t" r="r" b="b"/>
              <a:pathLst>
                <a:path w="2590800" h="9525">
                  <a:moveTo>
                    <a:pt x="0" y="0"/>
                  </a:moveTo>
                  <a:lnTo>
                    <a:pt x="2590800" y="0"/>
                  </a:lnTo>
                </a:path>
              </a:pathLst>
            </a:custGeom>
            <a:noFill/>
            <a:ln w="9525">
              <a:solidFill>
                <a:srgbClr val="FFFFFF">
                  <a:alpha val="30000"/>
                </a:srgbClr>
              </a:solidFill>
            </a:ln>
          </p:spPr>
        </p:sp>
        <p:sp>
          <p:nvSpPr>
            <p:cNvPr id="65" name="TextBox 67">
              <a:extLst>
                <a:ext uri="{FF2B5EF4-FFF2-40B4-BE49-F238E27FC236}">
                  <a16:creationId xmlns:a16="http://schemas.microsoft.com/office/drawing/2014/main" id="{D1B4C687-6BF4-39AC-57FB-0CBA68557F6A}"/>
                </a:ext>
              </a:extLst>
            </p:cNvPr>
            <p:cNvSpPr txBox="1"/>
            <p:nvPr/>
          </p:nvSpPr>
          <p:spPr>
            <a:xfrm>
              <a:off x="8667750" y="2886075"/>
              <a:ext cx="1870705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R1 </a:t>
              </a:r>
              <a:r>
                <a:rPr lang="zh-CN" sz="16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14.87</a:t>
              </a:r>
              <a:r>
                <a:rPr lang="zh-CN" sz="16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 → R2 </a:t>
              </a:r>
              <a:r>
                <a:rPr lang="zh-CN" sz="16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7.24</a:t>
              </a:r>
            </a:p>
          </p:txBody>
        </p:sp>
      </p:grpSp>
      <p:grpSp>
        <p:nvGrpSpPr>
          <p:cNvPr id="66" name="Group 75">
            <a:extLst>
              <a:ext uri="{FF2B5EF4-FFF2-40B4-BE49-F238E27FC236}">
                <a16:creationId xmlns:a16="http://schemas.microsoft.com/office/drawing/2014/main" id="{07AC8B9F-24D0-35BD-F5B1-494480435EB8}"/>
              </a:ext>
            </a:extLst>
          </p:cNvPr>
          <p:cNvGrpSpPr/>
          <p:nvPr/>
        </p:nvGrpSpPr>
        <p:grpSpPr>
          <a:xfrm>
            <a:off x="8458200" y="3518940"/>
            <a:ext cx="3048000" cy="800100"/>
            <a:chOff x="8458200" y="3429000"/>
            <a:chExt cx="3048000" cy="800100"/>
          </a:xfrm>
        </p:grpSpPr>
        <p:sp>
          <p:nvSpPr>
            <p:cNvPr id="67" name="Rectangle 69">
              <a:extLst>
                <a:ext uri="{FF2B5EF4-FFF2-40B4-BE49-F238E27FC236}">
                  <a16:creationId xmlns:a16="http://schemas.microsoft.com/office/drawing/2014/main" id="{18B8FF46-BF49-B34B-8F92-8863C8903C7B}"/>
                </a:ext>
              </a:extLst>
            </p:cNvPr>
            <p:cNvSpPr/>
            <p:nvPr/>
          </p:nvSpPr>
          <p:spPr>
            <a:xfrm>
              <a:off x="8458200" y="3429000"/>
              <a:ext cx="3048000" cy="800100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14288">
              <a:solidFill>
                <a:srgbClr val="D9DEE5"/>
              </a:solidFill>
            </a:ln>
          </p:spPr>
        </p:sp>
        <p:grpSp>
          <p:nvGrpSpPr>
            <p:cNvPr id="68" name="Group 72">
              <a:extLst>
                <a:ext uri="{FF2B5EF4-FFF2-40B4-BE49-F238E27FC236}">
                  <a16:creationId xmlns:a16="http://schemas.microsoft.com/office/drawing/2014/main" id="{81B14D20-25E7-6BF1-4C0A-F32B40AFED8B}"/>
                </a:ext>
              </a:extLst>
            </p:cNvPr>
            <p:cNvGrpSpPr/>
            <p:nvPr/>
          </p:nvGrpSpPr>
          <p:grpSpPr>
            <a:xfrm>
              <a:off x="8696325" y="3686175"/>
              <a:ext cx="285750" cy="285750"/>
              <a:chOff x="8696325" y="3686175"/>
              <a:chExt cx="285750" cy="285750"/>
            </a:xfrm>
          </p:grpSpPr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11EFC1FA-DC19-A715-D61C-3FD44CE7C94C}"/>
                  </a:ext>
                </a:extLst>
              </p:cNvPr>
              <p:cNvSpPr/>
              <p:nvPr/>
            </p:nvSpPr>
            <p:spPr>
              <a:xfrm>
                <a:off x="8696325" y="3686175"/>
                <a:ext cx="2857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285750">
                    <a:moveTo>
                      <a:pt x="0" y="142875"/>
                    </a:moveTo>
                    <a:cubicBezTo>
                      <a:pt x="0" y="221783"/>
                      <a:pt x="63967" y="285750"/>
                      <a:pt x="142875" y="285750"/>
                    </a:cubicBezTo>
                    <a:cubicBezTo>
                      <a:pt x="221783" y="285750"/>
                      <a:pt x="285750" y="221783"/>
                      <a:pt x="285750" y="142875"/>
                    </a:cubicBezTo>
                    <a:cubicBezTo>
                      <a:pt x="285750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  <p:sp>
            <p:nvSpPr>
              <p:cNvPr id="72" name="Freeform 71">
                <a:extLst>
                  <a:ext uri="{FF2B5EF4-FFF2-40B4-BE49-F238E27FC236}">
                    <a16:creationId xmlns:a16="http://schemas.microsoft.com/office/drawing/2014/main" id="{365B6AED-D95C-CCAD-57BF-BFDCDB793CE6}"/>
                  </a:ext>
                </a:extLst>
              </p:cNvPr>
              <p:cNvSpPr/>
              <p:nvPr/>
            </p:nvSpPr>
            <p:spPr>
              <a:xfrm>
                <a:off x="8791575" y="3797300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</p:grpSp>
        <p:sp>
          <p:nvSpPr>
            <p:cNvPr id="69" name="TextBox 73">
              <a:extLst>
                <a:ext uri="{FF2B5EF4-FFF2-40B4-BE49-F238E27FC236}">
                  <a16:creationId xmlns:a16="http://schemas.microsoft.com/office/drawing/2014/main" id="{0D5D7166-4E86-F423-F578-D6102823554E}"/>
                </a:ext>
              </a:extLst>
            </p:cNvPr>
            <p:cNvSpPr txBox="1"/>
            <p:nvPr/>
          </p:nvSpPr>
          <p:spPr>
            <a:xfrm>
              <a:off x="9147810" y="3604260"/>
              <a:ext cx="1764907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b="1" dirty="0">
                  <a:latin typeface="Arial"/>
                  <a:ea typeface="Microsoft YaHei"/>
                  <a:cs typeface="Arial"/>
                </a:rPr>
                <a:t>逻辑连贯性 R2 收敛率</a:t>
              </a:r>
            </a:p>
          </p:txBody>
        </p:sp>
        <p:sp>
          <p:nvSpPr>
            <p:cNvPr id="70" name="TextBox 74">
              <a:extLst>
                <a:ext uri="{FF2B5EF4-FFF2-40B4-BE49-F238E27FC236}">
                  <a16:creationId xmlns:a16="http://schemas.microsoft.com/office/drawing/2014/main" id="{26AD1FC7-8B37-2073-F045-9FFD8F0ACF94}"/>
                </a:ext>
              </a:extLst>
            </p:cNvPr>
            <p:cNvSpPr txBox="1"/>
            <p:nvPr/>
          </p:nvSpPr>
          <p:spPr>
            <a:xfrm>
              <a:off x="9136380" y="3830955"/>
              <a:ext cx="1303020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93.2</a:t>
              </a:r>
              <a:r>
                <a:rPr lang="zh-CN" sz="14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%</a:t>
              </a:r>
              <a:r>
                <a:rPr lang="zh-CN" altLang="en-US" sz="14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zh-CN" sz="1200" b="1" dirty="0">
                  <a:latin typeface="Arial"/>
                  <a:ea typeface="Microsoft YaHei"/>
                  <a:cs typeface="Arial"/>
                </a:rPr>
                <a:t>最高</a:t>
              </a:r>
              <a:endParaRPr lang="zh-CN" sz="1100" b="1" dirty="0">
                <a:latin typeface="Arial"/>
                <a:ea typeface="Microsoft YaHei"/>
                <a:cs typeface="Arial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5B349CE9-C72E-CEA0-1EB0-5FAE03F77F4D}"/>
              </a:ext>
            </a:extLst>
          </p:cNvPr>
          <p:cNvGrpSpPr/>
          <p:nvPr/>
        </p:nvGrpSpPr>
        <p:grpSpPr>
          <a:xfrm>
            <a:off x="8458200" y="4433340"/>
            <a:ext cx="3048000" cy="800100"/>
            <a:chOff x="8458200" y="4343400"/>
            <a:chExt cx="3048000" cy="800100"/>
          </a:xfrm>
        </p:grpSpPr>
        <p:sp>
          <p:nvSpPr>
            <p:cNvPr id="74" name="Rectangle 76">
              <a:extLst>
                <a:ext uri="{FF2B5EF4-FFF2-40B4-BE49-F238E27FC236}">
                  <a16:creationId xmlns:a16="http://schemas.microsoft.com/office/drawing/2014/main" id="{7A297C3A-5622-C1A4-3CB9-39E0D3A6BD13}"/>
                </a:ext>
              </a:extLst>
            </p:cNvPr>
            <p:cNvSpPr/>
            <p:nvPr/>
          </p:nvSpPr>
          <p:spPr>
            <a:xfrm>
              <a:off x="8458200" y="4343400"/>
              <a:ext cx="3048000" cy="800100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14288">
              <a:solidFill>
                <a:srgbClr val="D9DEE5"/>
              </a:solidFill>
            </a:ln>
          </p:spPr>
        </p:sp>
        <p:grpSp>
          <p:nvGrpSpPr>
            <p:cNvPr id="75" name="Group 81">
              <a:extLst>
                <a:ext uri="{FF2B5EF4-FFF2-40B4-BE49-F238E27FC236}">
                  <a16:creationId xmlns:a16="http://schemas.microsoft.com/office/drawing/2014/main" id="{A8148AC6-3D0E-BDC1-5FFC-6C336979F179}"/>
                </a:ext>
              </a:extLst>
            </p:cNvPr>
            <p:cNvGrpSpPr/>
            <p:nvPr/>
          </p:nvGrpSpPr>
          <p:grpSpPr>
            <a:xfrm>
              <a:off x="8696325" y="4616450"/>
              <a:ext cx="285750" cy="263525"/>
              <a:chOff x="8696325" y="4616450"/>
              <a:chExt cx="285750" cy="263525"/>
            </a:xfrm>
          </p:grpSpPr>
          <p:sp>
            <p:nvSpPr>
              <p:cNvPr id="78" name="Freeform 77">
                <a:extLst>
                  <a:ext uri="{FF2B5EF4-FFF2-40B4-BE49-F238E27FC236}">
                    <a16:creationId xmlns:a16="http://schemas.microsoft.com/office/drawing/2014/main" id="{E5480937-B3C8-6B12-2D38-C642CFC7CD04}"/>
                  </a:ext>
                </a:extLst>
              </p:cNvPr>
              <p:cNvSpPr/>
              <p:nvPr/>
            </p:nvSpPr>
            <p:spPr>
              <a:xfrm>
                <a:off x="8696325" y="4743450"/>
                <a:ext cx="9525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27000">
                    <a:moveTo>
                      <a:pt x="0" y="15875"/>
                    </a:moveTo>
                    <a:cubicBezTo>
                      <a:pt x="0" y="7107"/>
                      <a:pt x="7107" y="0"/>
                      <a:pt x="15875" y="0"/>
                    </a:cubicBezTo>
                    <a:lnTo>
                      <a:pt x="79375" y="0"/>
                    </a:lnTo>
                    <a:cubicBezTo>
                      <a:pt x="88143" y="0"/>
                      <a:pt x="95250" y="7107"/>
                      <a:pt x="95250" y="15875"/>
                    </a:cubicBezTo>
                    <a:lnTo>
                      <a:pt x="95250" y="111125"/>
                    </a:lnTo>
                    <a:cubicBezTo>
                      <a:pt x="95250" y="119893"/>
                      <a:pt x="88143" y="127000"/>
                      <a:pt x="79375" y="127000"/>
                    </a:cubicBezTo>
                    <a:lnTo>
                      <a:pt x="15875" y="127000"/>
                    </a:lnTo>
                    <a:cubicBezTo>
                      <a:pt x="7107" y="127000"/>
                      <a:pt x="0" y="119893"/>
                      <a:pt x="0" y="111125"/>
                    </a:cubicBezTo>
                    <a:lnTo>
                      <a:pt x="0" y="15875"/>
                    </a:lnTo>
                  </a:path>
                </a:pathLst>
              </a:custGeom>
              <a:noFill/>
              <a:ln w="19050">
                <a:solidFill>
                  <a:srgbClr val="E07B00"/>
                </a:solidFill>
              </a:ln>
            </p:spPr>
          </p:sp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924F06F7-F25A-06CB-CAB5-00D677FB47B1}"/>
                  </a:ext>
                </a:extLst>
              </p:cNvPr>
              <p:cNvSpPr/>
              <p:nvPr/>
            </p:nvSpPr>
            <p:spPr>
              <a:xfrm>
                <a:off x="8886825" y="4679950"/>
                <a:ext cx="952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90500">
                    <a:moveTo>
                      <a:pt x="0" y="15875"/>
                    </a:moveTo>
                    <a:cubicBezTo>
                      <a:pt x="0" y="7107"/>
                      <a:pt x="7107" y="0"/>
                      <a:pt x="15875" y="0"/>
                    </a:cubicBezTo>
                    <a:lnTo>
                      <a:pt x="79375" y="0"/>
                    </a:lnTo>
                    <a:cubicBezTo>
                      <a:pt x="88143" y="0"/>
                      <a:pt x="95250" y="7107"/>
                      <a:pt x="95250" y="15875"/>
                    </a:cubicBezTo>
                    <a:lnTo>
                      <a:pt x="95250" y="174625"/>
                    </a:lnTo>
                    <a:cubicBezTo>
                      <a:pt x="95250" y="183393"/>
                      <a:pt x="88143" y="190500"/>
                      <a:pt x="79375" y="190500"/>
                    </a:cubicBezTo>
                    <a:lnTo>
                      <a:pt x="15875" y="190500"/>
                    </a:lnTo>
                    <a:cubicBezTo>
                      <a:pt x="7107" y="190500"/>
                      <a:pt x="0" y="183393"/>
                      <a:pt x="0" y="174625"/>
                    </a:cubicBezTo>
                    <a:lnTo>
                      <a:pt x="0" y="15875"/>
                    </a:lnTo>
                  </a:path>
                </a:pathLst>
              </a:custGeom>
              <a:noFill/>
              <a:ln w="19050">
                <a:solidFill>
                  <a:srgbClr val="E07B00"/>
                </a:solidFill>
              </a:ln>
            </p:spPr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165F7BC3-8863-DD65-F344-8E8E02BE2EDD}"/>
                  </a:ext>
                </a:extLst>
              </p:cNvPr>
              <p:cNvSpPr/>
              <p:nvPr/>
            </p:nvSpPr>
            <p:spPr>
              <a:xfrm>
                <a:off x="8791575" y="4616450"/>
                <a:ext cx="95250" cy="2540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54000">
                    <a:moveTo>
                      <a:pt x="0" y="15875"/>
                    </a:moveTo>
                    <a:cubicBezTo>
                      <a:pt x="0" y="7107"/>
                      <a:pt x="7107" y="0"/>
                      <a:pt x="15875" y="0"/>
                    </a:cubicBezTo>
                    <a:lnTo>
                      <a:pt x="79375" y="0"/>
                    </a:lnTo>
                    <a:cubicBezTo>
                      <a:pt x="88143" y="0"/>
                      <a:pt x="95250" y="7107"/>
                      <a:pt x="95250" y="15875"/>
                    </a:cubicBezTo>
                    <a:lnTo>
                      <a:pt x="95250" y="238125"/>
                    </a:lnTo>
                    <a:cubicBezTo>
                      <a:pt x="95250" y="246893"/>
                      <a:pt x="88143" y="254000"/>
                      <a:pt x="79375" y="254000"/>
                    </a:cubicBezTo>
                    <a:lnTo>
                      <a:pt x="15875" y="254000"/>
                    </a:lnTo>
                    <a:cubicBezTo>
                      <a:pt x="7107" y="254000"/>
                      <a:pt x="0" y="246893"/>
                      <a:pt x="0" y="238125"/>
                    </a:cubicBezTo>
                    <a:lnTo>
                      <a:pt x="0" y="15875"/>
                    </a:lnTo>
                  </a:path>
                </a:pathLst>
              </a:custGeom>
              <a:noFill/>
              <a:ln w="19050">
                <a:solidFill>
                  <a:srgbClr val="E07B00"/>
                </a:solidFill>
              </a:ln>
            </p:spPr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1B3F3C01-1768-352A-C10A-1C103BD00AC2}"/>
                  </a:ext>
                </a:extLst>
              </p:cNvPr>
              <p:cNvSpPr/>
              <p:nvPr/>
            </p:nvSpPr>
            <p:spPr>
              <a:xfrm>
                <a:off x="8712200" y="4870450"/>
                <a:ext cx="222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9525">
                    <a:moveTo>
                      <a:pt x="0" y="0"/>
                    </a:moveTo>
                    <a:lnTo>
                      <a:pt x="222250" y="0"/>
                    </a:lnTo>
                  </a:path>
                </a:pathLst>
              </a:custGeom>
              <a:noFill/>
              <a:ln w="19050">
                <a:solidFill>
                  <a:srgbClr val="E07B00"/>
                </a:solidFill>
              </a:ln>
            </p:spPr>
          </p:sp>
        </p:grpSp>
        <p:sp>
          <p:nvSpPr>
            <p:cNvPr id="76" name="TextBox 82">
              <a:extLst>
                <a:ext uri="{FF2B5EF4-FFF2-40B4-BE49-F238E27FC236}">
                  <a16:creationId xmlns:a16="http://schemas.microsoft.com/office/drawing/2014/main" id="{5AFA1143-F684-0F1C-1145-F939E9A4E9A1}"/>
                </a:ext>
              </a:extLst>
            </p:cNvPr>
            <p:cNvSpPr txBox="1"/>
            <p:nvPr/>
          </p:nvSpPr>
          <p:spPr>
            <a:xfrm>
              <a:off x="9147810" y="4518660"/>
              <a:ext cx="1764907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b="1" dirty="0">
                  <a:latin typeface="Arial"/>
                  <a:ea typeface="Microsoft YaHei"/>
                  <a:cs typeface="Arial"/>
                </a:rPr>
                <a:t>研究创新性 R2 收敛率</a:t>
              </a:r>
            </a:p>
          </p:txBody>
        </p:sp>
        <p:sp>
          <p:nvSpPr>
            <p:cNvPr id="77" name="TextBox 83">
              <a:extLst>
                <a:ext uri="{FF2B5EF4-FFF2-40B4-BE49-F238E27FC236}">
                  <a16:creationId xmlns:a16="http://schemas.microsoft.com/office/drawing/2014/main" id="{FDFE2F8D-21A2-B570-0B59-C43A5EDF35AA}"/>
                </a:ext>
              </a:extLst>
            </p:cNvPr>
            <p:cNvSpPr txBox="1"/>
            <p:nvPr/>
          </p:nvSpPr>
          <p:spPr>
            <a:xfrm>
              <a:off x="9136381" y="4745355"/>
              <a:ext cx="2237470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44.8</a:t>
              </a:r>
              <a:r>
                <a:rPr lang="zh-CN" sz="14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%</a:t>
              </a:r>
              <a:r>
                <a:rPr lang="zh-CN" altLang="en-US" sz="14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zh-CN" sz="1200" b="1" dirty="0">
                  <a:latin typeface="Arial"/>
                  <a:ea typeface="Microsoft YaHei"/>
                  <a:cs typeface="Arial"/>
                </a:rPr>
                <a:t>最低 · 真实学术分歧</a:t>
              </a:r>
              <a:endParaRPr lang="zh-CN" sz="1100" b="1" dirty="0"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537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8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60" grpId="0"/>
      <p:bldP spid="6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63F78E-5D91-0CAB-26A7-096E0667AB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19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8E5A89-700D-49E4-2C9C-BF7DFDBEA3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2BBB4B-D17E-8FCA-75F4-23D675664B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704C0C-DC9E-80D9-58A2-2C1CFB9295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5352" y="43657"/>
            <a:ext cx="7350446" cy="598488"/>
          </a:xfrm>
        </p:spPr>
        <p:txBody>
          <a:bodyPr/>
          <a:lstStyle/>
          <a:p>
            <a:r>
              <a:rPr lang="en-US" altLang="zh-CN" dirty="0">
                <a:solidFill>
                  <a:srgbClr val="FFFFFF"/>
                </a:solidFill>
                <a:ea typeface="Microsoft YaHei"/>
                <a:cs typeface="Arial"/>
              </a:rPr>
              <a:t>E1</a:t>
            </a:r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 模型行为差异与纠偏效果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DA5B273D-7AB2-972C-E611-E104AB22DF46}"/>
              </a:ext>
            </a:extLst>
          </p:cNvPr>
          <p:cNvSpPr/>
          <p:nvPr/>
        </p:nvSpPr>
        <p:spPr>
          <a:xfrm>
            <a:off x="685800" y="1228725"/>
            <a:ext cx="10820400" cy="419100"/>
          </a:xfrm>
          <a:prstGeom prst="roundRect">
            <a:avLst>
              <a:gd name="adj" fmla="val 18182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5864FB0B-5CFF-C82E-6CE2-87A013B92D9D}"/>
              </a:ext>
            </a:extLst>
          </p:cNvPr>
          <p:cNvSpPr txBox="1"/>
          <p:nvPr/>
        </p:nvSpPr>
        <p:spPr>
          <a:xfrm>
            <a:off x="3237845" y="1163222"/>
            <a:ext cx="5716309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0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基于 1920 篇 × 6 维度 = 11,520 个评分单元的统计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525674C6-7C54-3F69-87AA-84083CC1D68D}"/>
              </a:ext>
            </a:extLst>
          </p:cNvPr>
          <p:cNvSpPr txBox="1"/>
          <p:nvPr/>
        </p:nvSpPr>
        <p:spPr>
          <a:xfrm>
            <a:off x="660397" y="1822423"/>
            <a:ext cx="2389391" cy="4064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00" b="1" dirty="0">
                <a:solidFill>
                  <a:srgbClr val="C8161E"/>
                </a:solidFill>
                <a:latin typeface="Arial"/>
                <a:ea typeface="Microsoft YaHei"/>
                <a:cs typeface="Arial"/>
              </a:rPr>
              <a:t>Round 1：两极对立</a:t>
            </a:r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797706E5-7B96-1DC5-C8BC-B31DC30C1867}"/>
              </a:ext>
            </a:extLst>
          </p:cNvPr>
          <p:cNvSpPr/>
          <p:nvPr/>
        </p:nvSpPr>
        <p:spPr>
          <a:xfrm>
            <a:off x="685800" y="2209800"/>
            <a:ext cx="5257800" cy="1238250"/>
          </a:xfrm>
          <a:prstGeom prst="roundRect">
            <a:avLst>
              <a:gd name="adj" fmla="val 6154"/>
            </a:avLst>
          </a:prstGeom>
          <a:solidFill>
            <a:srgbClr val="F0F7FF"/>
          </a:solidFill>
          <a:ln w="14288">
            <a:solidFill>
              <a:srgbClr val="1F4D78"/>
            </a:solidFill>
          </a:ln>
        </p:spPr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EAC0C16-C7D1-BC6D-955E-1E7EA2AE048C}"/>
              </a:ext>
            </a:extLst>
          </p:cNvPr>
          <p:cNvSpPr txBox="1"/>
          <p:nvPr/>
        </p:nvSpPr>
        <p:spPr>
          <a:xfrm>
            <a:off x="2527207" y="2322857"/>
            <a:ext cx="1574986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b="1" dirty="0">
                <a:solidFill>
                  <a:srgbClr val="1F4D78"/>
                </a:solidFill>
                <a:latin typeface="Arial"/>
                <a:ea typeface="Microsoft YaHei"/>
                <a:cs typeface="Arial"/>
              </a:rPr>
              <a:t>A 组（宽松型）</a:t>
            </a: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80D6E61F-5E94-1F8C-23EA-490440E31A23}"/>
              </a:ext>
            </a:extLst>
          </p:cNvPr>
          <p:cNvSpPr txBox="1"/>
          <p:nvPr/>
        </p:nvSpPr>
        <p:spPr>
          <a:xfrm>
            <a:off x="2638901" y="2526030"/>
            <a:ext cx="1351598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rgbClr val="1F4D78"/>
                </a:solidFill>
                <a:latin typeface="Arial"/>
                <a:ea typeface="Microsoft YaHei"/>
                <a:cs typeface="Arial"/>
              </a:rPr>
              <a:t>91.5%</a:t>
            </a:r>
          </a:p>
        </p:txBody>
      </p:sp>
      <p:sp>
        <p:nvSpPr>
          <p:cNvPr id="12" name="TextBox 14">
            <a:extLst>
              <a:ext uri="{FF2B5EF4-FFF2-40B4-BE49-F238E27FC236}">
                <a16:creationId xmlns:a16="http://schemas.microsoft.com/office/drawing/2014/main" id="{085714DB-7F6E-FDED-BBD9-F468BA815B9F}"/>
              </a:ext>
            </a:extLst>
          </p:cNvPr>
          <p:cNvSpPr txBox="1"/>
          <p:nvPr/>
        </p:nvSpPr>
        <p:spPr>
          <a:xfrm>
            <a:off x="1574394" y="3087343"/>
            <a:ext cx="3480612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包揽最高分（GLM 51.9% + Qwen 39.6%）</a:t>
            </a:r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38A7154-128C-DE27-35A3-E9C77EE7AE67}"/>
              </a:ext>
            </a:extLst>
          </p:cNvPr>
          <p:cNvSpPr/>
          <p:nvPr/>
        </p:nvSpPr>
        <p:spPr>
          <a:xfrm>
            <a:off x="6248400" y="2209800"/>
            <a:ext cx="5257800" cy="1238250"/>
          </a:xfrm>
          <a:prstGeom prst="roundRect">
            <a:avLst>
              <a:gd name="adj" fmla="val 6154"/>
            </a:avLst>
          </a:prstGeom>
          <a:solidFill>
            <a:srgbClr val="FFEBEE"/>
          </a:solidFill>
          <a:ln w="14288">
            <a:solidFill>
              <a:srgbClr val="C8161E"/>
            </a:solidFill>
          </a:ln>
        </p:spPr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E70EB828-797A-5837-7849-1ED1A07201FC}"/>
              </a:ext>
            </a:extLst>
          </p:cNvPr>
          <p:cNvSpPr txBox="1"/>
          <p:nvPr/>
        </p:nvSpPr>
        <p:spPr>
          <a:xfrm>
            <a:off x="8089807" y="2322857"/>
            <a:ext cx="1574986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b="1" dirty="0">
                <a:solidFill>
                  <a:srgbClr val="C8161E"/>
                </a:solidFill>
                <a:latin typeface="Arial"/>
                <a:ea typeface="Microsoft YaHei"/>
                <a:cs typeface="Arial"/>
              </a:rPr>
              <a:t>B 组（严格型）</a:t>
            </a: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9CDA8D1A-82B2-4020-FF34-7A3FA5466F8D}"/>
              </a:ext>
            </a:extLst>
          </p:cNvPr>
          <p:cNvSpPr txBox="1"/>
          <p:nvPr/>
        </p:nvSpPr>
        <p:spPr>
          <a:xfrm>
            <a:off x="8138493" y="2526030"/>
            <a:ext cx="1477613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rgbClr val="C8161E"/>
                </a:solidFill>
                <a:latin typeface="Arial"/>
                <a:ea typeface="Microsoft YaHei"/>
                <a:cs typeface="Arial"/>
              </a:rPr>
              <a:t>94.9%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0CAD33F5-C1F4-3AEB-7CD5-A57FF1E861E5}"/>
              </a:ext>
            </a:extLst>
          </p:cNvPr>
          <p:cNvSpPr txBox="1"/>
          <p:nvPr/>
        </p:nvSpPr>
        <p:spPr>
          <a:xfrm>
            <a:off x="7333054" y="3087343"/>
            <a:ext cx="3088493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包揽最低分（B 组最高分仅占 8.5%）</a:t>
            </a:r>
          </a:p>
        </p:txBody>
      </p:sp>
      <p:sp>
        <p:nvSpPr>
          <p:cNvPr id="17" name="TextBox 19">
            <a:extLst>
              <a:ext uri="{FF2B5EF4-FFF2-40B4-BE49-F238E27FC236}">
                <a16:creationId xmlns:a16="http://schemas.microsoft.com/office/drawing/2014/main" id="{393E0B68-2036-473E-00FC-4D4E71A02C8A}"/>
              </a:ext>
            </a:extLst>
          </p:cNvPr>
          <p:cNvSpPr txBox="1"/>
          <p:nvPr/>
        </p:nvSpPr>
        <p:spPr>
          <a:xfrm>
            <a:off x="660397" y="3651223"/>
            <a:ext cx="3299618" cy="4064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Round 2：交叉评审后纠偏</a:t>
            </a:r>
          </a:p>
        </p:txBody>
      </p:sp>
      <p:sp>
        <p:nvSpPr>
          <p:cNvPr id="18" name="Rectangle 20">
            <a:extLst>
              <a:ext uri="{FF2B5EF4-FFF2-40B4-BE49-F238E27FC236}">
                <a16:creationId xmlns:a16="http://schemas.microsoft.com/office/drawing/2014/main" id="{2D89A893-A7F9-9C9A-0286-182EAEACC1B3}"/>
              </a:ext>
            </a:extLst>
          </p:cNvPr>
          <p:cNvSpPr/>
          <p:nvPr/>
        </p:nvSpPr>
        <p:spPr>
          <a:xfrm>
            <a:off x="685800" y="4038600"/>
            <a:ext cx="5257800" cy="1333500"/>
          </a:xfrm>
          <a:prstGeom prst="roundRect">
            <a:avLst>
              <a:gd name="adj" fmla="val 5714"/>
            </a:avLst>
          </a:prstGeom>
          <a:solidFill>
            <a:srgbClr val="E8F5E9"/>
          </a:solidFill>
          <a:ln w="14288">
            <a:solidFill>
              <a:srgbClr val="2E7D32"/>
            </a:solidFill>
          </a:ln>
        </p:spPr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E7DCA352-6A8F-8DA2-A3CA-8D2FF2FBAC1D}"/>
              </a:ext>
            </a:extLst>
          </p:cNvPr>
          <p:cNvSpPr txBox="1"/>
          <p:nvPr/>
        </p:nvSpPr>
        <p:spPr>
          <a:xfrm>
            <a:off x="2527207" y="4170707"/>
            <a:ext cx="1574986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B 组最高分占比</a:t>
            </a:r>
          </a:p>
        </p:txBody>
      </p:sp>
      <p:sp>
        <p:nvSpPr>
          <p:cNvPr id="20" name="TextBox 22">
            <a:extLst>
              <a:ext uri="{FF2B5EF4-FFF2-40B4-BE49-F238E27FC236}">
                <a16:creationId xmlns:a16="http://schemas.microsoft.com/office/drawing/2014/main" id="{DFE42C63-8AFA-0DD3-B9A1-973DAB35A2D9}"/>
              </a:ext>
            </a:extLst>
          </p:cNvPr>
          <p:cNvSpPr txBox="1"/>
          <p:nvPr/>
        </p:nvSpPr>
        <p:spPr>
          <a:xfrm>
            <a:off x="1731588" y="4450080"/>
            <a:ext cx="3166224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8.5% → 62.2%</a:t>
            </a:r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7E56E446-A15F-265E-6406-52A2A61CC389}"/>
              </a:ext>
            </a:extLst>
          </p:cNvPr>
          <p:cNvSpPr txBox="1"/>
          <p:nvPr/>
        </p:nvSpPr>
        <p:spPr>
          <a:xfrm>
            <a:off x="2863197" y="5027957"/>
            <a:ext cx="903007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+53.7pp</a:t>
            </a:r>
          </a:p>
        </p:txBody>
      </p:sp>
      <p:sp>
        <p:nvSpPr>
          <p:cNvPr id="22" name="Rectangle 24">
            <a:extLst>
              <a:ext uri="{FF2B5EF4-FFF2-40B4-BE49-F238E27FC236}">
                <a16:creationId xmlns:a16="http://schemas.microsoft.com/office/drawing/2014/main" id="{EB9950AB-5113-B617-76A9-EF933DFF8761}"/>
              </a:ext>
            </a:extLst>
          </p:cNvPr>
          <p:cNvSpPr/>
          <p:nvPr/>
        </p:nvSpPr>
        <p:spPr>
          <a:xfrm>
            <a:off x="6248400" y="4038600"/>
            <a:ext cx="5257800" cy="1333500"/>
          </a:xfrm>
          <a:prstGeom prst="roundRect">
            <a:avLst>
              <a:gd name="adj" fmla="val 5714"/>
            </a:avLst>
          </a:prstGeom>
          <a:solidFill>
            <a:srgbClr val="E8F5E9"/>
          </a:solidFill>
          <a:ln w="14288">
            <a:solidFill>
              <a:srgbClr val="2E7D32"/>
            </a:solidFill>
          </a:ln>
        </p:spPr>
      </p:sp>
      <p:sp>
        <p:nvSpPr>
          <p:cNvPr id="23" name="TextBox 25">
            <a:extLst>
              <a:ext uri="{FF2B5EF4-FFF2-40B4-BE49-F238E27FC236}">
                <a16:creationId xmlns:a16="http://schemas.microsoft.com/office/drawing/2014/main" id="{D81692B2-0603-C7FB-44FB-146438D71700}"/>
              </a:ext>
            </a:extLst>
          </p:cNvPr>
          <p:cNvSpPr txBox="1"/>
          <p:nvPr/>
        </p:nvSpPr>
        <p:spPr>
          <a:xfrm>
            <a:off x="8089807" y="4170707"/>
            <a:ext cx="1574986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A 组最低分占比</a:t>
            </a:r>
          </a:p>
        </p:txBody>
      </p:sp>
      <p:sp>
        <p:nvSpPr>
          <p:cNvPr id="24" name="TextBox 26">
            <a:extLst>
              <a:ext uri="{FF2B5EF4-FFF2-40B4-BE49-F238E27FC236}">
                <a16:creationId xmlns:a16="http://schemas.microsoft.com/office/drawing/2014/main" id="{0A3C7F8F-112C-3EF2-9963-1E30DBB79B9D}"/>
              </a:ext>
            </a:extLst>
          </p:cNvPr>
          <p:cNvSpPr txBox="1"/>
          <p:nvPr/>
        </p:nvSpPr>
        <p:spPr>
          <a:xfrm>
            <a:off x="7420204" y="4450080"/>
            <a:ext cx="2914193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5.1% → 31.9%</a:t>
            </a:r>
          </a:p>
        </p:txBody>
      </p:sp>
      <p:sp>
        <p:nvSpPr>
          <p:cNvPr id="25" name="TextBox 27">
            <a:extLst>
              <a:ext uri="{FF2B5EF4-FFF2-40B4-BE49-F238E27FC236}">
                <a16:creationId xmlns:a16="http://schemas.microsoft.com/office/drawing/2014/main" id="{D50BC20F-AABC-6FA8-0935-111CB9EC65B5}"/>
              </a:ext>
            </a:extLst>
          </p:cNvPr>
          <p:cNvSpPr txBox="1"/>
          <p:nvPr/>
        </p:nvSpPr>
        <p:spPr>
          <a:xfrm>
            <a:off x="8425797" y="5027957"/>
            <a:ext cx="903007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+26.8pp</a:t>
            </a:r>
          </a:p>
        </p:txBody>
      </p:sp>
      <p:sp>
        <p:nvSpPr>
          <p:cNvPr id="26" name="Rectangle 28">
            <a:extLst>
              <a:ext uri="{FF2B5EF4-FFF2-40B4-BE49-F238E27FC236}">
                <a16:creationId xmlns:a16="http://schemas.microsoft.com/office/drawing/2014/main" id="{F77470C6-18CE-D922-514F-C5E9E98707F4}"/>
              </a:ext>
            </a:extLst>
          </p:cNvPr>
          <p:cNvSpPr/>
          <p:nvPr/>
        </p:nvSpPr>
        <p:spPr>
          <a:xfrm>
            <a:off x="685800" y="5600700"/>
            <a:ext cx="10820400" cy="419100"/>
          </a:xfrm>
          <a:prstGeom prst="roundRect">
            <a:avLst>
              <a:gd name="adj" fmla="val 13636"/>
            </a:avLst>
          </a:prstGeom>
          <a:solidFill>
            <a:srgbClr val="FFF8F0"/>
          </a:solidFill>
          <a:ln>
            <a:noFill/>
          </a:ln>
        </p:spPr>
      </p:sp>
      <p:sp>
        <p:nvSpPr>
          <p:cNvPr id="27" name="TextBox 29">
            <a:extLst>
              <a:ext uri="{FF2B5EF4-FFF2-40B4-BE49-F238E27FC236}">
                <a16:creationId xmlns:a16="http://schemas.microsoft.com/office/drawing/2014/main" id="{A070AA28-25A1-FF57-2ED1-C01B738B915D}"/>
              </a:ext>
            </a:extLst>
          </p:cNvPr>
          <p:cNvSpPr txBox="1"/>
          <p:nvPr/>
        </p:nvSpPr>
        <p:spPr>
          <a:xfrm>
            <a:off x="3566788" y="5716243"/>
            <a:ext cx="5058424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模型间角色分工形成：B 组成为"挑刺者"，A 组成为"辩护者"</a:t>
            </a:r>
          </a:p>
        </p:txBody>
      </p:sp>
    </p:spTree>
    <p:extLst>
      <p:ext uri="{BB962C8B-B14F-4D97-AF65-F5344CB8AC3E}">
        <p14:creationId xmlns:p14="http://schemas.microsoft.com/office/powerpoint/2010/main" val="6329821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DF76BB-484C-25C4-ACDA-EF760A0BD5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20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E65B14-AAE2-F484-0404-B4D609A7A6C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43B7F5-5FBF-A03E-3316-B0F9904AEB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33B9CE-36D4-936C-2C61-B4E5E3098B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FF"/>
                </a:solidFill>
                <a:ea typeface="Microsoft YaHei"/>
                <a:cs typeface="Arial"/>
              </a:rPr>
              <a:t>E1</a:t>
            </a:r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 论文分数分布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42608327-A4EE-A669-DD38-FBC477BA2AC6}"/>
              </a:ext>
            </a:extLst>
          </p:cNvPr>
          <p:cNvSpPr txBox="1"/>
          <p:nvPr/>
        </p:nvSpPr>
        <p:spPr>
          <a:xfrm>
            <a:off x="4625329" y="1046507"/>
            <a:ext cx="2941343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b="1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1920 篇论文 R2 加权总分分布</a:t>
            </a:r>
          </a:p>
        </p:txBody>
      </p:sp>
      <p:grpSp>
        <p:nvGrpSpPr>
          <p:cNvPr id="7" name="Group 41">
            <a:extLst>
              <a:ext uri="{FF2B5EF4-FFF2-40B4-BE49-F238E27FC236}">
                <a16:creationId xmlns:a16="http://schemas.microsoft.com/office/drawing/2014/main" id="{2D2733B6-0B1E-7BCF-4271-B15E7D3E43D8}"/>
              </a:ext>
            </a:extLst>
          </p:cNvPr>
          <p:cNvGrpSpPr/>
          <p:nvPr/>
        </p:nvGrpSpPr>
        <p:grpSpPr>
          <a:xfrm>
            <a:off x="1104138" y="1470660"/>
            <a:ext cx="9754362" cy="3006090"/>
            <a:chOff x="1104138" y="1470660"/>
            <a:chExt cx="9754362" cy="3006090"/>
          </a:xfrm>
        </p:grpSpPr>
        <p:sp>
          <p:nvSpPr>
            <p:cNvPr id="8" name="Line 9">
              <a:extLst>
                <a:ext uri="{FF2B5EF4-FFF2-40B4-BE49-F238E27FC236}">
                  <a16:creationId xmlns:a16="http://schemas.microsoft.com/office/drawing/2014/main" id="{20ABB49B-32CF-A2E3-3A55-0C4E1EEE813A}"/>
                </a:ext>
              </a:extLst>
            </p:cNvPr>
            <p:cNvSpPr/>
            <p:nvPr/>
          </p:nvSpPr>
          <p:spPr>
            <a:xfrm>
              <a:off x="1409700" y="1524000"/>
              <a:ext cx="9525" cy="2667000"/>
            </a:xfrm>
            <a:custGeom>
              <a:avLst/>
              <a:gdLst/>
              <a:ahLst/>
              <a:cxnLst/>
              <a:rect l="l" t="t" r="r" b="b"/>
              <a:pathLst>
                <a:path w="9525" h="2667000">
                  <a:moveTo>
                    <a:pt x="0" y="0"/>
                  </a:moveTo>
                  <a:lnTo>
                    <a:pt x="0" y="2667000"/>
                  </a:lnTo>
                </a:path>
              </a:pathLst>
            </a:custGeom>
            <a:noFill/>
            <a:ln w="14288">
              <a:solidFill>
                <a:srgbClr val="94A3B8"/>
              </a:solidFill>
            </a:ln>
          </p:spPr>
        </p:sp>
        <p:sp>
          <p:nvSpPr>
            <p:cNvPr id="9" name="TextBox 10">
              <a:extLst>
                <a:ext uri="{FF2B5EF4-FFF2-40B4-BE49-F238E27FC236}">
                  <a16:creationId xmlns:a16="http://schemas.microsoft.com/office/drawing/2014/main" id="{4CD99FC3-834D-18B6-A411-CEFA18F387DD}"/>
                </a:ext>
              </a:extLst>
            </p:cNvPr>
            <p:cNvSpPr txBox="1"/>
            <p:nvPr/>
          </p:nvSpPr>
          <p:spPr>
            <a:xfrm>
              <a:off x="1104138" y="1470660"/>
              <a:ext cx="2065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26</a:t>
              </a:r>
            </a:p>
          </p:txBody>
        </p:sp>
        <p:sp>
          <p:nvSpPr>
            <p:cNvPr id="10" name="TextBox 11">
              <a:extLst>
                <a:ext uri="{FF2B5EF4-FFF2-40B4-BE49-F238E27FC236}">
                  <a16:creationId xmlns:a16="http://schemas.microsoft.com/office/drawing/2014/main" id="{E042822D-E5D3-7651-28C0-03384146DC79}"/>
                </a:ext>
              </a:extLst>
            </p:cNvPr>
            <p:cNvSpPr txBox="1"/>
            <p:nvPr/>
          </p:nvSpPr>
          <p:spPr>
            <a:xfrm>
              <a:off x="1104138" y="2137410"/>
              <a:ext cx="2065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26</a:t>
              </a:r>
            </a:p>
          </p:txBody>
        </p: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0A16EA47-A669-1C2D-2E1C-52E8F54FB1FF}"/>
                </a:ext>
              </a:extLst>
            </p:cNvPr>
            <p:cNvSpPr txBox="1"/>
            <p:nvPr/>
          </p:nvSpPr>
          <p:spPr>
            <a:xfrm>
              <a:off x="1104138" y="2804160"/>
              <a:ext cx="2065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26</a:t>
              </a:r>
            </a:p>
          </p:txBody>
        </p:sp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D9C174AE-FBFA-BD1E-F88A-48D48A7F649B}"/>
                </a:ext>
              </a:extLst>
            </p:cNvPr>
            <p:cNvSpPr txBox="1"/>
            <p:nvPr/>
          </p:nvSpPr>
          <p:spPr>
            <a:xfrm>
              <a:off x="1104138" y="3470910"/>
              <a:ext cx="2065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26</a:t>
              </a:r>
            </a:p>
          </p:txBody>
        </p:sp>
        <p:sp>
          <p:nvSpPr>
            <p:cNvPr id="13" name="TextBox 14">
              <a:extLst>
                <a:ext uri="{FF2B5EF4-FFF2-40B4-BE49-F238E27FC236}">
                  <a16:creationId xmlns:a16="http://schemas.microsoft.com/office/drawing/2014/main" id="{71711FAD-E46C-6C0A-98C2-7039500F8B05}"/>
                </a:ext>
              </a:extLst>
            </p:cNvPr>
            <p:cNvSpPr txBox="1"/>
            <p:nvPr/>
          </p:nvSpPr>
          <p:spPr>
            <a:xfrm>
              <a:off x="1104138" y="4137660"/>
              <a:ext cx="2065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26</a:t>
              </a:r>
            </a:p>
          </p:txBody>
        </p:sp>
        <p:sp>
          <p:nvSpPr>
            <p:cNvPr id="14" name="Line 15">
              <a:extLst>
                <a:ext uri="{FF2B5EF4-FFF2-40B4-BE49-F238E27FC236}">
                  <a16:creationId xmlns:a16="http://schemas.microsoft.com/office/drawing/2014/main" id="{D6487376-1688-ACAF-7020-B078876EB333}"/>
                </a:ext>
              </a:extLst>
            </p:cNvPr>
            <p:cNvSpPr/>
            <p:nvPr/>
          </p:nvSpPr>
          <p:spPr>
            <a:xfrm>
              <a:off x="1409700" y="1524000"/>
              <a:ext cx="9448800" cy="9525"/>
            </a:xfrm>
            <a:custGeom>
              <a:avLst/>
              <a:gdLst/>
              <a:ahLst/>
              <a:cxnLst/>
              <a:rect l="l" t="t" r="r" b="b"/>
              <a:pathLst>
                <a:path w="9448800" h="9525">
                  <a:moveTo>
                    <a:pt x="0" y="0"/>
                  </a:moveTo>
                  <a:lnTo>
                    <a:pt x="944880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</a:ln>
          </p:spPr>
        </p:sp>
        <p:sp>
          <p:nvSpPr>
            <p:cNvPr id="15" name="Line 16">
              <a:extLst>
                <a:ext uri="{FF2B5EF4-FFF2-40B4-BE49-F238E27FC236}">
                  <a16:creationId xmlns:a16="http://schemas.microsoft.com/office/drawing/2014/main" id="{CD3569AB-C083-AC1E-C787-F4849D3B04CB}"/>
                </a:ext>
              </a:extLst>
            </p:cNvPr>
            <p:cNvSpPr/>
            <p:nvPr/>
          </p:nvSpPr>
          <p:spPr>
            <a:xfrm>
              <a:off x="1409700" y="2190750"/>
              <a:ext cx="9448800" cy="9525"/>
            </a:xfrm>
            <a:custGeom>
              <a:avLst/>
              <a:gdLst/>
              <a:ahLst/>
              <a:cxnLst/>
              <a:rect l="l" t="t" r="r" b="b"/>
              <a:pathLst>
                <a:path w="9448800" h="9525">
                  <a:moveTo>
                    <a:pt x="0" y="0"/>
                  </a:moveTo>
                  <a:lnTo>
                    <a:pt x="944880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</a:ln>
          </p:spPr>
        </p:sp>
        <p:sp>
          <p:nvSpPr>
            <p:cNvPr id="16" name="Line 17">
              <a:extLst>
                <a:ext uri="{FF2B5EF4-FFF2-40B4-BE49-F238E27FC236}">
                  <a16:creationId xmlns:a16="http://schemas.microsoft.com/office/drawing/2014/main" id="{89DCAD8C-E3DD-CD73-01F4-270A7056551D}"/>
                </a:ext>
              </a:extLst>
            </p:cNvPr>
            <p:cNvSpPr/>
            <p:nvPr/>
          </p:nvSpPr>
          <p:spPr>
            <a:xfrm>
              <a:off x="1409700" y="2857500"/>
              <a:ext cx="9448800" cy="9525"/>
            </a:xfrm>
            <a:custGeom>
              <a:avLst/>
              <a:gdLst/>
              <a:ahLst/>
              <a:cxnLst/>
              <a:rect l="l" t="t" r="r" b="b"/>
              <a:pathLst>
                <a:path w="9448800" h="9525">
                  <a:moveTo>
                    <a:pt x="0" y="0"/>
                  </a:moveTo>
                  <a:lnTo>
                    <a:pt x="944880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</a:ln>
          </p:spPr>
        </p:sp>
        <p:sp>
          <p:nvSpPr>
            <p:cNvPr id="17" name="Line 18">
              <a:extLst>
                <a:ext uri="{FF2B5EF4-FFF2-40B4-BE49-F238E27FC236}">
                  <a16:creationId xmlns:a16="http://schemas.microsoft.com/office/drawing/2014/main" id="{DBF62C09-279F-4A45-A3B1-6B0B375978CE}"/>
                </a:ext>
              </a:extLst>
            </p:cNvPr>
            <p:cNvSpPr/>
            <p:nvPr/>
          </p:nvSpPr>
          <p:spPr>
            <a:xfrm>
              <a:off x="1409700" y="3524250"/>
              <a:ext cx="9448800" cy="9525"/>
            </a:xfrm>
            <a:custGeom>
              <a:avLst/>
              <a:gdLst/>
              <a:ahLst/>
              <a:cxnLst/>
              <a:rect l="l" t="t" r="r" b="b"/>
              <a:pathLst>
                <a:path w="9448800" h="9525">
                  <a:moveTo>
                    <a:pt x="0" y="0"/>
                  </a:moveTo>
                  <a:lnTo>
                    <a:pt x="9448800" y="0"/>
                  </a:lnTo>
                </a:path>
              </a:pathLst>
            </a:custGeom>
            <a:noFill/>
            <a:ln w="9525">
              <a:solidFill>
                <a:srgbClr val="E8ECF1"/>
              </a:solidFill>
            </a:ln>
          </p:spPr>
        </p:sp>
        <p:sp>
          <p:nvSpPr>
            <p:cNvPr id="18" name="Line 19">
              <a:extLst>
                <a:ext uri="{FF2B5EF4-FFF2-40B4-BE49-F238E27FC236}">
                  <a16:creationId xmlns:a16="http://schemas.microsoft.com/office/drawing/2014/main" id="{C30B83F6-36C6-EA2C-03D1-4901A6FF8887}"/>
                </a:ext>
              </a:extLst>
            </p:cNvPr>
            <p:cNvSpPr/>
            <p:nvPr/>
          </p:nvSpPr>
          <p:spPr>
            <a:xfrm>
              <a:off x="1409700" y="4191000"/>
              <a:ext cx="9448800" cy="9525"/>
            </a:xfrm>
            <a:custGeom>
              <a:avLst/>
              <a:gdLst/>
              <a:ahLst/>
              <a:cxnLst/>
              <a:rect l="l" t="t" r="r" b="b"/>
              <a:pathLst>
                <a:path w="9448800" h="9525">
                  <a:moveTo>
                    <a:pt x="0" y="0"/>
                  </a:moveTo>
                  <a:lnTo>
                    <a:pt x="9448800" y="0"/>
                  </a:lnTo>
                </a:path>
              </a:pathLst>
            </a:custGeom>
            <a:noFill/>
            <a:ln w="14288">
              <a:solidFill>
                <a:srgbClr val="94A3B8"/>
              </a:solidFill>
            </a:ln>
          </p:spPr>
        </p:sp>
        <p:sp>
          <p:nvSpPr>
            <p:cNvPr id="19" name="Rectangle 20">
              <a:extLst>
                <a:ext uri="{FF2B5EF4-FFF2-40B4-BE49-F238E27FC236}">
                  <a16:creationId xmlns:a16="http://schemas.microsoft.com/office/drawing/2014/main" id="{91AB9E4C-3D35-B4D1-9CF0-65D721AA8631}"/>
                </a:ext>
              </a:extLst>
            </p:cNvPr>
            <p:cNvSpPr/>
            <p:nvPr/>
          </p:nvSpPr>
          <p:spPr>
            <a:xfrm>
              <a:off x="1600200" y="2428875"/>
              <a:ext cx="1143000" cy="1762125"/>
            </a:xfrm>
            <a:prstGeom prst="roundRect">
              <a:avLst>
                <a:gd name="adj" fmla="val 1667"/>
              </a:avLst>
            </a:prstGeom>
            <a:solidFill>
              <a:srgbClr val="44546A">
                <a:alpha val="70000"/>
              </a:srgbClr>
            </a:solidFill>
            <a:ln>
              <a:noFill/>
            </a:ln>
          </p:spPr>
        </p:sp>
        <p:sp>
          <p:nvSpPr>
            <p:cNvPr id="20" name="TextBox 21">
              <a:extLst>
                <a:ext uri="{FF2B5EF4-FFF2-40B4-BE49-F238E27FC236}">
                  <a16:creationId xmlns:a16="http://schemas.microsoft.com/office/drawing/2014/main" id="{B1061CC2-5672-F1CB-07CF-4D6096147317}"/>
                </a:ext>
              </a:extLst>
            </p:cNvPr>
            <p:cNvSpPr txBox="1"/>
            <p:nvPr/>
          </p:nvSpPr>
          <p:spPr>
            <a:xfrm>
              <a:off x="2038845" y="2204085"/>
              <a:ext cx="26570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331</a:t>
              </a:r>
            </a:p>
          </p:txBody>
        </p:sp>
        <p:sp>
          <p:nvSpPr>
            <p:cNvPr id="21" name="TextBox 22">
              <a:extLst>
                <a:ext uri="{FF2B5EF4-FFF2-40B4-BE49-F238E27FC236}">
                  <a16:creationId xmlns:a16="http://schemas.microsoft.com/office/drawing/2014/main" id="{CFDAEAC3-5530-D553-8920-130A1EC7B147}"/>
                </a:ext>
              </a:extLst>
            </p:cNvPr>
            <p:cNvSpPr txBox="1"/>
            <p:nvPr/>
          </p:nvSpPr>
          <p:spPr>
            <a:xfrm>
              <a:off x="1892427" y="4232910"/>
              <a:ext cx="5585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[0-60)</a:t>
              </a:r>
            </a:p>
          </p:txBody>
        </p:sp>
        <p:sp>
          <p:nvSpPr>
            <p:cNvPr id="22" name="Rectangle 23">
              <a:extLst>
                <a:ext uri="{FF2B5EF4-FFF2-40B4-BE49-F238E27FC236}">
                  <a16:creationId xmlns:a16="http://schemas.microsoft.com/office/drawing/2014/main" id="{D0E8BD40-E107-AF58-FFEE-4D29C4F789DB}"/>
                </a:ext>
              </a:extLst>
            </p:cNvPr>
            <p:cNvSpPr/>
            <p:nvPr/>
          </p:nvSpPr>
          <p:spPr>
            <a:xfrm>
              <a:off x="2933700" y="3381375"/>
              <a:ext cx="1143000" cy="809625"/>
            </a:xfrm>
            <a:prstGeom prst="roundRect">
              <a:avLst>
                <a:gd name="adj" fmla="val 2353"/>
              </a:avLst>
            </a:prstGeom>
            <a:solidFill>
              <a:srgbClr val="44546A">
                <a:alpha val="70000"/>
              </a:srgbClr>
            </a:solidFill>
            <a:ln>
              <a:noFill/>
            </a:ln>
          </p:spPr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927114D2-79A5-A8F6-BA57-0D0B2EBAA62E}"/>
                </a:ext>
              </a:extLst>
            </p:cNvPr>
            <p:cNvSpPr txBox="1"/>
            <p:nvPr/>
          </p:nvSpPr>
          <p:spPr>
            <a:xfrm>
              <a:off x="3372345" y="3156585"/>
              <a:ext cx="26570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152</a:t>
              </a:r>
            </a:p>
          </p:txBody>
        </p:sp>
        <p:sp>
          <p:nvSpPr>
            <p:cNvPr id="24" name="TextBox 25">
              <a:extLst>
                <a:ext uri="{FF2B5EF4-FFF2-40B4-BE49-F238E27FC236}">
                  <a16:creationId xmlns:a16="http://schemas.microsoft.com/office/drawing/2014/main" id="{64FF7139-E75C-19B1-05EB-FD73620E124B}"/>
                </a:ext>
              </a:extLst>
            </p:cNvPr>
            <p:cNvSpPr txBox="1"/>
            <p:nvPr/>
          </p:nvSpPr>
          <p:spPr>
            <a:xfrm>
              <a:off x="3181922" y="4232910"/>
              <a:ext cx="6465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[60-65)</a:t>
              </a:r>
            </a:p>
          </p:txBody>
        </p:sp>
        <p:sp>
          <p:nvSpPr>
            <p:cNvPr id="25" name="Rectangle 26">
              <a:extLst>
                <a:ext uri="{FF2B5EF4-FFF2-40B4-BE49-F238E27FC236}">
                  <a16:creationId xmlns:a16="http://schemas.microsoft.com/office/drawing/2014/main" id="{8BB83697-3753-5CAB-E213-30B224F7B791}"/>
                </a:ext>
              </a:extLst>
            </p:cNvPr>
            <p:cNvSpPr/>
            <p:nvPr/>
          </p:nvSpPr>
          <p:spPr>
            <a:xfrm>
              <a:off x="4267200" y="3105150"/>
              <a:ext cx="1143000" cy="1085850"/>
            </a:xfrm>
            <a:prstGeom prst="roundRect">
              <a:avLst>
                <a:gd name="adj" fmla="val 1754"/>
              </a:avLst>
            </a:prstGeom>
            <a:solidFill>
              <a:srgbClr val="44546A">
                <a:alpha val="70000"/>
              </a:srgbClr>
            </a:solidFill>
            <a:ln>
              <a:noFill/>
            </a:ln>
          </p:spPr>
        </p:sp>
        <p:sp>
          <p:nvSpPr>
            <p:cNvPr id="26" name="TextBox 27">
              <a:extLst>
                <a:ext uri="{FF2B5EF4-FFF2-40B4-BE49-F238E27FC236}">
                  <a16:creationId xmlns:a16="http://schemas.microsoft.com/office/drawing/2014/main" id="{A6C889FE-3221-B3BF-1A23-8993606112D5}"/>
                </a:ext>
              </a:extLst>
            </p:cNvPr>
            <p:cNvSpPr txBox="1"/>
            <p:nvPr/>
          </p:nvSpPr>
          <p:spPr>
            <a:xfrm>
              <a:off x="4684843" y="2880360"/>
              <a:ext cx="30771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204</a:t>
              </a:r>
            </a:p>
          </p:txBody>
        </p:sp>
        <p:sp>
          <p:nvSpPr>
            <p:cNvPr id="27" name="TextBox 28">
              <a:extLst>
                <a:ext uri="{FF2B5EF4-FFF2-40B4-BE49-F238E27FC236}">
                  <a16:creationId xmlns:a16="http://schemas.microsoft.com/office/drawing/2014/main" id="{E127522A-E525-AE79-99DA-D89BADDAA9C8}"/>
                </a:ext>
              </a:extLst>
            </p:cNvPr>
            <p:cNvSpPr txBox="1"/>
            <p:nvPr/>
          </p:nvSpPr>
          <p:spPr>
            <a:xfrm>
              <a:off x="4515422" y="4232910"/>
              <a:ext cx="6465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[65-70)</a:t>
              </a:r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7AFBA5FF-1000-6C64-6EB3-9FA215185E06}"/>
                </a:ext>
              </a:extLst>
            </p:cNvPr>
            <p:cNvSpPr/>
            <p:nvPr/>
          </p:nvSpPr>
          <p:spPr>
            <a:xfrm>
              <a:off x="5600700" y="2476500"/>
              <a:ext cx="1143000" cy="1714500"/>
            </a:xfrm>
            <a:prstGeom prst="roundRect">
              <a:avLst>
                <a:gd name="adj" fmla="val 1667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29" name="TextBox 30">
              <a:extLst>
                <a:ext uri="{FF2B5EF4-FFF2-40B4-BE49-F238E27FC236}">
                  <a16:creationId xmlns:a16="http://schemas.microsoft.com/office/drawing/2014/main" id="{4472449B-F6CB-B9B1-D616-4CDABCD5E3BE}"/>
                </a:ext>
              </a:extLst>
            </p:cNvPr>
            <p:cNvSpPr txBox="1"/>
            <p:nvPr/>
          </p:nvSpPr>
          <p:spPr>
            <a:xfrm>
              <a:off x="6039345" y="2251710"/>
              <a:ext cx="26570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321</a:t>
              </a:r>
            </a:p>
          </p:txBody>
        </p:sp>
        <p:sp>
          <p:nvSpPr>
            <p:cNvPr id="30" name="TextBox 31">
              <a:extLst>
                <a:ext uri="{FF2B5EF4-FFF2-40B4-BE49-F238E27FC236}">
                  <a16:creationId xmlns:a16="http://schemas.microsoft.com/office/drawing/2014/main" id="{FB6441C6-4B50-2BE4-D9F7-8ABBBD9D8344}"/>
                </a:ext>
              </a:extLst>
            </p:cNvPr>
            <p:cNvSpPr txBox="1"/>
            <p:nvPr/>
          </p:nvSpPr>
          <p:spPr>
            <a:xfrm>
              <a:off x="5848921" y="4232910"/>
              <a:ext cx="6465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[70-75)</a:t>
              </a:r>
            </a:p>
          </p:txBody>
        </p:sp>
        <p:sp>
          <p:nvSpPr>
            <p:cNvPr id="31" name="Rectangle 32">
              <a:extLst>
                <a:ext uri="{FF2B5EF4-FFF2-40B4-BE49-F238E27FC236}">
                  <a16:creationId xmlns:a16="http://schemas.microsoft.com/office/drawing/2014/main" id="{BF84517C-3DEE-5F4F-CE26-F5B5644E4923}"/>
                </a:ext>
              </a:extLst>
            </p:cNvPr>
            <p:cNvSpPr/>
            <p:nvPr/>
          </p:nvSpPr>
          <p:spPr>
            <a:xfrm>
              <a:off x="6934200" y="1781175"/>
              <a:ext cx="1143000" cy="2409825"/>
            </a:xfrm>
            <a:prstGeom prst="roundRect">
              <a:avLst>
                <a:gd name="adj" fmla="val 1667"/>
              </a:avLst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32" name="TextBox 33">
              <a:extLst>
                <a:ext uri="{FF2B5EF4-FFF2-40B4-BE49-F238E27FC236}">
                  <a16:creationId xmlns:a16="http://schemas.microsoft.com/office/drawing/2014/main" id="{E0D16608-7FE3-E75C-207D-AFD5232C9815}"/>
                </a:ext>
              </a:extLst>
            </p:cNvPr>
            <p:cNvSpPr txBox="1"/>
            <p:nvPr/>
          </p:nvSpPr>
          <p:spPr>
            <a:xfrm>
              <a:off x="7372845" y="1556385"/>
              <a:ext cx="26570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451</a:t>
              </a:r>
            </a:p>
          </p:txBody>
        </p:sp>
        <p:sp>
          <p:nvSpPr>
            <p:cNvPr id="33" name="TextBox 34">
              <a:extLst>
                <a:ext uri="{FF2B5EF4-FFF2-40B4-BE49-F238E27FC236}">
                  <a16:creationId xmlns:a16="http://schemas.microsoft.com/office/drawing/2014/main" id="{12097906-FC37-28A5-5323-0EB9B1631912}"/>
                </a:ext>
              </a:extLst>
            </p:cNvPr>
            <p:cNvSpPr txBox="1"/>
            <p:nvPr/>
          </p:nvSpPr>
          <p:spPr>
            <a:xfrm>
              <a:off x="7167020" y="4232910"/>
              <a:ext cx="6773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[75-80)</a:t>
              </a: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575FD534-AC32-8B74-330A-45BE6D887526}"/>
                </a:ext>
              </a:extLst>
            </p:cNvPr>
            <p:cNvSpPr/>
            <p:nvPr/>
          </p:nvSpPr>
          <p:spPr>
            <a:xfrm>
              <a:off x="8267700" y="2162175"/>
              <a:ext cx="1143000" cy="2028825"/>
            </a:xfrm>
            <a:prstGeom prst="roundRect">
              <a:avLst>
                <a:gd name="adj" fmla="val 1667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35" name="TextBox 36">
              <a:extLst>
                <a:ext uri="{FF2B5EF4-FFF2-40B4-BE49-F238E27FC236}">
                  <a16:creationId xmlns:a16="http://schemas.microsoft.com/office/drawing/2014/main" id="{74B1A959-8F62-3E8B-1638-B85AF1EDDE48}"/>
                </a:ext>
              </a:extLst>
            </p:cNvPr>
            <p:cNvSpPr txBox="1"/>
            <p:nvPr/>
          </p:nvSpPr>
          <p:spPr>
            <a:xfrm>
              <a:off x="8685343" y="1937385"/>
              <a:ext cx="30771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380</a:t>
              </a:r>
            </a:p>
          </p:txBody>
        </p:sp>
        <p:sp>
          <p:nvSpPr>
            <p:cNvPr id="36" name="TextBox 37">
              <a:extLst>
                <a:ext uri="{FF2B5EF4-FFF2-40B4-BE49-F238E27FC236}">
                  <a16:creationId xmlns:a16="http://schemas.microsoft.com/office/drawing/2014/main" id="{A9B6CD0F-F143-A3BD-61CD-1998A204B2B9}"/>
                </a:ext>
              </a:extLst>
            </p:cNvPr>
            <p:cNvSpPr txBox="1"/>
            <p:nvPr/>
          </p:nvSpPr>
          <p:spPr>
            <a:xfrm>
              <a:off x="8515922" y="4232910"/>
              <a:ext cx="6465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[80-85)</a:t>
              </a:r>
            </a:p>
          </p:txBody>
        </p:sp>
        <p:sp>
          <p:nvSpPr>
            <p:cNvPr id="37" name="Rectangle 38">
              <a:extLst>
                <a:ext uri="{FF2B5EF4-FFF2-40B4-BE49-F238E27FC236}">
                  <a16:creationId xmlns:a16="http://schemas.microsoft.com/office/drawing/2014/main" id="{29140730-8756-03C4-301F-158609479D85}"/>
                </a:ext>
              </a:extLst>
            </p:cNvPr>
            <p:cNvSpPr/>
            <p:nvPr/>
          </p:nvSpPr>
          <p:spPr>
            <a:xfrm>
              <a:off x="9601200" y="3762375"/>
              <a:ext cx="1143000" cy="428625"/>
            </a:xfrm>
            <a:prstGeom prst="roundRect">
              <a:avLst>
                <a:gd name="adj" fmla="val 4444"/>
              </a:avLst>
            </a:prstGeom>
            <a:solidFill>
              <a:srgbClr val="44546A">
                <a:alpha val="70000"/>
              </a:srgbClr>
            </a:solidFill>
            <a:ln>
              <a:noFill/>
            </a:ln>
          </p:spPr>
        </p:sp>
        <p:sp>
          <p:nvSpPr>
            <p:cNvPr id="38" name="TextBox 39">
              <a:extLst>
                <a:ext uri="{FF2B5EF4-FFF2-40B4-BE49-F238E27FC236}">
                  <a16:creationId xmlns:a16="http://schemas.microsoft.com/office/drawing/2014/main" id="{9E2DDB3B-3907-869E-D0BA-22C06C016D5E}"/>
                </a:ext>
              </a:extLst>
            </p:cNvPr>
            <p:cNvSpPr txBox="1"/>
            <p:nvPr/>
          </p:nvSpPr>
          <p:spPr>
            <a:xfrm>
              <a:off x="10086051" y="3537585"/>
              <a:ext cx="17329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81</a:t>
              </a:r>
            </a:p>
          </p:txBody>
        </p:sp>
        <p:sp>
          <p:nvSpPr>
            <p:cNvPr id="39" name="TextBox 40">
              <a:extLst>
                <a:ext uri="{FF2B5EF4-FFF2-40B4-BE49-F238E27FC236}">
                  <a16:creationId xmlns:a16="http://schemas.microsoft.com/office/drawing/2014/main" id="{DE868EFC-C4F9-B9B1-FFBF-B0C85AED571A}"/>
                </a:ext>
              </a:extLst>
            </p:cNvPr>
            <p:cNvSpPr txBox="1"/>
            <p:nvPr/>
          </p:nvSpPr>
          <p:spPr>
            <a:xfrm>
              <a:off x="9849422" y="4232910"/>
              <a:ext cx="6465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[85-90)</a:t>
              </a:r>
            </a:p>
          </p:txBody>
        </p:sp>
      </p:grpSp>
      <p:grpSp>
        <p:nvGrpSpPr>
          <p:cNvPr id="40" name="Group 57">
            <a:extLst>
              <a:ext uri="{FF2B5EF4-FFF2-40B4-BE49-F238E27FC236}">
                <a16:creationId xmlns:a16="http://schemas.microsoft.com/office/drawing/2014/main" id="{35E06EDC-C8C4-D30C-B6D2-0A3A16CF06B7}"/>
              </a:ext>
            </a:extLst>
          </p:cNvPr>
          <p:cNvGrpSpPr/>
          <p:nvPr/>
        </p:nvGrpSpPr>
        <p:grpSpPr>
          <a:xfrm>
            <a:off x="685800" y="4667250"/>
            <a:ext cx="10820400" cy="1047750"/>
            <a:chOff x="685800" y="4667250"/>
            <a:chExt cx="10820400" cy="1047750"/>
          </a:xfrm>
        </p:grpSpPr>
        <p:sp>
          <p:nvSpPr>
            <p:cNvPr id="41" name="Rectangle 42">
              <a:extLst>
                <a:ext uri="{FF2B5EF4-FFF2-40B4-BE49-F238E27FC236}">
                  <a16:creationId xmlns:a16="http://schemas.microsoft.com/office/drawing/2014/main" id="{0F9D3619-0BBD-FB9B-2D06-F401F4F0CDA9}"/>
                </a:ext>
              </a:extLst>
            </p:cNvPr>
            <p:cNvSpPr/>
            <p:nvPr/>
          </p:nvSpPr>
          <p:spPr>
            <a:xfrm>
              <a:off x="685800" y="4667250"/>
              <a:ext cx="10820400" cy="1047750"/>
            </a:xfrm>
            <a:prstGeom prst="roundRect">
              <a:avLst>
                <a:gd name="adj" fmla="val 7273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42" name="TextBox 43">
              <a:extLst>
                <a:ext uri="{FF2B5EF4-FFF2-40B4-BE49-F238E27FC236}">
                  <a16:creationId xmlns:a16="http://schemas.microsoft.com/office/drawing/2014/main" id="{63953D6A-84A6-77C1-EAA7-8465D892DEE5}"/>
                </a:ext>
              </a:extLst>
            </p:cNvPr>
            <p:cNvSpPr txBox="1"/>
            <p:nvPr/>
          </p:nvSpPr>
          <p:spPr>
            <a:xfrm>
              <a:off x="1013460" y="4730471"/>
              <a:ext cx="359073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均值</a:t>
              </a:r>
            </a:p>
          </p:txBody>
        </p:sp>
        <p:sp>
          <p:nvSpPr>
            <p:cNvPr id="43" name="TextBox 44">
              <a:extLst>
                <a:ext uri="{FF2B5EF4-FFF2-40B4-BE49-F238E27FC236}">
                  <a16:creationId xmlns:a16="http://schemas.microsoft.com/office/drawing/2014/main" id="{09C5BBDE-CF24-7F6E-B49D-55F8FD56C820}"/>
                </a:ext>
              </a:extLst>
            </p:cNvPr>
            <p:cNvSpPr txBox="1"/>
            <p:nvPr/>
          </p:nvSpPr>
          <p:spPr>
            <a:xfrm>
              <a:off x="1000763" y="4982237"/>
              <a:ext cx="656480" cy="4469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71.0</a:t>
              </a:r>
            </a:p>
          </p:txBody>
        </p:sp>
        <p:sp>
          <p:nvSpPr>
            <p:cNvPr id="44" name="TextBox 45">
              <a:extLst>
                <a:ext uri="{FF2B5EF4-FFF2-40B4-BE49-F238E27FC236}">
                  <a16:creationId xmlns:a16="http://schemas.microsoft.com/office/drawing/2014/main" id="{6B1EF065-2F62-246D-FBBE-B292BDC79CDB}"/>
                </a:ext>
              </a:extLst>
            </p:cNvPr>
            <p:cNvSpPr txBox="1"/>
            <p:nvPr/>
          </p:nvSpPr>
          <p:spPr>
            <a:xfrm>
              <a:off x="2346960" y="4730471"/>
              <a:ext cx="538609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中位数</a:t>
              </a:r>
            </a:p>
          </p:txBody>
        </p:sp>
        <p:sp>
          <p:nvSpPr>
            <p:cNvPr id="45" name="TextBox 46">
              <a:extLst>
                <a:ext uri="{FF2B5EF4-FFF2-40B4-BE49-F238E27FC236}">
                  <a16:creationId xmlns:a16="http://schemas.microsoft.com/office/drawing/2014/main" id="{D01E6AE5-4CBB-8D6C-A84A-5B9D2F73F8FF}"/>
                </a:ext>
              </a:extLst>
            </p:cNvPr>
            <p:cNvSpPr txBox="1"/>
            <p:nvPr/>
          </p:nvSpPr>
          <p:spPr>
            <a:xfrm>
              <a:off x="2334263" y="4982237"/>
              <a:ext cx="733481" cy="4469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74.5</a:t>
              </a:r>
            </a:p>
          </p:txBody>
        </p:sp>
        <p:sp>
          <p:nvSpPr>
            <p:cNvPr id="46" name="TextBox 47">
              <a:extLst>
                <a:ext uri="{FF2B5EF4-FFF2-40B4-BE49-F238E27FC236}">
                  <a16:creationId xmlns:a16="http://schemas.microsoft.com/office/drawing/2014/main" id="{AC127237-23A1-5FAA-46CE-B2B15B65521C}"/>
                </a:ext>
              </a:extLst>
            </p:cNvPr>
            <p:cNvSpPr txBox="1"/>
            <p:nvPr/>
          </p:nvSpPr>
          <p:spPr>
            <a:xfrm>
              <a:off x="3870960" y="4730471"/>
              <a:ext cx="718145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峰值区间</a:t>
              </a:r>
            </a:p>
          </p:txBody>
        </p:sp>
        <p:sp>
          <p:nvSpPr>
            <p:cNvPr id="47" name="TextBox 48">
              <a:extLst>
                <a:ext uri="{FF2B5EF4-FFF2-40B4-BE49-F238E27FC236}">
                  <a16:creationId xmlns:a16="http://schemas.microsoft.com/office/drawing/2014/main" id="{B0B8143E-40BD-FB31-15D5-41C0C255C7FB}"/>
                </a:ext>
              </a:extLst>
            </p:cNvPr>
            <p:cNvSpPr txBox="1"/>
            <p:nvPr/>
          </p:nvSpPr>
          <p:spPr>
            <a:xfrm>
              <a:off x="3858263" y="4982237"/>
              <a:ext cx="902883" cy="4469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75-80</a:t>
              </a:r>
            </a:p>
          </p:txBody>
        </p:sp>
        <p:sp>
          <p:nvSpPr>
            <p:cNvPr id="48" name="TextBox 49">
              <a:extLst>
                <a:ext uri="{FF2B5EF4-FFF2-40B4-BE49-F238E27FC236}">
                  <a16:creationId xmlns:a16="http://schemas.microsoft.com/office/drawing/2014/main" id="{0ED4B5F0-28E8-93B0-1ECC-2FDC929ECE2B}"/>
                </a:ext>
              </a:extLst>
            </p:cNvPr>
            <p:cNvSpPr txBox="1"/>
            <p:nvPr/>
          </p:nvSpPr>
          <p:spPr>
            <a:xfrm>
              <a:off x="4820917" y="5068543"/>
              <a:ext cx="754451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(23.5%)</a:t>
              </a:r>
            </a:p>
          </p:txBody>
        </p:sp>
        <p:sp>
          <p:nvSpPr>
            <p:cNvPr id="49" name="TextBox 50">
              <a:extLst>
                <a:ext uri="{FF2B5EF4-FFF2-40B4-BE49-F238E27FC236}">
                  <a16:creationId xmlns:a16="http://schemas.microsoft.com/office/drawing/2014/main" id="{A23E0C91-8B31-E5BA-E5FE-4F0D7AAF156C}"/>
                </a:ext>
              </a:extLst>
            </p:cNvPr>
            <p:cNvSpPr txBox="1"/>
            <p:nvPr/>
          </p:nvSpPr>
          <p:spPr>
            <a:xfrm>
              <a:off x="5890260" y="4730471"/>
              <a:ext cx="538609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标准差</a:t>
              </a:r>
            </a:p>
          </p:txBody>
        </p:sp>
        <p:sp>
          <p:nvSpPr>
            <p:cNvPr id="50" name="TextBox 51">
              <a:extLst>
                <a:ext uri="{FF2B5EF4-FFF2-40B4-BE49-F238E27FC236}">
                  <a16:creationId xmlns:a16="http://schemas.microsoft.com/office/drawing/2014/main" id="{A85DFB2A-AAF6-A3C0-2796-F78C73D065B0}"/>
                </a:ext>
              </a:extLst>
            </p:cNvPr>
            <p:cNvSpPr txBox="1"/>
            <p:nvPr/>
          </p:nvSpPr>
          <p:spPr>
            <a:xfrm>
              <a:off x="5877563" y="4982237"/>
              <a:ext cx="579480" cy="4469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12.1</a:t>
              </a:r>
            </a:p>
          </p:txBody>
        </p:sp>
        <p:sp>
          <p:nvSpPr>
            <p:cNvPr id="51" name="TextBox 52">
              <a:extLst>
                <a:ext uri="{FF2B5EF4-FFF2-40B4-BE49-F238E27FC236}">
                  <a16:creationId xmlns:a16="http://schemas.microsoft.com/office/drawing/2014/main" id="{4C535C16-CB41-E12A-0BC9-9031CE6E6F40}"/>
                </a:ext>
              </a:extLst>
            </p:cNvPr>
            <p:cNvSpPr txBox="1"/>
            <p:nvPr/>
          </p:nvSpPr>
          <p:spPr>
            <a:xfrm>
              <a:off x="7223760" y="4730471"/>
              <a:ext cx="1224694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70-85 区间占比</a:t>
              </a:r>
            </a:p>
          </p:txBody>
        </p:sp>
        <p:sp>
          <p:nvSpPr>
            <p:cNvPr id="52" name="TextBox 53">
              <a:extLst>
                <a:ext uri="{FF2B5EF4-FFF2-40B4-BE49-F238E27FC236}">
                  <a16:creationId xmlns:a16="http://schemas.microsoft.com/office/drawing/2014/main" id="{FE0CE91F-429C-B052-7626-123F2AE55741}"/>
                </a:ext>
              </a:extLst>
            </p:cNvPr>
            <p:cNvSpPr txBox="1"/>
            <p:nvPr/>
          </p:nvSpPr>
          <p:spPr>
            <a:xfrm>
              <a:off x="7211063" y="4982237"/>
              <a:ext cx="902883" cy="4469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60.0%</a:t>
              </a:r>
            </a:p>
          </p:txBody>
        </p:sp>
        <p:sp>
          <p:nvSpPr>
            <p:cNvPr id="53" name="TextBox 54">
              <a:extLst>
                <a:ext uri="{FF2B5EF4-FFF2-40B4-BE49-F238E27FC236}">
                  <a16:creationId xmlns:a16="http://schemas.microsoft.com/office/drawing/2014/main" id="{D9C89FAA-3F9A-998E-1618-C7E7A2F5AB09}"/>
                </a:ext>
              </a:extLst>
            </p:cNvPr>
            <p:cNvSpPr txBox="1"/>
            <p:nvPr/>
          </p:nvSpPr>
          <p:spPr>
            <a:xfrm>
              <a:off x="9128760" y="4730471"/>
              <a:ext cx="1405834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R1→R2 均分变化</a:t>
              </a:r>
            </a:p>
          </p:txBody>
        </p:sp>
        <p:sp>
          <p:nvSpPr>
            <p:cNvPr id="54" name="TextBox 55">
              <a:extLst>
                <a:ext uri="{FF2B5EF4-FFF2-40B4-BE49-F238E27FC236}">
                  <a16:creationId xmlns:a16="http://schemas.microsoft.com/office/drawing/2014/main" id="{E0D71885-0576-4A5F-59B0-AC12CB1848BA}"/>
                </a:ext>
              </a:extLst>
            </p:cNvPr>
            <p:cNvSpPr txBox="1"/>
            <p:nvPr/>
          </p:nvSpPr>
          <p:spPr>
            <a:xfrm>
              <a:off x="9116063" y="4982237"/>
              <a:ext cx="1349488" cy="4469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71.1→71.0</a:t>
              </a:r>
            </a:p>
          </p:txBody>
        </p:sp>
        <p:sp>
          <p:nvSpPr>
            <p:cNvPr id="55" name="TextBox 56">
              <a:extLst>
                <a:ext uri="{FF2B5EF4-FFF2-40B4-BE49-F238E27FC236}">
                  <a16:creationId xmlns:a16="http://schemas.microsoft.com/office/drawing/2014/main" id="{39288585-173B-E264-C7D4-44007C63C36E}"/>
                </a:ext>
              </a:extLst>
            </p:cNvPr>
            <p:cNvSpPr txBox="1"/>
            <p:nvPr/>
          </p:nvSpPr>
          <p:spPr>
            <a:xfrm>
              <a:off x="1013460" y="5445006"/>
              <a:ext cx="8024633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加权总分 = 创新性×30% + 洞察度×20% + 建构力×15% + 连贯性×20% + 共识度×10% + 延展性×5%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40426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1C62F9-5A85-CDE8-C8C9-F46E362BB4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21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8C6C5-3D96-0265-40E6-A252EDA151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D7688E-C8AC-983C-8B4F-453F2A613B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2F4738-388D-6AF0-DD42-063432EEEB8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FF"/>
                </a:solidFill>
                <a:ea typeface="Microsoft YaHei"/>
                <a:cs typeface="Arial"/>
              </a:rPr>
              <a:t>E1</a:t>
            </a:r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 各模型评分特征画像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3152C185-CD58-B566-BA3A-F719E09E7891}"/>
              </a:ext>
            </a:extLst>
          </p:cNvPr>
          <p:cNvSpPr txBox="1"/>
          <p:nvPr/>
        </p:nvSpPr>
        <p:spPr>
          <a:xfrm>
            <a:off x="3293952" y="1006051"/>
            <a:ext cx="5604098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基于 1920 篇 R2 评分统计（46,080 个模型-维度评分）</a:t>
            </a:r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DC92919F-90FB-E277-98FB-D146E65F8DC5}"/>
              </a:ext>
            </a:extLst>
          </p:cNvPr>
          <p:cNvSpPr/>
          <p:nvPr/>
        </p:nvSpPr>
        <p:spPr>
          <a:xfrm>
            <a:off x="685800" y="1409700"/>
            <a:ext cx="10820400" cy="381000"/>
          </a:xfrm>
          <a:prstGeom prst="roundRect">
            <a:avLst>
              <a:gd name="adj" fmla="val 10000"/>
            </a:avLst>
          </a:prstGeom>
          <a:solidFill>
            <a:srgbClr val="1F4D78"/>
          </a:solidFill>
          <a:ln>
            <a:noFill/>
          </a:ln>
        </p:spPr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F5DB9EC2-6F4D-D1BB-1401-95B2A68FB100}"/>
              </a:ext>
            </a:extLst>
          </p:cNvPr>
          <p:cNvSpPr txBox="1"/>
          <p:nvPr/>
        </p:nvSpPr>
        <p:spPr>
          <a:xfrm>
            <a:off x="1391917" y="1475197"/>
            <a:ext cx="410369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模型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678382CB-B1E6-D5C1-8ADD-CFE04B70872F}"/>
              </a:ext>
            </a:extLst>
          </p:cNvPr>
          <p:cNvSpPr txBox="1"/>
          <p:nvPr/>
        </p:nvSpPr>
        <p:spPr>
          <a:xfrm>
            <a:off x="3116750" y="1475197"/>
            <a:ext cx="410369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组别</a:t>
            </a: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D378B846-F7C0-7396-E0F7-7460DC8552BF}"/>
              </a:ext>
            </a:extLst>
          </p:cNvPr>
          <p:cNvSpPr txBox="1"/>
          <p:nvPr/>
        </p:nvSpPr>
        <p:spPr>
          <a:xfrm>
            <a:off x="4450250" y="1475197"/>
            <a:ext cx="410369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均值</a:t>
            </a: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A9DAD5CC-8DCC-D82C-1542-98DFE04650FF}"/>
              </a:ext>
            </a:extLst>
          </p:cNvPr>
          <p:cNvSpPr txBox="1"/>
          <p:nvPr/>
        </p:nvSpPr>
        <p:spPr>
          <a:xfrm>
            <a:off x="5593250" y="1475197"/>
            <a:ext cx="307777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std</a:t>
            </a:r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B50FCD87-1E91-48BC-F937-46539D7AD74A}"/>
              </a:ext>
            </a:extLst>
          </p:cNvPr>
          <p:cNvSpPr txBox="1"/>
          <p:nvPr/>
        </p:nvSpPr>
        <p:spPr>
          <a:xfrm>
            <a:off x="6523795" y="1475197"/>
            <a:ext cx="1025922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最高分占比</a:t>
            </a:r>
          </a:p>
        </p:txBody>
      </p:sp>
      <p:sp>
        <p:nvSpPr>
          <p:cNvPr id="14" name="TextBox 15">
            <a:extLst>
              <a:ext uri="{FF2B5EF4-FFF2-40B4-BE49-F238E27FC236}">
                <a16:creationId xmlns:a16="http://schemas.microsoft.com/office/drawing/2014/main" id="{8F4C2177-8BE4-041C-0412-5F14611D312A}"/>
              </a:ext>
            </a:extLst>
          </p:cNvPr>
          <p:cNvSpPr txBox="1"/>
          <p:nvPr/>
        </p:nvSpPr>
        <p:spPr>
          <a:xfrm>
            <a:off x="8191801" y="1475197"/>
            <a:ext cx="1025922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最低分占比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26BDF012-FE63-B72B-2646-364C3628E31E}"/>
              </a:ext>
            </a:extLst>
          </p:cNvPr>
          <p:cNvSpPr txBox="1"/>
          <p:nvPr/>
        </p:nvSpPr>
        <p:spPr>
          <a:xfrm>
            <a:off x="9859806" y="1475197"/>
            <a:ext cx="427685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特征</a:t>
            </a:r>
          </a:p>
        </p:txBody>
      </p:sp>
      <p:sp>
        <p:nvSpPr>
          <p:cNvPr id="16" name="Rectangle 17">
            <a:extLst>
              <a:ext uri="{FF2B5EF4-FFF2-40B4-BE49-F238E27FC236}">
                <a16:creationId xmlns:a16="http://schemas.microsoft.com/office/drawing/2014/main" id="{A40D6889-0AF0-BCE1-9075-9CCBD7B6C35D}"/>
              </a:ext>
            </a:extLst>
          </p:cNvPr>
          <p:cNvSpPr/>
          <p:nvPr/>
        </p:nvSpPr>
        <p:spPr>
          <a:xfrm>
            <a:off x="685800" y="1790700"/>
            <a:ext cx="10820400" cy="495300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19CA3C9C-74BD-E63C-C965-3B4C1C749206}"/>
              </a:ext>
            </a:extLst>
          </p:cNvPr>
          <p:cNvSpPr txBox="1"/>
          <p:nvPr/>
        </p:nvSpPr>
        <p:spPr>
          <a:xfrm>
            <a:off x="1035456" y="1944343"/>
            <a:ext cx="1707199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DeepSeek-V4-Pro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DA4DF36A-A119-24B6-3CFD-9529079CA7B3}"/>
              </a:ext>
            </a:extLst>
          </p:cNvPr>
          <p:cNvSpPr txBox="1"/>
          <p:nvPr/>
        </p:nvSpPr>
        <p:spPr>
          <a:xfrm>
            <a:off x="3116750" y="1944343"/>
            <a:ext cx="956993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B（严格）</a:t>
            </a:r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97D0CFD1-0AD1-3276-2FE1-5D59B4EA7E63}"/>
              </a:ext>
            </a:extLst>
          </p:cNvPr>
          <p:cNvSpPr txBox="1"/>
          <p:nvPr/>
        </p:nvSpPr>
        <p:spPr>
          <a:xfrm>
            <a:off x="4450250" y="1944343"/>
            <a:ext cx="39914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C8161E"/>
                </a:solidFill>
                <a:latin typeface="Arial"/>
                <a:ea typeface="Microsoft YaHei"/>
                <a:cs typeface="Arial"/>
              </a:rPr>
              <a:t>68.3</a:t>
            </a:r>
          </a:p>
        </p:txBody>
      </p:sp>
      <p:sp>
        <p:nvSpPr>
          <p:cNvPr id="20" name="TextBox 21">
            <a:extLst>
              <a:ext uri="{FF2B5EF4-FFF2-40B4-BE49-F238E27FC236}">
                <a16:creationId xmlns:a16="http://schemas.microsoft.com/office/drawing/2014/main" id="{FF2C63FA-E561-92E5-00CB-A180141C3BC8}"/>
              </a:ext>
            </a:extLst>
          </p:cNvPr>
          <p:cNvSpPr txBox="1"/>
          <p:nvPr/>
        </p:nvSpPr>
        <p:spPr>
          <a:xfrm>
            <a:off x="5593250" y="1944343"/>
            <a:ext cx="39914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21.8</a:t>
            </a:r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756BB47D-3817-8B74-45EB-9D4A1D1C678A}"/>
              </a:ext>
            </a:extLst>
          </p:cNvPr>
          <p:cNvSpPr txBox="1"/>
          <p:nvPr/>
        </p:nvSpPr>
        <p:spPr>
          <a:xfrm>
            <a:off x="6523795" y="1944343"/>
            <a:ext cx="581891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12.6%</a:t>
            </a:r>
          </a:p>
        </p:txBody>
      </p:sp>
      <p:sp>
        <p:nvSpPr>
          <p:cNvPr id="22" name="TextBox 23">
            <a:extLst>
              <a:ext uri="{FF2B5EF4-FFF2-40B4-BE49-F238E27FC236}">
                <a16:creationId xmlns:a16="http://schemas.microsoft.com/office/drawing/2014/main" id="{1A5012E7-6059-8D17-670A-AC239C749FF9}"/>
              </a:ext>
            </a:extLst>
          </p:cNvPr>
          <p:cNvSpPr txBox="1"/>
          <p:nvPr/>
        </p:nvSpPr>
        <p:spPr>
          <a:xfrm>
            <a:off x="8191801" y="1944343"/>
            <a:ext cx="581891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C8161E"/>
                </a:solidFill>
                <a:latin typeface="Arial"/>
                <a:ea typeface="Microsoft YaHei"/>
                <a:cs typeface="Arial"/>
              </a:rPr>
              <a:t>62.3%</a:t>
            </a:r>
          </a:p>
        </p:txBody>
      </p:sp>
      <p:sp>
        <p:nvSpPr>
          <p:cNvPr id="23" name="TextBox 24">
            <a:extLst>
              <a:ext uri="{FF2B5EF4-FFF2-40B4-BE49-F238E27FC236}">
                <a16:creationId xmlns:a16="http://schemas.microsoft.com/office/drawing/2014/main" id="{9BFEC6C6-D704-9B5B-875D-4C077BDF4C2D}"/>
              </a:ext>
            </a:extLst>
          </p:cNvPr>
          <p:cNvSpPr txBox="1"/>
          <p:nvPr/>
        </p:nvSpPr>
        <p:spPr>
          <a:xfrm>
            <a:off x="9738364" y="1965960"/>
            <a:ext cx="1436291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最严格，波动最大</a:t>
            </a:r>
          </a:p>
        </p:txBody>
      </p:sp>
      <p:sp>
        <p:nvSpPr>
          <p:cNvPr id="24" name="Rectangle 25">
            <a:extLst>
              <a:ext uri="{FF2B5EF4-FFF2-40B4-BE49-F238E27FC236}">
                <a16:creationId xmlns:a16="http://schemas.microsoft.com/office/drawing/2014/main" id="{9FC516D1-514E-DF07-537C-94DE6C4DA860}"/>
              </a:ext>
            </a:extLst>
          </p:cNvPr>
          <p:cNvSpPr/>
          <p:nvPr/>
        </p:nvSpPr>
        <p:spPr>
          <a:xfrm>
            <a:off x="685800" y="2286000"/>
            <a:ext cx="108204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" name="TextBox 26">
            <a:extLst>
              <a:ext uri="{FF2B5EF4-FFF2-40B4-BE49-F238E27FC236}">
                <a16:creationId xmlns:a16="http://schemas.microsoft.com/office/drawing/2014/main" id="{33840676-9742-0D59-D0BF-C5B064AB57A2}"/>
              </a:ext>
            </a:extLst>
          </p:cNvPr>
          <p:cNvSpPr txBox="1"/>
          <p:nvPr/>
        </p:nvSpPr>
        <p:spPr>
          <a:xfrm>
            <a:off x="1035456" y="2439643"/>
            <a:ext cx="811119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GLM-5.1</a:t>
            </a:r>
          </a:p>
        </p:txBody>
      </p:sp>
      <p:sp>
        <p:nvSpPr>
          <p:cNvPr id="26" name="TextBox 27">
            <a:extLst>
              <a:ext uri="{FF2B5EF4-FFF2-40B4-BE49-F238E27FC236}">
                <a16:creationId xmlns:a16="http://schemas.microsoft.com/office/drawing/2014/main" id="{1F8D8F8F-6B7D-2C72-B4F9-640542DC4734}"/>
              </a:ext>
            </a:extLst>
          </p:cNvPr>
          <p:cNvSpPr txBox="1"/>
          <p:nvPr/>
        </p:nvSpPr>
        <p:spPr>
          <a:xfrm>
            <a:off x="3116750" y="2439643"/>
            <a:ext cx="956993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A（宽松）</a:t>
            </a:r>
          </a:p>
        </p:txBody>
      </p:sp>
      <p:sp>
        <p:nvSpPr>
          <p:cNvPr id="27" name="TextBox 28">
            <a:extLst>
              <a:ext uri="{FF2B5EF4-FFF2-40B4-BE49-F238E27FC236}">
                <a16:creationId xmlns:a16="http://schemas.microsoft.com/office/drawing/2014/main" id="{1F08BD26-6653-F4DE-39C5-F0F17726E96C}"/>
              </a:ext>
            </a:extLst>
          </p:cNvPr>
          <p:cNvSpPr txBox="1"/>
          <p:nvPr/>
        </p:nvSpPr>
        <p:spPr>
          <a:xfrm>
            <a:off x="4450250" y="2439643"/>
            <a:ext cx="39914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71.5</a:t>
            </a:r>
          </a:p>
        </p:txBody>
      </p:sp>
      <p:sp>
        <p:nvSpPr>
          <p:cNvPr id="28" name="TextBox 29">
            <a:extLst>
              <a:ext uri="{FF2B5EF4-FFF2-40B4-BE49-F238E27FC236}">
                <a16:creationId xmlns:a16="http://schemas.microsoft.com/office/drawing/2014/main" id="{FCA04EF1-4F41-9424-9D0C-3DEE1802007F}"/>
              </a:ext>
            </a:extLst>
          </p:cNvPr>
          <p:cNvSpPr txBox="1"/>
          <p:nvPr/>
        </p:nvSpPr>
        <p:spPr>
          <a:xfrm>
            <a:off x="5593250" y="2439643"/>
            <a:ext cx="39914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17.1</a:t>
            </a:r>
          </a:p>
        </p:txBody>
      </p:sp>
      <p:sp>
        <p:nvSpPr>
          <p:cNvPr id="29" name="TextBox 30">
            <a:extLst>
              <a:ext uri="{FF2B5EF4-FFF2-40B4-BE49-F238E27FC236}">
                <a16:creationId xmlns:a16="http://schemas.microsoft.com/office/drawing/2014/main" id="{0AF36F46-4E48-5440-400A-48DAF5F927BD}"/>
              </a:ext>
            </a:extLst>
          </p:cNvPr>
          <p:cNvSpPr txBox="1"/>
          <p:nvPr/>
        </p:nvSpPr>
        <p:spPr>
          <a:xfrm>
            <a:off x="6523795" y="2439643"/>
            <a:ext cx="468077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8.6%</a:t>
            </a:r>
          </a:p>
        </p:txBody>
      </p:sp>
      <p:sp>
        <p:nvSpPr>
          <p:cNvPr id="30" name="TextBox 31">
            <a:extLst>
              <a:ext uri="{FF2B5EF4-FFF2-40B4-BE49-F238E27FC236}">
                <a16:creationId xmlns:a16="http://schemas.microsoft.com/office/drawing/2014/main" id="{584AEF53-7496-8ADE-B568-493F913242D6}"/>
              </a:ext>
            </a:extLst>
          </p:cNvPr>
          <p:cNvSpPr txBox="1"/>
          <p:nvPr/>
        </p:nvSpPr>
        <p:spPr>
          <a:xfrm>
            <a:off x="8191801" y="2439643"/>
            <a:ext cx="581891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22.7%</a:t>
            </a:r>
          </a:p>
        </p:txBody>
      </p:sp>
      <p:sp>
        <p:nvSpPr>
          <p:cNvPr id="31" name="TextBox 32">
            <a:extLst>
              <a:ext uri="{FF2B5EF4-FFF2-40B4-BE49-F238E27FC236}">
                <a16:creationId xmlns:a16="http://schemas.microsoft.com/office/drawing/2014/main" id="{C8CA0B13-D154-DFFF-43BE-3DF9727FB3B2}"/>
              </a:ext>
            </a:extLst>
          </p:cNvPr>
          <p:cNvSpPr txBox="1"/>
          <p:nvPr/>
        </p:nvSpPr>
        <p:spPr>
          <a:xfrm>
            <a:off x="9738364" y="2461260"/>
            <a:ext cx="897682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居中偏宽松</a:t>
            </a:r>
          </a:p>
        </p:txBody>
      </p:sp>
      <p:sp>
        <p:nvSpPr>
          <p:cNvPr id="32" name="Rectangle 33">
            <a:extLst>
              <a:ext uri="{FF2B5EF4-FFF2-40B4-BE49-F238E27FC236}">
                <a16:creationId xmlns:a16="http://schemas.microsoft.com/office/drawing/2014/main" id="{9BE62EE9-D2B0-6775-60DF-D97121B43B42}"/>
              </a:ext>
            </a:extLst>
          </p:cNvPr>
          <p:cNvSpPr/>
          <p:nvPr/>
        </p:nvSpPr>
        <p:spPr>
          <a:xfrm>
            <a:off x="685800" y="2781300"/>
            <a:ext cx="10820400" cy="495300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33" name="TextBox 34">
            <a:extLst>
              <a:ext uri="{FF2B5EF4-FFF2-40B4-BE49-F238E27FC236}">
                <a16:creationId xmlns:a16="http://schemas.microsoft.com/office/drawing/2014/main" id="{54B2C09B-81BE-7D12-A76A-31246693F113}"/>
              </a:ext>
            </a:extLst>
          </p:cNvPr>
          <p:cNvSpPr txBox="1"/>
          <p:nvPr/>
        </p:nvSpPr>
        <p:spPr>
          <a:xfrm>
            <a:off x="1035456" y="2934943"/>
            <a:ext cx="947375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Kimi-K2.6</a:t>
            </a:r>
          </a:p>
        </p:txBody>
      </p:sp>
      <p:sp>
        <p:nvSpPr>
          <p:cNvPr id="34" name="TextBox 35">
            <a:extLst>
              <a:ext uri="{FF2B5EF4-FFF2-40B4-BE49-F238E27FC236}">
                <a16:creationId xmlns:a16="http://schemas.microsoft.com/office/drawing/2014/main" id="{233EBCDE-B032-4AE2-D84E-8FF9A4190039}"/>
              </a:ext>
            </a:extLst>
          </p:cNvPr>
          <p:cNvSpPr txBox="1"/>
          <p:nvPr/>
        </p:nvSpPr>
        <p:spPr>
          <a:xfrm>
            <a:off x="3116750" y="2934943"/>
            <a:ext cx="956993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B（严格）</a:t>
            </a:r>
          </a:p>
        </p:txBody>
      </p:sp>
      <p:sp>
        <p:nvSpPr>
          <p:cNvPr id="35" name="TextBox 36">
            <a:extLst>
              <a:ext uri="{FF2B5EF4-FFF2-40B4-BE49-F238E27FC236}">
                <a16:creationId xmlns:a16="http://schemas.microsoft.com/office/drawing/2014/main" id="{0DFFCB89-9026-C8DE-DA1B-FA975C419F75}"/>
              </a:ext>
            </a:extLst>
          </p:cNvPr>
          <p:cNvSpPr txBox="1"/>
          <p:nvPr/>
        </p:nvSpPr>
        <p:spPr>
          <a:xfrm>
            <a:off x="4450250" y="2934943"/>
            <a:ext cx="39914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73.2</a:t>
            </a:r>
          </a:p>
        </p:txBody>
      </p:sp>
      <p:sp>
        <p:nvSpPr>
          <p:cNvPr id="36" name="TextBox 37">
            <a:extLst>
              <a:ext uri="{FF2B5EF4-FFF2-40B4-BE49-F238E27FC236}">
                <a16:creationId xmlns:a16="http://schemas.microsoft.com/office/drawing/2014/main" id="{05263276-5F27-B220-0774-25711EF0B075}"/>
              </a:ext>
            </a:extLst>
          </p:cNvPr>
          <p:cNvSpPr txBox="1"/>
          <p:nvPr/>
        </p:nvSpPr>
        <p:spPr>
          <a:xfrm>
            <a:off x="5593250" y="2934943"/>
            <a:ext cx="39914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13.4</a:t>
            </a:r>
          </a:p>
        </p:txBody>
      </p:sp>
      <p:sp>
        <p:nvSpPr>
          <p:cNvPr id="37" name="TextBox 38">
            <a:extLst>
              <a:ext uri="{FF2B5EF4-FFF2-40B4-BE49-F238E27FC236}">
                <a16:creationId xmlns:a16="http://schemas.microsoft.com/office/drawing/2014/main" id="{E50FF955-52BF-982E-C77B-0127596B6712}"/>
              </a:ext>
            </a:extLst>
          </p:cNvPr>
          <p:cNvSpPr txBox="1"/>
          <p:nvPr/>
        </p:nvSpPr>
        <p:spPr>
          <a:xfrm>
            <a:off x="6523795" y="2934943"/>
            <a:ext cx="581891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22.2%</a:t>
            </a:r>
          </a:p>
        </p:txBody>
      </p:sp>
      <p:sp>
        <p:nvSpPr>
          <p:cNvPr id="38" name="TextBox 39">
            <a:extLst>
              <a:ext uri="{FF2B5EF4-FFF2-40B4-BE49-F238E27FC236}">
                <a16:creationId xmlns:a16="http://schemas.microsoft.com/office/drawing/2014/main" id="{F60A59E1-2EB7-9208-1237-AD83127AC620}"/>
              </a:ext>
            </a:extLst>
          </p:cNvPr>
          <p:cNvSpPr txBox="1"/>
          <p:nvPr/>
        </p:nvSpPr>
        <p:spPr>
          <a:xfrm>
            <a:off x="8191801" y="2934943"/>
            <a:ext cx="581891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13.0%</a:t>
            </a:r>
          </a:p>
        </p:txBody>
      </p:sp>
      <p:sp>
        <p:nvSpPr>
          <p:cNvPr id="39" name="TextBox 40">
            <a:extLst>
              <a:ext uri="{FF2B5EF4-FFF2-40B4-BE49-F238E27FC236}">
                <a16:creationId xmlns:a16="http://schemas.microsoft.com/office/drawing/2014/main" id="{A3BA5877-A39D-54B7-FC5F-DE7F92643ED5}"/>
              </a:ext>
            </a:extLst>
          </p:cNvPr>
          <p:cNvSpPr txBox="1"/>
          <p:nvPr/>
        </p:nvSpPr>
        <p:spPr>
          <a:xfrm>
            <a:off x="9738364" y="2956560"/>
            <a:ext cx="1077218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居中，最稳定</a:t>
            </a:r>
          </a:p>
        </p:txBody>
      </p:sp>
      <p:sp>
        <p:nvSpPr>
          <p:cNvPr id="40" name="Rectangle 41">
            <a:extLst>
              <a:ext uri="{FF2B5EF4-FFF2-40B4-BE49-F238E27FC236}">
                <a16:creationId xmlns:a16="http://schemas.microsoft.com/office/drawing/2014/main" id="{CF88333E-7D57-3813-58F8-F039CCC4A093}"/>
              </a:ext>
            </a:extLst>
          </p:cNvPr>
          <p:cNvSpPr/>
          <p:nvPr/>
        </p:nvSpPr>
        <p:spPr>
          <a:xfrm>
            <a:off x="685800" y="3276600"/>
            <a:ext cx="108204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1" name="TextBox 42">
            <a:extLst>
              <a:ext uri="{FF2B5EF4-FFF2-40B4-BE49-F238E27FC236}">
                <a16:creationId xmlns:a16="http://schemas.microsoft.com/office/drawing/2014/main" id="{A84246C5-60B5-471A-E3FA-0A21C972C8E0}"/>
              </a:ext>
            </a:extLst>
          </p:cNvPr>
          <p:cNvSpPr txBox="1"/>
          <p:nvPr/>
        </p:nvSpPr>
        <p:spPr>
          <a:xfrm>
            <a:off x="1035456" y="3430243"/>
            <a:ext cx="1346522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Qwen3.6-Plus</a:t>
            </a:r>
          </a:p>
        </p:txBody>
      </p:sp>
      <p:sp>
        <p:nvSpPr>
          <p:cNvPr id="42" name="TextBox 43">
            <a:extLst>
              <a:ext uri="{FF2B5EF4-FFF2-40B4-BE49-F238E27FC236}">
                <a16:creationId xmlns:a16="http://schemas.microsoft.com/office/drawing/2014/main" id="{70525BC7-5F73-BADF-FA7C-12C4FB6D6E03}"/>
              </a:ext>
            </a:extLst>
          </p:cNvPr>
          <p:cNvSpPr txBox="1"/>
          <p:nvPr/>
        </p:nvSpPr>
        <p:spPr>
          <a:xfrm>
            <a:off x="3116750" y="3430243"/>
            <a:ext cx="956993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A（宽松）</a:t>
            </a:r>
          </a:p>
        </p:txBody>
      </p:sp>
      <p:sp>
        <p:nvSpPr>
          <p:cNvPr id="43" name="TextBox 44">
            <a:extLst>
              <a:ext uri="{FF2B5EF4-FFF2-40B4-BE49-F238E27FC236}">
                <a16:creationId xmlns:a16="http://schemas.microsoft.com/office/drawing/2014/main" id="{A8874773-2CA4-9436-4804-11B332EE8096}"/>
              </a:ext>
            </a:extLst>
          </p:cNvPr>
          <p:cNvSpPr txBox="1"/>
          <p:nvPr/>
        </p:nvSpPr>
        <p:spPr>
          <a:xfrm>
            <a:off x="4450250" y="3430243"/>
            <a:ext cx="39914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75.1</a:t>
            </a:r>
          </a:p>
        </p:txBody>
      </p:sp>
      <p:sp>
        <p:nvSpPr>
          <p:cNvPr id="44" name="TextBox 45">
            <a:extLst>
              <a:ext uri="{FF2B5EF4-FFF2-40B4-BE49-F238E27FC236}">
                <a16:creationId xmlns:a16="http://schemas.microsoft.com/office/drawing/2014/main" id="{399B829C-8E09-E924-A470-76C359AEB780}"/>
              </a:ext>
            </a:extLst>
          </p:cNvPr>
          <p:cNvSpPr txBox="1"/>
          <p:nvPr/>
        </p:nvSpPr>
        <p:spPr>
          <a:xfrm>
            <a:off x="5593250" y="3430243"/>
            <a:ext cx="39914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15.6</a:t>
            </a:r>
          </a:p>
        </p:txBody>
      </p:sp>
      <p:sp>
        <p:nvSpPr>
          <p:cNvPr id="45" name="TextBox 46">
            <a:extLst>
              <a:ext uri="{FF2B5EF4-FFF2-40B4-BE49-F238E27FC236}">
                <a16:creationId xmlns:a16="http://schemas.microsoft.com/office/drawing/2014/main" id="{1A1091BA-2638-E5F7-A1F8-6969357F74AB}"/>
              </a:ext>
            </a:extLst>
          </p:cNvPr>
          <p:cNvSpPr txBox="1"/>
          <p:nvPr/>
        </p:nvSpPr>
        <p:spPr>
          <a:xfrm>
            <a:off x="6523795" y="3430243"/>
            <a:ext cx="581891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56.6%</a:t>
            </a:r>
          </a:p>
        </p:txBody>
      </p:sp>
      <p:sp>
        <p:nvSpPr>
          <p:cNvPr id="46" name="TextBox 47">
            <a:extLst>
              <a:ext uri="{FF2B5EF4-FFF2-40B4-BE49-F238E27FC236}">
                <a16:creationId xmlns:a16="http://schemas.microsoft.com/office/drawing/2014/main" id="{E1864013-4A44-7460-8AA5-754624C6E0C7}"/>
              </a:ext>
            </a:extLst>
          </p:cNvPr>
          <p:cNvSpPr txBox="1"/>
          <p:nvPr/>
        </p:nvSpPr>
        <p:spPr>
          <a:xfrm>
            <a:off x="8191801" y="3430243"/>
            <a:ext cx="468077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2.0%</a:t>
            </a:r>
          </a:p>
        </p:txBody>
      </p:sp>
      <p:sp>
        <p:nvSpPr>
          <p:cNvPr id="47" name="TextBox 48">
            <a:extLst>
              <a:ext uri="{FF2B5EF4-FFF2-40B4-BE49-F238E27FC236}">
                <a16:creationId xmlns:a16="http://schemas.microsoft.com/office/drawing/2014/main" id="{E6AE19D9-18DC-FE06-4AF3-4A46C062895E}"/>
              </a:ext>
            </a:extLst>
          </p:cNvPr>
          <p:cNvSpPr txBox="1"/>
          <p:nvPr/>
        </p:nvSpPr>
        <p:spPr>
          <a:xfrm>
            <a:off x="9738364" y="3451860"/>
            <a:ext cx="1615827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最宽松，最常给高分</a:t>
            </a:r>
          </a:p>
        </p:txBody>
      </p:sp>
      <p:sp>
        <p:nvSpPr>
          <p:cNvPr id="49" name="Rectangle 50">
            <a:extLst>
              <a:ext uri="{FF2B5EF4-FFF2-40B4-BE49-F238E27FC236}">
                <a16:creationId xmlns:a16="http://schemas.microsoft.com/office/drawing/2014/main" id="{3CC16EA3-F18E-C62F-631B-14DFAA33252F}"/>
              </a:ext>
            </a:extLst>
          </p:cNvPr>
          <p:cNvSpPr/>
          <p:nvPr/>
        </p:nvSpPr>
        <p:spPr>
          <a:xfrm>
            <a:off x="685800" y="4076700"/>
            <a:ext cx="10820400" cy="19050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50" name="TextBox 51">
            <a:extLst>
              <a:ext uri="{FF2B5EF4-FFF2-40B4-BE49-F238E27FC236}">
                <a16:creationId xmlns:a16="http://schemas.microsoft.com/office/drawing/2014/main" id="{20E3DBF4-53CE-0546-7F64-A11752684AB6}"/>
              </a:ext>
            </a:extLst>
          </p:cNvPr>
          <p:cNvSpPr txBox="1"/>
          <p:nvPr/>
        </p:nvSpPr>
        <p:spPr>
          <a:xfrm>
            <a:off x="1008383" y="4227857"/>
            <a:ext cx="923330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b="1" dirty="0">
                <a:solidFill>
                  <a:srgbClr val="1F4D78"/>
                </a:solidFill>
                <a:latin typeface="Arial"/>
                <a:ea typeface="Microsoft YaHei"/>
                <a:cs typeface="Arial"/>
              </a:rPr>
              <a:t>关键发现</a:t>
            </a:r>
          </a:p>
        </p:txBody>
      </p:sp>
      <p:sp>
        <p:nvSpPr>
          <p:cNvPr id="51" name="Ellipse 52">
            <a:extLst>
              <a:ext uri="{FF2B5EF4-FFF2-40B4-BE49-F238E27FC236}">
                <a16:creationId xmlns:a16="http://schemas.microsoft.com/office/drawing/2014/main" id="{4FEC1872-50B0-CD1C-B029-D92CB0F51083}"/>
              </a:ext>
            </a:extLst>
          </p:cNvPr>
          <p:cNvSpPr/>
          <p:nvPr/>
        </p:nvSpPr>
        <p:spPr>
          <a:xfrm>
            <a:off x="990600" y="4705350"/>
            <a:ext cx="76200" cy="76200"/>
          </a:xfrm>
          <a:prstGeom prst="ellipse">
            <a:avLst/>
          </a:prstGeom>
          <a:solidFill>
            <a:srgbClr val="C8161E"/>
          </a:solidFill>
          <a:ln>
            <a:noFill/>
          </a:ln>
        </p:spPr>
      </p:sp>
      <p:sp>
        <p:nvSpPr>
          <p:cNvPr id="52" name="TextBox 53">
            <a:extLst>
              <a:ext uri="{FF2B5EF4-FFF2-40B4-BE49-F238E27FC236}">
                <a16:creationId xmlns:a16="http://schemas.microsoft.com/office/drawing/2014/main" id="{1914F8EF-E4C1-7C01-BE71-25DF5F6E3CCA}"/>
              </a:ext>
            </a:extLst>
          </p:cNvPr>
          <p:cNvSpPr txBox="1"/>
          <p:nvPr/>
        </p:nvSpPr>
        <p:spPr>
          <a:xfrm>
            <a:off x="1201417" y="4639918"/>
            <a:ext cx="668772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宽松-严格差距：Qwen（75.1）vs DeepSeek（68.3）= </a:t>
            </a:r>
            <a:r>
              <a:rPr lang="zh-CN" sz="1600" b="1" dirty="0">
                <a:solidFill>
                  <a:srgbClr val="C8161E"/>
                </a:solidFill>
                <a:latin typeface="Arial"/>
                <a:ea typeface="Microsoft YaHei"/>
                <a:cs typeface="Arial"/>
              </a:rPr>
              <a:t>6.8 分</a:t>
            </a:r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 系统性偏差</a:t>
            </a:r>
          </a:p>
        </p:txBody>
      </p:sp>
      <p:sp>
        <p:nvSpPr>
          <p:cNvPr id="53" name="Ellipse 54">
            <a:extLst>
              <a:ext uri="{FF2B5EF4-FFF2-40B4-BE49-F238E27FC236}">
                <a16:creationId xmlns:a16="http://schemas.microsoft.com/office/drawing/2014/main" id="{7554636B-A74B-5AD2-3724-3E4469572544}"/>
              </a:ext>
            </a:extLst>
          </p:cNvPr>
          <p:cNvSpPr/>
          <p:nvPr/>
        </p:nvSpPr>
        <p:spPr>
          <a:xfrm>
            <a:off x="990600" y="5067300"/>
            <a:ext cx="76200" cy="76200"/>
          </a:xfrm>
          <a:prstGeom prst="ellipse">
            <a:avLst/>
          </a:prstGeom>
          <a:solidFill>
            <a:srgbClr val="C8161E"/>
          </a:solidFill>
          <a:ln>
            <a:noFill/>
          </a:ln>
        </p:spPr>
      </p:sp>
      <p:sp>
        <p:nvSpPr>
          <p:cNvPr id="54" name="TextBox 55">
            <a:extLst>
              <a:ext uri="{FF2B5EF4-FFF2-40B4-BE49-F238E27FC236}">
                <a16:creationId xmlns:a16="http://schemas.microsoft.com/office/drawing/2014/main" id="{9EEE7406-54C4-15C8-6C7B-8B0CD6449AFE}"/>
              </a:ext>
            </a:extLst>
          </p:cNvPr>
          <p:cNvSpPr txBox="1"/>
          <p:nvPr/>
        </p:nvSpPr>
        <p:spPr>
          <a:xfrm>
            <a:off x="1201417" y="5001868"/>
            <a:ext cx="7585410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R2 后 B 组最高分占比从 8.5% → 62.2%，说明交叉评审迫使 B 组在认可时主动上调</a:t>
            </a:r>
          </a:p>
        </p:txBody>
      </p:sp>
      <p:sp>
        <p:nvSpPr>
          <p:cNvPr id="55" name="Ellipse 56">
            <a:extLst>
              <a:ext uri="{FF2B5EF4-FFF2-40B4-BE49-F238E27FC236}">
                <a16:creationId xmlns:a16="http://schemas.microsoft.com/office/drawing/2014/main" id="{84374EF9-EDF7-4866-ABF2-8B3F0F4BEB03}"/>
              </a:ext>
            </a:extLst>
          </p:cNvPr>
          <p:cNvSpPr/>
          <p:nvPr/>
        </p:nvSpPr>
        <p:spPr>
          <a:xfrm>
            <a:off x="990600" y="5429250"/>
            <a:ext cx="76200" cy="76200"/>
          </a:xfrm>
          <a:prstGeom prst="ellipse">
            <a:avLst/>
          </a:prstGeom>
          <a:solidFill>
            <a:srgbClr val="C8161E"/>
          </a:solidFill>
          <a:ln>
            <a:noFill/>
          </a:ln>
        </p:spPr>
      </p:sp>
      <p:sp>
        <p:nvSpPr>
          <p:cNvPr id="56" name="TextBox 57">
            <a:extLst>
              <a:ext uri="{FF2B5EF4-FFF2-40B4-BE49-F238E27FC236}">
                <a16:creationId xmlns:a16="http://schemas.microsoft.com/office/drawing/2014/main" id="{5A3DF9E5-8152-71B4-D2D4-ABA596A2D3A4}"/>
              </a:ext>
            </a:extLst>
          </p:cNvPr>
          <p:cNvSpPr txBox="1"/>
          <p:nvPr/>
        </p:nvSpPr>
        <p:spPr>
          <a:xfrm>
            <a:off x="1201417" y="5363818"/>
            <a:ext cx="5517536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Kimi 最稳定（std=13.4），DeepSeek 波动最大（std=21.8）</a:t>
            </a:r>
          </a:p>
        </p:txBody>
      </p:sp>
      <p:sp>
        <p:nvSpPr>
          <p:cNvPr id="57" name="Ellipse 58">
            <a:extLst>
              <a:ext uri="{FF2B5EF4-FFF2-40B4-BE49-F238E27FC236}">
                <a16:creationId xmlns:a16="http://schemas.microsoft.com/office/drawing/2014/main" id="{CE93E270-F68B-9D11-FBD8-FDB52084FD14}"/>
              </a:ext>
            </a:extLst>
          </p:cNvPr>
          <p:cNvSpPr/>
          <p:nvPr/>
        </p:nvSpPr>
        <p:spPr>
          <a:xfrm>
            <a:off x="990600" y="5753100"/>
            <a:ext cx="76200" cy="76200"/>
          </a:xfrm>
          <a:prstGeom prst="ellipse">
            <a:avLst/>
          </a:prstGeom>
          <a:solidFill>
            <a:srgbClr val="C8161E"/>
          </a:solidFill>
          <a:ln>
            <a:noFill/>
          </a:ln>
        </p:spPr>
      </p:sp>
      <p:sp>
        <p:nvSpPr>
          <p:cNvPr id="58" name="TextBox 59">
            <a:extLst>
              <a:ext uri="{FF2B5EF4-FFF2-40B4-BE49-F238E27FC236}">
                <a16:creationId xmlns:a16="http://schemas.microsoft.com/office/drawing/2014/main" id="{47B7DCD5-CE4D-4DC0-5853-FCB6F8018A4D}"/>
              </a:ext>
            </a:extLst>
          </p:cNvPr>
          <p:cNvSpPr txBox="1"/>
          <p:nvPr/>
        </p:nvSpPr>
        <p:spPr>
          <a:xfrm>
            <a:off x="1201417" y="5687668"/>
            <a:ext cx="7285521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A 组（GLM + Qwen）内部一致性高；B 组（DeepSeek + Kimi）评分策略差异大</a:t>
            </a:r>
          </a:p>
        </p:txBody>
      </p:sp>
    </p:spTree>
    <p:extLst>
      <p:ext uri="{BB962C8B-B14F-4D97-AF65-F5344CB8AC3E}">
        <p14:creationId xmlns:p14="http://schemas.microsoft.com/office/powerpoint/2010/main" val="32242115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E2 入口：Top101 稳定性复测池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从纯高分候选扩展为高分 + 年份覆盖 + 学科覆盖，避免候选池过度集中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234440"/>
            <a:ext cx="5120640" cy="42519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1344168"/>
            <a:ext cx="4791455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入口规则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1645920"/>
            <a:ext cx="4754879" cy="3749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加权分 Top60 形成高质量基线。
• 年份覆盖：每年至少 5 篇，避免早期年份被挤出。
• 学科覆盖：各学科至少 5 篇，避免民商法/刑法/法理过度集中。
• 最终 E2 候选池：101 篇，作为 Top50 的上游候选真源。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172200" y="1234440"/>
          <a:ext cx="21488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4420"/>
                <a:gridCol w="1074420"/>
              </a:tblGrid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</a:rPr>
                        <a:t>篇数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2015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2016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2017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2018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2019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2020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2021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2022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2023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2024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8549640" y="1234440"/>
          <a:ext cx="25603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</a:rPr>
                        <a:t>学科覆盖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</a:rPr>
                        <a:t>篇数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法学理论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诉讼法学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宪行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其他 7 学科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各 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172200" y="4160520"/>
            <a:ext cx="4937760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E141F"/>
                </a:solidFill>
                <a:latin typeface="PingFang SC"/>
              </a:rPr>
              <a:t>Top101 负责覆盖性；Top50 在此基础上先做五轴归属资格筛选，再按全库学科比例配额输出。</a:t>
            </a:r>
          </a:p>
        </p:txBody>
      </p:sp>
    </p:spTree>
    <p:extLst>
      <p:ext uri="{BB962C8B-B14F-4D97-AF65-F5344CB8AC3E}">
        <p14:creationId xmlns:p14="http://schemas.microsoft.com/office/powerpoint/2010/main" val="533162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8" grpId="0"/>
      <p:bldP spid="72" grpId="0"/>
      <p:bldP spid="9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E2 结果：Top101 稳定性复测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稳定性分析看同一模型、同一论文、同一维度的 E1 R2 → E2 R2 差值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43000"/>
            <a:ext cx="237744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80160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E2 候选池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810512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全部进入 E1/E2 合并排名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143000"/>
            <a:ext cx="237744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280160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56 + 45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00200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来源分布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810512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56 篇 E1+E2；45 篇 E1+E2+E3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143000"/>
            <a:ext cx="237744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280160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101/101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1600200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五轴完成率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810512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用于 Top50 资格判断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1143000"/>
            <a:ext cx="237744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280160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1600200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Top50 入选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1810512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配额榜分数范围 89.225-82.600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560320"/>
            <a:ext cx="5074920" cy="2651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267004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如何使用 E2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2971800"/>
            <a:ext cx="4709159" cy="2148839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E2 不只是重排 Top 分数，而是检验同一模型重复评测波动。
• E1+E2 使用多源分数池化，中位数降低单模型极端值影响。
• E3 只补测不稳定维度，不再全量重复调用。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560320"/>
            <a:ext cx="5074920" cy="2651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267004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如何进入 Top50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971800"/>
            <a:ext cx="4709159" cy="2148839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先通过五轴归属资格：10 分主池，9 分仅补足。
• 再按 1920 全库学科比例确定配额。
• 最后在学科内按六维加权分选取。</a:t>
            </a:r>
          </a:p>
        </p:txBody>
      </p:sp>
    </p:spTree>
    <p:extLst>
      <p:ext uri="{BB962C8B-B14F-4D97-AF65-F5344CB8AC3E}">
        <p14:creationId xmlns:p14="http://schemas.microsoft.com/office/powerpoint/2010/main" val="33836826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CAA9-1F0F-19EF-D917-4076A174D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E3：选择性补测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只补测不稳定维度，降低成本，同时保留专家复核线索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1143000"/>
            <a:ext cx="233172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1280160"/>
            <a:ext cx="205740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1600200"/>
            <a:ext cx="205740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选择性补测论文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1810512"/>
            <a:ext cx="205740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E3 selective pool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1143000"/>
            <a:ext cx="233172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1280160"/>
            <a:ext cx="205740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1600200"/>
            <a:ext cx="205740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不稳定维度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1810512"/>
            <a:ext cx="205740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进入 E3 的维度单元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143000"/>
            <a:ext cx="233172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1280160"/>
            <a:ext cx="205740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~504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1600200"/>
            <a:ext cx="205740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调用规模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1810512"/>
            <a:ext cx="205740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完整 R1+R2 估算调用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49640" y="1143000"/>
            <a:ext cx="233172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1280160"/>
            <a:ext cx="205740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复核线索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1600200"/>
            <a:ext cx="205740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用途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1810512"/>
            <a:ext cx="205740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不改变五轴归属规则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2606040"/>
            <a:ext cx="507492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271576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选择性补测原则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3017520"/>
            <a:ext cx="4709159" cy="20116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只针对高分候选中的不稳定维度，而不是重新全量评测。
• E3 结果进入 E1/E2/E3 池化，提高高分候选排序稳健性。
• 仍无法收敛的维度不强行平均，保留为专家终审线索。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2606040"/>
            <a:ext cx="507492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91072" y="271576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与 Top50 的关系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017520"/>
            <a:ext cx="4709159" cy="20116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六维加权分用于学科内排序。
• 五轴归属分用于 Top50 资格和补足判断。
• 标准差高不自动剔除，但在报告中标记需复核。</a:t>
            </a:r>
          </a:p>
        </p:txBody>
      </p:sp>
    </p:spTree>
    <p:extLst>
      <p:ext uri="{BB962C8B-B14F-4D97-AF65-F5344CB8AC3E}">
        <p14:creationId xmlns:p14="http://schemas.microsoft.com/office/powerpoint/2010/main" val="98344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6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Top50 最终排名：归属优先 + 学科比例配额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本页展示新规则前 10 名；完整名单见附录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94360" y="1143000"/>
          <a:ext cx="1101852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420"/>
                <a:gridCol w="1836420"/>
                <a:gridCol w="1836420"/>
                <a:gridCol w="1836420"/>
                <a:gridCol w="1836420"/>
                <a:gridCol w="1836420"/>
              </a:tblGrid>
              <a:tr h="386541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</a:rPr>
                        <a:t>PID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</a:rPr>
                        <a:t>学科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</a:rPr>
                        <a:t>论文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</a:rPr>
                        <a:t>六维分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Microsoft YaHei"/>
                        </a:rPr>
                        <a:t>五轴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386541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1510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数字私力救济——基于远程控制网联物的权利实现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89.225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86541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1260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公司决议瑕疵立法的范式转换与体系重构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88.625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86541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1865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股权转让中的出资义务承担——以组织法与行为法融贯为视角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88.625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86541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1238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债权人代位权的类型化构造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88.450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86541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1606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法条竞合与想象竞合的区分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88.200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86541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1764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论选择性要素的认识错误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88.075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86541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1337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受贿犯罪的保护法益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88.025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86541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1574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民法典所有权保留之担保权构成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87.975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86541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1824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知识产权法学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集体商标和证明商标保护体系的重构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87.800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86550"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1710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董事间披露义务的法律构造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87.750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19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77240" y="5623560"/>
            <a:ext cx="1051560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06369"/>
                </a:solidFill>
                <a:latin typeface="PingFang SC"/>
              </a:rPr>
              <a:t>唯一口径：results/top101/top50-position-first-proportional.json / 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97880"/>
            <a:ext cx="105156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E141F"/>
                </a:solidFill>
                <a:latin typeface="PingFang SC"/>
              </a:rPr>
              <a:t>分数范围 89.225-82.600；49 篇五轴 10 分，1 篇五轴 9 分用于宪法学与行政法学配额补足。</a:t>
            </a:r>
          </a:p>
        </p:txBody>
      </p:sp>
    </p:spTree>
    <p:extLst>
      <p:ext uri="{BB962C8B-B14F-4D97-AF65-F5344CB8AC3E}">
        <p14:creationId xmlns:p14="http://schemas.microsoft.com/office/powerpoint/2010/main" val="2531932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7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Top50 五轴归属与知识库匹配口径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当前版先固化 Top50 入选名单；知识库匹配统计必须按同一 50 篇名单重跑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1143000"/>
            <a:ext cx="237744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1280160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1600200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Top50 总数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1810512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归属优先配额榜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1143000"/>
            <a:ext cx="237744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1280160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1600200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五轴 10 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1810512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主资格池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1143000"/>
            <a:ext cx="237744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1280160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1600200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五轴 9 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1810512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学科配额补足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0" y="1143000"/>
            <a:ext cx="237744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23960" y="1280160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1600200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≤8 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1810512"/>
            <a:ext cx="210312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不入正式 Top50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2606040"/>
            <a:ext cx="5074920" cy="260604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271576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本版可确认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3017520"/>
            <a:ext cx="4709159" cy="21031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Top50 排名、学科配额、六维分、标准差和五轴分均来自新 canonical 数据。
• 新名单较旧配额版替换 6 篇，清除了五轴低于 9 分的旧入选论文。
• 五轴用于资格与画像，不进入六维加权分。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2606040"/>
            <a:ext cx="5074920" cy="260604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271576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不混用旧数字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3017520"/>
            <a:ext cx="4709159" cy="21031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历史位置归属均值、条目数和高置信度比例不再展示。
• 既有知识库匹配结果对应旧名单，不直接迁移到新名单。
• 新知识库匹配应以 `top50-position-first-proportional.json` 的 50 个 PID 为输入重跑。</a:t>
            </a:r>
          </a:p>
        </p:txBody>
      </p:sp>
    </p:spTree>
    <p:extLst>
      <p:ext uri="{BB962C8B-B14F-4D97-AF65-F5344CB8AC3E}">
        <p14:creationId xmlns:p14="http://schemas.microsoft.com/office/powerpoint/2010/main" val="4291038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054F1F-21B3-FA7F-9549-6035D4EDE4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27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A0AA9-C31E-0431-A5ED-FB5F6085D6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BB91EC-6BD2-BA0B-FE5E-AF71DE6977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04546-FD35-2907-8D77-3B045F519A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框架迭代历程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7F1C0-24BE-59D7-DC73-3B64334AA9E0}"/>
              </a:ext>
            </a:extLst>
          </p:cNvPr>
          <p:cNvSpPr txBox="1"/>
          <p:nvPr/>
        </p:nvSpPr>
        <p:spPr>
          <a:xfrm>
            <a:off x="4455326" y="1068043"/>
            <a:ext cx="328134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v1.0 → v2.56.6，经历 56+ 版本迭代</a:t>
            </a:r>
          </a:p>
        </p:txBody>
      </p:sp>
      <p:grpSp>
        <p:nvGrpSpPr>
          <p:cNvPr id="7" name="Group 40">
            <a:extLst>
              <a:ext uri="{FF2B5EF4-FFF2-40B4-BE49-F238E27FC236}">
                <a16:creationId xmlns:a16="http://schemas.microsoft.com/office/drawing/2014/main" id="{3FBFBD32-185B-FB75-10EA-71BF26E77C8F}"/>
              </a:ext>
            </a:extLst>
          </p:cNvPr>
          <p:cNvGrpSpPr/>
          <p:nvPr/>
        </p:nvGrpSpPr>
        <p:grpSpPr>
          <a:xfrm>
            <a:off x="1409700" y="1447800"/>
            <a:ext cx="9372600" cy="2743200"/>
            <a:chOff x="1409700" y="1447800"/>
            <a:chExt cx="9372600" cy="2743200"/>
          </a:xfrm>
        </p:grpSpPr>
        <p:sp>
          <p:nvSpPr>
            <p:cNvPr id="8" name="Line 9">
              <a:extLst>
                <a:ext uri="{FF2B5EF4-FFF2-40B4-BE49-F238E27FC236}">
                  <a16:creationId xmlns:a16="http://schemas.microsoft.com/office/drawing/2014/main" id="{618D01AD-708F-CB8C-6822-04E07DBFBC96}"/>
                </a:ext>
              </a:extLst>
            </p:cNvPr>
            <p:cNvSpPr/>
            <p:nvPr/>
          </p:nvSpPr>
          <p:spPr>
            <a:xfrm>
              <a:off x="1409700" y="2819400"/>
              <a:ext cx="9372600" cy="9525"/>
            </a:xfrm>
            <a:custGeom>
              <a:avLst/>
              <a:gdLst/>
              <a:ahLst/>
              <a:cxnLst/>
              <a:rect l="l" t="t" r="r" b="b"/>
              <a:pathLst>
                <a:path w="9372600" h="9525">
                  <a:moveTo>
                    <a:pt x="0" y="0"/>
                  </a:moveTo>
                  <a:lnTo>
                    <a:pt x="9372600" y="0"/>
                  </a:lnTo>
                </a:path>
              </a:pathLst>
            </a:custGeom>
            <a:noFill/>
            <a:ln w="28575">
              <a:solidFill>
                <a:srgbClr val="D9DEE5"/>
              </a:solidFill>
            </a:ln>
          </p:spPr>
        </p:sp>
        <p:sp>
          <p:nvSpPr>
            <p:cNvPr id="9" name="Ellipse 10">
              <a:extLst>
                <a:ext uri="{FF2B5EF4-FFF2-40B4-BE49-F238E27FC236}">
                  <a16:creationId xmlns:a16="http://schemas.microsoft.com/office/drawing/2014/main" id="{646CC5D6-C1BB-78C1-D7B4-B9118DA20D8C}"/>
                </a:ext>
              </a:extLst>
            </p:cNvPr>
            <p:cNvSpPr/>
            <p:nvPr/>
          </p:nvSpPr>
          <p:spPr>
            <a:xfrm>
              <a:off x="1981200" y="2705100"/>
              <a:ext cx="228600" cy="228600"/>
            </a:xfrm>
            <a:prstGeom prst="ellipse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10" name="Line 11">
              <a:extLst>
                <a:ext uri="{FF2B5EF4-FFF2-40B4-BE49-F238E27FC236}">
                  <a16:creationId xmlns:a16="http://schemas.microsoft.com/office/drawing/2014/main" id="{69C40C3E-480B-097B-FEAD-72F1EDF22ACE}"/>
                </a:ext>
              </a:extLst>
            </p:cNvPr>
            <p:cNvSpPr/>
            <p:nvPr/>
          </p:nvSpPr>
          <p:spPr>
            <a:xfrm>
              <a:off x="2095500" y="1866900"/>
              <a:ext cx="9525" cy="952500"/>
            </a:xfrm>
            <a:custGeom>
              <a:avLst/>
              <a:gdLst/>
              <a:ahLst/>
              <a:cxnLst/>
              <a:rect l="l" t="t" r="r" b="b"/>
              <a:pathLst>
                <a:path w="9525" h="952500">
                  <a:moveTo>
                    <a:pt x="0" y="9525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D9DEE5"/>
              </a:solidFill>
            </a:ln>
          </p:spPr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D6363B4C-7049-C624-A478-0C80B875A59D}"/>
                </a:ext>
              </a:extLst>
            </p:cNvPr>
            <p:cNvSpPr/>
            <p:nvPr/>
          </p:nvSpPr>
          <p:spPr>
            <a:xfrm>
              <a:off x="1524000" y="1447800"/>
              <a:ext cx="1143000" cy="381000"/>
            </a:xfrm>
            <a:prstGeom prst="roundRect">
              <a:avLst>
                <a:gd name="adj" fmla="val 10000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8CAA07E8-A185-B4AF-683A-DE17FCE06EF5}"/>
                </a:ext>
              </a:extLst>
            </p:cNvPr>
            <p:cNvSpPr txBox="1"/>
            <p:nvPr/>
          </p:nvSpPr>
          <p:spPr>
            <a:xfrm>
              <a:off x="1895925" y="1544293"/>
              <a:ext cx="399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v2.0</a:t>
              </a:r>
            </a:p>
          </p:txBody>
        </p:sp>
        <p:sp>
          <p:nvSpPr>
            <p:cNvPr id="13" name="TextBox 14">
              <a:extLst>
                <a:ext uri="{FF2B5EF4-FFF2-40B4-BE49-F238E27FC236}">
                  <a16:creationId xmlns:a16="http://schemas.microsoft.com/office/drawing/2014/main" id="{A5EB0761-E228-372D-9416-A00D232D8570}"/>
                </a:ext>
              </a:extLst>
            </p:cNvPr>
            <p:cNvSpPr txBox="1"/>
            <p:nvPr/>
          </p:nvSpPr>
          <p:spPr>
            <a:xfrm>
              <a:off x="1556891" y="2080260"/>
              <a:ext cx="10772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新增准入筛选</a:t>
              </a:r>
            </a:p>
          </p:txBody>
        </p:sp>
        <p:sp>
          <p:nvSpPr>
            <p:cNvPr id="14" name="TextBox 15">
              <a:extLst>
                <a:ext uri="{FF2B5EF4-FFF2-40B4-BE49-F238E27FC236}">
                  <a16:creationId xmlns:a16="http://schemas.microsoft.com/office/drawing/2014/main" id="{A356FB0D-CB4E-C1C0-BA1E-28D8E3FC6145}"/>
                </a:ext>
              </a:extLst>
            </p:cNvPr>
            <p:cNvSpPr txBox="1"/>
            <p:nvPr/>
          </p:nvSpPr>
          <p:spPr>
            <a:xfrm>
              <a:off x="1736427" y="2289810"/>
              <a:ext cx="718146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调整权重</a:t>
              </a:r>
            </a:p>
          </p:txBody>
        </p:sp>
        <p:sp>
          <p:nvSpPr>
            <p:cNvPr id="15" name="Ellipse 16">
              <a:extLst>
                <a:ext uri="{FF2B5EF4-FFF2-40B4-BE49-F238E27FC236}">
                  <a16:creationId xmlns:a16="http://schemas.microsoft.com/office/drawing/2014/main" id="{5B43CCC2-6078-0134-1ECF-68681227F85E}"/>
                </a:ext>
              </a:extLst>
            </p:cNvPr>
            <p:cNvSpPr/>
            <p:nvPr/>
          </p:nvSpPr>
          <p:spPr>
            <a:xfrm>
              <a:off x="4076700" y="2705100"/>
              <a:ext cx="228600" cy="228600"/>
            </a:xfrm>
            <a:prstGeom prst="ellipse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16" name="Line 17">
              <a:extLst>
                <a:ext uri="{FF2B5EF4-FFF2-40B4-BE49-F238E27FC236}">
                  <a16:creationId xmlns:a16="http://schemas.microsoft.com/office/drawing/2014/main" id="{B9FFDDF6-7378-5D71-AAE7-5D5BAE8631FC}"/>
                </a:ext>
              </a:extLst>
            </p:cNvPr>
            <p:cNvSpPr/>
            <p:nvPr/>
          </p:nvSpPr>
          <p:spPr>
            <a:xfrm>
              <a:off x="4191000" y="2819400"/>
              <a:ext cx="9525" cy="952500"/>
            </a:xfrm>
            <a:custGeom>
              <a:avLst/>
              <a:gdLst/>
              <a:ahLst/>
              <a:cxnLst/>
              <a:rect l="l" t="t" r="r" b="b"/>
              <a:pathLst>
                <a:path w="9525" h="952500">
                  <a:moveTo>
                    <a:pt x="0" y="0"/>
                  </a:moveTo>
                  <a:lnTo>
                    <a:pt x="0" y="952500"/>
                  </a:lnTo>
                </a:path>
              </a:pathLst>
            </a:custGeom>
            <a:noFill/>
            <a:ln w="19050">
              <a:solidFill>
                <a:srgbClr val="D9DEE5"/>
              </a:solidFill>
            </a:ln>
          </p:spPr>
        </p:sp>
        <p:sp>
          <p:nvSpPr>
            <p:cNvPr id="17" name="Rectangle 18">
              <a:extLst>
                <a:ext uri="{FF2B5EF4-FFF2-40B4-BE49-F238E27FC236}">
                  <a16:creationId xmlns:a16="http://schemas.microsoft.com/office/drawing/2014/main" id="{7DB4B7EF-1907-C06D-C1C6-C4E56E945DFB}"/>
                </a:ext>
              </a:extLst>
            </p:cNvPr>
            <p:cNvSpPr/>
            <p:nvPr/>
          </p:nvSpPr>
          <p:spPr>
            <a:xfrm>
              <a:off x="3619500" y="3810000"/>
              <a:ext cx="1143000" cy="381000"/>
            </a:xfrm>
            <a:prstGeom prst="roundRect">
              <a:avLst>
                <a:gd name="adj" fmla="val 10000"/>
              </a:avLst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18" name="TextBox 19">
              <a:extLst>
                <a:ext uri="{FF2B5EF4-FFF2-40B4-BE49-F238E27FC236}">
                  <a16:creationId xmlns:a16="http://schemas.microsoft.com/office/drawing/2014/main" id="{A4BE8775-5589-21E5-59A5-D62CE3C43DB6}"/>
                </a:ext>
              </a:extLst>
            </p:cNvPr>
            <p:cNvSpPr txBox="1"/>
            <p:nvPr/>
          </p:nvSpPr>
          <p:spPr>
            <a:xfrm>
              <a:off x="3934519" y="3906493"/>
              <a:ext cx="51296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v2.47</a:t>
              </a:r>
            </a:p>
          </p:txBody>
        </p:sp>
        <p:sp>
          <p:nvSpPr>
            <p:cNvPr id="19" name="TextBox 20">
              <a:extLst>
                <a:ext uri="{FF2B5EF4-FFF2-40B4-BE49-F238E27FC236}">
                  <a16:creationId xmlns:a16="http://schemas.microsoft.com/office/drawing/2014/main" id="{29762F14-EC69-3E47-7994-4B2E0534B077}"/>
                </a:ext>
              </a:extLst>
            </p:cNvPr>
            <p:cNvSpPr txBox="1"/>
            <p:nvPr/>
          </p:nvSpPr>
          <p:spPr>
            <a:xfrm>
              <a:off x="3652391" y="3337560"/>
              <a:ext cx="10772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生产稳定版本</a:t>
              </a:r>
            </a:p>
          </p:txBody>
        </p:sp>
        <p:sp>
          <p:nvSpPr>
            <p:cNvPr id="20" name="TextBox 21">
              <a:extLst>
                <a:ext uri="{FF2B5EF4-FFF2-40B4-BE49-F238E27FC236}">
                  <a16:creationId xmlns:a16="http://schemas.microsoft.com/office/drawing/2014/main" id="{89AC28A8-E6EC-A117-FB1C-29DBBE71522D}"/>
                </a:ext>
              </a:extLst>
            </p:cNvPr>
            <p:cNvSpPr txBox="1"/>
            <p:nvPr/>
          </p:nvSpPr>
          <p:spPr>
            <a:xfrm>
              <a:off x="3617926" y="3547110"/>
              <a:ext cx="114614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14 篇验证通过</a:t>
              </a:r>
            </a:p>
          </p:txBody>
        </p:sp>
        <p:sp>
          <p:nvSpPr>
            <p:cNvPr id="21" name="Ellipse 22">
              <a:extLst>
                <a:ext uri="{FF2B5EF4-FFF2-40B4-BE49-F238E27FC236}">
                  <a16:creationId xmlns:a16="http://schemas.microsoft.com/office/drawing/2014/main" id="{22E26CBB-645E-7F38-DD9F-BEE06A7738D8}"/>
                </a:ext>
              </a:extLst>
            </p:cNvPr>
            <p:cNvSpPr/>
            <p:nvPr/>
          </p:nvSpPr>
          <p:spPr>
            <a:xfrm>
              <a:off x="6172200" y="2705100"/>
              <a:ext cx="228600" cy="228600"/>
            </a:xfrm>
            <a:prstGeom prst="ellipse">
              <a:avLst/>
            </a:prstGeom>
            <a:solidFill>
              <a:srgbClr val="E07B00"/>
            </a:solidFill>
            <a:ln>
              <a:noFill/>
            </a:ln>
          </p:spPr>
        </p:sp>
        <p:sp>
          <p:nvSpPr>
            <p:cNvPr id="22" name="Line 23">
              <a:extLst>
                <a:ext uri="{FF2B5EF4-FFF2-40B4-BE49-F238E27FC236}">
                  <a16:creationId xmlns:a16="http://schemas.microsoft.com/office/drawing/2014/main" id="{FD665872-4FF7-D576-F864-C67643451525}"/>
                </a:ext>
              </a:extLst>
            </p:cNvPr>
            <p:cNvSpPr/>
            <p:nvPr/>
          </p:nvSpPr>
          <p:spPr>
            <a:xfrm>
              <a:off x="6286500" y="1866900"/>
              <a:ext cx="9525" cy="952500"/>
            </a:xfrm>
            <a:custGeom>
              <a:avLst/>
              <a:gdLst/>
              <a:ahLst/>
              <a:cxnLst/>
              <a:rect l="l" t="t" r="r" b="b"/>
              <a:pathLst>
                <a:path w="9525" h="952500">
                  <a:moveTo>
                    <a:pt x="0" y="9525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D9DEE5"/>
              </a:solidFill>
            </a:ln>
          </p:spPr>
        </p:sp>
        <p:sp>
          <p:nvSpPr>
            <p:cNvPr id="23" name="Rectangle 24">
              <a:extLst>
                <a:ext uri="{FF2B5EF4-FFF2-40B4-BE49-F238E27FC236}">
                  <a16:creationId xmlns:a16="http://schemas.microsoft.com/office/drawing/2014/main" id="{E2BD31BF-8CB6-2B8F-4D8F-9689787C671C}"/>
                </a:ext>
              </a:extLst>
            </p:cNvPr>
            <p:cNvSpPr/>
            <p:nvPr/>
          </p:nvSpPr>
          <p:spPr>
            <a:xfrm>
              <a:off x="5715000" y="1447800"/>
              <a:ext cx="1143000" cy="381000"/>
            </a:xfrm>
            <a:prstGeom prst="roundRect">
              <a:avLst>
                <a:gd name="adj" fmla="val 10000"/>
              </a:avLst>
            </a:prstGeom>
            <a:solidFill>
              <a:srgbClr val="E07B00"/>
            </a:solidFill>
            <a:ln>
              <a:noFill/>
            </a:ln>
          </p:spPr>
        </p:sp>
        <p:sp>
          <p:nvSpPr>
            <p:cNvPr id="24" name="TextBox 25">
              <a:extLst>
                <a:ext uri="{FF2B5EF4-FFF2-40B4-BE49-F238E27FC236}">
                  <a16:creationId xmlns:a16="http://schemas.microsoft.com/office/drawing/2014/main" id="{4F8EBA00-024C-B4AE-749A-D431FEABB18C}"/>
                </a:ext>
              </a:extLst>
            </p:cNvPr>
            <p:cNvSpPr txBox="1"/>
            <p:nvPr/>
          </p:nvSpPr>
          <p:spPr>
            <a:xfrm>
              <a:off x="6030019" y="1544293"/>
              <a:ext cx="51296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v2.51</a:t>
              </a:r>
            </a:p>
          </p:txBody>
        </p:sp>
        <p:sp>
          <p:nvSpPr>
            <p:cNvPr id="25" name="TextBox 26">
              <a:extLst>
                <a:ext uri="{FF2B5EF4-FFF2-40B4-BE49-F238E27FC236}">
                  <a16:creationId xmlns:a16="http://schemas.microsoft.com/office/drawing/2014/main" id="{FE15D600-2507-DD31-825E-428E83BDC923}"/>
                </a:ext>
              </a:extLst>
            </p:cNvPr>
            <p:cNvSpPr txBox="1"/>
            <p:nvPr/>
          </p:nvSpPr>
          <p:spPr>
            <a:xfrm>
              <a:off x="5753502" y="2080260"/>
              <a:ext cx="1065997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Phase 0 失败</a:t>
              </a:r>
            </a:p>
          </p:txBody>
        </p:sp>
        <p:sp>
          <p:nvSpPr>
            <p:cNvPr id="26" name="TextBox 27">
              <a:extLst>
                <a:ext uri="{FF2B5EF4-FFF2-40B4-BE49-F238E27FC236}">
                  <a16:creationId xmlns:a16="http://schemas.microsoft.com/office/drawing/2014/main" id="{BE0BF41E-9901-E102-097B-E00635A7B7D2}"/>
                </a:ext>
              </a:extLst>
            </p:cNvPr>
            <p:cNvSpPr txBox="1"/>
            <p:nvPr/>
          </p:nvSpPr>
          <p:spPr>
            <a:xfrm>
              <a:off x="5493815" y="2289810"/>
              <a:ext cx="1585370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命中率 22% vs 70%</a:t>
              </a:r>
            </a:p>
          </p:txBody>
        </p:sp>
        <p:sp>
          <p:nvSpPr>
            <p:cNvPr id="27" name="Ellipse 28">
              <a:extLst>
                <a:ext uri="{FF2B5EF4-FFF2-40B4-BE49-F238E27FC236}">
                  <a16:creationId xmlns:a16="http://schemas.microsoft.com/office/drawing/2014/main" id="{50F95783-01E5-7051-232C-064AAB11CB46}"/>
                </a:ext>
              </a:extLst>
            </p:cNvPr>
            <p:cNvSpPr/>
            <p:nvPr/>
          </p:nvSpPr>
          <p:spPr>
            <a:xfrm>
              <a:off x="8267700" y="2705100"/>
              <a:ext cx="228600" cy="228600"/>
            </a:xfrm>
            <a:prstGeom prst="ellipse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28" name="Line 29">
              <a:extLst>
                <a:ext uri="{FF2B5EF4-FFF2-40B4-BE49-F238E27FC236}">
                  <a16:creationId xmlns:a16="http://schemas.microsoft.com/office/drawing/2014/main" id="{56DF9CF1-0F29-6827-5FAF-68302259840F}"/>
                </a:ext>
              </a:extLst>
            </p:cNvPr>
            <p:cNvSpPr/>
            <p:nvPr/>
          </p:nvSpPr>
          <p:spPr>
            <a:xfrm>
              <a:off x="8382000" y="2819400"/>
              <a:ext cx="9525" cy="952500"/>
            </a:xfrm>
            <a:custGeom>
              <a:avLst/>
              <a:gdLst/>
              <a:ahLst/>
              <a:cxnLst/>
              <a:rect l="l" t="t" r="r" b="b"/>
              <a:pathLst>
                <a:path w="9525" h="952500">
                  <a:moveTo>
                    <a:pt x="0" y="0"/>
                  </a:moveTo>
                  <a:lnTo>
                    <a:pt x="0" y="952500"/>
                  </a:lnTo>
                </a:path>
              </a:pathLst>
            </a:custGeom>
            <a:noFill/>
            <a:ln w="19050">
              <a:solidFill>
                <a:srgbClr val="D9DEE5"/>
              </a:solidFill>
            </a:ln>
          </p:spPr>
        </p:sp>
        <p:sp>
          <p:nvSpPr>
            <p:cNvPr id="29" name="Rectangle 30">
              <a:extLst>
                <a:ext uri="{FF2B5EF4-FFF2-40B4-BE49-F238E27FC236}">
                  <a16:creationId xmlns:a16="http://schemas.microsoft.com/office/drawing/2014/main" id="{25EA7D60-7C50-80C0-F72C-69ACD731A053}"/>
                </a:ext>
              </a:extLst>
            </p:cNvPr>
            <p:cNvSpPr/>
            <p:nvPr/>
          </p:nvSpPr>
          <p:spPr>
            <a:xfrm>
              <a:off x="7810500" y="3810000"/>
              <a:ext cx="1143000" cy="381000"/>
            </a:xfrm>
            <a:prstGeom prst="roundRect">
              <a:avLst>
                <a:gd name="adj" fmla="val 10000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30" name="TextBox 31">
              <a:extLst>
                <a:ext uri="{FF2B5EF4-FFF2-40B4-BE49-F238E27FC236}">
                  <a16:creationId xmlns:a16="http://schemas.microsoft.com/office/drawing/2014/main" id="{3318FD11-34B8-A5B8-A8FF-1386D725DB3E}"/>
                </a:ext>
              </a:extLst>
            </p:cNvPr>
            <p:cNvSpPr txBox="1"/>
            <p:nvPr/>
          </p:nvSpPr>
          <p:spPr>
            <a:xfrm>
              <a:off x="8125519" y="3906493"/>
              <a:ext cx="51296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v2.55</a:t>
              </a:r>
            </a:p>
          </p:txBody>
        </p:sp>
        <p:sp>
          <p:nvSpPr>
            <p:cNvPr id="31" name="TextBox 32">
              <a:extLst>
                <a:ext uri="{FF2B5EF4-FFF2-40B4-BE49-F238E27FC236}">
                  <a16:creationId xmlns:a16="http://schemas.microsoft.com/office/drawing/2014/main" id="{876597B8-1177-5508-704E-1DD129832C0B}"/>
                </a:ext>
              </a:extLst>
            </p:cNvPr>
            <p:cNvSpPr txBox="1"/>
            <p:nvPr/>
          </p:nvSpPr>
          <p:spPr>
            <a:xfrm>
              <a:off x="7843391" y="3337560"/>
              <a:ext cx="10772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交叉评审版本</a:t>
              </a:r>
            </a:p>
          </p:txBody>
        </p:sp>
        <p:sp>
          <p:nvSpPr>
            <p:cNvPr id="32" name="TextBox 33">
              <a:extLst>
                <a:ext uri="{FF2B5EF4-FFF2-40B4-BE49-F238E27FC236}">
                  <a16:creationId xmlns:a16="http://schemas.microsoft.com/office/drawing/2014/main" id="{53C63350-EF4B-E387-2388-85F066E1D307}"/>
                </a:ext>
              </a:extLst>
            </p:cNvPr>
            <p:cNvSpPr txBox="1"/>
            <p:nvPr/>
          </p:nvSpPr>
          <p:spPr>
            <a:xfrm>
              <a:off x="7839384" y="3547110"/>
              <a:ext cx="1085233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Round 2 专用</a:t>
              </a:r>
            </a:p>
          </p:txBody>
        </p:sp>
        <p:sp>
          <p:nvSpPr>
            <p:cNvPr id="33" name="Ellipse 34">
              <a:extLst>
                <a:ext uri="{FF2B5EF4-FFF2-40B4-BE49-F238E27FC236}">
                  <a16:creationId xmlns:a16="http://schemas.microsoft.com/office/drawing/2014/main" id="{41786ACE-683B-F622-EAED-586822266E2E}"/>
                </a:ext>
              </a:extLst>
            </p:cNvPr>
            <p:cNvSpPr/>
            <p:nvPr/>
          </p:nvSpPr>
          <p:spPr>
            <a:xfrm>
              <a:off x="9982200" y="2705100"/>
              <a:ext cx="228600" cy="228600"/>
            </a:xfrm>
            <a:prstGeom prst="ellipse">
              <a:avLst/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34" name="Line 35">
              <a:extLst>
                <a:ext uri="{FF2B5EF4-FFF2-40B4-BE49-F238E27FC236}">
                  <a16:creationId xmlns:a16="http://schemas.microsoft.com/office/drawing/2014/main" id="{6DB9D52D-3128-0089-A101-16FEAF3C4E10}"/>
                </a:ext>
              </a:extLst>
            </p:cNvPr>
            <p:cNvSpPr/>
            <p:nvPr/>
          </p:nvSpPr>
          <p:spPr>
            <a:xfrm>
              <a:off x="10096500" y="1866900"/>
              <a:ext cx="9525" cy="952500"/>
            </a:xfrm>
            <a:custGeom>
              <a:avLst/>
              <a:gdLst/>
              <a:ahLst/>
              <a:cxnLst/>
              <a:rect l="l" t="t" r="r" b="b"/>
              <a:pathLst>
                <a:path w="9525" h="952500">
                  <a:moveTo>
                    <a:pt x="0" y="9525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D9DEE5"/>
              </a:solidFill>
            </a:ln>
          </p:spPr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B13F9B4E-CD31-D0CC-4411-BF6E0B847D14}"/>
                </a:ext>
              </a:extLst>
            </p:cNvPr>
            <p:cNvSpPr/>
            <p:nvPr/>
          </p:nvSpPr>
          <p:spPr>
            <a:xfrm>
              <a:off x="9525000" y="1447800"/>
              <a:ext cx="1143000" cy="381000"/>
            </a:xfrm>
            <a:prstGeom prst="roundRect">
              <a:avLst>
                <a:gd name="adj" fmla="val 10000"/>
              </a:avLst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36" name="TextBox 37">
              <a:extLst>
                <a:ext uri="{FF2B5EF4-FFF2-40B4-BE49-F238E27FC236}">
                  <a16:creationId xmlns:a16="http://schemas.microsoft.com/office/drawing/2014/main" id="{89AA8760-58B6-5655-D12D-21F11B3333AE}"/>
                </a:ext>
              </a:extLst>
            </p:cNvPr>
            <p:cNvSpPr txBox="1"/>
            <p:nvPr/>
          </p:nvSpPr>
          <p:spPr>
            <a:xfrm>
              <a:off x="9754258" y="1544293"/>
              <a:ext cx="68448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v2.56.6</a:t>
              </a:r>
            </a:p>
          </p:txBody>
        </p:sp>
        <p:sp>
          <p:nvSpPr>
            <p:cNvPr id="37" name="TextBox 38">
              <a:extLst>
                <a:ext uri="{FF2B5EF4-FFF2-40B4-BE49-F238E27FC236}">
                  <a16:creationId xmlns:a16="http://schemas.microsoft.com/office/drawing/2014/main" id="{40BEB089-C05D-152F-1F2A-AEC9498F77E4}"/>
                </a:ext>
              </a:extLst>
            </p:cNvPr>
            <p:cNvSpPr txBox="1"/>
            <p:nvPr/>
          </p:nvSpPr>
          <p:spPr>
            <a:xfrm>
              <a:off x="9557891" y="2080260"/>
              <a:ext cx="10772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锚定规则优化</a:t>
              </a:r>
            </a:p>
          </p:txBody>
        </p:sp>
        <p:sp>
          <p:nvSpPr>
            <p:cNvPr id="38" name="TextBox 39">
              <a:extLst>
                <a:ext uri="{FF2B5EF4-FFF2-40B4-BE49-F238E27FC236}">
                  <a16:creationId xmlns:a16="http://schemas.microsoft.com/office/drawing/2014/main" id="{3058C3C7-3885-60E2-1823-9725F4C8D951}"/>
                </a:ext>
              </a:extLst>
            </p:cNvPr>
            <p:cNvSpPr txBox="1"/>
            <p:nvPr/>
          </p:nvSpPr>
          <p:spPr>
            <a:xfrm>
              <a:off x="9654071" y="2289810"/>
              <a:ext cx="88485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std -77.9%</a:t>
              </a:r>
            </a:p>
          </p:txBody>
        </p:sp>
      </p:grpSp>
      <p:grpSp>
        <p:nvGrpSpPr>
          <p:cNvPr id="39" name="Group 51">
            <a:extLst>
              <a:ext uri="{FF2B5EF4-FFF2-40B4-BE49-F238E27FC236}">
                <a16:creationId xmlns:a16="http://schemas.microsoft.com/office/drawing/2014/main" id="{B3A816DC-BCF4-AD67-078A-BD32CB925716}"/>
              </a:ext>
            </a:extLst>
          </p:cNvPr>
          <p:cNvGrpSpPr/>
          <p:nvPr/>
        </p:nvGrpSpPr>
        <p:grpSpPr>
          <a:xfrm>
            <a:off x="685800" y="4495800"/>
            <a:ext cx="10820400" cy="1409700"/>
            <a:chOff x="685800" y="4495800"/>
            <a:chExt cx="10820400" cy="1409700"/>
          </a:xfrm>
        </p:grpSpPr>
        <p:sp>
          <p:nvSpPr>
            <p:cNvPr id="40" name="Rectangle 41">
              <a:extLst>
                <a:ext uri="{FF2B5EF4-FFF2-40B4-BE49-F238E27FC236}">
                  <a16:creationId xmlns:a16="http://schemas.microsoft.com/office/drawing/2014/main" id="{E927D523-9309-94C7-F21E-ADBD92C5073A}"/>
                </a:ext>
              </a:extLst>
            </p:cNvPr>
            <p:cNvSpPr/>
            <p:nvPr/>
          </p:nvSpPr>
          <p:spPr>
            <a:xfrm>
              <a:off x="685800" y="4495800"/>
              <a:ext cx="5257800" cy="1409700"/>
            </a:xfrm>
            <a:prstGeom prst="roundRect">
              <a:avLst>
                <a:gd name="adj" fmla="val 5405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41" name="TextBox 42">
              <a:extLst>
                <a:ext uri="{FF2B5EF4-FFF2-40B4-BE49-F238E27FC236}">
                  <a16:creationId xmlns:a16="http://schemas.microsoft.com/office/drawing/2014/main" id="{4C7A1CE4-BC11-73BC-6A47-6DEFA0EE71D4}"/>
                </a:ext>
              </a:extLst>
            </p:cNvPr>
            <p:cNvSpPr txBox="1"/>
            <p:nvPr/>
          </p:nvSpPr>
          <p:spPr>
            <a:xfrm>
              <a:off x="1008383" y="4627907"/>
              <a:ext cx="1756891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v2.56.6 核心成果</a:t>
              </a:r>
            </a:p>
          </p:txBody>
        </p:sp>
        <p:sp>
          <p:nvSpPr>
            <p:cNvPr id="42" name="TextBox 43">
              <a:extLst>
                <a:ext uri="{FF2B5EF4-FFF2-40B4-BE49-F238E27FC236}">
                  <a16:creationId xmlns:a16="http://schemas.microsoft.com/office/drawing/2014/main" id="{1A404217-CC8D-6C4C-26F9-60EBBBBCFE62}"/>
                </a:ext>
              </a:extLst>
            </p:cNvPr>
            <p:cNvSpPr txBox="1"/>
            <p:nvPr/>
          </p:nvSpPr>
          <p:spPr>
            <a:xfrm>
              <a:off x="1010917" y="4954243"/>
              <a:ext cx="4887556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6 轮逐维度优化：AF → PO → LI → LC → CC → FE</a:t>
              </a:r>
            </a:p>
          </p:txBody>
        </p:sp>
        <p:sp>
          <p:nvSpPr>
            <p:cNvPr id="43" name="TextBox 44">
              <a:extLst>
                <a:ext uri="{FF2B5EF4-FFF2-40B4-BE49-F238E27FC236}">
                  <a16:creationId xmlns:a16="http://schemas.microsoft.com/office/drawing/2014/main" id="{52699386-D0B4-3B6B-DB06-7A0D08A46F7C}"/>
                </a:ext>
              </a:extLst>
            </p:cNvPr>
            <p:cNvSpPr txBox="1"/>
            <p:nvPr/>
          </p:nvSpPr>
          <p:spPr>
            <a:xfrm>
              <a:off x="1010917" y="5220943"/>
              <a:ext cx="315471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std 28.16 → 6.22（降幅 </a:t>
              </a:r>
              <a:r>
                <a:rPr lang="zh-CN" sz="16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77.9%</a:t>
              </a:r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）</a:t>
              </a:r>
            </a:p>
          </p:txBody>
        </p:sp>
        <p:sp>
          <p:nvSpPr>
            <p:cNvPr id="44" name="TextBox 45">
              <a:extLst>
                <a:ext uri="{FF2B5EF4-FFF2-40B4-BE49-F238E27FC236}">
                  <a16:creationId xmlns:a16="http://schemas.microsoft.com/office/drawing/2014/main" id="{B8A6A102-5F27-E7EE-8A5A-F9E3E9ABAB84}"/>
                </a:ext>
              </a:extLst>
            </p:cNvPr>
            <p:cNvSpPr txBox="1"/>
            <p:nvPr/>
          </p:nvSpPr>
          <p:spPr>
            <a:xfrm>
              <a:off x="1010917" y="5487643"/>
              <a:ext cx="2944717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Holdout 验证通过（无过拟合）</a:t>
              </a:r>
            </a:p>
          </p:txBody>
        </p:sp>
        <p:sp>
          <p:nvSpPr>
            <p:cNvPr id="45" name="Rectangle 46">
              <a:extLst>
                <a:ext uri="{FF2B5EF4-FFF2-40B4-BE49-F238E27FC236}">
                  <a16:creationId xmlns:a16="http://schemas.microsoft.com/office/drawing/2014/main" id="{05A08A14-0B47-CA4A-DA73-717849410A9A}"/>
                </a:ext>
              </a:extLst>
            </p:cNvPr>
            <p:cNvSpPr/>
            <p:nvPr/>
          </p:nvSpPr>
          <p:spPr>
            <a:xfrm>
              <a:off x="6248400" y="4495800"/>
              <a:ext cx="5257800" cy="1409700"/>
            </a:xfrm>
            <a:prstGeom prst="roundRect">
              <a:avLst>
                <a:gd name="adj" fmla="val 5405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46" name="TextBox 47">
              <a:extLst>
                <a:ext uri="{FF2B5EF4-FFF2-40B4-BE49-F238E27FC236}">
                  <a16:creationId xmlns:a16="http://schemas.microsoft.com/office/drawing/2014/main" id="{C25F9B0C-8319-EB49-4434-D5D7AF2AB2C5}"/>
                </a:ext>
              </a:extLst>
            </p:cNvPr>
            <p:cNvSpPr txBox="1"/>
            <p:nvPr/>
          </p:nvSpPr>
          <p:spPr>
            <a:xfrm>
              <a:off x="6570983" y="4627907"/>
              <a:ext cx="1564531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v2.51 失败教训</a:t>
              </a:r>
            </a:p>
          </p:txBody>
        </p:sp>
        <p:sp>
          <p:nvSpPr>
            <p:cNvPr id="47" name="TextBox 48">
              <a:extLst>
                <a:ext uri="{FF2B5EF4-FFF2-40B4-BE49-F238E27FC236}">
                  <a16:creationId xmlns:a16="http://schemas.microsoft.com/office/drawing/2014/main" id="{18116BBF-AB56-BA9F-AE77-FF53CB576355}"/>
                </a:ext>
              </a:extLst>
            </p:cNvPr>
            <p:cNvSpPr txBox="1"/>
            <p:nvPr/>
          </p:nvSpPr>
          <p:spPr>
            <a:xfrm>
              <a:off x="6573517" y="4954243"/>
              <a:ext cx="2731517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短 prompt 无法判断论证质量</a:t>
              </a:r>
            </a:p>
          </p:txBody>
        </p:sp>
        <p:sp>
          <p:nvSpPr>
            <p:cNvPr id="48" name="TextBox 49">
              <a:extLst>
                <a:ext uri="{FF2B5EF4-FFF2-40B4-BE49-F238E27FC236}">
                  <a16:creationId xmlns:a16="http://schemas.microsoft.com/office/drawing/2014/main" id="{9593F17F-B21D-B852-BDB4-199F30EF4906}"/>
                </a:ext>
              </a:extLst>
            </p:cNvPr>
            <p:cNvSpPr txBox="1"/>
            <p:nvPr/>
          </p:nvSpPr>
          <p:spPr>
            <a:xfrm>
              <a:off x="6573517" y="5220943"/>
              <a:ext cx="373647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AI 无法区分"正常学术表述"和"空泛表述"</a:t>
              </a:r>
            </a:p>
          </p:txBody>
        </p:sp>
        <p:sp>
          <p:nvSpPr>
            <p:cNvPr id="49" name="TextBox 50">
              <a:extLst>
                <a:ext uri="{FF2B5EF4-FFF2-40B4-BE49-F238E27FC236}">
                  <a16:creationId xmlns:a16="http://schemas.microsoft.com/office/drawing/2014/main" id="{6D2DE453-002B-938F-BFBF-8D17D9C1DDB3}"/>
                </a:ext>
              </a:extLst>
            </p:cNvPr>
            <p:cNvSpPr txBox="1"/>
            <p:nvPr/>
          </p:nvSpPr>
          <p:spPr>
            <a:xfrm>
              <a:off x="6573517" y="5487643"/>
              <a:ext cx="31066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• Pattern 定义必须基于可观察指标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5386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758FCF-94E0-D03F-F0CB-9BEEFA6E8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28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342D43-3739-EB2B-4DAE-F381C614194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5FC21C-00BF-2D2F-4039-DAB4F09F2C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D803B8-3F52-089A-34C8-EDC1D7518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技术架构概览</a:t>
            </a:r>
          </a:p>
        </p:txBody>
      </p:sp>
      <p:grpSp>
        <p:nvGrpSpPr>
          <p:cNvPr id="7" name="Group 16">
            <a:extLst>
              <a:ext uri="{FF2B5EF4-FFF2-40B4-BE49-F238E27FC236}">
                <a16:creationId xmlns:a16="http://schemas.microsoft.com/office/drawing/2014/main" id="{D36EB4A2-2616-1AFB-6A4C-091B5A850519}"/>
              </a:ext>
            </a:extLst>
          </p:cNvPr>
          <p:cNvGrpSpPr/>
          <p:nvPr/>
        </p:nvGrpSpPr>
        <p:grpSpPr>
          <a:xfrm>
            <a:off x="685800" y="1228725"/>
            <a:ext cx="3364992" cy="2095500"/>
            <a:chOff x="685800" y="1228725"/>
            <a:chExt cx="3364992" cy="2095500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2EF1637B-BE07-ED9A-66D1-AFA1BBDB40EA}"/>
                </a:ext>
              </a:extLst>
            </p:cNvPr>
            <p:cNvSpPr/>
            <p:nvPr/>
          </p:nvSpPr>
          <p:spPr>
            <a:xfrm>
              <a:off x="685800" y="1228725"/>
              <a:ext cx="3048000" cy="2095500"/>
            </a:xfrm>
            <a:prstGeom prst="roundRect">
              <a:avLst>
                <a:gd name="adj" fmla="val 3636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B998F916-467A-CE09-DCB0-CC25C77B5BBB}"/>
                </a:ext>
              </a:extLst>
            </p:cNvPr>
            <p:cNvSpPr txBox="1"/>
            <p:nvPr/>
          </p:nvSpPr>
          <p:spPr>
            <a:xfrm>
              <a:off x="1008383" y="1370357"/>
              <a:ext cx="936606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核心特性</a:t>
              </a: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5F3B11F7-D25E-E1EB-7556-09E3BEF80649}"/>
                </a:ext>
              </a:extLst>
            </p:cNvPr>
            <p:cNvSpPr txBox="1"/>
            <p:nvPr/>
          </p:nvSpPr>
          <p:spPr>
            <a:xfrm>
              <a:off x="1010917" y="1715743"/>
              <a:ext cx="150134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✓ 配置化评价框架</a:t>
              </a: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0D988D70-E347-FF36-C474-18E67E61D61C}"/>
                </a:ext>
              </a:extLst>
            </p:cNvPr>
            <p:cNvSpPr txBox="1"/>
            <p:nvPr/>
          </p:nvSpPr>
          <p:spPr>
            <a:xfrm>
              <a:off x="1203960" y="1965960"/>
              <a:ext cx="28468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Prompt/契约/量化映射以 YAML 为真源</a:t>
              </a:r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DA3B48E3-C250-95FE-FFCF-38BEB9994F51}"/>
                </a:ext>
              </a:extLst>
            </p:cNvPr>
            <p:cNvSpPr txBox="1"/>
            <p:nvPr/>
          </p:nvSpPr>
          <p:spPr>
            <a:xfrm>
              <a:off x="1010917" y="2249143"/>
              <a:ext cx="112789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✓ 全链路审计</a:t>
              </a: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FFB7A2B9-032F-85AF-D86E-D366BC84DBFB}"/>
                </a:ext>
              </a:extLst>
            </p:cNvPr>
            <p:cNvSpPr txBox="1"/>
            <p:nvPr/>
          </p:nvSpPr>
          <p:spPr>
            <a:xfrm>
              <a:off x="1203960" y="2499360"/>
              <a:ext cx="170268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所有 AI 调用记录持久化</a:t>
              </a:r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791F157E-B97A-B11B-E92C-0D70E1902EDF}"/>
                </a:ext>
              </a:extLst>
            </p:cNvPr>
            <p:cNvSpPr txBox="1"/>
            <p:nvPr/>
          </p:nvSpPr>
          <p:spPr>
            <a:xfrm>
              <a:off x="1010917" y="2782543"/>
              <a:ext cx="112789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✓ 模块化设计</a:t>
              </a:r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1D7A322E-51A7-BA3A-67EA-9FAD67DA568C}"/>
                </a:ext>
              </a:extLst>
            </p:cNvPr>
            <p:cNvSpPr txBox="1"/>
            <p:nvPr/>
          </p:nvSpPr>
          <p:spPr>
            <a:xfrm>
              <a:off x="1203960" y="3032760"/>
              <a:ext cx="269481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评价引擎/知识体系/可靠性/复核解耦</a:t>
              </a:r>
            </a:p>
          </p:txBody>
        </p:sp>
      </p:grpSp>
      <p:grpSp>
        <p:nvGrpSpPr>
          <p:cNvPr id="16" name="Group 48">
            <a:extLst>
              <a:ext uri="{FF2B5EF4-FFF2-40B4-BE49-F238E27FC236}">
                <a16:creationId xmlns:a16="http://schemas.microsoft.com/office/drawing/2014/main" id="{33416340-9F2C-73F9-D080-30D3733CDEE2}"/>
              </a:ext>
            </a:extLst>
          </p:cNvPr>
          <p:cNvGrpSpPr/>
          <p:nvPr/>
        </p:nvGrpSpPr>
        <p:grpSpPr>
          <a:xfrm>
            <a:off x="4191000" y="1228725"/>
            <a:ext cx="7315200" cy="3952875"/>
            <a:chOff x="4191000" y="1228725"/>
            <a:chExt cx="7315200" cy="3952875"/>
          </a:xfrm>
        </p:grpSpPr>
        <p:sp>
          <p:nvSpPr>
            <p:cNvPr id="17" name="Rectangle 17">
              <a:extLst>
                <a:ext uri="{FF2B5EF4-FFF2-40B4-BE49-F238E27FC236}">
                  <a16:creationId xmlns:a16="http://schemas.microsoft.com/office/drawing/2014/main" id="{F525FBCA-322E-B0F1-D16A-E36C2805958D}"/>
                </a:ext>
              </a:extLst>
            </p:cNvPr>
            <p:cNvSpPr/>
            <p:nvPr/>
          </p:nvSpPr>
          <p:spPr>
            <a:xfrm>
              <a:off x="4191000" y="1228725"/>
              <a:ext cx="7315200" cy="495300"/>
            </a:xfrm>
            <a:prstGeom prst="roundRect">
              <a:avLst>
                <a:gd name="adj" fmla="val 15385"/>
              </a:avLst>
            </a:prstGeom>
            <a:solidFill>
              <a:srgbClr val="F4F5F7"/>
            </a:solidFill>
            <a:ln w="14288">
              <a:solidFill>
                <a:srgbClr val="1F4D78"/>
              </a:solidFill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AFCBDB3D-0546-94DF-3D27-2E94749E6B9F}"/>
                </a:ext>
              </a:extLst>
            </p:cNvPr>
            <p:cNvSpPr txBox="1"/>
            <p:nvPr/>
          </p:nvSpPr>
          <p:spPr>
            <a:xfrm>
              <a:off x="6114737" y="1370357"/>
              <a:ext cx="3467726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Web 前端（React + TypeScript）</a:t>
              </a:r>
            </a:p>
          </p:txBody>
        </p:sp>
        <p:sp>
          <p:nvSpPr>
            <p:cNvPr id="19" name="Line 19">
              <a:extLst>
                <a:ext uri="{FF2B5EF4-FFF2-40B4-BE49-F238E27FC236}">
                  <a16:creationId xmlns:a16="http://schemas.microsoft.com/office/drawing/2014/main" id="{B89575CF-8185-DDBA-9EB1-C344C93B7DDB}"/>
                </a:ext>
              </a:extLst>
            </p:cNvPr>
            <p:cNvSpPr/>
            <p:nvPr/>
          </p:nvSpPr>
          <p:spPr>
            <a:xfrm>
              <a:off x="7848600" y="1724025"/>
              <a:ext cx="1" cy="228600"/>
            </a:xfrm>
            <a:prstGeom prst="line">
              <a:avLst/>
            </a:prstGeom>
            <a:noFill/>
            <a:ln w="19050">
              <a:solidFill>
                <a:srgbClr val="94A3B8"/>
              </a:solidFill>
              <a:tailEnd type="triangle" w="lg" len="lg"/>
            </a:ln>
          </p:spPr>
        </p:sp>
        <p:sp>
          <p:nvSpPr>
            <p:cNvPr id="20" name="Rectangle 20">
              <a:extLst>
                <a:ext uri="{FF2B5EF4-FFF2-40B4-BE49-F238E27FC236}">
                  <a16:creationId xmlns:a16="http://schemas.microsoft.com/office/drawing/2014/main" id="{3DC76C18-32D4-C3C9-435E-F0011B837AE7}"/>
                </a:ext>
              </a:extLst>
            </p:cNvPr>
            <p:cNvSpPr/>
            <p:nvPr/>
          </p:nvSpPr>
          <p:spPr>
            <a:xfrm>
              <a:off x="4191000" y="2000250"/>
              <a:ext cx="7315200" cy="495300"/>
            </a:xfrm>
            <a:prstGeom prst="roundRect">
              <a:avLst>
                <a:gd name="adj" fmla="val 15385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18EB3DE8-5D81-2878-719A-52134FB3F95D}"/>
                </a:ext>
              </a:extLst>
            </p:cNvPr>
            <p:cNvSpPr txBox="1"/>
            <p:nvPr/>
          </p:nvSpPr>
          <p:spPr>
            <a:xfrm>
              <a:off x="6898712" y="2141882"/>
              <a:ext cx="1899776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API 层（FastAPI）</a:t>
              </a:r>
            </a:p>
          </p:txBody>
        </p:sp>
        <p:sp>
          <p:nvSpPr>
            <p:cNvPr id="22" name="Line 22">
              <a:extLst>
                <a:ext uri="{FF2B5EF4-FFF2-40B4-BE49-F238E27FC236}">
                  <a16:creationId xmlns:a16="http://schemas.microsoft.com/office/drawing/2014/main" id="{55515FA8-1AE8-C3AB-B263-3CC0D749534E}"/>
                </a:ext>
              </a:extLst>
            </p:cNvPr>
            <p:cNvSpPr/>
            <p:nvPr/>
          </p:nvSpPr>
          <p:spPr>
            <a:xfrm>
              <a:off x="7848600" y="2495550"/>
              <a:ext cx="1" cy="228600"/>
            </a:xfrm>
            <a:prstGeom prst="line">
              <a:avLst/>
            </a:prstGeom>
            <a:noFill/>
            <a:ln w="19050">
              <a:solidFill>
                <a:srgbClr val="94A3B8"/>
              </a:solidFill>
              <a:tailEnd type="triangle" w="lg" len="lg"/>
            </a:ln>
          </p:spPr>
        </p:sp>
        <p:grpSp>
          <p:nvGrpSpPr>
            <p:cNvPr id="23" name="Group 39">
              <a:extLst>
                <a:ext uri="{FF2B5EF4-FFF2-40B4-BE49-F238E27FC236}">
                  <a16:creationId xmlns:a16="http://schemas.microsoft.com/office/drawing/2014/main" id="{A783AC29-8AC0-D051-363B-71845C007226}"/>
                </a:ext>
              </a:extLst>
            </p:cNvPr>
            <p:cNvGrpSpPr/>
            <p:nvPr/>
          </p:nvGrpSpPr>
          <p:grpSpPr>
            <a:xfrm>
              <a:off x="4191000" y="2781300"/>
              <a:ext cx="7315200" cy="819150"/>
              <a:chOff x="4191000" y="2781300"/>
              <a:chExt cx="7315200" cy="819150"/>
            </a:xfrm>
          </p:grpSpPr>
          <p:sp>
            <p:nvSpPr>
              <p:cNvPr id="32" name="Rectangle 23">
                <a:extLst>
                  <a:ext uri="{FF2B5EF4-FFF2-40B4-BE49-F238E27FC236}">
                    <a16:creationId xmlns:a16="http://schemas.microsoft.com/office/drawing/2014/main" id="{A7A4A3D2-81EA-D48A-4FEA-274346C0DA34}"/>
                  </a:ext>
                </a:extLst>
              </p:cNvPr>
              <p:cNvSpPr/>
              <p:nvPr/>
            </p:nvSpPr>
            <p:spPr>
              <a:xfrm>
                <a:off x="4191000" y="2781300"/>
                <a:ext cx="17145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4F5F7"/>
              </a:solidFill>
              <a:ln w="14288">
                <a:solidFill>
                  <a:srgbClr val="1F4D78"/>
                </a:solidFill>
              </a:ln>
            </p:spPr>
          </p:sp>
          <p:sp>
            <p:nvSpPr>
              <p:cNvPr id="33" name="TextBox 24">
                <a:extLst>
                  <a:ext uri="{FF2B5EF4-FFF2-40B4-BE49-F238E27FC236}">
                    <a16:creationId xmlns:a16="http://schemas.microsoft.com/office/drawing/2014/main" id="{F62A2108-1605-5203-8228-F9380E036A17}"/>
                  </a:ext>
                </a:extLst>
              </p:cNvPr>
              <p:cNvSpPr txBox="1"/>
              <p:nvPr/>
            </p:nvSpPr>
            <p:spPr>
              <a:xfrm>
                <a:off x="4637881" y="2869398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b="1" dirty="0">
                    <a:solidFill>
                      <a:srgbClr val="1F4D78"/>
                    </a:solidFill>
                    <a:latin typeface="Arial"/>
                    <a:ea typeface="Microsoft YaHei"/>
                    <a:cs typeface="Arial"/>
                  </a:rPr>
                  <a:t>评价引擎</a:t>
                </a:r>
              </a:p>
            </p:txBody>
          </p:sp>
          <p:sp>
            <p:nvSpPr>
              <p:cNvPr id="34" name="TextBox 25">
                <a:extLst>
                  <a:ext uri="{FF2B5EF4-FFF2-40B4-BE49-F238E27FC236}">
                    <a16:creationId xmlns:a16="http://schemas.microsoft.com/office/drawing/2014/main" id="{50086535-9CC9-CE0C-AFC8-9FFC15DB4A38}"/>
                  </a:ext>
                </a:extLst>
              </p:cNvPr>
              <p:cNvSpPr txBox="1"/>
              <p:nvPr/>
            </p:nvSpPr>
            <p:spPr>
              <a:xfrm>
                <a:off x="4632960" y="3185160"/>
                <a:ext cx="8305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多模型并发</a:t>
                </a:r>
              </a:p>
            </p:txBody>
          </p:sp>
          <p:sp>
            <p:nvSpPr>
              <p:cNvPr id="35" name="TextBox 26">
                <a:extLst>
                  <a:ext uri="{FF2B5EF4-FFF2-40B4-BE49-F238E27FC236}">
                    <a16:creationId xmlns:a16="http://schemas.microsoft.com/office/drawing/2014/main" id="{8B461DA2-C994-16E8-480D-8E3E6696FAB4}"/>
                  </a:ext>
                </a:extLst>
              </p:cNvPr>
              <p:cNvSpPr txBox="1"/>
              <p:nvPr/>
            </p:nvSpPr>
            <p:spPr>
              <a:xfrm>
                <a:off x="4712970" y="3356610"/>
                <a:ext cx="6705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交叉评审</a:t>
                </a:r>
              </a:p>
            </p:txBody>
          </p:sp>
          <p:sp>
            <p:nvSpPr>
              <p:cNvPr id="36" name="Rectangle 27">
                <a:extLst>
                  <a:ext uri="{FF2B5EF4-FFF2-40B4-BE49-F238E27FC236}">
                    <a16:creationId xmlns:a16="http://schemas.microsoft.com/office/drawing/2014/main" id="{88BCFA75-6A77-51E7-A434-1D32050A665E}"/>
                  </a:ext>
                </a:extLst>
              </p:cNvPr>
              <p:cNvSpPr/>
              <p:nvPr/>
            </p:nvSpPr>
            <p:spPr>
              <a:xfrm>
                <a:off x="6057900" y="2781300"/>
                <a:ext cx="17145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4F5F7"/>
              </a:solidFill>
              <a:ln w="14288">
                <a:solidFill>
                  <a:srgbClr val="1F4D78"/>
                </a:solidFill>
              </a:ln>
            </p:spPr>
          </p:sp>
          <p:sp>
            <p:nvSpPr>
              <p:cNvPr id="37" name="TextBox 28">
                <a:extLst>
                  <a:ext uri="{FF2B5EF4-FFF2-40B4-BE49-F238E27FC236}">
                    <a16:creationId xmlns:a16="http://schemas.microsoft.com/office/drawing/2014/main" id="{4703FB45-E5E9-DA08-4F7A-934852A74318}"/>
                  </a:ext>
                </a:extLst>
              </p:cNvPr>
              <p:cNvSpPr txBox="1"/>
              <p:nvPr/>
            </p:nvSpPr>
            <p:spPr>
              <a:xfrm>
                <a:off x="6504781" y="2869398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b="1" dirty="0">
                    <a:solidFill>
                      <a:srgbClr val="1F4D78"/>
                    </a:solidFill>
                    <a:latin typeface="Arial"/>
                    <a:ea typeface="Microsoft YaHei"/>
                    <a:cs typeface="Arial"/>
                  </a:rPr>
                  <a:t>知识体系</a:t>
                </a:r>
              </a:p>
            </p:txBody>
          </p:sp>
          <p:sp>
            <p:nvSpPr>
              <p:cNvPr id="38" name="TextBox 29">
                <a:extLst>
                  <a:ext uri="{FF2B5EF4-FFF2-40B4-BE49-F238E27FC236}">
                    <a16:creationId xmlns:a16="http://schemas.microsoft.com/office/drawing/2014/main" id="{0C472189-13F4-C730-684F-C087413A8411}"/>
                  </a:ext>
                </a:extLst>
              </p:cNvPr>
              <p:cNvSpPr txBox="1"/>
              <p:nvPr/>
            </p:nvSpPr>
            <p:spPr>
              <a:xfrm>
                <a:off x="6443853" y="3185160"/>
                <a:ext cx="94259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YAML 配置化</a:t>
                </a:r>
              </a:p>
            </p:txBody>
          </p:sp>
          <p:sp>
            <p:nvSpPr>
              <p:cNvPr id="39" name="TextBox 30">
                <a:extLst>
                  <a:ext uri="{FF2B5EF4-FFF2-40B4-BE49-F238E27FC236}">
                    <a16:creationId xmlns:a16="http://schemas.microsoft.com/office/drawing/2014/main" id="{BA2990B4-5E36-5BBE-67A0-95827666950E}"/>
                  </a:ext>
                </a:extLst>
              </p:cNvPr>
              <p:cNvSpPr txBox="1"/>
              <p:nvPr/>
            </p:nvSpPr>
            <p:spPr>
              <a:xfrm>
                <a:off x="6579870" y="3356610"/>
                <a:ext cx="6705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动态加载</a:t>
                </a:r>
              </a:p>
            </p:txBody>
          </p:sp>
          <p:sp>
            <p:nvSpPr>
              <p:cNvPr id="40" name="Rectangle 31">
                <a:extLst>
                  <a:ext uri="{FF2B5EF4-FFF2-40B4-BE49-F238E27FC236}">
                    <a16:creationId xmlns:a16="http://schemas.microsoft.com/office/drawing/2014/main" id="{F10A6EC8-E7C8-D9A8-4668-90BA55A838EC}"/>
                  </a:ext>
                </a:extLst>
              </p:cNvPr>
              <p:cNvSpPr/>
              <p:nvPr/>
            </p:nvSpPr>
            <p:spPr>
              <a:xfrm>
                <a:off x="7924800" y="2781300"/>
                <a:ext cx="17145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4F5F7"/>
              </a:solidFill>
              <a:ln w="14288">
                <a:solidFill>
                  <a:srgbClr val="1F4D78"/>
                </a:solidFill>
              </a:ln>
            </p:spPr>
          </p:sp>
          <p:sp>
            <p:nvSpPr>
              <p:cNvPr id="41" name="TextBox 32">
                <a:extLst>
                  <a:ext uri="{FF2B5EF4-FFF2-40B4-BE49-F238E27FC236}">
                    <a16:creationId xmlns:a16="http://schemas.microsoft.com/office/drawing/2014/main" id="{62D1ED88-C2CE-46F5-EA7B-18E8F278351F}"/>
                  </a:ext>
                </a:extLst>
              </p:cNvPr>
              <p:cNvSpPr txBox="1"/>
              <p:nvPr/>
            </p:nvSpPr>
            <p:spPr>
              <a:xfrm>
                <a:off x="8269089" y="2869398"/>
                <a:ext cx="1025922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b="1" dirty="0">
                    <a:solidFill>
                      <a:srgbClr val="1F4D78"/>
                    </a:solidFill>
                    <a:latin typeface="Arial"/>
                    <a:ea typeface="Microsoft YaHei"/>
                    <a:cs typeface="Arial"/>
                  </a:rPr>
                  <a:t>可靠性验证</a:t>
                </a:r>
              </a:p>
            </p:txBody>
          </p:sp>
          <p:sp>
            <p:nvSpPr>
              <p:cNvPr id="42" name="TextBox 33">
                <a:extLst>
                  <a:ext uri="{FF2B5EF4-FFF2-40B4-BE49-F238E27FC236}">
                    <a16:creationId xmlns:a16="http://schemas.microsoft.com/office/drawing/2014/main" id="{21DF1B66-78F6-3C53-25CB-4F574344CDC1}"/>
                  </a:ext>
                </a:extLst>
              </p:cNvPr>
              <p:cNvSpPr txBox="1"/>
              <p:nvPr/>
            </p:nvSpPr>
            <p:spPr>
              <a:xfrm>
                <a:off x="8450770" y="3185160"/>
                <a:ext cx="66255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std 计算</a:t>
                </a:r>
              </a:p>
            </p:txBody>
          </p:sp>
          <p:sp>
            <p:nvSpPr>
              <p:cNvPr id="43" name="TextBox 34">
                <a:extLst>
                  <a:ext uri="{FF2B5EF4-FFF2-40B4-BE49-F238E27FC236}">
                    <a16:creationId xmlns:a16="http://schemas.microsoft.com/office/drawing/2014/main" id="{1920F474-FDD5-EB37-5C53-085E542AFDC8}"/>
                  </a:ext>
                </a:extLst>
              </p:cNvPr>
              <p:cNvSpPr txBox="1"/>
              <p:nvPr/>
            </p:nvSpPr>
            <p:spPr>
              <a:xfrm>
                <a:off x="8366760" y="3356610"/>
                <a:ext cx="8305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分层置信度</a:t>
                </a:r>
              </a:p>
            </p:txBody>
          </p:sp>
          <p:sp>
            <p:nvSpPr>
              <p:cNvPr id="44" name="Rectangle 35">
                <a:extLst>
                  <a:ext uri="{FF2B5EF4-FFF2-40B4-BE49-F238E27FC236}">
                    <a16:creationId xmlns:a16="http://schemas.microsoft.com/office/drawing/2014/main" id="{09F9798A-9836-B200-9909-7F8FA0F0C9C4}"/>
                  </a:ext>
                </a:extLst>
              </p:cNvPr>
              <p:cNvSpPr/>
              <p:nvPr/>
            </p:nvSpPr>
            <p:spPr>
              <a:xfrm>
                <a:off x="9791700" y="2781300"/>
                <a:ext cx="17145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4F5F7"/>
              </a:solidFill>
              <a:ln w="14288">
                <a:solidFill>
                  <a:srgbClr val="1F4D78"/>
                </a:solidFill>
              </a:ln>
            </p:spPr>
          </p:sp>
          <p:sp>
            <p:nvSpPr>
              <p:cNvPr id="45" name="TextBox 36">
                <a:extLst>
                  <a:ext uri="{FF2B5EF4-FFF2-40B4-BE49-F238E27FC236}">
                    <a16:creationId xmlns:a16="http://schemas.microsoft.com/office/drawing/2014/main" id="{A6DFD97E-3AB9-70AF-B65C-6572CDA5984E}"/>
                  </a:ext>
                </a:extLst>
              </p:cNvPr>
              <p:cNvSpPr txBox="1"/>
              <p:nvPr/>
            </p:nvSpPr>
            <p:spPr>
              <a:xfrm>
                <a:off x="10238581" y="2869398"/>
                <a:ext cx="82073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00" b="1" dirty="0">
                    <a:solidFill>
                      <a:srgbClr val="1F4D78"/>
                    </a:solidFill>
                    <a:latin typeface="Arial"/>
                    <a:ea typeface="Microsoft YaHei"/>
                    <a:cs typeface="Arial"/>
                  </a:rPr>
                  <a:t>专家复核</a:t>
                </a:r>
              </a:p>
            </p:txBody>
          </p:sp>
          <p:sp>
            <p:nvSpPr>
              <p:cNvPr id="46" name="TextBox 37">
                <a:extLst>
                  <a:ext uri="{FF2B5EF4-FFF2-40B4-BE49-F238E27FC236}">
                    <a16:creationId xmlns:a16="http://schemas.microsoft.com/office/drawing/2014/main" id="{DC65D523-EB01-7BEA-F5D8-D57FFA17A141}"/>
                  </a:ext>
                </a:extLst>
              </p:cNvPr>
              <p:cNvSpPr txBox="1"/>
              <p:nvPr/>
            </p:nvSpPr>
            <p:spPr>
              <a:xfrm>
                <a:off x="10233660" y="3185160"/>
                <a:ext cx="8305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工作流引擎</a:t>
                </a:r>
              </a:p>
            </p:txBody>
          </p:sp>
          <p:sp>
            <p:nvSpPr>
              <p:cNvPr id="47" name="TextBox 38">
                <a:extLst>
                  <a:ext uri="{FF2B5EF4-FFF2-40B4-BE49-F238E27FC236}">
                    <a16:creationId xmlns:a16="http://schemas.microsoft.com/office/drawing/2014/main" id="{F20441AF-7EF2-3065-8412-B29C5CDC3BBE}"/>
                  </a:ext>
                </a:extLst>
              </p:cNvPr>
              <p:cNvSpPr txBox="1"/>
              <p:nvPr/>
            </p:nvSpPr>
            <p:spPr>
              <a:xfrm>
                <a:off x="10313670" y="3356610"/>
                <a:ext cx="6705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邮件通知</a:t>
                </a:r>
              </a:p>
            </p:txBody>
          </p:sp>
        </p:grpSp>
        <p:sp>
          <p:nvSpPr>
            <p:cNvPr id="24" name="Line 40">
              <a:extLst>
                <a:ext uri="{FF2B5EF4-FFF2-40B4-BE49-F238E27FC236}">
                  <a16:creationId xmlns:a16="http://schemas.microsoft.com/office/drawing/2014/main" id="{354D6674-959A-2B3E-1510-13AA2252AED2}"/>
                </a:ext>
              </a:extLst>
            </p:cNvPr>
            <p:cNvSpPr/>
            <p:nvPr/>
          </p:nvSpPr>
          <p:spPr>
            <a:xfrm>
              <a:off x="7848600" y="3543300"/>
              <a:ext cx="1" cy="266700"/>
            </a:xfrm>
            <a:prstGeom prst="line">
              <a:avLst/>
            </a:prstGeom>
            <a:noFill/>
            <a:ln w="19050">
              <a:solidFill>
                <a:srgbClr val="94A3B8"/>
              </a:solidFill>
              <a:tailEnd type="triangle" w="lg" len="lg"/>
            </a:ln>
          </p:spPr>
        </p:sp>
        <p:sp>
          <p:nvSpPr>
            <p:cNvPr id="25" name="Rectangle 41">
              <a:extLst>
                <a:ext uri="{FF2B5EF4-FFF2-40B4-BE49-F238E27FC236}">
                  <a16:creationId xmlns:a16="http://schemas.microsoft.com/office/drawing/2014/main" id="{BFAB78D2-71C3-571E-BB17-A3D10DA0872A}"/>
                </a:ext>
              </a:extLst>
            </p:cNvPr>
            <p:cNvSpPr/>
            <p:nvPr/>
          </p:nvSpPr>
          <p:spPr>
            <a:xfrm>
              <a:off x="4191000" y="3867150"/>
              <a:ext cx="7315200" cy="495300"/>
            </a:xfrm>
            <a:prstGeom prst="roundRect">
              <a:avLst>
                <a:gd name="adj" fmla="val 15385"/>
              </a:avLst>
            </a:prstGeom>
            <a:solidFill>
              <a:srgbClr val="C8161E"/>
            </a:solidFill>
            <a:ln>
              <a:noFill/>
            </a:ln>
          </p:spPr>
        </p:sp>
        <p:sp>
          <p:nvSpPr>
            <p:cNvPr id="26" name="TextBox 42">
              <a:extLst>
                <a:ext uri="{FF2B5EF4-FFF2-40B4-BE49-F238E27FC236}">
                  <a16:creationId xmlns:a16="http://schemas.microsoft.com/office/drawing/2014/main" id="{0EF9C653-B1E9-8C0D-B105-C5F94A7B9207}"/>
                </a:ext>
              </a:extLst>
            </p:cNvPr>
            <p:cNvSpPr txBox="1"/>
            <p:nvPr/>
          </p:nvSpPr>
          <p:spPr>
            <a:xfrm>
              <a:off x="6179073" y="4008782"/>
              <a:ext cx="3339055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统一抽象层（DashScope 百炼 ）</a:t>
              </a:r>
            </a:p>
          </p:txBody>
        </p:sp>
        <p:sp>
          <p:nvSpPr>
            <p:cNvPr id="27" name="Line 43">
              <a:extLst>
                <a:ext uri="{FF2B5EF4-FFF2-40B4-BE49-F238E27FC236}">
                  <a16:creationId xmlns:a16="http://schemas.microsoft.com/office/drawing/2014/main" id="{03313B2B-B8F9-C606-3421-6938054CB3FB}"/>
                </a:ext>
              </a:extLst>
            </p:cNvPr>
            <p:cNvSpPr/>
            <p:nvPr/>
          </p:nvSpPr>
          <p:spPr>
            <a:xfrm>
              <a:off x="7848600" y="4362450"/>
              <a:ext cx="1" cy="266700"/>
            </a:xfrm>
            <a:prstGeom prst="line">
              <a:avLst/>
            </a:prstGeom>
            <a:noFill/>
            <a:ln w="19050">
              <a:solidFill>
                <a:srgbClr val="94A3B8"/>
              </a:solidFill>
              <a:tailEnd type="triangle" w="lg" len="lg"/>
            </a:ln>
          </p:spPr>
        </p:sp>
        <p:sp>
          <p:nvSpPr>
            <p:cNvPr id="28" name="Rectangle 44">
              <a:extLst>
                <a:ext uri="{FF2B5EF4-FFF2-40B4-BE49-F238E27FC236}">
                  <a16:creationId xmlns:a16="http://schemas.microsoft.com/office/drawing/2014/main" id="{03D9E164-FDCB-773A-A8AB-D0D4276FD623}"/>
                </a:ext>
              </a:extLst>
            </p:cNvPr>
            <p:cNvSpPr/>
            <p:nvPr/>
          </p:nvSpPr>
          <p:spPr>
            <a:xfrm>
              <a:off x="4191000" y="4686300"/>
              <a:ext cx="3543300" cy="495300"/>
            </a:xfrm>
            <a:prstGeom prst="roundRect">
              <a:avLst>
                <a:gd name="adj" fmla="val 15385"/>
              </a:avLst>
            </a:prstGeom>
            <a:solidFill>
              <a:srgbClr val="F4F5F7"/>
            </a:solidFill>
            <a:ln w="14288">
              <a:solidFill>
                <a:srgbClr val="1F4D78"/>
              </a:solidFill>
            </a:ln>
          </p:spPr>
        </p:sp>
        <p:sp>
          <p:nvSpPr>
            <p:cNvPr id="29" name="TextBox 45">
              <a:extLst>
                <a:ext uri="{FF2B5EF4-FFF2-40B4-BE49-F238E27FC236}">
                  <a16:creationId xmlns:a16="http://schemas.microsoft.com/office/drawing/2014/main" id="{C2BC8CC2-9FD0-D5FE-0F00-0801E2895EE2}"/>
                </a:ext>
              </a:extLst>
            </p:cNvPr>
            <p:cNvSpPr txBox="1"/>
            <p:nvPr/>
          </p:nvSpPr>
          <p:spPr>
            <a:xfrm>
              <a:off x="4975457" y="4818472"/>
              <a:ext cx="197438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PostgreSQL + Redis</a:t>
              </a:r>
            </a:p>
          </p:txBody>
        </p:sp>
        <p:sp>
          <p:nvSpPr>
            <p:cNvPr id="30" name="Rectangle 46">
              <a:extLst>
                <a:ext uri="{FF2B5EF4-FFF2-40B4-BE49-F238E27FC236}">
                  <a16:creationId xmlns:a16="http://schemas.microsoft.com/office/drawing/2014/main" id="{A6246D32-EC24-B2C1-CAEE-7242FEE8EDE5}"/>
                </a:ext>
              </a:extLst>
            </p:cNvPr>
            <p:cNvSpPr/>
            <p:nvPr/>
          </p:nvSpPr>
          <p:spPr>
            <a:xfrm>
              <a:off x="7962900" y="4686300"/>
              <a:ext cx="3543300" cy="495300"/>
            </a:xfrm>
            <a:prstGeom prst="roundRect">
              <a:avLst>
                <a:gd name="adj" fmla="val 15385"/>
              </a:avLst>
            </a:prstGeom>
            <a:solidFill>
              <a:srgbClr val="F4F5F7"/>
            </a:solidFill>
            <a:ln w="14288">
              <a:solidFill>
                <a:srgbClr val="1F4D78"/>
              </a:solidFill>
            </a:ln>
          </p:spPr>
        </p:sp>
        <p:sp>
          <p:nvSpPr>
            <p:cNvPr id="31" name="TextBox 47">
              <a:extLst>
                <a:ext uri="{FF2B5EF4-FFF2-40B4-BE49-F238E27FC236}">
                  <a16:creationId xmlns:a16="http://schemas.microsoft.com/office/drawing/2014/main" id="{7755063F-88F0-1994-7A65-021118CB7AAC}"/>
                </a:ext>
              </a:extLst>
            </p:cNvPr>
            <p:cNvSpPr txBox="1"/>
            <p:nvPr/>
          </p:nvSpPr>
          <p:spPr>
            <a:xfrm>
              <a:off x="9016405" y="4818472"/>
              <a:ext cx="143629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全链路审计日志</a:t>
              </a:r>
            </a:p>
          </p:txBody>
        </p:sp>
      </p:grpSp>
      <p:sp>
        <p:nvSpPr>
          <p:cNvPr id="48" name="Rectangle 49">
            <a:extLst>
              <a:ext uri="{FF2B5EF4-FFF2-40B4-BE49-F238E27FC236}">
                <a16:creationId xmlns:a16="http://schemas.microsoft.com/office/drawing/2014/main" id="{44BDC9BF-DC98-23DD-0415-C96C1A2FD838}"/>
              </a:ext>
            </a:extLst>
          </p:cNvPr>
          <p:cNvSpPr/>
          <p:nvPr/>
        </p:nvSpPr>
        <p:spPr>
          <a:xfrm>
            <a:off x="685800" y="5524500"/>
            <a:ext cx="10820400" cy="571500"/>
          </a:xfrm>
          <a:prstGeom prst="roundRect">
            <a:avLst>
              <a:gd name="adj" fmla="val 13333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49" name="TextBox 50">
            <a:extLst>
              <a:ext uri="{FF2B5EF4-FFF2-40B4-BE49-F238E27FC236}">
                <a16:creationId xmlns:a16="http://schemas.microsoft.com/office/drawing/2014/main" id="{09AFA7AC-99CF-1E62-683D-865DCF50800A}"/>
              </a:ext>
            </a:extLst>
          </p:cNvPr>
          <p:cNvSpPr txBox="1"/>
          <p:nvPr/>
        </p:nvSpPr>
        <p:spPr>
          <a:xfrm>
            <a:off x="1010917" y="5678143"/>
            <a:ext cx="9695988" cy="246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1F4D78"/>
                </a:solidFill>
                <a:latin typeface="Arial"/>
                <a:ea typeface="Microsoft YaHei"/>
                <a:cs typeface="Arial"/>
              </a:rPr>
              <a:t>技术栈</a:t>
            </a:r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：Python 3.10+ (FastAPI) · PostgreSQL + Redis · DashScope 百炼（国内模型）· YAML 配置化框架</a:t>
            </a:r>
          </a:p>
        </p:txBody>
      </p:sp>
    </p:spTree>
    <p:extLst>
      <p:ext uri="{BB962C8B-B14F-4D97-AF65-F5344CB8AC3E}">
        <p14:creationId xmlns:p14="http://schemas.microsoft.com/office/powerpoint/2010/main" val="108577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4057F2-A384-A7B2-9B58-CD054D421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29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72B95-4D12-DCCC-9FF4-5979B0581DB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34E920-F902-4448-8E66-9EDA0E55C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C6BE0C-6965-05B0-4D54-3305925241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失败经验与方法论沉淀</a:t>
            </a:r>
          </a:p>
        </p:txBody>
      </p:sp>
      <p:grpSp>
        <p:nvGrpSpPr>
          <p:cNvPr id="6" name="Group 28">
            <a:extLst>
              <a:ext uri="{FF2B5EF4-FFF2-40B4-BE49-F238E27FC236}">
                <a16:creationId xmlns:a16="http://schemas.microsoft.com/office/drawing/2014/main" id="{A292CBFD-BB24-C197-B572-E9248AD60315}"/>
              </a:ext>
            </a:extLst>
          </p:cNvPr>
          <p:cNvGrpSpPr/>
          <p:nvPr/>
        </p:nvGrpSpPr>
        <p:grpSpPr>
          <a:xfrm>
            <a:off x="685800" y="1228725"/>
            <a:ext cx="5257800" cy="4762500"/>
            <a:chOff x="685800" y="1228725"/>
            <a:chExt cx="5257800" cy="4762500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033496F3-1201-76BD-DE64-5B6DDE25F53E}"/>
                </a:ext>
              </a:extLst>
            </p:cNvPr>
            <p:cNvSpPr/>
            <p:nvPr/>
          </p:nvSpPr>
          <p:spPr>
            <a:xfrm>
              <a:off x="685800" y="1228725"/>
              <a:ext cx="5257800" cy="4762500"/>
            </a:xfrm>
            <a:prstGeom prst="roundRect">
              <a:avLst>
                <a:gd name="adj" fmla="val 1600"/>
              </a:avLst>
            </a:prstGeom>
            <a:solidFill>
              <a:srgbClr val="FFF8F0"/>
            </a:solidFill>
            <a:ln w="14288">
              <a:solidFill>
                <a:srgbClr val="E07B00"/>
              </a:solidFill>
            </a:ln>
          </p:spPr>
        </p:sp>
        <p:sp>
          <p:nvSpPr>
            <p:cNvPr id="8" name="TextBox 9">
              <a:extLst>
                <a:ext uri="{FF2B5EF4-FFF2-40B4-BE49-F238E27FC236}">
                  <a16:creationId xmlns:a16="http://schemas.microsoft.com/office/drawing/2014/main" id="{D327AD1B-1DF5-A2E5-83A7-3481695B58D6}"/>
                </a:ext>
              </a:extLst>
            </p:cNvPr>
            <p:cNvSpPr txBox="1"/>
            <p:nvPr/>
          </p:nvSpPr>
          <p:spPr>
            <a:xfrm>
              <a:off x="1790922" y="1384273"/>
              <a:ext cx="3047555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v2.51 Phase 0 失败案例</a:t>
              </a:r>
            </a:p>
          </p:txBody>
        </p:sp>
        <p:sp>
          <p:nvSpPr>
            <p:cNvPr id="9" name="TextBox 10">
              <a:extLst>
                <a:ext uri="{FF2B5EF4-FFF2-40B4-BE49-F238E27FC236}">
                  <a16:creationId xmlns:a16="http://schemas.microsoft.com/office/drawing/2014/main" id="{5F6CB26E-5EFD-930D-391D-E267428A7335}"/>
                </a:ext>
              </a:extLst>
            </p:cNvPr>
            <p:cNvSpPr txBox="1"/>
            <p:nvPr/>
          </p:nvSpPr>
          <p:spPr>
            <a:xfrm>
              <a:off x="1008383" y="1827557"/>
              <a:ext cx="936606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问题诊断</a:t>
              </a:r>
            </a:p>
          </p:txBody>
        </p:sp>
        <p:sp>
          <p:nvSpPr>
            <p:cNvPr id="10" name="Ellipse 11">
              <a:extLst>
                <a:ext uri="{FF2B5EF4-FFF2-40B4-BE49-F238E27FC236}">
                  <a16:creationId xmlns:a16="http://schemas.microsoft.com/office/drawing/2014/main" id="{D746E97F-C7A0-E440-07AC-535FFED287BB}"/>
                </a:ext>
              </a:extLst>
            </p:cNvPr>
            <p:cNvSpPr/>
            <p:nvPr/>
          </p:nvSpPr>
          <p:spPr>
            <a:xfrm>
              <a:off x="990600" y="2266950"/>
              <a:ext cx="76200" cy="76200"/>
            </a:xfrm>
            <a:prstGeom prst="ellipse">
              <a:avLst/>
            </a:prstGeom>
            <a:solidFill>
              <a:srgbClr val="E07B00"/>
            </a:solidFill>
            <a:ln>
              <a:noFill/>
            </a:ln>
          </p:spPr>
        </p: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B840768F-ECD7-18D7-D225-1C4771D1083E}"/>
                </a:ext>
              </a:extLst>
            </p:cNvPr>
            <p:cNvSpPr txBox="1"/>
            <p:nvPr/>
          </p:nvSpPr>
          <p:spPr>
            <a:xfrm>
              <a:off x="1201417" y="2201518"/>
              <a:ext cx="3321897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负面模式检测器命中率 </a:t>
              </a:r>
              <a:r>
                <a:rPr lang="zh-CN" sz="14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22%</a:t>
              </a:r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 vs 目标 70%</a:t>
              </a:r>
            </a:p>
          </p:txBody>
        </p:sp>
        <p:sp>
          <p:nvSpPr>
            <p:cNvPr id="12" name="Ellipse 13">
              <a:extLst>
                <a:ext uri="{FF2B5EF4-FFF2-40B4-BE49-F238E27FC236}">
                  <a16:creationId xmlns:a16="http://schemas.microsoft.com/office/drawing/2014/main" id="{25CA3C80-5BF9-BF43-6E4D-E45780CCC188}"/>
                </a:ext>
              </a:extLst>
            </p:cNvPr>
            <p:cNvSpPr/>
            <p:nvPr/>
          </p:nvSpPr>
          <p:spPr>
            <a:xfrm>
              <a:off x="990600" y="2571750"/>
              <a:ext cx="76200" cy="76200"/>
            </a:xfrm>
            <a:prstGeom prst="ellipse">
              <a:avLst/>
            </a:prstGeom>
            <a:solidFill>
              <a:srgbClr val="E07B00"/>
            </a:solidFill>
            <a:ln>
              <a:noFill/>
            </a:ln>
          </p:spPr>
        </p:sp>
        <p:sp>
          <p:nvSpPr>
            <p:cNvPr id="13" name="TextBox 14">
              <a:extLst>
                <a:ext uri="{FF2B5EF4-FFF2-40B4-BE49-F238E27FC236}">
                  <a16:creationId xmlns:a16="http://schemas.microsoft.com/office/drawing/2014/main" id="{2DC65813-010D-B1D4-871E-B6A9F73BF284}"/>
                </a:ext>
              </a:extLst>
            </p:cNvPr>
            <p:cNvSpPr txBox="1"/>
            <p:nvPr/>
          </p:nvSpPr>
          <p:spPr>
            <a:xfrm>
              <a:off x="1201417" y="2506318"/>
              <a:ext cx="1968153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误报率 </a:t>
              </a:r>
              <a:r>
                <a:rPr lang="zh-CN" sz="14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50%</a:t>
              </a:r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 vs 目标 10%</a:t>
              </a:r>
            </a:p>
          </p:txBody>
        </p:sp>
        <p:sp>
          <p:nvSpPr>
            <p:cNvPr id="14" name="Ellipse 15">
              <a:extLst>
                <a:ext uri="{FF2B5EF4-FFF2-40B4-BE49-F238E27FC236}">
                  <a16:creationId xmlns:a16="http://schemas.microsoft.com/office/drawing/2014/main" id="{170F9D3E-D2B6-25BC-961C-2187B7292FE8}"/>
                </a:ext>
              </a:extLst>
            </p:cNvPr>
            <p:cNvSpPr/>
            <p:nvPr/>
          </p:nvSpPr>
          <p:spPr>
            <a:xfrm>
              <a:off x="990600" y="2876550"/>
              <a:ext cx="76200" cy="76200"/>
            </a:xfrm>
            <a:prstGeom prst="ellipse">
              <a:avLst/>
            </a:prstGeom>
            <a:solidFill>
              <a:srgbClr val="E07B00"/>
            </a:solidFill>
            <a:ln>
              <a:noFill/>
            </a:ln>
          </p:spPr>
        </p:sp>
        <p:sp>
          <p:nvSpPr>
            <p:cNvPr id="15" name="TextBox 16">
              <a:extLst>
                <a:ext uri="{FF2B5EF4-FFF2-40B4-BE49-F238E27FC236}">
                  <a16:creationId xmlns:a16="http://schemas.microsoft.com/office/drawing/2014/main" id="{88A2C881-2F42-07BE-7DEC-AAB37576DAB9}"/>
                </a:ext>
              </a:extLst>
            </p:cNvPr>
            <p:cNvSpPr txBox="1"/>
            <p:nvPr/>
          </p:nvSpPr>
          <p:spPr>
            <a:xfrm>
              <a:off x="1201417" y="2811118"/>
              <a:ext cx="1930808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Pattern 定义过于抽象</a:t>
              </a:r>
            </a:p>
          </p:txBody>
        </p:sp>
        <p:sp>
          <p:nvSpPr>
            <p:cNvPr id="16" name="Ellipse 17">
              <a:extLst>
                <a:ext uri="{FF2B5EF4-FFF2-40B4-BE49-F238E27FC236}">
                  <a16:creationId xmlns:a16="http://schemas.microsoft.com/office/drawing/2014/main" id="{9F48D078-6201-1DB4-9570-EC55167C1995}"/>
                </a:ext>
              </a:extLst>
            </p:cNvPr>
            <p:cNvSpPr/>
            <p:nvPr/>
          </p:nvSpPr>
          <p:spPr>
            <a:xfrm>
              <a:off x="990600" y="3181350"/>
              <a:ext cx="76200" cy="76200"/>
            </a:xfrm>
            <a:prstGeom prst="ellipse">
              <a:avLst/>
            </a:prstGeom>
            <a:solidFill>
              <a:srgbClr val="E07B00"/>
            </a:solidFill>
            <a:ln>
              <a:noFill/>
            </a:ln>
          </p:spPr>
        </p:sp>
        <p:sp>
          <p:nvSpPr>
            <p:cNvPr id="17" name="TextBox 18">
              <a:extLst>
                <a:ext uri="{FF2B5EF4-FFF2-40B4-BE49-F238E27FC236}">
                  <a16:creationId xmlns:a16="http://schemas.microsoft.com/office/drawing/2014/main" id="{225BDA4E-C8A1-D5F1-6CF3-278376A54081}"/>
                </a:ext>
              </a:extLst>
            </p:cNvPr>
            <p:cNvSpPr txBox="1"/>
            <p:nvPr/>
          </p:nvSpPr>
          <p:spPr>
            <a:xfrm>
              <a:off x="1201417" y="3115918"/>
              <a:ext cx="3461940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AI 无法区分"正常学术表述"和"空泛表述"</a:t>
              </a:r>
            </a:p>
          </p:txBody>
        </p:sp>
        <p:sp>
          <p:nvSpPr>
            <p:cNvPr id="18" name="TextBox 19">
              <a:extLst>
                <a:ext uri="{FF2B5EF4-FFF2-40B4-BE49-F238E27FC236}">
                  <a16:creationId xmlns:a16="http://schemas.microsoft.com/office/drawing/2014/main" id="{5906B588-D4A7-74F1-6A7A-701541B846EE}"/>
                </a:ext>
              </a:extLst>
            </p:cNvPr>
            <p:cNvSpPr txBox="1"/>
            <p:nvPr/>
          </p:nvSpPr>
          <p:spPr>
            <a:xfrm>
              <a:off x="1008383" y="3523007"/>
              <a:ext cx="936606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根本原因</a:t>
              </a:r>
            </a:p>
          </p:txBody>
        </p:sp>
        <p:sp>
          <p:nvSpPr>
            <p:cNvPr id="19" name="Rectangle 20">
              <a:extLst>
                <a:ext uri="{FF2B5EF4-FFF2-40B4-BE49-F238E27FC236}">
                  <a16:creationId xmlns:a16="http://schemas.microsoft.com/office/drawing/2014/main" id="{A059CD64-278F-98C0-24DE-5164849DEB93}"/>
                </a:ext>
              </a:extLst>
            </p:cNvPr>
            <p:cNvSpPr/>
            <p:nvPr/>
          </p:nvSpPr>
          <p:spPr>
            <a:xfrm>
              <a:off x="1028700" y="3810000"/>
              <a:ext cx="4572000" cy="647700"/>
            </a:xfrm>
            <a:prstGeom prst="roundRect">
              <a:avLst>
                <a:gd name="adj" fmla="val 8824"/>
              </a:avLst>
            </a:prstGeom>
            <a:solidFill>
              <a:srgbClr val="FFFFFF"/>
            </a:solidFill>
            <a:ln w="9525">
              <a:solidFill>
                <a:srgbClr val="E07B00"/>
              </a:solidFill>
            </a:ln>
          </p:spPr>
        </p:sp>
        <p:sp>
          <p:nvSpPr>
            <p:cNvPr id="20" name="TextBox 21">
              <a:extLst>
                <a:ext uri="{FF2B5EF4-FFF2-40B4-BE49-F238E27FC236}">
                  <a16:creationId xmlns:a16="http://schemas.microsoft.com/office/drawing/2014/main" id="{2DCA81AA-1434-EF19-0901-AE78F809C367}"/>
                </a:ext>
              </a:extLst>
            </p:cNvPr>
            <p:cNvSpPr txBox="1"/>
            <p:nvPr/>
          </p:nvSpPr>
          <p:spPr>
            <a:xfrm>
              <a:off x="1420347" y="3925543"/>
              <a:ext cx="378870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短 prompt 无法提供足够上下文判断论证质量</a:t>
              </a:r>
            </a:p>
          </p:txBody>
        </p:sp>
        <p:sp>
          <p:nvSpPr>
            <p:cNvPr id="21" name="TextBox 22">
              <a:extLst>
                <a:ext uri="{FF2B5EF4-FFF2-40B4-BE49-F238E27FC236}">
                  <a16:creationId xmlns:a16="http://schemas.microsoft.com/office/drawing/2014/main" id="{C255BD00-3551-F01B-91F5-34F928EE5E11}"/>
                </a:ext>
              </a:extLst>
            </p:cNvPr>
            <p:cNvSpPr txBox="1"/>
            <p:nvPr/>
          </p:nvSpPr>
          <p:spPr>
            <a:xfrm>
              <a:off x="1415679" y="4192243"/>
              <a:ext cx="3798042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Pattern 依赖论证质量判断，而非可观察指标</a:t>
              </a:r>
            </a:p>
          </p:txBody>
        </p:sp>
        <p:sp>
          <p:nvSpPr>
            <p:cNvPr id="22" name="TextBox 23">
              <a:extLst>
                <a:ext uri="{FF2B5EF4-FFF2-40B4-BE49-F238E27FC236}">
                  <a16:creationId xmlns:a16="http://schemas.microsoft.com/office/drawing/2014/main" id="{D5C0793B-45C9-A052-36D3-7111553BEE62}"/>
                </a:ext>
              </a:extLst>
            </p:cNvPr>
            <p:cNvSpPr txBox="1"/>
            <p:nvPr/>
          </p:nvSpPr>
          <p:spPr>
            <a:xfrm>
              <a:off x="1008383" y="4627907"/>
              <a:ext cx="488620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决策</a:t>
              </a:r>
            </a:p>
          </p:txBody>
        </p:sp>
        <p:sp>
          <p:nvSpPr>
            <p:cNvPr id="23" name="Rectangle 24">
              <a:extLst>
                <a:ext uri="{FF2B5EF4-FFF2-40B4-BE49-F238E27FC236}">
                  <a16:creationId xmlns:a16="http://schemas.microsoft.com/office/drawing/2014/main" id="{8FDF5EC2-CD8D-220F-2A4A-AA0632524AD3}"/>
                </a:ext>
              </a:extLst>
            </p:cNvPr>
            <p:cNvSpPr/>
            <p:nvPr/>
          </p:nvSpPr>
          <p:spPr>
            <a:xfrm>
              <a:off x="1028700" y="4914900"/>
              <a:ext cx="4572000" cy="342900"/>
            </a:xfrm>
            <a:prstGeom prst="roundRect">
              <a:avLst>
                <a:gd name="adj" fmla="val 11111"/>
              </a:avLst>
            </a:prstGeom>
            <a:solidFill>
              <a:srgbClr val="E07B00"/>
            </a:solidFill>
            <a:ln>
              <a:noFill/>
            </a:ln>
          </p:spPr>
        </p:sp>
        <p:sp>
          <p:nvSpPr>
            <p:cNvPr id="24" name="TextBox 25">
              <a:extLst>
                <a:ext uri="{FF2B5EF4-FFF2-40B4-BE49-F238E27FC236}">
                  <a16:creationId xmlns:a16="http://schemas.microsoft.com/office/drawing/2014/main" id="{9DA5B13B-839E-1039-5725-19403790A6BD}"/>
                </a:ext>
              </a:extLst>
            </p:cNvPr>
            <p:cNvSpPr txBox="1"/>
            <p:nvPr/>
          </p:nvSpPr>
          <p:spPr>
            <a:xfrm>
              <a:off x="1596101" y="4992343"/>
              <a:ext cx="3437199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暂停 Phase 0，重新设计 pattern 定义</a:t>
              </a:r>
            </a:p>
          </p:txBody>
        </p:sp>
        <p:sp>
          <p:nvSpPr>
            <p:cNvPr id="25" name="Rectangle 26">
              <a:extLst>
                <a:ext uri="{FF2B5EF4-FFF2-40B4-BE49-F238E27FC236}">
                  <a16:creationId xmlns:a16="http://schemas.microsoft.com/office/drawing/2014/main" id="{F6D29BAA-17E8-ED67-9714-695FE87621AC}"/>
                </a:ext>
              </a:extLst>
            </p:cNvPr>
            <p:cNvSpPr/>
            <p:nvPr/>
          </p:nvSpPr>
          <p:spPr>
            <a:xfrm>
              <a:off x="1028700" y="5410200"/>
              <a:ext cx="4572000" cy="381000"/>
            </a:xfrm>
            <a:prstGeom prst="roundRect">
              <a:avLst>
                <a:gd name="adj" fmla="val 15000"/>
              </a:avLst>
            </a:prstGeom>
            <a:solidFill>
              <a:srgbClr val="FFEBEE"/>
            </a:solidFill>
            <a:ln>
              <a:noFill/>
            </a:ln>
          </p:spPr>
        </p:sp>
        <p:sp>
          <p:nvSpPr>
            <p:cNvPr id="26" name="TextBox 27">
              <a:extLst>
                <a:ext uri="{FF2B5EF4-FFF2-40B4-BE49-F238E27FC236}">
                  <a16:creationId xmlns:a16="http://schemas.microsoft.com/office/drawing/2014/main" id="{D09593A1-52ED-F342-6618-DE82945C9D9D}"/>
                </a:ext>
              </a:extLst>
            </p:cNvPr>
            <p:cNvSpPr txBox="1"/>
            <p:nvPr/>
          </p:nvSpPr>
          <p:spPr>
            <a:xfrm>
              <a:off x="1924500" y="5506693"/>
              <a:ext cx="2780399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C8161E"/>
                  </a:solidFill>
                  <a:latin typeface="Arial"/>
                  <a:ea typeface="Microsoft YaHei"/>
                  <a:cs typeface="Arial"/>
                </a:rPr>
                <a:t>公开记录失败，不隐藏负面结果</a:t>
              </a:r>
            </a:p>
          </p:txBody>
        </p:sp>
      </p:grpSp>
      <p:grpSp>
        <p:nvGrpSpPr>
          <p:cNvPr id="27" name="Group 47">
            <a:extLst>
              <a:ext uri="{FF2B5EF4-FFF2-40B4-BE49-F238E27FC236}">
                <a16:creationId xmlns:a16="http://schemas.microsoft.com/office/drawing/2014/main" id="{4B9E53AC-33B8-2C83-B2CE-89AAA9E15155}"/>
              </a:ext>
            </a:extLst>
          </p:cNvPr>
          <p:cNvGrpSpPr/>
          <p:nvPr/>
        </p:nvGrpSpPr>
        <p:grpSpPr>
          <a:xfrm>
            <a:off x="6248400" y="1228725"/>
            <a:ext cx="5257800" cy="4762500"/>
            <a:chOff x="6248400" y="1228725"/>
            <a:chExt cx="5257800" cy="4762500"/>
          </a:xfrm>
        </p:grpSpPr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8BFD5B18-4485-4522-65DB-6248CDD9397C}"/>
                </a:ext>
              </a:extLst>
            </p:cNvPr>
            <p:cNvSpPr/>
            <p:nvPr/>
          </p:nvSpPr>
          <p:spPr>
            <a:xfrm>
              <a:off x="6248400" y="1228725"/>
              <a:ext cx="5257800" cy="4762500"/>
            </a:xfrm>
            <a:prstGeom prst="roundRect">
              <a:avLst>
                <a:gd name="adj" fmla="val 1600"/>
              </a:avLst>
            </a:prstGeom>
            <a:solidFill>
              <a:srgbClr val="F0F7FF"/>
            </a:solidFill>
            <a:ln w="14288">
              <a:solidFill>
                <a:srgbClr val="1F4D78"/>
              </a:solidFill>
            </a:ln>
          </p:spPr>
        </p:sp>
        <p:sp>
          <p:nvSpPr>
            <p:cNvPr id="29" name="TextBox 30">
              <a:extLst>
                <a:ext uri="{FF2B5EF4-FFF2-40B4-BE49-F238E27FC236}">
                  <a16:creationId xmlns:a16="http://schemas.microsoft.com/office/drawing/2014/main" id="{31FAA32B-527C-0584-1948-4FF0E98F7ACC}"/>
                </a:ext>
              </a:extLst>
            </p:cNvPr>
            <p:cNvSpPr txBox="1"/>
            <p:nvPr/>
          </p:nvSpPr>
          <p:spPr>
            <a:xfrm>
              <a:off x="8151722" y="1384273"/>
              <a:ext cx="1451156" cy="406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方法论沉淀</a:t>
              </a:r>
            </a:p>
          </p:txBody>
        </p:sp>
        <p:sp>
          <p:nvSpPr>
            <p:cNvPr id="30" name="TextBox 31">
              <a:extLst>
                <a:ext uri="{FF2B5EF4-FFF2-40B4-BE49-F238E27FC236}">
                  <a16:creationId xmlns:a16="http://schemas.microsoft.com/office/drawing/2014/main" id="{9B04174A-36C9-1851-D662-79F0E3A51001}"/>
                </a:ext>
              </a:extLst>
            </p:cNvPr>
            <p:cNvSpPr txBox="1"/>
            <p:nvPr/>
          </p:nvSpPr>
          <p:spPr>
            <a:xfrm>
              <a:off x="6570983" y="1827557"/>
              <a:ext cx="2672551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教训 1：Pattern 设计原则</a:t>
              </a:r>
            </a:p>
          </p:txBody>
        </p:sp>
        <p:sp>
          <p:nvSpPr>
            <p:cNvPr id="31" name="Ellipse 32">
              <a:extLst>
                <a:ext uri="{FF2B5EF4-FFF2-40B4-BE49-F238E27FC236}">
                  <a16:creationId xmlns:a16="http://schemas.microsoft.com/office/drawing/2014/main" id="{6395D15F-FCA7-6928-F809-AE5228669A27}"/>
                </a:ext>
              </a:extLst>
            </p:cNvPr>
            <p:cNvSpPr/>
            <p:nvPr/>
          </p:nvSpPr>
          <p:spPr>
            <a:xfrm>
              <a:off x="6553200" y="2266950"/>
              <a:ext cx="76200" cy="76200"/>
            </a:xfrm>
            <a:prstGeom prst="ellipse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32" name="TextBox 33">
              <a:extLst>
                <a:ext uri="{FF2B5EF4-FFF2-40B4-BE49-F238E27FC236}">
                  <a16:creationId xmlns:a16="http://schemas.microsoft.com/office/drawing/2014/main" id="{172648AE-DFC8-5915-8C89-C8E098F7029C}"/>
                </a:ext>
              </a:extLst>
            </p:cNvPr>
            <p:cNvSpPr txBox="1"/>
            <p:nvPr/>
          </p:nvSpPr>
          <p:spPr>
            <a:xfrm>
              <a:off x="6764017" y="2201518"/>
              <a:ext cx="3770033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必须基于可观察指标，避免依赖论证质量判断</a:t>
              </a:r>
            </a:p>
          </p:txBody>
        </p:sp>
        <p:sp>
          <p:nvSpPr>
            <p:cNvPr id="33" name="Ellipse 34">
              <a:extLst>
                <a:ext uri="{FF2B5EF4-FFF2-40B4-BE49-F238E27FC236}">
                  <a16:creationId xmlns:a16="http://schemas.microsoft.com/office/drawing/2014/main" id="{C7203A29-DAF6-9A54-F31B-A280BBD57C50}"/>
                </a:ext>
              </a:extLst>
            </p:cNvPr>
            <p:cNvSpPr/>
            <p:nvPr/>
          </p:nvSpPr>
          <p:spPr>
            <a:xfrm>
              <a:off x="6553200" y="2571750"/>
              <a:ext cx="76200" cy="76200"/>
            </a:xfrm>
            <a:prstGeom prst="ellipse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34" name="TextBox 35">
              <a:extLst>
                <a:ext uri="{FF2B5EF4-FFF2-40B4-BE49-F238E27FC236}">
                  <a16:creationId xmlns:a16="http://schemas.microsoft.com/office/drawing/2014/main" id="{A905AB6D-0F5D-96B3-32B3-B93FF8A2C695}"/>
                </a:ext>
              </a:extLst>
            </p:cNvPr>
            <p:cNvSpPr txBox="1"/>
            <p:nvPr/>
          </p:nvSpPr>
          <p:spPr>
            <a:xfrm>
              <a:off x="6764017" y="2506318"/>
              <a:ext cx="2864425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可观察 = 可计数、可定位、可引用</a:t>
              </a:r>
            </a:p>
          </p:txBody>
        </p:sp>
        <p:sp>
          <p:nvSpPr>
            <p:cNvPr id="35" name="TextBox 36">
              <a:extLst>
                <a:ext uri="{FF2B5EF4-FFF2-40B4-BE49-F238E27FC236}">
                  <a16:creationId xmlns:a16="http://schemas.microsoft.com/office/drawing/2014/main" id="{6526D649-0ED6-6A19-FC26-D53491A5547B}"/>
                </a:ext>
              </a:extLst>
            </p:cNvPr>
            <p:cNvSpPr txBox="1"/>
            <p:nvPr/>
          </p:nvSpPr>
          <p:spPr>
            <a:xfrm>
              <a:off x="6570983" y="2913407"/>
              <a:ext cx="2896544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教训 2：Autoresearch 策略</a:t>
              </a:r>
            </a:p>
          </p:txBody>
        </p:sp>
        <p:sp>
          <p:nvSpPr>
            <p:cNvPr id="36" name="Ellipse 37">
              <a:extLst>
                <a:ext uri="{FF2B5EF4-FFF2-40B4-BE49-F238E27FC236}">
                  <a16:creationId xmlns:a16="http://schemas.microsoft.com/office/drawing/2014/main" id="{1A96F380-F4A5-FD0B-AE8E-64F83997508C}"/>
                </a:ext>
              </a:extLst>
            </p:cNvPr>
            <p:cNvSpPr/>
            <p:nvPr/>
          </p:nvSpPr>
          <p:spPr>
            <a:xfrm>
              <a:off x="6553200" y="3352800"/>
              <a:ext cx="76200" cy="76200"/>
            </a:xfrm>
            <a:prstGeom prst="ellipse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37" name="TextBox 38">
              <a:extLst>
                <a:ext uri="{FF2B5EF4-FFF2-40B4-BE49-F238E27FC236}">
                  <a16:creationId xmlns:a16="http://schemas.microsoft.com/office/drawing/2014/main" id="{D1C9717D-B441-38F7-A5A0-EAD925E822DF}"/>
                </a:ext>
              </a:extLst>
            </p:cNvPr>
            <p:cNvSpPr txBox="1"/>
            <p:nvPr/>
          </p:nvSpPr>
          <p:spPr>
            <a:xfrm>
              <a:off x="6764017" y="3287368"/>
              <a:ext cx="2817744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逐维度优化，6 轮迭代收敛 77.9%</a:t>
              </a:r>
            </a:p>
          </p:txBody>
        </p:sp>
        <p:sp>
          <p:nvSpPr>
            <p:cNvPr id="38" name="Ellipse 39">
              <a:extLst>
                <a:ext uri="{FF2B5EF4-FFF2-40B4-BE49-F238E27FC236}">
                  <a16:creationId xmlns:a16="http://schemas.microsoft.com/office/drawing/2014/main" id="{F0410F5A-79A5-A149-869A-715BA1449673}"/>
                </a:ext>
              </a:extLst>
            </p:cNvPr>
            <p:cNvSpPr/>
            <p:nvPr/>
          </p:nvSpPr>
          <p:spPr>
            <a:xfrm>
              <a:off x="6553200" y="3657600"/>
              <a:ext cx="76200" cy="76200"/>
            </a:xfrm>
            <a:prstGeom prst="ellipse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39" name="TextBox 40">
              <a:extLst>
                <a:ext uri="{FF2B5EF4-FFF2-40B4-BE49-F238E27FC236}">
                  <a16:creationId xmlns:a16="http://schemas.microsoft.com/office/drawing/2014/main" id="{C00567CE-CB95-5FC0-EA23-8875CDE8BF36}"/>
                </a:ext>
              </a:extLst>
            </p:cNvPr>
            <p:cNvSpPr txBox="1"/>
            <p:nvPr/>
          </p:nvSpPr>
          <p:spPr>
            <a:xfrm>
              <a:off x="6764017" y="3592168"/>
              <a:ext cx="3041812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放宽"部分满足"标准，不降低高标准</a:t>
              </a:r>
            </a:p>
          </p:txBody>
        </p:sp>
        <p:sp>
          <p:nvSpPr>
            <p:cNvPr id="40" name="Ellipse 41">
              <a:extLst>
                <a:ext uri="{FF2B5EF4-FFF2-40B4-BE49-F238E27FC236}">
                  <a16:creationId xmlns:a16="http://schemas.microsoft.com/office/drawing/2014/main" id="{26A2032A-5375-7323-07D2-EC38C43AF51A}"/>
                </a:ext>
              </a:extLst>
            </p:cNvPr>
            <p:cNvSpPr/>
            <p:nvPr/>
          </p:nvSpPr>
          <p:spPr>
            <a:xfrm>
              <a:off x="6553200" y="3962400"/>
              <a:ext cx="76200" cy="76200"/>
            </a:xfrm>
            <a:prstGeom prst="ellipse">
              <a:avLst/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41" name="TextBox 42">
              <a:extLst>
                <a:ext uri="{FF2B5EF4-FFF2-40B4-BE49-F238E27FC236}">
                  <a16:creationId xmlns:a16="http://schemas.microsoft.com/office/drawing/2014/main" id="{093F5E6C-D9C4-7AB2-DF28-7221DB70F7D2}"/>
                </a:ext>
              </a:extLst>
            </p:cNvPr>
            <p:cNvSpPr txBox="1"/>
            <p:nvPr/>
          </p:nvSpPr>
          <p:spPr>
            <a:xfrm>
              <a:off x="6764017" y="3896968"/>
              <a:ext cx="3340569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增加【重要】提示 + 正面/反面锚点示例</a:t>
              </a:r>
            </a:p>
          </p:txBody>
        </p:sp>
        <p:sp>
          <p:nvSpPr>
            <p:cNvPr id="42" name="TextBox 43">
              <a:extLst>
                <a:ext uri="{FF2B5EF4-FFF2-40B4-BE49-F238E27FC236}">
                  <a16:creationId xmlns:a16="http://schemas.microsoft.com/office/drawing/2014/main" id="{E9B73D0B-B5D8-4565-0393-7C164A1526CE}"/>
                </a:ext>
              </a:extLst>
            </p:cNvPr>
            <p:cNvSpPr txBox="1"/>
            <p:nvPr/>
          </p:nvSpPr>
          <p:spPr>
            <a:xfrm>
              <a:off x="6570983" y="4304057"/>
              <a:ext cx="1798979" cy="325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教训 3：科学态度</a:t>
              </a:r>
            </a:p>
          </p:txBody>
        </p:sp>
        <p:sp>
          <p:nvSpPr>
            <p:cNvPr id="43" name="Rectangle 44">
              <a:extLst>
                <a:ext uri="{FF2B5EF4-FFF2-40B4-BE49-F238E27FC236}">
                  <a16:creationId xmlns:a16="http://schemas.microsoft.com/office/drawing/2014/main" id="{A286A792-5721-2A68-AF0D-662B777A82AB}"/>
                </a:ext>
              </a:extLst>
            </p:cNvPr>
            <p:cNvSpPr/>
            <p:nvPr/>
          </p:nvSpPr>
          <p:spPr>
            <a:xfrm>
              <a:off x="6591300" y="4629150"/>
              <a:ext cx="457200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14288">
              <a:solidFill>
                <a:srgbClr val="2E7D32"/>
              </a:solidFill>
            </a:ln>
          </p:spPr>
        </p:sp>
        <p:sp>
          <p:nvSpPr>
            <p:cNvPr id="44" name="TextBox 45">
              <a:extLst>
                <a:ext uri="{FF2B5EF4-FFF2-40B4-BE49-F238E27FC236}">
                  <a16:creationId xmlns:a16="http://schemas.microsoft.com/office/drawing/2014/main" id="{53B0FF23-E811-9644-E3D1-469C68EB4977}"/>
                </a:ext>
              </a:extLst>
            </p:cNvPr>
            <p:cNvSpPr txBox="1"/>
            <p:nvPr/>
          </p:nvSpPr>
          <p:spPr>
            <a:xfrm>
              <a:off x="7552453" y="4782793"/>
              <a:ext cx="2649693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公开记录失败，不隐藏负面结果</a:t>
              </a:r>
            </a:p>
          </p:txBody>
        </p:sp>
        <p:sp>
          <p:nvSpPr>
            <p:cNvPr id="45" name="TextBox 46">
              <a:extLst>
                <a:ext uri="{FF2B5EF4-FFF2-40B4-BE49-F238E27FC236}">
                  <a16:creationId xmlns:a16="http://schemas.microsoft.com/office/drawing/2014/main" id="{8C142563-23B0-061C-5FD2-0C676BFC3F96}"/>
                </a:ext>
              </a:extLst>
            </p:cNvPr>
            <p:cNvSpPr txBox="1"/>
            <p:nvPr/>
          </p:nvSpPr>
          <p:spPr>
            <a:xfrm>
              <a:off x="7585130" y="5068543"/>
              <a:ext cx="2584340" cy="284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失败是方法论迭代的必经之路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7969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评测流程全景图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候选识别 → Top101 稳定性复测 → E3 选择性补测 → Top50 归属优先配额榜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143000"/>
            <a:ext cx="97840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1252728"/>
            <a:ext cx="32004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C2913B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234440"/>
            <a:ext cx="2194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E141F"/>
                </a:solidFill>
                <a:latin typeface="PingFang SC"/>
              </a:rPr>
              <a:t>E1 全量评审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234440"/>
            <a:ext cx="662940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32426"/>
                </a:solidFill>
                <a:latin typeface="PingFang SC"/>
              </a:rPr>
              <a:t>1920 篇生成 R1+R2，形成六维质量基线。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011680"/>
            <a:ext cx="97840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121408"/>
            <a:ext cx="32004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C2913B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103120"/>
            <a:ext cx="2194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E141F"/>
                </a:solidFill>
                <a:latin typeface="PingFang SC"/>
              </a:rPr>
              <a:t>E2 Top101 复测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103120"/>
            <a:ext cx="662940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32426"/>
                </a:solidFill>
                <a:latin typeface="PingFang SC"/>
              </a:rPr>
              <a:t>Top60 + 年份覆盖 + 学科覆盖，观察重复评测稳定性。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2880360"/>
            <a:ext cx="97840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61872" y="2990088"/>
            <a:ext cx="32004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C2913B"/>
                </a:solidFill>
                <a:latin typeface="PingFang S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971800"/>
            <a:ext cx="2194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E141F"/>
                </a:solidFill>
                <a:latin typeface="PingFang SC"/>
              </a:rPr>
              <a:t>E3 选择性补测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971800"/>
            <a:ext cx="662940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32426"/>
                </a:solidFill>
                <a:latin typeface="PingFang SC"/>
              </a:rPr>
              <a:t>只补测不稳定维度，避免全量重复调用。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749039"/>
            <a:ext cx="97840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61872" y="3858768"/>
            <a:ext cx="32004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C2913B"/>
                </a:solidFill>
                <a:latin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840479"/>
            <a:ext cx="2194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E141F"/>
                </a:solidFill>
                <a:latin typeface="PingFang SC"/>
              </a:rPr>
              <a:t>五轴归属评估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3840479"/>
            <a:ext cx="662940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32426"/>
                </a:solidFill>
                <a:latin typeface="PingFang SC"/>
              </a:rPr>
              <a:t>对象、材料、范畴、解释目标、体系映射五轴 0-10。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4617720"/>
            <a:ext cx="97840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61872" y="4727448"/>
            <a:ext cx="32004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C2913B"/>
                </a:solidFill>
                <a:latin typeface="PingFang SC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709159"/>
            <a:ext cx="2194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E141F"/>
                </a:solidFill>
                <a:latin typeface="PingFang SC"/>
              </a:rPr>
              <a:t>Top50 配额榜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4709159"/>
            <a:ext cx="662940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32426"/>
                </a:solidFill>
                <a:latin typeface="PingFang SC"/>
              </a:rPr>
              <a:t>10 分主池 + 全库学科比例配额 + 学科内六维分排序。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715000"/>
            <a:ext cx="10332720" cy="32918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5E141F"/>
                </a:solidFill>
                <a:latin typeface="PingFang SC"/>
              </a:rPr>
              <a:t>A6/A7 展示的是候选形成与稳定性路径；Top50 是归属资格和学科配额后的最终展示清单。</a:t>
            </a:r>
          </a:p>
        </p:txBody>
      </p:sp>
    </p:spTree>
    <p:extLst>
      <p:ext uri="{BB962C8B-B14F-4D97-AF65-F5344CB8AC3E}">
        <p14:creationId xmlns:p14="http://schemas.microsoft.com/office/powerpoint/2010/main" val="16061665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核心成果总结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方法论流程保持不变，候选池与最终展示名单升级为 Top101 + 五轴归属 + Top50 配额榜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1143000"/>
            <a:ext cx="5074920" cy="42519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125272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方法论创新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1554480"/>
            <a:ext cx="4709159" cy="3749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六维评价：研究创新性、现状洞察度、理论建构力、逻辑连贯性、学术共识度、前瞻延展性。
• 五轴归属：对象、材料、范畴、解释目标、体系映射，用于自主知识体系位置判断。
• 交叉评审：R1 独立评分 → R2 交叉审视，暴露真实学术分歧。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143000"/>
            <a:ext cx="5074920" cy="42519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125272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工程成果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554480"/>
            <a:ext cx="4709159" cy="3749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E1：1920 篇全量 R1+R2 评审完成。
• E2：101 篇完成稳定性复测，覆盖年份与学科。
• 五轴：101 篇完成位置归属度评估。
• Top50：按全库学科比例输出，49 篇 10 分、1 篇 9 分补足。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24128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5E141F"/>
                </a:solidFill>
                <a:latin typeface="PingFang SC"/>
              </a:rPr>
              <a:t>核心指标：Top50 分数范围 89.225-82.600；正式名单不含五轴 8 分及以下论文。</a:t>
            </a:r>
          </a:p>
        </p:txBody>
      </p:sp>
    </p:spTree>
    <p:extLst>
      <p:ext uri="{BB962C8B-B14F-4D97-AF65-F5344CB8AC3E}">
        <p14:creationId xmlns:p14="http://schemas.microsoft.com/office/powerpoint/2010/main" val="4237922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局限与下一步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下一步重点是五轴归属证据、知识树节点和专家复核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1234440"/>
            <a:ext cx="5257800" cy="420624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1344168"/>
            <a:ext cx="492861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当前局限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1645920"/>
            <a:ext cx="4892040" cy="3703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部分高分论文仍存在研究创新性或理论建构力分歧，需专家终审。
• 五轴中的范畴自主度、体系映射度最容易产生可解释分歧。
• 新 Top50 知识库匹配需要按同一 50 篇名单重跑，不能复用历史统计。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234440"/>
            <a:ext cx="5074920" cy="420624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134416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下一步工作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645920"/>
            <a:ext cx="4709159" cy="3703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专家复核：保留标准差高、证据薄弱或候选新增节点的论文。
• 知识树扩展：对候选新增节点进行专家确认。
• 报告输出：主榜、配额说明、五轴证据和六维分歧并列展示。
• 学科拓展：从法学扩展到人文社科其他学科。</a:t>
            </a:r>
          </a:p>
        </p:txBody>
      </p:sp>
    </p:spTree>
    <p:extLst>
      <p:ext uri="{BB962C8B-B14F-4D97-AF65-F5344CB8AC3E}">
        <p14:creationId xmlns:p14="http://schemas.microsoft.com/office/powerpoint/2010/main" val="1438046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025F177-E7E4-68D9-D87D-F8764FBF59E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55161" y="3129756"/>
            <a:ext cx="7081677" cy="598488"/>
          </a:xfrm>
        </p:spPr>
        <p:txBody>
          <a:bodyPr/>
          <a:lstStyle/>
          <a:p>
            <a:r>
              <a:rPr lang="en-CN" dirty="0"/>
              <a:t>敬请批评指正</a:t>
            </a:r>
            <a:r>
              <a:rPr lang="zh-CN" altLang="en-US" dirty="0"/>
              <a:t>！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188101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附录 A1：评分公式详解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六维加权分用于质量排序；五轴归属度用于候选资格与知识体系画像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34440"/>
            <a:ext cx="103327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5E141F"/>
                </a:solidFill>
                <a:latin typeface="PingFang SC"/>
              </a:rPr>
              <a:t>base_score = 创新性×30% + 洞察度×20% + 建构力×15% + 连贯性×20% + 共识度×10% + 延展性×5%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057400"/>
            <a:ext cx="498348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465429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六维计分原则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68880"/>
            <a:ext cx="4617720" cy="24231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六维评分各自独立，避免互相补偿。
• 权重反映“命题与定位”的优先性。
• 总分只作为候选排序线索，不替代专家终审。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057400"/>
            <a:ext cx="498348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67128"/>
            <a:ext cx="465429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五轴归属说明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4617720" cy="24231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五轴位置归属度 = 0-10 分，独立于六维质量分。
• Top50 先看五轴资格，再看学科配额，最后按六维分排序。
• 高质量 + 强归属 + 明确知识节点 = 自主知识体系代表性候选论文。</a:t>
            </a:r>
          </a:p>
        </p:txBody>
      </p:sp>
    </p:spTree>
    <p:extLst>
      <p:ext uri="{BB962C8B-B14F-4D97-AF65-F5344CB8AC3E}">
        <p14:creationId xmlns:p14="http://schemas.microsoft.com/office/powerpoint/2010/main" val="17759173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附录 A2：典型论文评审报告示例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单篇报告由六维质量、五轴归属、模型分歧和复核建议四部分构成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188720"/>
            <a:ext cx="5257800" cy="42519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298448"/>
            <a:ext cx="492861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输出内容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892040" cy="3749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六维均分与标准差：展示每个维度的质量判断与分歧。
• 五轴归属证据：对象、材料、范畴、解释目标、体系映射。
• 知识树节点：既有节点、交叉节点或候选新增节点。
• 模型意见：保留 accepted / rejected points，解释为什么分歧。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074920" cy="42519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298448"/>
            <a:ext cx="474573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专家复核入口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4709159" cy="3749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任一维度 std &gt; 5：标记分歧，必要时专家复核。
• 候选新增节点：专家确认是否进入知识树。
• 五轴高分但证据不足：复核归属判断，而不是直接否定论文质量。
• 专家评分与 AI 评分并列存储，不互相覆盖。</a:t>
            </a:r>
          </a:p>
        </p:txBody>
      </p:sp>
    </p:spTree>
    <p:extLst>
      <p:ext uri="{BB962C8B-B14F-4D97-AF65-F5344CB8AC3E}">
        <p14:creationId xmlns:p14="http://schemas.microsoft.com/office/powerpoint/2010/main" val="19637034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C21BE1-B6FF-868A-E1F7-9F647D2A59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36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91F53-F86E-92FE-9790-8B5C2A46C11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B9CB56-7050-F9A9-C60B-84E9C4A6E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8D88BF-1999-71DB-0D62-53FADA86F0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附录 A3：各维度收敛率详细分</a:t>
            </a:r>
            <a:endParaRPr kumimoji="1" lang="zh-CN" altLang="en-US" dirty="0"/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405901D0-89B7-0E71-6FA4-CB9BB930BC51}"/>
              </a:ext>
            </a:extLst>
          </p:cNvPr>
          <p:cNvSpPr txBox="1"/>
          <p:nvPr/>
        </p:nvSpPr>
        <p:spPr>
          <a:xfrm>
            <a:off x="3095179" y="1068043"/>
            <a:ext cx="6001643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客观性越强，模型越容易收敛；高阶创新判断保留专家空间</a:t>
            </a: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312E89B7-FC3D-2A14-17E4-29391FA8BDB8}"/>
              </a:ext>
            </a:extLst>
          </p:cNvPr>
          <p:cNvSpPr/>
          <p:nvPr/>
        </p:nvSpPr>
        <p:spPr>
          <a:xfrm>
            <a:off x="857250" y="1524000"/>
            <a:ext cx="4953000" cy="36195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</p:spPr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EB905457-42D3-5176-C7AC-477B68BEA178}"/>
              </a:ext>
            </a:extLst>
          </p:cNvPr>
          <p:cNvSpPr txBox="1"/>
          <p:nvPr/>
        </p:nvSpPr>
        <p:spPr>
          <a:xfrm>
            <a:off x="1117597" y="1727173"/>
            <a:ext cx="1451156" cy="4064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00" b="1" dirty="0">
                <a:solidFill>
                  <a:srgbClr val="2E7D32"/>
                </a:solidFill>
                <a:latin typeface="Arial"/>
                <a:ea typeface="Microsoft YaHei"/>
                <a:cs typeface="Arial"/>
              </a:rPr>
              <a:t>高收敛维度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C57B8351-4AE1-A6C3-EC4B-E9C8743A8F8A}"/>
              </a:ext>
            </a:extLst>
          </p:cNvPr>
          <p:cNvSpPr txBox="1"/>
          <p:nvPr/>
        </p:nvSpPr>
        <p:spPr>
          <a:xfrm>
            <a:off x="1122683" y="2227607"/>
            <a:ext cx="1907242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逻辑连贯性：93.2%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34874CB8-8A44-C6FB-7947-F8F2A5DE6515}"/>
              </a:ext>
            </a:extLst>
          </p:cNvPr>
          <p:cNvSpPr/>
          <p:nvPr/>
        </p:nvSpPr>
        <p:spPr>
          <a:xfrm>
            <a:off x="1143000" y="2552700"/>
            <a:ext cx="3619500" cy="152400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11" name="Rectangle 13">
            <a:extLst>
              <a:ext uri="{FF2B5EF4-FFF2-40B4-BE49-F238E27FC236}">
                <a16:creationId xmlns:a16="http://schemas.microsoft.com/office/drawing/2014/main" id="{67137F93-C397-77FB-E59C-89BB3F3C489F}"/>
              </a:ext>
            </a:extLst>
          </p:cNvPr>
          <p:cNvSpPr/>
          <p:nvPr/>
        </p:nvSpPr>
        <p:spPr>
          <a:xfrm>
            <a:off x="1143000" y="2552700"/>
            <a:ext cx="3371850" cy="1524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</p:spPr>
      </p:sp>
      <p:sp>
        <p:nvSpPr>
          <p:cNvPr id="12" name="TextBox 14">
            <a:extLst>
              <a:ext uri="{FF2B5EF4-FFF2-40B4-BE49-F238E27FC236}">
                <a16:creationId xmlns:a16="http://schemas.microsoft.com/office/drawing/2014/main" id="{8980F1AE-F2F8-736F-BE80-DD9CB0337840}"/>
              </a:ext>
            </a:extLst>
          </p:cNvPr>
          <p:cNvSpPr txBox="1"/>
          <p:nvPr/>
        </p:nvSpPr>
        <p:spPr>
          <a:xfrm>
            <a:off x="1125217" y="2934943"/>
            <a:ext cx="5263820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原因：文本内部一致性、论证断裂、概念混用等线索较可观察。</a:t>
            </a:r>
          </a:p>
        </p:txBody>
      </p:sp>
      <p:sp>
        <p:nvSpPr>
          <p:cNvPr id="13" name="TextBox 15">
            <a:extLst>
              <a:ext uri="{FF2B5EF4-FFF2-40B4-BE49-F238E27FC236}">
                <a16:creationId xmlns:a16="http://schemas.microsoft.com/office/drawing/2014/main" id="{8AB3819F-FF76-FAA5-0E39-6D3870D7E494}"/>
              </a:ext>
            </a:extLst>
          </p:cNvPr>
          <p:cNvSpPr txBox="1"/>
          <p:nvPr/>
        </p:nvSpPr>
        <p:spPr>
          <a:xfrm>
            <a:off x="1122683" y="3408707"/>
            <a:ext cx="1800579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前瞻延展性：81.1%</a:t>
            </a:r>
          </a:p>
        </p:txBody>
      </p:sp>
      <p:sp>
        <p:nvSpPr>
          <p:cNvPr id="14" name="Rectangle 16">
            <a:extLst>
              <a:ext uri="{FF2B5EF4-FFF2-40B4-BE49-F238E27FC236}">
                <a16:creationId xmlns:a16="http://schemas.microsoft.com/office/drawing/2014/main" id="{075C5082-C572-EBF7-BEBA-CC3E8FC4B3BB}"/>
              </a:ext>
            </a:extLst>
          </p:cNvPr>
          <p:cNvSpPr/>
          <p:nvPr/>
        </p:nvSpPr>
        <p:spPr>
          <a:xfrm>
            <a:off x="1143000" y="3733800"/>
            <a:ext cx="3619500" cy="152400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15" name="Rectangle 17">
            <a:extLst>
              <a:ext uri="{FF2B5EF4-FFF2-40B4-BE49-F238E27FC236}">
                <a16:creationId xmlns:a16="http://schemas.microsoft.com/office/drawing/2014/main" id="{7EC913E3-2B32-C27F-368A-108BB3E5ECD4}"/>
              </a:ext>
            </a:extLst>
          </p:cNvPr>
          <p:cNvSpPr/>
          <p:nvPr/>
        </p:nvSpPr>
        <p:spPr>
          <a:xfrm>
            <a:off x="1143000" y="3733800"/>
            <a:ext cx="2933700" cy="152400"/>
          </a:xfrm>
          <a:prstGeom prst="roundRect">
            <a:avLst>
              <a:gd name="adj" fmla="val 50000"/>
            </a:avLst>
          </a:prstGeom>
          <a:solidFill>
            <a:srgbClr val="1F4D78"/>
          </a:solidFill>
          <a:ln>
            <a:noFill/>
          </a:ln>
        </p:spPr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14DED0FA-517A-5725-B096-7B51E6032802}"/>
              </a:ext>
            </a:extLst>
          </p:cNvPr>
          <p:cNvSpPr txBox="1"/>
          <p:nvPr/>
        </p:nvSpPr>
        <p:spPr>
          <a:xfrm>
            <a:off x="1125217" y="4116043"/>
            <a:ext cx="4703650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原因：学术影响力预判相对客观，模型间容易达成共识。</a:t>
            </a:r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24F45213-7CA9-DCF2-8348-9A44D6F7BA02}"/>
              </a:ext>
            </a:extLst>
          </p:cNvPr>
          <p:cNvSpPr/>
          <p:nvPr/>
        </p:nvSpPr>
        <p:spPr>
          <a:xfrm>
            <a:off x="6381750" y="1524000"/>
            <a:ext cx="4953000" cy="36195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</p:spPr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CE0093D1-0084-C19A-E7F7-517190A808AE}"/>
              </a:ext>
            </a:extLst>
          </p:cNvPr>
          <p:cNvSpPr txBox="1"/>
          <p:nvPr/>
        </p:nvSpPr>
        <p:spPr>
          <a:xfrm>
            <a:off x="6642097" y="1727173"/>
            <a:ext cx="1451156" cy="4064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00" b="1" dirty="0">
                <a:solidFill>
                  <a:srgbClr val="E07B00"/>
                </a:solidFill>
                <a:latin typeface="Arial"/>
                <a:ea typeface="Microsoft YaHei"/>
                <a:cs typeface="Arial"/>
              </a:rPr>
              <a:t>低收敛维度</a:t>
            </a:r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47BCD03A-307D-5FBD-5468-BC888B1B0CD2}"/>
              </a:ext>
            </a:extLst>
          </p:cNvPr>
          <p:cNvSpPr txBox="1"/>
          <p:nvPr/>
        </p:nvSpPr>
        <p:spPr>
          <a:xfrm>
            <a:off x="6647183" y="2227607"/>
            <a:ext cx="1907242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研究创新性：44.8%</a:t>
            </a:r>
          </a:p>
        </p:txBody>
      </p:sp>
      <p:sp>
        <p:nvSpPr>
          <p:cNvPr id="20" name="Rectangle 22">
            <a:extLst>
              <a:ext uri="{FF2B5EF4-FFF2-40B4-BE49-F238E27FC236}">
                <a16:creationId xmlns:a16="http://schemas.microsoft.com/office/drawing/2014/main" id="{5512ABAB-1CFD-0F02-7735-FA8E49EFC650}"/>
              </a:ext>
            </a:extLst>
          </p:cNvPr>
          <p:cNvSpPr/>
          <p:nvPr/>
        </p:nvSpPr>
        <p:spPr>
          <a:xfrm>
            <a:off x="6667500" y="2552700"/>
            <a:ext cx="3619500" cy="152400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45406CBD-9AC0-4F31-1993-196CC400B701}"/>
              </a:ext>
            </a:extLst>
          </p:cNvPr>
          <p:cNvSpPr/>
          <p:nvPr/>
        </p:nvSpPr>
        <p:spPr>
          <a:xfrm>
            <a:off x="6667500" y="2552700"/>
            <a:ext cx="1619250" cy="15240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>
            <a:noFill/>
          </a:ln>
        </p:spPr>
      </p:sp>
      <p:sp>
        <p:nvSpPr>
          <p:cNvPr id="22" name="TextBox 24">
            <a:extLst>
              <a:ext uri="{FF2B5EF4-FFF2-40B4-BE49-F238E27FC236}">
                <a16:creationId xmlns:a16="http://schemas.microsoft.com/office/drawing/2014/main" id="{6EDD4FB3-CE89-DBE2-2034-BA4740D760EF}"/>
              </a:ext>
            </a:extLst>
          </p:cNvPr>
          <p:cNvSpPr txBox="1"/>
          <p:nvPr/>
        </p:nvSpPr>
        <p:spPr>
          <a:xfrm>
            <a:off x="6649717" y="2934943"/>
            <a:ext cx="5282492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原因：是否"真正提出可争辩理论问题"本身存在学术判断差异。</a:t>
            </a:r>
          </a:p>
        </p:txBody>
      </p:sp>
      <p:sp>
        <p:nvSpPr>
          <p:cNvPr id="23" name="TextBox 25">
            <a:extLst>
              <a:ext uri="{FF2B5EF4-FFF2-40B4-BE49-F238E27FC236}">
                <a16:creationId xmlns:a16="http://schemas.microsoft.com/office/drawing/2014/main" id="{3C4D7D23-153B-F1AE-66F7-478B4BC1DFC8}"/>
              </a:ext>
            </a:extLst>
          </p:cNvPr>
          <p:cNvSpPr txBox="1"/>
          <p:nvPr/>
        </p:nvSpPr>
        <p:spPr>
          <a:xfrm>
            <a:off x="6647183" y="3408707"/>
            <a:ext cx="1907242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理论建构力：56.0%</a:t>
            </a:r>
          </a:p>
        </p:txBody>
      </p:sp>
      <p:sp>
        <p:nvSpPr>
          <p:cNvPr id="24" name="Rectangle 26">
            <a:extLst>
              <a:ext uri="{FF2B5EF4-FFF2-40B4-BE49-F238E27FC236}">
                <a16:creationId xmlns:a16="http://schemas.microsoft.com/office/drawing/2014/main" id="{07195723-F640-A6EB-9FA0-562D6B5E14E9}"/>
              </a:ext>
            </a:extLst>
          </p:cNvPr>
          <p:cNvSpPr/>
          <p:nvPr/>
        </p:nvSpPr>
        <p:spPr>
          <a:xfrm>
            <a:off x="6667500" y="3733800"/>
            <a:ext cx="3619500" cy="152400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75F67C53-8300-9C98-6E4E-B736E3787EB3}"/>
              </a:ext>
            </a:extLst>
          </p:cNvPr>
          <p:cNvSpPr/>
          <p:nvPr/>
        </p:nvSpPr>
        <p:spPr>
          <a:xfrm>
            <a:off x="6667500" y="3733800"/>
            <a:ext cx="2028825" cy="152400"/>
          </a:xfrm>
          <a:prstGeom prst="roundRect">
            <a:avLst>
              <a:gd name="adj" fmla="val 50000"/>
            </a:avLst>
          </a:prstGeom>
          <a:solidFill>
            <a:srgbClr val="C8161E"/>
          </a:solidFill>
          <a:ln>
            <a:noFill/>
          </a:ln>
        </p:spPr>
      </p:sp>
      <p:sp>
        <p:nvSpPr>
          <p:cNvPr id="26" name="TextBox 28">
            <a:extLst>
              <a:ext uri="{FF2B5EF4-FFF2-40B4-BE49-F238E27FC236}">
                <a16:creationId xmlns:a16="http://schemas.microsoft.com/office/drawing/2014/main" id="{AB1D6F03-4674-FCA0-6219-4AE9E59F8E8E}"/>
              </a:ext>
            </a:extLst>
          </p:cNvPr>
          <p:cNvSpPr txBox="1"/>
          <p:nvPr/>
        </p:nvSpPr>
        <p:spPr>
          <a:xfrm>
            <a:off x="6649717" y="4116043"/>
            <a:ext cx="4731658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原因：框架原创性评价依赖学科专业知识，AI 难以替代。</a:t>
            </a:r>
          </a:p>
        </p:txBody>
      </p:sp>
      <p:sp>
        <p:nvSpPr>
          <p:cNvPr id="27" name="TextBox 29">
            <a:extLst>
              <a:ext uri="{FF2B5EF4-FFF2-40B4-BE49-F238E27FC236}">
                <a16:creationId xmlns:a16="http://schemas.microsoft.com/office/drawing/2014/main" id="{5A6699AB-DFF6-20EC-4946-A939E1E9F570}"/>
              </a:ext>
            </a:extLst>
          </p:cNvPr>
          <p:cNvSpPr txBox="1"/>
          <p:nvPr/>
        </p:nvSpPr>
        <p:spPr>
          <a:xfrm>
            <a:off x="3275771" y="5542307"/>
            <a:ext cx="5640459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b="1" dirty="0">
                <a:solidFill>
                  <a:srgbClr val="1F4D78"/>
                </a:solidFill>
                <a:latin typeface="Arial"/>
                <a:ea typeface="Microsoft YaHei"/>
                <a:cs typeface="Arial"/>
              </a:rPr>
              <a:t>结论：不把所有分歧压成均值，未收敛维度进入专家终审</a:t>
            </a:r>
          </a:p>
        </p:txBody>
      </p:sp>
    </p:spTree>
    <p:extLst>
      <p:ext uri="{BB962C8B-B14F-4D97-AF65-F5344CB8AC3E}">
        <p14:creationId xmlns:p14="http://schemas.microsoft.com/office/powerpoint/2010/main" val="28075711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41B5CF-4575-664A-760A-E2D06E227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37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40554-5877-032A-4AF0-350B6D6F7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576E0-7F2B-4B1F-5C31-A18D0DECEE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1246F-C7B3-7FFC-F4D8-4749E2B398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附录 A4：与人工评审的对比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740A259F-8143-68AF-D133-D7E4F1C4F9E4}"/>
              </a:ext>
            </a:extLst>
          </p:cNvPr>
          <p:cNvSpPr txBox="1"/>
          <p:nvPr/>
        </p:nvSpPr>
        <p:spPr>
          <a:xfrm>
            <a:off x="3184947" y="1068043"/>
            <a:ext cx="5822107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AI 辅助系统解决规模化初筛问题，专家保留最终学术裁断</a:t>
            </a: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CE76DC8C-0249-4893-6BD4-928D714BA6DA}"/>
              </a:ext>
            </a:extLst>
          </p:cNvPr>
          <p:cNvSpPr/>
          <p:nvPr/>
        </p:nvSpPr>
        <p:spPr>
          <a:xfrm>
            <a:off x="914400" y="1524000"/>
            <a:ext cx="4762500" cy="3619500"/>
          </a:xfrm>
          <a:prstGeom prst="roundRect">
            <a:avLst>
              <a:gd name="adj" fmla="val 3158"/>
            </a:avLst>
          </a:prstGeom>
          <a:solidFill>
            <a:srgbClr val="F4F5F7"/>
          </a:solidFill>
          <a:ln w="9525">
            <a:solidFill>
              <a:srgbClr val="D9DEE5"/>
            </a:solidFill>
          </a:ln>
        </p:spPr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4FEE5383-5921-2A86-B200-F486297C0597}"/>
              </a:ext>
            </a:extLst>
          </p:cNvPr>
          <p:cNvSpPr txBox="1"/>
          <p:nvPr/>
        </p:nvSpPr>
        <p:spPr>
          <a:xfrm>
            <a:off x="1193797" y="1765273"/>
            <a:ext cx="1731226" cy="4064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00" b="1" dirty="0">
                <a:solidFill>
                  <a:srgbClr val="C8161E"/>
                </a:solidFill>
                <a:latin typeface="Arial"/>
                <a:ea typeface="Microsoft YaHei"/>
                <a:cs typeface="Arial"/>
              </a:rPr>
              <a:t>传统人工评审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94B1A51D-191C-429C-A4AE-91CF8E431FE9}"/>
              </a:ext>
            </a:extLst>
          </p:cNvPr>
          <p:cNvSpPr txBox="1"/>
          <p:nvPr/>
        </p:nvSpPr>
        <p:spPr>
          <a:xfrm>
            <a:off x="1198883" y="2303807"/>
            <a:ext cx="3667187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优势：学术经验深、能判断真实首创性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9D692D6A-516E-FD16-A19A-7D7BEAC9DCB9}"/>
              </a:ext>
            </a:extLst>
          </p:cNvPr>
          <p:cNvSpPr txBox="1"/>
          <p:nvPr/>
        </p:nvSpPr>
        <p:spPr>
          <a:xfrm>
            <a:off x="1198883" y="2684807"/>
            <a:ext cx="4424497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限制：周期长、尺度差异大、难以覆盖 1920 篇</a:t>
            </a: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1638FC7D-A90F-C929-69D4-C97D355675C8}"/>
              </a:ext>
            </a:extLst>
          </p:cNvPr>
          <p:cNvSpPr txBox="1"/>
          <p:nvPr/>
        </p:nvSpPr>
        <p:spPr>
          <a:xfrm>
            <a:off x="1201417" y="3354043"/>
            <a:ext cx="3209863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适合承担：终审、价值判断、争议裁断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FDDFA22A-C853-C06C-1777-1B8FC6FB273D}"/>
              </a:ext>
            </a:extLst>
          </p:cNvPr>
          <p:cNvSpPr/>
          <p:nvPr/>
        </p:nvSpPr>
        <p:spPr>
          <a:xfrm>
            <a:off x="6515100" y="1524000"/>
            <a:ext cx="4762500" cy="36195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</p:spPr>
      </p:sp>
      <p:sp>
        <p:nvSpPr>
          <p:cNvPr id="13" name="TextBox 15">
            <a:extLst>
              <a:ext uri="{FF2B5EF4-FFF2-40B4-BE49-F238E27FC236}">
                <a16:creationId xmlns:a16="http://schemas.microsoft.com/office/drawing/2014/main" id="{E767E8F3-AF75-2D20-1FF4-7F2A87525234}"/>
              </a:ext>
            </a:extLst>
          </p:cNvPr>
          <p:cNvSpPr txBox="1"/>
          <p:nvPr/>
        </p:nvSpPr>
        <p:spPr>
          <a:xfrm>
            <a:off x="6794497" y="1765273"/>
            <a:ext cx="1493167" cy="4064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00" b="1" dirty="0">
                <a:solidFill>
                  <a:srgbClr val="1F4D78"/>
                </a:solidFill>
                <a:latin typeface="Arial"/>
                <a:ea typeface="Microsoft YaHei"/>
                <a:cs typeface="Arial"/>
              </a:rPr>
              <a:t>AI 辅助评价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D5F095CD-F551-D769-6D00-019B524A8051}"/>
              </a:ext>
            </a:extLst>
          </p:cNvPr>
          <p:cNvSpPr txBox="1"/>
          <p:nvPr/>
        </p:nvSpPr>
        <p:spPr>
          <a:xfrm>
            <a:off x="6799583" y="2303807"/>
            <a:ext cx="4093840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优势：可规模化、可复现、能暴露模型分歧</a:t>
            </a: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F0938C17-5770-9434-D008-8140CA4B0D5B}"/>
              </a:ext>
            </a:extLst>
          </p:cNvPr>
          <p:cNvSpPr txBox="1"/>
          <p:nvPr/>
        </p:nvSpPr>
        <p:spPr>
          <a:xfrm>
            <a:off x="6799583" y="2684807"/>
            <a:ext cx="4093840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限制：不替代专家判断，不裁定真正首创性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8CCFBB82-0101-91CC-33CA-5E5881DF8A1F}"/>
              </a:ext>
            </a:extLst>
          </p:cNvPr>
          <p:cNvSpPr txBox="1"/>
          <p:nvPr/>
        </p:nvSpPr>
        <p:spPr>
          <a:xfrm>
            <a:off x="6802117" y="3354043"/>
            <a:ext cx="3209863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适合承担：初筛、证据整理、分歧定位</a:t>
            </a:r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4B44A588-27F0-ACBE-35C5-97D4DEC17C36}"/>
              </a:ext>
            </a:extLst>
          </p:cNvPr>
          <p:cNvSpPr/>
          <p:nvPr/>
        </p:nvSpPr>
        <p:spPr>
          <a:xfrm>
            <a:off x="2476500" y="5524500"/>
            <a:ext cx="7239000" cy="533400"/>
          </a:xfrm>
          <a:prstGeom prst="roundRect">
            <a:avLst>
              <a:gd name="adj" fmla="val 50000"/>
            </a:avLst>
          </a:prstGeom>
          <a:solidFill>
            <a:srgbClr val="1F4D78"/>
          </a:solidFill>
          <a:ln>
            <a:noFill/>
          </a:ln>
        </p:spPr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641F3AF6-18F4-9C27-4978-1890357B260F}"/>
              </a:ext>
            </a:extLst>
          </p:cNvPr>
          <p:cNvSpPr txBox="1"/>
          <p:nvPr/>
        </p:nvSpPr>
        <p:spPr>
          <a:xfrm>
            <a:off x="3242172" y="5675657"/>
            <a:ext cx="5707656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推荐机制：AI 初筛 + 专家终审，评分与专家意见并列留痕</a:t>
            </a:r>
          </a:p>
        </p:txBody>
      </p:sp>
    </p:spTree>
    <p:extLst>
      <p:ext uri="{BB962C8B-B14F-4D97-AF65-F5344CB8AC3E}">
        <p14:creationId xmlns:p14="http://schemas.microsoft.com/office/powerpoint/2010/main" val="7558227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E3254F-94AB-71EA-7E5B-4CAFBF9522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38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BD3E4A-A4E7-D969-B6AC-6F4B5117D2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DB5B72-7293-8C27-BE3D-19B3D4B638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B3F1F8-50B7-94FE-1CE6-004F3AC3CD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附录 A5：补充负样本专家意见摘录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71090C79-9894-4AA6-048C-DF04C3B3AE80}"/>
              </a:ext>
            </a:extLst>
          </p:cNvPr>
          <p:cNvSpPr txBox="1"/>
          <p:nvPr/>
        </p:nvSpPr>
        <p:spPr>
          <a:xfrm>
            <a:off x="2782593" y="1068043"/>
            <a:ext cx="6626814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负样本用于验证框架是否能识别"形式合规但学术贡献不足"的论文</a:t>
            </a: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E7E94E81-03D7-BD9B-7534-3ADF77644E28}"/>
              </a:ext>
            </a:extLst>
          </p:cNvPr>
          <p:cNvSpPr/>
          <p:nvPr/>
        </p:nvSpPr>
        <p:spPr>
          <a:xfrm>
            <a:off x="762000" y="1524000"/>
            <a:ext cx="3333750" cy="3429000"/>
          </a:xfrm>
          <a:prstGeom prst="roundRect">
            <a:avLst>
              <a:gd name="adj" fmla="val 3429"/>
            </a:avLst>
          </a:prstGeom>
          <a:solidFill>
            <a:srgbClr val="F4F5F7"/>
          </a:solidFill>
          <a:ln w="9525">
            <a:solidFill>
              <a:srgbClr val="D9DEE5"/>
            </a:solidFill>
          </a:ln>
        </p:spPr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0A867739-F0E7-9EAE-2C74-C48720BCC672}"/>
              </a:ext>
            </a:extLst>
          </p:cNvPr>
          <p:cNvSpPr txBox="1"/>
          <p:nvPr/>
        </p:nvSpPr>
        <p:spPr>
          <a:xfrm>
            <a:off x="1027433" y="1751357"/>
            <a:ext cx="2280564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C8161E"/>
                </a:solidFill>
                <a:latin typeface="Arial"/>
                <a:ea typeface="Microsoft YaHei"/>
                <a:cs typeface="Arial"/>
              </a:rPr>
              <a:t>意见类型一：洞察不足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720CBBE3-AD0D-D1DB-79EE-E572A4DC90C8}"/>
              </a:ext>
            </a:extLst>
          </p:cNvPr>
          <p:cNvSpPr txBox="1"/>
          <p:nvPr/>
        </p:nvSpPr>
        <p:spPr>
          <a:xfrm>
            <a:off x="1029967" y="2249143"/>
            <a:ext cx="2668365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"仅罗列现象，未揭示制度逻辑"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FF9E07E0-DEA2-202B-5A58-154BE072F67A}"/>
              </a:ext>
            </a:extLst>
          </p:cNvPr>
          <p:cNvSpPr txBox="1"/>
          <p:nvPr/>
        </p:nvSpPr>
        <p:spPr>
          <a:xfrm>
            <a:off x="1029967" y="2706343"/>
            <a:ext cx="1902800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对应维度：现状洞察度</a:t>
            </a: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D70226DC-F01D-58C8-18F3-DB331D66FC0C}"/>
              </a:ext>
            </a:extLst>
          </p:cNvPr>
          <p:cNvSpPr txBox="1"/>
          <p:nvPr/>
        </p:nvSpPr>
        <p:spPr>
          <a:xfrm>
            <a:off x="1029967" y="3087343"/>
            <a:ext cx="3237872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AI 处理：要求定位问题背后的规范结构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D7D4075A-565D-9815-C1CA-904EB01C057A}"/>
              </a:ext>
            </a:extLst>
          </p:cNvPr>
          <p:cNvSpPr/>
          <p:nvPr/>
        </p:nvSpPr>
        <p:spPr>
          <a:xfrm>
            <a:off x="4429125" y="1524000"/>
            <a:ext cx="3333750" cy="34290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</p:spPr>
      </p:sp>
      <p:sp>
        <p:nvSpPr>
          <p:cNvPr id="13" name="TextBox 15">
            <a:extLst>
              <a:ext uri="{FF2B5EF4-FFF2-40B4-BE49-F238E27FC236}">
                <a16:creationId xmlns:a16="http://schemas.microsoft.com/office/drawing/2014/main" id="{A5B4C362-A6AC-ADFA-C82C-AE4EE87EF1E0}"/>
              </a:ext>
            </a:extLst>
          </p:cNvPr>
          <p:cNvSpPr txBox="1"/>
          <p:nvPr/>
        </p:nvSpPr>
        <p:spPr>
          <a:xfrm>
            <a:off x="4694558" y="1751357"/>
            <a:ext cx="2280564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1F4D78"/>
                </a:solidFill>
                <a:latin typeface="Arial"/>
                <a:ea typeface="Microsoft YaHei"/>
                <a:cs typeface="Arial"/>
              </a:rPr>
              <a:t>意见类型二：框架不足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FF3844CD-396D-3EE8-A45B-280A987AC43C}"/>
              </a:ext>
            </a:extLst>
          </p:cNvPr>
          <p:cNvSpPr txBox="1"/>
          <p:nvPr/>
        </p:nvSpPr>
        <p:spPr>
          <a:xfrm>
            <a:off x="4697092" y="2249143"/>
            <a:ext cx="2108195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"分析框架缺乏可操作性"</a:t>
            </a: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62DF6C2A-2937-3400-837E-38BABA87FCCC}"/>
              </a:ext>
            </a:extLst>
          </p:cNvPr>
          <p:cNvSpPr txBox="1"/>
          <p:nvPr/>
        </p:nvSpPr>
        <p:spPr>
          <a:xfrm>
            <a:off x="4697092" y="2706343"/>
            <a:ext cx="1902800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对应维度：理论建构力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B6D469B4-BC0C-060C-A8D1-0A00E754DCEE}"/>
              </a:ext>
            </a:extLst>
          </p:cNvPr>
          <p:cNvSpPr txBox="1"/>
          <p:nvPr/>
        </p:nvSpPr>
        <p:spPr>
          <a:xfrm>
            <a:off x="4697092" y="3087343"/>
            <a:ext cx="3798042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AI 处理：检查概念、命题、推理链是否可复核</a:t>
            </a:r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F64511CB-A929-10B3-75D4-5A3E54601B7F}"/>
              </a:ext>
            </a:extLst>
          </p:cNvPr>
          <p:cNvSpPr/>
          <p:nvPr/>
        </p:nvSpPr>
        <p:spPr>
          <a:xfrm>
            <a:off x="8096250" y="1524000"/>
            <a:ext cx="3333750" cy="34290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</p:spPr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38F7C44D-4ABA-E36C-C28A-B72ACD5A5FD2}"/>
              </a:ext>
            </a:extLst>
          </p:cNvPr>
          <p:cNvSpPr txBox="1"/>
          <p:nvPr/>
        </p:nvSpPr>
        <p:spPr>
          <a:xfrm>
            <a:off x="8361683" y="1751357"/>
            <a:ext cx="2280564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E07B00"/>
                </a:solidFill>
                <a:latin typeface="Arial"/>
                <a:ea typeface="Microsoft YaHei"/>
                <a:cs typeface="Arial"/>
              </a:rPr>
              <a:t>意见类型三：结论先行</a:t>
            </a:r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F79495B7-074D-E38A-F9F0-4930A5FBD933}"/>
              </a:ext>
            </a:extLst>
          </p:cNvPr>
          <p:cNvSpPr txBox="1"/>
          <p:nvPr/>
        </p:nvSpPr>
        <p:spPr>
          <a:xfrm>
            <a:off x="8364217" y="2249143"/>
            <a:ext cx="2108195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"政策宣示替代学术论证"</a:t>
            </a:r>
          </a:p>
        </p:txBody>
      </p:sp>
      <p:sp>
        <p:nvSpPr>
          <p:cNvPr id="20" name="TextBox 22">
            <a:extLst>
              <a:ext uri="{FF2B5EF4-FFF2-40B4-BE49-F238E27FC236}">
                <a16:creationId xmlns:a16="http://schemas.microsoft.com/office/drawing/2014/main" id="{E585549D-75A9-5C6B-2139-4823728BCB03}"/>
              </a:ext>
            </a:extLst>
          </p:cNvPr>
          <p:cNvSpPr txBox="1"/>
          <p:nvPr/>
        </p:nvSpPr>
        <p:spPr>
          <a:xfrm>
            <a:off x="8364217" y="2706343"/>
            <a:ext cx="2864425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对应维度：学术共识度 / 预检口径</a:t>
            </a:r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2ACE404F-BCC1-5ED2-90D0-734426407B02}"/>
              </a:ext>
            </a:extLst>
          </p:cNvPr>
          <p:cNvSpPr txBox="1"/>
          <p:nvPr/>
        </p:nvSpPr>
        <p:spPr>
          <a:xfrm>
            <a:off x="8364217" y="3087343"/>
            <a:ext cx="2864425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AI 处理：区分政策阐释与法学研究</a:t>
            </a:r>
          </a:p>
        </p:txBody>
      </p:sp>
      <p:sp>
        <p:nvSpPr>
          <p:cNvPr id="22" name="TextBox 24">
            <a:extLst>
              <a:ext uri="{FF2B5EF4-FFF2-40B4-BE49-F238E27FC236}">
                <a16:creationId xmlns:a16="http://schemas.microsoft.com/office/drawing/2014/main" id="{B75E113E-426B-3F68-CD1E-5EC21CB1DF39}"/>
              </a:ext>
            </a:extLst>
          </p:cNvPr>
          <p:cNvSpPr txBox="1"/>
          <p:nvPr/>
        </p:nvSpPr>
        <p:spPr>
          <a:xfrm>
            <a:off x="3275771" y="5313707"/>
            <a:ext cx="5640459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b="1" dirty="0">
                <a:solidFill>
                  <a:srgbClr val="1F4D78"/>
                </a:solidFill>
                <a:latin typeface="Arial"/>
                <a:ea typeface="Microsoft YaHei"/>
                <a:cs typeface="Arial"/>
              </a:rPr>
              <a:t>验证结果：正样本不被误伤，部分负样本被有效拉开分差</a:t>
            </a:r>
          </a:p>
        </p:txBody>
      </p:sp>
      <p:sp>
        <p:nvSpPr>
          <p:cNvPr id="23" name="TextBox 25">
            <a:extLst>
              <a:ext uri="{FF2B5EF4-FFF2-40B4-BE49-F238E27FC236}">
                <a16:creationId xmlns:a16="http://schemas.microsoft.com/office/drawing/2014/main" id="{457EA30E-62E4-C48A-FA09-140DC6F21884}"/>
              </a:ext>
            </a:extLst>
          </p:cNvPr>
          <p:cNvSpPr txBox="1"/>
          <p:nvPr/>
        </p:nvSpPr>
        <p:spPr>
          <a:xfrm>
            <a:off x="4066273" y="5659093"/>
            <a:ext cx="4059454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v2.50.2：有效识别负样本与正样本差距约 22 分</a:t>
            </a:r>
          </a:p>
        </p:txBody>
      </p:sp>
    </p:spTree>
    <p:extLst>
      <p:ext uri="{BB962C8B-B14F-4D97-AF65-F5344CB8AC3E}">
        <p14:creationId xmlns:p14="http://schemas.microsoft.com/office/powerpoint/2010/main" val="11590698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附录 A6：Top50 新旧名单差异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新规则清除五轴低于 9 分的旧入选论文，并补入同学科高归属候选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234440"/>
          <a:ext cx="5166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</a:rPr>
                        <a:t>移除旧 PID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489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五轴归属低于 9 分，不符合正式 Top50 资格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683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五轴归属低于 9 分，不符合正式 Top50 资格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820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五轴归属低于 9 分，不符合正式 Top50 资格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956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五轴归属低于 9 分，不符合正式 Top50 资格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1387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五轴归属低于 9 分，不符合正式 Top50 资格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1602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五轴归属低于 9 分，不符合正式 Top50 资格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234440"/>
          <a:ext cx="5166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</a:rPr>
                        <a:t>补入新 PID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413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 10 分，同学科按六维分顺延入选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1194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 10 分，同学科按六维分顺延入选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1401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 10 分，同学科按六维分顺延入选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1642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 10 分，同学科按六维分顺延入选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1763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 10 分，同学科按六维分顺延入选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1818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32426"/>
                          </a:solidFill>
                          <a:latin typeface="Microsoft YaHei"/>
                        </a:rPr>
                        <a:t>五轴归属 10 分，同学科按六维分顺延入选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4617720"/>
            <a:ext cx="10241280" cy="32918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5E141F"/>
                </a:solidFill>
                <a:latin typeface="PingFang SC"/>
              </a:rPr>
              <a:t>差异结果：移除 6 篇，补入 6 篇；新名单仍满足原 1920 全库学科比例配额。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241280" cy="32918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50" b="0">
                <a:solidFill>
                  <a:srgbClr val="232426"/>
                </a:solidFill>
                <a:latin typeface="PingFang SC"/>
              </a:rPr>
              <a:t>规则解释：若某学科 10 分论文不足，才允许 9 分补足；8 分及以下不入正式 Top50。</a:t>
            </a:r>
          </a:p>
        </p:txBody>
      </p:sp>
    </p:spTree>
    <p:extLst>
      <p:ext uri="{BB962C8B-B14F-4D97-AF65-F5344CB8AC3E}">
        <p14:creationId xmlns:p14="http://schemas.microsoft.com/office/powerpoint/2010/main" val="7542644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31C1F2-C6C6-3A1A-921E-165A46663A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53781C-E1F6-4315-A39D-61273F2E0596}" type="slidenum">
              <a:rPr lang="zh-CN" altLang="en-US" smtClean="0"/>
              <a:pPr/>
              <a:t>40</a:t>
            </a:fld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360327-152B-ADA0-CDFD-60A46D61AC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AAB744-1142-50FE-79A4-4BE69C861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1B3DC0-C147-0295-2FF8-EA34F199AF6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附录 A</a:t>
            </a:r>
            <a:r>
              <a:rPr lang="en-US" altLang="zh-CN" dirty="0">
                <a:solidFill>
                  <a:srgbClr val="FFFFFF"/>
                </a:solidFill>
                <a:ea typeface="Microsoft YaHei"/>
                <a:cs typeface="Arial"/>
              </a:rPr>
              <a:t>7</a:t>
            </a:r>
            <a:r>
              <a:rPr lang="zh-CN" altLang="en-US" dirty="0">
                <a:solidFill>
                  <a:srgbClr val="FFFFFF"/>
                </a:solidFill>
                <a:ea typeface="Microsoft YaHei"/>
                <a:cs typeface="Arial"/>
              </a:rPr>
              <a:t>：Round 1 问题论文详细分析</a:t>
            </a:r>
          </a:p>
        </p:txBody>
      </p:sp>
      <p:grpSp>
        <p:nvGrpSpPr>
          <p:cNvPr id="6" name="Group 44">
            <a:extLst>
              <a:ext uri="{FF2B5EF4-FFF2-40B4-BE49-F238E27FC236}">
                <a16:creationId xmlns:a16="http://schemas.microsoft.com/office/drawing/2014/main" id="{428D97B0-CDFF-1065-1006-D590866D32FA}"/>
              </a:ext>
            </a:extLst>
          </p:cNvPr>
          <p:cNvGrpSpPr/>
          <p:nvPr/>
        </p:nvGrpSpPr>
        <p:grpSpPr>
          <a:xfrm>
            <a:off x="685800" y="934257"/>
            <a:ext cx="10820400" cy="1666875"/>
            <a:chOff x="685800" y="1228725"/>
            <a:chExt cx="10820400" cy="1666875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D6F607E-2389-F585-6BA4-09F6C5F42C04}"/>
                </a:ext>
              </a:extLst>
            </p:cNvPr>
            <p:cNvSpPr/>
            <p:nvPr/>
          </p:nvSpPr>
          <p:spPr>
            <a:xfrm>
              <a:off x="685800" y="1228725"/>
              <a:ext cx="10820400" cy="304800"/>
            </a:xfrm>
            <a:prstGeom prst="roundRect">
              <a:avLst>
                <a:gd name="adj" fmla="val 12500"/>
              </a:avLst>
            </a:prstGeom>
            <a:solidFill>
              <a:srgbClr val="1F4D78"/>
            </a:solidFill>
            <a:ln>
              <a:noFill/>
            </a:ln>
          </p:spPr>
        </p:sp>
        <p:sp>
          <p:nvSpPr>
            <p:cNvPr id="8" name="TextBox 9">
              <a:extLst>
                <a:ext uri="{FF2B5EF4-FFF2-40B4-BE49-F238E27FC236}">
                  <a16:creationId xmlns:a16="http://schemas.microsoft.com/office/drawing/2014/main" id="{FAF48036-BB33-7CBA-514E-B651CEB3535F}"/>
                </a:ext>
              </a:extLst>
            </p:cNvPr>
            <p:cNvSpPr txBox="1"/>
            <p:nvPr/>
          </p:nvSpPr>
          <p:spPr>
            <a:xfrm>
              <a:off x="1721739" y="1308735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类别</a:t>
              </a:r>
            </a:p>
          </p:txBody>
        </p:sp>
        <p:sp>
          <p:nvSpPr>
            <p:cNvPr id="9" name="TextBox 10">
              <a:extLst>
                <a:ext uri="{FF2B5EF4-FFF2-40B4-BE49-F238E27FC236}">
                  <a16:creationId xmlns:a16="http://schemas.microsoft.com/office/drawing/2014/main" id="{EC331005-813C-C869-F7EC-DC2411DA5E9D}"/>
                </a:ext>
              </a:extLst>
            </p:cNvPr>
            <p:cNvSpPr txBox="1"/>
            <p:nvPr/>
          </p:nvSpPr>
          <p:spPr>
            <a:xfrm>
              <a:off x="3817239" y="1308735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数量</a:t>
              </a:r>
            </a:p>
          </p:txBody>
        </p:sp>
        <p:sp>
          <p:nvSpPr>
            <p:cNvPr id="10" name="TextBox 11">
              <a:extLst>
                <a:ext uri="{FF2B5EF4-FFF2-40B4-BE49-F238E27FC236}">
                  <a16:creationId xmlns:a16="http://schemas.microsoft.com/office/drawing/2014/main" id="{6F117DF4-1D53-511E-3874-337C6D9E9FCF}"/>
                </a:ext>
              </a:extLst>
            </p:cNvPr>
            <p:cNvSpPr txBox="1"/>
            <p:nvPr/>
          </p:nvSpPr>
          <p:spPr>
            <a:xfrm>
              <a:off x="5257228" y="1308735"/>
              <a:ext cx="534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已处理</a:t>
              </a:r>
            </a:p>
          </p:txBody>
        </p: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F3395ABA-8749-E1C1-8C79-83507D555ABC}"/>
                </a:ext>
              </a:extLst>
            </p:cNvPr>
            <p:cNvSpPr txBox="1"/>
            <p:nvPr/>
          </p:nvSpPr>
          <p:spPr>
            <a:xfrm>
              <a:off x="7162228" y="1308735"/>
              <a:ext cx="534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待处理</a:t>
              </a:r>
            </a:p>
          </p:txBody>
        </p:sp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560FC4B7-8F51-0890-EDA0-DFE97D0E8DE2}"/>
                </a:ext>
              </a:extLst>
            </p:cNvPr>
            <p:cNvSpPr txBox="1"/>
            <p:nvPr/>
          </p:nvSpPr>
          <p:spPr>
            <a:xfrm>
              <a:off x="9341739" y="1308735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13" name="Rectangle 14">
              <a:extLst>
                <a:ext uri="{FF2B5EF4-FFF2-40B4-BE49-F238E27FC236}">
                  <a16:creationId xmlns:a16="http://schemas.microsoft.com/office/drawing/2014/main" id="{B5618E58-8E27-60B6-09E2-ACB2BDD55548}"/>
                </a:ext>
              </a:extLst>
            </p:cNvPr>
            <p:cNvSpPr/>
            <p:nvPr/>
          </p:nvSpPr>
          <p:spPr>
            <a:xfrm>
              <a:off x="685800" y="1533525"/>
              <a:ext cx="10820400" cy="2667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</p:sp>
        <p:sp>
          <p:nvSpPr>
            <p:cNvPr id="14" name="TextBox 15">
              <a:extLst>
                <a:ext uri="{FF2B5EF4-FFF2-40B4-BE49-F238E27FC236}">
                  <a16:creationId xmlns:a16="http://schemas.microsoft.com/office/drawing/2014/main" id="{F5AEA5A6-720D-05DA-FA3D-F910F44A89CD}"/>
                </a:ext>
              </a:extLst>
            </p:cNvPr>
            <p:cNvSpPr txBox="1"/>
            <p:nvPr/>
          </p:nvSpPr>
          <p:spPr>
            <a:xfrm>
              <a:off x="1581722" y="1584960"/>
              <a:ext cx="6465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1-空状态</a:t>
              </a:r>
            </a:p>
          </p:txBody>
        </p:sp>
        <p:sp>
          <p:nvSpPr>
            <p:cNvPr id="15" name="TextBox 16">
              <a:extLst>
                <a:ext uri="{FF2B5EF4-FFF2-40B4-BE49-F238E27FC236}">
                  <a16:creationId xmlns:a16="http://schemas.microsoft.com/office/drawing/2014/main" id="{6ED9D4D6-5AFB-74AB-17DE-F6B7C919C117}"/>
                </a:ext>
              </a:extLst>
            </p:cNvPr>
            <p:cNvSpPr txBox="1"/>
            <p:nvPr/>
          </p:nvSpPr>
          <p:spPr>
            <a:xfrm>
              <a:off x="3783635" y="1584960"/>
              <a:ext cx="4337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90 篇</a:t>
              </a:r>
            </a:p>
          </p:txBody>
        </p:sp>
        <p:sp>
          <p:nvSpPr>
            <p:cNvPr id="16" name="TextBox 17">
              <a:extLst>
                <a:ext uri="{FF2B5EF4-FFF2-40B4-BE49-F238E27FC236}">
                  <a16:creationId xmlns:a16="http://schemas.microsoft.com/office/drawing/2014/main" id="{2415FB1A-697E-228B-2440-B9909E992AD8}"/>
                </a:ext>
              </a:extLst>
            </p:cNvPr>
            <p:cNvSpPr txBox="1"/>
            <p:nvPr/>
          </p:nvSpPr>
          <p:spPr>
            <a:xfrm>
              <a:off x="5185820" y="1584960"/>
              <a:ext cx="6773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✅ 已补测</a:t>
              </a:r>
            </a:p>
          </p:txBody>
        </p:sp>
        <p:sp>
          <p:nvSpPr>
            <p:cNvPr id="17" name="TextBox 18">
              <a:extLst>
                <a:ext uri="{FF2B5EF4-FFF2-40B4-BE49-F238E27FC236}">
                  <a16:creationId xmlns:a16="http://schemas.microsoft.com/office/drawing/2014/main" id="{B5DDAB13-3509-CC58-0984-30A04C372F95}"/>
                </a:ext>
              </a:extLst>
            </p:cNvPr>
            <p:cNvSpPr txBox="1"/>
            <p:nvPr/>
          </p:nvSpPr>
          <p:spPr>
            <a:xfrm>
              <a:off x="7370254" y="1584960"/>
              <a:ext cx="1184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—</a:t>
              </a:r>
            </a:p>
          </p:txBody>
        </p:sp>
        <p:sp>
          <p:nvSpPr>
            <p:cNvPr id="18" name="TextBox 19">
              <a:extLst>
                <a:ext uri="{FF2B5EF4-FFF2-40B4-BE49-F238E27FC236}">
                  <a16:creationId xmlns:a16="http://schemas.microsoft.com/office/drawing/2014/main" id="{38D19114-F7D6-265B-5A68-F3F940D4FDE5}"/>
                </a:ext>
              </a:extLst>
            </p:cNvPr>
            <p:cNvSpPr txBox="1"/>
            <p:nvPr/>
          </p:nvSpPr>
          <p:spPr>
            <a:xfrm>
              <a:off x="8261604" y="1584960"/>
              <a:ext cx="252679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Qwen 占 70 篇（阿里云内容审查）</a:t>
              </a:r>
            </a:p>
          </p:txBody>
        </p:sp>
        <p:sp>
          <p:nvSpPr>
            <p:cNvPr id="19" name="Rectangle 20">
              <a:extLst>
                <a:ext uri="{FF2B5EF4-FFF2-40B4-BE49-F238E27FC236}">
                  <a16:creationId xmlns:a16="http://schemas.microsoft.com/office/drawing/2014/main" id="{FAB11624-C78F-F19E-D400-0957F30273F3}"/>
                </a:ext>
              </a:extLst>
            </p:cNvPr>
            <p:cNvSpPr/>
            <p:nvPr/>
          </p:nvSpPr>
          <p:spPr>
            <a:xfrm>
              <a:off x="685800" y="1800225"/>
              <a:ext cx="10820400" cy="266700"/>
            </a:xfrm>
            <a:prstGeom prst="rect">
              <a:avLst/>
            </a:prstGeom>
            <a:solidFill>
              <a:srgbClr val="FFEBEE"/>
            </a:solidFill>
            <a:ln>
              <a:noFill/>
            </a:ln>
          </p:spPr>
        </p:sp>
        <p:sp>
          <p:nvSpPr>
            <p:cNvPr id="20" name="TextBox 21">
              <a:extLst>
                <a:ext uri="{FF2B5EF4-FFF2-40B4-BE49-F238E27FC236}">
                  <a16:creationId xmlns:a16="http://schemas.microsoft.com/office/drawing/2014/main" id="{C621918D-31AE-28B8-7351-AAAE014F4BDF}"/>
                </a:ext>
              </a:extLst>
            </p:cNvPr>
            <p:cNvSpPr txBox="1"/>
            <p:nvPr/>
          </p:nvSpPr>
          <p:spPr>
            <a:xfrm>
              <a:off x="1481709" y="1851660"/>
              <a:ext cx="84658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2-全部拒绝</a:t>
              </a:r>
            </a:p>
          </p:txBody>
        </p:sp>
        <p:sp>
          <p:nvSpPr>
            <p:cNvPr id="21" name="TextBox 22">
              <a:extLst>
                <a:ext uri="{FF2B5EF4-FFF2-40B4-BE49-F238E27FC236}">
                  <a16:creationId xmlns:a16="http://schemas.microsoft.com/office/drawing/2014/main" id="{0ACDBAFD-44BF-70AE-5AD2-48556B31D1B9}"/>
                </a:ext>
              </a:extLst>
            </p:cNvPr>
            <p:cNvSpPr txBox="1"/>
            <p:nvPr/>
          </p:nvSpPr>
          <p:spPr>
            <a:xfrm>
              <a:off x="3829841" y="1851660"/>
              <a:ext cx="34131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5 篇</a:t>
              </a:r>
            </a:p>
          </p:txBody>
        </p:sp>
        <p:sp>
          <p:nvSpPr>
            <p:cNvPr id="22" name="TextBox 23">
              <a:extLst>
                <a:ext uri="{FF2B5EF4-FFF2-40B4-BE49-F238E27FC236}">
                  <a16:creationId xmlns:a16="http://schemas.microsoft.com/office/drawing/2014/main" id="{B0B1F33E-BF38-53C0-EC4F-598CE54B5329}"/>
                </a:ext>
              </a:extLst>
            </p:cNvPr>
            <p:cNvSpPr txBox="1"/>
            <p:nvPr/>
          </p:nvSpPr>
          <p:spPr>
            <a:xfrm>
              <a:off x="5185820" y="1851660"/>
              <a:ext cx="6773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✅ 已排除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758F0673-2D4C-DA0C-A423-ADFAE6E1E981}"/>
                </a:ext>
              </a:extLst>
            </p:cNvPr>
            <p:cNvSpPr txBox="1"/>
            <p:nvPr/>
          </p:nvSpPr>
          <p:spPr>
            <a:xfrm>
              <a:off x="7370254" y="1851660"/>
              <a:ext cx="1184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—</a:t>
              </a:r>
            </a:p>
          </p:txBody>
        </p:sp>
        <p:sp>
          <p:nvSpPr>
            <p:cNvPr id="24" name="TextBox 25">
              <a:extLst>
                <a:ext uri="{FF2B5EF4-FFF2-40B4-BE49-F238E27FC236}">
                  <a16:creationId xmlns:a16="http://schemas.microsoft.com/office/drawing/2014/main" id="{77E992B1-B65F-70AE-491E-DD37F3FC0451}"/>
                </a:ext>
              </a:extLst>
            </p:cNvPr>
            <p:cNvSpPr txBox="1"/>
            <p:nvPr/>
          </p:nvSpPr>
          <p:spPr>
            <a:xfrm>
              <a:off x="8401622" y="1851660"/>
              <a:ext cx="22467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4 模型一致排除（政策性论文）</a:t>
              </a:r>
            </a:p>
          </p:txBody>
        </p:sp>
        <p:sp>
          <p:nvSpPr>
            <p:cNvPr id="25" name="Rectangle 26">
              <a:extLst>
                <a:ext uri="{FF2B5EF4-FFF2-40B4-BE49-F238E27FC236}">
                  <a16:creationId xmlns:a16="http://schemas.microsoft.com/office/drawing/2014/main" id="{CCF1118C-4E73-0456-7FB0-D745FE5C5E18}"/>
                </a:ext>
              </a:extLst>
            </p:cNvPr>
            <p:cNvSpPr/>
            <p:nvPr/>
          </p:nvSpPr>
          <p:spPr>
            <a:xfrm>
              <a:off x="685800" y="2066925"/>
              <a:ext cx="10820400" cy="266700"/>
            </a:xfrm>
            <a:prstGeom prst="rect">
              <a:avLst/>
            </a:prstGeom>
            <a:solidFill>
              <a:srgbClr val="FFF8F0"/>
            </a:solidFill>
            <a:ln>
              <a:noFill/>
            </a:ln>
          </p:spPr>
        </p:sp>
        <p:sp>
          <p:nvSpPr>
            <p:cNvPr id="26" name="TextBox 27">
              <a:extLst>
                <a:ext uri="{FF2B5EF4-FFF2-40B4-BE49-F238E27FC236}">
                  <a16:creationId xmlns:a16="http://schemas.microsoft.com/office/drawing/2014/main" id="{49636C29-CD8E-914A-A81F-174123D8AA55}"/>
                </a:ext>
              </a:extLst>
            </p:cNvPr>
            <p:cNvSpPr txBox="1"/>
            <p:nvPr/>
          </p:nvSpPr>
          <p:spPr>
            <a:xfrm>
              <a:off x="1481709" y="2118360"/>
              <a:ext cx="84658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3-多数拒绝</a:t>
              </a:r>
            </a:p>
          </p:txBody>
        </p:sp>
        <p:sp>
          <p:nvSpPr>
            <p:cNvPr id="27" name="TextBox 28">
              <a:extLst>
                <a:ext uri="{FF2B5EF4-FFF2-40B4-BE49-F238E27FC236}">
                  <a16:creationId xmlns:a16="http://schemas.microsoft.com/office/drawing/2014/main" id="{24191133-8097-0756-A278-52BB26497791}"/>
                </a:ext>
              </a:extLst>
            </p:cNvPr>
            <p:cNvSpPr txBox="1"/>
            <p:nvPr/>
          </p:nvSpPr>
          <p:spPr>
            <a:xfrm>
              <a:off x="3804637" y="2118360"/>
              <a:ext cx="39172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19 篇</a:t>
              </a:r>
            </a:p>
          </p:txBody>
        </p:sp>
        <p:sp>
          <p:nvSpPr>
            <p:cNvPr id="28" name="TextBox 29">
              <a:extLst>
                <a:ext uri="{FF2B5EF4-FFF2-40B4-BE49-F238E27FC236}">
                  <a16:creationId xmlns:a16="http://schemas.microsoft.com/office/drawing/2014/main" id="{3BA0D95C-D304-31CB-36B5-93A1CF30BF88}"/>
                </a:ext>
              </a:extLst>
            </p:cNvPr>
            <p:cNvSpPr txBox="1"/>
            <p:nvPr/>
          </p:nvSpPr>
          <p:spPr>
            <a:xfrm>
              <a:off x="5465254" y="2118360"/>
              <a:ext cx="1184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—</a:t>
              </a:r>
            </a:p>
          </p:txBody>
        </p:sp>
        <p:sp>
          <p:nvSpPr>
            <p:cNvPr id="29" name="TextBox 30">
              <a:extLst>
                <a:ext uri="{FF2B5EF4-FFF2-40B4-BE49-F238E27FC236}">
                  <a16:creationId xmlns:a16="http://schemas.microsoft.com/office/drawing/2014/main" id="{781BFD50-3DA4-29A5-0F0B-C81AC3883A0E}"/>
                </a:ext>
              </a:extLst>
            </p:cNvPr>
            <p:cNvSpPr txBox="1"/>
            <p:nvPr/>
          </p:nvSpPr>
          <p:spPr>
            <a:xfrm>
              <a:off x="6876593" y="2118360"/>
              <a:ext cx="110581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⚠️ 需人工复核</a:t>
              </a:r>
            </a:p>
          </p:txBody>
        </p:sp>
        <p:sp>
          <p:nvSpPr>
            <p:cNvPr id="30" name="TextBox 31">
              <a:extLst>
                <a:ext uri="{FF2B5EF4-FFF2-40B4-BE49-F238E27FC236}">
                  <a16:creationId xmlns:a16="http://schemas.microsoft.com/office/drawing/2014/main" id="{370F2AAC-BDCF-EDAC-D700-031470F9AB52}"/>
                </a:ext>
              </a:extLst>
            </p:cNvPr>
            <p:cNvSpPr txBox="1"/>
            <p:nvPr/>
          </p:nvSpPr>
          <p:spPr>
            <a:xfrm>
              <a:off x="8713660" y="2118360"/>
              <a:ext cx="162267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2-3 模型拒绝，有分歧</a:t>
              </a:r>
            </a:p>
          </p:txBody>
        </p:sp>
        <p:sp>
          <p:nvSpPr>
            <p:cNvPr id="31" name="Rectangle 32">
              <a:extLst>
                <a:ext uri="{FF2B5EF4-FFF2-40B4-BE49-F238E27FC236}">
                  <a16:creationId xmlns:a16="http://schemas.microsoft.com/office/drawing/2014/main" id="{F9826D7C-6A23-7A81-8DC3-5A9DC4E6DA6A}"/>
                </a:ext>
              </a:extLst>
            </p:cNvPr>
            <p:cNvSpPr/>
            <p:nvPr/>
          </p:nvSpPr>
          <p:spPr>
            <a:xfrm>
              <a:off x="685800" y="2333625"/>
              <a:ext cx="10820400" cy="266700"/>
            </a:xfrm>
            <a:prstGeom prst="rect">
              <a:avLst/>
            </a:prstGeom>
            <a:solidFill>
              <a:srgbClr val="FFF8F0"/>
            </a:solidFill>
            <a:ln>
              <a:noFill/>
            </a:ln>
          </p:spPr>
        </p:sp>
        <p:sp>
          <p:nvSpPr>
            <p:cNvPr id="32" name="TextBox 33">
              <a:extLst>
                <a:ext uri="{FF2B5EF4-FFF2-40B4-BE49-F238E27FC236}">
                  <a16:creationId xmlns:a16="http://schemas.microsoft.com/office/drawing/2014/main" id="{D48A3C1C-1FFB-21C1-99DF-307EDD888D7A}"/>
                </a:ext>
              </a:extLst>
            </p:cNvPr>
            <p:cNvSpPr txBox="1"/>
            <p:nvPr/>
          </p:nvSpPr>
          <p:spPr>
            <a:xfrm>
              <a:off x="1481709" y="2385060"/>
              <a:ext cx="84658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4-单一拒绝</a:t>
              </a:r>
            </a:p>
          </p:txBody>
        </p:sp>
        <p:sp>
          <p:nvSpPr>
            <p:cNvPr id="33" name="TextBox 34">
              <a:extLst>
                <a:ext uri="{FF2B5EF4-FFF2-40B4-BE49-F238E27FC236}">
                  <a16:creationId xmlns:a16="http://schemas.microsoft.com/office/drawing/2014/main" id="{DBDDD35C-F087-72CA-8DC6-E5D84A6C385E}"/>
                </a:ext>
              </a:extLst>
            </p:cNvPr>
            <p:cNvSpPr txBox="1"/>
            <p:nvPr/>
          </p:nvSpPr>
          <p:spPr>
            <a:xfrm>
              <a:off x="3804637" y="2385060"/>
              <a:ext cx="39172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15 篇</a:t>
              </a:r>
            </a:p>
          </p:txBody>
        </p:sp>
        <p:sp>
          <p:nvSpPr>
            <p:cNvPr id="34" name="TextBox 35">
              <a:extLst>
                <a:ext uri="{FF2B5EF4-FFF2-40B4-BE49-F238E27FC236}">
                  <a16:creationId xmlns:a16="http://schemas.microsoft.com/office/drawing/2014/main" id="{99E886D2-B037-0DF0-6A99-90D9720AF4F0}"/>
                </a:ext>
              </a:extLst>
            </p:cNvPr>
            <p:cNvSpPr txBox="1"/>
            <p:nvPr/>
          </p:nvSpPr>
          <p:spPr>
            <a:xfrm>
              <a:off x="5465254" y="2385060"/>
              <a:ext cx="1184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—</a:t>
              </a:r>
            </a:p>
          </p:txBody>
        </p:sp>
        <p:sp>
          <p:nvSpPr>
            <p:cNvPr id="35" name="TextBox 36">
              <a:extLst>
                <a:ext uri="{FF2B5EF4-FFF2-40B4-BE49-F238E27FC236}">
                  <a16:creationId xmlns:a16="http://schemas.microsoft.com/office/drawing/2014/main" id="{8B8F3BD4-746B-77D8-9A67-1E3FD93C1A55}"/>
                </a:ext>
              </a:extLst>
            </p:cNvPr>
            <p:cNvSpPr txBox="1"/>
            <p:nvPr/>
          </p:nvSpPr>
          <p:spPr>
            <a:xfrm>
              <a:off x="6876593" y="2385060"/>
              <a:ext cx="110581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E07B00"/>
                  </a:solidFill>
                  <a:latin typeface="Arial"/>
                  <a:ea typeface="Microsoft YaHei"/>
                  <a:cs typeface="Arial"/>
                </a:rPr>
                <a:t>⚠️ 需人工复核</a:t>
              </a:r>
            </a:p>
          </p:txBody>
        </p:sp>
        <p:sp>
          <p:nvSpPr>
            <p:cNvPr id="36" name="TextBox 37">
              <a:extLst>
                <a:ext uri="{FF2B5EF4-FFF2-40B4-BE49-F238E27FC236}">
                  <a16:creationId xmlns:a16="http://schemas.microsoft.com/office/drawing/2014/main" id="{8A388B59-953F-9165-8837-86BE0744E9A9}"/>
                </a:ext>
              </a:extLst>
            </p:cNvPr>
            <p:cNvSpPr txBox="1"/>
            <p:nvPr/>
          </p:nvSpPr>
          <p:spPr>
            <a:xfrm>
              <a:off x="9141714" y="238506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1 模型拒绝</a:t>
              </a:r>
            </a:p>
          </p:txBody>
        </p:sp>
        <p:sp>
          <p:nvSpPr>
            <p:cNvPr id="37" name="Rectangle 38">
              <a:extLst>
                <a:ext uri="{FF2B5EF4-FFF2-40B4-BE49-F238E27FC236}">
                  <a16:creationId xmlns:a16="http://schemas.microsoft.com/office/drawing/2014/main" id="{E979D47B-312D-3D47-9D7D-F882F176C2F3}"/>
                </a:ext>
              </a:extLst>
            </p:cNvPr>
            <p:cNvSpPr/>
            <p:nvPr/>
          </p:nvSpPr>
          <p:spPr>
            <a:xfrm>
              <a:off x="685800" y="2600325"/>
              <a:ext cx="10820400" cy="266700"/>
            </a:xfrm>
            <a:prstGeom prst="rect">
              <a:avLst/>
            </a:prstGeom>
            <a:solidFill>
              <a:srgbClr val="F0F7FF"/>
            </a:solidFill>
            <a:ln>
              <a:noFill/>
            </a:ln>
          </p:spPr>
        </p:sp>
        <p:sp>
          <p:nvSpPr>
            <p:cNvPr id="38" name="TextBox 39">
              <a:extLst>
                <a:ext uri="{FF2B5EF4-FFF2-40B4-BE49-F238E27FC236}">
                  <a16:creationId xmlns:a16="http://schemas.microsoft.com/office/drawing/2014/main" id="{6698771E-14ED-CB70-8E5E-37716036F85D}"/>
                </a:ext>
              </a:extLst>
            </p:cNvPr>
            <p:cNvSpPr txBox="1"/>
            <p:nvPr/>
          </p:nvSpPr>
          <p:spPr>
            <a:xfrm>
              <a:off x="1481709" y="2651760"/>
              <a:ext cx="84658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5-边界判断</a:t>
              </a:r>
            </a:p>
          </p:txBody>
        </p:sp>
        <p:sp>
          <p:nvSpPr>
            <p:cNvPr id="39" name="TextBox 40">
              <a:extLst>
                <a:ext uri="{FF2B5EF4-FFF2-40B4-BE49-F238E27FC236}">
                  <a16:creationId xmlns:a16="http://schemas.microsoft.com/office/drawing/2014/main" id="{A19BB92A-10A6-C349-2C43-2DEC083B78B8}"/>
                </a:ext>
              </a:extLst>
            </p:cNvPr>
            <p:cNvSpPr txBox="1"/>
            <p:nvPr/>
          </p:nvSpPr>
          <p:spPr>
            <a:xfrm>
              <a:off x="3783635" y="2651760"/>
              <a:ext cx="4337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B1C21"/>
                  </a:solidFill>
                  <a:latin typeface="Arial"/>
                  <a:ea typeface="Microsoft YaHei"/>
                  <a:cs typeface="Arial"/>
                </a:rPr>
                <a:t>25 篇</a:t>
              </a:r>
            </a:p>
          </p:txBody>
        </p:sp>
        <p:sp>
          <p:nvSpPr>
            <p:cNvPr id="40" name="TextBox 41">
              <a:extLst>
                <a:ext uri="{FF2B5EF4-FFF2-40B4-BE49-F238E27FC236}">
                  <a16:creationId xmlns:a16="http://schemas.microsoft.com/office/drawing/2014/main" id="{AD8B34A0-F8E2-AF61-9196-E6D1300DBE15}"/>
                </a:ext>
              </a:extLst>
            </p:cNvPr>
            <p:cNvSpPr txBox="1"/>
            <p:nvPr/>
          </p:nvSpPr>
          <p:spPr>
            <a:xfrm>
              <a:off x="5465254" y="2651760"/>
              <a:ext cx="1184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—</a:t>
              </a:r>
            </a:p>
          </p:txBody>
        </p:sp>
        <p:sp>
          <p:nvSpPr>
            <p:cNvPr id="41" name="TextBox 42">
              <a:extLst>
                <a:ext uri="{FF2B5EF4-FFF2-40B4-BE49-F238E27FC236}">
                  <a16:creationId xmlns:a16="http://schemas.microsoft.com/office/drawing/2014/main" id="{5EF245E4-096F-8555-3C5A-3A8885D617AA}"/>
                </a:ext>
              </a:extLst>
            </p:cNvPr>
            <p:cNvSpPr txBox="1"/>
            <p:nvPr/>
          </p:nvSpPr>
          <p:spPr>
            <a:xfrm>
              <a:off x="6876593" y="2651760"/>
              <a:ext cx="110581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4D78"/>
                  </a:solidFill>
                  <a:latin typeface="Arial"/>
                  <a:ea typeface="Microsoft YaHei"/>
                  <a:cs typeface="Arial"/>
                </a:rPr>
                <a:t>⚠️ 需人工确认</a:t>
              </a:r>
            </a:p>
          </p:txBody>
        </p:sp>
        <p:sp>
          <p:nvSpPr>
            <p:cNvPr id="42" name="TextBox 43">
              <a:extLst>
                <a:ext uri="{FF2B5EF4-FFF2-40B4-BE49-F238E27FC236}">
                  <a16:creationId xmlns:a16="http://schemas.microsoft.com/office/drawing/2014/main" id="{D52968B5-CC98-0193-801D-841D9463C082}"/>
                </a:ext>
              </a:extLst>
            </p:cNvPr>
            <p:cNvSpPr txBox="1"/>
            <p:nvPr/>
          </p:nvSpPr>
          <p:spPr>
            <a:xfrm>
              <a:off x="8709660" y="2651760"/>
              <a:ext cx="16306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项目口径边界，无拒绝</a:t>
              </a:r>
            </a:p>
          </p:txBody>
        </p:sp>
      </p:grpSp>
      <p:sp>
        <p:nvSpPr>
          <p:cNvPr id="43" name="TextBox 45">
            <a:extLst>
              <a:ext uri="{FF2B5EF4-FFF2-40B4-BE49-F238E27FC236}">
                <a16:creationId xmlns:a16="http://schemas.microsoft.com/office/drawing/2014/main" id="{BC74282E-DC27-5D77-E14A-B6F37308A5E5}"/>
              </a:ext>
            </a:extLst>
          </p:cNvPr>
          <p:cNvSpPr txBox="1"/>
          <p:nvPr/>
        </p:nvSpPr>
        <p:spPr>
          <a:xfrm>
            <a:off x="665483" y="2771339"/>
            <a:ext cx="3456527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1F4D78"/>
                </a:solidFill>
                <a:latin typeface="Arial"/>
                <a:ea typeface="Microsoft YaHei"/>
                <a:cs typeface="Arial"/>
              </a:rPr>
              <a:t>模型拒绝行为画像（1920 篇统计）</a:t>
            </a:r>
          </a:p>
        </p:txBody>
      </p:sp>
      <p:sp>
        <p:nvSpPr>
          <p:cNvPr id="44" name="Rectangle 46">
            <a:extLst>
              <a:ext uri="{FF2B5EF4-FFF2-40B4-BE49-F238E27FC236}">
                <a16:creationId xmlns:a16="http://schemas.microsoft.com/office/drawing/2014/main" id="{3133AECA-2357-A5EC-BE94-275BCBFF8850}"/>
              </a:ext>
            </a:extLst>
          </p:cNvPr>
          <p:cNvSpPr/>
          <p:nvPr/>
        </p:nvSpPr>
        <p:spPr>
          <a:xfrm>
            <a:off x="685800" y="3096432"/>
            <a:ext cx="10820400" cy="1143000"/>
          </a:xfrm>
          <a:prstGeom prst="roundRect">
            <a:avLst>
              <a:gd name="adj" fmla="val 6667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45" name="TextBox 47">
            <a:extLst>
              <a:ext uri="{FF2B5EF4-FFF2-40B4-BE49-F238E27FC236}">
                <a16:creationId xmlns:a16="http://schemas.microsoft.com/office/drawing/2014/main" id="{82D2C97C-8B8A-B323-5843-8C5BF10A8A1C}"/>
              </a:ext>
            </a:extLst>
          </p:cNvPr>
          <p:cNvSpPr txBox="1"/>
          <p:nvPr/>
        </p:nvSpPr>
        <p:spPr>
          <a:xfrm>
            <a:off x="1010917" y="3250075"/>
            <a:ext cx="9521112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Kimi-K2.6（33 次，最严格）&gt; GLM-5.1（23 次）&gt; DeepSeek-V4-Pro（15 次）&gt; Qwen3.6-Plus（6 次，最宽松）</a:t>
            </a:r>
          </a:p>
        </p:txBody>
      </p:sp>
      <p:sp>
        <p:nvSpPr>
          <p:cNvPr id="46" name="TextBox 48">
            <a:extLst>
              <a:ext uri="{FF2B5EF4-FFF2-40B4-BE49-F238E27FC236}">
                <a16:creationId xmlns:a16="http://schemas.microsoft.com/office/drawing/2014/main" id="{F70B6F90-BBE4-FC01-108D-1C9DDF8C5D20}"/>
              </a:ext>
            </a:extLst>
          </p:cNvPr>
          <p:cNvSpPr txBox="1"/>
          <p:nvPr/>
        </p:nvSpPr>
        <p:spPr>
          <a:xfrm>
            <a:off x="1010917" y="3554875"/>
            <a:ext cx="6589555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Kimi 拒绝行为与评分行为一致（评分也最严格）；Qwen 拒绝最少、评分最宽松</a:t>
            </a:r>
          </a:p>
        </p:txBody>
      </p:sp>
      <p:sp>
        <p:nvSpPr>
          <p:cNvPr id="47" name="TextBox 49">
            <a:extLst>
              <a:ext uri="{FF2B5EF4-FFF2-40B4-BE49-F238E27FC236}">
                <a16:creationId xmlns:a16="http://schemas.microsoft.com/office/drawing/2014/main" id="{A0666054-6493-F36A-6762-1E1D70206FCD}"/>
              </a:ext>
            </a:extLst>
          </p:cNvPr>
          <p:cNvSpPr txBox="1"/>
          <p:nvPr/>
        </p:nvSpPr>
        <p:spPr>
          <a:xfrm>
            <a:off x="1010917" y="3859675"/>
            <a:ext cx="7140389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5A6472"/>
                </a:solidFill>
                <a:latin typeface="Arial"/>
                <a:ea typeface="Microsoft YaHei"/>
                <a:cs typeface="Arial"/>
              </a:rPr>
              <a:t>空状态分布：Qwen 70 次（阿里云 data_inspection_failed）、Kimi 15 次、GLM 9 次</a:t>
            </a:r>
          </a:p>
        </p:txBody>
      </p:sp>
      <p:sp>
        <p:nvSpPr>
          <p:cNvPr id="48" name="TextBox 50">
            <a:extLst>
              <a:ext uri="{FF2B5EF4-FFF2-40B4-BE49-F238E27FC236}">
                <a16:creationId xmlns:a16="http://schemas.microsoft.com/office/drawing/2014/main" id="{3876DEAC-BED7-6D3D-E9E5-AA585531603F}"/>
              </a:ext>
            </a:extLst>
          </p:cNvPr>
          <p:cNvSpPr txBox="1"/>
          <p:nvPr/>
        </p:nvSpPr>
        <p:spPr>
          <a:xfrm>
            <a:off x="665483" y="4447739"/>
            <a:ext cx="3624522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C8161E"/>
                </a:solidFill>
                <a:latin typeface="Arial"/>
                <a:ea typeface="Microsoft YaHei"/>
                <a:cs typeface="Arial"/>
              </a:rPr>
              <a:t>全部拒绝的 5 篇（4 模型一致排除）</a:t>
            </a:r>
          </a:p>
        </p:txBody>
      </p:sp>
      <p:sp>
        <p:nvSpPr>
          <p:cNvPr id="49" name="Rectangle 51">
            <a:extLst>
              <a:ext uri="{FF2B5EF4-FFF2-40B4-BE49-F238E27FC236}">
                <a16:creationId xmlns:a16="http://schemas.microsoft.com/office/drawing/2014/main" id="{59D7B0F5-9168-D411-AAF5-F5DD4973AB45}"/>
              </a:ext>
            </a:extLst>
          </p:cNvPr>
          <p:cNvSpPr/>
          <p:nvPr/>
        </p:nvSpPr>
        <p:spPr>
          <a:xfrm>
            <a:off x="685800" y="4772832"/>
            <a:ext cx="10820400" cy="495300"/>
          </a:xfrm>
          <a:prstGeom prst="roundRect">
            <a:avLst>
              <a:gd name="adj" fmla="val 15385"/>
            </a:avLst>
          </a:prstGeom>
          <a:solidFill>
            <a:srgbClr val="FFEBEE"/>
          </a:solidFill>
          <a:ln>
            <a:noFill/>
          </a:ln>
        </p:spPr>
      </p:sp>
      <p:sp>
        <p:nvSpPr>
          <p:cNvPr id="50" name="TextBox 52">
            <a:extLst>
              <a:ext uri="{FF2B5EF4-FFF2-40B4-BE49-F238E27FC236}">
                <a16:creationId xmlns:a16="http://schemas.microsoft.com/office/drawing/2014/main" id="{5B6E7CA5-C688-8CD8-C697-6196401D7AE7}"/>
              </a:ext>
            </a:extLst>
          </p:cNvPr>
          <p:cNvSpPr txBox="1"/>
          <p:nvPr/>
        </p:nvSpPr>
        <p:spPr>
          <a:xfrm>
            <a:off x="1010917" y="4907425"/>
            <a:ext cx="9026295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paper-117、paper-300、paper-306、paper-309、paper-331 — 属于政策阐释性文本，不属于法学学术研究</a:t>
            </a:r>
          </a:p>
        </p:txBody>
      </p:sp>
      <p:sp>
        <p:nvSpPr>
          <p:cNvPr id="51" name="TextBox 53">
            <a:extLst>
              <a:ext uri="{FF2B5EF4-FFF2-40B4-BE49-F238E27FC236}">
                <a16:creationId xmlns:a16="http://schemas.microsoft.com/office/drawing/2014/main" id="{03A3C3C4-081C-5A87-355A-3A764D74AD65}"/>
              </a:ext>
            </a:extLst>
          </p:cNvPr>
          <p:cNvSpPr txBox="1"/>
          <p:nvPr/>
        </p:nvSpPr>
        <p:spPr>
          <a:xfrm>
            <a:off x="665483" y="5419289"/>
            <a:ext cx="2818147" cy="325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rgbClr val="E07B00"/>
                </a:solidFill>
                <a:latin typeface="Arial"/>
                <a:ea typeface="Microsoft YaHei"/>
                <a:cs typeface="Arial"/>
              </a:rPr>
              <a:t>边界论文（25 篇）处理建议</a:t>
            </a:r>
          </a:p>
        </p:txBody>
      </p:sp>
      <p:sp>
        <p:nvSpPr>
          <p:cNvPr id="52" name="Rectangle 54">
            <a:extLst>
              <a:ext uri="{FF2B5EF4-FFF2-40B4-BE49-F238E27FC236}">
                <a16:creationId xmlns:a16="http://schemas.microsoft.com/office/drawing/2014/main" id="{EF478587-F490-DE3D-6E62-540495A065DB}"/>
              </a:ext>
            </a:extLst>
          </p:cNvPr>
          <p:cNvSpPr/>
          <p:nvPr/>
        </p:nvSpPr>
        <p:spPr>
          <a:xfrm>
            <a:off x="685800" y="5744382"/>
            <a:ext cx="10820400" cy="381000"/>
          </a:xfrm>
          <a:prstGeom prst="roundRect">
            <a:avLst>
              <a:gd name="adj" fmla="val 20000"/>
            </a:avLst>
          </a:prstGeom>
          <a:solidFill>
            <a:srgbClr val="FFF8F0"/>
          </a:solidFill>
          <a:ln>
            <a:noFill/>
          </a:ln>
        </p:spPr>
      </p:sp>
      <p:sp>
        <p:nvSpPr>
          <p:cNvPr id="53" name="TextBox 55">
            <a:extLst>
              <a:ext uri="{FF2B5EF4-FFF2-40B4-BE49-F238E27FC236}">
                <a16:creationId xmlns:a16="http://schemas.microsoft.com/office/drawing/2014/main" id="{8BA077CF-6539-367C-039D-0F6B970CD9EC}"/>
              </a:ext>
            </a:extLst>
          </p:cNvPr>
          <p:cNvSpPr txBox="1"/>
          <p:nvPr/>
        </p:nvSpPr>
        <p:spPr>
          <a:xfrm>
            <a:off x="1010917" y="5840875"/>
            <a:ext cx="9315716" cy="2845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1B1C21"/>
                </a:solidFill>
                <a:latin typeface="Arial"/>
                <a:ea typeface="Microsoft YaHei"/>
                <a:cs typeface="Arial"/>
              </a:rPr>
              <a:t>需人工确认项目口径归属（法学学术研究 vs 其他类型文本），典型场景：法学历史、法社会学实证、比较法综述</a:t>
            </a:r>
          </a:p>
        </p:txBody>
      </p:sp>
    </p:spTree>
    <p:extLst>
      <p:ext uri="{BB962C8B-B14F-4D97-AF65-F5344CB8AC3E}">
        <p14:creationId xmlns:p14="http://schemas.microsoft.com/office/powerpoint/2010/main" val="198838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附录 A8：Top50 五轴分布与入选来源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五轴归属度用于资格筛选，六维加权分用于学科内排序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43000"/>
            <a:ext cx="224028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80160"/>
            <a:ext cx="196596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196596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Top50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810512"/>
            <a:ext cx="196596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正式名单总数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143000"/>
            <a:ext cx="224028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79" y="1280160"/>
            <a:ext cx="196596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79" y="1600200"/>
            <a:ext cx="196596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10 分主池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79" y="1810512"/>
            <a:ext cx="196596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98.0%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1143000"/>
            <a:ext cx="224028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1280160"/>
            <a:ext cx="196596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600200"/>
            <a:ext cx="196596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9 分补足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1810512"/>
            <a:ext cx="196596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2.0%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1143000"/>
            <a:ext cx="2240280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280160"/>
            <a:ext cx="196596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5E141F"/>
                </a:solidFill>
                <a:latin typeface="PingFang SC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600200"/>
            <a:ext cx="196596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80" b="1">
                <a:solidFill>
                  <a:srgbClr val="232426"/>
                </a:solidFill>
                <a:latin typeface="PingFang SC"/>
              </a:rPr>
              <a:t>≤8 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1810512"/>
            <a:ext cx="1965960" cy="1828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06369"/>
                </a:solidFill>
                <a:latin typeface="PingFang SC"/>
              </a:rPr>
              <a:t>不入选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31520" y="2514600"/>
          <a:ext cx="3657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Microsoft YaHei"/>
                        </a:rPr>
                        <a:t>学科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Microsoft YaHei"/>
                        </a:rPr>
                        <a:t>配额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12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宪法学与行政法学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诉讼法学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法学理论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知识产权法学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国际法学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环境与资源保护法学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经济法学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法律史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党内法规学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232426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754880" y="2514600"/>
            <a:ext cx="6080760" cy="3474720"/>
          </a:xfrm>
          <a:prstGeom prst="rect">
            <a:avLst/>
          </a:prstGeom>
          <a:solidFill>
            <a:srgbClr val="FFFFFF"/>
          </a:solidFill>
          <a:ln w="7620">
            <a:solidFill>
              <a:srgbClr val="DAD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19472" y="2624328"/>
            <a:ext cx="5751576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5E141F"/>
                </a:solidFill>
                <a:latin typeface="PingFang SC"/>
              </a:rPr>
              <a:t>入选逻辑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2926080"/>
            <a:ext cx="5715000" cy="2971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232426"/>
                </a:solidFill>
                <a:latin typeface="PingFang SC"/>
              </a:rPr>
              <a:t>• 先限定五轴 10 分主池。
• 按全库学科比例分配 50 个名额。
• 学科内按六维创新加权分排序。
• 入选来源含：五轴归属9分学科配额补足 1 篇。</a:t>
            </a:r>
          </a:p>
        </p:txBody>
      </p:sp>
    </p:spTree>
    <p:extLst>
      <p:ext uri="{BB962C8B-B14F-4D97-AF65-F5344CB8AC3E}">
        <p14:creationId xmlns:p14="http://schemas.microsoft.com/office/powerpoint/2010/main" val="33410478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附录 A9：Top50 论文基本信息表（1-25）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完整 Top50 基本信息表，按新规则最终排名排序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51560"/>
          <a:ext cx="1156716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451"/>
                <a:gridCol w="1652451"/>
                <a:gridCol w="1652451"/>
                <a:gridCol w="1652451"/>
                <a:gridCol w="1652451"/>
                <a:gridCol w="1652451"/>
                <a:gridCol w="1652454"/>
              </a:tblGrid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学科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题名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期刊/年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作者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分数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五轴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数字私力救济——基于远程控制网联物的权利实现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王琦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89.22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公司决议瑕疵立法的范式转换与体系重构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丁勇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88.62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股权转让中的出资义务承担——以组织法与行为法融…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李宇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88.62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债权人代位权的类型化构造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俞彦韬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88.45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法条竞合与想象竞合的区分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张明楷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88.20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论选择性要素的认识错误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柏浪涛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88.08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受贿犯罪的保护法益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张明楷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88.03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民法典所有权保留之担保权构成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纪海龙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87.97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知识产权法学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集体商标和证明商标保护体系的重构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王迁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87.80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董事间披露义务的法律构造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袁崇霖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87.75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虚假陈述比例连带责任的认定模式与体系展开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邹学庚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87.75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刑民交叉实体问题的解决路径——“法律效果论”之…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陈少青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87.70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诉讼法学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实体性查封优先权的理论证成及体系展开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马强伟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87.70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法学理论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注意义务的规范本质与判断标准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陈璇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87.70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中国特色反腐败制度框架下贿赂犯罪法益的确定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中国法学/2024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陈金林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87.67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基本权利私人间效力法理基础的澄清与重构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中国法学/2023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杨登杰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87.67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财产犯罪中财产性利益的事实占有：以存款债权为中心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徐凌波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87.67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代理公开的例外类型和效果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朱虎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87.60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论程序法上的犯罪事实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赵常成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87.55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抽逃出资规则及公司分配制度的系统性改造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王军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87.50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诉讼法学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为被告人利益抗诉与上诉不加刑原则之适用———以…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郭烁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87.40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过失犯远因溯责的规制路径：以渎职犯罪为中心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中国法学/2023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陈璇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87.33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从"权能分离"到"权利行使"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中国社会科学/2021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蔡立东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宪行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符合法律的宪法解释与宪法发展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中国法学/2022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杜强强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87.22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法学理论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整体法秩序视野下被害人自陷风险的理论重塑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陈璇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87.20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27442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附录 A10：Top50 论文基本信息表（26-50）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完整 Top50 基本信息表，按新规则最终排名排序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51560"/>
          <a:ext cx="1156716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451"/>
                <a:gridCol w="1652451"/>
                <a:gridCol w="1652451"/>
                <a:gridCol w="1652451"/>
                <a:gridCol w="1652451"/>
                <a:gridCol w="1652451"/>
                <a:gridCol w="1652454"/>
              </a:tblGrid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学科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题名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期刊/年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作者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分数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Microsoft YaHei"/>
                        </a:rPr>
                        <a:t>五轴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刑法学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正当防卫中的退避义务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江溯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民商法学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民法典的精神损害赔偿体系——以功能主义为视角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洪国盛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87.05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法学理论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基本原则与概括条款的区分:我国诚实信用与公序良…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中国法学/2021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于飞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87.00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29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诉讼法学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基于决定关系的证据客观性:概念、功能与理论定位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徐舒浩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86.85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法学理论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抢劫罪与敲诈勒索罪之界分：基于被害人的处分自由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中国法学/2017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车浩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86.55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法学理论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从基本权理论看法律行为之阻却生效要件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86.35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法学理论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金钱 “占有即所有”原理批判及权利流转规则之重塑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孙鹏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86.33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环境与资源保护法学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生态环境法典的复合结构及其体系化适用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陈海嵩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86.17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诉讼法学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“审执分离”本质与路径的再认识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中国法学/2023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张卫平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86.12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宪行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履行行政职责的作为可能性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林鸿潮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86.05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诉讼法学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组织法的诉讼构造:公司决议纠纷诉讼规则重构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中国法学/2019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丁勇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86.00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经济法学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反不正当竞争法一般条款的保护限度——以市场区分…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刘建臣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85.70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宪行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宪法秩序下如何安放法典——从“基础性法律”的适…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张翔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85.70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39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知识产权法学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注册商标使用中的"未改变显著特征"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付继存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85.60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诉讼法学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诉权处分合同的程序法效果及其司法审查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朱禹臣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85.55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经济法学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劳动关系认定的理论澄清与规范建构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朱军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85.22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环境与资源保护法学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三权分置下农地流转权利体系重构研究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中国法学/2018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宋志红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84.92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宪行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法律规范合宪性解释的方法论构造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刘召成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84.92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国际法学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公法属地原则与域外适用的博弈共存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章晶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84.72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宪行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论行政行为“明显不当”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何海波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84.47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宪行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基本权利的功能体系与行政法治的进路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郑春燕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84.25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国际法学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现代监护理念下监护与行为能力关系的重构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彭诚信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84.10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法律史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“直诉”源流通说辨正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王捷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84.05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49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法律史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论清代刑案诸证一致的证据标准——以同治四年郑庆…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法学研究/2019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王志强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83.03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50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党内法规学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党内法规的概念分析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中国法学/2024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朱林方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82.60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4776401"/>
      </p:ext>
    </p:extLst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附录 A11：Top50 评分详细表（1-25）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格式：均分±std；标准差高的条目保留专家复核线索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051560"/>
          <a:ext cx="1175004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004"/>
                <a:gridCol w="1175004"/>
                <a:gridCol w="1175004"/>
                <a:gridCol w="1175004"/>
                <a:gridCol w="1175004"/>
                <a:gridCol w="1175004"/>
                <a:gridCol w="1175004"/>
                <a:gridCol w="1175004"/>
                <a:gridCol w="1175004"/>
                <a:gridCol w="1175004"/>
              </a:tblGrid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论文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总分±std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创新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洞察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建构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连贯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共识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延展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五轴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数字私力救济——基于远程控制网联物…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89.22±6.5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92.0±15.1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90.0±3.2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89.5±1.3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77.5±6.3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公司决议瑕疵立法的范式转换与体系重构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88.62±2.8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86.5±2.4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92.0±3.6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92.5±2.4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89.0±2.8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78.0±2.1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股权转让中的出资义务承担——以组织…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88.62±4.8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87.0±8.1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92.5±2.7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85.5±6.2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91.0±2.2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89.0±3.4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82.0±2.9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债权人代位权的类型化构造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88.45±3.3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87.0±4.1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88.0±4.7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89.0±1.9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92.0±2.5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90.0±2.5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80.0±2.3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法条竞合与想象竞合的区分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88.20±3.1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86.0±2.2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90.0±1.4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92.0±1.3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88.0±7.6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78.0±13.3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论选择性要素的认识错误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88.08±2.9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88.0±4.1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92.0±3.4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88.0±0.0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86.5±3.9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76.5±3.4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受贿犯罪的保护法益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88.03±3.5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88.0±5.1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90.0±1.9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86.5±3.9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90.0±2.5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90.5±1.7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72.0±5.9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民法典所有权保留之担保权构成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87.97±5.9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90.0±11.5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85.5±2.1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90.0±2.6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87.0±2.5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77.0±11.8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集体商标和证明商标保护体系的重构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87.80±2.9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87.0±1.4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89.0±3.7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88.0±6.4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89.0±1.8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84.0±1.9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董事间披露义务的法律构造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87.75±3.5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86.5±3.2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92.0±3.8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89.0±1.9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87.0±2.5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78.0±13.2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虚假陈述比例连带责任的认定模式与体…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87.75±3.9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90.0±3.7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87.5±4.2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85.0±3.5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89.0±3.8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78.0±10.8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刑民交叉实体问题的解决路径——“法…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87.70±3.3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90.0±3.3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83.5±2.6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87.0±5.0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92.0±2.1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75.0±7.2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实体性查封优先权的理论证成及体系展开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87.70±2.6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85.0±1.4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92.0±5.4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90.0±2.1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84.0±2.2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注意义务的规范本质与判断标准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87.70±5.8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88.0±10.4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88.0±6.1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87.0±2.9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90.0±2.6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89.0±2.1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75.0±6.2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中国特色反腐败制度框架下贿赂犯罪法…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87.67±4.7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88.0±6.0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87.0±2.8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90.0±4.2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88.0±8.7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76.5±3.1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基本权利私人间效力法理基础的澄清与…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87.67±8.8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89.5±18.7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82.5±12.7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90.0±1.9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81.0±3.4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财产犯罪中财产性利益的事实占有：以…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87.67±4.3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88.0±5.7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89.0±3.1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89.0±3.9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89.0±2.3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87.0±6.3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72.5±5.2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代理公开的例外类型和效果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87.60±3.1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89.0±3.6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84.5±3.7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93.0±4.2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88.5±0.9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87.0±2.2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73.0±6.2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论程序法上的犯罪事实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87.55±3.4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87.5±4.5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89.0±2.8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89.0±2.6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85.0±2.8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80.0±2.7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抽逃出资规则及公司分配制度的系统性…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87.50±7.0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87.5±7.8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91.0±5.4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80.0±9.3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90.0±2.4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88.0±16.3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85.0±1.9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为被告人利益抗诉与上诉不加刑原则之…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87.40±4.8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88.0±4.5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85.0±3.5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85.5±4.9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91.0±3.2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88.0±12.2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83.5±3.8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过失犯远因溯责的规制路径：以渎职犯…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87.33±7.1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90.0±13.3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85.0±5.6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88.0±8.2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74.5±3.3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从"权能分离"到"权利行使"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87.25±3.3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87.5±2.7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89.5±1.7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85.0±6.7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87.5±2.6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80.0±8.1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符合法律的宪法解释与宪法发展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87.22±3.4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86.5±3.7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87.5±3.6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85.5±5.1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89.5±1.4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88.0±4.0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85.0±3.2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整体法秩序视野下被害人自陷风险的理…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87.20±4.9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85.0±11.3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89.0±1.8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92.0±1.5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70.0±5.8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4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32004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841C2A"/>
                </a:solidFill>
                <a:latin typeface="PingFang SC"/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E141F"/>
                </a:solidFill>
                <a:latin typeface="PingFang SC"/>
              </a:rPr>
              <a:t>附录 A12：Top50 评分详细表（26-50）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566928"/>
            <a:ext cx="10789920" cy="29260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606369"/>
                </a:solidFill>
                <a:latin typeface="PingFang SC"/>
              </a:rPr>
              <a:t>格式：均分±std；标准差高的条目保留专家复核线索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896112"/>
            <a:ext cx="10927080" cy="13716"/>
          </a:xfrm>
          <a:prstGeom prst="rect">
            <a:avLst/>
          </a:prstGeom>
          <a:solidFill>
            <a:srgbClr val="C2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051560"/>
          <a:ext cx="1175004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004"/>
                <a:gridCol w="1175004"/>
                <a:gridCol w="1175004"/>
                <a:gridCol w="1175004"/>
                <a:gridCol w="1175004"/>
                <a:gridCol w="1175004"/>
                <a:gridCol w="1175004"/>
                <a:gridCol w="1175004"/>
                <a:gridCol w="1175004"/>
                <a:gridCol w="1175004"/>
              </a:tblGrid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论文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总分±std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创新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洞察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建构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连贯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共识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延展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1">
                          <a:solidFill>
                            <a:srgbClr val="FFFFFF"/>
                          </a:solidFill>
                          <a:latin typeface="Microsoft YaHei"/>
                        </a:rPr>
                        <a:t>五轴</a:t>
                      </a:r>
                    </a:p>
                  </a:txBody>
                  <a:tcPr marL="18288" marR="18288" marT="9144" marB="9144">
                    <a:solidFill>
                      <a:srgbClr val="5E141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正当防卫中的退避义务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87.10±3.1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85.0±5.5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90.0±2.2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80.0±2.1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民法典的精神损害赔偿体系——以功能…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87.05±5.5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89.5±10.3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84.5±5.0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85.0±3.0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90.0±3.2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75.0±3.1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基本原则与概括条款的区分:我国诚实…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87.00±2.9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90.0±3.1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83.5±3.9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85.0±3.3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88.0±0.7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90.0±2.2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79.0±7.0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29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基于决定关系的证据客观性:概念、功…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86.85±3.9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88.0±4.2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87.0±4.3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85.0±7.3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89.5±1.8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72.0±1.9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抢劫罪与敲诈勒索罪之界分：基于被害…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86.55±3.6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85.0±4.7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84.5±3.7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89.0±2.7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91.0±2.6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90.0±2.4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72.0±6.2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从基本权理论看法律行为之阻却生效要件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86.35±4.0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88.0±5.5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85.5±2.2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85.0±8.6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85.0±1.7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80.0±2.8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金钱 “占有即所有”原理批判及权利…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86.33±5.0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85.5±11.5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85.0±6.1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73.5±5.1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生态环境法典的复合结构及其体系化适用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86.17±2.8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85.5±3.2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85.0±2.5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86.5±2.9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88.5±2.5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81.0±2.9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“审执分离”本质与路径的再认识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86.12±5.2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85.5±5.5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85.0±5.4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85.5±10.5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89.0±3.0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88.5±1.7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80.0±2.1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履行行政职责的作为可能性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86.05±5.8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88.0±12.6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78.0±2.0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92.0±3.1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85.0±3.4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79.0±4.0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组织法的诉讼构造:公司决议纠纷诉讼…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86.00±5.8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85.5±11.4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88.0±4.4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87.5±3.3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88.5±2.3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86.0±2.5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66.5±6.4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反不正当竞争法一般条款的保护限度—…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85.70±4.0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85.0±4.3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88.0±5.3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85.0±5.4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85.5±1.6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79.0±4.4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宪法秩序下如何安放法典——从“基础…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85.70±3.8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85.5±2.8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89.0±2.0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74.0±11.3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92.0±2.0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79.0±6.5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39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注册商标使用中的"未改变显著特征"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85.60±4.6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85.0±7.5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85.0±3.0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87.5±3.4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86.5±3.0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75.0±7.7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诉权处分合同的程序法效果及其司法审查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85.55±6.0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84.0±10.0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85.0±5.7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87.0±3.7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92.0±3.4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70.0±9.0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劳动关系认定的理论澄清与规范建构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85.22±5.5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83.5±12.1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88.5±3.2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85.5±2.0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68.0±2.4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三权分置下农地流转权利体系重构研究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84.92±4.4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82.5±6.0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89.0±2.8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83.5±6.0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87.0±2.9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71.0±5.2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法律规范合宪性解释的方法论构造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84.92±5.7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83.5±10.7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85.0±3.3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89.5±1.4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87.5±5.2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57.5±11.4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公法属地原则与域外适用的博弈共存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84.72±6.2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80.0±12.4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86.5±7.1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75.0±4.5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论行政行为“明显不当”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84.47±3.5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85.0±3.6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85.5±2.6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77.0±6.8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88.5±2.5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76.5±4.4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基本权利的功能体系与行政法治的进路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84.25±5.7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85.0±9.7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86.5±1.9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81.0±5.1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83.0±5.5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88.0±3.3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78.0±4.5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现代监护理念下监护与行为能力关系的…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84.10±4.7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80.0±8.5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88.0±2.6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82.0±6.2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87.0±1.7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80.0±3.1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“直诉”源流通说辨正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84.05±7.2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88.0±10.5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82.0±6.6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76.0±10.2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88.0±4.0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85.0±0.6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75.0±5.8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49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论清代刑案诸证一致的证据标准——以…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83.03±10.7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85.0±25.2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72.0±6.1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82.0±4.7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92.0±4.0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88.0±1.5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72.5±5.7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CFA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50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党内法规的概念分析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82.60±11.2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81.5±20.2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85.0±6.2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78.0±18.1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88.0±2.0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86.0±1.0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65.0±14.2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470" b="0">
                          <a:solidFill>
                            <a:srgbClr val="232426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8288" marR="1828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arrow&quot;,&quot;Name&quot;:&quot;窄&quot;,&quot;HeaderHeight&quot;:10.0,&quot;FooterHeight&quot;:5.0,&quot;SideMargin&quot;:2.5,&quot;TopMargin&quot;:0.0,&quot;BottomMargin&quot;:0.0,&quot;IntervalMargin&quot;:1.0,&quot;SettingType&quot;:&quot;System&quot;}"/>
</p:tagLst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52386</TotalTime>
  <Words>8620</Words>
  <Application>Microsoft Macintosh PowerPoint</Application>
  <PresentationFormat>Widescreen</PresentationFormat>
  <Paragraphs>1751</Paragraphs>
  <Slides>43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7" baseType="lpstr">
      <vt:lpstr>等线</vt:lpstr>
      <vt:lpstr>Microsoft YaHei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一 李</dc:creator>
  <cp:lastModifiedBy>Yaohui Jin</cp:lastModifiedBy>
  <cp:revision>2631</cp:revision>
  <dcterms:created xsi:type="dcterms:W3CDTF">2019-01-23T14:14:04Z</dcterms:created>
  <dcterms:modified xsi:type="dcterms:W3CDTF">2026-06-02T16:48:49Z</dcterms:modified>
</cp:coreProperties>
</file>